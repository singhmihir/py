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session is the map you need before touching a live VR project: where findings come from, how each one finds its CI, the vocabulary (CVE, CWE, CVSS, SBOM), how to run an integration safely, and what is new in USEM. Demo links for the PDI are on slide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pace brisk: the landscape and the scan-to-CI path are the foundation; everything after builds on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Stress step 3: the discovered item keeps the raw payload per source, which is what we debug from. Step 4 is the subject of the next four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by category, not by product: a new scanner or feed almost always lands in one of these boxes. The counts vary by client; the categories do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BofA case: Qualys plus the CDP feed report the same servers. Payload values here are illustrative. Demo: open a matched discovered item and its 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lookup rules are VR's own matching, per source; IRE is the CMDB-wide engine used when they fail. A placeholder CI is a symptom, not a fix. Demo: sys_properties sn_sec_cmn.*, then the unmatched discovered items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on purpose: these nine words explain almost every lookup rule. Demo: cmdb_ci_lb_service, then a pool member, then cmdb_ci_network_adapter with its 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numbers are the rule order field: lower runs first. The same principles apply to any scanner; rules are defined per source. Demo: the Qualys rule list ordered by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 this into the kick-off checklist. CMDB readiness is the item most often skipped and the root of most unmatched findings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answer comes from a real BofA or Citi ticket. The first one matters most: on the demo instance nearly all imported hosts are unmatched because the CMDB behind them is not loaded; show that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years is a lot of data for most scanners; many keep fixed detections for a limited time only, so confirm what the source can actually return before promising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parallel run is the step people skip. Without it you cannot show the client that Tenable finds the same hosts on the same CIs.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open the Log4Shell entry in sn_vul_nvd_entry, then CWE-79 and CWE-502 in sn_vul_cwe.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clients still carry v2 scores on older CVEs and v3 on newer ones: check which one a risk rule or report reads. v4.0 adds attack requirements and supplemental metrics; expect it in newer feeds.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component list is illustrative. Link to the next slide: SBOM covers the third-party part of an application; the bank's own code is covered by SAST and DAST, which speak CWE.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Veracode example is a real AVIT on the PDI (demo link on slide 19). BofA application findings reach us through VAMP with the CWE in the vulnerability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review points we apply on BofA deliveries. The Delivery line is where most first-time mistakes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six applications are installed on the PDI (Australia release). Show the Security Exposure Management workspace next to the IT Remediation Workspace: same findings, one lens across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order: IT Remediation Workspace, a matched discovered item and its CI, the Qualys rule list, the unmatched list with the IRE property, a load balancer service and its pool, Log4Shell and CWE-79, the Veracode AVIT, then the Security Exposure Management workspace.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pointing people to the PDI demo links and to the project README of the story they are joining.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dev390397.service-now.com/now/vr" TargetMode="External"/><Relationship Id="rId2" Type="http://schemas.openxmlformats.org/officeDocument/2006/relationships/hyperlink" Target="https://dev390397.service-now.com/now/vr-analysis" TargetMode="External"/><Relationship Id="rId3" Type="http://schemas.openxmlformats.org/officeDocument/2006/relationships/hyperlink" Target="https://dev390397.service-now.com/now/cmdb" TargetMode="External"/><Relationship Id="rId4" Type="http://schemas.openxmlformats.org/officeDocument/2006/relationships/hyperlink" Target="https://dev390397.service-now.com/sn_sec_int_integration_list.do" TargetMode="External"/><Relationship Id="rId5" Type="http://schemas.openxmlformats.org/officeDocument/2006/relationships/hyperlink" Target="https://dev390397.service-now.com/sn_vul_integration.do?sys_id=2ff9d3701b7034102586a710604bcb0c" TargetMode="External"/><Relationship Id="rId6" Type="http://schemas.openxmlformats.org/officeDocument/2006/relationships/hyperlink" Target="https://dev390397.service-now.com/sn_sec_cmn_ci_lookup_rule_list.do?sysparm_query=source%3Ded44bdc453220300e8f9f745911c0801%5Eactive%3Dtrue%5EORDERBYorder" TargetMode="External"/><Relationship Id="rId7" Type="http://schemas.openxmlformats.org/officeDocument/2006/relationships/hyperlink" Target="https://dev390397.service-now.com/sn_sec_cmn_src_ci_list.do?sysparm_query=state%3Dunmatched" TargetMode="External"/><Relationship Id="rId8" Type="http://schemas.openxmlformats.org/officeDocument/2006/relationships/hyperlink" Target="https://dev390397.service-now.com/sn_sec_cmn_src_ci.do?sys_id=000574ba3bdacb502fcecefe23e45af0" TargetMode="External"/><Relationship Id="rId9" Type="http://schemas.openxmlformats.org/officeDocument/2006/relationships/hyperlink" Target="https://dev390397.service-now.com/sys_properties_list.do?sysparm_query=nameSTARTSWITHsn_sec_cmn" TargetMode="External"/><Relationship Id="rId10" Type="http://schemas.openxmlformats.org/officeDocument/2006/relationships/hyperlink" Target="https://dev390397.service-now.com/cmdb_identifier_list.do" TargetMode="External"/><Relationship Id="rId11" Type="http://schemas.openxmlformats.org/officeDocument/2006/relationships/hyperlink" Target="https://dev390397.service-now.com/cmdb_ci_lb_service_list.do" TargetMode="External"/><Relationship Id="rId12" Type="http://schemas.openxmlformats.org/officeDocument/2006/relationships/hyperlink" Target="https://dev390397.service-now.com/cmdb_ci_lb_pool_member_list.do" TargetMode="External"/><Relationship Id="rId13" Type="http://schemas.openxmlformats.org/officeDocument/2006/relationships/hyperlink" Target="https://dev390397.service-now.com/cmdb_ci_network_adapter_list.do" TargetMode="External"/><Relationship Id="rId14" Type="http://schemas.openxmlformats.org/officeDocument/2006/relationships/hyperlink" Target="https://dev390397.service-now.com/sn_vul_nvd_entry.do?sys_id=50c9ac0b97558110e1349734a253af9a" TargetMode="External"/><Relationship Id="rId15" Type="http://schemas.openxmlformats.org/officeDocument/2006/relationships/hyperlink" Target="https://dev390397.service-now.com/sn_vul_cwe.do?sys_id=fc49d490c71c10107393ec22c7c260b3" TargetMode="External"/><Relationship Id="rId16" Type="http://schemas.openxmlformats.org/officeDocument/2006/relationships/hyperlink" Target="https://dev390397.service-now.com/sn_vul_cwe.do?sys_id=6c5c0b76c72410107393ec22c7c26060" TargetMode="External"/><Relationship Id="rId17" Type="http://schemas.openxmlformats.org/officeDocument/2006/relationships/hyperlink" Target="https://dev390397.service-now.com/sn_vul_app_vulnerable_item.do?sys_id=1168a83477596010ae567c51681061d8" TargetMode="External"/><Relationship Id="rId18" Type="http://schemas.openxmlformats.org/officeDocument/2006/relationships/hyperlink" Target="https://dev390397.service-now.com/sn_vul_vulnerable_item_list.do?sysparm_query=active%3Dtrue" TargetMode="External"/><Relationship Id="rId19" Type="http://schemas.openxmlformats.org/officeDocument/2006/relationships/hyperlink" Target="https://dev390397.service-now.com/sn_vul_vulnerability_list.do?sysparm_query=active%3Dtrue" TargetMode="External"/><Relationship Id="rId20" Type="http://schemas.openxmlformats.org/officeDocument/2006/relationships/hyperlink" Target="https://dev390397.service-now.com/sn_vulc_result_group_list.do" TargetMode="External"/><Relationship Id="rId21" Type="http://schemas.openxmlformats.org/officeDocument/2006/relationships/slideLayout" Target="../slideLayouts/slideLayout1.xml"/><Relationship Id="rId2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48640" y="548640"/>
            <a:ext cx="7315200" cy="274320"/>
          </a:xfrm>
          <a:prstGeom prst="rect">
            <a:avLst/>
          </a:prstGeom>
          <a:noFill/>
          <a:ln/>
        </p:spPr>
        <p:txBody>
          <a:bodyPr wrap="square" lIns="0" tIns="0" rIns="0" bIns="0" rtlCol="0" anchor="t"/>
          <a:lstStyle/>
          <a:p>
            <a:pPr indent="0" marL="0">
              <a:buNone/>
            </a:pPr>
            <a:r>
              <a:rPr lang="en-US" sz="1100" b="1" spc="200" kern="0" dirty="0">
                <a:solidFill>
                  <a:srgbClr val="86BC25"/>
                </a:solidFill>
                <a:latin typeface="Arial" pitchFamily="34" charset="0"/>
                <a:ea typeface="Arial" pitchFamily="34" charset="-122"/>
                <a:cs typeface="Arial" pitchFamily="34" charset="-120"/>
              </a:rPr>
              <a:t>TRAINING  ·  NEW JOINERS</a:t>
            </a:r>
            <a:endParaRPr lang="en-US" sz="1100" dirty="0"/>
          </a:p>
        </p:txBody>
      </p:sp>
      <p:sp>
        <p:nvSpPr>
          <p:cNvPr id="3" name="Text 1"/>
          <p:cNvSpPr txBox="1"/>
          <p:nvPr/>
        </p:nvSpPr>
        <p:spPr>
          <a:xfrm>
            <a:off x="548640" y="2011680"/>
            <a:ext cx="8778240" cy="1463040"/>
          </a:xfrm>
          <a:prstGeom prst="rect">
            <a:avLst/>
          </a:prstGeom>
          <a:noFill/>
          <a:ln/>
        </p:spPr>
        <p:txBody>
          <a:bodyPr wrap="square" lIns="0" tIns="0" rIns="0" bIns="0" rtlCol="0" anchor="b"/>
          <a:lstStyle/>
          <a:p>
            <a:pPr indent="0" marL="0">
              <a:buNone/>
            </a:pPr>
            <a:r>
              <a:rPr lang="en-US" sz="4400" b="1" dirty="0">
                <a:solidFill>
                  <a:srgbClr val="FFFFFF"/>
                </a:solidFill>
                <a:latin typeface="Arial" pitchFamily="34" charset="0"/>
                <a:ea typeface="Arial" pitchFamily="34" charset="-122"/>
                <a:cs typeface="Arial" pitchFamily="34" charset="-120"/>
              </a:rPr>
              <a:t>Vulnerability Response on ServiceNow</a:t>
            </a:r>
            <a:pPr indent="0" marL="0">
              <a:buNone/>
            </a:pPr>
            <a:r>
              <a:rPr lang="en-US" sz="4400" b="1" dirty="0">
                <a:solidFill>
                  <a:srgbClr val="86BC25"/>
                </a:solidFill>
                <a:latin typeface="Arial" pitchFamily="34" charset="0"/>
                <a:ea typeface="Arial" pitchFamily="34" charset="-122"/>
                <a:cs typeface="Arial" pitchFamily="34" charset="-120"/>
              </a:rPr>
              <a:t>.</a:t>
            </a:r>
            <a:endParaRPr lang="en-US" sz="4400" dirty="0"/>
          </a:p>
        </p:txBody>
      </p:sp>
      <p:sp>
        <p:nvSpPr>
          <p:cNvPr id="4" name="Text 2"/>
          <p:cNvSpPr txBox="1"/>
          <p:nvPr/>
        </p:nvSpPr>
        <p:spPr>
          <a:xfrm>
            <a:off x="548640" y="3611880"/>
            <a:ext cx="8229600" cy="457200"/>
          </a:xfrm>
          <a:prstGeom prst="rect">
            <a:avLst/>
          </a:prstGeom>
          <a:noFill/>
          <a:ln/>
        </p:spPr>
        <p:txBody>
          <a:bodyPr wrap="square" lIns="0" tIns="0" rIns="0" bIns="0" rtlCol="0" anchor="t"/>
          <a:lstStyle/>
          <a:p>
            <a:pPr indent="0" marL="0">
              <a:buNone/>
            </a:pPr>
            <a:r>
              <a:rPr lang="en-US" sz="2200" dirty="0">
                <a:solidFill>
                  <a:srgbClr val="BBBCBC"/>
                </a:solidFill>
                <a:latin typeface="Arial" pitchFamily="34" charset="0"/>
                <a:ea typeface="Arial" pitchFamily="34" charset="-122"/>
                <a:cs typeface="Arial" pitchFamily="34" charset="-120"/>
              </a:rPr>
              <a:t>A field guide for your first live project</a:t>
            </a:r>
            <a:endParaRPr lang="en-US" sz="2200" dirty="0"/>
          </a:p>
        </p:txBody>
      </p:sp>
      <p:sp>
        <p:nvSpPr>
          <p:cNvPr id="5" name="Text 3"/>
          <p:cNvSpPr txBox="1"/>
          <p:nvPr/>
        </p:nvSpPr>
        <p:spPr>
          <a:xfrm>
            <a:off x="548640" y="5852160"/>
            <a:ext cx="8229600" cy="320040"/>
          </a:xfrm>
          <a:prstGeom prst="rect">
            <a:avLst/>
          </a:prstGeom>
          <a:noFill/>
          <a:ln/>
        </p:spPr>
        <p:txBody>
          <a:bodyPr wrap="square" lIns="0" tIns="0" rIns="0" bIns="0" rtlCol="0" anchor="t"/>
          <a:lstStyle/>
          <a:p>
            <a:pPr indent="0" marL="0">
              <a:buNone/>
            </a:pPr>
            <a:r>
              <a:rPr lang="en-US" sz="1300" dirty="0">
                <a:solidFill>
                  <a:srgbClr val="75787B"/>
                </a:solidFill>
                <a:latin typeface="Arial" pitchFamily="34" charset="0"/>
                <a:ea typeface="Arial" pitchFamily="34" charset="-122"/>
                <a:cs typeface="Arial" pitchFamily="34" charset="-120"/>
              </a:rPr>
              <a:t>Lessons from the BofA and Citi programmes  ·  September 2026</a:t>
            </a:r>
            <a:endParaRPr lang="en-US" sz="1300" dirty="0"/>
          </a:p>
        </p:txBody>
      </p:sp>
      <p:sp>
        <p:nvSpPr>
          <p:cNvPr id="6" name="Shape 4"/>
          <p:cNvSpPr/>
          <p:nvPr/>
        </p:nvSpPr>
        <p:spPr>
          <a:xfrm>
            <a:off x="9646920" y="2148840"/>
            <a:ext cx="1737360" cy="1737360"/>
          </a:xfrm>
          <a:prstGeom prst="ellipse">
            <a:avLst/>
          </a:prstGeom>
          <a:solidFill>
            <a:srgbClr val="86BC25"/>
          </a:solidFill>
          <a:ln w="12700">
            <a:solidFill>
              <a:srgbClr val="86BC25"/>
            </a:solidFill>
            <a:prstDash val="solid"/>
          </a:ln>
        </p:spPr>
      </p:sp>
      <p:sp>
        <p:nvSpPr>
          <p:cNvPr id="7" name="Shape 5"/>
          <p:cNvSpPr/>
          <p:nvPr/>
        </p:nvSpPr>
        <p:spPr>
          <a:xfrm>
            <a:off x="10287000" y="4160520"/>
            <a:ext cx="822960" cy="822960"/>
          </a:xfrm>
          <a:prstGeom prst="ellipse">
            <a:avLst/>
          </a:prstGeom>
          <a:solidFill>
            <a:srgbClr val="26890D"/>
          </a:solidFill>
          <a:ln w="12700">
            <a:solidFill>
              <a:srgbClr val="26890D"/>
            </a:solidFill>
            <a:prstDash val="solid"/>
          </a:ln>
        </p:spPr>
      </p:sp>
      <p:sp>
        <p:nvSpPr>
          <p:cNvPr id="8" name="Shape 6"/>
          <p:cNvSpPr/>
          <p:nvPr/>
        </p:nvSpPr>
        <p:spPr>
          <a:xfrm>
            <a:off x="9326880" y="4343400"/>
            <a:ext cx="411480" cy="411480"/>
          </a:xfrm>
          <a:prstGeom prst="ellipse">
            <a:avLst/>
          </a:prstGeom>
          <a:solidFill>
            <a:srgbClr val="0D8390"/>
          </a:solidFill>
          <a:ln w="12700">
            <a:solidFill>
              <a:srgbClr val="0D8390"/>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000" b="1" spc="150" kern="0" dirty="0">
                <a:solidFill>
                  <a:srgbClr val="26890D"/>
                </a:solidFill>
                <a:latin typeface="Arial" pitchFamily="34" charset="0"/>
                <a:ea typeface="Arial" pitchFamily="34" charset="-122"/>
                <a:cs typeface="Arial" pitchFamily="34" charset="-120"/>
              </a:rPr>
              <a:t>AGENDA</a:t>
            </a:r>
            <a:endParaRPr lang="en-US" sz="10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What we will cover</a:t>
            </a:r>
            <a:pPr indent="0" marL="0">
              <a:buNone/>
            </a:pPr>
            <a:r>
              <a:rPr lang="en-US" sz="3000" b="1" dirty="0">
                <a:solidFill>
                  <a:srgbClr val="86BC25"/>
                </a:solidFill>
                <a:latin typeface="Arial" pitchFamily="34" charset="0"/>
                <a:ea typeface="Arial" pitchFamily="34" charset="-122"/>
                <a:cs typeface="Arial" pitchFamily="34" charset="-120"/>
              </a:rPr>
              <a:t>.</a:t>
            </a:r>
            <a:endParaRPr lang="en-US" sz="3000" dirty="0"/>
          </a:p>
        </p:txBody>
      </p:sp>
      <p:sp>
        <p:nvSpPr>
          <p:cNvPr id="4" name="Text 2"/>
          <p:cNvSpPr txBox="1"/>
          <p:nvPr/>
        </p:nvSpPr>
        <p:spPr>
          <a:xfrm>
            <a:off x="548640" y="1243584"/>
            <a:ext cx="11094415" cy="411480"/>
          </a:xfrm>
          <a:prstGeom prst="rect">
            <a:avLst/>
          </a:prstGeom>
          <a:noFill/>
          <a:ln/>
        </p:spPr>
        <p:txBody>
          <a:bodyPr wrap="square" lIns="0" tIns="0" rIns="0" bIns="0" rtlCol="0" anchor="t"/>
          <a:lstStyle/>
          <a:p>
            <a:pPr indent="0" marL="0">
              <a:buNone/>
            </a:pPr>
            <a:r>
              <a:rPr lang="en-US" sz="1400" dirty="0">
                <a:solidFill>
                  <a:srgbClr val="53565A"/>
                </a:solidFill>
                <a:latin typeface="Arial" pitchFamily="34" charset="0"/>
                <a:ea typeface="Arial" pitchFamily="34" charset="-122"/>
                <a:cs typeface="Arial" pitchFamily="34" charset="-120"/>
              </a:rPr>
              <a:t>Seven blocks, each ending with something you can do on the PDI.</a:t>
            </a:r>
            <a:endParaRPr lang="en-US" sz="1400" dirty="0"/>
          </a:p>
        </p:txBody>
      </p:sp>
      <p:sp>
        <p:nvSpPr>
          <p:cNvPr id="5" name="Text 3"/>
          <p:cNvSpPr txBox="1"/>
          <p:nvPr/>
        </p:nvSpPr>
        <p:spPr>
          <a:xfrm>
            <a:off x="11185855" y="6473952"/>
            <a:ext cx="457200" cy="228600"/>
          </a:xfrm>
          <a:prstGeom prst="rect">
            <a:avLst/>
          </a:prstGeom>
          <a:noFill/>
          <a:ln/>
        </p:spPr>
        <p:txBody>
          <a:bodyPr wrap="square" lIns="0" tIns="0" rIns="0" bIns="0" rtlCol="0" anchor="t"/>
          <a:lstStyle/>
          <a:p>
            <a:pPr algn="r" indent="0" marL="0">
              <a:buNone/>
            </a:pPr>
            <a:r>
              <a:rPr lang="en-US" sz="900" dirty="0">
                <a:solidFill>
                  <a:srgbClr val="75787B"/>
                </a:solidFill>
                <a:latin typeface="Arial" pitchFamily="34" charset="0"/>
                <a:ea typeface="Arial" pitchFamily="34" charset="-122"/>
                <a:cs typeface="Arial" pitchFamily="34" charset="-120"/>
              </a:rPr>
              <a:t>2</a:t>
            </a:r>
            <a:endParaRPr lang="en-US" sz="900" dirty="0"/>
          </a:p>
        </p:txBody>
      </p:sp>
      <p:sp>
        <p:nvSpPr>
          <p:cNvPr id="6" name="Text 4"/>
          <p:cNvSpPr txBox="1"/>
          <p:nvPr/>
        </p:nvSpPr>
        <p:spPr>
          <a:xfrm>
            <a:off x="548640" y="6473952"/>
            <a:ext cx="2743200" cy="228600"/>
          </a:xfrm>
          <a:prstGeom prst="rect">
            <a:avLst/>
          </a:prstGeom>
          <a:noFill/>
          <a:ln/>
        </p:spPr>
        <p:txBody>
          <a:bodyPr wrap="square" lIns="0" tIns="0" rIns="0" bIns="0" rtlCol="0" anchor="t"/>
          <a:lstStyle/>
          <a:p>
            <a:pPr indent="0" marL="0">
              <a:buNone/>
            </a:pPr>
            <a:r>
              <a:rPr lang="en-US" sz="900" dirty="0">
                <a:solidFill>
                  <a:srgbClr val="75787B"/>
                </a:solidFill>
                <a:latin typeface="Arial" pitchFamily="34" charset="0"/>
                <a:ea typeface="Arial" pitchFamily="34" charset="-122"/>
                <a:cs typeface="Arial" pitchFamily="34" charset="-120"/>
              </a:rPr>
              <a:t>VR field guide</a:t>
            </a:r>
            <a:endParaRPr lang="en-US" sz="900" dirty="0"/>
          </a:p>
        </p:txBody>
      </p:sp>
      <p:sp>
        <p:nvSpPr>
          <p:cNvPr id="7" name="Shape 5"/>
          <p:cNvSpPr/>
          <p:nvPr/>
        </p:nvSpPr>
        <p:spPr>
          <a:xfrm>
            <a:off x="548640" y="1965960"/>
            <a:ext cx="566928" cy="566928"/>
          </a:xfrm>
          <a:prstGeom prst="ellipse">
            <a:avLst/>
          </a:prstGeom>
          <a:solidFill>
            <a:srgbClr val="86BC25"/>
          </a:solidFill>
          <a:ln w="12700">
            <a:solidFill>
              <a:srgbClr val="86BC25"/>
            </a:solidFill>
            <a:prstDash val="solid"/>
          </a:ln>
        </p:spPr>
      </p:sp>
      <p:sp>
        <p:nvSpPr>
          <p:cNvPr id="8" name="Text 6"/>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9" name="Text 7"/>
          <p:cNvSpPr txBox="1"/>
          <p:nvPr/>
        </p:nvSpPr>
        <p:spPr>
          <a:xfrm>
            <a:off x="1325880" y="1947672"/>
            <a:ext cx="4663440" cy="347472"/>
          </a:xfrm>
          <a:prstGeom prst="rect">
            <a:avLst/>
          </a:prstGeom>
          <a:noFill/>
          <a:ln/>
        </p:spPr>
        <p:txBody>
          <a:bodyPr wrap="square" lIns="0" tIns="0" rIns="0" bIns="0" rtlCol="0" anchor="t"/>
          <a:lstStyle/>
          <a:p>
            <a:pPr indent="0" marL="0">
              <a:buNone/>
            </a:pPr>
            <a:r>
              <a:rPr lang="en-US" sz="1700" b="1" dirty="0">
                <a:solidFill>
                  <a:srgbClr val="000000"/>
                </a:solidFill>
                <a:latin typeface="Arial" pitchFamily="34" charset="0"/>
                <a:ea typeface="Arial" pitchFamily="34" charset="-122"/>
                <a:cs typeface="Arial" pitchFamily="34" charset="-120"/>
              </a:rPr>
              <a:t>The landscape</a:t>
            </a:r>
            <a:endParaRPr lang="en-US" sz="1700" dirty="0"/>
          </a:p>
        </p:txBody>
      </p:sp>
      <p:sp>
        <p:nvSpPr>
          <p:cNvPr id="10" name="Text 8"/>
          <p:cNvSpPr txBox="1"/>
          <p:nvPr/>
        </p:nvSpPr>
        <p:spPr>
          <a:xfrm>
            <a:off x="1325880" y="2295144"/>
            <a:ext cx="4663440" cy="548640"/>
          </a:xfrm>
          <a:prstGeom prst="rect">
            <a:avLst/>
          </a:prstGeom>
          <a:noFill/>
          <a:ln/>
        </p:spPr>
        <p:txBody>
          <a:bodyPr wrap="square" lIns="0" tIns="0" rIns="0" bIns="0" rtlCol="0" anchor="t"/>
          <a:lstStyle/>
          <a:p>
            <a:pPr indent="0" marL="0">
              <a:buNone/>
            </a:pPr>
            <a:r>
              <a:rPr lang="en-US" sz="1250" dirty="0">
                <a:solidFill>
                  <a:srgbClr val="53565A"/>
                </a:solidFill>
                <a:latin typeface="Arial" pitchFamily="34" charset="0"/>
                <a:ea typeface="Arial" pitchFamily="34" charset="-122"/>
                <a:cs typeface="Arial" pitchFamily="34" charset="-120"/>
              </a:rPr>
              <a:t>How a finding travels; why BofA runs about fifteen feeds</a:t>
            </a:r>
            <a:endParaRPr lang="en-US" sz="1250" dirty="0"/>
          </a:p>
        </p:txBody>
      </p:sp>
      <p:sp>
        <p:nvSpPr>
          <p:cNvPr id="11" name="Shape 9"/>
          <p:cNvSpPr/>
          <p:nvPr/>
        </p:nvSpPr>
        <p:spPr>
          <a:xfrm>
            <a:off x="548640" y="2990088"/>
            <a:ext cx="566928" cy="566928"/>
          </a:xfrm>
          <a:prstGeom prst="ellipse">
            <a:avLst/>
          </a:prstGeom>
          <a:solidFill>
            <a:srgbClr val="86BC25"/>
          </a:solidFill>
          <a:ln w="12700">
            <a:solidFill>
              <a:srgbClr val="86BC25"/>
            </a:solidFill>
            <a:prstDash val="solid"/>
          </a:ln>
        </p:spPr>
      </p:sp>
      <p:sp>
        <p:nvSpPr>
          <p:cNvPr id="12" name="Text 10"/>
          <p:cNvSpPr txBox="1"/>
          <p:nvPr/>
        </p:nvSpPr>
        <p:spPr>
          <a:xfrm>
            <a:off x="548640" y="2990088"/>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325880" y="2971800"/>
            <a:ext cx="4663440" cy="347472"/>
          </a:xfrm>
          <a:prstGeom prst="rect">
            <a:avLst/>
          </a:prstGeom>
          <a:noFill/>
          <a:ln/>
        </p:spPr>
        <p:txBody>
          <a:bodyPr wrap="square" lIns="0" tIns="0" rIns="0" bIns="0" rtlCol="0" anchor="t"/>
          <a:lstStyle/>
          <a:p>
            <a:pPr indent="0" marL="0">
              <a:buNone/>
            </a:pPr>
            <a:r>
              <a:rPr lang="en-US" sz="1700" b="1" dirty="0">
                <a:solidFill>
                  <a:srgbClr val="000000"/>
                </a:solidFill>
                <a:latin typeface="Arial" pitchFamily="34" charset="0"/>
                <a:ea typeface="Arial" pitchFamily="34" charset="-122"/>
                <a:cs typeface="Arial" pitchFamily="34" charset="-120"/>
              </a:rPr>
              <a:t>From scan to CI</a:t>
            </a:r>
            <a:endParaRPr lang="en-US" sz="1700" dirty="0"/>
          </a:p>
        </p:txBody>
      </p:sp>
      <p:sp>
        <p:nvSpPr>
          <p:cNvPr id="14" name="Text 12"/>
          <p:cNvSpPr txBox="1"/>
          <p:nvPr/>
        </p:nvSpPr>
        <p:spPr>
          <a:xfrm>
            <a:off x="1325880" y="3319272"/>
            <a:ext cx="4663440" cy="548640"/>
          </a:xfrm>
          <a:prstGeom prst="rect">
            <a:avLst/>
          </a:prstGeom>
          <a:noFill/>
          <a:ln/>
        </p:spPr>
        <p:txBody>
          <a:bodyPr wrap="square" lIns="0" tIns="0" rIns="0" bIns="0" rtlCol="0" anchor="t"/>
          <a:lstStyle/>
          <a:p>
            <a:pPr indent="0" marL="0">
              <a:buNone/>
            </a:pPr>
            <a:r>
              <a:rPr lang="en-US" sz="1250" dirty="0">
                <a:solidFill>
                  <a:srgbClr val="53565A"/>
                </a:solidFill>
                <a:latin typeface="Arial" pitchFamily="34" charset="0"/>
                <a:ea typeface="Arial" pitchFamily="34" charset="-122"/>
                <a:cs typeface="Arial" pitchFamily="34" charset="-120"/>
              </a:rPr>
              <a:t>One host seen by two scanners; lookup rules and IRE</a:t>
            </a:r>
            <a:endParaRPr lang="en-US" sz="1250" dirty="0"/>
          </a:p>
        </p:txBody>
      </p:sp>
      <p:sp>
        <p:nvSpPr>
          <p:cNvPr id="15" name="Shape 13"/>
          <p:cNvSpPr/>
          <p:nvPr/>
        </p:nvSpPr>
        <p:spPr>
          <a:xfrm>
            <a:off x="548640" y="4014216"/>
            <a:ext cx="566928" cy="566928"/>
          </a:xfrm>
          <a:prstGeom prst="ellipse">
            <a:avLst/>
          </a:prstGeom>
          <a:solidFill>
            <a:srgbClr val="86BC25"/>
          </a:solidFill>
          <a:ln w="12700">
            <a:solidFill>
              <a:srgbClr val="86BC25"/>
            </a:solidFill>
            <a:prstDash val="solid"/>
          </a:ln>
        </p:spPr>
      </p:sp>
      <p:sp>
        <p:nvSpPr>
          <p:cNvPr id="16" name="Text 14"/>
          <p:cNvSpPr txBox="1"/>
          <p:nvPr/>
        </p:nvSpPr>
        <p:spPr>
          <a:xfrm>
            <a:off x="548640" y="4014216"/>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7" name="Text 15"/>
          <p:cNvSpPr txBox="1"/>
          <p:nvPr/>
        </p:nvSpPr>
        <p:spPr>
          <a:xfrm>
            <a:off x="1325880" y="3995928"/>
            <a:ext cx="4663440" cy="347472"/>
          </a:xfrm>
          <a:prstGeom prst="rect">
            <a:avLst/>
          </a:prstGeom>
          <a:noFill/>
          <a:ln/>
        </p:spPr>
        <p:txBody>
          <a:bodyPr wrap="square" lIns="0" tIns="0" rIns="0" bIns="0" rtlCol="0" anchor="t"/>
          <a:lstStyle/>
          <a:p>
            <a:pPr indent="0" marL="0">
              <a:buNone/>
            </a:pPr>
            <a:r>
              <a:rPr lang="en-US" sz="1700" b="1" dirty="0">
                <a:solidFill>
                  <a:srgbClr val="000000"/>
                </a:solidFill>
                <a:latin typeface="Arial" pitchFamily="34" charset="0"/>
                <a:ea typeface="Arial" pitchFamily="34" charset="-122"/>
                <a:cs typeface="Arial" pitchFamily="34" charset="-120"/>
              </a:rPr>
              <a:t>Core concepts</a:t>
            </a:r>
            <a:endParaRPr lang="en-US" sz="1700" dirty="0"/>
          </a:p>
        </p:txBody>
      </p:sp>
      <p:sp>
        <p:nvSpPr>
          <p:cNvPr id="18" name="Text 16"/>
          <p:cNvSpPr txBox="1"/>
          <p:nvPr/>
        </p:nvSpPr>
        <p:spPr>
          <a:xfrm>
            <a:off x="1325880" y="4343400"/>
            <a:ext cx="4663440" cy="548640"/>
          </a:xfrm>
          <a:prstGeom prst="rect">
            <a:avLst/>
          </a:prstGeom>
          <a:noFill/>
          <a:ln/>
        </p:spPr>
        <p:txBody>
          <a:bodyPr wrap="square" lIns="0" tIns="0" rIns="0" bIns="0" rtlCol="0" anchor="t"/>
          <a:lstStyle/>
          <a:p>
            <a:pPr indent="0" marL="0">
              <a:buNone/>
            </a:pPr>
            <a:r>
              <a:rPr lang="en-US" sz="1250" dirty="0">
                <a:solidFill>
                  <a:srgbClr val="53565A"/>
                </a:solidFill>
                <a:latin typeface="Arial" pitchFamily="34" charset="0"/>
                <a:ea typeface="Arial" pitchFamily="34" charset="-122"/>
                <a:cs typeface="Arial" pitchFamily="34" charset="-120"/>
              </a:rPr>
              <a:t>DNS, FQDN, load balancers, network adapters; the rules that matter</a:t>
            </a:r>
            <a:endParaRPr lang="en-US" sz="1250" dirty="0"/>
          </a:p>
        </p:txBody>
      </p:sp>
      <p:sp>
        <p:nvSpPr>
          <p:cNvPr id="19" name="Shape 17"/>
          <p:cNvSpPr/>
          <p:nvPr/>
        </p:nvSpPr>
        <p:spPr>
          <a:xfrm>
            <a:off x="548640" y="5038344"/>
            <a:ext cx="566928" cy="566928"/>
          </a:xfrm>
          <a:prstGeom prst="ellipse">
            <a:avLst/>
          </a:prstGeom>
          <a:solidFill>
            <a:srgbClr val="86BC25"/>
          </a:solidFill>
          <a:ln w="12700">
            <a:solidFill>
              <a:srgbClr val="86BC25"/>
            </a:solidFill>
            <a:prstDash val="solid"/>
          </a:ln>
        </p:spPr>
      </p:sp>
      <p:sp>
        <p:nvSpPr>
          <p:cNvPr id="20" name="Text 18"/>
          <p:cNvSpPr txBox="1"/>
          <p:nvPr/>
        </p:nvSpPr>
        <p:spPr>
          <a:xfrm>
            <a:off x="548640" y="5038344"/>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1" name="Text 19"/>
          <p:cNvSpPr txBox="1"/>
          <p:nvPr/>
        </p:nvSpPr>
        <p:spPr>
          <a:xfrm>
            <a:off x="1325880" y="5020056"/>
            <a:ext cx="4663440" cy="347472"/>
          </a:xfrm>
          <a:prstGeom prst="rect">
            <a:avLst/>
          </a:prstGeom>
          <a:noFill/>
          <a:ln/>
        </p:spPr>
        <p:txBody>
          <a:bodyPr wrap="square" lIns="0" tIns="0" rIns="0" bIns="0" rtlCol="0" anchor="t"/>
          <a:lstStyle/>
          <a:p>
            <a:pPr indent="0" marL="0">
              <a:buNone/>
            </a:pPr>
            <a:r>
              <a:rPr lang="en-US" sz="1700" b="1" dirty="0">
                <a:solidFill>
                  <a:srgbClr val="000000"/>
                </a:solidFill>
                <a:latin typeface="Arial" pitchFamily="34" charset="0"/>
                <a:ea typeface="Arial" pitchFamily="34" charset="-122"/>
                <a:cs typeface="Arial" pitchFamily="34" charset="-120"/>
              </a:rPr>
              <a:t>Running an integration</a:t>
            </a:r>
            <a:endParaRPr lang="en-US" sz="1700" dirty="0"/>
          </a:p>
        </p:txBody>
      </p:sp>
      <p:sp>
        <p:nvSpPr>
          <p:cNvPr id="22" name="Text 20"/>
          <p:cNvSpPr txBox="1"/>
          <p:nvPr/>
        </p:nvSpPr>
        <p:spPr>
          <a:xfrm>
            <a:off x="1325880" y="5367528"/>
            <a:ext cx="4663440" cy="548640"/>
          </a:xfrm>
          <a:prstGeom prst="rect">
            <a:avLst/>
          </a:prstGeom>
          <a:noFill/>
          <a:ln/>
        </p:spPr>
        <p:txBody>
          <a:bodyPr wrap="square" lIns="0" tIns="0" rIns="0" bIns="0" rtlCol="0" anchor="t"/>
          <a:lstStyle/>
          <a:p>
            <a:pPr indent="0" marL="0">
              <a:buNone/>
            </a:pPr>
            <a:r>
              <a:rPr lang="en-US" sz="1250" dirty="0">
                <a:solidFill>
                  <a:srgbClr val="53565A"/>
                </a:solidFill>
                <a:latin typeface="Arial" pitchFamily="34" charset="0"/>
                <a:ea typeface="Arial" pitchFamily="34" charset="-122"/>
                <a:cs typeface="Arial" pitchFamily="34" charset="-120"/>
              </a:rPr>
              <a:t>Before you start, common questions, two years of history, switching scanners</a:t>
            </a:r>
            <a:endParaRPr lang="en-US" sz="1250" dirty="0"/>
          </a:p>
        </p:txBody>
      </p:sp>
      <p:sp>
        <p:nvSpPr>
          <p:cNvPr id="23" name="Shape 21"/>
          <p:cNvSpPr/>
          <p:nvPr/>
        </p:nvSpPr>
        <p:spPr>
          <a:xfrm>
            <a:off x="6217920" y="1965960"/>
            <a:ext cx="566928" cy="566928"/>
          </a:xfrm>
          <a:prstGeom prst="ellipse">
            <a:avLst/>
          </a:prstGeom>
          <a:solidFill>
            <a:srgbClr val="86BC25"/>
          </a:solidFill>
          <a:ln w="12700">
            <a:solidFill>
              <a:srgbClr val="86BC25"/>
            </a:solidFill>
            <a:prstDash val="solid"/>
          </a:ln>
        </p:spPr>
      </p:sp>
      <p:sp>
        <p:nvSpPr>
          <p:cNvPr id="24" name="Text 22"/>
          <p:cNvSpPr txBox="1"/>
          <p:nvPr/>
        </p:nvSpPr>
        <p:spPr>
          <a:xfrm>
            <a:off x="6217920" y="196596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5" name="Text 23"/>
          <p:cNvSpPr txBox="1"/>
          <p:nvPr/>
        </p:nvSpPr>
        <p:spPr>
          <a:xfrm>
            <a:off x="6995160" y="1947672"/>
            <a:ext cx="4663440" cy="347472"/>
          </a:xfrm>
          <a:prstGeom prst="rect">
            <a:avLst/>
          </a:prstGeom>
          <a:noFill/>
          <a:ln/>
        </p:spPr>
        <p:txBody>
          <a:bodyPr wrap="square" lIns="0" tIns="0" rIns="0" bIns="0" rtlCol="0" anchor="t"/>
          <a:lstStyle/>
          <a:p>
            <a:pPr indent="0" marL="0">
              <a:buNone/>
            </a:pPr>
            <a:r>
              <a:rPr lang="en-US" sz="1700" b="1" dirty="0">
                <a:solidFill>
                  <a:srgbClr val="000000"/>
                </a:solidFill>
                <a:latin typeface="Arial" pitchFamily="34" charset="0"/>
                <a:ea typeface="Arial" pitchFamily="34" charset="-122"/>
                <a:cs typeface="Arial" pitchFamily="34" charset="-120"/>
              </a:rPr>
              <a:t>Vulnerability basics</a:t>
            </a:r>
            <a:endParaRPr lang="en-US" sz="1700" dirty="0"/>
          </a:p>
        </p:txBody>
      </p:sp>
      <p:sp>
        <p:nvSpPr>
          <p:cNvPr id="26" name="Text 24"/>
          <p:cNvSpPr txBox="1"/>
          <p:nvPr/>
        </p:nvSpPr>
        <p:spPr>
          <a:xfrm>
            <a:off x="6995160" y="2295144"/>
            <a:ext cx="4663440" cy="548640"/>
          </a:xfrm>
          <a:prstGeom prst="rect">
            <a:avLst/>
          </a:prstGeom>
          <a:noFill/>
          <a:ln/>
        </p:spPr>
        <p:txBody>
          <a:bodyPr wrap="square" lIns="0" tIns="0" rIns="0" bIns="0" rtlCol="0" anchor="t"/>
          <a:lstStyle/>
          <a:p>
            <a:pPr indent="0" marL="0">
              <a:buNone/>
            </a:pPr>
            <a:r>
              <a:rPr lang="en-US" sz="1250" dirty="0">
                <a:solidFill>
                  <a:srgbClr val="53565A"/>
                </a:solidFill>
                <a:latin typeface="Arial" pitchFamily="34" charset="0"/>
                <a:ea typeface="Arial" pitchFamily="34" charset="-122"/>
                <a:cs typeface="Arial" pitchFamily="34" charset="-120"/>
              </a:rPr>
              <a:t>CVE vs CWE, CVSS v2 vs v3, SBOM, why CWE drives application findings</a:t>
            </a:r>
            <a:endParaRPr lang="en-US" sz="1250" dirty="0"/>
          </a:p>
        </p:txBody>
      </p:sp>
      <p:sp>
        <p:nvSpPr>
          <p:cNvPr id="27" name="Shape 25"/>
          <p:cNvSpPr/>
          <p:nvPr/>
        </p:nvSpPr>
        <p:spPr>
          <a:xfrm>
            <a:off x="6217920" y="2990088"/>
            <a:ext cx="566928" cy="566928"/>
          </a:xfrm>
          <a:prstGeom prst="ellipse">
            <a:avLst/>
          </a:prstGeom>
          <a:solidFill>
            <a:srgbClr val="86BC25"/>
          </a:solidFill>
          <a:ln w="12700">
            <a:solidFill>
              <a:srgbClr val="86BC25"/>
            </a:solidFill>
            <a:prstDash val="solid"/>
          </a:ln>
        </p:spPr>
      </p:sp>
      <p:sp>
        <p:nvSpPr>
          <p:cNvPr id="28" name="Text 26"/>
          <p:cNvSpPr txBox="1"/>
          <p:nvPr/>
        </p:nvSpPr>
        <p:spPr>
          <a:xfrm>
            <a:off x="6217920" y="2990088"/>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29" name="Text 27"/>
          <p:cNvSpPr txBox="1"/>
          <p:nvPr/>
        </p:nvSpPr>
        <p:spPr>
          <a:xfrm>
            <a:off x="6995160" y="2971800"/>
            <a:ext cx="4663440" cy="347472"/>
          </a:xfrm>
          <a:prstGeom prst="rect">
            <a:avLst/>
          </a:prstGeom>
          <a:noFill/>
          <a:ln/>
        </p:spPr>
        <p:txBody>
          <a:bodyPr wrap="square" lIns="0" tIns="0" rIns="0" bIns="0" rtlCol="0" anchor="t"/>
          <a:lstStyle/>
          <a:p>
            <a:pPr indent="0" marL="0">
              <a:buNone/>
            </a:pPr>
            <a:r>
              <a:rPr lang="en-US" sz="1700" b="1" dirty="0">
                <a:solidFill>
                  <a:srgbClr val="000000"/>
                </a:solidFill>
                <a:latin typeface="Arial" pitchFamily="34" charset="0"/>
                <a:ea typeface="Arial" pitchFamily="34" charset="-122"/>
                <a:cs typeface="Arial" pitchFamily="34" charset="-120"/>
              </a:rPr>
              <a:t>Best practices</a:t>
            </a:r>
            <a:endParaRPr lang="en-US" sz="1700" dirty="0"/>
          </a:p>
        </p:txBody>
      </p:sp>
      <p:sp>
        <p:nvSpPr>
          <p:cNvPr id="30" name="Text 28"/>
          <p:cNvSpPr txBox="1"/>
          <p:nvPr/>
        </p:nvSpPr>
        <p:spPr>
          <a:xfrm>
            <a:off x="6995160" y="3319272"/>
            <a:ext cx="4663440" cy="548640"/>
          </a:xfrm>
          <a:prstGeom prst="rect">
            <a:avLst/>
          </a:prstGeom>
          <a:noFill/>
          <a:ln/>
        </p:spPr>
        <p:txBody>
          <a:bodyPr wrap="square" lIns="0" tIns="0" rIns="0" bIns="0" rtlCol="0" anchor="t"/>
          <a:lstStyle/>
          <a:p>
            <a:pPr indent="0" marL="0">
              <a:buNone/>
            </a:pPr>
            <a:r>
              <a:rPr lang="en-US" sz="1250" dirty="0">
                <a:solidFill>
                  <a:srgbClr val="53565A"/>
                </a:solidFill>
                <a:latin typeface="Arial" pitchFamily="34" charset="0"/>
                <a:ea typeface="Arial" pitchFamily="34" charset="-122"/>
                <a:cs typeface="Arial" pitchFamily="34" charset="-120"/>
              </a:rPr>
              <a:t>Credentials, error handling, fallback lookup rules</a:t>
            </a:r>
            <a:endParaRPr lang="en-US" sz="1250" dirty="0"/>
          </a:p>
        </p:txBody>
      </p:sp>
      <p:sp>
        <p:nvSpPr>
          <p:cNvPr id="31" name="Shape 29"/>
          <p:cNvSpPr/>
          <p:nvPr/>
        </p:nvSpPr>
        <p:spPr>
          <a:xfrm>
            <a:off x="6217920" y="4014216"/>
            <a:ext cx="566928" cy="566928"/>
          </a:xfrm>
          <a:prstGeom prst="ellipse">
            <a:avLst/>
          </a:prstGeom>
          <a:solidFill>
            <a:srgbClr val="86BC25"/>
          </a:solidFill>
          <a:ln w="12700">
            <a:solidFill>
              <a:srgbClr val="86BC25"/>
            </a:solidFill>
            <a:prstDash val="solid"/>
          </a:ln>
        </p:spPr>
      </p:sp>
      <p:sp>
        <p:nvSpPr>
          <p:cNvPr id="32" name="Text 30"/>
          <p:cNvSpPr txBox="1"/>
          <p:nvPr/>
        </p:nvSpPr>
        <p:spPr>
          <a:xfrm>
            <a:off x="6217920" y="4014216"/>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7</a:t>
            </a:r>
            <a:endParaRPr lang="en-US" sz="1600" dirty="0"/>
          </a:p>
        </p:txBody>
      </p:sp>
      <p:sp>
        <p:nvSpPr>
          <p:cNvPr id="33" name="Text 31"/>
          <p:cNvSpPr txBox="1"/>
          <p:nvPr/>
        </p:nvSpPr>
        <p:spPr>
          <a:xfrm>
            <a:off x="6995160" y="3995928"/>
            <a:ext cx="4663440" cy="347472"/>
          </a:xfrm>
          <a:prstGeom prst="rect">
            <a:avLst/>
          </a:prstGeom>
          <a:noFill/>
          <a:ln/>
        </p:spPr>
        <p:txBody>
          <a:bodyPr wrap="square" lIns="0" tIns="0" rIns="0" bIns="0" rtlCol="0" anchor="t"/>
          <a:lstStyle/>
          <a:p>
            <a:pPr indent="0" marL="0">
              <a:buNone/>
            </a:pPr>
            <a:r>
              <a:rPr lang="en-US" sz="1700" b="1" dirty="0">
                <a:solidFill>
                  <a:srgbClr val="000000"/>
                </a:solidFill>
                <a:latin typeface="Arial" pitchFamily="34" charset="0"/>
                <a:ea typeface="Arial" pitchFamily="34" charset="-122"/>
                <a:cs typeface="Arial" pitchFamily="34" charset="-120"/>
              </a:rPr>
              <a:t>USEM today</a:t>
            </a:r>
            <a:endParaRPr lang="en-US" sz="1700" dirty="0"/>
          </a:p>
        </p:txBody>
      </p:sp>
      <p:sp>
        <p:nvSpPr>
          <p:cNvPr id="34" name="Text 32"/>
          <p:cNvSpPr txBox="1"/>
          <p:nvPr/>
        </p:nvSpPr>
        <p:spPr>
          <a:xfrm>
            <a:off x="6995160" y="4343400"/>
            <a:ext cx="4663440" cy="548640"/>
          </a:xfrm>
          <a:prstGeom prst="rect">
            <a:avLst/>
          </a:prstGeom>
          <a:noFill/>
          <a:ln/>
        </p:spPr>
        <p:txBody>
          <a:bodyPr wrap="square" lIns="0" tIns="0" rIns="0" bIns="0" rtlCol="0" anchor="t"/>
          <a:lstStyle/>
          <a:p>
            <a:pPr indent="0" marL="0">
              <a:buNone/>
            </a:pPr>
            <a:r>
              <a:rPr lang="en-US" sz="1250" dirty="0">
                <a:solidFill>
                  <a:srgbClr val="53565A"/>
                </a:solidFill>
                <a:latin typeface="Arial" pitchFamily="34" charset="0"/>
                <a:ea typeface="Arial" pitchFamily="34" charset="-122"/>
                <a:cs typeface="Arial" pitchFamily="34" charset="-120"/>
              </a:rPr>
              <a:t>What is new, and the demo links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000" b="1" spc="150" kern="0" dirty="0">
                <a:solidFill>
                  <a:srgbClr val="26890D"/>
                </a:solidFill>
                <a:latin typeface="Arial" pitchFamily="34" charset="0"/>
                <a:ea typeface="Arial" pitchFamily="34" charset="-122"/>
                <a:cs typeface="Arial" pitchFamily="34" charset="-120"/>
              </a:rPr>
              <a:t>1 · THE LANDSCAPE</a:t>
            </a:r>
            <a:endParaRPr lang="en-US" sz="10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How a finding travels</a:t>
            </a:r>
            <a:pPr indent="0" marL="0">
              <a:buNone/>
            </a:pPr>
            <a:r>
              <a:rPr lang="en-US" sz="3000" b="1" dirty="0">
                <a:solidFill>
                  <a:srgbClr val="86BC25"/>
                </a:solidFill>
                <a:latin typeface="Arial" pitchFamily="34" charset="0"/>
                <a:ea typeface="Arial" pitchFamily="34" charset="-122"/>
                <a:cs typeface="Arial" pitchFamily="34" charset="-120"/>
              </a:rPr>
              <a:t>.</a:t>
            </a:r>
            <a:endParaRPr lang="en-US" sz="3000" dirty="0"/>
          </a:p>
        </p:txBody>
      </p:sp>
      <p:sp>
        <p:nvSpPr>
          <p:cNvPr id="4" name="Text 2"/>
          <p:cNvSpPr txBox="1"/>
          <p:nvPr/>
        </p:nvSpPr>
        <p:spPr>
          <a:xfrm>
            <a:off x="548640" y="1243584"/>
            <a:ext cx="11094415" cy="411480"/>
          </a:xfrm>
          <a:prstGeom prst="rect">
            <a:avLst/>
          </a:prstGeom>
          <a:noFill/>
          <a:ln/>
        </p:spPr>
        <p:txBody>
          <a:bodyPr wrap="square" lIns="0" tIns="0" rIns="0" bIns="0" rtlCol="0" anchor="t"/>
          <a:lstStyle/>
          <a:p>
            <a:pPr indent="0" marL="0">
              <a:buNone/>
            </a:pPr>
            <a:r>
              <a:rPr lang="en-US" sz="1400" dirty="0">
                <a:solidFill>
                  <a:srgbClr val="53565A"/>
                </a:solidFill>
                <a:latin typeface="Arial" pitchFamily="34" charset="0"/>
                <a:ea typeface="Arial" pitchFamily="34" charset="-122"/>
                <a:cs typeface="Arial" pitchFamily="34" charset="-120"/>
              </a:rPr>
              <a:t>Whatever the scanner, every finding follows the same path into ServiceNow.</a:t>
            </a:r>
            <a:endParaRPr lang="en-US" sz="1400" dirty="0"/>
          </a:p>
        </p:txBody>
      </p:sp>
      <p:sp>
        <p:nvSpPr>
          <p:cNvPr id="5" name="Text 3"/>
          <p:cNvSpPr txBox="1"/>
          <p:nvPr/>
        </p:nvSpPr>
        <p:spPr>
          <a:xfrm>
            <a:off x="11185855" y="6473952"/>
            <a:ext cx="457200" cy="228600"/>
          </a:xfrm>
          <a:prstGeom prst="rect">
            <a:avLst/>
          </a:prstGeom>
          <a:noFill/>
          <a:ln/>
        </p:spPr>
        <p:txBody>
          <a:bodyPr wrap="square" lIns="0" tIns="0" rIns="0" bIns="0" rtlCol="0" anchor="t"/>
          <a:lstStyle/>
          <a:p>
            <a:pPr algn="r" indent="0" marL="0">
              <a:buNone/>
            </a:pPr>
            <a:r>
              <a:rPr lang="en-US" sz="900" dirty="0">
                <a:solidFill>
                  <a:srgbClr val="75787B"/>
                </a:solidFill>
                <a:latin typeface="Arial" pitchFamily="34" charset="0"/>
                <a:ea typeface="Arial" pitchFamily="34" charset="-122"/>
                <a:cs typeface="Arial" pitchFamily="34" charset="-120"/>
              </a:rPr>
              <a:t>3</a:t>
            </a:r>
            <a:endParaRPr lang="en-US" sz="900" dirty="0"/>
          </a:p>
        </p:txBody>
      </p:sp>
      <p:sp>
        <p:nvSpPr>
          <p:cNvPr id="6" name="Text 4"/>
          <p:cNvSpPr txBox="1"/>
          <p:nvPr/>
        </p:nvSpPr>
        <p:spPr>
          <a:xfrm>
            <a:off x="548640" y="6473952"/>
            <a:ext cx="2743200" cy="228600"/>
          </a:xfrm>
          <a:prstGeom prst="rect">
            <a:avLst/>
          </a:prstGeom>
          <a:noFill/>
          <a:ln/>
        </p:spPr>
        <p:txBody>
          <a:bodyPr wrap="square" lIns="0" tIns="0" rIns="0" bIns="0" rtlCol="0" anchor="t"/>
          <a:lstStyle/>
          <a:p>
            <a:pPr indent="0" marL="0">
              <a:buNone/>
            </a:pPr>
            <a:r>
              <a:rPr lang="en-US" sz="900" dirty="0">
                <a:solidFill>
                  <a:srgbClr val="75787B"/>
                </a:solidFill>
                <a:latin typeface="Arial" pitchFamily="34" charset="0"/>
                <a:ea typeface="Arial" pitchFamily="34" charset="-122"/>
                <a:cs typeface="Arial" pitchFamily="34" charset="-120"/>
              </a:rPr>
              <a:t>VR field guide</a:t>
            </a:r>
            <a:endParaRPr lang="en-US" sz="900" dirty="0"/>
          </a:p>
        </p:txBody>
      </p:sp>
      <p:sp>
        <p:nvSpPr>
          <p:cNvPr id="7" name="Shape 5"/>
          <p:cNvSpPr/>
          <p:nvPr/>
        </p:nvSpPr>
        <p:spPr>
          <a:xfrm>
            <a:off x="548640" y="2148840"/>
            <a:ext cx="1627632" cy="2651760"/>
          </a:xfrm>
          <a:prstGeom prst="rect">
            <a:avLst/>
          </a:prstGeom>
          <a:solidFill>
            <a:srgbClr val="F2F2F2"/>
          </a:solidFill>
          <a:ln w="12700">
            <a:solidFill>
              <a:srgbClr val="F2F2F2"/>
            </a:solidFill>
            <a:prstDash val="solid"/>
          </a:ln>
        </p:spPr>
      </p:sp>
      <p:sp>
        <p:nvSpPr>
          <p:cNvPr id="8" name="Shape 6"/>
          <p:cNvSpPr/>
          <p:nvPr/>
        </p:nvSpPr>
        <p:spPr>
          <a:xfrm>
            <a:off x="713232" y="2331720"/>
            <a:ext cx="420624" cy="420624"/>
          </a:xfrm>
          <a:prstGeom prst="ellipse">
            <a:avLst/>
          </a:prstGeom>
          <a:solidFill>
            <a:srgbClr val="86BC25"/>
          </a:solidFill>
          <a:ln w="12700">
            <a:solidFill>
              <a:srgbClr val="86BC25"/>
            </a:solidFill>
            <a:prstDash val="solid"/>
          </a:ln>
        </p:spPr>
      </p:sp>
      <p:sp>
        <p:nvSpPr>
          <p:cNvPr id="9" name="Text 7"/>
          <p:cNvSpPr txBox="1"/>
          <p:nvPr/>
        </p:nvSpPr>
        <p:spPr>
          <a:xfrm>
            <a:off x="713232" y="23317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713232" y="2898648"/>
            <a:ext cx="1353312" cy="548640"/>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Scanner or feed</a:t>
            </a:r>
            <a:endParaRPr lang="en-US" sz="1500" dirty="0"/>
          </a:p>
        </p:txBody>
      </p:sp>
      <p:sp>
        <p:nvSpPr>
          <p:cNvPr id="11" name="Text 9"/>
          <p:cNvSpPr txBox="1"/>
          <p:nvPr/>
        </p:nvSpPr>
        <p:spPr>
          <a:xfrm>
            <a:off x="713232" y="3474720"/>
            <a:ext cx="1353312" cy="1005840"/>
          </a:xfrm>
          <a:prstGeom prst="rect">
            <a:avLst/>
          </a:prstGeom>
          <a:noFill/>
          <a:ln/>
        </p:spPr>
        <p:txBody>
          <a:bodyPr wrap="square" lIns="0" tIns="0" rIns="0" bIns="0" rtlCol="0" anchor="t"/>
          <a:lstStyle/>
          <a:p>
            <a:pPr indent="0" marL="0">
              <a:buNone/>
            </a:pPr>
            <a:r>
              <a:rPr lang="en-US" sz="1150" dirty="0">
                <a:solidFill>
                  <a:srgbClr val="53565A"/>
                </a:solidFill>
                <a:latin typeface="Arial" pitchFamily="34" charset="0"/>
                <a:ea typeface="Arial" pitchFamily="34" charset="-122"/>
                <a:cs typeface="Arial" pitchFamily="34" charset="-120"/>
              </a:rPr>
              <a:t>Qualys, VAMP, CDP, container and compliance scanners</a:t>
            </a:r>
            <a:endParaRPr lang="en-US" sz="1150" dirty="0"/>
          </a:p>
        </p:txBody>
      </p:sp>
      <p:sp>
        <p:nvSpPr>
          <p:cNvPr id="12" name="Text 10"/>
          <p:cNvSpPr txBox="1"/>
          <p:nvPr/>
        </p:nvSpPr>
        <p:spPr>
          <a:xfrm>
            <a:off x="658368" y="4434840"/>
            <a:ext cx="1463040" cy="274320"/>
          </a:xfrm>
          <a:prstGeom prst="rect">
            <a:avLst/>
          </a:prstGeom>
          <a:noFill/>
          <a:ln/>
        </p:spPr>
        <p:txBody>
          <a:bodyPr wrap="square" lIns="0" tIns="0" rIns="0" bIns="0" rtlCol="0" anchor="t"/>
          <a:lstStyle/>
          <a:p>
            <a:pPr indent="0" marL="0">
              <a:buNone/>
            </a:pPr>
            <a:r>
              <a:rPr lang="en-US" sz="800" dirty="0">
                <a:solidFill>
                  <a:srgbClr val="26890D"/>
                </a:solidFill>
                <a:latin typeface="Courier New" pitchFamily="34" charset="0"/>
                <a:ea typeface="Courier New" pitchFamily="34" charset="-122"/>
                <a:cs typeface="Courier New" pitchFamily="34" charset="-120"/>
              </a:rPr>
              <a:t>source system</a:t>
            </a:r>
            <a:endParaRPr lang="en-US" sz="800" dirty="0"/>
          </a:p>
        </p:txBody>
      </p:sp>
      <p:sp>
        <p:nvSpPr>
          <p:cNvPr id="13" name="Shape 11"/>
          <p:cNvSpPr/>
          <p:nvPr/>
        </p:nvSpPr>
        <p:spPr>
          <a:xfrm>
            <a:off x="2212848" y="3474720"/>
            <a:ext cx="192573" cy="0"/>
          </a:xfrm>
          <a:prstGeom prst="line">
            <a:avLst/>
          </a:prstGeom>
          <a:noFill/>
          <a:ln w="19050">
            <a:solidFill>
              <a:srgbClr val="BBBCBC"/>
            </a:solidFill>
            <a:prstDash val="solid"/>
            <a:tailEnd type="triangle"/>
          </a:ln>
        </p:spPr>
      </p:sp>
      <p:sp>
        <p:nvSpPr>
          <p:cNvPr id="14" name="Shape 12"/>
          <p:cNvSpPr/>
          <p:nvPr/>
        </p:nvSpPr>
        <p:spPr>
          <a:xfrm>
            <a:off x="2441997" y="2148840"/>
            <a:ext cx="1627632" cy="2651760"/>
          </a:xfrm>
          <a:prstGeom prst="rect">
            <a:avLst/>
          </a:prstGeom>
          <a:solidFill>
            <a:srgbClr val="F2F2F2"/>
          </a:solidFill>
          <a:ln w="12700">
            <a:solidFill>
              <a:srgbClr val="F2F2F2"/>
            </a:solidFill>
            <a:prstDash val="solid"/>
          </a:ln>
        </p:spPr>
      </p:sp>
      <p:sp>
        <p:nvSpPr>
          <p:cNvPr id="15" name="Shape 13"/>
          <p:cNvSpPr/>
          <p:nvPr/>
        </p:nvSpPr>
        <p:spPr>
          <a:xfrm>
            <a:off x="2606589" y="2331720"/>
            <a:ext cx="420624" cy="420624"/>
          </a:xfrm>
          <a:prstGeom prst="ellipse">
            <a:avLst/>
          </a:prstGeom>
          <a:solidFill>
            <a:srgbClr val="86BC25"/>
          </a:solidFill>
          <a:ln w="12700">
            <a:solidFill>
              <a:srgbClr val="86BC25"/>
            </a:solidFill>
            <a:prstDash val="solid"/>
          </a:ln>
        </p:spPr>
      </p:sp>
      <p:sp>
        <p:nvSpPr>
          <p:cNvPr id="16" name="Text 14"/>
          <p:cNvSpPr txBox="1"/>
          <p:nvPr/>
        </p:nvSpPr>
        <p:spPr>
          <a:xfrm>
            <a:off x="2606589" y="23317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7" name="Text 15"/>
          <p:cNvSpPr txBox="1"/>
          <p:nvPr/>
        </p:nvSpPr>
        <p:spPr>
          <a:xfrm>
            <a:off x="2606589" y="2898648"/>
            <a:ext cx="1353312" cy="548640"/>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Import</a:t>
            </a:r>
            <a:endParaRPr lang="en-US" sz="1500" dirty="0"/>
          </a:p>
        </p:txBody>
      </p:sp>
      <p:sp>
        <p:nvSpPr>
          <p:cNvPr id="18" name="Text 16"/>
          <p:cNvSpPr txBox="1"/>
          <p:nvPr/>
        </p:nvSpPr>
        <p:spPr>
          <a:xfrm>
            <a:off x="2606589" y="3474720"/>
            <a:ext cx="1353312" cy="1005840"/>
          </a:xfrm>
          <a:prstGeom prst="rect">
            <a:avLst/>
          </a:prstGeom>
          <a:noFill/>
          <a:ln/>
        </p:spPr>
        <p:txBody>
          <a:bodyPr wrap="square" lIns="0" tIns="0" rIns="0" bIns="0" rtlCol="0" anchor="t"/>
          <a:lstStyle/>
          <a:p>
            <a:pPr indent="0" marL="0">
              <a:buNone/>
            </a:pPr>
            <a:r>
              <a:rPr lang="en-US" sz="1150" dirty="0">
                <a:solidFill>
                  <a:srgbClr val="53565A"/>
                </a:solidFill>
                <a:latin typeface="Arial" pitchFamily="34" charset="0"/>
                <a:ea typeface="Arial" pitchFamily="34" charset="-122"/>
                <a:cs typeface="Arial" pitchFamily="34" charset="-120"/>
              </a:rPr>
              <a:t>A scheduled integration run pulls what changed since the last run</a:t>
            </a:r>
            <a:endParaRPr lang="en-US" sz="1150" dirty="0"/>
          </a:p>
        </p:txBody>
      </p:sp>
      <p:sp>
        <p:nvSpPr>
          <p:cNvPr id="19" name="Text 17"/>
          <p:cNvSpPr txBox="1"/>
          <p:nvPr/>
        </p:nvSpPr>
        <p:spPr>
          <a:xfrm>
            <a:off x="2551725" y="4434840"/>
            <a:ext cx="1463040" cy="274320"/>
          </a:xfrm>
          <a:prstGeom prst="rect">
            <a:avLst/>
          </a:prstGeom>
          <a:noFill/>
          <a:ln/>
        </p:spPr>
        <p:txBody>
          <a:bodyPr wrap="square" lIns="0" tIns="0" rIns="0" bIns="0" rtlCol="0" anchor="t"/>
          <a:lstStyle/>
          <a:p>
            <a:pPr indent="0" marL="0">
              <a:buNone/>
            </a:pPr>
            <a:r>
              <a:rPr lang="en-US" sz="800" dirty="0">
                <a:solidFill>
                  <a:srgbClr val="26890D"/>
                </a:solidFill>
                <a:latin typeface="Courier New" pitchFamily="34" charset="0"/>
                <a:ea typeface="Courier New" pitchFamily="34" charset="-122"/>
                <a:cs typeface="Courier New" pitchFamily="34" charset="-120"/>
              </a:rPr>
              <a:t>sn_vul_integration_run</a:t>
            </a:r>
            <a:endParaRPr lang="en-US" sz="800" dirty="0"/>
          </a:p>
        </p:txBody>
      </p:sp>
      <p:sp>
        <p:nvSpPr>
          <p:cNvPr id="20" name="Shape 18"/>
          <p:cNvSpPr/>
          <p:nvPr/>
        </p:nvSpPr>
        <p:spPr>
          <a:xfrm>
            <a:off x="4106205" y="3474720"/>
            <a:ext cx="192573" cy="0"/>
          </a:xfrm>
          <a:prstGeom prst="line">
            <a:avLst/>
          </a:prstGeom>
          <a:noFill/>
          <a:ln w="19050">
            <a:solidFill>
              <a:srgbClr val="BBBCBC"/>
            </a:solidFill>
            <a:prstDash val="solid"/>
            <a:tailEnd type="triangle"/>
          </a:ln>
        </p:spPr>
      </p:sp>
      <p:sp>
        <p:nvSpPr>
          <p:cNvPr id="21" name="Shape 19"/>
          <p:cNvSpPr/>
          <p:nvPr/>
        </p:nvSpPr>
        <p:spPr>
          <a:xfrm>
            <a:off x="4335353" y="2148840"/>
            <a:ext cx="1627632" cy="2651760"/>
          </a:xfrm>
          <a:prstGeom prst="rect">
            <a:avLst/>
          </a:prstGeom>
          <a:solidFill>
            <a:srgbClr val="F2F2F2"/>
          </a:solidFill>
          <a:ln w="12700">
            <a:solidFill>
              <a:srgbClr val="F2F2F2"/>
            </a:solidFill>
            <a:prstDash val="solid"/>
          </a:ln>
        </p:spPr>
      </p:sp>
      <p:sp>
        <p:nvSpPr>
          <p:cNvPr id="22" name="Shape 20"/>
          <p:cNvSpPr/>
          <p:nvPr/>
        </p:nvSpPr>
        <p:spPr>
          <a:xfrm>
            <a:off x="4499945" y="2331720"/>
            <a:ext cx="420624" cy="420624"/>
          </a:xfrm>
          <a:prstGeom prst="ellipse">
            <a:avLst/>
          </a:prstGeom>
          <a:solidFill>
            <a:srgbClr val="86BC25"/>
          </a:solidFill>
          <a:ln w="12700">
            <a:solidFill>
              <a:srgbClr val="86BC25"/>
            </a:solidFill>
            <a:prstDash val="solid"/>
          </a:ln>
        </p:spPr>
      </p:sp>
      <p:sp>
        <p:nvSpPr>
          <p:cNvPr id="23" name="Text 21"/>
          <p:cNvSpPr txBox="1"/>
          <p:nvPr/>
        </p:nvSpPr>
        <p:spPr>
          <a:xfrm>
            <a:off x="4499945" y="23317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4" name="Text 22"/>
          <p:cNvSpPr txBox="1"/>
          <p:nvPr/>
        </p:nvSpPr>
        <p:spPr>
          <a:xfrm>
            <a:off x="4499945" y="2898648"/>
            <a:ext cx="1353312" cy="548640"/>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Discovered item</a:t>
            </a:r>
            <a:endParaRPr lang="en-US" sz="1500" dirty="0"/>
          </a:p>
        </p:txBody>
      </p:sp>
      <p:sp>
        <p:nvSpPr>
          <p:cNvPr id="25" name="Text 23"/>
          <p:cNvSpPr txBox="1"/>
          <p:nvPr/>
        </p:nvSpPr>
        <p:spPr>
          <a:xfrm>
            <a:off x="4499945" y="3474720"/>
            <a:ext cx="1353312" cy="1005840"/>
          </a:xfrm>
          <a:prstGeom prst="rect">
            <a:avLst/>
          </a:prstGeom>
          <a:noFill/>
          <a:ln/>
        </p:spPr>
        <p:txBody>
          <a:bodyPr wrap="square" lIns="0" tIns="0" rIns="0" bIns="0" rtlCol="0" anchor="t"/>
          <a:lstStyle/>
          <a:p>
            <a:pPr indent="0" marL="0">
              <a:buNone/>
            </a:pPr>
            <a:r>
              <a:rPr lang="en-US" sz="1150" dirty="0">
                <a:solidFill>
                  <a:srgbClr val="53565A"/>
                </a:solidFill>
                <a:latin typeface="Arial" pitchFamily="34" charset="0"/>
                <a:ea typeface="Arial" pitchFamily="34" charset="-122"/>
                <a:cs typeface="Arial" pitchFamily="34" charset="-120"/>
              </a:rPr>
              <a:t>One record per host per source, holding the scanned payload</a:t>
            </a:r>
            <a:endParaRPr lang="en-US" sz="1150" dirty="0"/>
          </a:p>
        </p:txBody>
      </p:sp>
      <p:sp>
        <p:nvSpPr>
          <p:cNvPr id="26" name="Text 24"/>
          <p:cNvSpPr txBox="1"/>
          <p:nvPr/>
        </p:nvSpPr>
        <p:spPr>
          <a:xfrm>
            <a:off x="4445081" y="4434840"/>
            <a:ext cx="1463040" cy="274320"/>
          </a:xfrm>
          <a:prstGeom prst="rect">
            <a:avLst/>
          </a:prstGeom>
          <a:noFill/>
          <a:ln/>
        </p:spPr>
        <p:txBody>
          <a:bodyPr wrap="square" lIns="0" tIns="0" rIns="0" bIns="0" rtlCol="0" anchor="t"/>
          <a:lstStyle/>
          <a:p>
            <a:pPr indent="0" marL="0">
              <a:buNone/>
            </a:pPr>
            <a:r>
              <a:rPr lang="en-US" sz="800" dirty="0">
                <a:solidFill>
                  <a:srgbClr val="26890D"/>
                </a:solidFill>
                <a:latin typeface="Courier New" pitchFamily="34" charset="0"/>
                <a:ea typeface="Courier New" pitchFamily="34" charset="-122"/>
                <a:cs typeface="Courier New" pitchFamily="34" charset="-120"/>
              </a:rPr>
              <a:t>sn_sec_cmn_src_ci</a:t>
            </a:r>
            <a:endParaRPr lang="en-US" sz="800" dirty="0"/>
          </a:p>
        </p:txBody>
      </p:sp>
      <p:sp>
        <p:nvSpPr>
          <p:cNvPr id="27" name="Shape 25"/>
          <p:cNvSpPr/>
          <p:nvPr/>
        </p:nvSpPr>
        <p:spPr>
          <a:xfrm>
            <a:off x="5999561" y="3474720"/>
            <a:ext cx="192573" cy="0"/>
          </a:xfrm>
          <a:prstGeom prst="line">
            <a:avLst/>
          </a:prstGeom>
          <a:noFill/>
          <a:ln w="19050">
            <a:solidFill>
              <a:srgbClr val="BBBCBC"/>
            </a:solidFill>
            <a:prstDash val="solid"/>
            <a:tailEnd type="triangle"/>
          </a:ln>
        </p:spPr>
      </p:sp>
      <p:sp>
        <p:nvSpPr>
          <p:cNvPr id="28" name="Shape 26"/>
          <p:cNvSpPr/>
          <p:nvPr/>
        </p:nvSpPr>
        <p:spPr>
          <a:xfrm>
            <a:off x="6228710" y="2148840"/>
            <a:ext cx="1627632" cy="2651760"/>
          </a:xfrm>
          <a:prstGeom prst="rect">
            <a:avLst/>
          </a:prstGeom>
          <a:solidFill>
            <a:srgbClr val="E8F2D5"/>
          </a:solidFill>
          <a:ln w="12700">
            <a:solidFill>
              <a:srgbClr val="E8F2D5"/>
            </a:solidFill>
            <a:prstDash val="solid"/>
          </a:ln>
        </p:spPr>
      </p:sp>
      <p:sp>
        <p:nvSpPr>
          <p:cNvPr id="29" name="Shape 27"/>
          <p:cNvSpPr/>
          <p:nvPr/>
        </p:nvSpPr>
        <p:spPr>
          <a:xfrm>
            <a:off x="6393302" y="2331720"/>
            <a:ext cx="420624" cy="420624"/>
          </a:xfrm>
          <a:prstGeom prst="ellipse">
            <a:avLst/>
          </a:prstGeom>
          <a:solidFill>
            <a:srgbClr val="86BC25"/>
          </a:solidFill>
          <a:ln w="12700">
            <a:solidFill>
              <a:srgbClr val="86BC25"/>
            </a:solidFill>
            <a:prstDash val="solid"/>
          </a:ln>
        </p:spPr>
      </p:sp>
      <p:sp>
        <p:nvSpPr>
          <p:cNvPr id="30" name="Text 28"/>
          <p:cNvSpPr txBox="1"/>
          <p:nvPr/>
        </p:nvSpPr>
        <p:spPr>
          <a:xfrm>
            <a:off x="6393302" y="23317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31" name="Text 29"/>
          <p:cNvSpPr txBox="1"/>
          <p:nvPr/>
        </p:nvSpPr>
        <p:spPr>
          <a:xfrm>
            <a:off x="6393302" y="2898648"/>
            <a:ext cx="1353312" cy="548640"/>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CI lookup</a:t>
            </a:r>
            <a:endParaRPr lang="en-US" sz="1500" dirty="0"/>
          </a:p>
        </p:txBody>
      </p:sp>
      <p:sp>
        <p:nvSpPr>
          <p:cNvPr id="32" name="Text 30"/>
          <p:cNvSpPr txBox="1"/>
          <p:nvPr/>
        </p:nvSpPr>
        <p:spPr>
          <a:xfrm>
            <a:off x="6393302" y="3474720"/>
            <a:ext cx="1353312" cy="1005840"/>
          </a:xfrm>
          <a:prstGeom prst="rect">
            <a:avLst/>
          </a:prstGeom>
          <a:noFill/>
          <a:ln/>
        </p:spPr>
        <p:txBody>
          <a:bodyPr wrap="square" lIns="0" tIns="0" rIns="0" bIns="0" rtlCol="0" anchor="t"/>
          <a:lstStyle/>
          <a:p>
            <a:pPr indent="0" marL="0">
              <a:buNone/>
            </a:pPr>
            <a:r>
              <a:rPr lang="en-US" sz="1150" dirty="0">
                <a:solidFill>
                  <a:srgbClr val="53565A"/>
                </a:solidFill>
                <a:latin typeface="Arial" pitchFamily="34" charset="0"/>
                <a:ea typeface="Arial" pitchFamily="34" charset="-122"/>
                <a:cs typeface="Arial" pitchFamily="34" charset="-120"/>
              </a:rPr>
              <a:t>Lookup rules find the CI; if none does, IRE decides</a:t>
            </a:r>
            <a:endParaRPr lang="en-US" sz="1150" dirty="0"/>
          </a:p>
        </p:txBody>
      </p:sp>
      <p:sp>
        <p:nvSpPr>
          <p:cNvPr id="33" name="Text 31"/>
          <p:cNvSpPr txBox="1"/>
          <p:nvPr/>
        </p:nvSpPr>
        <p:spPr>
          <a:xfrm>
            <a:off x="6338438" y="4434840"/>
            <a:ext cx="1463040" cy="274320"/>
          </a:xfrm>
          <a:prstGeom prst="rect">
            <a:avLst/>
          </a:prstGeom>
          <a:noFill/>
          <a:ln/>
        </p:spPr>
        <p:txBody>
          <a:bodyPr wrap="square" lIns="0" tIns="0" rIns="0" bIns="0" rtlCol="0" anchor="t"/>
          <a:lstStyle/>
          <a:p>
            <a:pPr indent="0" marL="0">
              <a:buNone/>
            </a:pPr>
            <a:r>
              <a:rPr lang="en-US" sz="800" dirty="0">
                <a:solidFill>
                  <a:srgbClr val="26890D"/>
                </a:solidFill>
                <a:latin typeface="Courier New" pitchFamily="34" charset="0"/>
                <a:ea typeface="Courier New" pitchFamily="34" charset="-122"/>
                <a:cs typeface="Courier New" pitchFamily="34" charset="-120"/>
              </a:rPr>
              <a:t>cmdb_ci</a:t>
            </a:r>
            <a:endParaRPr lang="en-US" sz="800" dirty="0"/>
          </a:p>
        </p:txBody>
      </p:sp>
      <p:sp>
        <p:nvSpPr>
          <p:cNvPr id="34" name="Shape 32"/>
          <p:cNvSpPr/>
          <p:nvPr/>
        </p:nvSpPr>
        <p:spPr>
          <a:xfrm>
            <a:off x="7892918" y="3474720"/>
            <a:ext cx="192573" cy="0"/>
          </a:xfrm>
          <a:prstGeom prst="line">
            <a:avLst/>
          </a:prstGeom>
          <a:noFill/>
          <a:ln w="19050">
            <a:solidFill>
              <a:srgbClr val="BBBCBC"/>
            </a:solidFill>
            <a:prstDash val="solid"/>
            <a:tailEnd type="triangle"/>
          </a:ln>
        </p:spPr>
      </p:sp>
      <p:sp>
        <p:nvSpPr>
          <p:cNvPr id="35" name="Shape 33"/>
          <p:cNvSpPr/>
          <p:nvPr/>
        </p:nvSpPr>
        <p:spPr>
          <a:xfrm>
            <a:off x="8122067" y="2148840"/>
            <a:ext cx="1627632" cy="2651760"/>
          </a:xfrm>
          <a:prstGeom prst="rect">
            <a:avLst/>
          </a:prstGeom>
          <a:solidFill>
            <a:srgbClr val="F2F2F2"/>
          </a:solidFill>
          <a:ln w="12700">
            <a:solidFill>
              <a:srgbClr val="F2F2F2"/>
            </a:solidFill>
            <a:prstDash val="solid"/>
          </a:ln>
        </p:spPr>
      </p:sp>
      <p:sp>
        <p:nvSpPr>
          <p:cNvPr id="36" name="Shape 34"/>
          <p:cNvSpPr/>
          <p:nvPr/>
        </p:nvSpPr>
        <p:spPr>
          <a:xfrm>
            <a:off x="8286659" y="2331720"/>
            <a:ext cx="420624" cy="420624"/>
          </a:xfrm>
          <a:prstGeom prst="ellipse">
            <a:avLst/>
          </a:prstGeom>
          <a:solidFill>
            <a:srgbClr val="86BC25"/>
          </a:solidFill>
          <a:ln w="12700">
            <a:solidFill>
              <a:srgbClr val="86BC25"/>
            </a:solidFill>
            <a:prstDash val="solid"/>
          </a:ln>
        </p:spPr>
      </p:sp>
      <p:sp>
        <p:nvSpPr>
          <p:cNvPr id="37" name="Text 35"/>
          <p:cNvSpPr txBox="1"/>
          <p:nvPr/>
        </p:nvSpPr>
        <p:spPr>
          <a:xfrm>
            <a:off x="8286659" y="23317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8" name="Text 36"/>
          <p:cNvSpPr txBox="1"/>
          <p:nvPr/>
        </p:nvSpPr>
        <p:spPr>
          <a:xfrm>
            <a:off x="8286659" y="2898648"/>
            <a:ext cx="1353312" cy="548640"/>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Vulnerable item</a:t>
            </a:r>
            <a:endParaRPr lang="en-US" sz="1500" dirty="0"/>
          </a:p>
        </p:txBody>
      </p:sp>
      <p:sp>
        <p:nvSpPr>
          <p:cNvPr id="39" name="Text 37"/>
          <p:cNvSpPr txBox="1"/>
          <p:nvPr/>
        </p:nvSpPr>
        <p:spPr>
          <a:xfrm>
            <a:off x="8286659" y="3474720"/>
            <a:ext cx="1353312" cy="1005840"/>
          </a:xfrm>
          <a:prstGeom prst="rect">
            <a:avLst/>
          </a:prstGeom>
          <a:noFill/>
          <a:ln/>
        </p:spPr>
        <p:txBody>
          <a:bodyPr wrap="square" lIns="0" tIns="0" rIns="0" bIns="0" rtlCol="0" anchor="t"/>
          <a:lstStyle/>
          <a:p>
            <a:pPr indent="0" marL="0">
              <a:buNone/>
            </a:pPr>
            <a:r>
              <a:rPr lang="en-US" sz="1150" dirty="0">
                <a:solidFill>
                  <a:srgbClr val="53565A"/>
                </a:solidFill>
                <a:latin typeface="Arial" pitchFamily="34" charset="0"/>
                <a:ea typeface="Arial" pitchFamily="34" charset="-122"/>
                <a:cs typeface="Arial" pitchFamily="34" charset="-120"/>
              </a:rPr>
              <a:t>The finding on that CI: VIT, AVIT, CVIT or test result</a:t>
            </a:r>
            <a:endParaRPr lang="en-US" sz="1150" dirty="0"/>
          </a:p>
        </p:txBody>
      </p:sp>
      <p:sp>
        <p:nvSpPr>
          <p:cNvPr id="40" name="Text 38"/>
          <p:cNvSpPr txBox="1"/>
          <p:nvPr/>
        </p:nvSpPr>
        <p:spPr>
          <a:xfrm>
            <a:off x="8231795" y="4434840"/>
            <a:ext cx="1463040" cy="274320"/>
          </a:xfrm>
          <a:prstGeom prst="rect">
            <a:avLst/>
          </a:prstGeom>
          <a:noFill/>
          <a:ln/>
        </p:spPr>
        <p:txBody>
          <a:bodyPr wrap="square" lIns="0" tIns="0" rIns="0" bIns="0" rtlCol="0" anchor="t"/>
          <a:lstStyle/>
          <a:p>
            <a:pPr indent="0" marL="0">
              <a:buNone/>
            </a:pPr>
            <a:r>
              <a:rPr lang="en-US" sz="800" dirty="0">
                <a:solidFill>
                  <a:srgbClr val="26890D"/>
                </a:solidFill>
                <a:latin typeface="Courier New" pitchFamily="34" charset="0"/>
                <a:ea typeface="Courier New" pitchFamily="34" charset="-122"/>
                <a:cs typeface="Courier New" pitchFamily="34" charset="-120"/>
              </a:rPr>
              <a:t>sn_vul_vulnerable_item</a:t>
            </a:r>
            <a:endParaRPr lang="en-US" sz="800" dirty="0"/>
          </a:p>
        </p:txBody>
      </p:sp>
      <p:sp>
        <p:nvSpPr>
          <p:cNvPr id="41" name="Shape 39"/>
          <p:cNvSpPr/>
          <p:nvPr/>
        </p:nvSpPr>
        <p:spPr>
          <a:xfrm>
            <a:off x="9786275" y="3474720"/>
            <a:ext cx="192573" cy="0"/>
          </a:xfrm>
          <a:prstGeom prst="line">
            <a:avLst/>
          </a:prstGeom>
          <a:noFill/>
          <a:ln w="19050">
            <a:solidFill>
              <a:srgbClr val="BBBCBC"/>
            </a:solidFill>
            <a:prstDash val="solid"/>
            <a:tailEnd type="triangle"/>
          </a:ln>
        </p:spPr>
      </p:sp>
      <p:sp>
        <p:nvSpPr>
          <p:cNvPr id="42" name="Shape 40"/>
          <p:cNvSpPr/>
          <p:nvPr/>
        </p:nvSpPr>
        <p:spPr>
          <a:xfrm>
            <a:off x="10015423" y="2148840"/>
            <a:ext cx="1627632" cy="2651760"/>
          </a:xfrm>
          <a:prstGeom prst="rect">
            <a:avLst/>
          </a:prstGeom>
          <a:solidFill>
            <a:srgbClr val="F2F2F2"/>
          </a:solidFill>
          <a:ln w="12700">
            <a:solidFill>
              <a:srgbClr val="F2F2F2"/>
            </a:solidFill>
            <a:prstDash val="solid"/>
          </a:ln>
        </p:spPr>
      </p:sp>
      <p:sp>
        <p:nvSpPr>
          <p:cNvPr id="43" name="Shape 41"/>
          <p:cNvSpPr/>
          <p:nvPr/>
        </p:nvSpPr>
        <p:spPr>
          <a:xfrm>
            <a:off x="10180015" y="2331720"/>
            <a:ext cx="420624" cy="420624"/>
          </a:xfrm>
          <a:prstGeom prst="ellipse">
            <a:avLst/>
          </a:prstGeom>
          <a:solidFill>
            <a:srgbClr val="86BC25"/>
          </a:solidFill>
          <a:ln w="12700">
            <a:solidFill>
              <a:srgbClr val="86BC25"/>
            </a:solidFill>
            <a:prstDash val="solid"/>
          </a:ln>
        </p:spPr>
      </p:sp>
      <p:sp>
        <p:nvSpPr>
          <p:cNvPr id="44" name="Text 42"/>
          <p:cNvSpPr txBox="1"/>
          <p:nvPr/>
        </p:nvSpPr>
        <p:spPr>
          <a:xfrm>
            <a:off x="10180015" y="23317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45" name="Text 43"/>
          <p:cNvSpPr txBox="1"/>
          <p:nvPr/>
        </p:nvSpPr>
        <p:spPr>
          <a:xfrm>
            <a:off x="10180015" y="2898648"/>
            <a:ext cx="1353312" cy="548640"/>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Remediation task</a:t>
            </a:r>
            <a:endParaRPr lang="en-US" sz="1500" dirty="0"/>
          </a:p>
        </p:txBody>
      </p:sp>
      <p:sp>
        <p:nvSpPr>
          <p:cNvPr id="46" name="Text 44"/>
          <p:cNvSpPr txBox="1"/>
          <p:nvPr/>
        </p:nvSpPr>
        <p:spPr>
          <a:xfrm>
            <a:off x="10180015" y="3474720"/>
            <a:ext cx="1353312" cy="1005840"/>
          </a:xfrm>
          <a:prstGeom prst="rect">
            <a:avLst/>
          </a:prstGeom>
          <a:noFill/>
          <a:ln/>
        </p:spPr>
        <p:txBody>
          <a:bodyPr wrap="square" lIns="0" tIns="0" rIns="0" bIns="0" rtlCol="0" anchor="t"/>
          <a:lstStyle/>
          <a:p>
            <a:pPr indent="0" marL="0">
              <a:buNone/>
            </a:pPr>
            <a:r>
              <a:rPr lang="en-US" sz="1150" dirty="0">
                <a:solidFill>
                  <a:srgbClr val="53565A"/>
                </a:solidFill>
                <a:latin typeface="Arial" pitchFamily="34" charset="0"/>
                <a:ea typeface="Arial" pitchFamily="34" charset="-122"/>
                <a:cs typeface="Arial" pitchFamily="34" charset="-120"/>
              </a:rPr>
              <a:t>Findings grouped, assigned to an owner, tracked to closure</a:t>
            </a:r>
            <a:endParaRPr lang="en-US" sz="1150" dirty="0"/>
          </a:p>
        </p:txBody>
      </p:sp>
      <p:sp>
        <p:nvSpPr>
          <p:cNvPr id="47" name="Text 45"/>
          <p:cNvSpPr txBox="1"/>
          <p:nvPr/>
        </p:nvSpPr>
        <p:spPr>
          <a:xfrm>
            <a:off x="10125151" y="4434840"/>
            <a:ext cx="1463040" cy="274320"/>
          </a:xfrm>
          <a:prstGeom prst="rect">
            <a:avLst/>
          </a:prstGeom>
          <a:noFill/>
          <a:ln/>
        </p:spPr>
        <p:txBody>
          <a:bodyPr wrap="square" lIns="0" tIns="0" rIns="0" bIns="0" rtlCol="0" anchor="t"/>
          <a:lstStyle/>
          <a:p>
            <a:pPr indent="0" marL="0">
              <a:buNone/>
            </a:pPr>
            <a:r>
              <a:rPr lang="en-US" sz="800" dirty="0">
                <a:solidFill>
                  <a:srgbClr val="26890D"/>
                </a:solidFill>
                <a:latin typeface="Courier New" pitchFamily="34" charset="0"/>
                <a:ea typeface="Courier New" pitchFamily="34" charset="-122"/>
                <a:cs typeface="Courier New" pitchFamily="34" charset="-120"/>
              </a:rPr>
              <a:t>sn_vul_vulnerability</a:t>
            </a:r>
            <a:endParaRPr lang="en-US" sz="800" dirty="0"/>
          </a:p>
        </p:txBody>
      </p:sp>
      <p:sp>
        <p:nvSpPr>
          <p:cNvPr id="48" name="Shape 46"/>
          <p:cNvSpPr/>
          <p:nvPr/>
        </p:nvSpPr>
        <p:spPr>
          <a:xfrm>
            <a:off x="548640" y="5166360"/>
            <a:ext cx="11094415" cy="914400"/>
          </a:xfrm>
          <a:prstGeom prst="rect">
            <a:avLst/>
          </a:prstGeom>
          <a:solidFill>
            <a:srgbClr val="FFFFFF"/>
          </a:solidFill>
          <a:ln w="12700">
            <a:solidFill>
              <a:srgbClr val="FFFFFF"/>
            </a:solidFill>
            <a:prstDash val="solid"/>
          </a:ln>
        </p:spPr>
      </p:sp>
      <p:sp>
        <p:nvSpPr>
          <p:cNvPr id="49" name="Text 47"/>
          <p:cNvSpPr txBox="1"/>
          <p:nvPr/>
        </p:nvSpPr>
        <p:spPr>
          <a:xfrm>
            <a:off x="548640" y="5257800"/>
            <a:ext cx="11094415" cy="731520"/>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Then: </a:t>
            </a:r>
            <a:pPr indent="0" marL="0">
              <a:buNone/>
            </a:pPr>
            <a:r>
              <a:rPr lang="en-US" sz="1300" dirty="0">
                <a:solidFill>
                  <a:srgbClr val="53565A"/>
                </a:solidFill>
                <a:latin typeface="Arial" pitchFamily="34" charset="0"/>
                <a:ea typeface="Arial" pitchFamily="34" charset="-122"/>
                <a:cs typeface="Arial" pitchFamily="34" charset="-120"/>
              </a:rPr>
              <a:t>the owner fixes and the next scan stops reporting the finding (closed), or raises a change, or requests an exception. Step 4, finding the right CI, is where most project effort goes.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000" b="1" spc="150" kern="0" dirty="0">
                <a:solidFill>
                  <a:srgbClr val="26890D"/>
                </a:solidFill>
                <a:latin typeface="Arial" pitchFamily="34" charset="0"/>
                <a:ea typeface="Arial" pitchFamily="34" charset="-122"/>
                <a:cs typeface="Arial" pitchFamily="34" charset="-120"/>
              </a:rPr>
              <a:t>1 · THE LANDSCAPE</a:t>
            </a:r>
            <a:endParaRPr lang="en-US" sz="10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Why BofA runs about fifteen integrations</a:t>
            </a:r>
            <a:pPr indent="0" marL="0">
              <a:buNone/>
            </a:pPr>
            <a:r>
              <a:rPr lang="en-US" sz="3000" b="1" dirty="0">
                <a:solidFill>
                  <a:srgbClr val="86BC25"/>
                </a:solidFill>
                <a:latin typeface="Arial" pitchFamily="34" charset="0"/>
                <a:ea typeface="Arial" pitchFamily="34" charset="-122"/>
                <a:cs typeface="Arial" pitchFamily="34" charset="-120"/>
              </a:rPr>
              <a:t>.</a:t>
            </a:r>
            <a:endParaRPr lang="en-US" sz="3000" dirty="0"/>
          </a:p>
        </p:txBody>
      </p:sp>
      <p:sp>
        <p:nvSpPr>
          <p:cNvPr id="4" name="Text 2"/>
          <p:cNvSpPr txBox="1"/>
          <p:nvPr/>
        </p:nvSpPr>
        <p:spPr>
          <a:xfrm>
            <a:off x="548640" y="1243584"/>
            <a:ext cx="11094415" cy="411480"/>
          </a:xfrm>
          <a:prstGeom prst="rect">
            <a:avLst/>
          </a:prstGeom>
          <a:noFill/>
          <a:ln/>
        </p:spPr>
        <p:txBody>
          <a:bodyPr wrap="square" lIns="0" tIns="0" rIns="0" bIns="0" rtlCol="0" anchor="t"/>
          <a:lstStyle/>
          <a:p>
            <a:pPr indent="0" marL="0">
              <a:buNone/>
            </a:pPr>
            <a:r>
              <a:rPr lang="en-US" sz="1400" dirty="0">
                <a:solidFill>
                  <a:srgbClr val="53565A"/>
                </a:solidFill>
                <a:latin typeface="Arial" pitchFamily="34" charset="0"/>
                <a:ea typeface="Arial" pitchFamily="34" charset="-122"/>
                <a:cs typeface="Arial" pitchFamily="34" charset="-120"/>
              </a:rPr>
              <a:t>No single tool sees everything, and every finding needs context before anyone can act on it.</a:t>
            </a:r>
            <a:endParaRPr lang="en-US" sz="1400" dirty="0"/>
          </a:p>
        </p:txBody>
      </p:sp>
      <p:sp>
        <p:nvSpPr>
          <p:cNvPr id="5" name="Text 3"/>
          <p:cNvSpPr txBox="1"/>
          <p:nvPr/>
        </p:nvSpPr>
        <p:spPr>
          <a:xfrm>
            <a:off x="11185855" y="6473952"/>
            <a:ext cx="457200" cy="228600"/>
          </a:xfrm>
          <a:prstGeom prst="rect">
            <a:avLst/>
          </a:prstGeom>
          <a:noFill/>
          <a:ln/>
        </p:spPr>
        <p:txBody>
          <a:bodyPr wrap="square" lIns="0" tIns="0" rIns="0" bIns="0" rtlCol="0" anchor="t"/>
          <a:lstStyle/>
          <a:p>
            <a:pPr algn="r" indent="0" marL="0">
              <a:buNone/>
            </a:pPr>
            <a:r>
              <a:rPr lang="en-US" sz="900" dirty="0">
                <a:solidFill>
                  <a:srgbClr val="75787B"/>
                </a:solidFill>
                <a:latin typeface="Arial" pitchFamily="34" charset="0"/>
                <a:ea typeface="Arial" pitchFamily="34" charset="-122"/>
                <a:cs typeface="Arial" pitchFamily="34" charset="-120"/>
              </a:rPr>
              <a:t>4</a:t>
            </a:r>
            <a:endParaRPr lang="en-US" sz="900" dirty="0"/>
          </a:p>
        </p:txBody>
      </p:sp>
      <p:sp>
        <p:nvSpPr>
          <p:cNvPr id="6" name="Text 4"/>
          <p:cNvSpPr txBox="1"/>
          <p:nvPr/>
        </p:nvSpPr>
        <p:spPr>
          <a:xfrm>
            <a:off x="548640" y="6473952"/>
            <a:ext cx="2743200" cy="228600"/>
          </a:xfrm>
          <a:prstGeom prst="rect">
            <a:avLst/>
          </a:prstGeom>
          <a:noFill/>
          <a:ln/>
        </p:spPr>
        <p:txBody>
          <a:bodyPr wrap="square" lIns="0" tIns="0" rIns="0" bIns="0" rtlCol="0" anchor="t"/>
          <a:lstStyle/>
          <a:p>
            <a:pPr indent="0" marL="0">
              <a:buNone/>
            </a:pPr>
            <a:r>
              <a:rPr lang="en-US" sz="900" dirty="0">
                <a:solidFill>
                  <a:srgbClr val="75787B"/>
                </a:solidFill>
                <a:latin typeface="Arial" pitchFamily="34" charset="0"/>
                <a:ea typeface="Arial" pitchFamily="34" charset="-122"/>
                <a:cs typeface="Arial" pitchFamily="34" charset="-120"/>
              </a:rPr>
              <a:t>VR field guide</a:t>
            </a:r>
            <a:endParaRPr lang="en-US" sz="900" dirty="0"/>
          </a:p>
        </p:txBody>
      </p:sp>
      <p:sp>
        <p:nvSpPr>
          <p:cNvPr id="7" name="Text 5"/>
          <p:cNvSpPr txBox="1"/>
          <p:nvPr/>
        </p:nvSpPr>
        <p:spPr>
          <a:xfrm>
            <a:off x="548640" y="1874520"/>
            <a:ext cx="2926080" cy="1188720"/>
          </a:xfrm>
          <a:prstGeom prst="rect">
            <a:avLst/>
          </a:prstGeom>
          <a:noFill/>
          <a:ln/>
        </p:spPr>
        <p:txBody>
          <a:bodyPr wrap="square" lIns="0" tIns="0" rIns="0" bIns="0" rtlCol="0" anchor="t"/>
          <a:lstStyle/>
          <a:p>
            <a:pPr indent="0" marL="0">
              <a:buNone/>
            </a:pPr>
            <a:r>
              <a:rPr lang="en-US" sz="8000" b="1" dirty="0">
                <a:solidFill>
                  <a:srgbClr val="86BC25"/>
                </a:solidFill>
                <a:latin typeface="Arial" pitchFamily="34" charset="0"/>
                <a:ea typeface="Arial" pitchFamily="34" charset="-122"/>
                <a:cs typeface="Arial" pitchFamily="34" charset="-120"/>
              </a:rPr>
              <a:t>~15</a:t>
            </a:r>
            <a:endParaRPr lang="en-US" sz="8000" dirty="0"/>
          </a:p>
        </p:txBody>
      </p:sp>
      <p:sp>
        <p:nvSpPr>
          <p:cNvPr id="8" name="Text 6"/>
          <p:cNvSpPr txBox="1"/>
          <p:nvPr/>
        </p:nvSpPr>
        <p:spPr>
          <a:xfrm>
            <a:off x="548640" y="3063240"/>
            <a:ext cx="3108960" cy="36576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feeds in and out of VR at BofA</a:t>
            </a:r>
            <a:endParaRPr lang="en-US" sz="1400" dirty="0"/>
          </a:p>
        </p:txBody>
      </p:sp>
      <p:sp>
        <p:nvSpPr>
          <p:cNvPr id="9" name="Text 7"/>
          <p:cNvSpPr txBox="1"/>
          <p:nvPr/>
        </p:nvSpPr>
        <p:spPr>
          <a:xfrm>
            <a:off x="548640" y="3566160"/>
            <a:ext cx="3200400" cy="256032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53565A"/>
                </a:solidFill>
                <a:latin typeface="Arial" pitchFamily="34" charset="0"/>
                <a:ea typeface="Arial" pitchFamily="34" charset="-122"/>
                <a:cs typeface="Arial" pitchFamily="34" charset="-120"/>
              </a:rPr>
              <a:t>Each scanner sees a different surface: hosts, code, containers, cloud, configuration.</a:t>
            </a:r>
            <a:endParaRPr lang="en-US" sz="1250" dirty="0"/>
          </a:p>
          <a:p>
            <a:pPr marL="342900" indent="-342900">
              <a:spcAft>
                <a:spcPts val="800"/>
              </a:spcAft>
              <a:buSzPct val="100000"/>
              <a:buChar char="•"/>
            </a:pPr>
            <a:r>
              <a:rPr lang="en-US" sz="1250" dirty="0">
                <a:solidFill>
                  <a:srgbClr val="53565A"/>
                </a:solidFill>
                <a:latin typeface="Arial" pitchFamily="34" charset="0"/>
                <a:ea typeface="Arial" pitchFamily="34" charset="-122"/>
                <a:cs typeface="Arial" pitchFamily="34" charset="-120"/>
              </a:rPr>
              <a:t>Findings need context: who owns the asset, how critical it is.</a:t>
            </a:r>
            <a:endParaRPr lang="en-US" sz="1250" dirty="0"/>
          </a:p>
          <a:p>
            <a:pPr marL="342900" indent="-342900">
              <a:spcAft>
                <a:spcPts val="800"/>
              </a:spcAft>
              <a:buSzPct val="100000"/>
              <a:buChar char="•"/>
            </a:pPr>
            <a:r>
              <a:rPr lang="en-US" sz="1250" dirty="0">
                <a:solidFill>
                  <a:srgbClr val="53565A"/>
                </a:solidFill>
                <a:latin typeface="Arial" pitchFamily="34" charset="0"/>
                <a:ea typeface="Arial" pitchFamily="34" charset="-122"/>
                <a:cs typeface="Arial" pitchFamily="34" charset="-120"/>
              </a:rPr>
              <a:t>Bank data moves over a shared bus, both ways.</a:t>
            </a:r>
            <a:endParaRPr lang="en-US" sz="1250" dirty="0"/>
          </a:p>
          <a:p>
            <a:pPr marL="342900" indent="-342900">
              <a:spcAft>
                <a:spcPts val="800"/>
              </a:spcAft>
              <a:buSzPct val="100000"/>
              <a:buChar char="•"/>
            </a:pPr>
            <a:r>
              <a:rPr lang="en-US" sz="1250" dirty="0">
                <a:solidFill>
                  <a:srgbClr val="53565A"/>
                </a:solidFill>
                <a:latin typeface="Arial" pitchFamily="34" charset="0"/>
                <a:ea typeface="Arial" pitchFamily="34" charset="-122"/>
                <a:cs typeface="Arial" pitchFamily="34" charset="-120"/>
              </a:rPr>
              <a:t>Prioritising needs intelligence the scanners do not have.</a:t>
            </a:r>
            <a:endParaRPr lang="en-US" sz="1250" dirty="0"/>
          </a:p>
        </p:txBody>
      </p:sp>
      <p:sp>
        <p:nvSpPr>
          <p:cNvPr id="10" name="Shape 8"/>
          <p:cNvSpPr/>
          <p:nvPr/>
        </p:nvSpPr>
        <p:spPr>
          <a:xfrm>
            <a:off x="4069080" y="1874520"/>
            <a:ext cx="3672688" cy="896112"/>
          </a:xfrm>
          <a:prstGeom prst="rect">
            <a:avLst/>
          </a:prstGeom>
          <a:solidFill>
            <a:srgbClr val="F2F2F2"/>
          </a:solidFill>
          <a:ln w="12700">
            <a:solidFill>
              <a:srgbClr val="F2F2F2"/>
            </a:solidFill>
            <a:prstDash val="solid"/>
          </a:ln>
        </p:spPr>
      </p:sp>
      <p:sp>
        <p:nvSpPr>
          <p:cNvPr id="11" name="Text 9"/>
          <p:cNvSpPr txBox="1"/>
          <p:nvPr/>
        </p:nvSpPr>
        <p:spPr>
          <a:xfrm>
            <a:off x="4251960" y="1984248"/>
            <a:ext cx="3306928" cy="274320"/>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Hosts and network</a:t>
            </a:r>
            <a:endParaRPr lang="en-US" sz="1300" dirty="0"/>
          </a:p>
        </p:txBody>
      </p:sp>
      <p:sp>
        <p:nvSpPr>
          <p:cNvPr id="12" name="Text 10"/>
          <p:cNvSpPr txBox="1"/>
          <p:nvPr/>
        </p:nvSpPr>
        <p:spPr>
          <a:xfrm>
            <a:off x="4251960" y="2267712"/>
            <a:ext cx="3306928" cy="457200"/>
          </a:xfrm>
          <a:prstGeom prst="rect">
            <a:avLst/>
          </a:prstGeom>
          <a:noFill/>
          <a:ln/>
        </p:spPr>
        <p:txBody>
          <a:bodyPr wrap="square" lIns="0" tIns="0" rIns="0" bIns="0" rtlCol="0" anchor="t"/>
          <a:lstStyle/>
          <a:p>
            <a:pPr indent="0" marL="0">
              <a:buNone/>
            </a:pPr>
            <a:r>
              <a:rPr lang="en-US" sz="1100" dirty="0">
                <a:solidFill>
                  <a:srgbClr val="53565A"/>
                </a:solidFill>
                <a:latin typeface="Arial" pitchFamily="34" charset="0"/>
                <a:ea typeface="Arial" pitchFamily="34" charset="-122"/>
                <a:cs typeface="Arial" pitchFamily="34" charset="-120"/>
              </a:rPr>
              <a:t>Qualys: host detections and the knowledge base (QIDs)</a:t>
            </a:r>
            <a:endParaRPr lang="en-US" sz="1100" dirty="0"/>
          </a:p>
        </p:txBody>
      </p:sp>
      <p:sp>
        <p:nvSpPr>
          <p:cNvPr id="13" name="Shape 11"/>
          <p:cNvSpPr/>
          <p:nvPr/>
        </p:nvSpPr>
        <p:spPr>
          <a:xfrm>
            <a:off x="7970368" y="1874520"/>
            <a:ext cx="3672688" cy="896112"/>
          </a:xfrm>
          <a:prstGeom prst="rect">
            <a:avLst/>
          </a:prstGeom>
          <a:solidFill>
            <a:srgbClr val="F2F2F2"/>
          </a:solidFill>
          <a:ln w="12700">
            <a:solidFill>
              <a:srgbClr val="F2F2F2"/>
            </a:solidFill>
            <a:prstDash val="solid"/>
          </a:ln>
        </p:spPr>
      </p:sp>
      <p:sp>
        <p:nvSpPr>
          <p:cNvPr id="14" name="Text 12"/>
          <p:cNvSpPr txBox="1"/>
          <p:nvPr/>
        </p:nvSpPr>
        <p:spPr>
          <a:xfrm>
            <a:off x="8153248" y="1984248"/>
            <a:ext cx="3306928" cy="274320"/>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Applications</a:t>
            </a:r>
            <a:endParaRPr lang="en-US" sz="1300" dirty="0"/>
          </a:p>
        </p:txBody>
      </p:sp>
      <p:sp>
        <p:nvSpPr>
          <p:cNvPr id="15" name="Text 13"/>
          <p:cNvSpPr txBox="1"/>
          <p:nvPr/>
        </p:nvSpPr>
        <p:spPr>
          <a:xfrm>
            <a:off x="8153248" y="2267712"/>
            <a:ext cx="3306928" cy="457200"/>
          </a:xfrm>
          <a:prstGeom prst="rect">
            <a:avLst/>
          </a:prstGeom>
          <a:noFill/>
          <a:ln/>
        </p:spPr>
        <p:txBody>
          <a:bodyPr wrap="square" lIns="0" tIns="0" rIns="0" bIns="0" rtlCol="0" anchor="t"/>
          <a:lstStyle/>
          <a:p>
            <a:pPr indent="0" marL="0">
              <a:buNone/>
            </a:pPr>
            <a:r>
              <a:rPr lang="en-US" sz="1100" dirty="0">
                <a:solidFill>
                  <a:srgbClr val="53565A"/>
                </a:solidFill>
                <a:latin typeface="Arial" pitchFamily="34" charset="0"/>
                <a:ea typeface="Arial" pitchFamily="34" charset="-122"/>
                <a:cs typeface="Arial" pitchFamily="34" charset="-120"/>
              </a:rPr>
              <a:t>VAMP: AppSec findings in (SAST, DAST, SCA, pen tests), status back out</a:t>
            </a:r>
            <a:endParaRPr lang="en-US" sz="1100" dirty="0"/>
          </a:p>
        </p:txBody>
      </p:sp>
      <p:sp>
        <p:nvSpPr>
          <p:cNvPr id="16" name="Shape 14"/>
          <p:cNvSpPr/>
          <p:nvPr/>
        </p:nvSpPr>
        <p:spPr>
          <a:xfrm>
            <a:off x="4069080" y="2907792"/>
            <a:ext cx="3672688" cy="896112"/>
          </a:xfrm>
          <a:prstGeom prst="rect">
            <a:avLst/>
          </a:prstGeom>
          <a:solidFill>
            <a:srgbClr val="F2F2F2"/>
          </a:solidFill>
          <a:ln w="12700">
            <a:solidFill>
              <a:srgbClr val="F2F2F2"/>
            </a:solidFill>
            <a:prstDash val="solid"/>
          </a:ln>
        </p:spPr>
      </p:sp>
      <p:sp>
        <p:nvSpPr>
          <p:cNvPr id="17" name="Text 15"/>
          <p:cNvSpPr txBox="1"/>
          <p:nvPr/>
        </p:nvSpPr>
        <p:spPr>
          <a:xfrm>
            <a:off x="4251960" y="3017520"/>
            <a:ext cx="3306928" cy="274320"/>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Containers and cloud</a:t>
            </a:r>
            <a:endParaRPr lang="en-US" sz="1300" dirty="0"/>
          </a:p>
        </p:txBody>
      </p:sp>
      <p:sp>
        <p:nvSpPr>
          <p:cNvPr id="18" name="Text 16"/>
          <p:cNvSpPr txBox="1"/>
          <p:nvPr/>
        </p:nvSpPr>
        <p:spPr>
          <a:xfrm>
            <a:off x="4251960" y="3300984"/>
            <a:ext cx="3306928" cy="457200"/>
          </a:xfrm>
          <a:prstGeom prst="rect">
            <a:avLst/>
          </a:prstGeom>
          <a:noFill/>
          <a:ln/>
        </p:spPr>
        <p:txBody>
          <a:bodyPr wrap="square" lIns="0" tIns="0" rIns="0" bIns="0" rtlCol="0" anchor="t"/>
          <a:lstStyle/>
          <a:p>
            <a:pPr indent="0" marL="0">
              <a:buNone/>
            </a:pPr>
            <a:r>
              <a:rPr lang="en-US" sz="1100" dirty="0">
                <a:solidFill>
                  <a:srgbClr val="53565A"/>
                </a:solidFill>
                <a:latin typeface="Arial" pitchFamily="34" charset="0"/>
                <a:ea typeface="Arial" pitchFamily="34" charset="-122"/>
                <a:cs typeface="Arial" pitchFamily="34" charset="-120"/>
              </a:rPr>
              <a:t>Container image scans; Wiz for cloud workloads</a:t>
            </a:r>
            <a:endParaRPr lang="en-US" sz="1100" dirty="0"/>
          </a:p>
        </p:txBody>
      </p:sp>
      <p:sp>
        <p:nvSpPr>
          <p:cNvPr id="19" name="Shape 17"/>
          <p:cNvSpPr/>
          <p:nvPr/>
        </p:nvSpPr>
        <p:spPr>
          <a:xfrm>
            <a:off x="7970368" y="2907792"/>
            <a:ext cx="3672688" cy="896112"/>
          </a:xfrm>
          <a:prstGeom prst="rect">
            <a:avLst/>
          </a:prstGeom>
          <a:solidFill>
            <a:srgbClr val="F2F2F2"/>
          </a:solidFill>
          <a:ln w="12700">
            <a:solidFill>
              <a:srgbClr val="F2F2F2"/>
            </a:solidFill>
            <a:prstDash val="solid"/>
          </a:ln>
        </p:spPr>
      </p:sp>
      <p:sp>
        <p:nvSpPr>
          <p:cNvPr id="20" name="Text 18"/>
          <p:cNvSpPr txBox="1"/>
          <p:nvPr/>
        </p:nvSpPr>
        <p:spPr>
          <a:xfrm>
            <a:off x="8153248" y="3017520"/>
            <a:ext cx="3306928" cy="274320"/>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Configuration</a:t>
            </a:r>
            <a:endParaRPr lang="en-US" sz="1300" dirty="0"/>
          </a:p>
        </p:txBody>
      </p:sp>
      <p:sp>
        <p:nvSpPr>
          <p:cNvPr id="21" name="Text 19"/>
          <p:cNvSpPr txBox="1"/>
          <p:nvPr/>
        </p:nvSpPr>
        <p:spPr>
          <a:xfrm>
            <a:off x="8153248" y="3300984"/>
            <a:ext cx="3306928" cy="457200"/>
          </a:xfrm>
          <a:prstGeom prst="rect">
            <a:avLst/>
          </a:prstGeom>
          <a:noFill/>
          <a:ln/>
        </p:spPr>
        <p:txBody>
          <a:bodyPr wrap="square" lIns="0" tIns="0" rIns="0" bIns="0" rtlCol="0" anchor="t"/>
          <a:lstStyle/>
          <a:p>
            <a:pPr indent="0" marL="0">
              <a:buNone/>
            </a:pPr>
            <a:r>
              <a:rPr lang="en-US" sz="1100" dirty="0">
                <a:solidFill>
                  <a:srgbClr val="53565A"/>
                </a:solidFill>
                <a:latin typeface="Arial" pitchFamily="34" charset="0"/>
                <a:ea typeface="Arial" pitchFamily="34" charset="-122"/>
                <a:cs typeface="Arial" pitchFamily="34" charset="-120"/>
              </a:rPr>
              <a:t>Compliance scans become test results and remediation groups</a:t>
            </a:r>
            <a:endParaRPr lang="en-US" sz="1100" dirty="0"/>
          </a:p>
        </p:txBody>
      </p:sp>
      <p:sp>
        <p:nvSpPr>
          <p:cNvPr id="22" name="Shape 20"/>
          <p:cNvSpPr/>
          <p:nvPr/>
        </p:nvSpPr>
        <p:spPr>
          <a:xfrm>
            <a:off x="4069080" y="3941064"/>
            <a:ext cx="3672688" cy="896112"/>
          </a:xfrm>
          <a:prstGeom prst="rect">
            <a:avLst/>
          </a:prstGeom>
          <a:solidFill>
            <a:srgbClr val="F2F2F2"/>
          </a:solidFill>
          <a:ln w="12700">
            <a:solidFill>
              <a:srgbClr val="F2F2F2"/>
            </a:solidFill>
            <a:prstDash val="solid"/>
          </a:ln>
        </p:spPr>
      </p:sp>
      <p:sp>
        <p:nvSpPr>
          <p:cNvPr id="23" name="Text 21"/>
          <p:cNvSpPr txBox="1"/>
          <p:nvPr/>
        </p:nvSpPr>
        <p:spPr>
          <a:xfrm>
            <a:off x="4251960" y="4050792"/>
            <a:ext cx="3306928" cy="274320"/>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Enterprise bus</a:t>
            </a:r>
            <a:endParaRPr lang="en-US" sz="1300" dirty="0"/>
          </a:p>
        </p:txBody>
      </p:sp>
      <p:sp>
        <p:nvSpPr>
          <p:cNvPr id="24" name="Text 22"/>
          <p:cNvSpPr txBox="1"/>
          <p:nvPr/>
        </p:nvSpPr>
        <p:spPr>
          <a:xfrm>
            <a:off x="4251960" y="4334256"/>
            <a:ext cx="3306928" cy="457200"/>
          </a:xfrm>
          <a:prstGeom prst="rect">
            <a:avLst/>
          </a:prstGeom>
          <a:noFill/>
          <a:ln/>
        </p:spPr>
        <p:txBody>
          <a:bodyPr wrap="square" lIns="0" tIns="0" rIns="0" bIns="0" rtlCol="0" anchor="t"/>
          <a:lstStyle/>
          <a:p>
            <a:pPr indent="0" marL="0">
              <a:buNone/>
            </a:pPr>
            <a:r>
              <a:rPr lang="en-US" sz="1100" dirty="0">
                <a:solidFill>
                  <a:srgbClr val="53565A"/>
                </a:solidFill>
                <a:latin typeface="Arial" pitchFamily="34" charset="0"/>
                <a:ea typeface="Arial" pitchFamily="34" charset="-122"/>
                <a:cs typeface="Arial" pitchFamily="34" charset="-120"/>
              </a:rPr>
              <a:t>CDP on Hermes (Kafka): findings in; remediation tasks and consequences out</a:t>
            </a:r>
            <a:endParaRPr lang="en-US" sz="1100" dirty="0"/>
          </a:p>
        </p:txBody>
      </p:sp>
      <p:sp>
        <p:nvSpPr>
          <p:cNvPr id="25" name="Shape 23"/>
          <p:cNvSpPr/>
          <p:nvPr/>
        </p:nvSpPr>
        <p:spPr>
          <a:xfrm>
            <a:off x="7970368" y="3941064"/>
            <a:ext cx="3672688" cy="896112"/>
          </a:xfrm>
          <a:prstGeom prst="rect">
            <a:avLst/>
          </a:prstGeom>
          <a:solidFill>
            <a:srgbClr val="F2F2F2"/>
          </a:solidFill>
          <a:ln w="12700">
            <a:solidFill>
              <a:srgbClr val="F2F2F2"/>
            </a:solidFill>
            <a:prstDash val="solid"/>
          </a:ln>
        </p:spPr>
      </p:sp>
      <p:sp>
        <p:nvSpPr>
          <p:cNvPr id="26" name="Text 24"/>
          <p:cNvSpPr txBox="1"/>
          <p:nvPr/>
        </p:nvSpPr>
        <p:spPr>
          <a:xfrm>
            <a:off x="8153248" y="4050792"/>
            <a:ext cx="3306928" cy="274320"/>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Context</a:t>
            </a:r>
            <a:endParaRPr lang="en-US" sz="1300" dirty="0"/>
          </a:p>
        </p:txBody>
      </p:sp>
      <p:sp>
        <p:nvSpPr>
          <p:cNvPr id="27" name="Text 25"/>
          <p:cNvSpPr txBox="1"/>
          <p:nvPr/>
        </p:nvSpPr>
        <p:spPr>
          <a:xfrm>
            <a:off x="8153248" y="4334256"/>
            <a:ext cx="3306928" cy="457200"/>
          </a:xfrm>
          <a:prstGeom prst="rect">
            <a:avLst/>
          </a:prstGeom>
          <a:noFill/>
          <a:ln/>
        </p:spPr>
        <p:txBody>
          <a:bodyPr wrap="square" lIns="0" tIns="0" rIns="0" bIns="0" rtlCol="0" anchor="t"/>
          <a:lstStyle/>
          <a:p>
            <a:pPr indent="0" marL="0">
              <a:buNone/>
            </a:pPr>
            <a:r>
              <a:rPr lang="en-US" sz="1100" dirty="0">
                <a:solidFill>
                  <a:srgbClr val="53565A"/>
                </a:solidFill>
                <a:latin typeface="Arial" pitchFamily="34" charset="0"/>
                <a:ea typeface="Arial" pitchFamily="34" charset="-122"/>
                <a:cs typeface="Arial" pitchFamily="34" charset="-120"/>
              </a:rPr>
              <a:t>CMDB and Discovery (IP enrichment); AIT inventory gives the owner; consequence records</a:t>
            </a:r>
            <a:endParaRPr lang="en-US" sz="1100" dirty="0"/>
          </a:p>
        </p:txBody>
      </p:sp>
      <p:sp>
        <p:nvSpPr>
          <p:cNvPr id="28" name="Shape 26"/>
          <p:cNvSpPr/>
          <p:nvPr/>
        </p:nvSpPr>
        <p:spPr>
          <a:xfrm>
            <a:off x="4069080" y="4974336"/>
            <a:ext cx="3672688" cy="896112"/>
          </a:xfrm>
          <a:prstGeom prst="rect">
            <a:avLst/>
          </a:prstGeom>
          <a:solidFill>
            <a:srgbClr val="F2F2F2"/>
          </a:solidFill>
          <a:ln w="12700">
            <a:solidFill>
              <a:srgbClr val="F2F2F2"/>
            </a:solidFill>
            <a:prstDash val="solid"/>
          </a:ln>
        </p:spPr>
      </p:sp>
      <p:sp>
        <p:nvSpPr>
          <p:cNvPr id="29" name="Text 27"/>
          <p:cNvSpPr txBox="1"/>
          <p:nvPr/>
        </p:nvSpPr>
        <p:spPr>
          <a:xfrm>
            <a:off x="4251960" y="5084064"/>
            <a:ext cx="3306928" cy="274320"/>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Intelligence</a:t>
            </a:r>
            <a:endParaRPr lang="en-US" sz="1300" dirty="0"/>
          </a:p>
        </p:txBody>
      </p:sp>
      <p:sp>
        <p:nvSpPr>
          <p:cNvPr id="30" name="Text 28"/>
          <p:cNvSpPr txBox="1"/>
          <p:nvPr/>
        </p:nvSpPr>
        <p:spPr>
          <a:xfrm>
            <a:off x="4251960" y="5367528"/>
            <a:ext cx="3306928" cy="457200"/>
          </a:xfrm>
          <a:prstGeom prst="rect">
            <a:avLst/>
          </a:prstGeom>
          <a:noFill/>
          <a:ln/>
        </p:spPr>
        <p:txBody>
          <a:bodyPr wrap="square" lIns="0" tIns="0" rIns="0" bIns="0" rtlCol="0" anchor="t"/>
          <a:lstStyle/>
          <a:p>
            <a:pPr indent="0" marL="0">
              <a:buNone/>
            </a:pPr>
            <a:r>
              <a:rPr lang="en-US" sz="1100" dirty="0">
                <a:solidFill>
                  <a:srgbClr val="53565A"/>
                </a:solidFill>
                <a:latin typeface="Arial" pitchFamily="34" charset="0"/>
                <a:ea typeface="Arial" pitchFamily="34" charset="-122"/>
                <a:cs typeface="Arial" pitchFamily="34" charset="-120"/>
              </a:rPr>
              <a:t>NVD (CVE), CWE, vendor advisories (CSAF, Microsoft, Red Hat)</a:t>
            </a:r>
            <a:endParaRPr lang="en-US" sz="1100" dirty="0"/>
          </a:p>
        </p:txBody>
      </p:sp>
      <p:sp>
        <p:nvSpPr>
          <p:cNvPr id="31" name="Text 29"/>
          <p:cNvSpPr txBox="1"/>
          <p:nvPr/>
        </p:nvSpPr>
        <p:spPr>
          <a:xfrm>
            <a:off x="4069080" y="6053328"/>
            <a:ext cx="7573975" cy="274320"/>
          </a:xfrm>
          <a:prstGeom prst="rect">
            <a:avLst/>
          </a:prstGeom>
          <a:noFill/>
          <a:ln/>
        </p:spPr>
        <p:txBody>
          <a:bodyPr wrap="square" lIns="0" tIns="0" rIns="0" bIns="0" rtlCol="0" anchor="t"/>
          <a:lstStyle/>
          <a:p>
            <a:pPr indent="0" marL="0">
              <a:buNone/>
            </a:pPr>
            <a:r>
              <a:rPr lang="en-US" sz="950" i="1" dirty="0">
                <a:solidFill>
                  <a:srgbClr val="75787B"/>
                </a:solidFill>
                <a:latin typeface="Arial" pitchFamily="34" charset="0"/>
                <a:ea typeface="Arial" pitchFamily="34" charset="-122"/>
                <a:cs typeface="Arial" pitchFamily="34" charset="-120"/>
              </a:rPr>
              <a:t>Grouped from the BofA work we have delivered; the client integration register holds the full list.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000" b="1" spc="150" kern="0" dirty="0">
                <a:solidFill>
                  <a:srgbClr val="26890D"/>
                </a:solidFill>
                <a:latin typeface="Arial" pitchFamily="34" charset="0"/>
                <a:ea typeface="Arial" pitchFamily="34" charset="-122"/>
                <a:cs typeface="Arial" pitchFamily="34" charset="-120"/>
              </a:rPr>
              <a:t>2 · FROM SCAN TO CI</a:t>
            </a:r>
            <a:endParaRPr lang="en-US" sz="10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One host, two scanners</a:t>
            </a:r>
            <a:pPr indent="0" marL="0">
              <a:buNone/>
            </a:pPr>
            <a:r>
              <a:rPr lang="en-US" sz="3000" b="1" dirty="0">
                <a:solidFill>
                  <a:srgbClr val="86BC25"/>
                </a:solidFill>
                <a:latin typeface="Arial" pitchFamily="34" charset="0"/>
                <a:ea typeface="Arial" pitchFamily="34" charset="-122"/>
                <a:cs typeface="Arial" pitchFamily="34" charset="-120"/>
              </a:rPr>
              <a:t>.</a:t>
            </a:r>
            <a:endParaRPr lang="en-US" sz="3000" dirty="0"/>
          </a:p>
        </p:txBody>
      </p:sp>
      <p:sp>
        <p:nvSpPr>
          <p:cNvPr id="4" name="Text 2"/>
          <p:cNvSpPr txBox="1"/>
          <p:nvPr/>
        </p:nvSpPr>
        <p:spPr>
          <a:xfrm>
            <a:off x="548640" y="1243584"/>
            <a:ext cx="11094415" cy="411480"/>
          </a:xfrm>
          <a:prstGeom prst="rect">
            <a:avLst/>
          </a:prstGeom>
          <a:noFill/>
          <a:ln/>
        </p:spPr>
        <p:txBody>
          <a:bodyPr wrap="square" lIns="0" tIns="0" rIns="0" bIns="0" rtlCol="0" anchor="t"/>
          <a:lstStyle/>
          <a:p>
            <a:pPr indent="0" marL="0">
              <a:buNone/>
            </a:pPr>
            <a:r>
              <a:rPr lang="en-US" sz="1400" dirty="0">
                <a:solidFill>
                  <a:srgbClr val="53565A"/>
                </a:solidFill>
                <a:latin typeface="Arial" pitchFamily="34" charset="0"/>
                <a:ea typeface="Arial" pitchFamily="34" charset="-122"/>
                <a:cs typeface="Arial" pitchFamily="34" charset="-120"/>
              </a:rPr>
              <a:t>Two sources report the same server. Whether you get one CI or two depends on the lookup rules.</a:t>
            </a:r>
            <a:endParaRPr lang="en-US" sz="1400" dirty="0"/>
          </a:p>
        </p:txBody>
      </p:sp>
      <p:sp>
        <p:nvSpPr>
          <p:cNvPr id="5" name="Text 3"/>
          <p:cNvSpPr txBox="1"/>
          <p:nvPr/>
        </p:nvSpPr>
        <p:spPr>
          <a:xfrm>
            <a:off x="11185855" y="6473952"/>
            <a:ext cx="457200" cy="228600"/>
          </a:xfrm>
          <a:prstGeom prst="rect">
            <a:avLst/>
          </a:prstGeom>
          <a:noFill/>
          <a:ln/>
        </p:spPr>
        <p:txBody>
          <a:bodyPr wrap="square" lIns="0" tIns="0" rIns="0" bIns="0" rtlCol="0" anchor="t"/>
          <a:lstStyle/>
          <a:p>
            <a:pPr algn="r" indent="0" marL="0">
              <a:buNone/>
            </a:pPr>
            <a:r>
              <a:rPr lang="en-US" sz="900" dirty="0">
                <a:solidFill>
                  <a:srgbClr val="75787B"/>
                </a:solidFill>
                <a:latin typeface="Arial" pitchFamily="34" charset="0"/>
                <a:ea typeface="Arial" pitchFamily="34" charset="-122"/>
                <a:cs typeface="Arial" pitchFamily="34" charset="-120"/>
              </a:rPr>
              <a:t>5</a:t>
            </a:r>
            <a:endParaRPr lang="en-US" sz="900" dirty="0"/>
          </a:p>
        </p:txBody>
      </p:sp>
      <p:sp>
        <p:nvSpPr>
          <p:cNvPr id="6" name="Text 4"/>
          <p:cNvSpPr txBox="1"/>
          <p:nvPr/>
        </p:nvSpPr>
        <p:spPr>
          <a:xfrm>
            <a:off x="548640" y="6473952"/>
            <a:ext cx="2743200" cy="228600"/>
          </a:xfrm>
          <a:prstGeom prst="rect">
            <a:avLst/>
          </a:prstGeom>
          <a:noFill/>
          <a:ln/>
        </p:spPr>
        <p:txBody>
          <a:bodyPr wrap="square" lIns="0" tIns="0" rIns="0" bIns="0" rtlCol="0" anchor="t"/>
          <a:lstStyle/>
          <a:p>
            <a:pPr indent="0" marL="0">
              <a:buNone/>
            </a:pPr>
            <a:r>
              <a:rPr lang="en-US" sz="900" dirty="0">
                <a:solidFill>
                  <a:srgbClr val="75787B"/>
                </a:solidFill>
                <a:latin typeface="Arial" pitchFamily="34" charset="0"/>
                <a:ea typeface="Arial" pitchFamily="34" charset="-122"/>
                <a:cs typeface="Arial" pitchFamily="34" charset="-120"/>
              </a:rPr>
              <a:t>VR field guide</a:t>
            </a:r>
            <a:endParaRPr lang="en-US" sz="900" dirty="0"/>
          </a:p>
        </p:txBody>
      </p:sp>
      <p:sp>
        <p:nvSpPr>
          <p:cNvPr id="7" name="Shape 5"/>
          <p:cNvSpPr/>
          <p:nvPr/>
        </p:nvSpPr>
        <p:spPr>
          <a:xfrm>
            <a:off x="548640" y="1920240"/>
            <a:ext cx="2834640" cy="1600200"/>
          </a:xfrm>
          <a:prstGeom prst="rect">
            <a:avLst/>
          </a:prstGeom>
          <a:solidFill>
            <a:srgbClr val="F2F2F2"/>
          </a:solidFill>
          <a:ln w="12700">
            <a:solidFill>
              <a:srgbClr val="F2F2F2"/>
            </a:solidFill>
            <a:prstDash val="solid"/>
          </a:ln>
        </p:spPr>
      </p:sp>
      <p:sp>
        <p:nvSpPr>
          <p:cNvPr id="8" name="Text 6"/>
          <p:cNvSpPr txBox="1"/>
          <p:nvPr/>
        </p:nvSpPr>
        <p:spPr>
          <a:xfrm>
            <a:off x="731520" y="2029968"/>
            <a:ext cx="2560320" cy="274320"/>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Qualys scan</a:t>
            </a:r>
            <a:endParaRPr lang="en-US" sz="1300" dirty="0"/>
          </a:p>
        </p:txBody>
      </p:sp>
      <p:sp>
        <p:nvSpPr>
          <p:cNvPr id="9" name="Text 7"/>
          <p:cNvSpPr txBox="1"/>
          <p:nvPr/>
        </p:nvSpPr>
        <p:spPr>
          <a:xfrm>
            <a:off x="731520" y="2377440"/>
            <a:ext cx="2560320" cy="1051560"/>
          </a:xfrm>
          <a:prstGeom prst="rect">
            <a:avLst/>
          </a:prstGeom>
          <a:noFill/>
          <a:ln/>
        </p:spPr>
        <p:txBody>
          <a:bodyPr wrap="square" lIns="0" tIns="0" rIns="0" bIns="0" rtlCol="0" anchor="t"/>
          <a:lstStyle/>
          <a:p>
            <a:pPr indent="0" marL="0">
              <a:buNone/>
            </a:pPr>
            <a:r>
              <a:rPr lang="en-US" sz="1000" dirty="0">
                <a:solidFill>
                  <a:srgbClr val="53565A"/>
                </a:solidFill>
                <a:latin typeface="Courier New" pitchFamily="34" charset="0"/>
                <a:ea typeface="Courier New" pitchFamily="34" charset="-122"/>
                <a:cs typeface="Courier New" pitchFamily="34" charset="-120"/>
              </a:rPr>
              <a:t>DNS  app01.corp.example.com</a:t>
            </a:r>
            <a:endParaRPr lang="en-US" sz="1000" dirty="0"/>
          </a:p>
          <a:p>
            <a:pPr indent="0" marL="0">
              <a:buNone/>
            </a:pPr>
            <a:r>
              <a:rPr lang="en-US" sz="1000" dirty="0">
                <a:solidFill>
                  <a:srgbClr val="53565A"/>
                </a:solidFill>
                <a:latin typeface="Courier New" pitchFamily="34" charset="0"/>
                <a:ea typeface="Courier New" pitchFamily="34" charset="-122"/>
                <a:cs typeface="Courier New" pitchFamily="34" charset="-120"/>
              </a:rPr>
              <a:t>IP   10.20.30.40</a:t>
            </a:r>
            <a:endParaRPr lang="en-US" sz="1000" dirty="0"/>
          </a:p>
          <a:p>
            <a:pPr indent="0" marL="0">
              <a:buNone/>
            </a:pPr>
            <a:r>
              <a:rPr lang="en-US" sz="1000" dirty="0">
                <a:solidFill>
                  <a:srgbClr val="53565A"/>
                </a:solidFill>
                <a:latin typeface="Courier New" pitchFamily="34" charset="0"/>
                <a:ea typeface="Courier New" pitchFamily="34" charset="-122"/>
                <a:cs typeface="Courier New" pitchFamily="34" charset="-120"/>
              </a:rPr>
              <a:t>OS   Red Hat Enterprise Linux 8</a:t>
            </a:r>
            <a:endParaRPr lang="en-US" sz="1000" dirty="0"/>
          </a:p>
          <a:p>
            <a:pPr indent="0" marL="0">
              <a:buNone/>
            </a:pPr>
            <a:r>
              <a:rPr lang="en-US" sz="1000" dirty="0">
                <a:solidFill>
                  <a:srgbClr val="53565A"/>
                </a:solidFill>
                <a:latin typeface="Courier New" pitchFamily="34" charset="0"/>
                <a:ea typeface="Courier New" pitchFamily="34" charset="-122"/>
                <a:cs typeface="Courier New" pitchFamily="34" charset="-120"/>
              </a:rPr>
              <a:t>ID   QG_HOSTID 48213</a:t>
            </a:r>
            <a:endParaRPr lang="en-US" sz="1000" dirty="0"/>
          </a:p>
        </p:txBody>
      </p:sp>
      <p:sp>
        <p:nvSpPr>
          <p:cNvPr id="10" name="Shape 8"/>
          <p:cNvSpPr/>
          <p:nvPr/>
        </p:nvSpPr>
        <p:spPr>
          <a:xfrm>
            <a:off x="3429000" y="2715768"/>
            <a:ext cx="365760" cy="0"/>
          </a:xfrm>
          <a:prstGeom prst="line">
            <a:avLst/>
          </a:prstGeom>
          <a:noFill/>
          <a:ln w="19050">
            <a:solidFill>
              <a:srgbClr val="BBBCBC"/>
            </a:solidFill>
            <a:prstDash val="solid"/>
            <a:tailEnd type="triangle"/>
          </a:ln>
        </p:spPr>
      </p:sp>
      <p:sp>
        <p:nvSpPr>
          <p:cNvPr id="11" name="Shape 9"/>
          <p:cNvSpPr/>
          <p:nvPr/>
        </p:nvSpPr>
        <p:spPr>
          <a:xfrm>
            <a:off x="3840480" y="2194560"/>
            <a:ext cx="1920240" cy="1051560"/>
          </a:xfrm>
          <a:prstGeom prst="rect">
            <a:avLst/>
          </a:prstGeom>
          <a:solidFill>
            <a:srgbClr val="E8F2D5"/>
          </a:solidFill>
          <a:ln w="12700">
            <a:solidFill>
              <a:srgbClr val="E8F2D5"/>
            </a:solidFill>
            <a:prstDash val="solid"/>
          </a:ln>
        </p:spPr>
      </p:sp>
      <p:sp>
        <p:nvSpPr>
          <p:cNvPr id="12" name="Text 10"/>
          <p:cNvSpPr txBox="1"/>
          <p:nvPr/>
        </p:nvSpPr>
        <p:spPr>
          <a:xfrm>
            <a:off x="3977640" y="2304288"/>
            <a:ext cx="1691640" cy="822960"/>
          </a:xfrm>
          <a:prstGeom prst="rect">
            <a:avLst/>
          </a:prstGeom>
          <a:noFill/>
          <a:ln/>
        </p:spPr>
        <p:txBody>
          <a:bodyPr wrap="square" lIns="0" tIns="0" rIns="0" bIns="0" rtlCol="0" anchor="ctr"/>
          <a:lstStyle/>
          <a:p>
            <a:pPr indent="0" marL="0">
              <a:buNone/>
            </a:pPr>
            <a:r>
              <a:rPr lang="en-US" sz="1100" b="1" dirty="0">
                <a:solidFill>
                  <a:srgbClr val="000000"/>
                </a:solidFill>
                <a:latin typeface="Arial" pitchFamily="34" charset="0"/>
                <a:ea typeface="Arial" pitchFamily="34" charset="-122"/>
                <a:cs typeface="Arial" pitchFamily="34" charset="-120"/>
              </a:rPr>
              <a:t>Discovered item</a:t>
            </a:r>
            <a:endParaRPr lang="en-US" sz="1100" dirty="0"/>
          </a:p>
          <a:p>
            <a:pPr indent="0" marL="0">
              <a:buNone/>
            </a:pPr>
            <a:r>
              <a:rPr lang="en-US" sz="1100" b="1" dirty="0">
                <a:solidFill>
                  <a:srgbClr val="000000"/>
                </a:solidFill>
                <a:latin typeface="Arial" pitchFamily="34" charset="0"/>
                <a:ea typeface="Arial" pitchFamily="34" charset="-122"/>
                <a:cs typeface="Arial" pitchFamily="34" charset="-120"/>
              </a:rPr>
              <a:t>+ that source's lookup rules</a:t>
            </a:r>
            <a:endParaRPr lang="en-US" sz="1100" dirty="0"/>
          </a:p>
        </p:txBody>
      </p:sp>
      <p:sp>
        <p:nvSpPr>
          <p:cNvPr id="13" name="Shape 11"/>
          <p:cNvSpPr/>
          <p:nvPr/>
        </p:nvSpPr>
        <p:spPr>
          <a:xfrm>
            <a:off x="5806440" y="2715768"/>
            <a:ext cx="502920" cy="941832"/>
          </a:xfrm>
          <a:prstGeom prst="line">
            <a:avLst/>
          </a:prstGeom>
          <a:noFill/>
          <a:ln w="19050">
            <a:solidFill>
              <a:srgbClr val="BBBCBC"/>
            </a:solidFill>
            <a:prstDash val="solid"/>
            <a:tailEnd type="triangle"/>
          </a:ln>
        </p:spPr>
      </p:sp>
      <p:sp>
        <p:nvSpPr>
          <p:cNvPr id="14" name="Shape 12"/>
          <p:cNvSpPr/>
          <p:nvPr/>
        </p:nvSpPr>
        <p:spPr>
          <a:xfrm>
            <a:off x="548640" y="3794760"/>
            <a:ext cx="2834640" cy="1600200"/>
          </a:xfrm>
          <a:prstGeom prst="rect">
            <a:avLst/>
          </a:prstGeom>
          <a:solidFill>
            <a:srgbClr val="F2F2F2"/>
          </a:solidFill>
          <a:ln w="12700">
            <a:solidFill>
              <a:srgbClr val="F2F2F2"/>
            </a:solidFill>
            <a:prstDash val="solid"/>
          </a:ln>
        </p:spPr>
      </p:sp>
      <p:sp>
        <p:nvSpPr>
          <p:cNvPr id="15" name="Text 13"/>
          <p:cNvSpPr txBox="1"/>
          <p:nvPr/>
        </p:nvSpPr>
        <p:spPr>
          <a:xfrm>
            <a:off x="731520" y="3904488"/>
            <a:ext cx="2560320" cy="274320"/>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Second source (Tenable, CDP)</a:t>
            </a:r>
            <a:endParaRPr lang="en-US" sz="1300" dirty="0"/>
          </a:p>
        </p:txBody>
      </p:sp>
      <p:sp>
        <p:nvSpPr>
          <p:cNvPr id="16" name="Text 14"/>
          <p:cNvSpPr txBox="1"/>
          <p:nvPr/>
        </p:nvSpPr>
        <p:spPr>
          <a:xfrm>
            <a:off x="731520" y="4251960"/>
            <a:ext cx="2560320" cy="1051560"/>
          </a:xfrm>
          <a:prstGeom prst="rect">
            <a:avLst/>
          </a:prstGeom>
          <a:noFill/>
          <a:ln/>
        </p:spPr>
        <p:txBody>
          <a:bodyPr wrap="square" lIns="0" tIns="0" rIns="0" bIns="0" rtlCol="0" anchor="t"/>
          <a:lstStyle/>
          <a:p>
            <a:pPr indent="0" marL="0">
              <a:buNone/>
            </a:pPr>
            <a:r>
              <a:rPr lang="en-US" sz="1000" dirty="0">
                <a:solidFill>
                  <a:srgbClr val="53565A"/>
                </a:solidFill>
                <a:latin typeface="Courier New" pitchFamily="34" charset="0"/>
                <a:ea typeface="Courier New" pitchFamily="34" charset="-122"/>
                <a:cs typeface="Courier New" pitchFamily="34" charset="-120"/>
              </a:rPr>
              <a:t>FQDN app01.corp.example.com</a:t>
            </a:r>
            <a:endParaRPr lang="en-US" sz="1000" dirty="0"/>
          </a:p>
          <a:p>
            <a:pPr indent="0" marL="0">
              <a:buNone/>
            </a:pPr>
            <a:r>
              <a:rPr lang="en-US" sz="1000" dirty="0">
                <a:solidFill>
                  <a:srgbClr val="53565A"/>
                </a:solidFill>
                <a:latin typeface="Courier New" pitchFamily="34" charset="0"/>
                <a:ea typeface="Courier New" pitchFamily="34" charset="-122"/>
                <a:cs typeface="Courier New" pitchFamily="34" charset="-120"/>
              </a:rPr>
              <a:t>IP   10.20.30.40</a:t>
            </a:r>
            <a:endParaRPr lang="en-US" sz="1000" dirty="0"/>
          </a:p>
          <a:p>
            <a:pPr indent="0" marL="0">
              <a:buNone/>
            </a:pPr>
            <a:r>
              <a:rPr lang="en-US" sz="1000" dirty="0">
                <a:solidFill>
                  <a:srgbClr val="53565A"/>
                </a:solidFill>
                <a:latin typeface="Courier New" pitchFamily="34" charset="0"/>
                <a:ea typeface="Courier New" pitchFamily="34" charset="-122"/>
                <a:cs typeface="Courier New" pitchFamily="34" charset="-120"/>
              </a:rPr>
              <a:t>MAC  00:50:56:9a:1c:07</a:t>
            </a:r>
            <a:endParaRPr lang="en-US" sz="1000" dirty="0"/>
          </a:p>
          <a:p>
            <a:pPr indent="0" marL="0">
              <a:buNone/>
            </a:pPr>
            <a:r>
              <a:rPr lang="en-US" sz="1000" dirty="0">
                <a:solidFill>
                  <a:srgbClr val="53565A"/>
                </a:solidFill>
                <a:latin typeface="Courier New" pitchFamily="34" charset="0"/>
                <a:ea typeface="Courier New" pitchFamily="34" charset="-122"/>
                <a:cs typeface="Courier New" pitchFamily="34" charset="-120"/>
              </a:rPr>
              <a:t>ID   agent 7f3c-…</a:t>
            </a:r>
            <a:endParaRPr lang="en-US" sz="1000" dirty="0"/>
          </a:p>
        </p:txBody>
      </p:sp>
      <p:sp>
        <p:nvSpPr>
          <p:cNvPr id="17" name="Shape 15"/>
          <p:cNvSpPr/>
          <p:nvPr/>
        </p:nvSpPr>
        <p:spPr>
          <a:xfrm>
            <a:off x="3429000" y="4590288"/>
            <a:ext cx="365760" cy="0"/>
          </a:xfrm>
          <a:prstGeom prst="line">
            <a:avLst/>
          </a:prstGeom>
          <a:noFill/>
          <a:ln w="19050">
            <a:solidFill>
              <a:srgbClr val="BBBCBC"/>
            </a:solidFill>
            <a:prstDash val="solid"/>
            <a:tailEnd type="triangle"/>
          </a:ln>
        </p:spPr>
      </p:sp>
      <p:sp>
        <p:nvSpPr>
          <p:cNvPr id="18" name="Shape 16"/>
          <p:cNvSpPr/>
          <p:nvPr/>
        </p:nvSpPr>
        <p:spPr>
          <a:xfrm>
            <a:off x="3840480" y="4069080"/>
            <a:ext cx="1920240" cy="1051560"/>
          </a:xfrm>
          <a:prstGeom prst="rect">
            <a:avLst/>
          </a:prstGeom>
          <a:solidFill>
            <a:srgbClr val="E8F2D5"/>
          </a:solidFill>
          <a:ln w="12700">
            <a:solidFill>
              <a:srgbClr val="E8F2D5"/>
            </a:solidFill>
            <a:prstDash val="solid"/>
          </a:ln>
        </p:spPr>
      </p:sp>
      <p:sp>
        <p:nvSpPr>
          <p:cNvPr id="19" name="Text 17"/>
          <p:cNvSpPr txBox="1"/>
          <p:nvPr/>
        </p:nvSpPr>
        <p:spPr>
          <a:xfrm>
            <a:off x="3977640" y="4178808"/>
            <a:ext cx="1691640" cy="822960"/>
          </a:xfrm>
          <a:prstGeom prst="rect">
            <a:avLst/>
          </a:prstGeom>
          <a:noFill/>
          <a:ln/>
        </p:spPr>
        <p:txBody>
          <a:bodyPr wrap="square" lIns="0" tIns="0" rIns="0" bIns="0" rtlCol="0" anchor="ctr"/>
          <a:lstStyle/>
          <a:p>
            <a:pPr indent="0" marL="0">
              <a:buNone/>
            </a:pPr>
            <a:r>
              <a:rPr lang="en-US" sz="1100" b="1" dirty="0">
                <a:solidFill>
                  <a:srgbClr val="000000"/>
                </a:solidFill>
                <a:latin typeface="Arial" pitchFamily="34" charset="0"/>
                <a:ea typeface="Arial" pitchFamily="34" charset="-122"/>
                <a:cs typeface="Arial" pitchFamily="34" charset="-120"/>
              </a:rPr>
              <a:t>Discovered item</a:t>
            </a:r>
            <a:endParaRPr lang="en-US" sz="1100" dirty="0"/>
          </a:p>
          <a:p>
            <a:pPr indent="0" marL="0">
              <a:buNone/>
            </a:pPr>
            <a:r>
              <a:rPr lang="en-US" sz="1100" b="1" dirty="0">
                <a:solidFill>
                  <a:srgbClr val="000000"/>
                </a:solidFill>
                <a:latin typeface="Arial" pitchFamily="34" charset="0"/>
                <a:ea typeface="Arial" pitchFamily="34" charset="-122"/>
                <a:cs typeface="Arial" pitchFamily="34" charset="-120"/>
              </a:rPr>
              <a:t>+ that source's lookup rules</a:t>
            </a:r>
            <a:endParaRPr lang="en-US" sz="1100" dirty="0"/>
          </a:p>
        </p:txBody>
      </p:sp>
      <p:sp>
        <p:nvSpPr>
          <p:cNvPr id="20" name="Shape 18"/>
          <p:cNvSpPr/>
          <p:nvPr/>
        </p:nvSpPr>
        <p:spPr>
          <a:xfrm>
            <a:off x="5806440" y="4590288"/>
            <a:ext cx="502920" cy="-932688"/>
          </a:xfrm>
          <a:prstGeom prst="line">
            <a:avLst/>
          </a:prstGeom>
          <a:noFill/>
          <a:ln w="19050">
            <a:solidFill>
              <a:srgbClr val="BBBCBC"/>
            </a:solidFill>
            <a:prstDash val="solid"/>
            <a:tailEnd type="triangle"/>
          </a:ln>
        </p:spPr>
      </p:sp>
      <p:sp>
        <p:nvSpPr>
          <p:cNvPr id="21" name="Shape 19"/>
          <p:cNvSpPr/>
          <p:nvPr/>
        </p:nvSpPr>
        <p:spPr>
          <a:xfrm>
            <a:off x="6309360" y="3063240"/>
            <a:ext cx="1234440" cy="1234440"/>
          </a:xfrm>
          <a:prstGeom prst="ellipse">
            <a:avLst/>
          </a:prstGeom>
          <a:solidFill>
            <a:srgbClr val="86BC25"/>
          </a:solidFill>
          <a:ln w="12700">
            <a:solidFill>
              <a:srgbClr val="86BC25"/>
            </a:solidFill>
            <a:prstDash val="solid"/>
          </a:ln>
        </p:spPr>
      </p:sp>
      <p:sp>
        <p:nvSpPr>
          <p:cNvPr id="22" name="Text 20"/>
          <p:cNvSpPr txBox="1"/>
          <p:nvPr/>
        </p:nvSpPr>
        <p:spPr>
          <a:xfrm>
            <a:off x="6309360" y="3063240"/>
            <a:ext cx="1234440" cy="12344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One CI</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app01</a:t>
            </a:r>
            <a:endParaRPr lang="en-US" sz="1300" dirty="0"/>
          </a:p>
        </p:txBody>
      </p:sp>
      <p:sp>
        <p:nvSpPr>
          <p:cNvPr id="23" name="Text 21"/>
          <p:cNvSpPr txBox="1"/>
          <p:nvPr/>
        </p:nvSpPr>
        <p:spPr>
          <a:xfrm>
            <a:off x="5943600" y="4434840"/>
            <a:ext cx="2011680" cy="914400"/>
          </a:xfrm>
          <a:prstGeom prst="rect">
            <a:avLst/>
          </a:prstGeom>
          <a:noFill/>
          <a:ln/>
        </p:spPr>
        <p:txBody>
          <a:bodyPr wrap="square" lIns="0" tIns="0" rIns="0" bIns="0" rtlCol="0" anchor="t"/>
          <a:lstStyle/>
          <a:p>
            <a:pPr algn="ctr" indent="0" marL="0">
              <a:buNone/>
            </a:pPr>
            <a:r>
              <a:rPr lang="en-US" sz="1050" dirty="0">
                <a:solidFill>
                  <a:srgbClr val="53565A"/>
                </a:solidFill>
                <a:latin typeface="Arial" pitchFamily="34" charset="0"/>
                <a:ea typeface="Arial" pitchFamily="34" charset="-122"/>
                <a:cs typeface="Arial" pitchFamily="34" charset="-120"/>
              </a:rPr>
              <a:t>Two vulnerable items on it (one per source), both pointing to the same CVE</a:t>
            </a:r>
            <a:endParaRPr lang="en-US" sz="1050" dirty="0"/>
          </a:p>
        </p:txBody>
      </p:sp>
      <p:sp>
        <p:nvSpPr>
          <p:cNvPr id="24" name="Text 22"/>
          <p:cNvSpPr txBox="1"/>
          <p:nvPr/>
        </p:nvSpPr>
        <p:spPr>
          <a:xfrm>
            <a:off x="8549640" y="1874520"/>
            <a:ext cx="3093415" cy="320040"/>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Remember</a:t>
            </a:r>
            <a:endParaRPr lang="en-US" sz="1500" dirty="0"/>
          </a:p>
        </p:txBody>
      </p:sp>
      <p:sp>
        <p:nvSpPr>
          <p:cNvPr id="25" name="Shape 23"/>
          <p:cNvSpPr/>
          <p:nvPr/>
        </p:nvSpPr>
        <p:spPr>
          <a:xfrm>
            <a:off x="8549640" y="2377440"/>
            <a:ext cx="310896" cy="310896"/>
          </a:xfrm>
          <a:prstGeom prst="ellipse">
            <a:avLst/>
          </a:prstGeom>
          <a:solidFill>
            <a:srgbClr val="86BC25"/>
          </a:solidFill>
          <a:ln w="12700">
            <a:solidFill>
              <a:srgbClr val="86BC25"/>
            </a:solidFill>
            <a:prstDash val="solid"/>
          </a:ln>
        </p:spPr>
      </p:sp>
      <p:sp>
        <p:nvSpPr>
          <p:cNvPr id="26" name="Text 24"/>
          <p:cNvSpPr txBox="1"/>
          <p:nvPr/>
        </p:nvSpPr>
        <p:spPr>
          <a:xfrm>
            <a:off x="8549640" y="2377440"/>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27" name="Text 25"/>
          <p:cNvSpPr txBox="1"/>
          <p:nvPr/>
        </p:nvSpPr>
        <p:spPr>
          <a:xfrm>
            <a:off x="9006840" y="2331720"/>
            <a:ext cx="2636215" cy="868680"/>
          </a:xfrm>
          <a:prstGeom prst="rect">
            <a:avLst/>
          </a:prstGeom>
          <a:noFill/>
          <a:ln/>
        </p:spPr>
        <p:txBody>
          <a:bodyPr wrap="square" lIns="0" tIns="0" rIns="0" bIns="0" rtlCol="0" anchor="t"/>
          <a:lstStyle/>
          <a:p>
            <a:pPr indent="0" marL="0">
              <a:buNone/>
            </a:pPr>
            <a:r>
              <a:rPr lang="en-US" sz="1150" dirty="0">
                <a:solidFill>
                  <a:srgbClr val="53565A"/>
                </a:solidFill>
                <a:latin typeface="Arial" pitchFamily="34" charset="0"/>
                <a:ea typeface="Arial" pitchFamily="34" charset="-122"/>
                <a:cs typeface="Arial" pitchFamily="34" charset="-120"/>
              </a:rPr>
              <a:t>Each source keeps its own discovered item and its own rule chain.</a:t>
            </a:r>
            <a:endParaRPr lang="en-US" sz="1150" dirty="0"/>
          </a:p>
        </p:txBody>
      </p:sp>
      <p:sp>
        <p:nvSpPr>
          <p:cNvPr id="28" name="Shape 26"/>
          <p:cNvSpPr/>
          <p:nvPr/>
        </p:nvSpPr>
        <p:spPr>
          <a:xfrm>
            <a:off x="8549640" y="3310128"/>
            <a:ext cx="310896" cy="310896"/>
          </a:xfrm>
          <a:prstGeom prst="ellipse">
            <a:avLst/>
          </a:prstGeom>
          <a:solidFill>
            <a:srgbClr val="86BC25"/>
          </a:solidFill>
          <a:ln w="12700">
            <a:solidFill>
              <a:srgbClr val="86BC25"/>
            </a:solidFill>
            <a:prstDash val="solid"/>
          </a:ln>
        </p:spPr>
      </p:sp>
      <p:sp>
        <p:nvSpPr>
          <p:cNvPr id="29" name="Text 27"/>
          <p:cNvSpPr txBox="1"/>
          <p:nvPr/>
        </p:nvSpPr>
        <p:spPr>
          <a:xfrm>
            <a:off x="8549640" y="3310128"/>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30" name="Text 28"/>
          <p:cNvSpPr txBox="1"/>
          <p:nvPr/>
        </p:nvSpPr>
        <p:spPr>
          <a:xfrm>
            <a:off x="9006840" y="3264408"/>
            <a:ext cx="2636215" cy="868680"/>
          </a:xfrm>
          <a:prstGeom prst="rect">
            <a:avLst/>
          </a:prstGeom>
          <a:noFill/>
          <a:ln/>
        </p:spPr>
        <p:txBody>
          <a:bodyPr wrap="square" lIns="0" tIns="0" rIns="0" bIns="0" rtlCol="0" anchor="t"/>
          <a:lstStyle/>
          <a:p>
            <a:pPr indent="0" marL="0">
              <a:buNone/>
            </a:pPr>
            <a:r>
              <a:rPr lang="en-US" sz="1150" dirty="0">
                <a:solidFill>
                  <a:srgbClr val="53565A"/>
                </a:solidFill>
                <a:latin typeface="Arial" pitchFamily="34" charset="0"/>
                <a:ea typeface="Arial" pitchFamily="34" charset="-122"/>
                <a:cs typeface="Arial" pitchFamily="34" charset="-120"/>
              </a:rPr>
              <a:t>They meet on one CI only if both chains find the same record: shared identifiers (FQDN, serial) make that happen.</a:t>
            </a:r>
            <a:endParaRPr lang="en-US" sz="1150" dirty="0"/>
          </a:p>
        </p:txBody>
      </p:sp>
      <p:sp>
        <p:nvSpPr>
          <p:cNvPr id="31" name="Shape 29"/>
          <p:cNvSpPr/>
          <p:nvPr/>
        </p:nvSpPr>
        <p:spPr>
          <a:xfrm>
            <a:off x="8549640" y="4242816"/>
            <a:ext cx="310896" cy="310896"/>
          </a:xfrm>
          <a:prstGeom prst="ellipse">
            <a:avLst/>
          </a:prstGeom>
          <a:solidFill>
            <a:srgbClr val="86BC25"/>
          </a:solidFill>
          <a:ln w="12700">
            <a:solidFill>
              <a:srgbClr val="86BC25"/>
            </a:solidFill>
            <a:prstDash val="solid"/>
          </a:ln>
        </p:spPr>
      </p:sp>
      <p:sp>
        <p:nvSpPr>
          <p:cNvPr id="32" name="Text 30"/>
          <p:cNvSpPr txBox="1"/>
          <p:nvPr/>
        </p:nvSpPr>
        <p:spPr>
          <a:xfrm>
            <a:off x="8549640" y="424281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33" name="Text 31"/>
          <p:cNvSpPr txBox="1"/>
          <p:nvPr/>
        </p:nvSpPr>
        <p:spPr>
          <a:xfrm>
            <a:off x="9006840" y="4197096"/>
            <a:ext cx="2636215" cy="868680"/>
          </a:xfrm>
          <a:prstGeom prst="rect">
            <a:avLst/>
          </a:prstGeom>
          <a:noFill/>
          <a:ln/>
        </p:spPr>
        <p:txBody>
          <a:bodyPr wrap="square" lIns="0" tIns="0" rIns="0" bIns="0" rtlCol="0" anchor="t"/>
          <a:lstStyle/>
          <a:p>
            <a:pPr indent="0" marL="0">
              <a:buNone/>
            </a:pPr>
            <a:r>
              <a:rPr lang="en-US" sz="1150" dirty="0">
                <a:solidFill>
                  <a:srgbClr val="53565A"/>
                </a:solidFill>
                <a:latin typeface="Arial" pitchFamily="34" charset="0"/>
                <a:ea typeface="Arial" pitchFamily="34" charset="-122"/>
                <a:cs typeface="Arial" pitchFamily="34" charset="-120"/>
              </a:rPr>
              <a:t>Same CVE from two scanners = two vulnerable items. Report by CVE + CI to avoid double counting.</a:t>
            </a:r>
            <a:endParaRPr lang="en-US" sz="1150" dirty="0"/>
          </a:p>
        </p:txBody>
      </p:sp>
      <p:sp>
        <p:nvSpPr>
          <p:cNvPr id="34" name="Shape 32"/>
          <p:cNvSpPr/>
          <p:nvPr/>
        </p:nvSpPr>
        <p:spPr>
          <a:xfrm>
            <a:off x="8549640" y="5175504"/>
            <a:ext cx="310896" cy="310896"/>
          </a:xfrm>
          <a:prstGeom prst="ellipse">
            <a:avLst/>
          </a:prstGeom>
          <a:solidFill>
            <a:srgbClr val="86BC25"/>
          </a:solidFill>
          <a:ln w="12700">
            <a:solidFill>
              <a:srgbClr val="86BC25"/>
            </a:solidFill>
            <a:prstDash val="solid"/>
          </a:ln>
        </p:spPr>
      </p:sp>
      <p:sp>
        <p:nvSpPr>
          <p:cNvPr id="35" name="Text 33"/>
          <p:cNvSpPr txBox="1"/>
          <p:nvPr/>
        </p:nvSpPr>
        <p:spPr>
          <a:xfrm>
            <a:off x="8549640" y="5175504"/>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36" name="Text 34"/>
          <p:cNvSpPr txBox="1"/>
          <p:nvPr/>
        </p:nvSpPr>
        <p:spPr>
          <a:xfrm>
            <a:off x="9006840" y="5129784"/>
            <a:ext cx="2636215" cy="868680"/>
          </a:xfrm>
          <a:prstGeom prst="rect">
            <a:avLst/>
          </a:prstGeom>
          <a:noFill/>
          <a:ln/>
        </p:spPr>
        <p:txBody>
          <a:bodyPr wrap="square" lIns="0" tIns="0" rIns="0" bIns="0" rtlCol="0" anchor="t"/>
          <a:lstStyle/>
          <a:p>
            <a:pPr indent="0" marL="0">
              <a:buNone/>
            </a:pPr>
            <a:r>
              <a:rPr lang="en-US" sz="1150" dirty="0">
                <a:solidFill>
                  <a:srgbClr val="53565A"/>
                </a:solidFill>
                <a:latin typeface="Arial" pitchFamily="34" charset="0"/>
                <a:ea typeface="Arial" pitchFamily="34" charset="-122"/>
                <a:cs typeface="Arial" pitchFamily="34" charset="-120"/>
              </a:rPr>
              <a:t>If one chain misses, IRE can create a second, placeholder CI. Fix the rule or the CMDB data, never relink by hand.</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000" b="1" spc="150" kern="0" dirty="0">
                <a:solidFill>
                  <a:srgbClr val="26890D"/>
                </a:solidFill>
                <a:latin typeface="Arial" pitchFamily="34" charset="0"/>
                <a:ea typeface="Arial" pitchFamily="34" charset="-122"/>
                <a:cs typeface="Arial" pitchFamily="34" charset="-120"/>
              </a:rPr>
              <a:t>2 · FROM SCAN TO CI</a:t>
            </a:r>
            <a:endParaRPr lang="en-US" sz="10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Lookup rules first, then IRE</a:t>
            </a:r>
            <a:pPr indent="0" marL="0">
              <a:buNone/>
            </a:pPr>
            <a:r>
              <a:rPr lang="en-US" sz="3000" b="1" dirty="0">
                <a:solidFill>
                  <a:srgbClr val="86BC25"/>
                </a:solidFill>
                <a:latin typeface="Arial" pitchFamily="34" charset="0"/>
                <a:ea typeface="Arial" pitchFamily="34" charset="-122"/>
                <a:cs typeface="Arial" pitchFamily="34" charset="-120"/>
              </a:rPr>
              <a:t>.</a:t>
            </a:r>
            <a:endParaRPr lang="en-US" sz="3000" dirty="0"/>
          </a:p>
        </p:txBody>
      </p:sp>
      <p:sp>
        <p:nvSpPr>
          <p:cNvPr id="4" name="Text 2"/>
          <p:cNvSpPr txBox="1"/>
          <p:nvPr/>
        </p:nvSpPr>
        <p:spPr>
          <a:xfrm>
            <a:off x="548640" y="1243584"/>
            <a:ext cx="11094415" cy="411480"/>
          </a:xfrm>
          <a:prstGeom prst="rect">
            <a:avLst/>
          </a:prstGeom>
          <a:noFill/>
          <a:ln/>
        </p:spPr>
        <p:txBody>
          <a:bodyPr wrap="square" lIns="0" tIns="0" rIns="0" bIns="0" rtlCol="0" anchor="t"/>
          <a:lstStyle/>
          <a:p>
            <a:pPr indent="0" marL="0">
              <a:buNone/>
            </a:pPr>
            <a:r>
              <a:rPr lang="en-US" sz="1400" dirty="0">
                <a:solidFill>
                  <a:srgbClr val="53565A"/>
                </a:solidFill>
                <a:latin typeface="Arial" pitchFamily="34" charset="0"/>
                <a:ea typeface="Arial" pitchFamily="34" charset="-122"/>
                <a:cs typeface="Arial" pitchFamily="34" charset="-120"/>
              </a:rPr>
              <a:t>What happens between the discovered item and the CI, and where IRE comes in.</a:t>
            </a:r>
            <a:endParaRPr lang="en-US" sz="1400" dirty="0"/>
          </a:p>
        </p:txBody>
      </p:sp>
      <p:sp>
        <p:nvSpPr>
          <p:cNvPr id="5" name="Text 3"/>
          <p:cNvSpPr txBox="1"/>
          <p:nvPr/>
        </p:nvSpPr>
        <p:spPr>
          <a:xfrm>
            <a:off x="11185855" y="6473952"/>
            <a:ext cx="457200" cy="228600"/>
          </a:xfrm>
          <a:prstGeom prst="rect">
            <a:avLst/>
          </a:prstGeom>
          <a:noFill/>
          <a:ln/>
        </p:spPr>
        <p:txBody>
          <a:bodyPr wrap="square" lIns="0" tIns="0" rIns="0" bIns="0" rtlCol="0" anchor="t"/>
          <a:lstStyle/>
          <a:p>
            <a:pPr algn="r" indent="0" marL="0">
              <a:buNone/>
            </a:pPr>
            <a:r>
              <a:rPr lang="en-US" sz="900" dirty="0">
                <a:solidFill>
                  <a:srgbClr val="75787B"/>
                </a:solidFill>
                <a:latin typeface="Arial" pitchFamily="34" charset="0"/>
                <a:ea typeface="Arial" pitchFamily="34" charset="-122"/>
                <a:cs typeface="Arial" pitchFamily="34" charset="-120"/>
              </a:rPr>
              <a:t>6</a:t>
            </a:r>
            <a:endParaRPr lang="en-US" sz="900" dirty="0"/>
          </a:p>
        </p:txBody>
      </p:sp>
      <p:sp>
        <p:nvSpPr>
          <p:cNvPr id="6" name="Text 4"/>
          <p:cNvSpPr txBox="1"/>
          <p:nvPr/>
        </p:nvSpPr>
        <p:spPr>
          <a:xfrm>
            <a:off x="548640" y="6473952"/>
            <a:ext cx="2743200" cy="228600"/>
          </a:xfrm>
          <a:prstGeom prst="rect">
            <a:avLst/>
          </a:prstGeom>
          <a:noFill/>
          <a:ln/>
        </p:spPr>
        <p:txBody>
          <a:bodyPr wrap="square" lIns="0" tIns="0" rIns="0" bIns="0" rtlCol="0" anchor="t"/>
          <a:lstStyle/>
          <a:p>
            <a:pPr indent="0" marL="0">
              <a:buNone/>
            </a:pPr>
            <a:r>
              <a:rPr lang="en-US" sz="900" dirty="0">
                <a:solidFill>
                  <a:srgbClr val="75787B"/>
                </a:solidFill>
                <a:latin typeface="Arial" pitchFamily="34" charset="0"/>
                <a:ea typeface="Arial" pitchFamily="34" charset="-122"/>
                <a:cs typeface="Arial" pitchFamily="34" charset="-120"/>
              </a:rPr>
              <a:t>VR field guide</a:t>
            </a:r>
            <a:endParaRPr lang="en-US" sz="900" dirty="0"/>
          </a:p>
        </p:txBody>
      </p:sp>
      <p:sp>
        <p:nvSpPr>
          <p:cNvPr id="7" name="Shape 5"/>
          <p:cNvSpPr/>
          <p:nvPr/>
        </p:nvSpPr>
        <p:spPr>
          <a:xfrm>
            <a:off x="548640" y="1920240"/>
            <a:ext cx="420624" cy="420624"/>
          </a:xfrm>
          <a:prstGeom prst="ellipse">
            <a:avLst/>
          </a:prstGeom>
          <a:solidFill>
            <a:srgbClr val="86BC25"/>
          </a:solidFill>
          <a:ln w="12700">
            <a:solidFill>
              <a:srgbClr val="86BC25"/>
            </a:solidFill>
            <a:prstDash val="solid"/>
          </a:ln>
        </p:spPr>
      </p:sp>
      <p:sp>
        <p:nvSpPr>
          <p:cNvPr id="8" name="Text 6"/>
          <p:cNvSpPr txBox="1"/>
          <p:nvPr/>
        </p:nvSpPr>
        <p:spPr>
          <a:xfrm>
            <a:off x="548640" y="1920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Text 7"/>
          <p:cNvSpPr txBox="1"/>
          <p:nvPr/>
        </p:nvSpPr>
        <p:spPr>
          <a:xfrm>
            <a:off x="1188720" y="1892808"/>
            <a:ext cx="5669280" cy="292608"/>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Import writes the discovered item</a:t>
            </a:r>
            <a:endParaRPr lang="en-US" sz="1400" dirty="0"/>
          </a:p>
        </p:txBody>
      </p:sp>
      <p:sp>
        <p:nvSpPr>
          <p:cNvPr id="10" name="Text 8"/>
          <p:cNvSpPr txBox="1"/>
          <p:nvPr/>
        </p:nvSpPr>
        <p:spPr>
          <a:xfrm>
            <a:off x="1188720" y="2194560"/>
            <a:ext cx="5669280" cy="502920"/>
          </a:xfrm>
          <a:prstGeom prst="rect">
            <a:avLst/>
          </a:prstGeom>
          <a:noFill/>
          <a:ln/>
        </p:spPr>
        <p:txBody>
          <a:bodyPr wrap="square" lIns="0" tIns="0" rIns="0" bIns="0" rtlCol="0" anchor="t"/>
          <a:lstStyle/>
          <a:p>
            <a:pPr indent="0" marL="0">
              <a:buNone/>
            </a:pPr>
            <a:r>
              <a:rPr lang="en-US" sz="1150" dirty="0">
                <a:solidFill>
                  <a:srgbClr val="53565A"/>
                </a:solidFill>
                <a:latin typeface="Arial" pitchFamily="34" charset="0"/>
                <a:ea typeface="Arial" pitchFamily="34" charset="-122"/>
                <a:cs typeface="Arial" pitchFamily="34" charset="-120"/>
              </a:rPr>
              <a:t>The host's payload: name, FQDN, IP, OS, scanner id.</a:t>
            </a:r>
            <a:endParaRPr lang="en-US" sz="1150" dirty="0"/>
          </a:p>
        </p:txBody>
      </p:sp>
      <p:sp>
        <p:nvSpPr>
          <p:cNvPr id="11" name="Shape 9"/>
          <p:cNvSpPr/>
          <p:nvPr/>
        </p:nvSpPr>
        <p:spPr>
          <a:xfrm>
            <a:off x="758952" y="2377440"/>
            <a:ext cx="0" cy="365760"/>
          </a:xfrm>
          <a:prstGeom prst="line">
            <a:avLst/>
          </a:prstGeom>
          <a:noFill/>
          <a:ln w="19050">
            <a:solidFill>
              <a:srgbClr val="BBBCBC"/>
            </a:solidFill>
            <a:prstDash val="solid"/>
            <a:tailEnd type="triangle"/>
          </a:ln>
        </p:spPr>
      </p:sp>
      <p:sp>
        <p:nvSpPr>
          <p:cNvPr id="12" name="Shape 10"/>
          <p:cNvSpPr/>
          <p:nvPr/>
        </p:nvSpPr>
        <p:spPr>
          <a:xfrm>
            <a:off x="548640" y="2770632"/>
            <a:ext cx="420624" cy="420624"/>
          </a:xfrm>
          <a:prstGeom prst="ellipse">
            <a:avLst/>
          </a:prstGeom>
          <a:solidFill>
            <a:srgbClr val="86BC25"/>
          </a:solidFill>
          <a:ln w="12700">
            <a:solidFill>
              <a:srgbClr val="86BC25"/>
            </a:solidFill>
            <a:prstDash val="solid"/>
          </a:ln>
        </p:spPr>
      </p:sp>
      <p:sp>
        <p:nvSpPr>
          <p:cNvPr id="13" name="Text 11"/>
          <p:cNvSpPr txBox="1"/>
          <p:nvPr/>
        </p:nvSpPr>
        <p:spPr>
          <a:xfrm>
            <a:off x="548640" y="277063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4" name="Text 12"/>
          <p:cNvSpPr txBox="1"/>
          <p:nvPr/>
        </p:nvSpPr>
        <p:spPr>
          <a:xfrm>
            <a:off x="1188720" y="2743200"/>
            <a:ext cx="5669280" cy="292608"/>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The source's lookup rules run in order</a:t>
            </a:r>
            <a:endParaRPr lang="en-US" sz="1400" dirty="0"/>
          </a:p>
        </p:txBody>
      </p:sp>
      <p:sp>
        <p:nvSpPr>
          <p:cNvPr id="15" name="Text 13"/>
          <p:cNvSpPr txBox="1"/>
          <p:nvPr/>
        </p:nvSpPr>
        <p:spPr>
          <a:xfrm>
            <a:off x="1188720" y="3044952"/>
            <a:ext cx="5669280" cy="502920"/>
          </a:xfrm>
          <a:prstGeom prst="rect">
            <a:avLst/>
          </a:prstGeom>
          <a:noFill/>
          <a:ln/>
        </p:spPr>
        <p:txBody>
          <a:bodyPr wrap="square" lIns="0" tIns="0" rIns="0" bIns="0" rtlCol="0" anchor="t"/>
          <a:lstStyle/>
          <a:p>
            <a:pPr indent="0" marL="0">
              <a:buNone/>
            </a:pPr>
            <a:r>
              <a:rPr lang="en-US" sz="1150" dirty="0">
                <a:solidFill>
                  <a:srgbClr val="53565A"/>
                </a:solidFill>
                <a:latin typeface="Arial" pitchFamily="34" charset="0"/>
                <a:ea typeface="Arial" pitchFamily="34" charset="-122"/>
                <a:cs typeface="Arial" pitchFamily="34" charset="-120"/>
              </a:rPr>
              <a:t>The first rule that returns exactly one CI wins.</a:t>
            </a:r>
            <a:endParaRPr lang="en-US" sz="1150" dirty="0"/>
          </a:p>
        </p:txBody>
      </p:sp>
      <p:sp>
        <p:nvSpPr>
          <p:cNvPr id="16" name="Shape 14"/>
          <p:cNvSpPr/>
          <p:nvPr/>
        </p:nvSpPr>
        <p:spPr>
          <a:xfrm>
            <a:off x="758952" y="3227832"/>
            <a:ext cx="0" cy="365760"/>
          </a:xfrm>
          <a:prstGeom prst="line">
            <a:avLst/>
          </a:prstGeom>
          <a:noFill/>
          <a:ln w="19050">
            <a:solidFill>
              <a:srgbClr val="BBBCBC"/>
            </a:solidFill>
            <a:prstDash val="solid"/>
            <a:tailEnd type="triangle"/>
          </a:ln>
        </p:spPr>
      </p:sp>
      <p:sp>
        <p:nvSpPr>
          <p:cNvPr id="17" name="Shape 15"/>
          <p:cNvSpPr/>
          <p:nvPr/>
        </p:nvSpPr>
        <p:spPr>
          <a:xfrm>
            <a:off x="548640" y="3621024"/>
            <a:ext cx="420624" cy="420624"/>
          </a:xfrm>
          <a:prstGeom prst="ellipse">
            <a:avLst/>
          </a:prstGeom>
          <a:solidFill>
            <a:srgbClr val="86BC25"/>
          </a:solidFill>
          <a:ln w="12700">
            <a:solidFill>
              <a:srgbClr val="86BC25"/>
            </a:solidFill>
            <a:prstDash val="solid"/>
          </a:ln>
        </p:spPr>
      </p:sp>
      <p:sp>
        <p:nvSpPr>
          <p:cNvPr id="18" name="Text 16"/>
          <p:cNvSpPr txBox="1"/>
          <p:nvPr/>
        </p:nvSpPr>
        <p:spPr>
          <a:xfrm>
            <a:off x="548640" y="362102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9" name="Text 17"/>
          <p:cNvSpPr txBox="1"/>
          <p:nvPr/>
        </p:nvSpPr>
        <p:spPr>
          <a:xfrm>
            <a:off x="1188720" y="3593592"/>
            <a:ext cx="5669280" cy="292608"/>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Retired CIs and ignored classes drop out</a:t>
            </a:r>
            <a:endParaRPr lang="en-US" sz="1400" dirty="0"/>
          </a:p>
        </p:txBody>
      </p:sp>
      <p:sp>
        <p:nvSpPr>
          <p:cNvPr id="20" name="Text 18"/>
          <p:cNvSpPr txBox="1"/>
          <p:nvPr/>
        </p:nvSpPr>
        <p:spPr>
          <a:xfrm>
            <a:off x="1188720" y="3895344"/>
            <a:ext cx="5669280" cy="502920"/>
          </a:xfrm>
          <a:prstGeom prst="rect">
            <a:avLst/>
          </a:prstGeom>
          <a:noFill/>
          <a:ln/>
        </p:spPr>
        <p:txBody>
          <a:bodyPr wrap="square" lIns="0" tIns="0" rIns="0" bIns="0" rtlCol="0" anchor="t"/>
          <a:lstStyle/>
          <a:p>
            <a:pPr indent="0" marL="0">
              <a:buNone/>
            </a:pPr>
            <a:r>
              <a:rPr lang="en-US" sz="1150" dirty="0">
                <a:solidFill>
                  <a:srgbClr val="26890D"/>
                </a:solidFill>
                <a:latin typeface="Courier New" pitchFamily="34" charset="0"/>
                <a:ea typeface="Courier New" pitchFamily="34" charset="-122"/>
                <a:cs typeface="Courier New" pitchFamily="34" charset="-120"/>
              </a:rPr>
              <a:t>sn_sec_cmn.filterOutDecommissionedCI</a:t>
            </a:r>
            <a:pPr indent="0" marL="0">
              <a:buNone/>
            </a:pPr>
            <a:r>
              <a:rPr lang="en-US" sz="1150" dirty="0">
                <a:solidFill>
                  <a:srgbClr val="53565A"/>
                </a:solidFill>
                <a:latin typeface="Arial" pitchFamily="34" charset="0"/>
                <a:ea typeface="Arial" pitchFamily="34" charset="-122"/>
                <a:cs typeface="Arial" pitchFamily="34" charset="-120"/>
              </a:rPr>
              <a:t>,  </a:t>
            </a:r>
            <a:pPr indent="0" marL="0">
              <a:buNone/>
            </a:pPr>
            <a:r>
              <a:rPr lang="en-US" sz="1150" dirty="0">
                <a:solidFill>
                  <a:srgbClr val="26890D"/>
                </a:solidFill>
                <a:latin typeface="Courier New" pitchFamily="34" charset="0"/>
                <a:ea typeface="Courier New" pitchFamily="34" charset="-122"/>
                <a:cs typeface="Courier New" pitchFamily="34" charset="-120"/>
              </a:rPr>
              <a:t>sn_sec_cmn.ignoreCIClass</a:t>
            </a:r>
            <a:endParaRPr lang="en-US" sz="1150" dirty="0"/>
          </a:p>
        </p:txBody>
      </p:sp>
      <p:sp>
        <p:nvSpPr>
          <p:cNvPr id="21" name="Shape 19"/>
          <p:cNvSpPr/>
          <p:nvPr/>
        </p:nvSpPr>
        <p:spPr>
          <a:xfrm>
            <a:off x="758952" y="4078224"/>
            <a:ext cx="0" cy="365760"/>
          </a:xfrm>
          <a:prstGeom prst="line">
            <a:avLst/>
          </a:prstGeom>
          <a:noFill/>
          <a:ln w="19050">
            <a:solidFill>
              <a:srgbClr val="BBBCBC"/>
            </a:solidFill>
            <a:prstDash val="solid"/>
            <a:tailEnd type="triangle"/>
          </a:ln>
        </p:spPr>
      </p:sp>
      <p:sp>
        <p:nvSpPr>
          <p:cNvPr id="22" name="Shape 20"/>
          <p:cNvSpPr/>
          <p:nvPr/>
        </p:nvSpPr>
        <p:spPr>
          <a:xfrm>
            <a:off x="548640" y="4471416"/>
            <a:ext cx="420624" cy="420624"/>
          </a:xfrm>
          <a:prstGeom prst="ellipse">
            <a:avLst/>
          </a:prstGeom>
          <a:solidFill>
            <a:srgbClr val="86BC25"/>
          </a:solidFill>
          <a:ln w="12700">
            <a:solidFill>
              <a:srgbClr val="86BC25"/>
            </a:solidFill>
            <a:prstDash val="solid"/>
          </a:ln>
        </p:spPr>
      </p:sp>
      <p:sp>
        <p:nvSpPr>
          <p:cNvPr id="23" name="Text 21"/>
          <p:cNvSpPr txBox="1"/>
          <p:nvPr/>
        </p:nvSpPr>
        <p:spPr>
          <a:xfrm>
            <a:off x="548640" y="447141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4" name="Text 22"/>
          <p:cNvSpPr txBox="1"/>
          <p:nvPr/>
        </p:nvSpPr>
        <p:spPr>
          <a:xfrm>
            <a:off x="1188720" y="4443984"/>
            <a:ext cx="5669280" cy="292608"/>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No rule matched: IRE decides</a:t>
            </a:r>
            <a:endParaRPr lang="en-US" sz="1400" dirty="0"/>
          </a:p>
        </p:txBody>
      </p:sp>
      <p:sp>
        <p:nvSpPr>
          <p:cNvPr id="25" name="Text 23"/>
          <p:cNvSpPr txBox="1"/>
          <p:nvPr/>
        </p:nvSpPr>
        <p:spPr>
          <a:xfrm>
            <a:off x="1188720" y="4745736"/>
            <a:ext cx="5669280" cy="502920"/>
          </a:xfrm>
          <a:prstGeom prst="rect">
            <a:avLst/>
          </a:prstGeom>
          <a:noFill/>
          <a:ln/>
        </p:spPr>
        <p:txBody>
          <a:bodyPr wrap="square" lIns="0" tIns="0" rIns="0" bIns="0" rtlCol="0" anchor="t"/>
          <a:lstStyle/>
          <a:p>
            <a:pPr indent="0" marL="0">
              <a:buNone/>
            </a:pPr>
            <a:r>
              <a:rPr lang="en-US" sz="1150" dirty="0">
                <a:solidFill>
                  <a:srgbClr val="53565A"/>
                </a:solidFill>
                <a:latin typeface="Arial" pitchFamily="34" charset="0"/>
                <a:ea typeface="Arial" pitchFamily="34" charset="-122"/>
                <a:cs typeface="Arial" pitchFamily="34" charset="-120"/>
              </a:rPr>
              <a:t>On when </a:t>
            </a:r>
            <a:pPr indent="0" marL="0">
              <a:buNone/>
            </a:pPr>
            <a:r>
              <a:rPr lang="en-US" sz="1150" dirty="0">
                <a:solidFill>
                  <a:srgbClr val="26890D"/>
                </a:solidFill>
                <a:latin typeface="Courier New" pitchFamily="34" charset="0"/>
                <a:ea typeface="Courier New" pitchFamily="34" charset="-122"/>
                <a:cs typeface="Courier New" pitchFamily="34" charset="-120"/>
              </a:rPr>
              <a:t>sn_sec_cmn.ci_creation_through_IRE</a:t>
            </a:r>
            <a:pPr indent="0" marL="0">
              <a:buNone/>
            </a:pPr>
            <a:r>
              <a:rPr lang="en-US" sz="1150" dirty="0">
                <a:solidFill>
                  <a:srgbClr val="53565A"/>
                </a:solidFill>
                <a:latin typeface="Arial" pitchFamily="34" charset="0"/>
                <a:ea typeface="Arial" pitchFamily="34" charset="-122"/>
                <a:cs typeface="Arial" pitchFamily="34" charset="-120"/>
              </a:rPr>
              <a:t> is true.</a:t>
            </a:r>
            <a:endParaRPr lang="en-US" sz="1150" dirty="0"/>
          </a:p>
        </p:txBody>
      </p:sp>
      <p:sp>
        <p:nvSpPr>
          <p:cNvPr id="26" name="Shape 24"/>
          <p:cNvSpPr/>
          <p:nvPr/>
        </p:nvSpPr>
        <p:spPr>
          <a:xfrm>
            <a:off x="758952" y="4928616"/>
            <a:ext cx="0" cy="365760"/>
          </a:xfrm>
          <a:prstGeom prst="line">
            <a:avLst/>
          </a:prstGeom>
          <a:noFill/>
          <a:ln w="19050">
            <a:solidFill>
              <a:srgbClr val="BBBCBC"/>
            </a:solidFill>
            <a:prstDash val="solid"/>
            <a:tailEnd type="triangle"/>
          </a:ln>
        </p:spPr>
      </p:sp>
      <p:sp>
        <p:nvSpPr>
          <p:cNvPr id="27" name="Shape 25"/>
          <p:cNvSpPr/>
          <p:nvPr/>
        </p:nvSpPr>
        <p:spPr>
          <a:xfrm>
            <a:off x="548640" y="5321808"/>
            <a:ext cx="420624" cy="420624"/>
          </a:xfrm>
          <a:prstGeom prst="ellipse">
            <a:avLst/>
          </a:prstGeom>
          <a:solidFill>
            <a:srgbClr val="86BC25"/>
          </a:solidFill>
          <a:ln w="12700">
            <a:solidFill>
              <a:srgbClr val="86BC25"/>
            </a:solidFill>
            <a:prstDash val="solid"/>
          </a:ln>
        </p:spPr>
      </p:sp>
      <p:sp>
        <p:nvSpPr>
          <p:cNvPr id="28" name="Text 26"/>
          <p:cNvSpPr txBox="1"/>
          <p:nvPr/>
        </p:nvSpPr>
        <p:spPr>
          <a:xfrm>
            <a:off x="548640" y="532180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29" name="Text 27"/>
          <p:cNvSpPr txBox="1"/>
          <p:nvPr/>
        </p:nvSpPr>
        <p:spPr>
          <a:xfrm>
            <a:off x="1188720" y="5294376"/>
            <a:ext cx="5669280" cy="292608"/>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The finding lands on the CI</a:t>
            </a:r>
            <a:endParaRPr lang="en-US" sz="1400" dirty="0"/>
          </a:p>
        </p:txBody>
      </p:sp>
      <p:sp>
        <p:nvSpPr>
          <p:cNvPr id="30" name="Text 28"/>
          <p:cNvSpPr txBox="1"/>
          <p:nvPr/>
        </p:nvSpPr>
        <p:spPr>
          <a:xfrm>
            <a:off x="1188720" y="5596128"/>
            <a:ext cx="5669280" cy="502920"/>
          </a:xfrm>
          <a:prstGeom prst="rect">
            <a:avLst/>
          </a:prstGeom>
          <a:noFill/>
          <a:ln/>
        </p:spPr>
        <p:txBody>
          <a:bodyPr wrap="square" lIns="0" tIns="0" rIns="0" bIns="0" rtlCol="0" anchor="t"/>
          <a:lstStyle/>
          <a:p>
            <a:pPr indent="0" marL="0">
              <a:buNone/>
            </a:pPr>
            <a:r>
              <a:rPr lang="en-US" sz="1150" dirty="0">
                <a:solidFill>
                  <a:srgbClr val="53565A"/>
                </a:solidFill>
                <a:latin typeface="Arial" pitchFamily="34" charset="0"/>
                <a:ea typeface="Arial" pitchFamily="34" charset="-122"/>
                <a:cs typeface="Arial" pitchFamily="34" charset="-120"/>
              </a:rPr>
              <a:t>Discovered item shows matched or unmatched; Reapply re-runs unmatched items later.</a:t>
            </a:r>
            <a:endParaRPr lang="en-US" sz="1150" dirty="0"/>
          </a:p>
        </p:txBody>
      </p:sp>
      <p:sp>
        <p:nvSpPr>
          <p:cNvPr id="31" name="Shape 29"/>
          <p:cNvSpPr/>
          <p:nvPr/>
        </p:nvSpPr>
        <p:spPr>
          <a:xfrm>
            <a:off x="7086600" y="1874520"/>
            <a:ext cx="4556455" cy="4251960"/>
          </a:xfrm>
          <a:prstGeom prst="rect">
            <a:avLst/>
          </a:prstGeom>
          <a:solidFill>
            <a:srgbClr val="000000"/>
          </a:solidFill>
          <a:ln w="12700">
            <a:solidFill>
              <a:srgbClr val="000000"/>
            </a:solidFill>
            <a:prstDash val="solid"/>
          </a:ln>
        </p:spPr>
      </p:sp>
      <p:sp>
        <p:nvSpPr>
          <p:cNvPr id="32" name="Text 30"/>
          <p:cNvSpPr txBox="1"/>
          <p:nvPr/>
        </p:nvSpPr>
        <p:spPr>
          <a:xfrm>
            <a:off x="7360920" y="2029968"/>
            <a:ext cx="4007815" cy="384048"/>
          </a:xfrm>
          <a:prstGeom prst="rect">
            <a:avLst/>
          </a:prstGeom>
          <a:noFill/>
          <a:ln/>
        </p:spPr>
        <p:txBody>
          <a:bodyPr wrap="square" lIns="0" tIns="0" rIns="0" bIns="0" rtlCol="0" anchor="ctr"/>
          <a:lstStyle/>
          <a:p>
            <a:pPr indent="0" marL="0">
              <a:buNone/>
            </a:pPr>
            <a:r>
              <a:rPr lang="en-US" sz="2000" b="1" dirty="0">
                <a:solidFill>
                  <a:srgbClr val="86BC25"/>
                </a:solidFill>
                <a:latin typeface="Arial" pitchFamily="34" charset="0"/>
                <a:ea typeface="Arial" pitchFamily="34" charset="-122"/>
                <a:cs typeface="Arial" pitchFamily="34" charset="-120"/>
              </a:rPr>
              <a:t>IRE  </a:t>
            </a:r>
            <a:pPr indent="0" marL="0">
              <a:buNone/>
            </a:pPr>
            <a:r>
              <a:rPr lang="en-US" sz="1350" b="1" dirty="0">
                <a:solidFill>
                  <a:srgbClr val="FFFFFF"/>
                </a:solidFill>
                <a:latin typeface="Arial" pitchFamily="34" charset="0"/>
                <a:ea typeface="Arial" pitchFamily="34" charset="-122"/>
                <a:cs typeface="Arial" pitchFamily="34" charset="-120"/>
              </a:rPr>
              <a:t>Identification and Reconciliation Engine</a:t>
            </a:r>
            <a:endParaRPr lang="en-US" sz="1350" dirty="0"/>
          </a:p>
        </p:txBody>
      </p:sp>
      <p:sp>
        <p:nvSpPr>
          <p:cNvPr id="33" name="Text 31"/>
          <p:cNvSpPr txBox="1"/>
          <p:nvPr/>
        </p:nvSpPr>
        <p:spPr>
          <a:xfrm>
            <a:off x="7360920" y="2468880"/>
            <a:ext cx="4007815" cy="320040"/>
          </a:xfrm>
          <a:prstGeom prst="rect">
            <a:avLst/>
          </a:prstGeom>
          <a:noFill/>
          <a:ln/>
        </p:spPr>
        <p:txBody>
          <a:bodyPr wrap="square" lIns="0" tIns="0" rIns="0" bIns="0" rtlCol="0" anchor="t"/>
          <a:lstStyle/>
          <a:p>
            <a:pPr indent="0" marL="0">
              <a:buNone/>
            </a:pPr>
            <a:r>
              <a:rPr lang="en-US" sz="1200" dirty="0">
                <a:solidFill>
                  <a:srgbClr val="BBBCBC"/>
                </a:solidFill>
                <a:latin typeface="Arial" pitchFamily="34" charset="0"/>
                <a:ea typeface="Arial" pitchFamily="34" charset="-122"/>
                <a:cs typeface="Arial" pitchFamily="34" charset="-120"/>
              </a:rPr>
              <a:t>The CMDB's gatekeeper for every source that writes CIs.</a:t>
            </a:r>
            <a:endParaRPr lang="en-US" sz="1200" dirty="0"/>
          </a:p>
        </p:txBody>
      </p:sp>
      <p:sp>
        <p:nvSpPr>
          <p:cNvPr id="34" name="Text 32"/>
          <p:cNvSpPr txBox="1"/>
          <p:nvPr/>
        </p:nvSpPr>
        <p:spPr>
          <a:xfrm>
            <a:off x="7360920" y="2926080"/>
            <a:ext cx="1280160" cy="274320"/>
          </a:xfrm>
          <a:prstGeom prst="rect">
            <a:avLst/>
          </a:prstGeom>
          <a:noFill/>
          <a:ln/>
        </p:spPr>
        <p:txBody>
          <a:bodyPr wrap="square" lIns="0" tIns="0" rIns="0" bIns="0" rtlCol="0" anchor="t"/>
          <a:lstStyle/>
          <a:p>
            <a:pPr indent="0" marL="0">
              <a:buNone/>
            </a:pPr>
            <a:r>
              <a:rPr lang="en-US" sz="1200" b="1" dirty="0">
                <a:solidFill>
                  <a:srgbClr val="86BC25"/>
                </a:solidFill>
                <a:latin typeface="Arial" pitchFamily="34" charset="0"/>
                <a:ea typeface="Arial" pitchFamily="34" charset="-122"/>
                <a:cs typeface="Arial" pitchFamily="34" charset="-120"/>
              </a:rPr>
              <a:t>Identify</a:t>
            </a:r>
            <a:endParaRPr lang="en-US" sz="1200" dirty="0"/>
          </a:p>
        </p:txBody>
      </p:sp>
      <p:sp>
        <p:nvSpPr>
          <p:cNvPr id="35" name="Text 33"/>
          <p:cNvSpPr txBox="1"/>
          <p:nvPr/>
        </p:nvSpPr>
        <p:spPr>
          <a:xfrm>
            <a:off x="8641080" y="2926080"/>
            <a:ext cx="2727655" cy="73152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Identification rules (serial number, name, MAC + IP) decide: existing CI, or a new one.</a:t>
            </a:r>
            <a:endParaRPr lang="en-US" sz="1100" dirty="0"/>
          </a:p>
        </p:txBody>
      </p:sp>
      <p:sp>
        <p:nvSpPr>
          <p:cNvPr id="36" name="Text 34"/>
          <p:cNvSpPr txBox="1"/>
          <p:nvPr/>
        </p:nvSpPr>
        <p:spPr>
          <a:xfrm>
            <a:off x="7360920" y="3694176"/>
            <a:ext cx="1280160" cy="274320"/>
          </a:xfrm>
          <a:prstGeom prst="rect">
            <a:avLst/>
          </a:prstGeom>
          <a:noFill/>
          <a:ln/>
        </p:spPr>
        <p:txBody>
          <a:bodyPr wrap="square" lIns="0" tIns="0" rIns="0" bIns="0" rtlCol="0" anchor="t"/>
          <a:lstStyle/>
          <a:p>
            <a:pPr indent="0" marL="0">
              <a:buNone/>
            </a:pPr>
            <a:r>
              <a:rPr lang="en-US" sz="1200" b="1" dirty="0">
                <a:solidFill>
                  <a:srgbClr val="86BC25"/>
                </a:solidFill>
                <a:latin typeface="Arial" pitchFamily="34" charset="0"/>
                <a:ea typeface="Arial" pitchFamily="34" charset="-122"/>
                <a:cs typeface="Arial" pitchFamily="34" charset="-120"/>
              </a:rPr>
              <a:t>Reconcile</a:t>
            </a:r>
            <a:endParaRPr lang="en-US" sz="1200" dirty="0"/>
          </a:p>
        </p:txBody>
      </p:sp>
      <p:sp>
        <p:nvSpPr>
          <p:cNvPr id="37" name="Text 35"/>
          <p:cNvSpPr txBox="1"/>
          <p:nvPr/>
        </p:nvSpPr>
        <p:spPr>
          <a:xfrm>
            <a:off x="8641080" y="3694176"/>
            <a:ext cx="2727655" cy="73152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Reconciliation rules and data source precedence decide which source may update which field.</a:t>
            </a:r>
            <a:endParaRPr lang="en-US" sz="1100" dirty="0"/>
          </a:p>
        </p:txBody>
      </p:sp>
      <p:sp>
        <p:nvSpPr>
          <p:cNvPr id="38" name="Text 36"/>
          <p:cNvSpPr txBox="1"/>
          <p:nvPr/>
        </p:nvSpPr>
        <p:spPr>
          <a:xfrm>
            <a:off x="7360920" y="4462272"/>
            <a:ext cx="1280160" cy="274320"/>
          </a:xfrm>
          <a:prstGeom prst="rect">
            <a:avLst/>
          </a:prstGeom>
          <a:noFill/>
          <a:ln/>
        </p:spPr>
        <p:txBody>
          <a:bodyPr wrap="square" lIns="0" tIns="0" rIns="0" bIns="0" rtlCol="0" anchor="t"/>
          <a:lstStyle/>
          <a:p>
            <a:pPr indent="0" marL="0">
              <a:buNone/>
            </a:pPr>
            <a:r>
              <a:rPr lang="en-US" sz="1200" b="1" dirty="0">
                <a:solidFill>
                  <a:srgbClr val="86BC25"/>
                </a:solidFill>
                <a:latin typeface="Arial" pitchFamily="34" charset="0"/>
                <a:ea typeface="Arial" pitchFamily="34" charset="-122"/>
                <a:cs typeface="Arial" pitchFamily="34" charset="-120"/>
              </a:rPr>
              <a:t>De-duplicate</a:t>
            </a:r>
            <a:endParaRPr lang="en-US" sz="1200" dirty="0"/>
          </a:p>
        </p:txBody>
      </p:sp>
      <p:sp>
        <p:nvSpPr>
          <p:cNvPr id="39" name="Text 37"/>
          <p:cNvSpPr txBox="1"/>
          <p:nvPr/>
        </p:nvSpPr>
        <p:spPr>
          <a:xfrm>
            <a:off x="8641080" y="4462272"/>
            <a:ext cx="2727655" cy="73152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Duplicates are flagged for clean-up instead of silently multiplying.</a:t>
            </a:r>
            <a:endParaRPr lang="en-US" sz="1100" dirty="0"/>
          </a:p>
        </p:txBody>
      </p:sp>
      <p:sp>
        <p:nvSpPr>
          <p:cNvPr id="40" name="Text 38"/>
          <p:cNvSpPr txBox="1"/>
          <p:nvPr/>
        </p:nvSpPr>
        <p:spPr>
          <a:xfrm>
            <a:off x="7360920" y="5230368"/>
            <a:ext cx="1280160" cy="274320"/>
          </a:xfrm>
          <a:prstGeom prst="rect">
            <a:avLst/>
          </a:prstGeom>
          <a:noFill/>
          <a:ln/>
        </p:spPr>
        <p:txBody>
          <a:bodyPr wrap="square" lIns="0" tIns="0" rIns="0" bIns="0" rtlCol="0" anchor="t"/>
          <a:lstStyle/>
          <a:p>
            <a:pPr indent="0" marL="0">
              <a:buNone/>
            </a:pPr>
            <a:r>
              <a:rPr lang="en-US" sz="1200" b="1" dirty="0">
                <a:solidFill>
                  <a:srgbClr val="86BC25"/>
                </a:solidFill>
                <a:latin typeface="Arial" pitchFamily="34" charset="0"/>
                <a:ea typeface="Arial" pitchFamily="34" charset="-122"/>
                <a:cs typeface="Arial" pitchFamily="34" charset="-120"/>
              </a:rPr>
              <a:t>In VR</a:t>
            </a:r>
            <a:endParaRPr lang="en-US" sz="1200" dirty="0"/>
          </a:p>
        </p:txBody>
      </p:sp>
      <p:sp>
        <p:nvSpPr>
          <p:cNvPr id="41" name="Text 39"/>
          <p:cNvSpPr txBox="1"/>
          <p:nvPr/>
        </p:nvSpPr>
        <p:spPr>
          <a:xfrm>
            <a:off x="8641080" y="5230368"/>
            <a:ext cx="2727655" cy="73152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An unmatched host becomes a placeholder CI (Unclassed Hardware), kept out of reporting by the ignore list. Matching it properly is the lookup rules' job.</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000" b="1" spc="150" kern="0" dirty="0">
                <a:solidFill>
                  <a:srgbClr val="26890D"/>
                </a:solidFill>
                <a:latin typeface="Arial" pitchFamily="34" charset="0"/>
                <a:ea typeface="Arial" pitchFamily="34" charset="-122"/>
                <a:cs typeface="Arial" pitchFamily="34" charset="-120"/>
              </a:rPr>
              <a:t>3 · CORE CONCEPTS</a:t>
            </a:r>
            <a:endParaRPr lang="en-US" sz="10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The words behind every lookup rule</a:t>
            </a:r>
            <a:pPr indent="0" marL="0">
              <a:buNone/>
            </a:pPr>
            <a:r>
              <a:rPr lang="en-US" sz="3000" b="1" dirty="0">
                <a:solidFill>
                  <a:srgbClr val="86BC25"/>
                </a:solidFill>
                <a:latin typeface="Arial" pitchFamily="34" charset="0"/>
                <a:ea typeface="Arial" pitchFamily="34" charset="-122"/>
                <a:cs typeface="Arial" pitchFamily="34" charset="-120"/>
              </a:rPr>
              <a:t>.</a:t>
            </a:r>
            <a:endParaRPr lang="en-US" sz="3000" dirty="0"/>
          </a:p>
        </p:txBody>
      </p:sp>
      <p:sp>
        <p:nvSpPr>
          <p:cNvPr id="4" name="Text 2"/>
          <p:cNvSpPr txBox="1"/>
          <p:nvPr/>
        </p:nvSpPr>
        <p:spPr>
          <a:xfrm>
            <a:off x="548640" y="1243584"/>
            <a:ext cx="11094415" cy="411480"/>
          </a:xfrm>
          <a:prstGeom prst="rect">
            <a:avLst/>
          </a:prstGeom>
          <a:noFill/>
          <a:ln/>
        </p:spPr>
        <p:txBody>
          <a:bodyPr wrap="square" lIns="0" tIns="0" rIns="0" bIns="0" rtlCol="0" anchor="t"/>
          <a:lstStyle/>
          <a:p>
            <a:pPr indent="0" marL="0">
              <a:buNone/>
            </a:pPr>
            <a:r>
              <a:rPr lang="en-US" sz="1400" dirty="0">
                <a:solidFill>
                  <a:srgbClr val="53565A"/>
                </a:solidFill>
                <a:latin typeface="Arial" pitchFamily="34" charset="0"/>
                <a:ea typeface="Arial" pitchFamily="34" charset="-122"/>
                <a:cs typeface="Arial" pitchFamily="34" charset="-120"/>
              </a:rPr>
              <a:t>What each identifier is, and how to reach the real CI behind a load balancer or an adapter.</a:t>
            </a:r>
            <a:endParaRPr lang="en-US" sz="1400" dirty="0"/>
          </a:p>
        </p:txBody>
      </p:sp>
      <p:sp>
        <p:nvSpPr>
          <p:cNvPr id="5" name="Text 3"/>
          <p:cNvSpPr txBox="1"/>
          <p:nvPr/>
        </p:nvSpPr>
        <p:spPr>
          <a:xfrm>
            <a:off x="11185855" y="6473952"/>
            <a:ext cx="457200" cy="228600"/>
          </a:xfrm>
          <a:prstGeom prst="rect">
            <a:avLst/>
          </a:prstGeom>
          <a:noFill/>
          <a:ln/>
        </p:spPr>
        <p:txBody>
          <a:bodyPr wrap="square" lIns="0" tIns="0" rIns="0" bIns="0" rtlCol="0" anchor="t"/>
          <a:lstStyle/>
          <a:p>
            <a:pPr algn="r" indent="0" marL="0">
              <a:buNone/>
            </a:pPr>
            <a:r>
              <a:rPr lang="en-US" sz="900" dirty="0">
                <a:solidFill>
                  <a:srgbClr val="75787B"/>
                </a:solidFill>
                <a:latin typeface="Arial" pitchFamily="34" charset="0"/>
                <a:ea typeface="Arial" pitchFamily="34" charset="-122"/>
                <a:cs typeface="Arial" pitchFamily="34" charset="-120"/>
              </a:rPr>
              <a:t>7</a:t>
            </a:r>
            <a:endParaRPr lang="en-US" sz="900" dirty="0"/>
          </a:p>
        </p:txBody>
      </p:sp>
      <p:sp>
        <p:nvSpPr>
          <p:cNvPr id="6" name="Text 4"/>
          <p:cNvSpPr txBox="1"/>
          <p:nvPr/>
        </p:nvSpPr>
        <p:spPr>
          <a:xfrm>
            <a:off x="548640" y="6473952"/>
            <a:ext cx="2743200" cy="228600"/>
          </a:xfrm>
          <a:prstGeom prst="rect">
            <a:avLst/>
          </a:prstGeom>
          <a:noFill/>
          <a:ln/>
        </p:spPr>
        <p:txBody>
          <a:bodyPr wrap="square" lIns="0" tIns="0" rIns="0" bIns="0" rtlCol="0" anchor="t"/>
          <a:lstStyle/>
          <a:p>
            <a:pPr indent="0" marL="0">
              <a:buNone/>
            </a:pPr>
            <a:r>
              <a:rPr lang="en-US" sz="900" dirty="0">
                <a:solidFill>
                  <a:srgbClr val="75787B"/>
                </a:solidFill>
                <a:latin typeface="Arial" pitchFamily="34" charset="0"/>
                <a:ea typeface="Arial" pitchFamily="34" charset="-122"/>
                <a:cs typeface="Arial" pitchFamily="34" charset="-120"/>
              </a:rPr>
              <a:t>VR field guide</a:t>
            </a:r>
            <a:endParaRPr lang="en-US" sz="900" dirty="0"/>
          </a:p>
        </p:txBody>
      </p:sp>
      <p:sp>
        <p:nvSpPr>
          <p:cNvPr id="7" name="Shape 5"/>
          <p:cNvSpPr/>
          <p:nvPr/>
        </p:nvSpPr>
        <p:spPr>
          <a:xfrm>
            <a:off x="548640" y="1810512"/>
            <a:ext cx="6446520" cy="457200"/>
          </a:xfrm>
          <a:prstGeom prst="rect">
            <a:avLst/>
          </a:prstGeom>
          <a:solidFill>
            <a:srgbClr val="F2F2F2"/>
          </a:solidFill>
          <a:ln w="12700">
            <a:solidFill>
              <a:srgbClr val="F2F2F2"/>
            </a:solidFill>
            <a:prstDash val="solid"/>
          </a:ln>
        </p:spPr>
      </p:sp>
      <p:sp>
        <p:nvSpPr>
          <p:cNvPr id="8" name="Text 6"/>
          <p:cNvSpPr txBox="1"/>
          <p:nvPr/>
        </p:nvSpPr>
        <p:spPr>
          <a:xfrm>
            <a:off x="685800" y="1901952"/>
            <a:ext cx="1645920" cy="274320"/>
          </a:xfrm>
          <a:prstGeom prst="rect">
            <a:avLst/>
          </a:prstGeom>
          <a:noFill/>
          <a:ln/>
        </p:spPr>
        <p:txBody>
          <a:bodyPr wrap="square" lIns="0" tIns="0" rIns="0" bIns="0" rtlCol="0" anchor="t"/>
          <a:lstStyle/>
          <a:p>
            <a:pPr indent="0" marL="0">
              <a:buNone/>
            </a:pPr>
            <a:r>
              <a:rPr lang="en-US" sz="1200" b="1" dirty="0">
                <a:solidFill>
                  <a:srgbClr val="000000"/>
                </a:solidFill>
                <a:latin typeface="Arial" pitchFamily="34" charset="0"/>
                <a:ea typeface="Arial" pitchFamily="34" charset="-122"/>
                <a:cs typeface="Arial" pitchFamily="34" charset="-120"/>
              </a:rPr>
              <a:t>DNS</a:t>
            </a:r>
            <a:endParaRPr lang="en-US" sz="1200" dirty="0"/>
          </a:p>
        </p:txBody>
      </p:sp>
      <p:sp>
        <p:nvSpPr>
          <p:cNvPr id="9" name="Text 7"/>
          <p:cNvSpPr txBox="1"/>
          <p:nvPr/>
        </p:nvSpPr>
        <p:spPr>
          <a:xfrm>
            <a:off x="2377440" y="1901952"/>
            <a:ext cx="4572000" cy="365760"/>
          </a:xfrm>
          <a:prstGeom prst="rect">
            <a:avLst/>
          </a:prstGeom>
          <a:noFill/>
          <a:ln/>
        </p:spPr>
        <p:txBody>
          <a:bodyPr wrap="square" lIns="0" tIns="0" rIns="0" bIns="0" rtlCol="0" anchor="t"/>
          <a:lstStyle/>
          <a:p>
            <a:pPr indent="0" marL="0">
              <a:buNone/>
            </a:pPr>
            <a:r>
              <a:rPr lang="en-US" sz="1100" dirty="0">
                <a:solidFill>
                  <a:srgbClr val="53565A"/>
                </a:solidFill>
                <a:latin typeface="Arial" pitchFamily="34" charset="0"/>
                <a:ea typeface="Arial" pitchFamily="34" charset="-122"/>
                <a:cs typeface="Arial" pitchFamily="34" charset="-120"/>
              </a:rPr>
              <a:t>The network's phone book: turns a name into an IP address, and back.</a:t>
            </a:r>
            <a:endParaRPr lang="en-US" sz="1100" dirty="0"/>
          </a:p>
        </p:txBody>
      </p:sp>
      <p:sp>
        <p:nvSpPr>
          <p:cNvPr id="10" name="Text 8"/>
          <p:cNvSpPr txBox="1"/>
          <p:nvPr/>
        </p:nvSpPr>
        <p:spPr>
          <a:xfrm>
            <a:off x="685800" y="2359152"/>
            <a:ext cx="1645920" cy="274320"/>
          </a:xfrm>
          <a:prstGeom prst="rect">
            <a:avLst/>
          </a:prstGeom>
          <a:noFill/>
          <a:ln/>
        </p:spPr>
        <p:txBody>
          <a:bodyPr wrap="square" lIns="0" tIns="0" rIns="0" bIns="0" rtlCol="0" anchor="t"/>
          <a:lstStyle/>
          <a:p>
            <a:pPr indent="0" marL="0">
              <a:buNone/>
            </a:pPr>
            <a:r>
              <a:rPr lang="en-US" sz="1200" b="1" dirty="0">
                <a:solidFill>
                  <a:srgbClr val="000000"/>
                </a:solidFill>
                <a:latin typeface="Arial" pitchFamily="34" charset="0"/>
                <a:ea typeface="Arial" pitchFamily="34" charset="-122"/>
                <a:cs typeface="Arial" pitchFamily="34" charset="-120"/>
              </a:rPr>
              <a:t>FQDN</a:t>
            </a:r>
            <a:endParaRPr lang="en-US" sz="1200" dirty="0"/>
          </a:p>
        </p:txBody>
      </p:sp>
      <p:sp>
        <p:nvSpPr>
          <p:cNvPr id="11" name="Text 9"/>
          <p:cNvSpPr txBox="1"/>
          <p:nvPr/>
        </p:nvSpPr>
        <p:spPr>
          <a:xfrm>
            <a:off x="2377440" y="2359152"/>
            <a:ext cx="4572000" cy="365760"/>
          </a:xfrm>
          <a:prstGeom prst="rect">
            <a:avLst/>
          </a:prstGeom>
          <a:noFill/>
          <a:ln/>
        </p:spPr>
        <p:txBody>
          <a:bodyPr wrap="square" lIns="0" tIns="0" rIns="0" bIns="0" rtlCol="0" anchor="t"/>
          <a:lstStyle/>
          <a:p>
            <a:pPr indent="0" marL="0">
              <a:buNone/>
            </a:pPr>
            <a:r>
              <a:rPr lang="en-US" sz="1100" dirty="0">
                <a:solidFill>
                  <a:srgbClr val="53565A"/>
                </a:solidFill>
                <a:latin typeface="Arial" pitchFamily="34" charset="0"/>
                <a:ea typeface="Arial" pitchFamily="34" charset="-122"/>
                <a:cs typeface="Arial" pitchFamily="34" charset="-120"/>
              </a:rPr>
              <a:t>Full name with domain: app01.corp.example.com. Unique, so the best name to match on.</a:t>
            </a:r>
            <a:endParaRPr lang="en-US" sz="1100" dirty="0"/>
          </a:p>
        </p:txBody>
      </p:sp>
      <p:sp>
        <p:nvSpPr>
          <p:cNvPr id="12" name="Shape 10"/>
          <p:cNvSpPr/>
          <p:nvPr/>
        </p:nvSpPr>
        <p:spPr>
          <a:xfrm>
            <a:off x="548640" y="2724912"/>
            <a:ext cx="6446520" cy="457200"/>
          </a:xfrm>
          <a:prstGeom prst="rect">
            <a:avLst/>
          </a:prstGeom>
          <a:solidFill>
            <a:srgbClr val="F2F2F2"/>
          </a:solidFill>
          <a:ln w="12700">
            <a:solidFill>
              <a:srgbClr val="F2F2F2"/>
            </a:solidFill>
            <a:prstDash val="solid"/>
          </a:ln>
        </p:spPr>
      </p:sp>
      <p:sp>
        <p:nvSpPr>
          <p:cNvPr id="13" name="Text 11"/>
          <p:cNvSpPr txBox="1"/>
          <p:nvPr/>
        </p:nvSpPr>
        <p:spPr>
          <a:xfrm>
            <a:off x="685800" y="2816352"/>
            <a:ext cx="1645920" cy="274320"/>
          </a:xfrm>
          <a:prstGeom prst="rect">
            <a:avLst/>
          </a:prstGeom>
          <a:noFill/>
          <a:ln/>
        </p:spPr>
        <p:txBody>
          <a:bodyPr wrap="square" lIns="0" tIns="0" rIns="0" bIns="0" rtlCol="0" anchor="t"/>
          <a:lstStyle/>
          <a:p>
            <a:pPr indent="0" marL="0">
              <a:buNone/>
            </a:pPr>
            <a:r>
              <a:rPr lang="en-US" sz="1200" b="1" dirty="0">
                <a:solidFill>
                  <a:srgbClr val="000000"/>
                </a:solidFill>
                <a:latin typeface="Arial" pitchFamily="34" charset="0"/>
                <a:ea typeface="Arial" pitchFamily="34" charset="-122"/>
                <a:cs typeface="Arial" pitchFamily="34" charset="-120"/>
              </a:rPr>
              <a:t>Hostname</a:t>
            </a:r>
            <a:endParaRPr lang="en-US" sz="1200" dirty="0"/>
          </a:p>
        </p:txBody>
      </p:sp>
      <p:sp>
        <p:nvSpPr>
          <p:cNvPr id="14" name="Text 12"/>
          <p:cNvSpPr txBox="1"/>
          <p:nvPr/>
        </p:nvSpPr>
        <p:spPr>
          <a:xfrm>
            <a:off x="2377440" y="2816352"/>
            <a:ext cx="4572000" cy="365760"/>
          </a:xfrm>
          <a:prstGeom prst="rect">
            <a:avLst/>
          </a:prstGeom>
          <a:noFill/>
          <a:ln/>
        </p:spPr>
        <p:txBody>
          <a:bodyPr wrap="square" lIns="0" tIns="0" rIns="0" bIns="0" rtlCol="0" anchor="t"/>
          <a:lstStyle/>
          <a:p>
            <a:pPr indent="0" marL="0">
              <a:buNone/>
            </a:pPr>
            <a:r>
              <a:rPr lang="en-US" sz="1100" dirty="0">
                <a:solidFill>
                  <a:srgbClr val="53565A"/>
                </a:solidFill>
                <a:latin typeface="Arial" pitchFamily="34" charset="0"/>
                <a:ea typeface="Arial" pitchFamily="34" charset="-122"/>
                <a:cs typeface="Arial" pitchFamily="34" charset="-120"/>
              </a:rPr>
              <a:t>The short name: app01. Often repeated across domains.</a:t>
            </a:r>
            <a:endParaRPr lang="en-US" sz="1100" dirty="0"/>
          </a:p>
        </p:txBody>
      </p:sp>
      <p:sp>
        <p:nvSpPr>
          <p:cNvPr id="15" name="Text 13"/>
          <p:cNvSpPr txBox="1"/>
          <p:nvPr/>
        </p:nvSpPr>
        <p:spPr>
          <a:xfrm>
            <a:off x="685800" y="3273552"/>
            <a:ext cx="1645920" cy="274320"/>
          </a:xfrm>
          <a:prstGeom prst="rect">
            <a:avLst/>
          </a:prstGeom>
          <a:noFill/>
          <a:ln/>
        </p:spPr>
        <p:txBody>
          <a:bodyPr wrap="square" lIns="0" tIns="0" rIns="0" bIns="0" rtlCol="0" anchor="t"/>
          <a:lstStyle/>
          <a:p>
            <a:pPr indent="0" marL="0">
              <a:buNone/>
            </a:pPr>
            <a:r>
              <a:rPr lang="en-US" sz="1200" b="1" dirty="0">
                <a:solidFill>
                  <a:srgbClr val="000000"/>
                </a:solidFill>
                <a:latin typeface="Arial" pitchFamily="34" charset="0"/>
                <a:ea typeface="Arial" pitchFamily="34" charset="-122"/>
                <a:cs typeface="Arial" pitchFamily="34" charset="-120"/>
              </a:rPr>
              <a:t>NetBIOS</a:t>
            </a:r>
            <a:endParaRPr lang="en-US" sz="1200" dirty="0"/>
          </a:p>
        </p:txBody>
      </p:sp>
      <p:sp>
        <p:nvSpPr>
          <p:cNvPr id="16" name="Text 14"/>
          <p:cNvSpPr txBox="1"/>
          <p:nvPr/>
        </p:nvSpPr>
        <p:spPr>
          <a:xfrm>
            <a:off x="2377440" y="3273552"/>
            <a:ext cx="4572000" cy="365760"/>
          </a:xfrm>
          <a:prstGeom prst="rect">
            <a:avLst/>
          </a:prstGeom>
          <a:noFill/>
          <a:ln/>
        </p:spPr>
        <p:txBody>
          <a:bodyPr wrap="square" lIns="0" tIns="0" rIns="0" bIns="0" rtlCol="0" anchor="t"/>
          <a:lstStyle/>
          <a:p>
            <a:pPr indent="0" marL="0">
              <a:buNone/>
            </a:pPr>
            <a:r>
              <a:rPr lang="en-US" sz="1100" dirty="0">
                <a:solidFill>
                  <a:srgbClr val="53565A"/>
                </a:solidFill>
                <a:latin typeface="Arial" pitchFamily="34" charset="0"/>
                <a:ea typeface="Arial" pitchFamily="34" charset="-122"/>
                <a:cs typeface="Arial" pitchFamily="34" charset="-120"/>
              </a:rPr>
              <a:t>Windows short name (15 characters at most), from Windows scans.</a:t>
            </a:r>
            <a:endParaRPr lang="en-US" sz="1100" dirty="0"/>
          </a:p>
        </p:txBody>
      </p:sp>
      <p:sp>
        <p:nvSpPr>
          <p:cNvPr id="17" name="Shape 15"/>
          <p:cNvSpPr/>
          <p:nvPr/>
        </p:nvSpPr>
        <p:spPr>
          <a:xfrm>
            <a:off x="548640" y="3639312"/>
            <a:ext cx="6446520" cy="457200"/>
          </a:xfrm>
          <a:prstGeom prst="rect">
            <a:avLst/>
          </a:prstGeom>
          <a:solidFill>
            <a:srgbClr val="F2F2F2"/>
          </a:solidFill>
          <a:ln w="12700">
            <a:solidFill>
              <a:srgbClr val="F2F2F2"/>
            </a:solidFill>
            <a:prstDash val="solid"/>
          </a:ln>
        </p:spPr>
      </p:sp>
      <p:sp>
        <p:nvSpPr>
          <p:cNvPr id="18" name="Text 16"/>
          <p:cNvSpPr txBox="1"/>
          <p:nvPr/>
        </p:nvSpPr>
        <p:spPr>
          <a:xfrm>
            <a:off x="685800" y="3730752"/>
            <a:ext cx="1645920" cy="274320"/>
          </a:xfrm>
          <a:prstGeom prst="rect">
            <a:avLst/>
          </a:prstGeom>
          <a:noFill/>
          <a:ln/>
        </p:spPr>
        <p:txBody>
          <a:bodyPr wrap="square" lIns="0" tIns="0" rIns="0" bIns="0" rtlCol="0" anchor="t"/>
          <a:lstStyle/>
          <a:p>
            <a:pPr indent="0" marL="0">
              <a:buNone/>
            </a:pPr>
            <a:r>
              <a:rPr lang="en-US" sz="1200" b="1" dirty="0">
                <a:solidFill>
                  <a:srgbClr val="000000"/>
                </a:solidFill>
                <a:latin typeface="Arial" pitchFamily="34" charset="0"/>
                <a:ea typeface="Arial" pitchFamily="34" charset="-122"/>
                <a:cs typeface="Arial" pitchFamily="34" charset="-120"/>
              </a:rPr>
              <a:t>IP address</a:t>
            </a:r>
            <a:endParaRPr lang="en-US" sz="1200" dirty="0"/>
          </a:p>
        </p:txBody>
      </p:sp>
      <p:sp>
        <p:nvSpPr>
          <p:cNvPr id="19" name="Text 17"/>
          <p:cNvSpPr txBox="1"/>
          <p:nvPr/>
        </p:nvSpPr>
        <p:spPr>
          <a:xfrm>
            <a:off x="2377440" y="3730752"/>
            <a:ext cx="4572000" cy="365760"/>
          </a:xfrm>
          <a:prstGeom prst="rect">
            <a:avLst/>
          </a:prstGeom>
          <a:noFill/>
          <a:ln/>
        </p:spPr>
        <p:txBody>
          <a:bodyPr wrap="square" lIns="0" tIns="0" rIns="0" bIns="0" rtlCol="0" anchor="t"/>
          <a:lstStyle/>
          <a:p>
            <a:pPr indent="0" marL="0">
              <a:buNone/>
            </a:pPr>
            <a:r>
              <a:rPr lang="en-US" sz="1100" dirty="0">
                <a:solidFill>
                  <a:srgbClr val="53565A"/>
                </a:solidFill>
                <a:latin typeface="Arial" pitchFamily="34" charset="0"/>
                <a:ea typeface="Arial" pitchFamily="34" charset="-122"/>
                <a:cs typeface="Arial" pitchFamily="34" charset="-120"/>
              </a:rPr>
              <a:t>Where a host sits now. It moves (DHCP) and can be shared (virtual IPs).</a:t>
            </a:r>
            <a:endParaRPr lang="en-US" sz="1100" dirty="0"/>
          </a:p>
        </p:txBody>
      </p:sp>
      <p:sp>
        <p:nvSpPr>
          <p:cNvPr id="20" name="Text 18"/>
          <p:cNvSpPr txBox="1"/>
          <p:nvPr/>
        </p:nvSpPr>
        <p:spPr>
          <a:xfrm>
            <a:off x="685800" y="4187952"/>
            <a:ext cx="1645920" cy="274320"/>
          </a:xfrm>
          <a:prstGeom prst="rect">
            <a:avLst/>
          </a:prstGeom>
          <a:noFill/>
          <a:ln/>
        </p:spPr>
        <p:txBody>
          <a:bodyPr wrap="square" lIns="0" tIns="0" rIns="0" bIns="0" rtlCol="0" anchor="t"/>
          <a:lstStyle/>
          <a:p>
            <a:pPr indent="0" marL="0">
              <a:buNone/>
            </a:pPr>
            <a:r>
              <a:rPr lang="en-US" sz="1200" b="1" dirty="0">
                <a:solidFill>
                  <a:srgbClr val="000000"/>
                </a:solidFill>
                <a:latin typeface="Arial" pitchFamily="34" charset="0"/>
                <a:ea typeface="Arial" pitchFamily="34" charset="-122"/>
                <a:cs typeface="Arial" pitchFamily="34" charset="-120"/>
              </a:rPr>
              <a:t>MAC address</a:t>
            </a:r>
            <a:endParaRPr lang="en-US" sz="1200" dirty="0"/>
          </a:p>
        </p:txBody>
      </p:sp>
      <p:sp>
        <p:nvSpPr>
          <p:cNvPr id="21" name="Text 19"/>
          <p:cNvSpPr txBox="1"/>
          <p:nvPr/>
        </p:nvSpPr>
        <p:spPr>
          <a:xfrm>
            <a:off x="2377440" y="4187952"/>
            <a:ext cx="4572000" cy="365760"/>
          </a:xfrm>
          <a:prstGeom prst="rect">
            <a:avLst/>
          </a:prstGeom>
          <a:noFill/>
          <a:ln/>
        </p:spPr>
        <p:txBody>
          <a:bodyPr wrap="square" lIns="0" tIns="0" rIns="0" bIns="0" rtlCol="0" anchor="t"/>
          <a:lstStyle/>
          <a:p>
            <a:pPr indent="0" marL="0">
              <a:buNone/>
            </a:pPr>
            <a:r>
              <a:rPr lang="en-US" sz="1100" dirty="0">
                <a:solidFill>
                  <a:srgbClr val="53565A"/>
                </a:solidFill>
                <a:latin typeface="Arial" pitchFamily="34" charset="0"/>
                <a:ea typeface="Arial" pitchFamily="34" charset="-122"/>
                <a:cs typeface="Arial" pitchFamily="34" charset="-120"/>
              </a:rPr>
              <a:t>Hardware id of a network card; stable for that card.</a:t>
            </a:r>
            <a:endParaRPr lang="en-US" sz="1100" dirty="0"/>
          </a:p>
        </p:txBody>
      </p:sp>
      <p:sp>
        <p:nvSpPr>
          <p:cNvPr id="22" name="Shape 20"/>
          <p:cNvSpPr/>
          <p:nvPr/>
        </p:nvSpPr>
        <p:spPr>
          <a:xfrm>
            <a:off x="548640" y="4553712"/>
            <a:ext cx="6446520" cy="457200"/>
          </a:xfrm>
          <a:prstGeom prst="rect">
            <a:avLst/>
          </a:prstGeom>
          <a:solidFill>
            <a:srgbClr val="F2F2F2"/>
          </a:solidFill>
          <a:ln w="12700">
            <a:solidFill>
              <a:srgbClr val="F2F2F2"/>
            </a:solidFill>
            <a:prstDash val="solid"/>
          </a:ln>
        </p:spPr>
      </p:sp>
      <p:sp>
        <p:nvSpPr>
          <p:cNvPr id="23" name="Text 21"/>
          <p:cNvSpPr txBox="1"/>
          <p:nvPr/>
        </p:nvSpPr>
        <p:spPr>
          <a:xfrm>
            <a:off x="685800" y="4645152"/>
            <a:ext cx="1645920" cy="274320"/>
          </a:xfrm>
          <a:prstGeom prst="rect">
            <a:avLst/>
          </a:prstGeom>
          <a:noFill/>
          <a:ln/>
        </p:spPr>
        <p:txBody>
          <a:bodyPr wrap="square" lIns="0" tIns="0" rIns="0" bIns="0" rtlCol="0" anchor="t"/>
          <a:lstStyle/>
          <a:p>
            <a:pPr indent="0" marL="0">
              <a:buNone/>
            </a:pPr>
            <a:r>
              <a:rPr lang="en-US" sz="1200" b="1" dirty="0">
                <a:solidFill>
                  <a:srgbClr val="000000"/>
                </a:solidFill>
                <a:latin typeface="Arial" pitchFamily="34" charset="0"/>
                <a:ea typeface="Arial" pitchFamily="34" charset="-122"/>
                <a:cs typeface="Arial" pitchFamily="34" charset="-120"/>
              </a:rPr>
              <a:t>Serial number</a:t>
            </a:r>
            <a:endParaRPr lang="en-US" sz="1200" dirty="0"/>
          </a:p>
        </p:txBody>
      </p:sp>
      <p:sp>
        <p:nvSpPr>
          <p:cNvPr id="24" name="Text 22"/>
          <p:cNvSpPr txBox="1"/>
          <p:nvPr/>
        </p:nvSpPr>
        <p:spPr>
          <a:xfrm>
            <a:off x="2377440" y="4645152"/>
            <a:ext cx="4572000" cy="365760"/>
          </a:xfrm>
          <a:prstGeom prst="rect">
            <a:avLst/>
          </a:prstGeom>
          <a:noFill/>
          <a:ln/>
        </p:spPr>
        <p:txBody>
          <a:bodyPr wrap="square" lIns="0" tIns="0" rIns="0" bIns="0" rtlCol="0" anchor="t"/>
          <a:lstStyle/>
          <a:p>
            <a:pPr indent="0" marL="0">
              <a:buNone/>
            </a:pPr>
            <a:r>
              <a:rPr lang="en-US" sz="1100" dirty="0">
                <a:solidFill>
                  <a:srgbClr val="53565A"/>
                </a:solidFill>
                <a:latin typeface="Arial" pitchFamily="34" charset="0"/>
                <a:ea typeface="Arial" pitchFamily="34" charset="-122"/>
                <a:cs typeface="Arial" pitchFamily="34" charset="-120"/>
              </a:rPr>
              <a:t>Vendor hardware id; the strongest identifier when it is not a dummy value.</a:t>
            </a:r>
            <a:endParaRPr lang="en-US" sz="1100" dirty="0"/>
          </a:p>
        </p:txBody>
      </p:sp>
      <p:sp>
        <p:nvSpPr>
          <p:cNvPr id="25" name="Text 23"/>
          <p:cNvSpPr txBox="1"/>
          <p:nvPr/>
        </p:nvSpPr>
        <p:spPr>
          <a:xfrm>
            <a:off x="685800" y="5102352"/>
            <a:ext cx="1645920" cy="274320"/>
          </a:xfrm>
          <a:prstGeom prst="rect">
            <a:avLst/>
          </a:prstGeom>
          <a:noFill/>
          <a:ln/>
        </p:spPr>
        <p:txBody>
          <a:bodyPr wrap="square" lIns="0" tIns="0" rIns="0" bIns="0" rtlCol="0" anchor="t"/>
          <a:lstStyle/>
          <a:p>
            <a:pPr indent="0" marL="0">
              <a:buNone/>
            </a:pPr>
            <a:r>
              <a:rPr lang="en-US" sz="1200" b="1" dirty="0">
                <a:solidFill>
                  <a:srgbClr val="000000"/>
                </a:solidFill>
                <a:latin typeface="Arial" pitchFamily="34" charset="0"/>
                <a:ea typeface="Arial" pitchFamily="34" charset="-122"/>
                <a:cs typeface="Arial" pitchFamily="34" charset="-120"/>
              </a:rPr>
              <a:t>Network adapter</a:t>
            </a:r>
            <a:endParaRPr lang="en-US" sz="1200" dirty="0"/>
          </a:p>
        </p:txBody>
      </p:sp>
      <p:sp>
        <p:nvSpPr>
          <p:cNvPr id="26" name="Text 24"/>
          <p:cNvSpPr txBox="1"/>
          <p:nvPr/>
        </p:nvSpPr>
        <p:spPr>
          <a:xfrm>
            <a:off x="2377440" y="5102352"/>
            <a:ext cx="4572000" cy="365760"/>
          </a:xfrm>
          <a:prstGeom prst="rect">
            <a:avLst/>
          </a:prstGeom>
          <a:noFill/>
          <a:ln/>
        </p:spPr>
        <p:txBody>
          <a:bodyPr wrap="square" lIns="0" tIns="0" rIns="0" bIns="0" rtlCol="0" anchor="t"/>
          <a:lstStyle/>
          <a:p>
            <a:pPr indent="0" marL="0">
              <a:buNone/>
            </a:pPr>
            <a:r>
              <a:rPr lang="en-US" sz="1100" dirty="0">
                <a:solidFill>
                  <a:srgbClr val="53565A"/>
                </a:solidFill>
                <a:latin typeface="Arial" pitchFamily="34" charset="0"/>
                <a:ea typeface="Arial" pitchFamily="34" charset="-122"/>
                <a:cs typeface="Arial" pitchFamily="34" charset="-120"/>
              </a:rPr>
              <a:t>CI for a network card: holds IP and MAC, points to its host CI.</a:t>
            </a:r>
            <a:endParaRPr lang="en-US" sz="1100" dirty="0"/>
          </a:p>
        </p:txBody>
      </p:sp>
      <p:sp>
        <p:nvSpPr>
          <p:cNvPr id="27" name="Shape 25"/>
          <p:cNvSpPr/>
          <p:nvPr/>
        </p:nvSpPr>
        <p:spPr>
          <a:xfrm>
            <a:off x="548640" y="5468112"/>
            <a:ext cx="6446520" cy="457200"/>
          </a:xfrm>
          <a:prstGeom prst="rect">
            <a:avLst/>
          </a:prstGeom>
          <a:solidFill>
            <a:srgbClr val="F2F2F2"/>
          </a:solidFill>
          <a:ln w="12700">
            <a:solidFill>
              <a:srgbClr val="F2F2F2"/>
            </a:solidFill>
            <a:prstDash val="solid"/>
          </a:ln>
        </p:spPr>
      </p:sp>
      <p:sp>
        <p:nvSpPr>
          <p:cNvPr id="28" name="Text 26"/>
          <p:cNvSpPr txBox="1"/>
          <p:nvPr/>
        </p:nvSpPr>
        <p:spPr>
          <a:xfrm>
            <a:off x="685800" y="5559552"/>
            <a:ext cx="1645920" cy="274320"/>
          </a:xfrm>
          <a:prstGeom prst="rect">
            <a:avLst/>
          </a:prstGeom>
          <a:noFill/>
          <a:ln/>
        </p:spPr>
        <p:txBody>
          <a:bodyPr wrap="square" lIns="0" tIns="0" rIns="0" bIns="0" rtlCol="0" anchor="t"/>
          <a:lstStyle/>
          <a:p>
            <a:pPr indent="0" marL="0">
              <a:buNone/>
            </a:pPr>
            <a:r>
              <a:rPr lang="en-US" sz="1200" b="1" dirty="0">
                <a:solidFill>
                  <a:srgbClr val="000000"/>
                </a:solidFill>
                <a:latin typeface="Arial" pitchFamily="34" charset="0"/>
                <a:ea typeface="Arial" pitchFamily="34" charset="-122"/>
                <a:cs typeface="Arial" pitchFamily="34" charset="-120"/>
              </a:rPr>
              <a:t>Load balancer, VIP</a:t>
            </a:r>
            <a:endParaRPr lang="en-US" sz="1200" dirty="0"/>
          </a:p>
        </p:txBody>
      </p:sp>
      <p:sp>
        <p:nvSpPr>
          <p:cNvPr id="29" name="Text 27"/>
          <p:cNvSpPr txBox="1"/>
          <p:nvPr/>
        </p:nvSpPr>
        <p:spPr>
          <a:xfrm>
            <a:off x="2377440" y="5559552"/>
            <a:ext cx="4572000" cy="365760"/>
          </a:xfrm>
          <a:prstGeom prst="rect">
            <a:avLst/>
          </a:prstGeom>
          <a:noFill/>
          <a:ln/>
        </p:spPr>
        <p:txBody>
          <a:bodyPr wrap="square" lIns="0" tIns="0" rIns="0" bIns="0" rtlCol="0" anchor="t"/>
          <a:lstStyle/>
          <a:p>
            <a:pPr indent="0" marL="0">
              <a:buNone/>
            </a:pPr>
            <a:r>
              <a:rPr lang="en-US" sz="1100" dirty="0">
                <a:solidFill>
                  <a:srgbClr val="53565A"/>
                </a:solidFill>
                <a:latin typeface="Arial" pitchFamily="34" charset="0"/>
                <a:ea typeface="Arial" pitchFamily="34" charset="-122"/>
                <a:cs typeface="Arial" pitchFamily="34" charset="-120"/>
              </a:rPr>
              <a:t>A device spreading traffic across servers; the VIP is the one address users call.</a:t>
            </a:r>
            <a:endParaRPr lang="en-US" sz="1100" dirty="0"/>
          </a:p>
        </p:txBody>
      </p:sp>
      <p:sp>
        <p:nvSpPr>
          <p:cNvPr id="30" name="Text 28"/>
          <p:cNvSpPr txBox="1"/>
          <p:nvPr/>
        </p:nvSpPr>
        <p:spPr>
          <a:xfrm>
            <a:off x="7452360" y="1847088"/>
            <a:ext cx="4190695" cy="274320"/>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Behind a load balancer</a:t>
            </a:r>
            <a:endParaRPr lang="en-US" sz="1300" dirty="0"/>
          </a:p>
        </p:txBody>
      </p:sp>
      <p:sp>
        <p:nvSpPr>
          <p:cNvPr id="31" name="Shape 29"/>
          <p:cNvSpPr/>
          <p:nvPr/>
        </p:nvSpPr>
        <p:spPr>
          <a:xfrm>
            <a:off x="7452360" y="2231136"/>
            <a:ext cx="841934" cy="658368"/>
          </a:xfrm>
          <a:prstGeom prst="rect">
            <a:avLst/>
          </a:prstGeom>
          <a:solidFill>
            <a:srgbClr val="F2F2F2"/>
          </a:solidFill>
          <a:ln w="12700">
            <a:solidFill>
              <a:srgbClr val="F2F2F2"/>
            </a:solidFill>
            <a:prstDash val="solid"/>
          </a:ln>
        </p:spPr>
      </p:sp>
      <p:sp>
        <p:nvSpPr>
          <p:cNvPr id="32" name="Text 30"/>
          <p:cNvSpPr txBox="1"/>
          <p:nvPr/>
        </p:nvSpPr>
        <p:spPr>
          <a:xfrm>
            <a:off x="7507224" y="2231136"/>
            <a:ext cx="732206" cy="658368"/>
          </a:xfrm>
          <a:prstGeom prst="rect">
            <a:avLst/>
          </a:prstGeom>
          <a:noFill/>
          <a:ln/>
        </p:spPr>
        <p:txBody>
          <a:bodyPr wrap="square" lIns="0" tIns="0" rIns="0" bIns="0" rtlCol="0" anchor="ctr"/>
          <a:lstStyle/>
          <a:p>
            <a:pPr algn="ctr" indent="0" marL="0">
              <a:buNone/>
            </a:pPr>
            <a:r>
              <a:rPr lang="en-US" sz="950" b="1" dirty="0">
                <a:solidFill>
                  <a:srgbClr val="000000"/>
                </a:solidFill>
                <a:latin typeface="Arial" pitchFamily="34" charset="0"/>
                <a:ea typeface="Arial" pitchFamily="34" charset="-122"/>
                <a:cs typeface="Arial" pitchFamily="34" charset="-120"/>
              </a:rPr>
              <a:t>VIP</a:t>
            </a:r>
            <a:endParaRPr lang="en-US" sz="950" dirty="0"/>
          </a:p>
          <a:p>
            <a:pPr algn="ctr" indent="0" marL="0">
              <a:buNone/>
            </a:pPr>
            <a:r>
              <a:rPr lang="en-US" sz="950" b="1" dirty="0">
                <a:solidFill>
                  <a:srgbClr val="000000"/>
                </a:solidFill>
                <a:latin typeface="Arial" pitchFamily="34" charset="0"/>
                <a:ea typeface="Arial" pitchFamily="34" charset="-122"/>
                <a:cs typeface="Arial" pitchFamily="34" charset="-120"/>
              </a:rPr>
              <a:t>(LB service)</a:t>
            </a:r>
            <a:endParaRPr lang="en-US" sz="950" dirty="0"/>
          </a:p>
        </p:txBody>
      </p:sp>
      <p:sp>
        <p:nvSpPr>
          <p:cNvPr id="33" name="Shape 31"/>
          <p:cNvSpPr/>
          <p:nvPr/>
        </p:nvSpPr>
        <p:spPr>
          <a:xfrm>
            <a:off x="8312582" y="2560320"/>
            <a:ext cx="237744" cy="0"/>
          </a:xfrm>
          <a:prstGeom prst="line">
            <a:avLst/>
          </a:prstGeom>
          <a:noFill/>
          <a:ln w="19050">
            <a:solidFill>
              <a:srgbClr val="BBBCBC"/>
            </a:solidFill>
            <a:prstDash val="solid"/>
            <a:tailEnd type="triangle"/>
          </a:ln>
        </p:spPr>
      </p:sp>
      <p:sp>
        <p:nvSpPr>
          <p:cNvPr id="34" name="Shape 32"/>
          <p:cNvSpPr/>
          <p:nvPr/>
        </p:nvSpPr>
        <p:spPr>
          <a:xfrm>
            <a:off x="8568614" y="2231136"/>
            <a:ext cx="841934" cy="658368"/>
          </a:xfrm>
          <a:prstGeom prst="rect">
            <a:avLst/>
          </a:prstGeom>
          <a:solidFill>
            <a:srgbClr val="F2F2F2"/>
          </a:solidFill>
          <a:ln w="12700">
            <a:solidFill>
              <a:srgbClr val="F2F2F2"/>
            </a:solidFill>
            <a:prstDash val="solid"/>
          </a:ln>
        </p:spPr>
      </p:sp>
      <p:sp>
        <p:nvSpPr>
          <p:cNvPr id="35" name="Text 33"/>
          <p:cNvSpPr txBox="1"/>
          <p:nvPr/>
        </p:nvSpPr>
        <p:spPr>
          <a:xfrm>
            <a:off x="8623478" y="2231136"/>
            <a:ext cx="732206" cy="658368"/>
          </a:xfrm>
          <a:prstGeom prst="rect">
            <a:avLst/>
          </a:prstGeom>
          <a:noFill/>
          <a:ln/>
        </p:spPr>
        <p:txBody>
          <a:bodyPr wrap="square" lIns="0" tIns="0" rIns="0" bIns="0" rtlCol="0" anchor="ctr"/>
          <a:lstStyle/>
          <a:p>
            <a:pPr algn="ctr" indent="0" marL="0">
              <a:buNone/>
            </a:pPr>
            <a:r>
              <a:rPr lang="en-US" sz="950" b="1" dirty="0">
                <a:solidFill>
                  <a:srgbClr val="000000"/>
                </a:solidFill>
                <a:latin typeface="Arial" pitchFamily="34" charset="0"/>
                <a:ea typeface="Arial" pitchFamily="34" charset="-122"/>
                <a:cs typeface="Arial" pitchFamily="34" charset="-120"/>
              </a:rPr>
              <a:t>Pool</a:t>
            </a:r>
            <a:endParaRPr lang="en-US" sz="950" dirty="0"/>
          </a:p>
        </p:txBody>
      </p:sp>
      <p:sp>
        <p:nvSpPr>
          <p:cNvPr id="36" name="Shape 34"/>
          <p:cNvSpPr/>
          <p:nvPr/>
        </p:nvSpPr>
        <p:spPr>
          <a:xfrm>
            <a:off x="9428836" y="2560320"/>
            <a:ext cx="237744" cy="0"/>
          </a:xfrm>
          <a:prstGeom prst="line">
            <a:avLst/>
          </a:prstGeom>
          <a:noFill/>
          <a:ln w="19050">
            <a:solidFill>
              <a:srgbClr val="BBBCBC"/>
            </a:solidFill>
            <a:prstDash val="solid"/>
            <a:tailEnd type="triangle"/>
          </a:ln>
        </p:spPr>
      </p:sp>
      <p:sp>
        <p:nvSpPr>
          <p:cNvPr id="37" name="Shape 35"/>
          <p:cNvSpPr/>
          <p:nvPr/>
        </p:nvSpPr>
        <p:spPr>
          <a:xfrm>
            <a:off x="9684868" y="2231136"/>
            <a:ext cx="841934" cy="658368"/>
          </a:xfrm>
          <a:prstGeom prst="rect">
            <a:avLst/>
          </a:prstGeom>
          <a:solidFill>
            <a:srgbClr val="F2F2F2"/>
          </a:solidFill>
          <a:ln w="12700">
            <a:solidFill>
              <a:srgbClr val="F2F2F2"/>
            </a:solidFill>
            <a:prstDash val="solid"/>
          </a:ln>
        </p:spPr>
      </p:sp>
      <p:sp>
        <p:nvSpPr>
          <p:cNvPr id="38" name="Text 36"/>
          <p:cNvSpPr txBox="1"/>
          <p:nvPr/>
        </p:nvSpPr>
        <p:spPr>
          <a:xfrm>
            <a:off x="9739732" y="2231136"/>
            <a:ext cx="732206" cy="658368"/>
          </a:xfrm>
          <a:prstGeom prst="rect">
            <a:avLst/>
          </a:prstGeom>
          <a:noFill/>
          <a:ln/>
        </p:spPr>
        <p:txBody>
          <a:bodyPr wrap="square" lIns="0" tIns="0" rIns="0" bIns="0" rtlCol="0" anchor="ctr"/>
          <a:lstStyle/>
          <a:p>
            <a:pPr algn="ctr" indent="0" marL="0">
              <a:buNone/>
            </a:pPr>
            <a:r>
              <a:rPr lang="en-US" sz="950" b="1" dirty="0">
                <a:solidFill>
                  <a:srgbClr val="000000"/>
                </a:solidFill>
                <a:latin typeface="Arial" pitchFamily="34" charset="0"/>
                <a:ea typeface="Arial" pitchFamily="34" charset="-122"/>
                <a:cs typeface="Arial" pitchFamily="34" charset="-120"/>
              </a:rPr>
              <a:t>Pool member</a:t>
            </a:r>
            <a:endParaRPr lang="en-US" sz="950" dirty="0"/>
          </a:p>
        </p:txBody>
      </p:sp>
      <p:sp>
        <p:nvSpPr>
          <p:cNvPr id="39" name="Shape 37"/>
          <p:cNvSpPr/>
          <p:nvPr/>
        </p:nvSpPr>
        <p:spPr>
          <a:xfrm>
            <a:off x="10545089" y="2560320"/>
            <a:ext cx="237744" cy="0"/>
          </a:xfrm>
          <a:prstGeom prst="line">
            <a:avLst/>
          </a:prstGeom>
          <a:noFill/>
          <a:ln w="19050">
            <a:solidFill>
              <a:srgbClr val="BBBCBC"/>
            </a:solidFill>
            <a:prstDash val="solid"/>
            <a:tailEnd type="triangle"/>
          </a:ln>
        </p:spPr>
      </p:sp>
      <p:sp>
        <p:nvSpPr>
          <p:cNvPr id="40" name="Shape 38"/>
          <p:cNvSpPr/>
          <p:nvPr/>
        </p:nvSpPr>
        <p:spPr>
          <a:xfrm>
            <a:off x="10801121" y="2231136"/>
            <a:ext cx="841934" cy="658368"/>
          </a:xfrm>
          <a:prstGeom prst="rect">
            <a:avLst/>
          </a:prstGeom>
          <a:solidFill>
            <a:srgbClr val="E8F2D5"/>
          </a:solidFill>
          <a:ln w="12700">
            <a:solidFill>
              <a:srgbClr val="E8F2D5"/>
            </a:solidFill>
            <a:prstDash val="solid"/>
          </a:ln>
        </p:spPr>
      </p:sp>
      <p:sp>
        <p:nvSpPr>
          <p:cNvPr id="41" name="Text 39"/>
          <p:cNvSpPr txBox="1"/>
          <p:nvPr/>
        </p:nvSpPr>
        <p:spPr>
          <a:xfrm>
            <a:off x="10855985" y="2231136"/>
            <a:ext cx="732206" cy="658368"/>
          </a:xfrm>
          <a:prstGeom prst="rect">
            <a:avLst/>
          </a:prstGeom>
          <a:noFill/>
          <a:ln/>
        </p:spPr>
        <p:txBody>
          <a:bodyPr wrap="square" lIns="0" tIns="0" rIns="0" bIns="0" rtlCol="0" anchor="ctr"/>
          <a:lstStyle/>
          <a:p>
            <a:pPr algn="ctr" indent="0" marL="0">
              <a:buNone/>
            </a:pPr>
            <a:r>
              <a:rPr lang="en-US" sz="950" b="1" dirty="0">
                <a:solidFill>
                  <a:srgbClr val="000000"/>
                </a:solidFill>
                <a:latin typeface="Arial" pitchFamily="34" charset="0"/>
                <a:ea typeface="Arial" pitchFamily="34" charset="-122"/>
                <a:cs typeface="Arial" pitchFamily="34" charset="-120"/>
              </a:rPr>
              <a:t>Server</a:t>
            </a:r>
            <a:endParaRPr lang="en-US" sz="950" dirty="0"/>
          </a:p>
        </p:txBody>
      </p:sp>
      <p:sp>
        <p:nvSpPr>
          <p:cNvPr id="42" name="Text 40"/>
          <p:cNvSpPr txBox="1"/>
          <p:nvPr/>
        </p:nvSpPr>
        <p:spPr>
          <a:xfrm>
            <a:off x="7452360" y="2962656"/>
            <a:ext cx="4190695" cy="566928"/>
          </a:xfrm>
          <a:prstGeom prst="rect">
            <a:avLst/>
          </a:prstGeom>
          <a:noFill/>
          <a:ln/>
        </p:spPr>
        <p:txBody>
          <a:bodyPr wrap="square" lIns="0" tIns="0" rIns="0" bIns="0" rtlCol="0" anchor="t"/>
          <a:lstStyle/>
          <a:p>
            <a:pPr indent="0" marL="0">
              <a:buNone/>
            </a:pPr>
            <a:r>
              <a:rPr lang="en-US" sz="1050" dirty="0">
                <a:solidFill>
                  <a:srgbClr val="53565A"/>
                </a:solidFill>
                <a:latin typeface="Arial" pitchFamily="34" charset="0"/>
                <a:ea typeface="Arial" pitchFamily="34" charset="-122"/>
                <a:cs typeface="Arial" pitchFamily="34" charset="-120"/>
              </a:rPr>
              <a:t>Exactly one server behind the VIP: the finding goes to that server. Several: it stays on the VIP record.</a:t>
            </a:r>
            <a:endParaRPr lang="en-US" sz="1050" dirty="0"/>
          </a:p>
        </p:txBody>
      </p:sp>
      <p:sp>
        <p:nvSpPr>
          <p:cNvPr id="43" name="Text 41"/>
          <p:cNvSpPr txBox="1"/>
          <p:nvPr/>
        </p:nvSpPr>
        <p:spPr>
          <a:xfrm>
            <a:off x="7452360" y="3703320"/>
            <a:ext cx="4190695" cy="274320"/>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Behind an address</a:t>
            </a:r>
            <a:endParaRPr lang="en-US" sz="1300" dirty="0"/>
          </a:p>
        </p:txBody>
      </p:sp>
      <p:sp>
        <p:nvSpPr>
          <p:cNvPr id="44" name="Shape 42"/>
          <p:cNvSpPr/>
          <p:nvPr/>
        </p:nvSpPr>
        <p:spPr>
          <a:xfrm>
            <a:off x="7452360" y="4087368"/>
            <a:ext cx="1214018" cy="658368"/>
          </a:xfrm>
          <a:prstGeom prst="rect">
            <a:avLst/>
          </a:prstGeom>
          <a:solidFill>
            <a:srgbClr val="F2F2F2"/>
          </a:solidFill>
          <a:ln w="12700">
            <a:solidFill>
              <a:srgbClr val="F2F2F2"/>
            </a:solidFill>
            <a:prstDash val="solid"/>
          </a:ln>
        </p:spPr>
      </p:sp>
      <p:sp>
        <p:nvSpPr>
          <p:cNvPr id="45" name="Text 43"/>
          <p:cNvSpPr txBox="1"/>
          <p:nvPr/>
        </p:nvSpPr>
        <p:spPr>
          <a:xfrm>
            <a:off x="7507224" y="4087368"/>
            <a:ext cx="1104290" cy="658368"/>
          </a:xfrm>
          <a:prstGeom prst="rect">
            <a:avLst/>
          </a:prstGeom>
          <a:noFill/>
          <a:ln/>
        </p:spPr>
        <p:txBody>
          <a:bodyPr wrap="square" lIns="0" tIns="0" rIns="0" bIns="0" rtlCol="0" anchor="ctr"/>
          <a:lstStyle/>
          <a:p>
            <a:pPr algn="ctr" indent="0" marL="0">
              <a:buNone/>
            </a:pPr>
            <a:r>
              <a:rPr lang="en-US" sz="950" b="1" dirty="0">
                <a:solidFill>
                  <a:srgbClr val="000000"/>
                </a:solidFill>
                <a:latin typeface="Arial" pitchFamily="34" charset="0"/>
                <a:ea typeface="Arial" pitchFamily="34" charset="-122"/>
                <a:cs typeface="Arial" pitchFamily="34" charset="-120"/>
              </a:rPr>
              <a:t>IP address record</a:t>
            </a:r>
            <a:endParaRPr lang="en-US" sz="950" dirty="0"/>
          </a:p>
        </p:txBody>
      </p:sp>
      <p:sp>
        <p:nvSpPr>
          <p:cNvPr id="46" name="Shape 44"/>
          <p:cNvSpPr/>
          <p:nvPr/>
        </p:nvSpPr>
        <p:spPr>
          <a:xfrm>
            <a:off x="8684666" y="4416552"/>
            <a:ext cx="237744" cy="0"/>
          </a:xfrm>
          <a:prstGeom prst="line">
            <a:avLst/>
          </a:prstGeom>
          <a:noFill/>
          <a:ln w="19050">
            <a:solidFill>
              <a:srgbClr val="BBBCBC"/>
            </a:solidFill>
            <a:prstDash val="solid"/>
            <a:tailEnd type="triangle"/>
          </a:ln>
        </p:spPr>
      </p:sp>
      <p:sp>
        <p:nvSpPr>
          <p:cNvPr id="47" name="Shape 45"/>
          <p:cNvSpPr/>
          <p:nvPr/>
        </p:nvSpPr>
        <p:spPr>
          <a:xfrm>
            <a:off x="8940698" y="4087368"/>
            <a:ext cx="1214018" cy="658368"/>
          </a:xfrm>
          <a:prstGeom prst="rect">
            <a:avLst/>
          </a:prstGeom>
          <a:solidFill>
            <a:srgbClr val="F2F2F2"/>
          </a:solidFill>
          <a:ln w="12700">
            <a:solidFill>
              <a:srgbClr val="F2F2F2"/>
            </a:solidFill>
            <a:prstDash val="solid"/>
          </a:ln>
        </p:spPr>
      </p:sp>
      <p:sp>
        <p:nvSpPr>
          <p:cNvPr id="48" name="Text 46"/>
          <p:cNvSpPr txBox="1"/>
          <p:nvPr/>
        </p:nvSpPr>
        <p:spPr>
          <a:xfrm>
            <a:off x="8995562" y="4087368"/>
            <a:ext cx="1104290" cy="658368"/>
          </a:xfrm>
          <a:prstGeom prst="rect">
            <a:avLst/>
          </a:prstGeom>
          <a:noFill/>
          <a:ln/>
        </p:spPr>
        <p:txBody>
          <a:bodyPr wrap="square" lIns="0" tIns="0" rIns="0" bIns="0" rtlCol="0" anchor="ctr"/>
          <a:lstStyle/>
          <a:p>
            <a:pPr algn="ctr" indent="0" marL="0">
              <a:buNone/>
            </a:pPr>
            <a:r>
              <a:rPr lang="en-US" sz="950" b="1" dirty="0">
                <a:solidFill>
                  <a:srgbClr val="000000"/>
                </a:solidFill>
                <a:latin typeface="Arial" pitchFamily="34" charset="0"/>
                <a:ea typeface="Arial" pitchFamily="34" charset="-122"/>
                <a:cs typeface="Arial" pitchFamily="34" charset="-120"/>
              </a:rPr>
              <a:t>Network adapter</a:t>
            </a:r>
            <a:endParaRPr lang="en-US" sz="950" dirty="0"/>
          </a:p>
        </p:txBody>
      </p:sp>
      <p:sp>
        <p:nvSpPr>
          <p:cNvPr id="49" name="Shape 47"/>
          <p:cNvSpPr/>
          <p:nvPr/>
        </p:nvSpPr>
        <p:spPr>
          <a:xfrm>
            <a:off x="10173005" y="4416552"/>
            <a:ext cx="237744" cy="0"/>
          </a:xfrm>
          <a:prstGeom prst="line">
            <a:avLst/>
          </a:prstGeom>
          <a:noFill/>
          <a:ln w="19050">
            <a:solidFill>
              <a:srgbClr val="BBBCBC"/>
            </a:solidFill>
            <a:prstDash val="solid"/>
            <a:tailEnd type="triangle"/>
          </a:ln>
        </p:spPr>
      </p:sp>
      <p:sp>
        <p:nvSpPr>
          <p:cNvPr id="50" name="Shape 48"/>
          <p:cNvSpPr/>
          <p:nvPr/>
        </p:nvSpPr>
        <p:spPr>
          <a:xfrm>
            <a:off x="10429037" y="4087368"/>
            <a:ext cx="1214018" cy="658368"/>
          </a:xfrm>
          <a:prstGeom prst="rect">
            <a:avLst/>
          </a:prstGeom>
          <a:solidFill>
            <a:srgbClr val="E8F2D5"/>
          </a:solidFill>
          <a:ln w="12700">
            <a:solidFill>
              <a:srgbClr val="E8F2D5"/>
            </a:solidFill>
            <a:prstDash val="solid"/>
          </a:ln>
        </p:spPr>
      </p:sp>
      <p:sp>
        <p:nvSpPr>
          <p:cNvPr id="51" name="Text 49"/>
          <p:cNvSpPr txBox="1"/>
          <p:nvPr/>
        </p:nvSpPr>
        <p:spPr>
          <a:xfrm>
            <a:off x="10483901" y="4087368"/>
            <a:ext cx="1104290" cy="658368"/>
          </a:xfrm>
          <a:prstGeom prst="rect">
            <a:avLst/>
          </a:prstGeom>
          <a:noFill/>
          <a:ln/>
        </p:spPr>
        <p:txBody>
          <a:bodyPr wrap="square" lIns="0" tIns="0" rIns="0" bIns="0" rtlCol="0" anchor="ctr"/>
          <a:lstStyle/>
          <a:p>
            <a:pPr algn="ctr" indent="0" marL="0">
              <a:buNone/>
            </a:pPr>
            <a:r>
              <a:rPr lang="en-US" sz="950" b="1" dirty="0">
                <a:solidFill>
                  <a:srgbClr val="000000"/>
                </a:solidFill>
                <a:latin typeface="Arial" pitchFamily="34" charset="0"/>
                <a:ea typeface="Arial" pitchFamily="34" charset="-122"/>
                <a:cs typeface="Arial" pitchFamily="34" charset="-120"/>
              </a:rPr>
              <a:t>Host CI</a:t>
            </a:r>
            <a:endParaRPr lang="en-US" sz="950" dirty="0"/>
          </a:p>
        </p:txBody>
      </p:sp>
      <p:sp>
        <p:nvSpPr>
          <p:cNvPr id="52" name="Text 50"/>
          <p:cNvSpPr txBox="1"/>
          <p:nvPr/>
        </p:nvSpPr>
        <p:spPr>
          <a:xfrm>
            <a:off x="7452360" y="4818888"/>
            <a:ext cx="4190695" cy="566928"/>
          </a:xfrm>
          <a:prstGeom prst="rect">
            <a:avLst/>
          </a:prstGeom>
          <a:noFill/>
          <a:ln/>
        </p:spPr>
        <p:txBody>
          <a:bodyPr wrap="square" lIns="0" tIns="0" rIns="0" bIns="0" rtlCol="0" anchor="t"/>
          <a:lstStyle/>
          <a:p>
            <a:pPr indent="0" marL="0">
              <a:buNone/>
            </a:pPr>
            <a:r>
              <a:rPr lang="en-US" sz="1050" dirty="0">
                <a:solidFill>
                  <a:srgbClr val="53565A"/>
                </a:solidFill>
                <a:latin typeface="Arial" pitchFamily="34" charset="0"/>
                <a:ea typeface="Arial" pitchFamily="34" charset="-122"/>
                <a:cs typeface="Arial" pitchFamily="34" charset="-120"/>
              </a:rPr>
              <a:t>The address alone is weak: accept the host only if its class agrees with the scanned OS and its name with the scan.</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000" b="1" spc="150" kern="0" dirty="0">
                <a:solidFill>
                  <a:srgbClr val="26890D"/>
                </a:solidFill>
                <a:latin typeface="Arial" pitchFamily="34" charset="0"/>
                <a:ea typeface="Arial" pitchFamily="34" charset="-122"/>
                <a:cs typeface="Arial" pitchFamily="34" charset="-120"/>
              </a:rPr>
              <a:t>3 · CORE CONCEPTS</a:t>
            </a:r>
            <a:endParaRPr lang="en-US" sz="10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The lookup rules that matter</a:t>
            </a:r>
            <a:pPr indent="0" marL="0">
              <a:buNone/>
            </a:pPr>
            <a:r>
              <a:rPr lang="en-US" sz="3000" b="1" dirty="0">
                <a:solidFill>
                  <a:srgbClr val="86BC25"/>
                </a:solidFill>
                <a:latin typeface="Arial" pitchFamily="34" charset="0"/>
                <a:ea typeface="Arial" pitchFamily="34" charset="-122"/>
                <a:cs typeface="Arial" pitchFamily="34" charset="-120"/>
              </a:rPr>
              <a:t>.</a:t>
            </a:r>
            <a:endParaRPr lang="en-US" sz="3000" dirty="0"/>
          </a:p>
        </p:txBody>
      </p:sp>
      <p:sp>
        <p:nvSpPr>
          <p:cNvPr id="4" name="Text 2"/>
          <p:cNvSpPr txBox="1"/>
          <p:nvPr/>
        </p:nvSpPr>
        <p:spPr>
          <a:xfrm>
            <a:off x="548640" y="1243584"/>
            <a:ext cx="11094415" cy="411480"/>
          </a:xfrm>
          <a:prstGeom prst="rect">
            <a:avLst/>
          </a:prstGeom>
          <a:noFill/>
          <a:ln/>
        </p:spPr>
        <p:txBody>
          <a:bodyPr wrap="square" lIns="0" tIns="0" rIns="0" bIns="0" rtlCol="0" anchor="t"/>
          <a:lstStyle/>
          <a:p>
            <a:pPr indent="0" marL="0">
              <a:buNone/>
            </a:pPr>
            <a:r>
              <a:rPr lang="en-US" sz="1400" dirty="0">
                <a:solidFill>
                  <a:srgbClr val="53565A"/>
                </a:solidFill>
                <a:latin typeface="Arial" pitchFamily="34" charset="0"/>
                <a:ea typeface="Arial" pitchFamily="34" charset="-122"/>
                <a:cs typeface="Arial" pitchFamily="34" charset="-120"/>
              </a:rPr>
              <a:t>Our Qualys chain: 22 custom rules in front of 5 out-of-box ones, strongest identifier first.</a:t>
            </a:r>
            <a:endParaRPr lang="en-US" sz="1400" dirty="0"/>
          </a:p>
        </p:txBody>
      </p:sp>
      <p:sp>
        <p:nvSpPr>
          <p:cNvPr id="5" name="Text 3"/>
          <p:cNvSpPr txBox="1"/>
          <p:nvPr/>
        </p:nvSpPr>
        <p:spPr>
          <a:xfrm>
            <a:off x="11185855" y="6473952"/>
            <a:ext cx="457200" cy="228600"/>
          </a:xfrm>
          <a:prstGeom prst="rect">
            <a:avLst/>
          </a:prstGeom>
          <a:noFill/>
          <a:ln/>
        </p:spPr>
        <p:txBody>
          <a:bodyPr wrap="square" lIns="0" tIns="0" rIns="0" bIns="0" rtlCol="0" anchor="t"/>
          <a:lstStyle/>
          <a:p>
            <a:pPr algn="r" indent="0" marL="0">
              <a:buNone/>
            </a:pPr>
            <a:r>
              <a:rPr lang="en-US" sz="900" dirty="0">
                <a:solidFill>
                  <a:srgbClr val="75787B"/>
                </a:solidFill>
                <a:latin typeface="Arial" pitchFamily="34" charset="0"/>
                <a:ea typeface="Arial" pitchFamily="34" charset="-122"/>
                <a:cs typeface="Arial" pitchFamily="34" charset="-120"/>
              </a:rPr>
              <a:t>8</a:t>
            </a:r>
            <a:endParaRPr lang="en-US" sz="900" dirty="0"/>
          </a:p>
        </p:txBody>
      </p:sp>
      <p:sp>
        <p:nvSpPr>
          <p:cNvPr id="6" name="Text 4"/>
          <p:cNvSpPr txBox="1"/>
          <p:nvPr/>
        </p:nvSpPr>
        <p:spPr>
          <a:xfrm>
            <a:off x="548640" y="6473952"/>
            <a:ext cx="2743200" cy="228600"/>
          </a:xfrm>
          <a:prstGeom prst="rect">
            <a:avLst/>
          </a:prstGeom>
          <a:noFill/>
          <a:ln/>
        </p:spPr>
        <p:txBody>
          <a:bodyPr wrap="square" lIns="0" tIns="0" rIns="0" bIns="0" rtlCol="0" anchor="t"/>
          <a:lstStyle/>
          <a:p>
            <a:pPr indent="0" marL="0">
              <a:buNone/>
            </a:pPr>
            <a:r>
              <a:rPr lang="en-US" sz="900" dirty="0">
                <a:solidFill>
                  <a:srgbClr val="75787B"/>
                </a:solidFill>
                <a:latin typeface="Arial" pitchFamily="34" charset="0"/>
                <a:ea typeface="Arial" pitchFamily="34" charset="-122"/>
                <a:cs typeface="Arial" pitchFamily="34" charset="-120"/>
              </a:rPr>
              <a:t>VR field guide</a:t>
            </a:r>
            <a:endParaRPr lang="en-US" sz="900" dirty="0"/>
          </a:p>
        </p:txBody>
      </p:sp>
      <p:sp>
        <p:nvSpPr>
          <p:cNvPr id="7" name="Shape 5"/>
          <p:cNvSpPr/>
          <p:nvPr/>
        </p:nvSpPr>
        <p:spPr>
          <a:xfrm>
            <a:off x="548640" y="1874520"/>
            <a:ext cx="6949440" cy="731520"/>
          </a:xfrm>
          <a:prstGeom prst="rect">
            <a:avLst/>
          </a:prstGeom>
          <a:solidFill>
            <a:srgbClr val="26890D"/>
          </a:solidFill>
          <a:ln w="12700">
            <a:solidFill>
              <a:srgbClr val="26890D"/>
            </a:solidFill>
            <a:prstDash val="solid"/>
          </a:ln>
        </p:spPr>
      </p:sp>
      <p:sp>
        <p:nvSpPr>
          <p:cNvPr id="8" name="Text 6"/>
          <p:cNvSpPr txBox="1"/>
          <p:nvPr/>
        </p:nvSpPr>
        <p:spPr>
          <a:xfrm>
            <a:off x="731520" y="1965960"/>
            <a:ext cx="1097280" cy="27432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175–180</a:t>
            </a:r>
            <a:endParaRPr lang="en-US" sz="1100" dirty="0"/>
          </a:p>
        </p:txBody>
      </p:sp>
      <p:sp>
        <p:nvSpPr>
          <p:cNvPr id="9" name="Text 7"/>
          <p:cNvSpPr txBox="1"/>
          <p:nvPr/>
        </p:nvSpPr>
        <p:spPr>
          <a:xfrm>
            <a:off x="731520" y="2240280"/>
            <a:ext cx="1737360" cy="29260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Hard identifiers</a:t>
            </a:r>
            <a:endParaRPr lang="en-US" sz="1300" dirty="0"/>
          </a:p>
        </p:txBody>
      </p:sp>
      <p:sp>
        <p:nvSpPr>
          <p:cNvPr id="10" name="Text 8"/>
          <p:cNvSpPr txBox="1"/>
          <p:nvPr/>
        </p:nvSpPr>
        <p:spPr>
          <a:xfrm>
            <a:off x="2560320" y="1965960"/>
            <a:ext cx="4800600" cy="594360"/>
          </a:xfrm>
          <a:prstGeom prst="rect">
            <a:avLst/>
          </a:prstGeom>
          <a:noFill/>
          <a:ln/>
        </p:spPr>
        <p:txBody>
          <a:bodyPr wrap="square" lIns="0" tIns="0" rIns="0" bIns="0" rtlCol="0" anchor="ctr"/>
          <a:lstStyle/>
          <a:p>
            <a:pPr indent="0" marL="0">
              <a:buNone/>
            </a:pPr>
            <a:r>
              <a:rPr lang="en-US" sz="1050" dirty="0">
                <a:solidFill>
                  <a:srgbClr val="FFFFFF"/>
                </a:solidFill>
                <a:latin typeface="Arial" pitchFamily="34" charset="0"/>
                <a:ea typeface="Arial" pitchFamily="34" charset="-122"/>
                <a:cs typeface="Arial" pitchFamily="34" charset="-120"/>
              </a:rPr>
              <a:t>Serial number inside the class the OS implies, then across hardware.</a:t>
            </a:r>
            <a:endParaRPr lang="en-US" sz="1050" dirty="0"/>
          </a:p>
        </p:txBody>
      </p:sp>
      <p:sp>
        <p:nvSpPr>
          <p:cNvPr id="11" name="Shape 9"/>
          <p:cNvSpPr/>
          <p:nvPr/>
        </p:nvSpPr>
        <p:spPr>
          <a:xfrm>
            <a:off x="713232" y="2724912"/>
            <a:ext cx="6620256" cy="731520"/>
          </a:xfrm>
          <a:prstGeom prst="rect">
            <a:avLst/>
          </a:prstGeom>
          <a:solidFill>
            <a:srgbClr val="4E9A1E"/>
          </a:solidFill>
          <a:ln w="12700">
            <a:solidFill>
              <a:srgbClr val="4E9A1E"/>
            </a:solidFill>
            <a:prstDash val="solid"/>
          </a:ln>
        </p:spPr>
      </p:sp>
      <p:sp>
        <p:nvSpPr>
          <p:cNvPr id="12" name="Text 10"/>
          <p:cNvSpPr txBox="1"/>
          <p:nvPr/>
        </p:nvSpPr>
        <p:spPr>
          <a:xfrm>
            <a:off x="896112" y="2816352"/>
            <a:ext cx="1097280" cy="27432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200–415</a:t>
            </a:r>
            <a:endParaRPr lang="en-US" sz="1100" dirty="0"/>
          </a:p>
        </p:txBody>
      </p:sp>
      <p:sp>
        <p:nvSpPr>
          <p:cNvPr id="13" name="Text 11"/>
          <p:cNvSpPr txBox="1"/>
          <p:nvPr/>
        </p:nvSpPr>
        <p:spPr>
          <a:xfrm>
            <a:off x="896112" y="3090672"/>
            <a:ext cx="1737360" cy="29260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Names</a:t>
            </a:r>
            <a:endParaRPr lang="en-US" sz="1300" dirty="0"/>
          </a:p>
        </p:txBody>
      </p:sp>
      <p:sp>
        <p:nvSpPr>
          <p:cNvPr id="14" name="Text 12"/>
          <p:cNvSpPr txBox="1"/>
          <p:nvPr/>
        </p:nvSpPr>
        <p:spPr>
          <a:xfrm>
            <a:off x="2724912" y="2816352"/>
            <a:ext cx="4471416" cy="594360"/>
          </a:xfrm>
          <a:prstGeom prst="rect">
            <a:avLst/>
          </a:prstGeom>
          <a:noFill/>
          <a:ln/>
        </p:spPr>
        <p:txBody>
          <a:bodyPr wrap="square" lIns="0" tIns="0" rIns="0" bIns="0" rtlCol="0" anchor="ctr"/>
          <a:lstStyle/>
          <a:p>
            <a:pPr indent="0" marL="0">
              <a:buNone/>
            </a:pPr>
            <a:r>
              <a:rPr lang="en-US" sz="1050" dirty="0">
                <a:solidFill>
                  <a:srgbClr val="FFFFFF"/>
                </a:solidFill>
                <a:latin typeface="Arial" pitchFamily="34" charset="0"/>
                <a:ea typeface="Arial" pitchFamily="34" charset="-122"/>
                <a:cs typeface="Arial" pitchFamily="34" charset="-120"/>
              </a:rPr>
              <a:t>Cisco phone MAC; FQDN; hostname + domain; DNS record → adapter → CI; short hostname; device name.</a:t>
            </a:r>
            <a:endParaRPr lang="en-US" sz="1050" dirty="0"/>
          </a:p>
        </p:txBody>
      </p:sp>
      <p:sp>
        <p:nvSpPr>
          <p:cNvPr id="15" name="Shape 13"/>
          <p:cNvSpPr/>
          <p:nvPr/>
        </p:nvSpPr>
        <p:spPr>
          <a:xfrm>
            <a:off x="877824" y="3575304"/>
            <a:ext cx="6291072" cy="731520"/>
          </a:xfrm>
          <a:prstGeom prst="rect">
            <a:avLst/>
          </a:prstGeom>
          <a:solidFill>
            <a:srgbClr val="86BC25"/>
          </a:solidFill>
          <a:ln w="12700">
            <a:solidFill>
              <a:srgbClr val="86BC25"/>
            </a:solidFill>
            <a:prstDash val="solid"/>
          </a:ln>
        </p:spPr>
      </p:sp>
      <p:sp>
        <p:nvSpPr>
          <p:cNvPr id="16" name="Text 14"/>
          <p:cNvSpPr txBox="1"/>
          <p:nvPr/>
        </p:nvSpPr>
        <p:spPr>
          <a:xfrm>
            <a:off x="1060704" y="3666744"/>
            <a:ext cx="1097280" cy="27432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420–460</a:t>
            </a:r>
            <a:endParaRPr lang="en-US" sz="1100" dirty="0"/>
          </a:p>
        </p:txBody>
      </p:sp>
      <p:sp>
        <p:nvSpPr>
          <p:cNvPr id="17" name="Text 15"/>
          <p:cNvSpPr txBox="1"/>
          <p:nvPr/>
        </p:nvSpPr>
        <p:spPr>
          <a:xfrm>
            <a:off x="1060704" y="3941064"/>
            <a:ext cx="1737360" cy="29260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Special devices</a:t>
            </a:r>
            <a:endParaRPr lang="en-US" sz="1300" dirty="0"/>
          </a:p>
        </p:txBody>
      </p:sp>
      <p:sp>
        <p:nvSpPr>
          <p:cNvPr id="18" name="Text 16"/>
          <p:cNvSpPr txBox="1"/>
          <p:nvPr/>
        </p:nvSpPr>
        <p:spPr>
          <a:xfrm>
            <a:off x="2889504" y="3666744"/>
            <a:ext cx="4142232" cy="594360"/>
          </a:xfrm>
          <a:prstGeom prst="rect">
            <a:avLst/>
          </a:prstGeom>
          <a:noFill/>
          <a:ln/>
        </p:spPr>
        <p:txBody>
          <a:bodyPr wrap="square" lIns="0" tIns="0" rIns="0" bIns="0" rtlCol="0" anchor="ctr"/>
          <a:lstStyle/>
          <a:p>
            <a:pPr indent="0" marL="0">
              <a:buNone/>
            </a:pPr>
            <a:r>
              <a:rPr lang="en-US" sz="1050" dirty="0">
                <a:solidFill>
                  <a:srgbClr val="FFFFFF"/>
                </a:solidFill>
                <a:latin typeface="Arial" pitchFamily="34" charset="0"/>
                <a:ea typeface="Arial" pitchFamily="34" charset="-122"/>
                <a:cs typeface="Arial" pitchFamily="34" charset="-120"/>
              </a:rPr>
              <a:t>Management controllers (iLO, iDRAC) to their server; network interfaces; load balancer member, then service.</a:t>
            </a:r>
            <a:endParaRPr lang="en-US" sz="1050" dirty="0"/>
          </a:p>
        </p:txBody>
      </p:sp>
      <p:sp>
        <p:nvSpPr>
          <p:cNvPr id="19" name="Shape 17"/>
          <p:cNvSpPr/>
          <p:nvPr/>
        </p:nvSpPr>
        <p:spPr>
          <a:xfrm>
            <a:off x="1042416" y="4425696"/>
            <a:ext cx="5961888" cy="731520"/>
          </a:xfrm>
          <a:prstGeom prst="rect">
            <a:avLst/>
          </a:prstGeom>
          <a:solidFill>
            <a:srgbClr val="A9D16A"/>
          </a:solidFill>
          <a:ln w="12700">
            <a:solidFill>
              <a:srgbClr val="A9D16A"/>
            </a:solidFill>
            <a:prstDash val="solid"/>
          </a:ln>
        </p:spPr>
      </p:sp>
      <p:sp>
        <p:nvSpPr>
          <p:cNvPr id="20" name="Text 18"/>
          <p:cNvSpPr txBox="1"/>
          <p:nvPr/>
        </p:nvSpPr>
        <p:spPr>
          <a:xfrm>
            <a:off x="1225296" y="4517136"/>
            <a:ext cx="1097280" cy="274320"/>
          </a:xfrm>
          <a:prstGeom prst="rect">
            <a:avLst/>
          </a:prstGeom>
          <a:noFill/>
          <a:ln/>
        </p:spPr>
        <p:txBody>
          <a:bodyPr wrap="square" lIns="0" tIns="0" rIns="0" bIns="0" rtlCol="0" anchor="t"/>
          <a:lstStyle/>
          <a:p>
            <a:pPr indent="0" marL="0">
              <a:buNone/>
            </a:pPr>
            <a:r>
              <a:rPr lang="en-US" sz="1100" b="1" dirty="0">
                <a:solidFill>
                  <a:srgbClr val="000000"/>
                </a:solidFill>
                <a:latin typeface="Arial" pitchFamily="34" charset="0"/>
                <a:ea typeface="Arial" pitchFamily="34" charset="-122"/>
                <a:cs typeface="Arial" pitchFamily="34" charset="-120"/>
              </a:rPr>
              <a:t>700–750</a:t>
            </a:r>
            <a:endParaRPr lang="en-US" sz="1100" dirty="0"/>
          </a:p>
        </p:txBody>
      </p:sp>
      <p:sp>
        <p:nvSpPr>
          <p:cNvPr id="21" name="Text 19"/>
          <p:cNvSpPr txBox="1"/>
          <p:nvPr/>
        </p:nvSpPr>
        <p:spPr>
          <a:xfrm>
            <a:off x="1225296" y="4791456"/>
            <a:ext cx="1737360" cy="292608"/>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Addresses, last</a:t>
            </a:r>
            <a:endParaRPr lang="en-US" sz="1300" dirty="0"/>
          </a:p>
        </p:txBody>
      </p:sp>
      <p:sp>
        <p:nvSpPr>
          <p:cNvPr id="22" name="Text 20"/>
          <p:cNvSpPr txBox="1"/>
          <p:nvPr/>
        </p:nvSpPr>
        <p:spPr>
          <a:xfrm>
            <a:off x="3054096" y="4517136"/>
            <a:ext cx="3813048" cy="594360"/>
          </a:xfrm>
          <a:prstGeom prst="rect">
            <a:avLst/>
          </a:prstGeom>
          <a:noFill/>
          <a:ln/>
        </p:spPr>
        <p:txBody>
          <a:bodyPr wrap="square" lIns="0" tIns="0" rIns="0" bIns="0" rtlCol="0" anchor="ctr"/>
          <a:lstStyle/>
          <a:p>
            <a:pPr indent="0" marL="0">
              <a:buNone/>
            </a:pPr>
            <a:r>
              <a:rPr lang="en-US" sz="1050" dirty="0">
                <a:solidFill>
                  <a:srgbClr val="000000"/>
                </a:solidFill>
                <a:latin typeface="Arial" pitchFamily="34" charset="0"/>
                <a:ea typeface="Arial" pitchFamily="34" charset="-122"/>
                <a:cs typeface="Arial" pitchFamily="34" charset="-120"/>
              </a:rPr>
              <a:t>IP within the OS class; IP in hardware; adapter; IP record → adapter; vCenter, cluster VIP, phones.</a:t>
            </a:r>
            <a:endParaRPr lang="en-US" sz="1050" dirty="0"/>
          </a:p>
        </p:txBody>
      </p:sp>
      <p:sp>
        <p:nvSpPr>
          <p:cNvPr id="23" name="Shape 21"/>
          <p:cNvSpPr/>
          <p:nvPr/>
        </p:nvSpPr>
        <p:spPr>
          <a:xfrm>
            <a:off x="1207008" y="5276088"/>
            <a:ext cx="5632704" cy="731520"/>
          </a:xfrm>
          <a:prstGeom prst="rect">
            <a:avLst/>
          </a:prstGeom>
          <a:solidFill>
            <a:srgbClr val="BBBCBC"/>
          </a:solidFill>
          <a:ln w="12700">
            <a:solidFill>
              <a:srgbClr val="BBBCBC"/>
            </a:solidFill>
            <a:prstDash val="solid"/>
          </a:ln>
        </p:spPr>
      </p:sp>
      <p:sp>
        <p:nvSpPr>
          <p:cNvPr id="24" name="Text 22"/>
          <p:cNvSpPr txBox="1"/>
          <p:nvPr/>
        </p:nvSpPr>
        <p:spPr>
          <a:xfrm>
            <a:off x="1389888" y="5367528"/>
            <a:ext cx="1097280" cy="274320"/>
          </a:xfrm>
          <a:prstGeom prst="rect">
            <a:avLst/>
          </a:prstGeom>
          <a:noFill/>
          <a:ln/>
        </p:spPr>
        <p:txBody>
          <a:bodyPr wrap="square" lIns="0" tIns="0" rIns="0" bIns="0" rtlCol="0" anchor="t"/>
          <a:lstStyle/>
          <a:p>
            <a:pPr indent="0" marL="0">
              <a:buNone/>
            </a:pPr>
            <a:r>
              <a:rPr lang="en-US" sz="1100" b="1" dirty="0">
                <a:solidFill>
                  <a:srgbClr val="000000"/>
                </a:solidFill>
                <a:latin typeface="Arial" pitchFamily="34" charset="0"/>
                <a:ea typeface="Arial" pitchFamily="34" charset="-122"/>
                <a:cs typeface="Arial" pitchFamily="34" charset="-120"/>
              </a:rPr>
              <a:t>850–940</a:t>
            </a:r>
            <a:endParaRPr lang="en-US" sz="1100" dirty="0"/>
          </a:p>
        </p:txBody>
      </p:sp>
      <p:sp>
        <p:nvSpPr>
          <p:cNvPr id="25" name="Text 23"/>
          <p:cNvSpPr txBox="1"/>
          <p:nvPr/>
        </p:nvSpPr>
        <p:spPr>
          <a:xfrm>
            <a:off x="1389888" y="5641848"/>
            <a:ext cx="1737360" cy="292608"/>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Fallbacks</a:t>
            </a:r>
            <a:endParaRPr lang="en-US" sz="1300" dirty="0"/>
          </a:p>
        </p:txBody>
      </p:sp>
      <p:sp>
        <p:nvSpPr>
          <p:cNvPr id="26" name="Text 24"/>
          <p:cNvSpPr txBox="1"/>
          <p:nvPr/>
        </p:nvSpPr>
        <p:spPr>
          <a:xfrm>
            <a:off x="3218688" y="5367528"/>
            <a:ext cx="3483864" cy="594360"/>
          </a:xfrm>
          <a:prstGeom prst="rect">
            <a:avLst/>
          </a:prstGeom>
          <a:noFill/>
          <a:ln/>
        </p:spPr>
        <p:txBody>
          <a:bodyPr wrap="square" lIns="0" tIns="0" rIns="0" bIns="0" rtlCol="0" anchor="ctr"/>
          <a:lstStyle/>
          <a:p>
            <a:pPr indent="0" marL="0">
              <a:buNone/>
            </a:pPr>
            <a:r>
              <a:rPr lang="en-US" sz="1050" dirty="0">
                <a:solidFill>
                  <a:srgbClr val="000000"/>
                </a:solidFill>
                <a:latin typeface="Arial" pitchFamily="34" charset="0"/>
                <a:ea typeface="Arial" pitchFamily="34" charset="-122"/>
                <a:cs typeface="Arial" pitchFamily="34" charset="-120"/>
              </a:rPr>
              <a:t>Broad FQDN name; then out-of-box Qualys Host ID, FQDN, NetBIOS, DNS.</a:t>
            </a:r>
            <a:endParaRPr lang="en-US" sz="1050" dirty="0"/>
          </a:p>
        </p:txBody>
      </p:sp>
      <p:sp>
        <p:nvSpPr>
          <p:cNvPr id="27" name="Text 25"/>
          <p:cNvSpPr txBox="1"/>
          <p:nvPr/>
        </p:nvSpPr>
        <p:spPr>
          <a:xfrm>
            <a:off x="8001000" y="1874520"/>
            <a:ext cx="3642055" cy="320040"/>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Three rules of thumb</a:t>
            </a:r>
            <a:endParaRPr lang="en-US" sz="1500" dirty="0"/>
          </a:p>
        </p:txBody>
      </p:sp>
      <p:sp>
        <p:nvSpPr>
          <p:cNvPr id="28" name="Shape 26"/>
          <p:cNvSpPr/>
          <p:nvPr/>
        </p:nvSpPr>
        <p:spPr>
          <a:xfrm>
            <a:off x="8001000" y="2377440"/>
            <a:ext cx="384048" cy="384048"/>
          </a:xfrm>
          <a:prstGeom prst="ellipse">
            <a:avLst/>
          </a:prstGeom>
          <a:solidFill>
            <a:srgbClr val="86BC25"/>
          </a:solidFill>
          <a:ln w="12700">
            <a:solidFill>
              <a:srgbClr val="86BC25"/>
            </a:solidFill>
            <a:prstDash val="solid"/>
          </a:ln>
        </p:spPr>
      </p:sp>
      <p:sp>
        <p:nvSpPr>
          <p:cNvPr id="29" name="Text 27"/>
          <p:cNvSpPr txBox="1"/>
          <p:nvPr/>
        </p:nvSpPr>
        <p:spPr>
          <a:xfrm>
            <a:off x="8001000" y="23774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30" name="Text 28"/>
          <p:cNvSpPr txBox="1"/>
          <p:nvPr/>
        </p:nvSpPr>
        <p:spPr>
          <a:xfrm>
            <a:off x="8549640" y="2359152"/>
            <a:ext cx="3093415" cy="292608"/>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Exactly one, or decline</a:t>
            </a:r>
            <a:endParaRPr lang="en-US" sz="1300" dirty="0"/>
          </a:p>
        </p:txBody>
      </p:sp>
      <p:sp>
        <p:nvSpPr>
          <p:cNvPr id="31" name="Text 29"/>
          <p:cNvSpPr txBox="1"/>
          <p:nvPr/>
        </p:nvSpPr>
        <p:spPr>
          <a:xfrm>
            <a:off x="8549640" y="2679192"/>
            <a:ext cx="3093415" cy="731520"/>
          </a:xfrm>
          <a:prstGeom prst="rect">
            <a:avLst/>
          </a:prstGeom>
          <a:noFill/>
          <a:ln/>
        </p:spPr>
        <p:txBody>
          <a:bodyPr wrap="square" lIns="0" tIns="0" rIns="0" bIns="0" rtlCol="0" anchor="t"/>
          <a:lstStyle/>
          <a:p>
            <a:pPr indent="0" marL="0">
              <a:buNone/>
            </a:pPr>
            <a:r>
              <a:rPr lang="en-US" sz="1150" dirty="0">
                <a:solidFill>
                  <a:srgbClr val="53565A"/>
                </a:solidFill>
                <a:latin typeface="Arial" pitchFamily="34" charset="0"/>
                <a:ea typeface="Arial" pitchFamily="34" charset="-122"/>
                <a:cs typeface="Arial" pitchFamily="34" charset="-120"/>
              </a:rPr>
              <a:t>Never guess. An unmatched host is honest; a wrong match hides a risk.</a:t>
            </a:r>
            <a:endParaRPr lang="en-US" sz="1150" dirty="0"/>
          </a:p>
        </p:txBody>
      </p:sp>
      <p:sp>
        <p:nvSpPr>
          <p:cNvPr id="32" name="Shape 30"/>
          <p:cNvSpPr/>
          <p:nvPr/>
        </p:nvSpPr>
        <p:spPr>
          <a:xfrm>
            <a:off x="8001000" y="3566160"/>
            <a:ext cx="384048" cy="384048"/>
          </a:xfrm>
          <a:prstGeom prst="ellipse">
            <a:avLst/>
          </a:prstGeom>
          <a:solidFill>
            <a:srgbClr val="86BC25"/>
          </a:solidFill>
          <a:ln w="12700">
            <a:solidFill>
              <a:srgbClr val="86BC25"/>
            </a:solidFill>
            <a:prstDash val="solid"/>
          </a:ln>
        </p:spPr>
      </p:sp>
      <p:sp>
        <p:nvSpPr>
          <p:cNvPr id="33" name="Text 31"/>
          <p:cNvSpPr txBox="1"/>
          <p:nvPr/>
        </p:nvSpPr>
        <p:spPr>
          <a:xfrm>
            <a:off x="8001000" y="35661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34" name="Text 32"/>
          <p:cNvSpPr txBox="1"/>
          <p:nvPr/>
        </p:nvSpPr>
        <p:spPr>
          <a:xfrm>
            <a:off x="8549640" y="3547872"/>
            <a:ext cx="3093415" cy="292608"/>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Strongest first, IP last</a:t>
            </a:r>
            <a:endParaRPr lang="en-US" sz="1300" dirty="0"/>
          </a:p>
        </p:txBody>
      </p:sp>
      <p:sp>
        <p:nvSpPr>
          <p:cNvPr id="35" name="Text 33"/>
          <p:cNvSpPr txBox="1"/>
          <p:nvPr/>
        </p:nvSpPr>
        <p:spPr>
          <a:xfrm>
            <a:off x="8549640" y="3867912"/>
            <a:ext cx="3093415" cy="731520"/>
          </a:xfrm>
          <a:prstGeom prst="rect">
            <a:avLst/>
          </a:prstGeom>
          <a:noFill/>
          <a:ln/>
        </p:spPr>
        <p:txBody>
          <a:bodyPr wrap="square" lIns="0" tIns="0" rIns="0" bIns="0" rtlCol="0" anchor="t"/>
          <a:lstStyle/>
          <a:p>
            <a:pPr indent="0" marL="0">
              <a:buNone/>
            </a:pPr>
            <a:r>
              <a:rPr lang="en-US" sz="1150" dirty="0">
                <a:solidFill>
                  <a:srgbClr val="53565A"/>
                </a:solidFill>
                <a:latin typeface="Arial" pitchFamily="34" charset="0"/>
                <a:ea typeface="Arial" pitchFamily="34" charset="-122"/>
                <a:cs typeface="Arial" pitchFamily="34" charset="-120"/>
              </a:rPr>
              <a:t>Addresses move and are shared; names and serials do not.</a:t>
            </a:r>
            <a:endParaRPr lang="en-US" sz="1150" dirty="0"/>
          </a:p>
        </p:txBody>
      </p:sp>
      <p:sp>
        <p:nvSpPr>
          <p:cNvPr id="36" name="Shape 34"/>
          <p:cNvSpPr/>
          <p:nvPr/>
        </p:nvSpPr>
        <p:spPr>
          <a:xfrm>
            <a:off x="8001000" y="4754880"/>
            <a:ext cx="384048" cy="384048"/>
          </a:xfrm>
          <a:prstGeom prst="ellipse">
            <a:avLst/>
          </a:prstGeom>
          <a:solidFill>
            <a:srgbClr val="86BC25"/>
          </a:solidFill>
          <a:ln w="12700">
            <a:solidFill>
              <a:srgbClr val="86BC25"/>
            </a:solidFill>
            <a:prstDash val="solid"/>
          </a:ln>
        </p:spPr>
      </p:sp>
      <p:sp>
        <p:nvSpPr>
          <p:cNvPr id="37" name="Text 35"/>
          <p:cNvSpPr txBox="1"/>
          <p:nvPr/>
        </p:nvSpPr>
        <p:spPr>
          <a:xfrm>
            <a:off x="8001000" y="475488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38" name="Text 36"/>
          <p:cNvSpPr txBox="1"/>
          <p:nvPr/>
        </p:nvSpPr>
        <p:spPr>
          <a:xfrm>
            <a:off x="8549640" y="4736592"/>
            <a:ext cx="3093415" cy="292608"/>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Class must agree</a:t>
            </a:r>
            <a:endParaRPr lang="en-US" sz="1300" dirty="0"/>
          </a:p>
        </p:txBody>
      </p:sp>
      <p:sp>
        <p:nvSpPr>
          <p:cNvPr id="39" name="Text 37"/>
          <p:cNvSpPr txBox="1"/>
          <p:nvPr/>
        </p:nvSpPr>
        <p:spPr>
          <a:xfrm>
            <a:off x="8549640" y="5056632"/>
            <a:ext cx="3093415" cy="731520"/>
          </a:xfrm>
          <a:prstGeom prst="rect">
            <a:avLst/>
          </a:prstGeom>
          <a:noFill/>
          <a:ln/>
        </p:spPr>
        <p:txBody>
          <a:bodyPr wrap="square" lIns="0" tIns="0" rIns="0" bIns="0" rtlCol="0" anchor="t"/>
          <a:lstStyle/>
          <a:p>
            <a:pPr indent="0" marL="0">
              <a:buNone/>
            </a:pPr>
            <a:r>
              <a:rPr lang="en-US" sz="1150" dirty="0">
                <a:solidFill>
                  <a:srgbClr val="53565A"/>
                </a:solidFill>
                <a:latin typeface="Arial" pitchFamily="34" charset="0"/>
                <a:ea typeface="Arial" pitchFamily="34" charset="-122"/>
                <a:cs typeface="Arial" pitchFamily="34" charset="-120"/>
              </a:rPr>
              <a:t>A Windows scan must not land on a network switch.</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000" b="1" spc="150" kern="0" dirty="0">
                <a:solidFill>
                  <a:srgbClr val="26890D"/>
                </a:solidFill>
                <a:latin typeface="Arial" pitchFamily="34" charset="0"/>
                <a:ea typeface="Arial" pitchFamily="34" charset="-122"/>
                <a:cs typeface="Arial" pitchFamily="34" charset="-120"/>
              </a:rPr>
              <a:t>4 · RUNNING AN INTEGRATION</a:t>
            </a:r>
            <a:endParaRPr lang="en-US" sz="10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Before you start any integration</a:t>
            </a:r>
            <a:pPr indent="0" marL="0">
              <a:buNone/>
            </a:pPr>
            <a:r>
              <a:rPr lang="en-US" sz="3000" b="1" dirty="0">
                <a:solidFill>
                  <a:srgbClr val="86BC25"/>
                </a:solidFill>
                <a:latin typeface="Arial" pitchFamily="34" charset="0"/>
                <a:ea typeface="Arial" pitchFamily="34" charset="-122"/>
                <a:cs typeface="Arial" pitchFamily="34" charset="-120"/>
              </a:rPr>
              <a:t>.</a:t>
            </a:r>
            <a:endParaRPr lang="en-US" sz="3000" dirty="0"/>
          </a:p>
        </p:txBody>
      </p:sp>
      <p:sp>
        <p:nvSpPr>
          <p:cNvPr id="4" name="Text 2"/>
          <p:cNvSpPr txBox="1"/>
          <p:nvPr/>
        </p:nvSpPr>
        <p:spPr>
          <a:xfrm>
            <a:off x="548640" y="1243584"/>
            <a:ext cx="11094415" cy="411480"/>
          </a:xfrm>
          <a:prstGeom prst="rect">
            <a:avLst/>
          </a:prstGeom>
          <a:noFill/>
          <a:ln/>
        </p:spPr>
        <p:txBody>
          <a:bodyPr wrap="square" lIns="0" tIns="0" rIns="0" bIns="0" rtlCol="0" anchor="t"/>
          <a:lstStyle/>
          <a:p>
            <a:pPr indent="0" marL="0">
              <a:buNone/>
            </a:pPr>
            <a:r>
              <a:rPr lang="en-US" sz="1400" dirty="0">
                <a:solidFill>
                  <a:srgbClr val="53565A"/>
                </a:solidFill>
                <a:latin typeface="Arial" pitchFamily="34" charset="0"/>
                <a:ea typeface="Arial" pitchFamily="34" charset="-122"/>
                <a:cs typeface="Arial" pitchFamily="34" charset="-120"/>
              </a:rPr>
              <a:t>Six things to settle in week one. Missing any of them is what delays go-live.</a:t>
            </a:r>
            <a:endParaRPr lang="en-US" sz="1400" dirty="0"/>
          </a:p>
        </p:txBody>
      </p:sp>
      <p:sp>
        <p:nvSpPr>
          <p:cNvPr id="5" name="Text 3"/>
          <p:cNvSpPr txBox="1"/>
          <p:nvPr/>
        </p:nvSpPr>
        <p:spPr>
          <a:xfrm>
            <a:off x="11185855" y="6473952"/>
            <a:ext cx="457200" cy="228600"/>
          </a:xfrm>
          <a:prstGeom prst="rect">
            <a:avLst/>
          </a:prstGeom>
          <a:noFill/>
          <a:ln/>
        </p:spPr>
        <p:txBody>
          <a:bodyPr wrap="square" lIns="0" tIns="0" rIns="0" bIns="0" rtlCol="0" anchor="t"/>
          <a:lstStyle/>
          <a:p>
            <a:pPr algn="r" indent="0" marL="0">
              <a:buNone/>
            </a:pPr>
            <a:r>
              <a:rPr lang="en-US" sz="900" dirty="0">
                <a:solidFill>
                  <a:srgbClr val="75787B"/>
                </a:solidFill>
                <a:latin typeface="Arial" pitchFamily="34" charset="0"/>
                <a:ea typeface="Arial" pitchFamily="34" charset="-122"/>
                <a:cs typeface="Arial" pitchFamily="34" charset="-120"/>
              </a:rPr>
              <a:t>9</a:t>
            </a:r>
            <a:endParaRPr lang="en-US" sz="900" dirty="0"/>
          </a:p>
        </p:txBody>
      </p:sp>
      <p:sp>
        <p:nvSpPr>
          <p:cNvPr id="6" name="Text 4"/>
          <p:cNvSpPr txBox="1"/>
          <p:nvPr/>
        </p:nvSpPr>
        <p:spPr>
          <a:xfrm>
            <a:off x="548640" y="6473952"/>
            <a:ext cx="2743200" cy="228600"/>
          </a:xfrm>
          <a:prstGeom prst="rect">
            <a:avLst/>
          </a:prstGeom>
          <a:noFill/>
          <a:ln/>
        </p:spPr>
        <p:txBody>
          <a:bodyPr wrap="square" lIns="0" tIns="0" rIns="0" bIns="0" rtlCol="0" anchor="t"/>
          <a:lstStyle/>
          <a:p>
            <a:pPr indent="0" marL="0">
              <a:buNone/>
            </a:pPr>
            <a:r>
              <a:rPr lang="en-US" sz="900" dirty="0">
                <a:solidFill>
                  <a:srgbClr val="75787B"/>
                </a:solidFill>
                <a:latin typeface="Arial" pitchFamily="34" charset="0"/>
                <a:ea typeface="Arial" pitchFamily="34" charset="-122"/>
                <a:cs typeface="Arial" pitchFamily="34" charset="-120"/>
              </a:rPr>
              <a:t>VR field guide</a:t>
            </a:r>
            <a:endParaRPr lang="en-US" sz="900" dirty="0"/>
          </a:p>
        </p:txBody>
      </p:sp>
      <p:sp>
        <p:nvSpPr>
          <p:cNvPr id="7" name="Shape 5"/>
          <p:cNvSpPr/>
          <p:nvPr/>
        </p:nvSpPr>
        <p:spPr>
          <a:xfrm>
            <a:off x="548640" y="1874520"/>
            <a:ext cx="3545738" cy="1920240"/>
          </a:xfrm>
          <a:prstGeom prst="rect">
            <a:avLst/>
          </a:prstGeom>
          <a:solidFill>
            <a:srgbClr val="F2F2F2"/>
          </a:solidFill>
          <a:ln w="12700">
            <a:solidFill>
              <a:srgbClr val="F2F2F2"/>
            </a:solidFill>
            <a:prstDash val="solid"/>
          </a:ln>
        </p:spPr>
      </p:sp>
      <p:sp>
        <p:nvSpPr>
          <p:cNvPr id="8" name="Shape 6"/>
          <p:cNvSpPr/>
          <p:nvPr/>
        </p:nvSpPr>
        <p:spPr>
          <a:xfrm>
            <a:off x="777240" y="2103120"/>
            <a:ext cx="457200" cy="457200"/>
          </a:xfrm>
          <a:prstGeom prst="ellipse">
            <a:avLst/>
          </a:prstGeom>
          <a:solidFill>
            <a:srgbClr val="86BC25"/>
          </a:solidFill>
          <a:ln w="12700">
            <a:solidFill>
              <a:srgbClr val="86BC25"/>
            </a:solidFill>
            <a:prstDash val="solid"/>
          </a:ln>
        </p:spPr>
      </p:sp>
      <p:sp>
        <p:nvSpPr>
          <p:cNvPr id="9" name="Text 7"/>
          <p:cNvSpPr txBox="1"/>
          <p:nvPr/>
        </p:nvSpPr>
        <p:spPr>
          <a:xfrm>
            <a:off x="777240" y="21031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417320" y="2148840"/>
            <a:ext cx="2448458" cy="365760"/>
          </a:xfrm>
          <a:prstGeom prst="rect">
            <a:avLst/>
          </a:prstGeom>
          <a:noFill/>
          <a:ln/>
        </p:spPr>
        <p:txBody>
          <a:bodyPr wrap="square" lIns="0" tIns="0" rIns="0" bIns="0" rtlCol="0" anchor="t"/>
          <a:lstStyle/>
          <a:p>
            <a:pPr indent="0" marL="0">
              <a:buNone/>
            </a:pPr>
            <a:r>
              <a:rPr lang="en-US" sz="1600" b="1" dirty="0">
                <a:solidFill>
                  <a:srgbClr val="000000"/>
                </a:solidFill>
                <a:latin typeface="Arial" pitchFamily="34" charset="0"/>
                <a:ea typeface="Arial" pitchFamily="34" charset="-122"/>
                <a:cs typeface="Arial" pitchFamily="34" charset="-120"/>
              </a:rPr>
              <a:t>Access</a:t>
            </a:r>
            <a:endParaRPr lang="en-US" sz="1600" dirty="0"/>
          </a:p>
        </p:txBody>
      </p:sp>
      <p:sp>
        <p:nvSpPr>
          <p:cNvPr id="11" name="Text 9"/>
          <p:cNvSpPr txBox="1"/>
          <p:nvPr/>
        </p:nvSpPr>
        <p:spPr>
          <a:xfrm>
            <a:off x="777240" y="2743200"/>
            <a:ext cx="3088538" cy="1005840"/>
          </a:xfrm>
          <a:prstGeom prst="rect">
            <a:avLst/>
          </a:prstGeom>
          <a:noFill/>
          <a:ln/>
        </p:spPr>
        <p:txBody>
          <a:bodyPr wrap="square" lIns="0" tIns="0" rIns="0" bIns="0" rtlCol="0" anchor="t"/>
          <a:lstStyle/>
          <a:p>
            <a:pPr indent="0" marL="0">
              <a:buNone/>
            </a:pPr>
            <a:r>
              <a:rPr lang="en-US" sz="1200" dirty="0">
                <a:solidFill>
                  <a:srgbClr val="53565A"/>
                </a:solidFill>
                <a:latin typeface="Arial" pitchFamily="34" charset="0"/>
                <a:ea typeface="Arial" pitchFamily="34" charset="-122"/>
                <a:cs typeface="Arial" pitchFamily="34" charset="-120"/>
              </a:rPr>
              <a:t>Service account with least privilege. API keys in ServiceNow credential records. Who renews them, and when.</a:t>
            </a:r>
            <a:endParaRPr lang="en-US" sz="1200" dirty="0"/>
          </a:p>
        </p:txBody>
      </p:sp>
      <p:sp>
        <p:nvSpPr>
          <p:cNvPr id="12" name="Shape 10"/>
          <p:cNvSpPr/>
          <p:nvPr/>
        </p:nvSpPr>
        <p:spPr>
          <a:xfrm>
            <a:off x="4322978" y="1874520"/>
            <a:ext cx="3545738" cy="1920240"/>
          </a:xfrm>
          <a:prstGeom prst="rect">
            <a:avLst/>
          </a:prstGeom>
          <a:solidFill>
            <a:srgbClr val="F2F2F2"/>
          </a:solidFill>
          <a:ln w="12700">
            <a:solidFill>
              <a:srgbClr val="F2F2F2"/>
            </a:solidFill>
            <a:prstDash val="solid"/>
          </a:ln>
        </p:spPr>
      </p:sp>
      <p:sp>
        <p:nvSpPr>
          <p:cNvPr id="13" name="Shape 11"/>
          <p:cNvSpPr/>
          <p:nvPr/>
        </p:nvSpPr>
        <p:spPr>
          <a:xfrm>
            <a:off x="4551578" y="2103120"/>
            <a:ext cx="457200" cy="457200"/>
          </a:xfrm>
          <a:prstGeom prst="ellipse">
            <a:avLst/>
          </a:prstGeom>
          <a:solidFill>
            <a:srgbClr val="86BC25"/>
          </a:solidFill>
          <a:ln w="12700">
            <a:solidFill>
              <a:srgbClr val="86BC25"/>
            </a:solidFill>
            <a:prstDash val="solid"/>
          </a:ln>
        </p:spPr>
      </p:sp>
      <p:sp>
        <p:nvSpPr>
          <p:cNvPr id="14" name="Text 12"/>
          <p:cNvSpPr txBox="1"/>
          <p:nvPr/>
        </p:nvSpPr>
        <p:spPr>
          <a:xfrm>
            <a:off x="4551578" y="21031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3"/>
          <p:cNvSpPr txBox="1"/>
          <p:nvPr/>
        </p:nvSpPr>
        <p:spPr>
          <a:xfrm>
            <a:off x="5191658" y="2148840"/>
            <a:ext cx="2448458" cy="365760"/>
          </a:xfrm>
          <a:prstGeom prst="rect">
            <a:avLst/>
          </a:prstGeom>
          <a:noFill/>
          <a:ln/>
        </p:spPr>
        <p:txBody>
          <a:bodyPr wrap="square" lIns="0" tIns="0" rIns="0" bIns="0" rtlCol="0" anchor="t"/>
          <a:lstStyle/>
          <a:p>
            <a:pPr indent="0" marL="0">
              <a:buNone/>
            </a:pPr>
            <a:r>
              <a:rPr lang="en-US" sz="1600" b="1" dirty="0">
                <a:solidFill>
                  <a:srgbClr val="000000"/>
                </a:solidFill>
                <a:latin typeface="Arial" pitchFamily="34" charset="0"/>
                <a:ea typeface="Arial" pitchFamily="34" charset="-122"/>
                <a:cs typeface="Arial" pitchFamily="34" charset="-120"/>
              </a:rPr>
              <a:t>Connectivity</a:t>
            </a:r>
            <a:endParaRPr lang="en-US" sz="1600" dirty="0"/>
          </a:p>
        </p:txBody>
      </p:sp>
      <p:sp>
        <p:nvSpPr>
          <p:cNvPr id="16" name="Text 14"/>
          <p:cNvSpPr txBox="1"/>
          <p:nvPr/>
        </p:nvSpPr>
        <p:spPr>
          <a:xfrm>
            <a:off x="4551578" y="2743200"/>
            <a:ext cx="3088538" cy="1005840"/>
          </a:xfrm>
          <a:prstGeom prst="rect">
            <a:avLst/>
          </a:prstGeom>
          <a:noFill/>
          <a:ln/>
        </p:spPr>
        <p:txBody>
          <a:bodyPr wrap="square" lIns="0" tIns="0" rIns="0" bIns="0" rtlCol="0" anchor="t"/>
          <a:lstStyle/>
          <a:p>
            <a:pPr indent="0" marL="0">
              <a:buNone/>
            </a:pPr>
            <a:r>
              <a:rPr lang="en-US" sz="1200" dirty="0">
                <a:solidFill>
                  <a:srgbClr val="53565A"/>
                </a:solidFill>
                <a:latin typeface="Arial" pitchFamily="34" charset="0"/>
                <a:ea typeface="Arial" pitchFamily="34" charset="-122"/>
                <a:cs typeface="Arial" pitchFamily="34" charset="-120"/>
              </a:rPr>
              <a:t>Cloud or on-premises source; MID Server, proxy and firewall allow-lists; the source's API rate limits.</a:t>
            </a:r>
            <a:endParaRPr lang="en-US" sz="1200" dirty="0"/>
          </a:p>
        </p:txBody>
      </p:sp>
      <p:sp>
        <p:nvSpPr>
          <p:cNvPr id="17" name="Shape 15"/>
          <p:cNvSpPr/>
          <p:nvPr/>
        </p:nvSpPr>
        <p:spPr>
          <a:xfrm>
            <a:off x="8097317" y="1874520"/>
            <a:ext cx="3545738" cy="1920240"/>
          </a:xfrm>
          <a:prstGeom prst="rect">
            <a:avLst/>
          </a:prstGeom>
          <a:solidFill>
            <a:srgbClr val="F2F2F2"/>
          </a:solidFill>
          <a:ln w="12700">
            <a:solidFill>
              <a:srgbClr val="F2F2F2"/>
            </a:solidFill>
            <a:prstDash val="solid"/>
          </a:ln>
        </p:spPr>
      </p:sp>
      <p:sp>
        <p:nvSpPr>
          <p:cNvPr id="18" name="Shape 16"/>
          <p:cNvSpPr/>
          <p:nvPr/>
        </p:nvSpPr>
        <p:spPr>
          <a:xfrm>
            <a:off x="8325917" y="2103120"/>
            <a:ext cx="457200" cy="457200"/>
          </a:xfrm>
          <a:prstGeom prst="ellipse">
            <a:avLst/>
          </a:prstGeom>
          <a:solidFill>
            <a:srgbClr val="86BC25"/>
          </a:solidFill>
          <a:ln w="12700">
            <a:solidFill>
              <a:srgbClr val="86BC25"/>
            </a:solidFill>
            <a:prstDash val="solid"/>
          </a:ln>
        </p:spPr>
      </p:sp>
      <p:sp>
        <p:nvSpPr>
          <p:cNvPr id="19" name="Text 17"/>
          <p:cNvSpPr txBox="1"/>
          <p:nvPr/>
        </p:nvSpPr>
        <p:spPr>
          <a:xfrm>
            <a:off x="8325917" y="21031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8"/>
          <p:cNvSpPr txBox="1"/>
          <p:nvPr/>
        </p:nvSpPr>
        <p:spPr>
          <a:xfrm>
            <a:off x="8965997" y="2148840"/>
            <a:ext cx="2448458" cy="365760"/>
          </a:xfrm>
          <a:prstGeom prst="rect">
            <a:avLst/>
          </a:prstGeom>
          <a:noFill/>
          <a:ln/>
        </p:spPr>
        <p:txBody>
          <a:bodyPr wrap="square" lIns="0" tIns="0" rIns="0" bIns="0" rtlCol="0" anchor="t"/>
          <a:lstStyle/>
          <a:p>
            <a:pPr indent="0" marL="0">
              <a:buNone/>
            </a:pPr>
            <a:r>
              <a:rPr lang="en-US" sz="1600" b="1" dirty="0">
                <a:solidFill>
                  <a:srgbClr val="000000"/>
                </a:solidFill>
                <a:latin typeface="Arial" pitchFamily="34" charset="0"/>
                <a:ea typeface="Arial" pitchFamily="34" charset="-122"/>
                <a:cs typeface="Arial" pitchFamily="34" charset="-120"/>
              </a:rPr>
              <a:t>Data</a:t>
            </a:r>
            <a:endParaRPr lang="en-US" sz="1600" dirty="0"/>
          </a:p>
        </p:txBody>
      </p:sp>
      <p:sp>
        <p:nvSpPr>
          <p:cNvPr id="21" name="Text 19"/>
          <p:cNvSpPr txBox="1"/>
          <p:nvPr/>
        </p:nvSpPr>
        <p:spPr>
          <a:xfrm>
            <a:off x="8325917" y="2743200"/>
            <a:ext cx="3088538" cy="1005840"/>
          </a:xfrm>
          <a:prstGeom prst="rect">
            <a:avLst/>
          </a:prstGeom>
          <a:noFill/>
          <a:ln/>
        </p:spPr>
        <p:txBody>
          <a:bodyPr wrap="square" lIns="0" tIns="0" rIns="0" bIns="0" rtlCol="0" anchor="t"/>
          <a:lstStyle/>
          <a:p>
            <a:pPr indent="0" marL="0">
              <a:buNone/>
            </a:pPr>
            <a:r>
              <a:rPr lang="en-US" sz="1200" dirty="0">
                <a:solidFill>
                  <a:srgbClr val="53565A"/>
                </a:solidFill>
                <a:latin typeface="Arial" pitchFamily="34" charset="0"/>
                <a:ea typeface="Arial" pitchFamily="34" charset="-122"/>
                <a:cs typeface="Arial" pitchFamily="34" charset="-120"/>
              </a:rPr>
              <a:t>Sample payloads, the field mapping sheet, daily volumes, run schedule, and how much history is needed.</a:t>
            </a:r>
            <a:endParaRPr lang="en-US" sz="1200" dirty="0"/>
          </a:p>
        </p:txBody>
      </p:sp>
      <p:sp>
        <p:nvSpPr>
          <p:cNvPr id="22" name="Shape 20"/>
          <p:cNvSpPr/>
          <p:nvPr/>
        </p:nvSpPr>
        <p:spPr>
          <a:xfrm>
            <a:off x="548640" y="4023360"/>
            <a:ext cx="3545738" cy="1920240"/>
          </a:xfrm>
          <a:prstGeom prst="rect">
            <a:avLst/>
          </a:prstGeom>
          <a:solidFill>
            <a:srgbClr val="F2F2F2"/>
          </a:solidFill>
          <a:ln w="12700">
            <a:solidFill>
              <a:srgbClr val="F2F2F2"/>
            </a:solidFill>
            <a:prstDash val="solid"/>
          </a:ln>
        </p:spPr>
      </p:sp>
      <p:sp>
        <p:nvSpPr>
          <p:cNvPr id="23" name="Shape 21"/>
          <p:cNvSpPr/>
          <p:nvPr/>
        </p:nvSpPr>
        <p:spPr>
          <a:xfrm>
            <a:off x="777240" y="4251960"/>
            <a:ext cx="457200" cy="457200"/>
          </a:xfrm>
          <a:prstGeom prst="ellipse">
            <a:avLst/>
          </a:prstGeom>
          <a:solidFill>
            <a:srgbClr val="86BC25"/>
          </a:solidFill>
          <a:ln w="12700">
            <a:solidFill>
              <a:srgbClr val="86BC25"/>
            </a:solidFill>
            <a:prstDash val="solid"/>
          </a:ln>
        </p:spPr>
      </p:sp>
      <p:sp>
        <p:nvSpPr>
          <p:cNvPr id="24" name="Text 22"/>
          <p:cNvSpPr txBox="1"/>
          <p:nvPr/>
        </p:nvSpPr>
        <p:spPr>
          <a:xfrm>
            <a:off x="777240" y="42519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5" name="Text 23"/>
          <p:cNvSpPr txBox="1"/>
          <p:nvPr/>
        </p:nvSpPr>
        <p:spPr>
          <a:xfrm>
            <a:off x="1417320" y="4297680"/>
            <a:ext cx="2448458" cy="365760"/>
          </a:xfrm>
          <a:prstGeom prst="rect">
            <a:avLst/>
          </a:prstGeom>
          <a:noFill/>
          <a:ln/>
        </p:spPr>
        <p:txBody>
          <a:bodyPr wrap="square" lIns="0" tIns="0" rIns="0" bIns="0" rtlCol="0" anchor="t"/>
          <a:lstStyle/>
          <a:p>
            <a:pPr indent="0" marL="0">
              <a:buNone/>
            </a:pPr>
            <a:r>
              <a:rPr lang="en-US" sz="1600" b="1" dirty="0">
                <a:solidFill>
                  <a:srgbClr val="000000"/>
                </a:solidFill>
                <a:latin typeface="Arial" pitchFamily="34" charset="0"/>
                <a:ea typeface="Arial" pitchFamily="34" charset="-122"/>
                <a:cs typeface="Arial" pitchFamily="34" charset="-120"/>
              </a:rPr>
              <a:t>CMDB readiness</a:t>
            </a:r>
            <a:endParaRPr lang="en-US" sz="1600" dirty="0"/>
          </a:p>
        </p:txBody>
      </p:sp>
      <p:sp>
        <p:nvSpPr>
          <p:cNvPr id="26" name="Text 24"/>
          <p:cNvSpPr txBox="1"/>
          <p:nvPr/>
        </p:nvSpPr>
        <p:spPr>
          <a:xfrm>
            <a:off x="777240" y="4892040"/>
            <a:ext cx="3088538" cy="1005840"/>
          </a:xfrm>
          <a:prstGeom prst="rect">
            <a:avLst/>
          </a:prstGeom>
          <a:noFill/>
          <a:ln/>
        </p:spPr>
        <p:txBody>
          <a:bodyPr wrap="square" lIns="0" tIns="0" rIns="0" bIns="0" rtlCol="0" anchor="t"/>
          <a:lstStyle/>
          <a:p>
            <a:pPr indent="0" marL="0">
              <a:buNone/>
            </a:pPr>
            <a:r>
              <a:rPr lang="en-US" sz="1200" dirty="0">
                <a:solidFill>
                  <a:srgbClr val="53565A"/>
                </a:solidFill>
                <a:latin typeface="Arial" pitchFamily="34" charset="0"/>
                <a:ea typeface="Arial" pitchFamily="34" charset="-122"/>
                <a:cs typeface="Arial" pitchFamily="34" charset="-120"/>
              </a:rPr>
              <a:t>Do the hosts exist with FQDN, serial and IP? In which classes? Which lookup rules will find them?</a:t>
            </a:r>
            <a:endParaRPr lang="en-US" sz="1200" dirty="0"/>
          </a:p>
        </p:txBody>
      </p:sp>
      <p:sp>
        <p:nvSpPr>
          <p:cNvPr id="27" name="Shape 25"/>
          <p:cNvSpPr/>
          <p:nvPr/>
        </p:nvSpPr>
        <p:spPr>
          <a:xfrm>
            <a:off x="4322978" y="4023360"/>
            <a:ext cx="3545738" cy="1920240"/>
          </a:xfrm>
          <a:prstGeom prst="rect">
            <a:avLst/>
          </a:prstGeom>
          <a:solidFill>
            <a:srgbClr val="F2F2F2"/>
          </a:solidFill>
          <a:ln w="12700">
            <a:solidFill>
              <a:srgbClr val="F2F2F2"/>
            </a:solidFill>
            <a:prstDash val="solid"/>
          </a:ln>
        </p:spPr>
      </p:sp>
      <p:sp>
        <p:nvSpPr>
          <p:cNvPr id="28" name="Shape 26"/>
          <p:cNvSpPr/>
          <p:nvPr/>
        </p:nvSpPr>
        <p:spPr>
          <a:xfrm>
            <a:off x="4551578" y="4251960"/>
            <a:ext cx="457200" cy="457200"/>
          </a:xfrm>
          <a:prstGeom prst="ellipse">
            <a:avLst/>
          </a:prstGeom>
          <a:solidFill>
            <a:srgbClr val="86BC25"/>
          </a:solidFill>
          <a:ln w="12700">
            <a:solidFill>
              <a:srgbClr val="86BC25"/>
            </a:solidFill>
            <a:prstDash val="solid"/>
          </a:ln>
        </p:spPr>
      </p:sp>
      <p:sp>
        <p:nvSpPr>
          <p:cNvPr id="29" name="Text 27"/>
          <p:cNvSpPr txBox="1"/>
          <p:nvPr/>
        </p:nvSpPr>
        <p:spPr>
          <a:xfrm>
            <a:off x="4551578" y="42519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30" name="Text 28"/>
          <p:cNvSpPr txBox="1"/>
          <p:nvPr/>
        </p:nvSpPr>
        <p:spPr>
          <a:xfrm>
            <a:off x="5191658" y="4297680"/>
            <a:ext cx="2448458" cy="365760"/>
          </a:xfrm>
          <a:prstGeom prst="rect">
            <a:avLst/>
          </a:prstGeom>
          <a:noFill/>
          <a:ln/>
        </p:spPr>
        <p:txBody>
          <a:bodyPr wrap="square" lIns="0" tIns="0" rIns="0" bIns="0" rtlCol="0" anchor="t"/>
          <a:lstStyle/>
          <a:p>
            <a:pPr indent="0" marL="0">
              <a:buNone/>
            </a:pPr>
            <a:r>
              <a:rPr lang="en-US" sz="1600" b="1" dirty="0">
                <a:solidFill>
                  <a:srgbClr val="000000"/>
                </a:solidFill>
                <a:latin typeface="Arial" pitchFamily="34" charset="0"/>
                <a:ea typeface="Arial" pitchFamily="34" charset="-122"/>
                <a:cs typeface="Arial" pitchFamily="34" charset="-120"/>
              </a:rPr>
              <a:t>Process</a:t>
            </a:r>
            <a:endParaRPr lang="en-US" sz="1600" dirty="0"/>
          </a:p>
        </p:txBody>
      </p:sp>
      <p:sp>
        <p:nvSpPr>
          <p:cNvPr id="31" name="Text 29"/>
          <p:cNvSpPr txBox="1"/>
          <p:nvPr/>
        </p:nvSpPr>
        <p:spPr>
          <a:xfrm>
            <a:off x="4551578" y="4892040"/>
            <a:ext cx="3088538" cy="1005840"/>
          </a:xfrm>
          <a:prstGeom prst="rect">
            <a:avLst/>
          </a:prstGeom>
          <a:noFill/>
          <a:ln/>
        </p:spPr>
        <p:txBody>
          <a:bodyPr wrap="square" lIns="0" tIns="0" rIns="0" bIns="0" rtlCol="0" anchor="t"/>
          <a:lstStyle/>
          <a:p>
            <a:pPr indent="0" marL="0">
              <a:buNone/>
            </a:pPr>
            <a:r>
              <a:rPr lang="en-US" sz="1200" dirty="0">
                <a:solidFill>
                  <a:srgbClr val="53565A"/>
                </a:solidFill>
                <a:latin typeface="Arial" pitchFamily="34" charset="0"/>
                <a:ea typeface="Arial" pitchFamily="34" charset="-122"/>
                <a:cs typeface="Arial" pitchFamily="34" charset="-120"/>
              </a:rPr>
              <a:t>Who owns each finding, how findings are grouped, remediation targets, and the exception route.</a:t>
            </a:r>
            <a:endParaRPr lang="en-US" sz="1200" dirty="0"/>
          </a:p>
        </p:txBody>
      </p:sp>
      <p:sp>
        <p:nvSpPr>
          <p:cNvPr id="32" name="Shape 30"/>
          <p:cNvSpPr/>
          <p:nvPr/>
        </p:nvSpPr>
        <p:spPr>
          <a:xfrm>
            <a:off x="8097317" y="4023360"/>
            <a:ext cx="3545738" cy="1920240"/>
          </a:xfrm>
          <a:prstGeom prst="rect">
            <a:avLst/>
          </a:prstGeom>
          <a:solidFill>
            <a:srgbClr val="F2F2F2"/>
          </a:solidFill>
          <a:ln w="12700">
            <a:solidFill>
              <a:srgbClr val="F2F2F2"/>
            </a:solidFill>
            <a:prstDash val="solid"/>
          </a:ln>
        </p:spPr>
      </p:sp>
      <p:sp>
        <p:nvSpPr>
          <p:cNvPr id="33" name="Shape 31"/>
          <p:cNvSpPr/>
          <p:nvPr/>
        </p:nvSpPr>
        <p:spPr>
          <a:xfrm>
            <a:off x="8325917" y="4251960"/>
            <a:ext cx="457200" cy="457200"/>
          </a:xfrm>
          <a:prstGeom prst="ellipse">
            <a:avLst/>
          </a:prstGeom>
          <a:solidFill>
            <a:srgbClr val="86BC25"/>
          </a:solidFill>
          <a:ln w="12700">
            <a:solidFill>
              <a:srgbClr val="86BC25"/>
            </a:solidFill>
            <a:prstDash val="solid"/>
          </a:ln>
        </p:spPr>
      </p:sp>
      <p:sp>
        <p:nvSpPr>
          <p:cNvPr id="34" name="Text 32"/>
          <p:cNvSpPr txBox="1"/>
          <p:nvPr/>
        </p:nvSpPr>
        <p:spPr>
          <a:xfrm>
            <a:off x="8325917" y="42519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5" name="Text 33"/>
          <p:cNvSpPr txBox="1"/>
          <p:nvPr/>
        </p:nvSpPr>
        <p:spPr>
          <a:xfrm>
            <a:off x="8965997" y="4297680"/>
            <a:ext cx="2448458" cy="365760"/>
          </a:xfrm>
          <a:prstGeom prst="rect">
            <a:avLst/>
          </a:prstGeom>
          <a:noFill/>
          <a:ln/>
        </p:spPr>
        <p:txBody>
          <a:bodyPr wrap="square" lIns="0" tIns="0" rIns="0" bIns="0" rtlCol="0" anchor="t"/>
          <a:lstStyle/>
          <a:p>
            <a:pPr indent="0" marL="0">
              <a:buNone/>
            </a:pPr>
            <a:r>
              <a:rPr lang="en-US" sz="1600" b="1" dirty="0">
                <a:solidFill>
                  <a:srgbClr val="000000"/>
                </a:solidFill>
                <a:latin typeface="Arial" pitchFamily="34" charset="0"/>
                <a:ea typeface="Arial" pitchFamily="34" charset="-122"/>
                <a:cs typeface="Arial" pitchFamily="34" charset="-120"/>
              </a:rPr>
              <a:t>Sign-off</a:t>
            </a:r>
            <a:endParaRPr lang="en-US" sz="1600" dirty="0"/>
          </a:p>
        </p:txBody>
      </p:sp>
      <p:sp>
        <p:nvSpPr>
          <p:cNvPr id="36" name="Text 34"/>
          <p:cNvSpPr txBox="1"/>
          <p:nvPr/>
        </p:nvSpPr>
        <p:spPr>
          <a:xfrm>
            <a:off x="8325917" y="4892040"/>
            <a:ext cx="3088538" cy="1005840"/>
          </a:xfrm>
          <a:prstGeom prst="rect">
            <a:avLst/>
          </a:prstGeom>
          <a:noFill/>
          <a:ln/>
        </p:spPr>
        <p:txBody>
          <a:bodyPr wrap="square" lIns="0" tIns="0" rIns="0" bIns="0" rtlCol="0" anchor="t"/>
          <a:lstStyle/>
          <a:p>
            <a:pPr indent="0" marL="0">
              <a:buNone/>
            </a:pPr>
            <a:r>
              <a:rPr lang="en-US" sz="1200" dirty="0">
                <a:solidFill>
                  <a:srgbClr val="53565A"/>
                </a:solidFill>
                <a:latin typeface="Arial" pitchFamily="34" charset="0"/>
                <a:ea typeface="Arial" pitchFamily="34" charset="-122"/>
                <a:cs typeface="Arial" pitchFamily="34" charset="-120"/>
              </a:rPr>
              <a:t>A test instance with realistic data; success criteria (match rate, counts vs the source); a way back.</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000" b="1" spc="150" kern="0" dirty="0">
                <a:solidFill>
                  <a:srgbClr val="26890D"/>
                </a:solidFill>
                <a:latin typeface="Arial" pitchFamily="34" charset="0"/>
                <a:ea typeface="Arial" pitchFamily="34" charset="-122"/>
                <a:cs typeface="Arial" pitchFamily="34" charset="-120"/>
              </a:rPr>
              <a:t>4 · RUNNING AN INTEGRATION</a:t>
            </a:r>
            <a:endParaRPr lang="en-US" sz="10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Questions you will be asked</a:t>
            </a:r>
            <a:pPr indent="0" marL="0">
              <a:buNone/>
            </a:pPr>
            <a:r>
              <a:rPr lang="en-US" sz="3000" b="1" dirty="0">
                <a:solidFill>
                  <a:srgbClr val="86BC25"/>
                </a:solidFill>
                <a:latin typeface="Arial" pitchFamily="34" charset="0"/>
                <a:ea typeface="Arial" pitchFamily="34" charset="-122"/>
                <a:cs typeface="Arial" pitchFamily="34" charset="-120"/>
              </a:rPr>
              <a:t>.</a:t>
            </a:r>
            <a:endParaRPr lang="en-US" sz="3000" dirty="0"/>
          </a:p>
        </p:txBody>
      </p:sp>
      <p:sp>
        <p:nvSpPr>
          <p:cNvPr id="4" name="Text 2"/>
          <p:cNvSpPr txBox="1"/>
          <p:nvPr/>
        </p:nvSpPr>
        <p:spPr>
          <a:xfrm>
            <a:off x="548640" y="1243584"/>
            <a:ext cx="11094415" cy="411480"/>
          </a:xfrm>
          <a:prstGeom prst="rect">
            <a:avLst/>
          </a:prstGeom>
          <a:noFill/>
          <a:ln/>
        </p:spPr>
        <p:txBody>
          <a:bodyPr wrap="square" lIns="0" tIns="0" rIns="0" bIns="0" rtlCol="0" anchor="t"/>
          <a:lstStyle/>
          <a:p>
            <a:pPr indent="0" marL="0">
              <a:buNone/>
            </a:pPr>
            <a:r>
              <a:rPr lang="en-US" sz="1400" dirty="0">
                <a:solidFill>
                  <a:srgbClr val="53565A"/>
                </a:solidFill>
                <a:latin typeface="Arial" pitchFamily="34" charset="0"/>
                <a:ea typeface="Arial" pitchFamily="34" charset="-122"/>
                <a:cs typeface="Arial" pitchFamily="34" charset="-120"/>
              </a:rPr>
              <a:t>The same eight come up on every project. Short answers, and where to look.</a:t>
            </a:r>
            <a:endParaRPr lang="en-US" sz="1400" dirty="0"/>
          </a:p>
        </p:txBody>
      </p:sp>
      <p:sp>
        <p:nvSpPr>
          <p:cNvPr id="5" name="Text 3"/>
          <p:cNvSpPr txBox="1"/>
          <p:nvPr/>
        </p:nvSpPr>
        <p:spPr>
          <a:xfrm>
            <a:off x="11185855" y="6473952"/>
            <a:ext cx="457200" cy="228600"/>
          </a:xfrm>
          <a:prstGeom prst="rect">
            <a:avLst/>
          </a:prstGeom>
          <a:noFill/>
          <a:ln/>
        </p:spPr>
        <p:txBody>
          <a:bodyPr wrap="square" lIns="0" tIns="0" rIns="0" bIns="0" rtlCol="0" anchor="t"/>
          <a:lstStyle/>
          <a:p>
            <a:pPr algn="r" indent="0" marL="0">
              <a:buNone/>
            </a:pPr>
            <a:r>
              <a:rPr lang="en-US" sz="900" dirty="0">
                <a:solidFill>
                  <a:srgbClr val="75787B"/>
                </a:solidFill>
                <a:latin typeface="Arial" pitchFamily="34" charset="0"/>
                <a:ea typeface="Arial" pitchFamily="34" charset="-122"/>
                <a:cs typeface="Arial" pitchFamily="34" charset="-120"/>
              </a:rPr>
              <a:t>10</a:t>
            </a:r>
            <a:endParaRPr lang="en-US" sz="900" dirty="0"/>
          </a:p>
        </p:txBody>
      </p:sp>
      <p:sp>
        <p:nvSpPr>
          <p:cNvPr id="6" name="Text 4"/>
          <p:cNvSpPr txBox="1"/>
          <p:nvPr/>
        </p:nvSpPr>
        <p:spPr>
          <a:xfrm>
            <a:off x="548640" y="6473952"/>
            <a:ext cx="2743200" cy="228600"/>
          </a:xfrm>
          <a:prstGeom prst="rect">
            <a:avLst/>
          </a:prstGeom>
          <a:noFill/>
          <a:ln/>
        </p:spPr>
        <p:txBody>
          <a:bodyPr wrap="square" lIns="0" tIns="0" rIns="0" bIns="0" rtlCol="0" anchor="t"/>
          <a:lstStyle/>
          <a:p>
            <a:pPr indent="0" marL="0">
              <a:buNone/>
            </a:pPr>
            <a:r>
              <a:rPr lang="en-US" sz="900" dirty="0">
                <a:solidFill>
                  <a:srgbClr val="75787B"/>
                </a:solidFill>
                <a:latin typeface="Arial" pitchFamily="34" charset="0"/>
                <a:ea typeface="Arial" pitchFamily="34" charset="-122"/>
                <a:cs typeface="Arial" pitchFamily="34" charset="-120"/>
              </a:rPr>
              <a:t>VR field guide</a:t>
            </a:r>
            <a:endParaRPr lang="en-US" sz="900" dirty="0"/>
          </a:p>
        </p:txBody>
      </p:sp>
      <p:sp>
        <p:nvSpPr>
          <p:cNvPr id="7" name="Shape 5"/>
          <p:cNvSpPr/>
          <p:nvPr/>
        </p:nvSpPr>
        <p:spPr>
          <a:xfrm>
            <a:off x="548640" y="1874520"/>
            <a:ext cx="5364328" cy="932688"/>
          </a:xfrm>
          <a:prstGeom prst="rect">
            <a:avLst/>
          </a:prstGeom>
          <a:solidFill>
            <a:srgbClr val="F2F2F2"/>
          </a:solidFill>
          <a:ln w="12700">
            <a:solidFill>
              <a:srgbClr val="F2F2F2"/>
            </a:solidFill>
            <a:prstDash val="solid"/>
          </a:ln>
        </p:spPr>
      </p:sp>
      <p:sp>
        <p:nvSpPr>
          <p:cNvPr id="8" name="Text 6"/>
          <p:cNvSpPr txBox="1"/>
          <p:nvPr/>
        </p:nvSpPr>
        <p:spPr>
          <a:xfrm>
            <a:off x="749808" y="1984248"/>
            <a:ext cx="4961992" cy="274320"/>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Why are so many hosts unmatched?</a:t>
            </a:r>
            <a:endParaRPr lang="en-US" sz="1300" dirty="0"/>
          </a:p>
        </p:txBody>
      </p:sp>
      <p:sp>
        <p:nvSpPr>
          <p:cNvPr id="9" name="Text 7"/>
          <p:cNvSpPr txBox="1"/>
          <p:nvPr/>
        </p:nvSpPr>
        <p:spPr>
          <a:xfrm>
            <a:off x="749808" y="2295144"/>
            <a:ext cx="4961992" cy="475488"/>
          </a:xfrm>
          <a:prstGeom prst="rect">
            <a:avLst/>
          </a:prstGeom>
          <a:noFill/>
          <a:ln/>
        </p:spPr>
        <p:txBody>
          <a:bodyPr wrap="square" lIns="0" tIns="0" rIns="0" bIns="0" rtlCol="0" anchor="t"/>
          <a:lstStyle/>
          <a:p>
            <a:pPr indent="0" marL="0">
              <a:buNone/>
            </a:pPr>
            <a:r>
              <a:rPr lang="en-US" sz="1150" dirty="0">
                <a:solidFill>
                  <a:srgbClr val="53565A"/>
                </a:solidFill>
                <a:latin typeface="Arial" pitchFamily="34" charset="0"/>
                <a:ea typeface="Arial" pitchFamily="34" charset="-122"/>
                <a:cs typeface="Arial" pitchFamily="34" charset="-120"/>
              </a:rPr>
              <a:t>Usually the host is not in the CMDB, or its name or IP differ there. Measure before changing rules.</a:t>
            </a:r>
            <a:endParaRPr lang="en-US" sz="1150" dirty="0"/>
          </a:p>
        </p:txBody>
      </p:sp>
      <p:sp>
        <p:nvSpPr>
          <p:cNvPr id="10" name="Shape 8"/>
          <p:cNvSpPr/>
          <p:nvPr/>
        </p:nvSpPr>
        <p:spPr>
          <a:xfrm>
            <a:off x="548640" y="2926080"/>
            <a:ext cx="5364328" cy="932688"/>
          </a:xfrm>
          <a:prstGeom prst="rect">
            <a:avLst/>
          </a:prstGeom>
          <a:solidFill>
            <a:srgbClr val="F2F2F2"/>
          </a:solidFill>
          <a:ln w="12700">
            <a:solidFill>
              <a:srgbClr val="F2F2F2"/>
            </a:solidFill>
            <a:prstDash val="solid"/>
          </a:ln>
        </p:spPr>
      </p:sp>
      <p:sp>
        <p:nvSpPr>
          <p:cNvPr id="11" name="Text 9"/>
          <p:cNvSpPr txBox="1"/>
          <p:nvPr/>
        </p:nvSpPr>
        <p:spPr>
          <a:xfrm>
            <a:off x="749808" y="3035808"/>
            <a:ext cx="4961992" cy="274320"/>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Why is a finding on the wrong CI?</a:t>
            </a:r>
            <a:endParaRPr lang="en-US" sz="1300" dirty="0"/>
          </a:p>
        </p:txBody>
      </p:sp>
      <p:sp>
        <p:nvSpPr>
          <p:cNvPr id="12" name="Text 10"/>
          <p:cNvSpPr txBox="1"/>
          <p:nvPr/>
        </p:nvSpPr>
        <p:spPr>
          <a:xfrm>
            <a:off x="749808" y="3346704"/>
            <a:ext cx="4961992" cy="475488"/>
          </a:xfrm>
          <a:prstGeom prst="rect">
            <a:avLst/>
          </a:prstGeom>
          <a:noFill/>
          <a:ln/>
        </p:spPr>
        <p:txBody>
          <a:bodyPr wrap="square" lIns="0" tIns="0" rIns="0" bIns="0" rtlCol="0" anchor="t"/>
          <a:lstStyle/>
          <a:p>
            <a:pPr indent="0" marL="0">
              <a:buNone/>
            </a:pPr>
            <a:r>
              <a:rPr lang="en-US" sz="1150" dirty="0">
                <a:solidFill>
                  <a:srgbClr val="53565A"/>
                </a:solidFill>
                <a:latin typeface="Arial" pitchFamily="34" charset="0"/>
                <a:ea typeface="Arial" pitchFamily="34" charset="-122"/>
                <a:cs typeface="Arial" pitchFamily="34" charset="-120"/>
              </a:rPr>
              <a:t>A loose rule matched a shared or reused IP. Tighten the rule; never hand-edit the item.</a:t>
            </a:r>
            <a:endParaRPr lang="en-US" sz="1150" dirty="0"/>
          </a:p>
        </p:txBody>
      </p:sp>
      <p:sp>
        <p:nvSpPr>
          <p:cNvPr id="13" name="Shape 11"/>
          <p:cNvSpPr/>
          <p:nvPr/>
        </p:nvSpPr>
        <p:spPr>
          <a:xfrm>
            <a:off x="548640" y="3977640"/>
            <a:ext cx="5364328" cy="932688"/>
          </a:xfrm>
          <a:prstGeom prst="rect">
            <a:avLst/>
          </a:prstGeom>
          <a:solidFill>
            <a:srgbClr val="F2F2F2"/>
          </a:solidFill>
          <a:ln w="12700">
            <a:solidFill>
              <a:srgbClr val="F2F2F2"/>
            </a:solidFill>
            <a:prstDash val="solid"/>
          </a:ln>
        </p:spPr>
      </p:sp>
      <p:sp>
        <p:nvSpPr>
          <p:cNvPr id="14" name="Text 12"/>
          <p:cNvSpPr txBox="1"/>
          <p:nvPr/>
        </p:nvSpPr>
        <p:spPr>
          <a:xfrm>
            <a:off x="749808" y="4087368"/>
            <a:ext cx="4961992" cy="274320"/>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Why do we have duplicate CIs?</a:t>
            </a:r>
            <a:endParaRPr lang="en-US" sz="1300" dirty="0"/>
          </a:p>
        </p:txBody>
      </p:sp>
      <p:sp>
        <p:nvSpPr>
          <p:cNvPr id="15" name="Text 13"/>
          <p:cNvSpPr txBox="1"/>
          <p:nvPr/>
        </p:nvSpPr>
        <p:spPr>
          <a:xfrm>
            <a:off x="749808" y="4398264"/>
            <a:ext cx="4961992" cy="475488"/>
          </a:xfrm>
          <a:prstGeom prst="rect">
            <a:avLst/>
          </a:prstGeom>
          <a:noFill/>
          <a:ln/>
        </p:spPr>
        <p:txBody>
          <a:bodyPr wrap="square" lIns="0" tIns="0" rIns="0" bIns="0" rtlCol="0" anchor="t"/>
          <a:lstStyle/>
          <a:p>
            <a:pPr indent="0" marL="0">
              <a:buNone/>
            </a:pPr>
            <a:r>
              <a:rPr lang="en-US" sz="1150" dirty="0">
                <a:solidFill>
                  <a:srgbClr val="53565A"/>
                </a:solidFill>
                <a:latin typeface="Arial" pitchFamily="34" charset="0"/>
                <a:ea typeface="Arial" pitchFamily="34" charset="-122"/>
                <a:cs typeface="Arial" pitchFamily="34" charset="-120"/>
              </a:rPr>
              <a:t>A lookup miss sent the host to IRE, which created a placeholder. Fix the rule or the data, then reapply.</a:t>
            </a:r>
            <a:endParaRPr lang="en-US" sz="1150" dirty="0"/>
          </a:p>
        </p:txBody>
      </p:sp>
      <p:sp>
        <p:nvSpPr>
          <p:cNvPr id="16" name="Shape 14"/>
          <p:cNvSpPr/>
          <p:nvPr/>
        </p:nvSpPr>
        <p:spPr>
          <a:xfrm>
            <a:off x="548640" y="5029200"/>
            <a:ext cx="5364328" cy="932688"/>
          </a:xfrm>
          <a:prstGeom prst="rect">
            <a:avLst/>
          </a:prstGeom>
          <a:solidFill>
            <a:srgbClr val="F2F2F2"/>
          </a:solidFill>
          <a:ln w="12700">
            <a:solidFill>
              <a:srgbClr val="F2F2F2"/>
            </a:solidFill>
            <a:prstDash val="solid"/>
          </a:ln>
        </p:spPr>
      </p:sp>
      <p:sp>
        <p:nvSpPr>
          <p:cNvPr id="17" name="Text 15"/>
          <p:cNvSpPr txBox="1"/>
          <p:nvPr/>
        </p:nvSpPr>
        <p:spPr>
          <a:xfrm>
            <a:off x="749808" y="5138928"/>
            <a:ext cx="4961992" cy="274320"/>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Why are fixed findings still open?</a:t>
            </a:r>
            <a:endParaRPr lang="en-US" sz="1300" dirty="0"/>
          </a:p>
        </p:txBody>
      </p:sp>
      <p:sp>
        <p:nvSpPr>
          <p:cNvPr id="18" name="Text 16"/>
          <p:cNvSpPr txBox="1"/>
          <p:nvPr/>
        </p:nvSpPr>
        <p:spPr>
          <a:xfrm>
            <a:off x="749808" y="5449824"/>
            <a:ext cx="4961992" cy="475488"/>
          </a:xfrm>
          <a:prstGeom prst="rect">
            <a:avLst/>
          </a:prstGeom>
          <a:noFill/>
          <a:ln/>
        </p:spPr>
        <p:txBody>
          <a:bodyPr wrap="square" lIns="0" tIns="0" rIns="0" bIns="0" rtlCol="0" anchor="t"/>
          <a:lstStyle/>
          <a:p>
            <a:pPr indent="0" marL="0">
              <a:buNone/>
            </a:pPr>
            <a:r>
              <a:rPr lang="en-US" sz="1150" dirty="0">
                <a:solidFill>
                  <a:srgbClr val="53565A"/>
                </a:solidFill>
                <a:latin typeface="Arial" pitchFamily="34" charset="0"/>
                <a:ea typeface="Arial" pitchFamily="34" charset="-122"/>
                <a:cs typeface="Arial" pitchFamily="34" charset="-120"/>
              </a:rPr>
              <a:t>The source still reports them, or closure depends on the next scan. Check last found and close settings.</a:t>
            </a:r>
            <a:endParaRPr lang="en-US" sz="1150" dirty="0"/>
          </a:p>
        </p:txBody>
      </p:sp>
      <p:sp>
        <p:nvSpPr>
          <p:cNvPr id="19" name="Shape 17"/>
          <p:cNvSpPr/>
          <p:nvPr/>
        </p:nvSpPr>
        <p:spPr>
          <a:xfrm>
            <a:off x="6278728" y="1874520"/>
            <a:ext cx="5364328" cy="932688"/>
          </a:xfrm>
          <a:prstGeom prst="rect">
            <a:avLst/>
          </a:prstGeom>
          <a:solidFill>
            <a:srgbClr val="F2F2F2"/>
          </a:solidFill>
          <a:ln w="12700">
            <a:solidFill>
              <a:srgbClr val="F2F2F2"/>
            </a:solidFill>
            <a:prstDash val="solid"/>
          </a:ln>
        </p:spPr>
      </p:sp>
      <p:sp>
        <p:nvSpPr>
          <p:cNvPr id="20" name="Text 18"/>
          <p:cNvSpPr txBox="1"/>
          <p:nvPr/>
        </p:nvSpPr>
        <p:spPr>
          <a:xfrm>
            <a:off x="6479896" y="1984248"/>
            <a:ext cx="4961992" cy="274320"/>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Why don't counts match the scanner?</a:t>
            </a:r>
            <a:endParaRPr lang="en-US" sz="1300" dirty="0"/>
          </a:p>
        </p:txBody>
      </p:sp>
      <p:sp>
        <p:nvSpPr>
          <p:cNvPr id="21" name="Text 19"/>
          <p:cNvSpPr txBox="1"/>
          <p:nvPr/>
        </p:nvSpPr>
        <p:spPr>
          <a:xfrm>
            <a:off x="6479896" y="2295144"/>
            <a:ext cx="4961992" cy="475488"/>
          </a:xfrm>
          <a:prstGeom prst="rect">
            <a:avLst/>
          </a:prstGeom>
          <a:noFill/>
          <a:ln/>
        </p:spPr>
        <p:txBody>
          <a:bodyPr wrap="square" lIns="0" tIns="0" rIns="0" bIns="0" rtlCol="0" anchor="t"/>
          <a:lstStyle/>
          <a:p>
            <a:pPr indent="0" marL="0">
              <a:buNone/>
            </a:pPr>
            <a:r>
              <a:rPr lang="en-US" sz="1150" dirty="0">
                <a:solidFill>
                  <a:srgbClr val="53565A"/>
                </a:solidFill>
                <a:latin typeface="Arial" pitchFamily="34" charset="0"/>
                <a:ea typeface="Arial" pitchFamily="34" charset="-122"/>
                <a:cs typeface="Arial" pitchFamily="34" charset="-120"/>
              </a:rPr>
              <a:t>Different filters: states, sources, ignored classes, retired CIs, and time zones.</a:t>
            </a:r>
            <a:endParaRPr lang="en-US" sz="1150" dirty="0"/>
          </a:p>
        </p:txBody>
      </p:sp>
      <p:sp>
        <p:nvSpPr>
          <p:cNvPr id="22" name="Shape 20"/>
          <p:cNvSpPr/>
          <p:nvPr/>
        </p:nvSpPr>
        <p:spPr>
          <a:xfrm>
            <a:off x="6278728" y="2926080"/>
            <a:ext cx="5364328" cy="932688"/>
          </a:xfrm>
          <a:prstGeom prst="rect">
            <a:avLst/>
          </a:prstGeom>
          <a:solidFill>
            <a:srgbClr val="F2F2F2"/>
          </a:solidFill>
          <a:ln w="12700">
            <a:solidFill>
              <a:srgbClr val="F2F2F2"/>
            </a:solidFill>
            <a:prstDash val="solid"/>
          </a:ln>
        </p:spPr>
      </p:sp>
      <p:sp>
        <p:nvSpPr>
          <p:cNvPr id="23" name="Text 21"/>
          <p:cNvSpPr txBox="1"/>
          <p:nvPr/>
        </p:nvSpPr>
        <p:spPr>
          <a:xfrm>
            <a:off x="6479896" y="3035808"/>
            <a:ext cx="4961992" cy="274320"/>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The integration run failed. Now?</a:t>
            </a:r>
            <a:endParaRPr lang="en-US" sz="1300" dirty="0"/>
          </a:p>
        </p:txBody>
      </p:sp>
      <p:sp>
        <p:nvSpPr>
          <p:cNvPr id="24" name="Text 22"/>
          <p:cNvSpPr txBox="1"/>
          <p:nvPr/>
        </p:nvSpPr>
        <p:spPr>
          <a:xfrm>
            <a:off x="6479896" y="3346704"/>
            <a:ext cx="4961992" cy="475488"/>
          </a:xfrm>
          <a:prstGeom prst="rect">
            <a:avLst/>
          </a:prstGeom>
          <a:noFill/>
          <a:ln/>
        </p:spPr>
        <p:txBody>
          <a:bodyPr wrap="square" lIns="0" tIns="0" rIns="0" bIns="0" rtlCol="0" anchor="t"/>
          <a:lstStyle/>
          <a:p>
            <a:pPr indent="0" marL="0">
              <a:buNone/>
            </a:pPr>
            <a:r>
              <a:rPr lang="en-US" sz="1150" dirty="0">
                <a:solidFill>
                  <a:srgbClr val="53565A"/>
                </a:solidFill>
                <a:latin typeface="Arial" pitchFamily="34" charset="0"/>
                <a:ea typeface="Arial" pitchFamily="34" charset="-122"/>
                <a:cs typeface="Arial" pitchFamily="34" charset="-120"/>
              </a:rPr>
              <a:t>Expired credentials, rate limits, time-outs. Read the integration run and its log first.</a:t>
            </a:r>
            <a:endParaRPr lang="en-US" sz="1150" dirty="0"/>
          </a:p>
        </p:txBody>
      </p:sp>
      <p:sp>
        <p:nvSpPr>
          <p:cNvPr id="25" name="Shape 23"/>
          <p:cNvSpPr/>
          <p:nvPr/>
        </p:nvSpPr>
        <p:spPr>
          <a:xfrm>
            <a:off x="6278728" y="3977640"/>
            <a:ext cx="5364328" cy="932688"/>
          </a:xfrm>
          <a:prstGeom prst="rect">
            <a:avLst/>
          </a:prstGeom>
          <a:solidFill>
            <a:srgbClr val="F2F2F2"/>
          </a:solidFill>
          <a:ln w="12700">
            <a:solidFill>
              <a:srgbClr val="F2F2F2"/>
            </a:solidFill>
            <a:prstDash val="solid"/>
          </a:ln>
        </p:spPr>
      </p:sp>
      <p:sp>
        <p:nvSpPr>
          <p:cNvPr id="26" name="Text 24"/>
          <p:cNvSpPr txBox="1"/>
          <p:nvPr/>
        </p:nvSpPr>
        <p:spPr>
          <a:xfrm>
            <a:off x="6479896" y="4087368"/>
            <a:ext cx="4961992" cy="274320"/>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Why do times look different?</a:t>
            </a:r>
            <a:endParaRPr lang="en-US" sz="1300" dirty="0"/>
          </a:p>
        </p:txBody>
      </p:sp>
      <p:sp>
        <p:nvSpPr>
          <p:cNvPr id="27" name="Text 25"/>
          <p:cNvSpPr txBox="1"/>
          <p:nvPr/>
        </p:nvSpPr>
        <p:spPr>
          <a:xfrm>
            <a:off x="6479896" y="4398264"/>
            <a:ext cx="4961992" cy="475488"/>
          </a:xfrm>
          <a:prstGeom prst="rect">
            <a:avLst/>
          </a:prstGeom>
          <a:noFill/>
          <a:ln/>
        </p:spPr>
        <p:txBody>
          <a:bodyPr wrap="square" lIns="0" tIns="0" rIns="0" bIns="0" rtlCol="0" anchor="t"/>
          <a:lstStyle/>
          <a:p>
            <a:pPr indent="0" marL="0">
              <a:buNone/>
            </a:pPr>
            <a:r>
              <a:rPr lang="en-US" sz="1150" dirty="0">
                <a:solidFill>
                  <a:srgbClr val="53565A"/>
                </a:solidFill>
                <a:latin typeface="Arial" pitchFamily="34" charset="0"/>
                <a:ea typeface="Arial" pitchFamily="34" charset="-122"/>
                <a:cs typeface="Arial" pitchFamily="34" charset="-120"/>
              </a:rPr>
              <a:t>The instance shows your time zone; exports and APIs use UTC. Never compare the two raw.</a:t>
            </a:r>
            <a:endParaRPr lang="en-US" sz="1150" dirty="0"/>
          </a:p>
        </p:txBody>
      </p:sp>
      <p:sp>
        <p:nvSpPr>
          <p:cNvPr id="28" name="Shape 26"/>
          <p:cNvSpPr/>
          <p:nvPr/>
        </p:nvSpPr>
        <p:spPr>
          <a:xfrm>
            <a:off x="6278728" y="5029200"/>
            <a:ext cx="5364328" cy="932688"/>
          </a:xfrm>
          <a:prstGeom prst="rect">
            <a:avLst/>
          </a:prstGeom>
          <a:solidFill>
            <a:srgbClr val="F2F2F2"/>
          </a:solidFill>
          <a:ln w="12700">
            <a:solidFill>
              <a:srgbClr val="F2F2F2"/>
            </a:solidFill>
            <a:prstDash val="solid"/>
          </a:ln>
        </p:spPr>
      </p:sp>
      <p:sp>
        <p:nvSpPr>
          <p:cNvPr id="29" name="Text 27"/>
          <p:cNvSpPr txBox="1"/>
          <p:nvPr/>
        </p:nvSpPr>
        <p:spPr>
          <a:xfrm>
            <a:off x="6479896" y="5138928"/>
            <a:ext cx="4961992" cy="274320"/>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My update set missed records.</a:t>
            </a:r>
            <a:endParaRPr lang="en-US" sz="1300" dirty="0"/>
          </a:p>
        </p:txBody>
      </p:sp>
      <p:sp>
        <p:nvSpPr>
          <p:cNvPr id="30" name="Text 28"/>
          <p:cNvSpPr txBox="1"/>
          <p:nvPr/>
        </p:nvSpPr>
        <p:spPr>
          <a:xfrm>
            <a:off x="6479896" y="5449824"/>
            <a:ext cx="4961992" cy="475488"/>
          </a:xfrm>
          <a:prstGeom prst="rect">
            <a:avLst/>
          </a:prstGeom>
          <a:noFill/>
          <a:ln/>
        </p:spPr>
        <p:txBody>
          <a:bodyPr wrap="square" lIns="0" tIns="0" rIns="0" bIns="0" rtlCol="0" anchor="t"/>
          <a:lstStyle/>
          <a:p>
            <a:pPr indent="0" marL="0">
              <a:buNone/>
            </a:pPr>
            <a:r>
              <a:rPr lang="en-US" sz="1150" dirty="0">
                <a:solidFill>
                  <a:srgbClr val="53565A"/>
                </a:solidFill>
                <a:latin typeface="Arial" pitchFamily="34" charset="0"/>
                <a:ea typeface="Arial" pitchFamily="34" charset="-122"/>
                <a:cs typeface="Arial" pitchFamily="34" charset="-120"/>
              </a:rPr>
              <a:t>Lookup rules and scheduled jobs are not tracked; capture them explicitly. One scope per set.</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000" b="1" spc="150" kern="0" dirty="0">
                <a:solidFill>
                  <a:srgbClr val="26890D"/>
                </a:solidFill>
                <a:latin typeface="Arial" pitchFamily="34" charset="0"/>
                <a:ea typeface="Arial" pitchFamily="34" charset="-122"/>
                <a:cs typeface="Arial" pitchFamily="34" charset="-120"/>
              </a:rPr>
              <a:t>4 · RUNNING AN INTEGRATION</a:t>
            </a:r>
            <a:endParaRPr lang="en-US" sz="10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Loading two years of history</a:t>
            </a:r>
            <a:pPr indent="0" marL="0">
              <a:buNone/>
            </a:pPr>
            <a:r>
              <a:rPr lang="en-US" sz="3000" b="1" dirty="0">
                <a:solidFill>
                  <a:srgbClr val="86BC25"/>
                </a:solidFill>
                <a:latin typeface="Arial" pitchFamily="34" charset="0"/>
                <a:ea typeface="Arial" pitchFamily="34" charset="-122"/>
                <a:cs typeface="Arial" pitchFamily="34" charset="-120"/>
              </a:rPr>
              <a:t>.</a:t>
            </a:r>
            <a:endParaRPr lang="en-US" sz="3000" dirty="0"/>
          </a:p>
        </p:txBody>
      </p:sp>
      <p:sp>
        <p:nvSpPr>
          <p:cNvPr id="4" name="Text 2"/>
          <p:cNvSpPr txBox="1"/>
          <p:nvPr/>
        </p:nvSpPr>
        <p:spPr>
          <a:xfrm>
            <a:off x="548640" y="1243584"/>
            <a:ext cx="11094415" cy="411480"/>
          </a:xfrm>
          <a:prstGeom prst="rect">
            <a:avLst/>
          </a:prstGeom>
          <a:noFill/>
          <a:ln/>
        </p:spPr>
        <p:txBody>
          <a:bodyPr wrap="square" lIns="0" tIns="0" rIns="0" bIns="0" rtlCol="0" anchor="t"/>
          <a:lstStyle/>
          <a:p>
            <a:pPr indent="0" marL="0">
              <a:buNone/>
            </a:pPr>
            <a:r>
              <a:rPr lang="en-US" sz="1400" dirty="0">
                <a:solidFill>
                  <a:srgbClr val="53565A"/>
                </a:solidFill>
                <a:latin typeface="Arial" pitchFamily="34" charset="0"/>
                <a:ea typeface="Arial" pitchFamily="34" charset="-122"/>
                <a:cs typeface="Arial" pitchFamily="34" charset="-120"/>
              </a:rPr>
              <a:t>Integrations are incremental: each run asks for what changed since the last one. History is a planned, one-off load.</a:t>
            </a:r>
            <a:endParaRPr lang="en-US" sz="1400" dirty="0"/>
          </a:p>
        </p:txBody>
      </p:sp>
      <p:sp>
        <p:nvSpPr>
          <p:cNvPr id="5" name="Text 3"/>
          <p:cNvSpPr txBox="1"/>
          <p:nvPr/>
        </p:nvSpPr>
        <p:spPr>
          <a:xfrm>
            <a:off x="11185855" y="6473952"/>
            <a:ext cx="457200" cy="228600"/>
          </a:xfrm>
          <a:prstGeom prst="rect">
            <a:avLst/>
          </a:prstGeom>
          <a:noFill/>
          <a:ln/>
        </p:spPr>
        <p:txBody>
          <a:bodyPr wrap="square" lIns="0" tIns="0" rIns="0" bIns="0" rtlCol="0" anchor="t"/>
          <a:lstStyle/>
          <a:p>
            <a:pPr algn="r" indent="0" marL="0">
              <a:buNone/>
            </a:pPr>
            <a:r>
              <a:rPr lang="en-US" sz="900" dirty="0">
                <a:solidFill>
                  <a:srgbClr val="75787B"/>
                </a:solidFill>
                <a:latin typeface="Arial" pitchFamily="34" charset="0"/>
                <a:ea typeface="Arial" pitchFamily="34" charset="-122"/>
                <a:cs typeface="Arial" pitchFamily="34" charset="-120"/>
              </a:rPr>
              <a:t>11</a:t>
            </a:r>
            <a:endParaRPr lang="en-US" sz="900" dirty="0"/>
          </a:p>
        </p:txBody>
      </p:sp>
      <p:sp>
        <p:nvSpPr>
          <p:cNvPr id="6" name="Text 4"/>
          <p:cNvSpPr txBox="1"/>
          <p:nvPr/>
        </p:nvSpPr>
        <p:spPr>
          <a:xfrm>
            <a:off x="548640" y="6473952"/>
            <a:ext cx="2743200" cy="228600"/>
          </a:xfrm>
          <a:prstGeom prst="rect">
            <a:avLst/>
          </a:prstGeom>
          <a:noFill/>
          <a:ln/>
        </p:spPr>
        <p:txBody>
          <a:bodyPr wrap="square" lIns="0" tIns="0" rIns="0" bIns="0" rtlCol="0" anchor="t"/>
          <a:lstStyle/>
          <a:p>
            <a:pPr indent="0" marL="0">
              <a:buNone/>
            </a:pPr>
            <a:r>
              <a:rPr lang="en-US" sz="900" dirty="0">
                <a:solidFill>
                  <a:srgbClr val="75787B"/>
                </a:solidFill>
                <a:latin typeface="Arial" pitchFamily="34" charset="0"/>
                <a:ea typeface="Arial" pitchFamily="34" charset="-122"/>
                <a:cs typeface="Arial" pitchFamily="34" charset="-120"/>
              </a:rPr>
              <a:t>VR field guide</a:t>
            </a:r>
            <a:endParaRPr lang="en-US" sz="900" dirty="0"/>
          </a:p>
        </p:txBody>
      </p:sp>
      <p:sp>
        <p:nvSpPr>
          <p:cNvPr id="7" name="Shape 5"/>
          <p:cNvSpPr/>
          <p:nvPr/>
        </p:nvSpPr>
        <p:spPr>
          <a:xfrm>
            <a:off x="548640" y="2057400"/>
            <a:ext cx="502920" cy="502920"/>
          </a:xfrm>
          <a:prstGeom prst="ellipse">
            <a:avLst/>
          </a:prstGeom>
          <a:solidFill>
            <a:srgbClr val="86BC25"/>
          </a:solidFill>
          <a:ln w="12700">
            <a:solidFill>
              <a:srgbClr val="86BC25"/>
            </a:solidFill>
            <a:prstDash val="solid"/>
          </a:ln>
        </p:spPr>
      </p:sp>
      <p:sp>
        <p:nvSpPr>
          <p:cNvPr id="8" name="Text 6"/>
          <p:cNvSpPr txBox="1"/>
          <p:nvPr/>
        </p:nvSpPr>
        <p:spPr>
          <a:xfrm>
            <a:off x="548640" y="20574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9" name="Shape 7"/>
          <p:cNvSpPr/>
          <p:nvPr/>
        </p:nvSpPr>
        <p:spPr>
          <a:xfrm>
            <a:off x="1115568" y="2308860"/>
            <a:ext cx="1706819" cy="0"/>
          </a:xfrm>
          <a:prstGeom prst="line">
            <a:avLst/>
          </a:prstGeom>
          <a:noFill/>
          <a:ln w="19050">
            <a:solidFill>
              <a:srgbClr val="BBBCBC"/>
            </a:solidFill>
            <a:prstDash val="solid"/>
          </a:ln>
        </p:spPr>
      </p:sp>
      <p:sp>
        <p:nvSpPr>
          <p:cNvPr id="10" name="Text 8"/>
          <p:cNvSpPr txBox="1"/>
          <p:nvPr/>
        </p:nvSpPr>
        <p:spPr>
          <a:xfrm>
            <a:off x="548640" y="2743200"/>
            <a:ext cx="1907987" cy="3200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Agree scope</a:t>
            </a:r>
            <a:endParaRPr lang="en-US" sz="1400" dirty="0"/>
          </a:p>
        </p:txBody>
      </p:sp>
      <p:sp>
        <p:nvSpPr>
          <p:cNvPr id="11" name="Text 9"/>
          <p:cNvSpPr txBox="1"/>
          <p:nvPr/>
        </p:nvSpPr>
        <p:spPr>
          <a:xfrm>
            <a:off x="548640" y="3090672"/>
            <a:ext cx="1907987" cy="1097280"/>
          </a:xfrm>
          <a:prstGeom prst="rect">
            <a:avLst/>
          </a:prstGeom>
          <a:noFill/>
          <a:ln/>
        </p:spPr>
        <p:txBody>
          <a:bodyPr wrap="square" lIns="0" tIns="0" rIns="0" bIns="0" rtlCol="0" anchor="t"/>
          <a:lstStyle/>
          <a:p>
            <a:pPr indent="0" marL="0">
              <a:buNone/>
            </a:pPr>
            <a:r>
              <a:rPr lang="en-US" sz="1150" dirty="0">
                <a:solidFill>
                  <a:srgbClr val="53565A"/>
                </a:solidFill>
                <a:latin typeface="Arial" pitchFamily="34" charset="0"/>
                <a:ea typeface="Arial" pitchFamily="34" charset="-122"/>
                <a:cs typeface="Arial" pitchFamily="34" charset="-120"/>
              </a:rPr>
              <a:t>Which findings (open only, or fixed too), which sources, how many months.</a:t>
            </a:r>
            <a:endParaRPr lang="en-US" sz="1150" dirty="0"/>
          </a:p>
        </p:txBody>
      </p:sp>
      <p:sp>
        <p:nvSpPr>
          <p:cNvPr id="12" name="Shape 10"/>
          <p:cNvSpPr/>
          <p:nvPr/>
        </p:nvSpPr>
        <p:spPr>
          <a:xfrm>
            <a:off x="2822387" y="2057400"/>
            <a:ext cx="502920" cy="502920"/>
          </a:xfrm>
          <a:prstGeom prst="ellipse">
            <a:avLst/>
          </a:prstGeom>
          <a:solidFill>
            <a:srgbClr val="86BC25"/>
          </a:solidFill>
          <a:ln w="12700">
            <a:solidFill>
              <a:srgbClr val="86BC25"/>
            </a:solidFill>
            <a:prstDash val="solid"/>
          </a:ln>
        </p:spPr>
      </p:sp>
      <p:sp>
        <p:nvSpPr>
          <p:cNvPr id="13" name="Text 11"/>
          <p:cNvSpPr txBox="1"/>
          <p:nvPr/>
        </p:nvSpPr>
        <p:spPr>
          <a:xfrm>
            <a:off x="2822387" y="20574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4" name="Shape 12"/>
          <p:cNvSpPr/>
          <p:nvPr/>
        </p:nvSpPr>
        <p:spPr>
          <a:xfrm>
            <a:off x="3389315" y="2308860"/>
            <a:ext cx="1706819" cy="0"/>
          </a:xfrm>
          <a:prstGeom prst="line">
            <a:avLst/>
          </a:prstGeom>
          <a:noFill/>
          <a:ln w="19050">
            <a:solidFill>
              <a:srgbClr val="BBBCBC"/>
            </a:solidFill>
            <a:prstDash val="solid"/>
          </a:ln>
        </p:spPr>
      </p:sp>
      <p:sp>
        <p:nvSpPr>
          <p:cNvPr id="15" name="Text 13"/>
          <p:cNvSpPr txBox="1"/>
          <p:nvPr/>
        </p:nvSpPr>
        <p:spPr>
          <a:xfrm>
            <a:off x="2822387" y="2743200"/>
            <a:ext cx="1907987" cy="3200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Check the source</a:t>
            </a:r>
            <a:endParaRPr lang="en-US" sz="1400" dirty="0"/>
          </a:p>
        </p:txBody>
      </p:sp>
      <p:sp>
        <p:nvSpPr>
          <p:cNvPr id="16" name="Text 14"/>
          <p:cNvSpPr txBox="1"/>
          <p:nvPr/>
        </p:nvSpPr>
        <p:spPr>
          <a:xfrm>
            <a:off x="2822387" y="3090672"/>
            <a:ext cx="1907987" cy="1097280"/>
          </a:xfrm>
          <a:prstGeom prst="rect">
            <a:avLst/>
          </a:prstGeom>
          <a:noFill/>
          <a:ln/>
        </p:spPr>
        <p:txBody>
          <a:bodyPr wrap="square" lIns="0" tIns="0" rIns="0" bIns="0" rtlCol="0" anchor="t"/>
          <a:lstStyle/>
          <a:p>
            <a:pPr indent="0" marL="0">
              <a:buNone/>
            </a:pPr>
            <a:r>
              <a:rPr lang="en-US" sz="1150" dirty="0">
                <a:solidFill>
                  <a:srgbClr val="53565A"/>
                </a:solidFill>
                <a:latin typeface="Arial" pitchFamily="34" charset="0"/>
                <a:ea typeface="Arial" pitchFamily="34" charset="-122"/>
                <a:cs typeface="Arial" pitchFamily="34" charset="-120"/>
              </a:rPr>
              <a:t>How far back its API returns data; limits and paging.</a:t>
            </a:r>
            <a:endParaRPr lang="en-US" sz="1150" dirty="0"/>
          </a:p>
        </p:txBody>
      </p:sp>
      <p:sp>
        <p:nvSpPr>
          <p:cNvPr id="17" name="Shape 15"/>
          <p:cNvSpPr/>
          <p:nvPr/>
        </p:nvSpPr>
        <p:spPr>
          <a:xfrm>
            <a:off x="5096134" y="2057400"/>
            <a:ext cx="502920" cy="502920"/>
          </a:xfrm>
          <a:prstGeom prst="ellipse">
            <a:avLst/>
          </a:prstGeom>
          <a:solidFill>
            <a:srgbClr val="86BC25"/>
          </a:solidFill>
          <a:ln w="12700">
            <a:solidFill>
              <a:srgbClr val="86BC25"/>
            </a:solidFill>
            <a:prstDash val="solid"/>
          </a:ln>
        </p:spPr>
      </p:sp>
      <p:sp>
        <p:nvSpPr>
          <p:cNvPr id="18" name="Text 16"/>
          <p:cNvSpPr txBox="1"/>
          <p:nvPr/>
        </p:nvSpPr>
        <p:spPr>
          <a:xfrm>
            <a:off x="5096134" y="20574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9" name="Shape 17"/>
          <p:cNvSpPr/>
          <p:nvPr/>
        </p:nvSpPr>
        <p:spPr>
          <a:xfrm>
            <a:off x="5663062" y="2308860"/>
            <a:ext cx="1706819" cy="0"/>
          </a:xfrm>
          <a:prstGeom prst="line">
            <a:avLst/>
          </a:prstGeom>
          <a:noFill/>
          <a:ln w="19050">
            <a:solidFill>
              <a:srgbClr val="BBBCBC"/>
            </a:solidFill>
            <a:prstDash val="solid"/>
          </a:ln>
        </p:spPr>
      </p:sp>
      <p:sp>
        <p:nvSpPr>
          <p:cNvPr id="20" name="Text 18"/>
          <p:cNvSpPr txBox="1"/>
          <p:nvPr/>
        </p:nvSpPr>
        <p:spPr>
          <a:xfrm>
            <a:off x="5096134" y="2743200"/>
            <a:ext cx="1907987" cy="3200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Prepare</a:t>
            </a:r>
            <a:endParaRPr lang="en-US" sz="1400" dirty="0"/>
          </a:p>
        </p:txBody>
      </p:sp>
      <p:sp>
        <p:nvSpPr>
          <p:cNvPr id="21" name="Text 19"/>
          <p:cNvSpPr txBox="1"/>
          <p:nvPr/>
        </p:nvSpPr>
        <p:spPr>
          <a:xfrm>
            <a:off x="5096134" y="3090672"/>
            <a:ext cx="1907987" cy="1097280"/>
          </a:xfrm>
          <a:prstGeom prst="rect">
            <a:avLst/>
          </a:prstGeom>
          <a:noFill/>
          <a:ln/>
        </p:spPr>
        <p:txBody>
          <a:bodyPr wrap="square" lIns="0" tIns="0" rIns="0" bIns="0" rtlCol="0" anchor="t"/>
          <a:lstStyle/>
          <a:p>
            <a:pPr indent="0" marL="0">
              <a:buNone/>
            </a:pPr>
            <a:r>
              <a:rPr lang="en-US" sz="1150" dirty="0">
                <a:solidFill>
                  <a:srgbClr val="53565A"/>
                </a:solidFill>
                <a:latin typeface="Arial" pitchFamily="34" charset="0"/>
                <a:ea typeface="Arial" pitchFamily="34" charset="-122"/>
                <a:cs typeface="Arial" pitchFamily="34" charset="-120"/>
              </a:rPr>
              <a:t>Pause notifications, assignment and outbound feeds for backfilled items. Book an off-peak window.</a:t>
            </a:r>
            <a:endParaRPr lang="en-US" sz="1150" dirty="0"/>
          </a:p>
        </p:txBody>
      </p:sp>
      <p:sp>
        <p:nvSpPr>
          <p:cNvPr id="22" name="Shape 20"/>
          <p:cNvSpPr/>
          <p:nvPr/>
        </p:nvSpPr>
        <p:spPr>
          <a:xfrm>
            <a:off x="7369881" y="2057400"/>
            <a:ext cx="502920" cy="502920"/>
          </a:xfrm>
          <a:prstGeom prst="ellipse">
            <a:avLst/>
          </a:prstGeom>
          <a:solidFill>
            <a:srgbClr val="86BC25"/>
          </a:solidFill>
          <a:ln w="12700">
            <a:solidFill>
              <a:srgbClr val="86BC25"/>
            </a:solidFill>
            <a:prstDash val="solid"/>
          </a:ln>
        </p:spPr>
      </p:sp>
      <p:sp>
        <p:nvSpPr>
          <p:cNvPr id="23" name="Text 21"/>
          <p:cNvSpPr txBox="1"/>
          <p:nvPr/>
        </p:nvSpPr>
        <p:spPr>
          <a:xfrm>
            <a:off x="7369881" y="20574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4" name="Shape 22"/>
          <p:cNvSpPr/>
          <p:nvPr/>
        </p:nvSpPr>
        <p:spPr>
          <a:xfrm>
            <a:off x="7936809" y="2308860"/>
            <a:ext cx="1706819" cy="0"/>
          </a:xfrm>
          <a:prstGeom prst="line">
            <a:avLst/>
          </a:prstGeom>
          <a:noFill/>
          <a:ln w="19050">
            <a:solidFill>
              <a:srgbClr val="BBBCBC"/>
            </a:solidFill>
            <a:prstDash val="solid"/>
          </a:ln>
        </p:spPr>
      </p:sp>
      <p:sp>
        <p:nvSpPr>
          <p:cNvPr id="25" name="Text 23"/>
          <p:cNvSpPr txBox="1"/>
          <p:nvPr/>
        </p:nvSpPr>
        <p:spPr>
          <a:xfrm>
            <a:off x="7369881" y="2743200"/>
            <a:ext cx="1907987" cy="3200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Load in slices</a:t>
            </a:r>
            <a:endParaRPr lang="en-US" sz="1400" dirty="0"/>
          </a:p>
        </p:txBody>
      </p:sp>
      <p:sp>
        <p:nvSpPr>
          <p:cNvPr id="26" name="Text 24"/>
          <p:cNvSpPr txBox="1"/>
          <p:nvPr/>
        </p:nvSpPr>
        <p:spPr>
          <a:xfrm>
            <a:off x="7369881" y="3090672"/>
            <a:ext cx="1907987" cy="1097280"/>
          </a:xfrm>
          <a:prstGeom prst="rect">
            <a:avLst/>
          </a:prstGeom>
          <a:noFill/>
          <a:ln/>
        </p:spPr>
        <p:txBody>
          <a:bodyPr wrap="square" lIns="0" tIns="0" rIns="0" bIns="0" rtlCol="0" anchor="t"/>
          <a:lstStyle/>
          <a:p>
            <a:pPr indent="0" marL="0">
              <a:buNone/>
            </a:pPr>
            <a:r>
              <a:rPr lang="en-US" sz="1150" dirty="0">
                <a:solidFill>
                  <a:srgbClr val="53565A"/>
                </a:solidFill>
                <a:latin typeface="Arial" pitchFamily="34" charset="0"/>
                <a:ea typeface="Arial" pitchFamily="34" charset="-122"/>
                <a:cs typeface="Arial" pitchFamily="34" charset="-120"/>
              </a:rPr>
              <a:t>Set the integration's start date (delta start time) back and run month by month.</a:t>
            </a:r>
            <a:endParaRPr lang="en-US" sz="1150" dirty="0"/>
          </a:p>
        </p:txBody>
      </p:sp>
      <p:sp>
        <p:nvSpPr>
          <p:cNvPr id="27" name="Shape 25"/>
          <p:cNvSpPr/>
          <p:nvPr/>
        </p:nvSpPr>
        <p:spPr>
          <a:xfrm>
            <a:off x="9643628" y="2057400"/>
            <a:ext cx="502920" cy="502920"/>
          </a:xfrm>
          <a:prstGeom prst="ellipse">
            <a:avLst/>
          </a:prstGeom>
          <a:solidFill>
            <a:srgbClr val="86BC25"/>
          </a:solidFill>
          <a:ln w="12700">
            <a:solidFill>
              <a:srgbClr val="86BC25"/>
            </a:solidFill>
            <a:prstDash val="solid"/>
          </a:ln>
        </p:spPr>
      </p:sp>
      <p:sp>
        <p:nvSpPr>
          <p:cNvPr id="28" name="Text 26"/>
          <p:cNvSpPr txBox="1"/>
          <p:nvPr/>
        </p:nvSpPr>
        <p:spPr>
          <a:xfrm>
            <a:off x="9643628" y="20574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29" name="Text 27"/>
          <p:cNvSpPr txBox="1"/>
          <p:nvPr/>
        </p:nvSpPr>
        <p:spPr>
          <a:xfrm>
            <a:off x="9643628" y="2743200"/>
            <a:ext cx="1907987" cy="3200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Reconcile</a:t>
            </a:r>
            <a:endParaRPr lang="en-US" sz="1400" dirty="0"/>
          </a:p>
        </p:txBody>
      </p:sp>
      <p:sp>
        <p:nvSpPr>
          <p:cNvPr id="30" name="Text 28"/>
          <p:cNvSpPr txBox="1"/>
          <p:nvPr/>
        </p:nvSpPr>
        <p:spPr>
          <a:xfrm>
            <a:off x="9643628" y="3090672"/>
            <a:ext cx="1907987" cy="1097280"/>
          </a:xfrm>
          <a:prstGeom prst="rect">
            <a:avLst/>
          </a:prstGeom>
          <a:noFill/>
          <a:ln/>
        </p:spPr>
        <p:txBody>
          <a:bodyPr wrap="square" lIns="0" tIns="0" rIns="0" bIns="0" rtlCol="0" anchor="t"/>
          <a:lstStyle/>
          <a:p>
            <a:pPr indent="0" marL="0">
              <a:buNone/>
            </a:pPr>
            <a:r>
              <a:rPr lang="en-US" sz="1150" dirty="0">
                <a:solidFill>
                  <a:srgbClr val="53565A"/>
                </a:solidFill>
                <a:latin typeface="Arial" pitchFamily="34" charset="0"/>
                <a:ea typeface="Arial" pitchFamily="34" charset="-122"/>
                <a:cs typeface="Arial" pitchFamily="34" charset="-120"/>
              </a:rPr>
              <a:t>Compare counts per slice with the source, then return to normal incremental runs.</a:t>
            </a:r>
            <a:endParaRPr lang="en-US" sz="1150" dirty="0"/>
          </a:p>
        </p:txBody>
      </p:sp>
      <p:sp>
        <p:nvSpPr>
          <p:cNvPr id="31" name="Shape 29"/>
          <p:cNvSpPr/>
          <p:nvPr/>
        </p:nvSpPr>
        <p:spPr>
          <a:xfrm>
            <a:off x="548640" y="4343400"/>
            <a:ext cx="11094415" cy="1737360"/>
          </a:xfrm>
          <a:prstGeom prst="rect">
            <a:avLst/>
          </a:prstGeom>
          <a:solidFill>
            <a:srgbClr val="F2F2F2"/>
          </a:solidFill>
          <a:ln w="12700">
            <a:solidFill>
              <a:srgbClr val="F2F2F2"/>
            </a:solidFill>
            <a:prstDash val="solid"/>
          </a:ln>
        </p:spPr>
      </p:sp>
      <p:sp>
        <p:nvSpPr>
          <p:cNvPr id="32" name="Text 30"/>
          <p:cNvSpPr txBox="1"/>
          <p:nvPr/>
        </p:nvSpPr>
        <p:spPr>
          <a:xfrm>
            <a:off x="777240" y="4462272"/>
            <a:ext cx="3657600" cy="3200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Watch out for</a:t>
            </a:r>
            <a:endParaRPr lang="en-US" sz="1400" dirty="0"/>
          </a:p>
        </p:txBody>
      </p:sp>
      <p:sp>
        <p:nvSpPr>
          <p:cNvPr id="33" name="Shape 31"/>
          <p:cNvSpPr/>
          <p:nvPr/>
        </p:nvSpPr>
        <p:spPr>
          <a:xfrm>
            <a:off x="777240" y="4928616"/>
            <a:ext cx="146304" cy="146304"/>
          </a:xfrm>
          <a:prstGeom prst="ellipse">
            <a:avLst/>
          </a:prstGeom>
          <a:solidFill>
            <a:srgbClr val="86BC25"/>
          </a:solidFill>
          <a:ln w="12700">
            <a:solidFill>
              <a:srgbClr val="86BC25"/>
            </a:solidFill>
            <a:prstDash val="solid"/>
          </a:ln>
        </p:spPr>
      </p:sp>
      <p:sp>
        <p:nvSpPr>
          <p:cNvPr id="34" name="Text 32"/>
          <p:cNvSpPr txBox="1"/>
          <p:nvPr/>
        </p:nvSpPr>
        <p:spPr>
          <a:xfrm>
            <a:off x="1051560" y="4864608"/>
            <a:ext cx="5120640" cy="530352"/>
          </a:xfrm>
          <a:prstGeom prst="rect">
            <a:avLst/>
          </a:prstGeom>
          <a:noFill/>
          <a:ln/>
        </p:spPr>
        <p:txBody>
          <a:bodyPr wrap="square" lIns="0" tIns="0" rIns="0" bIns="0" rtlCol="0" anchor="t"/>
          <a:lstStyle/>
          <a:p>
            <a:pPr indent="0" marL="0">
              <a:buNone/>
            </a:pPr>
            <a:r>
              <a:rPr lang="en-US" sz="1150" dirty="0">
                <a:solidFill>
                  <a:srgbClr val="53565A"/>
                </a:solidFill>
                <a:latin typeface="Arial" pitchFamily="34" charset="0"/>
                <a:ea typeface="Arial" pitchFamily="34" charset="-122"/>
                <a:cs typeface="Arial" pitchFamily="34" charset="-120"/>
              </a:rPr>
              <a:t>Fixed findings may only update existing items, not create closed ones (Qualys: </a:t>
            </a:r>
            <a:pPr indent="0" marL="0">
              <a:buNone/>
            </a:pPr>
            <a:r>
              <a:rPr lang="en-US" sz="1150" dirty="0">
                <a:solidFill>
                  <a:srgbClr val="26890D"/>
                </a:solidFill>
                <a:latin typeface="Courier New" pitchFamily="34" charset="0"/>
                <a:ea typeface="Courier New" pitchFamily="34" charset="-122"/>
                <a:cs typeface="Courier New" pitchFamily="34" charset="-120"/>
              </a:rPr>
              <a:t>sn_vul_qualys.update_fixed</a:t>
            </a:r>
            <a:pPr indent="0" marL="0">
              <a:buNone/>
            </a:pPr>
            <a:r>
              <a:rPr lang="en-US" sz="1150" dirty="0">
                <a:solidFill>
                  <a:srgbClr val="53565A"/>
                </a:solidFill>
                <a:latin typeface="Arial" pitchFamily="34" charset="0"/>
                <a:ea typeface="Arial" pitchFamily="34" charset="-122"/>
                <a:cs typeface="Arial" pitchFamily="34" charset="-120"/>
              </a:rPr>
              <a:t>).</a:t>
            </a:r>
            <a:endParaRPr lang="en-US" sz="1150" dirty="0"/>
          </a:p>
        </p:txBody>
      </p:sp>
      <p:sp>
        <p:nvSpPr>
          <p:cNvPr id="35" name="Shape 33"/>
          <p:cNvSpPr/>
          <p:nvPr/>
        </p:nvSpPr>
        <p:spPr>
          <a:xfrm>
            <a:off x="6309360" y="4928616"/>
            <a:ext cx="146304" cy="146304"/>
          </a:xfrm>
          <a:prstGeom prst="ellipse">
            <a:avLst/>
          </a:prstGeom>
          <a:solidFill>
            <a:srgbClr val="86BC25"/>
          </a:solidFill>
          <a:ln w="12700">
            <a:solidFill>
              <a:srgbClr val="86BC25"/>
            </a:solidFill>
            <a:prstDash val="solid"/>
          </a:ln>
        </p:spPr>
      </p:sp>
      <p:sp>
        <p:nvSpPr>
          <p:cNvPr id="36" name="Text 34"/>
          <p:cNvSpPr txBox="1"/>
          <p:nvPr/>
        </p:nvSpPr>
        <p:spPr>
          <a:xfrm>
            <a:off x="6583680" y="4864608"/>
            <a:ext cx="5120640" cy="530352"/>
          </a:xfrm>
          <a:prstGeom prst="rect">
            <a:avLst/>
          </a:prstGeom>
          <a:noFill/>
          <a:ln/>
        </p:spPr>
        <p:txBody>
          <a:bodyPr wrap="square" lIns="0" tIns="0" rIns="0" bIns="0" rtlCol="0" anchor="t"/>
          <a:lstStyle/>
          <a:p>
            <a:pPr indent="0" marL="0">
              <a:buNone/>
            </a:pPr>
            <a:r>
              <a:rPr lang="en-US" sz="1150" dirty="0">
                <a:solidFill>
                  <a:srgbClr val="53565A"/>
                </a:solidFill>
                <a:latin typeface="Arial" pitchFamily="34" charset="0"/>
                <a:ea typeface="Arial" pitchFamily="34" charset="-122"/>
                <a:cs typeface="Arial" pitchFamily="34" charset="-120"/>
              </a:rPr>
              <a:t>Remediation targets count from first found: old items can arrive already overdue.</a:t>
            </a:r>
            <a:endParaRPr lang="en-US" sz="1150" dirty="0"/>
          </a:p>
        </p:txBody>
      </p:sp>
      <p:sp>
        <p:nvSpPr>
          <p:cNvPr id="37" name="Shape 35"/>
          <p:cNvSpPr/>
          <p:nvPr/>
        </p:nvSpPr>
        <p:spPr>
          <a:xfrm>
            <a:off x="777240" y="5495544"/>
            <a:ext cx="146304" cy="146304"/>
          </a:xfrm>
          <a:prstGeom prst="ellipse">
            <a:avLst/>
          </a:prstGeom>
          <a:solidFill>
            <a:srgbClr val="86BC25"/>
          </a:solidFill>
          <a:ln w="12700">
            <a:solidFill>
              <a:srgbClr val="86BC25"/>
            </a:solidFill>
            <a:prstDash val="solid"/>
          </a:ln>
        </p:spPr>
      </p:sp>
      <p:sp>
        <p:nvSpPr>
          <p:cNvPr id="38" name="Text 36"/>
          <p:cNvSpPr txBox="1"/>
          <p:nvPr/>
        </p:nvSpPr>
        <p:spPr>
          <a:xfrm>
            <a:off x="1051560" y="5431536"/>
            <a:ext cx="5120640" cy="530352"/>
          </a:xfrm>
          <a:prstGeom prst="rect">
            <a:avLst/>
          </a:prstGeom>
          <a:noFill/>
          <a:ln/>
        </p:spPr>
        <p:txBody>
          <a:bodyPr wrap="square" lIns="0" tIns="0" rIns="0" bIns="0" rtlCol="0" anchor="t"/>
          <a:lstStyle/>
          <a:p>
            <a:pPr indent="0" marL="0">
              <a:buNone/>
            </a:pPr>
            <a:r>
              <a:rPr lang="en-US" sz="1150" dirty="0">
                <a:solidFill>
                  <a:srgbClr val="53565A"/>
                </a:solidFill>
                <a:latin typeface="Arial" pitchFamily="34" charset="0"/>
                <a:ea typeface="Arial" pitchFamily="34" charset="-122"/>
                <a:cs typeface="Arial" pitchFamily="34" charset="-120"/>
              </a:rPr>
              <a:t>Volume: storage, import queue and run time grow fast; test one month first.</a:t>
            </a:r>
            <a:endParaRPr lang="en-US" sz="1150" dirty="0"/>
          </a:p>
        </p:txBody>
      </p:sp>
      <p:sp>
        <p:nvSpPr>
          <p:cNvPr id="39" name="Shape 37"/>
          <p:cNvSpPr/>
          <p:nvPr/>
        </p:nvSpPr>
        <p:spPr>
          <a:xfrm>
            <a:off x="6309360" y="5495544"/>
            <a:ext cx="146304" cy="146304"/>
          </a:xfrm>
          <a:prstGeom prst="ellipse">
            <a:avLst/>
          </a:prstGeom>
          <a:solidFill>
            <a:srgbClr val="86BC25"/>
          </a:solidFill>
          <a:ln w="12700">
            <a:solidFill>
              <a:srgbClr val="86BC25"/>
            </a:solidFill>
            <a:prstDash val="solid"/>
          </a:ln>
        </p:spPr>
      </p:sp>
      <p:sp>
        <p:nvSpPr>
          <p:cNvPr id="40" name="Text 38"/>
          <p:cNvSpPr txBox="1"/>
          <p:nvPr/>
        </p:nvSpPr>
        <p:spPr>
          <a:xfrm>
            <a:off x="6583680" y="5431536"/>
            <a:ext cx="5120640" cy="530352"/>
          </a:xfrm>
          <a:prstGeom prst="rect">
            <a:avLst/>
          </a:prstGeom>
          <a:noFill/>
          <a:ln/>
        </p:spPr>
        <p:txBody>
          <a:bodyPr wrap="square" lIns="0" tIns="0" rIns="0" bIns="0" rtlCol="0" anchor="t"/>
          <a:lstStyle/>
          <a:p>
            <a:pPr indent="0" marL="0">
              <a:buNone/>
            </a:pPr>
            <a:r>
              <a:rPr lang="en-US" sz="1150" dirty="0">
                <a:solidFill>
                  <a:srgbClr val="53565A"/>
                </a:solidFill>
                <a:latin typeface="Arial" pitchFamily="34" charset="0"/>
                <a:ea typeface="Arial" pitchFamily="34" charset="-122"/>
                <a:cs typeface="Arial" pitchFamily="34" charset="-120"/>
              </a:rPr>
              <a:t>Downstream: do not send backfilled items to CDP / Kafka consumers unless agreed.</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000" b="1" spc="150" kern="0" dirty="0">
                <a:solidFill>
                  <a:srgbClr val="26890D"/>
                </a:solidFill>
                <a:latin typeface="Arial" pitchFamily="34" charset="0"/>
                <a:ea typeface="Arial" pitchFamily="34" charset="-122"/>
                <a:cs typeface="Arial" pitchFamily="34" charset="-120"/>
              </a:rPr>
              <a:t>4 · RUNNING AN INTEGRATION</a:t>
            </a:r>
            <a:endParaRPr lang="en-US" sz="10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Switching scanners: Qualys to Tenable</a:t>
            </a:r>
            <a:pPr indent="0" marL="0">
              <a:buNone/>
            </a:pPr>
            <a:r>
              <a:rPr lang="en-US" sz="3000" b="1" dirty="0">
                <a:solidFill>
                  <a:srgbClr val="86BC25"/>
                </a:solidFill>
                <a:latin typeface="Arial" pitchFamily="34" charset="0"/>
                <a:ea typeface="Arial" pitchFamily="34" charset="-122"/>
                <a:cs typeface="Arial" pitchFamily="34" charset="-120"/>
              </a:rPr>
              <a:t>.</a:t>
            </a:r>
            <a:endParaRPr lang="en-US" sz="3000" dirty="0"/>
          </a:p>
        </p:txBody>
      </p:sp>
      <p:sp>
        <p:nvSpPr>
          <p:cNvPr id="4" name="Text 2"/>
          <p:cNvSpPr txBox="1"/>
          <p:nvPr/>
        </p:nvSpPr>
        <p:spPr>
          <a:xfrm>
            <a:off x="548640" y="1243584"/>
            <a:ext cx="11094415" cy="411480"/>
          </a:xfrm>
          <a:prstGeom prst="rect">
            <a:avLst/>
          </a:prstGeom>
          <a:noFill/>
          <a:ln/>
        </p:spPr>
        <p:txBody>
          <a:bodyPr wrap="square" lIns="0" tIns="0" rIns="0" bIns="0" rtlCol="0" anchor="t"/>
          <a:lstStyle/>
          <a:p>
            <a:pPr indent="0" marL="0">
              <a:buNone/>
            </a:pPr>
            <a:r>
              <a:rPr lang="en-US" sz="1400" dirty="0">
                <a:solidFill>
                  <a:srgbClr val="53565A"/>
                </a:solidFill>
                <a:latin typeface="Arial" pitchFamily="34" charset="0"/>
                <a:ea typeface="Arial" pitchFamily="34" charset="-122"/>
                <a:cs typeface="Arial" pitchFamily="34" charset="-120"/>
              </a:rPr>
              <a:t>Treat it as a new integration plus a controlled retirement. Seven steps.</a:t>
            </a:r>
            <a:endParaRPr lang="en-US" sz="1400" dirty="0"/>
          </a:p>
        </p:txBody>
      </p:sp>
      <p:sp>
        <p:nvSpPr>
          <p:cNvPr id="5" name="Text 3"/>
          <p:cNvSpPr txBox="1"/>
          <p:nvPr/>
        </p:nvSpPr>
        <p:spPr>
          <a:xfrm>
            <a:off x="11185855" y="6473952"/>
            <a:ext cx="457200" cy="228600"/>
          </a:xfrm>
          <a:prstGeom prst="rect">
            <a:avLst/>
          </a:prstGeom>
          <a:noFill/>
          <a:ln/>
        </p:spPr>
        <p:txBody>
          <a:bodyPr wrap="square" lIns="0" tIns="0" rIns="0" bIns="0" rtlCol="0" anchor="t"/>
          <a:lstStyle/>
          <a:p>
            <a:pPr algn="r" indent="0" marL="0">
              <a:buNone/>
            </a:pPr>
            <a:r>
              <a:rPr lang="en-US" sz="900" dirty="0">
                <a:solidFill>
                  <a:srgbClr val="75787B"/>
                </a:solidFill>
                <a:latin typeface="Arial" pitchFamily="34" charset="0"/>
                <a:ea typeface="Arial" pitchFamily="34" charset="-122"/>
                <a:cs typeface="Arial" pitchFamily="34" charset="-120"/>
              </a:rPr>
              <a:t>12</a:t>
            </a:r>
            <a:endParaRPr lang="en-US" sz="900" dirty="0"/>
          </a:p>
        </p:txBody>
      </p:sp>
      <p:sp>
        <p:nvSpPr>
          <p:cNvPr id="6" name="Text 4"/>
          <p:cNvSpPr txBox="1"/>
          <p:nvPr/>
        </p:nvSpPr>
        <p:spPr>
          <a:xfrm>
            <a:off x="548640" y="6473952"/>
            <a:ext cx="2743200" cy="228600"/>
          </a:xfrm>
          <a:prstGeom prst="rect">
            <a:avLst/>
          </a:prstGeom>
          <a:noFill/>
          <a:ln/>
        </p:spPr>
        <p:txBody>
          <a:bodyPr wrap="square" lIns="0" tIns="0" rIns="0" bIns="0" rtlCol="0" anchor="t"/>
          <a:lstStyle/>
          <a:p>
            <a:pPr indent="0" marL="0">
              <a:buNone/>
            </a:pPr>
            <a:r>
              <a:rPr lang="en-US" sz="900" dirty="0">
                <a:solidFill>
                  <a:srgbClr val="75787B"/>
                </a:solidFill>
                <a:latin typeface="Arial" pitchFamily="34" charset="0"/>
                <a:ea typeface="Arial" pitchFamily="34" charset="-122"/>
                <a:cs typeface="Arial" pitchFamily="34" charset="-120"/>
              </a:rPr>
              <a:t>VR field guide</a:t>
            </a:r>
            <a:endParaRPr lang="en-US" sz="900" dirty="0"/>
          </a:p>
        </p:txBody>
      </p:sp>
      <p:sp>
        <p:nvSpPr>
          <p:cNvPr id="7" name="Shape 5"/>
          <p:cNvSpPr/>
          <p:nvPr/>
        </p:nvSpPr>
        <p:spPr>
          <a:xfrm>
            <a:off x="548640" y="1828800"/>
            <a:ext cx="2602154" cy="1783080"/>
          </a:xfrm>
          <a:prstGeom prst="rect">
            <a:avLst/>
          </a:prstGeom>
          <a:solidFill>
            <a:srgbClr val="F2F2F2"/>
          </a:solidFill>
          <a:ln w="12700">
            <a:solidFill>
              <a:srgbClr val="F2F2F2"/>
            </a:solidFill>
            <a:prstDash val="solid"/>
          </a:ln>
        </p:spPr>
      </p:sp>
      <p:sp>
        <p:nvSpPr>
          <p:cNvPr id="8" name="Shape 6"/>
          <p:cNvSpPr/>
          <p:nvPr/>
        </p:nvSpPr>
        <p:spPr>
          <a:xfrm>
            <a:off x="731520" y="2011680"/>
            <a:ext cx="402336" cy="402336"/>
          </a:xfrm>
          <a:prstGeom prst="ellipse">
            <a:avLst/>
          </a:prstGeom>
          <a:solidFill>
            <a:srgbClr val="86BC25"/>
          </a:solidFill>
          <a:ln w="12700">
            <a:solidFill>
              <a:srgbClr val="86BC25"/>
            </a:solidFill>
            <a:prstDash val="solid"/>
          </a:ln>
        </p:spPr>
      </p:sp>
      <p:sp>
        <p:nvSpPr>
          <p:cNvPr id="9" name="Text 7"/>
          <p:cNvSpPr txBox="1"/>
          <p:nvPr/>
        </p:nvSpPr>
        <p:spPr>
          <a:xfrm>
            <a:off x="731520" y="20116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1280160" y="2048256"/>
            <a:ext cx="1733474" cy="320040"/>
          </a:xfrm>
          <a:prstGeom prst="rect">
            <a:avLst/>
          </a:prstGeom>
          <a:noFill/>
          <a:ln/>
        </p:spPr>
        <p:txBody>
          <a:bodyPr wrap="square" lIns="0" tIns="0" rIns="0" bIns="0" rtlCol="0" anchor="t"/>
          <a:lstStyle/>
          <a:p>
            <a:pPr indent="0" marL="0">
              <a:buNone/>
            </a:pPr>
            <a:r>
              <a:rPr lang="en-US" sz="1350" b="1" dirty="0">
                <a:solidFill>
                  <a:srgbClr val="000000"/>
                </a:solidFill>
                <a:latin typeface="Arial" pitchFamily="34" charset="0"/>
                <a:ea typeface="Arial" pitchFamily="34" charset="-122"/>
                <a:cs typeface="Arial" pitchFamily="34" charset="-120"/>
              </a:rPr>
              <a:t>Inventory</a:t>
            </a:r>
            <a:endParaRPr lang="en-US" sz="1350" dirty="0"/>
          </a:p>
        </p:txBody>
      </p:sp>
      <p:sp>
        <p:nvSpPr>
          <p:cNvPr id="11" name="Text 9"/>
          <p:cNvSpPr txBox="1"/>
          <p:nvPr/>
        </p:nvSpPr>
        <p:spPr>
          <a:xfrm>
            <a:off x="731520" y="2542032"/>
            <a:ext cx="2236394" cy="1024128"/>
          </a:xfrm>
          <a:prstGeom prst="rect">
            <a:avLst/>
          </a:prstGeom>
          <a:noFill/>
          <a:ln/>
        </p:spPr>
        <p:txBody>
          <a:bodyPr wrap="square" lIns="0" tIns="0" rIns="0" bIns="0" rtlCol="0" anchor="t"/>
          <a:lstStyle/>
          <a:p>
            <a:pPr indent="0" marL="0">
              <a:buNone/>
            </a:pPr>
            <a:r>
              <a:rPr lang="en-US" sz="1100" dirty="0">
                <a:solidFill>
                  <a:srgbClr val="53565A"/>
                </a:solidFill>
                <a:latin typeface="Arial" pitchFamily="34" charset="0"/>
                <a:ea typeface="Arial" pitchFamily="34" charset="-122"/>
                <a:cs typeface="Arial" pitchFamily="34" charset="-120"/>
              </a:rPr>
              <a:t>Everything that depends on Qualys: integrations, lookup rules, assignment, grouping and target rules, exceptions, reports, outbound feeds.</a:t>
            </a:r>
            <a:endParaRPr lang="en-US" sz="1100" dirty="0"/>
          </a:p>
        </p:txBody>
      </p:sp>
      <p:sp>
        <p:nvSpPr>
          <p:cNvPr id="12" name="Shape 10"/>
          <p:cNvSpPr/>
          <p:nvPr/>
        </p:nvSpPr>
        <p:spPr>
          <a:xfrm>
            <a:off x="3379394" y="1828800"/>
            <a:ext cx="2602154" cy="1783080"/>
          </a:xfrm>
          <a:prstGeom prst="rect">
            <a:avLst/>
          </a:prstGeom>
          <a:solidFill>
            <a:srgbClr val="F2F2F2"/>
          </a:solidFill>
          <a:ln w="12700">
            <a:solidFill>
              <a:srgbClr val="F2F2F2"/>
            </a:solidFill>
            <a:prstDash val="solid"/>
          </a:ln>
        </p:spPr>
      </p:sp>
      <p:sp>
        <p:nvSpPr>
          <p:cNvPr id="13" name="Shape 11"/>
          <p:cNvSpPr/>
          <p:nvPr/>
        </p:nvSpPr>
        <p:spPr>
          <a:xfrm>
            <a:off x="3562274" y="2011680"/>
            <a:ext cx="402336" cy="402336"/>
          </a:xfrm>
          <a:prstGeom prst="ellipse">
            <a:avLst/>
          </a:prstGeom>
          <a:solidFill>
            <a:srgbClr val="86BC25"/>
          </a:solidFill>
          <a:ln w="12700">
            <a:solidFill>
              <a:srgbClr val="86BC25"/>
            </a:solidFill>
            <a:prstDash val="solid"/>
          </a:ln>
        </p:spPr>
      </p:sp>
      <p:sp>
        <p:nvSpPr>
          <p:cNvPr id="14" name="Text 12"/>
          <p:cNvSpPr txBox="1"/>
          <p:nvPr/>
        </p:nvSpPr>
        <p:spPr>
          <a:xfrm>
            <a:off x="3562274" y="20116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4110914" y="2048256"/>
            <a:ext cx="1733474" cy="320040"/>
          </a:xfrm>
          <a:prstGeom prst="rect">
            <a:avLst/>
          </a:prstGeom>
          <a:noFill/>
          <a:ln/>
        </p:spPr>
        <p:txBody>
          <a:bodyPr wrap="square" lIns="0" tIns="0" rIns="0" bIns="0" rtlCol="0" anchor="t"/>
          <a:lstStyle/>
          <a:p>
            <a:pPr indent="0" marL="0">
              <a:buNone/>
            </a:pPr>
            <a:r>
              <a:rPr lang="en-US" sz="1350" b="1" dirty="0">
                <a:solidFill>
                  <a:srgbClr val="000000"/>
                </a:solidFill>
                <a:latin typeface="Arial" pitchFamily="34" charset="0"/>
                <a:ea typeface="Arial" pitchFamily="34" charset="-122"/>
                <a:cs typeface="Arial" pitchFamily="34" charset="-120"/>
              </a:rPr>
              <a:t>Build Tenable in test</a:t>
            </a:r>
            <a:endParaRPr lang="en-US" sz="1350" dirty="0"/>
          </a:p>
        </p:txBody>
      </p:sp>
      <p:sp>
        <p:nvSpPr>
          <p:cNvPr id="16" name="Text 14"/>
          <p:cNvSpPr txBox="1"/>
          <p:nvPr/>
        </p:nvSpPr>
        <p:spPr>
          <a:xfrm>
            <a:off x="3562274" y="2542032"/>
            <a:ext cx="2236394" cy="1024128"/>
          </a:xfrm>
          <a:prstGeom prst="rect">
            <a:avLst/>
          </a:prstGeom>
          <a:noFill/>
          <a:ln/>
        </p:spPr>
        <p:txBody>
          <a:bodyPr wrap="square" lIns="0" tIns="0" rIns="0" bIns="0" rtlCol="0" anchor="t"/>
          <a:lstStyle/>
          <a:p>
            <a:pPr indent="0" marL="0">
              <a:buNone/>
            </a:pPr>
            <a:r>
              <a:rPr lang="en-US" sz="1100" dirty="0">
                <a:solidFill>
                  <a:srgbClr val="53565A"/>
                </a:solidFill>
                <a:latin typeface="Arial" pitchFamily="34" charset="0"/>
                <a:ea typeface="Arial" pitchFamily="34" charset="-122"/>
                <a:cs typeface="Arial" pitchFamily="34" charset="-120"/>
              </a:rPr>
              <a:t>Credentials; MID Server for Tenable.sc (on-premises); schedule and volumes.</a:t>
            </a:r>
            <a:endParaRPr lang="en-US" sz="1100" dirty="0"/>
          </a:p>
        </p:txBody>
      </p:sp>
      <p:sp>
        <p:nvSpPr>
          <p:cNvPr id="17" name="Shape 15"/>
          <p:cNvSpPr/>
          <p:nvPr/>
        </p:nvSpPr>
        <p:spPr>
          <a:xfrm>
            <a:off x="6210148" y="1828800"/>
            <a:ext cx="2602154" cy="1783080"/>
          </a:xfrm>
          <a:prstGeom prst="rect">
            <a:avLst/>
          </a:prstGeom>
          <a:solidFill>
            <a:srgbClr val="F2F2F2"/>
          </a:solidFill>
          <a:ln w="12700">
            <a:solidFill>
              <a:srgbClr val="F2F2F2"/>
            </a:solidFill>
            <a:prstDash val="solid"/>
          </a:ln>
        </p:spPr>
      </p:sp>
      <p:sp>
        <p:nvSpPr>
          <p:cNvPr id="18" name="Shape 16"/>
          <p:cNvSpPr/>
          <p:nvPr/>
        </p:nvSpPr>
        <p:spPr>
          <a:xfrm>
            <a:off x="6393028" y="2011680"/>
            <a:ext cx="402336" cy="402336"/>
          </a:xfrm>
          <a:prstGeom prst="ellipse">
            <a:avLst/>
          </a:prstGeom>
          <a:solidFill>
            <a:srgbClr val="86BC25"/>
          </a:solidFill>
          <a:ln w="12700">
            <a:solidFill>
              <a:srgbClr val="86BC25"/>
            </a:solidFill>
            <a:prstDash val="solid"/>
          </a:ln>
        </p:spPr>
      </p:sp>
      <p:sp>
        <p:nvSpPr>
          <p:cNvPr id="19" name="Text 17"/>
          <p:cNvSpPr txBox="1"/>
          <p:nvPr/>
        </p:nvSpPr>
        <p:spPr>
          <a:xfrm>
            <a:off x="6393028" y="20116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6941668" y="2048256"/>
            <a:ext cx="1733474" cy="320040"/>
          </a:xfrm>
          <a:prstGeom prst="rect">
            <a:avLst/>
          </a:prstGeom>
          <a:noFill/>
          <a:ln/>
        </p:spPr>
        <p:txBody>
          <a:bodyPr wrap="square" lIns="0" tIns="0" rIns="0" bIns="0" rtlCol="0" anchor="t"/>
          <a:lstStyle/>
          <a:p>
            <a:pPr indent="0" marL="0">
              <a:buNone/>
            </a:pPr>
            <a:r>
              <a:rPr lang="en-US" sz="1350" b="1" dirty="0">
                <a:solidFill>
                  <a:srgbClr val="000000"/>
                </a:solidFill>
                <a:latin typeface="Arial" pitchFamily="34" charset="0"/>
                <a:ea typeface="Arial" pitchFamily="34" charset="-122"/>
                <a:cs typeface="Arial" pitchFamily="34" charset="-120"/>
              </a:rPr>
              <a:t>Rebuild lookup rules</a:t>
            </a:r>
            <a:endParaRPr lang="en-US" sz="1350" dirty="0"/>
          </a:p>
        </p:txBody>
      </p:sp>
      <p:sp>
        <p:nvSpPr>
          <p:cNvPr id="21" name="Text 19"/>
          <p:cNvSpPr txBox="1"/>
          <p:nvPr/>
        </p:nvSpPr>
        <p:spPr>
          <a:xfrm>
            <a:off x="6393028" y="2542032"/>
            <a:ext cx="2236394" cy="1024128"/>
          </a:xfrm>
          <a:prstGeom prst="rect">
            <a:avLst/>
          </a:prstGeom>
          <a:noFill/>
          <a:ln/>
        </p:spPr>
        <p:txBody>
          <a:bodyPr wrap="square" lIns="0" tIns="0" rIns="0" bIns="0" rtlCol="0" anchor="t"/>
          <a:lstStyle/>
          <a:p>
            <a:pPr indent="0" marL="0">
              <a:buNone/>
            </a:pPr>
            <a:r>
              <a:rPr lang="en-US" sz="1100" dirty="0">
                <a:solidFill>
                  <a:srgbClr val="53565A"/>
                </a:solidFill>
                <a:latin typeface="Arial" pitchFamily="34" charset="0"/>
                <a:ea typeface="Arial" pitchFamily="34" charset="-122"/>
                <a:cs typeface="Arial" pitchFamily="34" charset="-120"/>
              </a:rPr>
              <a:t>Rules are per source. Same logic, on Tenable fields: FQDN, hostname, NetBIOS, IP, MAC, agent id.</a:t>
            </a:r>
            <a:endParaRPr lang="en-US" sz="1100" dirty="0"/>
          </a:p>
        </p:txBody>
      </p:sp>
      <p:sp>
        <p:nvSpPr>
          <p:cNvPr id="22" name="Shape 20"/>
          <p:cNvSpPr/>
          <p:nvPr/>
        </p:nvSpPr>
        <p:spPr>
          <a:xfrm>
            <a:off x="9040901" y="1828800"/>
            <a:ext cx="2602154" cy="1783080"/>
          </a:xfrm>
          <a:prstGeom prst="rect">
            <a:avLst/>
          </a:prstGeom>
          <a:solidFill>
            <a:srgbClr val="F2F2F2"/>
          </a:solidFill>
          <a:ln w="12700">
            <a:solidFill>
              <a:srgbClr val="F2F2F2"/>
            </a:solidFill>
            <a:prstDash val="solid"/>
          </a:ln>
        </p:spPr>
      </p:sp>
      <p:sp>
        <p:nvSpPr>
          <p:cNvPr id="23" name="Shape 21"/>
          <p:cNvSpPr/>
          <p:nvPr/>
        </p:nvSpPr>
        <p:spPr>
          <a:xfrm>
            <a:off x="9223781" y="2011680"/>
            <a:ext cx="402336" cy="402336"/>
          </a:xfrm>
          <a:prstGeom prst="ellipse">
            <a:avLst/>
          </a:prstGeom>
          <a:solidFill>
            <a:srgbClr val="86BC25"/>
          </a:solidFill>
          <a:ln w="12700">
            <a:solidFill>
              <a:srgbClr val="86BC25"/>
            </a:solidFill>
            <a:prstDash val="solid"/>
          </a:ln>
        </p:spPr>
      </p:sp>
      <p:sp>
        <p:nvSpPr>
          <p:cNvPr id="24" name="Text 22"/>
          <p:cNvSpPr txBox="1"/>
          <p:nvPr/>
        </p:nvSpPr>
        <p:spPr>
          <a:xfrm>
            <a:off x="9223781" y="20116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772421" y="2048256"/>
            <a:ext cx="1733474" cy="320040"/>
          </a:xfrm>
          <a:prstGeom prst="rect">
            <a:avLst/>
          </a:prstGeom>
          <a:noFill/>
          <a:ln/>
        </p:spPr>
        <p:txBody>
          <a:bodyPr wrap="square" lIns="0" tIns="0" rIns="0" bIns="0" rtlCol="0" anchor="t"/>
          <a:lstStyle/>
          <a:p>
            <a:pPr indent="0" marL="0">
              <a:buNone/>
            </a:pPr>
            <a:r>
              <a:rPr lang="en-US" sz="1350" b="1" dirty="0">
                <a:solidFill>
                  <a:srgbClr val="000000"/>
                </a:solidFill>
                <a:latin typeface="Arial" pitchFamily="34" charset="0"/>
                <a:ea typeface="Arial" pitchFamily="34" charset="-122"/>
                <a:cs typeface="Arial" pitchFamily="34" charset="-120"/>
              </a:rPr>
              <a:t>Map findings</a:t>
            </a:r>
            <a:endParaRPr lang="en-US" sz="1350" dirty="0"/>
          </a:p>
        </p:txBody>
      </p:sp>
      <p:sp>
        <p:nvSpPr>
          <p:cNvPr id="26" name="Text 24"/>
          <p:cNvSpPr txBox="1"/>
          <p:nvPr/>
        </p:nvSpPr>
        <p:spPr>
          <a:xfrm>
            <a:off x="9223781" y="2542032"/>
            <a:ext cx="2236394" cy="1024128"/>
          </a:xfrm>
          <a:prstGeom prst="rect">
            <a:avLst/>
          </a:prstGeom>
          <a:noFill/>
          <a:ln/>
        </p:spPr>
        <p:txBody>
          <a:bodyPr wrap="square" lIns="0" tIns="0" rIns="0" bIns="0" rtlCol="0" anchor="t"/>
          <a:lstStyle/>
          <a:p>
            <a:pPr indent="0" marL="0">
              <a:buNone/>
            </a:pPr>
            <a:r>
              <a:rPr lang="en-US" sz="1100" dirty="0">
                <a:solidFill>
                  <a:srgbClr val="53565A"/>
                </a:solidFill>
                <a:latin typeface="Arial" pitchFamily="34" charset="0"/>
                <a:ea typeface="Arial" pitchFamily="34" charset="-122"/>
                <a:cs typeface="Arial" pitchFamily="34" charset="-120"/>
              </a:rPr>
              <a:t>A QID and a Tenable plugin meet at the CVE. Move exceptions and deferrals by CVE + CI.</a:t>
            </a:r>
            <a:endParaRPr lang="en-US" sz="1100" dirty="0"/>
          </a:p>
        </p:txBody>
      </p:sp>
      <p:sp>
        <p:nvSpPr>
          <p:cNvPr id="27" name="Shape 25"/>
          <p:cNvSpPr/>
          <p:nvPr/>
        </p:nvSpPr>
        <p:spPr>
          <a:xfrm>
            <a:off x="548640" y="3840480"/>
            <a:ext cx="2602154" cy="1783080"/>
          </a:xfrm>
          <a:prstGeom prst="rect">
            <a:avLst/>
          </a:prstGeom>
          <a:solidFill>
            <a:srgbClr val="F2F2F2"/>
          </a:solidFill>
          <a:ln w="12700">
            <a:solidFill>
              <a:srgbClr val="F2F2F2"/>
            </a:solidFill>
            <a:prstDash val="solid"/>
          </a:ln>
        </p:spPr>
      </p:sp>
      <p:sp>
        <p:nvSpPr>
          <p:cNvPr id="28" name="Shape 26"/>
          <p:cNvSpPr/>
          <p:nvPr/>
        </p:nvSpPr>
        <p:spPr>
          <a:xfrm>
            <a:off x="731520" y="4023360"/>
            <a:ext cx="402336" cy="402336"/>
          </a:xfrm>
          <a:prstGeom prst="ellipse">
            <a:avLst/>
          </a:prstGeom>
          <a:solidFill>
            <a:srgbClr val="86BC25"/>
          </a:solidFill>
          <a:ln w="12700">
            <a:solidFill>
              <a:srgbClr val="86BC25"/>
            </a:solidFill>
            <a:prstDash val="solid"/>
          </a:ln>
        </p:spPr>
      </p:sp>
      <p:sp>
        <p:nvSpPr>
          <p:cNvPr id="29" name="Text 27"/>
          <p:cNvSpPr txBox="1"/>
          <p:nvPr/>
        </p:nvSpPr>
        <p:spPr>
          <a:xfrm>
            <a:off x="731520" y="402336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1280160" y="4059936"/>
            <a:ext cx="1733474" cy="320040"/>
          </a:xfrm>
          <a:prstGeom prst="rect">
            <a:avLst/>
          </a:prstGeom>
          <a:noFill/>
          <a:ln/>
        </p:spPr>
        <p:txBody>
          <a:bodyPr wrap="square" lIns="0" tIns="0" rIns="0" bIns="0" rtlCol="0" anchor="t"/>
          <a:lstStyle/>
          <a:p>
            <a:pPr indent="0" marL="0">
              <a:buNone/>
            </a:pPr>
            <a:r>
              <a:rPr lang="en-US" sz="1350" b="1" dirty="0">
                <a:solidFill>
                  <a:srgbClr val="000000"/>
                </a:solidFill>
                <a:latin typeface="Arial" pitchFamily="34" charset="0"/>
                <a:ea typeface="Arial" pitchFamily="34" charset="-122"/>
                <a:cs typeface="Arial" pitchFamily="34" charset="-120"/>
              </a:rPr>
              <a:t>Run both</a:t>
            </a:r>
            <a:endParaRPr lang="en-US" sz="1350" dirty="0"/>
          </a:p>
        </p:txBody>
      </p:sp>
      <p:sp>
        <p:nvSpPr>
          <p:cNvPr id="31" name="Text 29"/>
          <p:cNvSpPr txBox="1"/>
          <p:nvPr/>
        </p:nvSpPr>
        <p:spPr>
          <a:xfrm>
            <a:off x="731520" y="4553712"/>
            <a:ext cx="2236394" cy="1024128"/>
          </a:xfrm>
          <a:prstGeom prst="rect">
            <a:avLst/>
          </a:prstGeom>
          <a:noFill/>
          <a:ln/>
        </p:spPr>
        <p:txBody>
          <a:bodyPr wrap="square" lIns="0" tIns="0" rIns="0" bIns="0" rtlCol="0" anchor="t"/>
          <a:lstStyle/>
          <a:p>
            <a:pPr indent="0" marL="0">
              <a:buNone/>
            </a:pPr>
            <a:r>
              <a:rPr lang="en-US" sz="1100" dirty="0">
                <a:solidFill>
                  <a:srgbClr val="53565A"/>
                </a:solidFill>
                <a:latin typeface="Arial" pitchFamily="34" charset="0"/>
                <a:ea typeface="Arial" pitchFamily="34" charset="-122"/>
                <a:cs typeface="Arial" pitchFamily="34" charset="-120"/>
              </a:rPr>
              <a:t>Compare match rates and counts per CI. Report by source to avoid double counting.</a:t>
            </a:r>
            <a:endParaRPr lang="en-US" sz="1100" dirty="0"/>
          </a:p>
        </p:txBody>
      </p:sp>
      <p:sp>
        <p:nvSpPr>
          <p:cNvPr id="32" name="Shape 30"/>
          <p:cNvSpPr/>
          <p:nvPr/>
        </p:nvSpPr>
        <p:spPr>
          <a:xfrm>
            <a:off x="3379394" y="3840480"/>
            <a:ext cx="2602154" cy="1783080"/>
          </a:xfrm>
          <a:prstGeom prst="rect">
            <a:avLst/>
          </a:prstGeom>
          <a:solidFill>
            <a:srgbClr val="F2F2F2"/>
          </a:solidFill>
          <a:ln w="12700">
            <a:solidFill>
              <a:srgbClr val="F2F2F2"/>
            </a:solidFill>
            <a:prstDash val="solid"/>
          </a:ln>
        </p:spPr>
      </p:sp>
      <p:sp>
        <p:nvSpPr>
          <p:cNvPr id="33" name="Shape 31"/>
          <p:cNvSpPr/>
          <p:nvPr/>
        </p:nvSpPr>
        <p:spPr>
          <a:xfrm>
            <a:off x="3562274" y="4023360"/>
            <a:ext cx="402336" cy="402336"/>
          </a:xfrm>
          <a:prstGeom prst="ellipse">
            <a:avLst/>
          </a:prstGeom>
          <a:solidFill>
            <a:srgbClr val="86BC25"/>
          </a:solidFill>
          <a:ln w="12700">
            <a:solidFill>
              <a:srgbClr val="86BC25"/>
            </a:solidFill>
            <a:prstDash val="solid"/>
          </a:ln>
        </p:spPr>
      </p:sp>
      <p:sp>
        <p:nvSpPr>
          <p:cNvPr id="34" name="Text 32"/>
          <p:cNvSpPr txBox="1"/>
          <p:nvPr/>
        </p:nvSpPr>
        <p:spPr>
          <a:xfrm>
            <a:off x="3562274" y="402336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35" name="Text 33"/>
          <p:cNvSpPr txBox="1"/>
          <p:nvPr/>
        </p:nvSpPr>
        <p:spPr>
          <a:xfrm>
            <a:off x="4110914" y="4059936"/>
            <a:ext cx="1733474" cy="320040"/>
          </a:xfrm>
          <a:prstGeom prst="rect">
            <a:avLst/>
          </a:prstGeom>
          <a:noFill/>
          <a:ln/>
        </p:spPr>
        <p:txBody>
          <a:bodyPr wrap="square" lIns="0" tIns="0" rIns="0" bIns="0" rtlCol="0" anchor="t"/>
          <a:lstStyle/>
          <a:p>
            <a:pPr indent="0" marL="0">
              <a:buNone/>
            </a:pPr>
            <a:r>
              <a:rPr lang="en-US" sz="1350" b="1" dirty="0">
                <a:solidFill>
                  <a:srgbClr val="000000"/>
                </a:solidFill>
                <a:latin typeface="Arial" pitchFamily="34" charset="0"/>
                <a:ea typeface="Arial" pitchFamily="34" charset="-122"/>
                <a:cs typeface="Arial" pitchFamily="34" charset="-120"/>
              </a:rPr>
              <a:t>Cut over</a:t>
            </a:r>
            <a:endParaRPr lang="en-US" sz="1350" dirty="0"/>
          </a:p>
        </p:txBody>
      </p:sp>
      <p:sp>
        <p:nvSpPr>
          <p:cNvPr id="36" name="Text 34"/>
          <p:cNvSpPr txBox="1"/>
          <p:nvPr/>
        </p:nvSpPr>
        <p:spPr>
          <a:xfrm>
            <a:off x="3562274" y="4553712"/>
            <a:ext cx="2236394" cy="1024128"/>
          </a:xfrm>
          <a:prstGeom prst="rect">
            <a:avLst/>
          </a:prstGeom>
          <a:noFill/>
          <a:ln/>
        </p:spPr>
        <p:txBody>
          <a:bodyPr wrap="square" lIns="0" tIns="0" rIns="0" bIns="0" rtlCol="0" anchor="t"/>
          <a:lstStyle/>
          <a:p>
            <a:pPr indent="0" marL="0">
              <a:buNone/>
            </a:pPr>
            <a:r>
              <a:rPr lang="en-US" sz="1100" dirty="0">
                <a:solidFill>
                  <a:srgbClr val="53565A"/>
                </a:solidFill>
                <a:latin typeface="Arial" pitchFamily="34" charset="0"/>
                <a:ea typeface="Arial" pitchFamily="34" charset="-122"/>
                <a:cs typeface="Arial" pitchFamily="34" charset="-120"/>
              </a:rPr>
              <a:t>Stop Qualys runs. Close the remaining Qualys items with a clear reason; keep history.</a:t>
            </a:r>
            <a:endParaRPr lang="en-US" sz="1100" dirty="0"/>
          </a:p>
        </p:txBody>
      </p:sp>
      <p:sp>
        <p:nvSpPr>
          <p:cNvPr id="37" name="Shape 35"/>
          <p:cNvSpPr/>
          <p:nvPr/>
        </p:nvSpPr>
        <p:spPr>
          <a:xfrm>
            <a:off x="6210148" y="3840480"/>
            <a:ext cx="2602154" cy="1783080"/>
          </a:xfrm>
          <a:prstGeom prst="rect">
            <a:avLst/>
          </a:prstGeom>
          <a:solidFill>
            <a:srgbClr val="F2F2F2"/>
          </a:solidFill>
          <a:ln w="12700">
            <a:solidFill>
              <a:srgbClr val="F2F2F2"/>
            </a:solidFill>
            <a:prstDash val="solid"/>
          </a:ln>
        </p:spPr>
      </p:sp>
      <p:sp>
        <p:nvSpPr>
          <p:cNvPr id="38" name="Shape 36"/>
          <p:cNvSpPr/>
          <p:nvPr/>
        </p:nvSpPr>
        <p:spPr>
          <a:xfrm>
            <a:off x="6393028" y="4023360"/>
            <a:ext cx="402336" cy="402336"/>
          </a:xfrm>
          <a:prstGeom prst="ellipse">
            <a:avLst/>
          </a:prstGeom>
          <a:solidFill>
            <a:srgbClr val="86BC25"/>
          </a:solidFill>
          <a:ln w="12700">
            <a:solidFill>
              <a:srgbClr val="86BC25"/>
            </a:solidFill>
            <a:prstDash val="solid"/>
          </a:ln>
        </p:spPr>
      </p:sp>
      <p:sp>
        <p:nvSpPr>
          <p:cNvPr id="39" name="Text 37"/>
          <p:cNvSpPr txBox="1"/>
          <p:nvPr/>
        </p:nvSpPr>
        <p:spPr>
          <a:xfrm>
            <a:off x="6393028" y="402336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40" name="Text 38"/>
          <p:cNvSpPr txBox="1"/>
          <p:nvPr/>
        </p:nvSpPr>
        <p:spPr>
          <a:xfrm>
            <a:off x="6941668" y="4059936"/>
            <a:ext cx="1733474" cy="320040"/>
          </a:xfrm>
          <a:prstGeom prst="rect">
            <a:avLst/>
          </a:prstGeom>
          <a:noFill/>
          <a:ln/>
        </p:spPr>
        <p:txBody>
          <a:bodyPr wrap="square" lIns="0" tIns="0" rIns="0" bIns="0" rtlCol="0" anchor="t"/>
          <a:lstStyle/>
          <a:p>
            <a:pPr indent="0" marL="0">
              <a:buNone/>
            </a:pPr>
            <a:r>
              <a:rPr lang="en-US" sz="1350" b="1" dirty="0">
                <a:solidFill>
                  <a:srgbClr val="000000"/>
                </a:solidFill>
                <a:latin typeface="Arial" pitchFamily="34" charset="0"/>
                <a:ea typeface="Arial" pitchFamily="34" charset="-122"/>
                <a:cs typeface="Arial" pitchFamily="34" charset="-120"/>
              </a:rPr>
              <a:t>Decommission</a:t>
            </a:r>
            <a:endParaRPr lang="en-US" sz="1350" dirty="0"/>
          </a:p>
        </p:txBody>
      </p:sp>
      <p:sp>
        <p:nvSpPr>
          <p:cNvPr id="41" name="Text 39"/>
          <p:cNvSpPr txBox="1"/>
          <p:nvPr/>
        </p:nvSpPr>
        <p:spPr>
          <a:xfrm>
            <a:off x="6393028" y="4553712"/>
            <a:ext cx="2236394" cy="1024128"/>
          </a:xfrm>
          <a:prstGeom prst="rect">
            <a:avLst/>
          </a:prstGeom>
          <a:noFill/>
          <a:ln/>
        </p:spPr>
        <p:txBody>
          <a:bodyPr wrap="square" lIns="0" tIns="0" rIns="0" bIns="0" rtlCol="0" anchor="t"/>
          <a:lstStyle/>
          <a:p>
            <a:pPr indent="0" marL="0">
              <a:buNone/>
            </a:pPr>
            <a:r>
              <a:rPr lang="en-US" sz="1100" dirty="0">
                <a:solidFill>
                  <a:srgbClr val="53565A"/>
                </a:solidFill>
                <a:latin typeface="Arial" pitchFamily="34" charset="0"/>
                <a:ea typeface="Arial" pitchFamily="34" charset="-122"/>
                <a:cs typeface="Arial" pitchFamily="34" charset="-120"/>
              </a:rPr>
              <a:t>Deactivate the Qualys integration, rules and jobs; update dashboards and runbooks.</a:t>
            </a:r>
            <a:endParaRPr lang="en-US" sz="1100" dirty="0"/>
          </a:p>
        </p:txBody>
      </p:sp>
      <p:sp>
        <p:nvSpPr>
          <p:cNvPr id="42" name="Shape 40"/>
          <p:cNvSpPr/>
          <p:nvPr/>
        </p:nvSpPr>
        <p:spPr>
          <a:xfrm>
            <a:off x="9040901" y="3840480"/>
            <a:ext cx="2602154" cy="1783080"/>
          </a:xfrm>
          <a:prstGeom prst="rect">
            <a:avLst/>
          </a:prstGeom>
          <a:solidFill>
            <a:srgbClr val="000000"/>
          </a:solidFill>
          <a:ln w="12700">
            <a:solidFill>
              <a:srgbClr val="000000"/>
            </a:solidFill>
            <a:prstDash val="solid"/>
          </a:ln>
        </p:spPr>
      </p:sp>
      <p:sp>
        <p:nvSpPr>
          <p:cNvPr id="43" name="Text 41"/>
          <p:cNvSpPr txBox="1"/>
          <p:nvPr/>
        </p:nvSpPr>
        <p:spPr>
          <a:xfrm>
            <a:off x="9223781" y="4023360"/>
            <a:ext cx="2236394" cy="274320"/>
          </a:xfrm>
          <a:prstGeom prst="rect">
            <a:avLst/>
          </a:prstGeom>
          <a:noFill/>
          <a:ln/>
        </p:spPr>
        <p:txBody>
          <a:bodyPr wrap="square" lIns="0" tIns="0" rIns="0" bIns="0" rtlCol="0" anchor="t"/>
          <a:lstStyle/>
          <a:p>
            <a:pPr indent="0" marL="0">
              <a:buNone/>
            </a:pPr>
            <a:r>
              <a:rPr lang="en-US" sz="1350" b="1" dirty="0">
                <a:solidFill>
                  <a:srgbClr val="86BC25"/>
                </a:solidFill>
                <a:latin typeface="Arial" pitchFamily="34" charset="0"/>
                <a:ea typeface="Arial" pitchFamily="34" charset="-122"/>
                <a:cs typeface="Arial" pitchFamily="34" charset="-120"/>
              </a:rPr>
              <a:t>Watch out</a:t>
            </a:r>
            <a:endParaRPr lang="en-US" sz="1350" dirty="0"/>
          </a:p>
        </p:txBody>
      </p:sp>
      <p:sp>
        <p:nvSpPr>
          <p:cNvPr id="44" name="Text 42"/>
          <p:cNvSpPr txBox="1"/>
          <p:nvPr/>
        </p:nvSpPr>
        <p:spPr>
          <a:xfrm>
            <a:off x="9223781" y="4389120"/>
            <a:ext cx="2236394" cy="118872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New items restart remediation clocks. Owners see "new" findings that are old. Exceptions do not carry over by themselves.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000" b="1" spc="150" kern="0" dirty="0">
                <a:solidFill>
                  <a:srgbClr val="26890D"/>
                </a:solidFill>
                <a:latin typeface="Arial" pitchFamily="34" charset="0"/>
                <a:ea typeface="Arial" pitchFamily="34" charset="-122"/>
                <a:cs typeface="Arial" pitchFamily="34" charset="-120"/>
              </a:rPr>
              <a:t>5 · VULNERABILITY BASICS</a:t>
            </a:r>
            <a:endParaRPr lang="en-US" sz="10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CVE vs CWE</a:t>
            </a:r>
            <a:pPr indent="0" marL="0">
              <a:buNone/>
            </a:pPr>
            <a:r>
              <a:rPr lang="en-US" sz="3000" b="1" dirty="0">
                <a:solidFill>
                  <a:srgbClr val="86BC25"/>
                </a:solidFill>
                <a:latin typeface="Arial" pitchFamily="34" charset="0"/>
                <a:ea typeface="Arial" pitchFamily="34" charset="-122"/>
                <a:cs typeface="Arial" pitchFamily="34" charset="-120"/>
              </a:rPr>
              <a:t>.</a:t>
            </a:r>
            <a:endParaRPr lang="en-US" sz="3000" dirty="0"/>
          </a:p>
        </p:txBody>
      </p:sp>
      <p:sp>
        <p:nvSpPr>
          <p:cNvPr id="4" name="Text 2"/>
          <p:cNvSpPr txBox="1"/>
          <p:nvPr/>
        </p:nvSpPr>
        <p:spPr>
          <a:xfrm>
            <a:off x="548640" y="1243584"/>
            <a:ext cx="11094415" cy="411480"/>
          </a:xfrm>
          <a:prstGeom prst="rect">
            <a:avLst/>
          </a:prstGeom>
          <a:noFill/>
          <a:ln/>
        </p:spPr>
        <p:txBody>
          <a:bodyPr wrap="square" lIns="0" tIns="0" rIns="0" bIns="0" rtlCol="0" anchor="t"/>
          <a:lstStyle/>
          <a:p>
            <a:pPr indent="0" marL="0">
              <a:buNone/>
            </a:pPr>
            <a:r>
              <a:rPr lang="en-US" sz="1400" dirty="0">
                <a:solidFill>
                  <a:srgbClr val="53565A"/>
                </a:solidFill>
                <a:latin typeface="Arial" pitchFamily="34" charset="0"/>
                <a:ea typeface="Arial" pitchFamily="34" charset="-122"/>
                <a:cs typeface="Arial" pitchFamily="34" charset="-120"/>
              </a:rPr>
              <a:t>A CVE is one flaw in one product. A CWE is the kind of mistake behind it.</a:t>
            </a:r>
            <a:endParaRPr lang="en-US" sz="1400" dirty="0"/>
          </a:p>
        </p:txBody>
      </p:sp>
      <p:sp>
        <p:nvSpPr>
          <p:cNvPr id="5" name="Text 3"/>
          <p:cNvSpPr txBox="1"/>
          <p:nvPr/>
        </p:nvSpPr>
        <p:spPr>
          <a:xfrm>
            <a:off x="11185855" y="6473952"/>
            <a:ext cx="457200" cy="228600"/>
          </a:xfrm>
          <a:prstGeom prst="rect">
            <a:avLst/>
          </a:prstGeom>
          <a:noFill/>
          <a:ln/>
        </p:spPr>
        <p:txBody>
          <a:bodyPr wrap="square" lIns="0" tIns="0" rIns="0" bIns="0" rtlCol="0" anchor="t"/>
          <a:lstStyle/>
          <a:p>
            <a:pPr algn="r" indent="0" marL="0">
              <a:buNone/>
            </a:pPr>
            <a:r>
              <a:rPr lang="en-US" sz="900" dirty="0">
                <a:solidFill>
                  <a:srgbClr val="75787B"/>
                </a:solidFill>
                <a:latin typeface="Arial" pitchFamily="34" charset="0"/>
                <a:ea typeface="Arial" pitchFamily="34" charset="-122"/>
                <a:cs typeface="Arial" pitchFamily="34" charset="-120"/>
              </a:rPr>
              <a:t>13</a:t>
            </a:r>
            <a:endParaRPr lang="en-US" sz="900" dirty="0"/>
          </a:p>
        </p:txBody>
      </p:sp>
      <p:sp>
        <p:nvSpPr>
          <p:cNvPr id="6" name="Text 4"/>
          <p:cNvSpPr txBox="1"/>
          <p:nvPr/>
        </p:nvSpPr>
        <p:spPr>
          <a:xfrm>
            <a:off x="548640" y="6473952"/>
            <a:ext cx="2743200" cy="228600"/>
          </a:xfrm>
          <a:prstGeom prst="rect">
            <a:avLst/>
          </a:prstGeom>
          <a:noFill/>
          <a:ln/>
        </p:spPr>
        <p:txBody>
          <a:bodyPr wrap="square" lIns="0" tIns="0" rIns="0" bIns="0" rtlCol="0" anchor="t"/>
          <a:lstStyle/>
          <a:p>
            <a:pPr indent="0" marL="0">
              <a:buNone/>
            </a:pPr>
            <a:r>
              <a:rPr lang="en-US" sz="900" dirty="0">
                <a:solidFill>
                  <a:srgbClr val="75787B"/>
                </a:solidFill>
                <a:latin typeface="Arial" pitchFamily="34" charset="0"/>
                <a:ea typeface="Arial" pitchFamily="34" charset="-122"/>
                <a:cs typeface="Arial" pitchFamily="34" charset="-120"/>
              </a:rPr>
              <a:t>VR field guide</a:t>
            </a:r>
            <a:endParaRPr lang="en-US" sz="900" dirty="0"/>
          </a:p>
        </p:txBody>
      </p:sp>
      <p:sp>
        <p:nvSpPr>
          <p:cNvPr id="7" name="Shape 5"/>
          <p:cNvSpPr/>
          <p:nvPr/>
        </p:nvSpPr>
        <p:spPr>
          <a:xfrm>
            <a:off x="548640" y="1874520"/>
            <a:ext cx="5364328" cy="3017520"/>
          </a:xfrm>
          <a:prstGeom prst="rect">
            <a:avLst/>
          </a:prstGeom>
          <a:solidFill>
            <a:srgbClr val="000000"/>
          </a:solidFill>
          <a:ln w="12700">
            <a:solidFill>
              <a:srgbClr val="000000"/>
            </a:solidFill>
            <a:prstDash val="solid"/>
          </a:ln>
        </p:spPr>
      </p:sp>
      <p:sp>
        <p:nvSpPr>
          <p:cNvPr id="8" name="Text 6"/>
          <p:cNvSpPr txBox="1"/>
          <p:nvPr/>
        </p:nvSpPr>
        <p:spPr>
          <a:xfrm>
            <a:off x="868680" y="2103120"/>
            <a:ext cx="1828800" cy="548640"/>
          </a:xfrm>
          <a:prstGeom prst="rect">
            <a:avLst/>
          </a:prstGeom>
          <a:noFill/>
          <a:ln/>
        </p:spPr>
        <p:txBody>
          <a:bodyPr wrap="square" lIns="0" tIns="0" rIns="0" bIns="0" rtlCol="0" anchor="t"/>
          <a:lstStyle/>
          <a:p>
            <a:pPr indent="0" marL="0">
              <a:buNone/>
            </a:pPr>
            <a:r>
              <a:rPr lang="en-US" sz="3400" b="1" dirty="0">
                <a:solidFill>
                  <a:srgbClr val="86BC25"/>
                </a:solidFill>
                <a:latin typeface="Arial" pitchFamily="34" charset="0"/>
                <a:ea typeface="Arial" pitchFamily="34" charset="-122"/>
                <a:cs typeface="Arial" pitchFamily="34" charset="-120"/>
              </a:rPr>
              <a:t>CVE</a:t>
            </a:r>
            <a:endParaRPr lang="en-US" sz="3400" dirty="0"/>
          </a:p>
        </p:txBody>
      </p:sp>
      <p:sp>
        <p:nvSpPr>
          <p:cNvPr id="9" name="Text 7"/>
          <p:cNvSpPr txBox="1"/>
          <p:nvPr/>
        </p:nvSpPr>
        <p:spPr>
          <a:xfrm>
            <a:off x="868680" y="2697480"/>
            <a:ext cx="4724248" cy="320040"/>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Common Vulnerabilities and Exposures</a:t>
            </a:r>
            <a:endParaRPr lang="en-US" sz="1300" dirty="0"/>
          </a:p>
        </p:txBody>
      </p:sp>
      <p:sp>
        <p:nvSpPr>
          <p:cNvPr id="10" name="Text 8"/>
          <p:cNvSpPr txBox="1"/>
          <p:nvPr/>
        </p:nvSpPr>
        <p:spPr>
          <a:xfrm>
            <a:off x="868680" y="3108960"/>
            <a:ext cx="4724248" cy="132588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E0E0E0"/>
                </a:solidFill>
                <a:latin typeface="Arial" pitchFamily="34" charset="0"/>
                <a:ea typeface="Arial" pitchFamily="34" charset="-122"/>
                <a:cs typeface="Arial" pitchFamily="34" charset="-120"/>
              </a:rPr>
              <a:t>A specific, publicly disclosed flaw in a specific product and version.</a:t>
            </a:r>
            <a:endParaRPr lang="en-US" sz="1200" dirty="0"/>
          </a:p>
          <a:p>
            <a:pPr marL="342900" indent="-342900">
              <a:spcAft>
                <a:spcPts val="500"/>
              </a:spcAft>
              <a:buSzPct val="100000"/>
              <a:buChar char="•"/>
            </a:pPr>
            <a:r>
              <a:rPr lang="en-US" sz="1200" dirty="0">
                <a:solidFill>
                  <a:srgbClr val="E0E0E0"/>
                </a:solidFill>
                <a:latin typeface="Arial" pitchFamily="34" charset="0"/>
                <a:ea typeface="Arial" pitchFamily="34" charset="-122"/>
                <a:cs typeface="Arial" pitchFamily="34" charset="-120"/>
              </a:rPr>
              <a:t>Format CVE-YEAR-NUMBER, e.g. CVE-2021-44228 (Log4Shell, Apache Log4j 2).</a:t>
            </a:r>
            <a:endParaRPr lang="en-US" sz="1200" dirty="0"/>
          </a:p>
          <a:p>
            <a:pPr marL="342900" indent="-342900">
              <a:spcAft>
                <a:spcPts val="500"/>
              </a:spcAft>
              <a:buSzPct val="100000"/>
              <a:buChar char="•"/>
            </a:pPr>
            <a:r>
              <a:rPr lang="en-US" sz="1200" dirty="0">
                <a:solidFill>
                  <a:srgbClr val="E0E0E0"/>
                </a:solidFill>
                <a:latin typeface="Arial" pitchFamily="34" charset="0"/>
                <a:ea typeface="Arial" pitchFamily="34" charset="-122"/>
                <a:cs typeface="Arial" pitchFamily="34" charset="-120"/>
              </a:rPr>
              <a:t>Assigned by CVE numbering authorities, published in the NVD.</a:t>
            </a:r>
            <a:endParaRPr lang="en-US" sz="1200" dirty="0"/>
          </a:p>
        </p:txBody>
      </p:sp>
      <p:sp>
        <p:nvSpPr>
          <p:cNvPr id="11" name="Text 9"/>
          <p:cNvSpPr txBox="1"/>
          <p:nvPr/>
        </p:nvSpPr>
        <p:spPr>
          <a:xfrm>
            <a:off x="868680" y="4507992"/>
            <a:ext cx="4724248" cy="274320"/>
          </a:xfrm>
          <a:prstGeom prst="rect">
            <a:avLst/>
          </a:prstGeom>
          <a:noFill/>
          <a:ln/>
        </p:spPr>
        <p:txBody>
          <a:bodyPr wrap="square" lIns="0" tIns="0" rIns="0" bIns="0" rtlCol="0" anchor="t"/>
          <a:lstStyle/>
          <a:p>
            <a:pPr indent="0" marL="0">
              <a:buNone/>
            </a:pPr>
            <a:r>
              <a:rPr lang="en-US" sz="1100" dirty="0">
                <a:solidFill>
                  <a:srgbClr val="BBBCBC"/>
                </a:solidFill>
                <a:latin typeface="Arial" pitchFamily="34" charset="0"/>
                <a:ea typeface="Arial" pitchFamily="34" charset="-122"/>
                <a:cs typeface="Arial" pitchFamily="34" charset="-120"/>
              </a:rPr>
              <a:t>In ServiceNow: </a:t>
            </a:r>
            <a:pPr indent="0" marL="0">
              <a:buNone/>
            </a:pPr>
            <a:r>
              <a:rPr lang="en-US" sz="1100" dirty="0">
                <a:solidFill>
                  <a:srgbClr val="26890D"/>
                </a:solidFill>
                <a:latin typeface="Courier New" pitchFamily="34" charset="0"/>
                <a:ea typeface="Courier New" pitchFamily="34" charset="-122"/>
                <a:cs typeface="Courier New" pitchFamily="34" charset="-120"/>
              </a:rPr>
              <a:t>sn_vul_nvd_entry</a:t>
            </a:r>
            <a:endParaRPr lang="en-US" sz="1100" dirty="0"/>
          </a:p>
        </p:txBody>
      </p:sp>
      <p:sp>
        <p:nvSpPr>
          <p:cNvPr id="12" name="Shape 10"/>
          <p:cNvSpPr/>
          <p:nvPr/>
        </p:nvSpPr>
        <p:spPr>
          <a:xfrm>
            <a:off x="6278728" y="1874520"/>
            <a:ext cx="5364328" cy="3017520"/>
          </a:xfrm>
          <a:prstGeom prst="rect">
            <a:avLst/>
          </a:prstGeom>
          <a:solidFill>
            <a:srgbClr val="F2F2F2"/>
          </a:solidFill>
          <a:ln w="12700">
            <a:solidFill>
              <a:srgbClr val="F2F2F2"/>
            </a:solidFill>
            <a:prstDash val="solid"/>
          </a:ln>
        </p:spPr>
      </p:sp>
      <p:sp>
        <p:nvSpPr>
          <p:cNvPr id="13" name="Text 11"/>
          <p:cNvSpPr txBox="1"/>
          <p:nvPr/>
        </p:nvSpPr>
        <p:spPr>
          <a:xfrm>
            <a:off x="6598768" y="2103120"/>
            <a:ext cx="1828800" cy="548640"/>
          </a:xfrm>
          <a:prstGeom prst="rect">
            <a:avLst/>
          </a:prstGeom>
          <a:noFill/>
          <a:ln/>
        </p:spPr>
        <p:txBody>
          <a:bodyPr wrap="square" lIns="0" tIns="0" rIns="0" bIns="0" rtlCol="0" anchor="t"/>
          <a:lstStyle/>
          <a:p>
            <a:pPr indent="0" marL="0">
              <a:buNone/>
            </a:pPr>
            <a:r>
              <a:rPr lang="en-US" sz="3400" b="1" dirty="0">
                <a:solidFill>
                  <a:srgbClr val="86BC25"/>
                </a:solidFill>
                <a:latin typeface="Arial" pitchFamily="34" charset="0"/>
                <a:ea typeface="Arial" pitchFamily="34" charset="-122"/>
                <a:cs typeface="Arial" pitchFamily="34" charset="-120"/>
              </a:rPr>
              <a:t>CWE</a:t>
            </a:r>
            <a:endParaRPr lang="en-US" sz="3400" dirty="0"/>
          </a:p>
        </p:txBody>
      </p:sp>
      <p:sp>
        <p:nvSpPr>
          <p:cNvPr id="14" name="Text 12"/>
          <p:cNvSpPr txBox="1"/>
          <p:nvPr/>
        </p:nvSpPr>
        <p:spPr>
          <a:xfrm>
            <a:off x="6598768" y="2697480"/>
            <a:ext cx="4724248" cy="320040"/>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Common Weakness Enumeration</a:t>
            </a:r>
            <a:endParaRPr lang="en-US" sz="1300" dirty="0"/>
          </a:p>
        </p:txBody>
      </p:sp>
      <p:sp>
        <p:nvSpPr>
          <p:cNvPr id="15" name="Text 13"/>
          <p:cNvSpPr txBox="1"/>
          <p:nvPr/>
        </p:nvSpPr>
        <p:spPr>
          <a:xfrm>
            <a:off x="6598768" y="3108960"/>
            <a:ext cx="4724248" cy="132588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53565A"/>
                </a:solidFill>
                <a:latin typeface="Arial" pitchFamily="34" charset="0"/>
                <a:ea typeface="Arial" pitchFamily="34" charset="-122"/>
                <a:cs typeface="Arial" pitchFamily="34" charset="-120"/>
              </a:rPr>
              <a:t>A category of software weakness: the type of mistake.</a:t>
            </a:r>
            <a:endParaRPr lang="en-US" sz="1200" dirty="0"/>
          </a:p>
          <a:p>
            <a:pPr marL="342900" indent="-342900">
              <a:spcAft>
                <a:spcPts val="500"/>
              </a:spcAft>
              <a:buSzPct val="100000"/>
              <a:buChar char="•"/>
            </a:pPr>
            <a:r>
              <a:rPr lang="en-US" sz="1200" dirty="0">
                <a:solidFill>
                  <a:srgbClr val="53565A"/>
                </a:solidFill>
                <a:latin typeface="Arial" pitchFamily="34" charset="0"/>
                <a:ea typeface="Arial" pitchFamily="34" charset="-122"/>
                <a:cs typeface="Arial" pitchFamily="34" charset="-120"/>
              </a:rPr>
              <a:t>e.g. CWE-79 cross-site scripting, CWE-502 deserialization of untrusted data.</a:t>
            </a:r>
            <a:endParaRPr lang="en-US" sz="1200" dirty="0"/>
          </a:p>
          <a:p>
            <a:pPr marL="342900" indent="-342900">
              <a:spcAft>
                <a:spcPts val="500"/>
              </a:spcAft>
              <a:buSzPct val="100000"/>
              <a:buChar char="•"/>
            </a:pPr>
            <a:r>
              <a:rPr lang="en-US" sz="1200" dirty="0">
                <a:solidFill>
                  <a:srgbClr val="53565A"/>
                </a:solidFill>
                <a:latin typeface="Arial" pitchFamily="34" charset="0"/>
                <a:ea typeface="Arial" pitchFamily="34" charset="-122"/>
                <a:cs typeface="Arial" pitchFamily="34" charset="-120"/>
              </a:rPr>
              <a:t>Maintained by MITRE; basis of the CWE Top 25, mapped to the OWASP Top 10.</a:t>
            </a:r>
            <a:endParaRPr lang="en-US" sz="1200" dirty="0"/>
          </a:p>
        </p:txBody>
      </p:sp>
      <p:sp>
        <p:nvSpPr>
          <p:cNvPr id="16" name="Text 14"/>
          <p:cNvSpPr txBox="1"/>
          <p:nvPr/>
        </p:nvSpPr>
        <p:spPr>
          <a:xfrm>
            <a:off x="6598768" y="4507992"/>
            <a:ext cx="4724248" cy="274320"/>
          </a:xfrm>
          <a:prstGeom prst="rect">
            <a:avLst/>
          </a:prstGeom>
          <a:noFill/>
          <a:ln/>
        </p:spPr>
        <p:txBody>
          <a:bodyPr wrap="square" lIns="0" tIns="0" rIns="0" bIns="0" rtlCol="0" anchor="t"/>
          <a:lstStyle/>
          <a:p>
            <a:pPr indent="0" marL="0">
              <a:buNone/>
            </a:pPr>
            <a:r>
              <a:rPr lang="en-US" sz="1100" dirty="0">
                <a:solidFill>
                  <a:srgbClr val="75787B"/>
                </a:solidFill>
                <a:latin typeface="Arial" pitchFamily="34" charset="0"/>
                <a:ea typeface="Arial" pitchFamily="34" charset="-122"/>
                <a:cs typeface="Arial" pitchFamily="34" charset="-120"/>
              </a:rPr>
              <a:t>In ServiceNow: </a:t>
            </a:r>
            <a:pPr indent="0" marL="0">
              <a:buNone/>
            </a:pPr>
            <a:r>
              <a:rPr lang="en-US" sz="1100" dirty="0">
                <a:solidFill>
                  <a:srgbClr val="26890D"/>
                </a:solidFill>
                <a:latin typeface="Courier New" pitchFamily="34" charset="0"/>
                <a:ea typeface="Courier New" pitchFamily="34" charset="-122"/>
                <a:cs typeface="Courier New" pitchFamily="34" charset="-120"/>
              </a:rPr>
              <a:t>sn_vul_cwe</a:t>
            </a:r>
            <a:endParaRPr lang="en-US" sz="1100" dirty="0"/>
          </a:p>
        </p:txBody>
      </p:sp>
      <p:sp>
        <p:nvSpPr>
          <p:cNvPr id="17" name="Shape 15"/>
          <p:cNvSpPr/>
          <p:nvPr/>
        </p:nvSpPr>
        <p:spPr>
          <a:xfrm>
            <a:off x="548640" y="5120640"/>
            <a:ext cx="11094415" cy="960120"/>
          </a:xfrm>
          <a:prstGeom prst="rect">
            <a:avLst/>
          </a:prstGeom>
          <a:solidFill>
            <a:srgbClr val="E8F2D5"/>
          </a:solidFill>
          <a:ln w="12700">
            <a:solidFill>
              <a:srgbClr val="E8F2D5"/>
            </a:solidFill>
            <a:prstDash val="solid"/>
          </a:ln>
        </p:spPr>
      </p:sp>
      <p:sp>
        <p:nvSpPr>
          <p:cNvPr id="18" name="Text 16"/>
          <p:cNvSpPr txBox="1"/>
          <p:nvPr/>
        </p:nvSpPr>
        <p:spPr>
          <a:xfrm>
            <a:off x="822960" y="5230368"/>
            <a:ext cx="10545775" cy="777240"/>
          </a:xfrm>
          <a:prstGeom prst="rect">
            <a:avLst/>
          </a:prstGeom>
          <a:noFill/>
          <a:ln/>
        </p:spPr>
        <p:txBody>
          <a:bodyPr wrap="square" lIns="0" tIns="0" rIns="0" bIns="0" rtlCol="0" anchor="ctr"/>
          <a:lstStyle/>
          <a:p>
            <a:pPr indent="0" marL="0">
              <a:buNone/>
            </a:pPr>
            <a:r>
              <a:rPr lang="en-US" sz="1250" b="1" dirty="0">
                <a:solidFill>
                  <a:srgbClr val="000000"/>
                </a:solidFill>
                <a:latin typeface="Arial" pitchFamily="34" charset="0"/>
                <a:ea typeface="Arial" pitchFamily="34" charset="-122"/>
                <a:cs typeface="Arial" pitchFamily="34" charset="-120"/>
              </a:rPr>
              <a:t>Many CVEs, one CWE. </a:t>
            </a:r>
            <a:pPr indent="0" marL="0">
              <a:buNone/>
            </a:pPr>
            <a:r>
              <a:rPr lang="en-US" sz="1250" dirty="0">
                <a:solidFill>
                  <a:srgbClr val="53565A"/>
                </a:solidFill>
                <a:latin typeface="Arial" pitchFamily="34" charset="0"/>
                <a:ea typeface="Arial" pitchFamily="34" charset="-122"/>
                <a:cs typeface="Arial" pitchFamily="34" charset="-120"/>
              </a:rPr>
              <a:t>Log4Shell (CVE-2021-44228) is classified under CWE-917 and CWE-502. Scanner ids (Qualys QID, Tenable plugin, Veracode flaw) sit in </a:t>
            </a:r>
            <a:pPr indent="0" marL="0">
              <a:buNone/>
            </a:pPr>
            <a:r>
              <a:rPr lang="en-US" sz="1250" dirty="0">
                <a:solidFill>
                  <a:srgbClr val="26890D"/>
                </a:solidFill>
                <a:latin typeface="Courier New" pitchFamily="34" charset="0"/>
                <a:ea typeface="Courier New" pitchFamily="34" charset="-122"/>
                <a:cs typeface="Courier New" pitchFamily="34" charset="-120"/>
              </a:rPr>
              <a:t>sn_vul_third_party_entry</a:t>
            </a:r>
            <a:pPr indent="0" marL="0">
              <a:buNone/>
            </a:pPr>
            <a:r>
              <a:rPr lang="en-US" sz="1250" dirty="0">
                <a:solidFill>
                  <a:srgbClr val="53565A"/>
                </a:solidFill>
                <a:latin typeface="Arial" pitchFamily="34" charset="0"/>
                <a:ea typeface="Arial" pitchFamily="34" charset="-122"/>
                <a:cs typeface="Arial" pitchFamily="34" charset="-120"/>
              </a:rPr>
              <a:t> and link to their CVEs.</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000" b="1" spc="150" kern="0" dirty="0">
                <a:solidFill>
                  <a:srgbClr val="26890D"/>
                </a:solidFill>
                <a:latin typeface="Arial" pitchFamily="34" charset="0"/>
                <a:ea typeface="Arial" pitchFamily="34" charset="-122"/>
                <a:cs typeface="Arial" pitchFamily="34" charset="-120"/>
              </a:rPr>
              <a:t>5 · VULNERABILITY BASICS</a:t>
            </a:r>
            <a:endParaRPr lang="en-US" sz="10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CVSS v2 vs CVSS v3</a:t>
            </a:r>
            <a:pPr indent="0" marL="0">
              <a:buNone/>
            </a:pPr>
            <a:r>
              <a:rPr lang="en-US" sz="3000" b="1" dirty="0">
                <a:solidFill>
                  <a:srgbClr val="86BC25"/>
                </a:solidFill>
                <a:latin typeface="Arial" pitchFamily="34" charset="0"/>
                <a:ea typeface="Arial" pitchFamily="34" charset="-122"/>
                <a:cs typeface="Arial" pitchFamily="34" charset="-120"/>
              </a:rPr>
              <a:t>.</a:t>
            </a:r>
            <a:endParaRPr lang="en-US" sz="3000" dirty="0"/>
          </a:p>
        </p:txBody>
      </p:sp>
      <p:sp>
        <p:nvSpPr>
          <p:cNvPr id="4" name="Text 2"/>
          <p:cNvSpPr txBox="1"/>
          <p:nvPr/>
        </p:nvSpPr>
        <p:spPr>
          <a:xfrm>
            <a:off x="548640" y="1243584"/>
            <a:ext cx="11094415" cy="411480"/>
          </a:xfrm>
          <a:prstGeom prst="rect">
            <a:avLst/>
          </a:prstGeom>
          <a:noFill/>
          <a:ln/>
        </p:spPr>
        <p:txBody>
          <a:bodyPr wrap="square" lIns="0" tIns="0" rIns="0" bIns="0" rtlCol="0" anchor="t"/>
          <a:lstStyle/>
          <a:p>
            <a:pPr indent="0" marL="0">
              <a:buNone/>
            </a:pPr>
            <a:r>
              <a:rPr lang="en-US" sz="1400" dirty="0">
                <a:solidFill>
                  <a:srgbClr val="53565A"/>
                </a:solidFill>
                <a:latin typeface="Arial" pitchFamily="34" charset="0"/>
                <a:ea typeface="Arial" pitchFamily="34" charset="-122"/>
                <a:cs typeface="Arial" pitchFamily="34" charset="-120"/>
              </a:rPr>
              <a:t>Both score severity from 0 to 10, but they measure it differently. The same flaw can land in a different band.</a:t>
            </a:r>
            <a:endParaRPr lang="en-US" sz="1400" dirty="0"/>
          </a:p>
        </p:txBody>
      </p:sp>
      <p:sp>
        <p:nvSpPr>
          <p:cNvPr id="5" name="Text 3"/>
          <p:cNvSpPr txBox="1"/>
          <p:nvPr/>
        </p:nvSpPr>
        <p:spPr>
          <a:xfrm>
            <a:off x="11185855" y="6473952"/>
            <a:ext cx="457200" cy="228600"/>
          </a:xfrm>
          <a:prstGeom prst="rect">
            <a:avLst/>
          </a:prstGeom>
          <a:noFill/>
          <a:ln/>
        </p:spPr>
        <p:txBody>
          <a:bodyPr wrap="square" lIns="0" tIns="0" rIns="0" bIns="0" rtlCol="0" anchor="t"/>
          <a:lstStyle/>
          <a:p>
            <a:pPr algn="r" indent="0" marL="0">
              <a:buNone/>
            </a:pPr>
            <a:r>
              <a:rPr lang="en-US" sz="900" dirty="0">
                <a:solidFill>
                  <a:srgbClr val="75787B"/>
                </a:solidFill>
                <a:latin typeface="Arial" pitchFamily="34" charset="0"/>
                <a:ea typeface="Arial" pitchFamily="34" charset="-122"/>
                <a:cs typeface="Arial" pitchFamily="34" charset="-120"/>
              </a:rPr>
              <a:t>14</a:t>
            </a:r>
            <a:endParaRPr lang="en-US" sz="900" dirty="0"/>
          </a:p>
        </p:txBody>
      </p:sp>
      <p:sp>
        <p:nvSpPr>
          <p:cNvPr id="6" name="Text 4"/>
          <p:cNvSpPr txBox="1"/>
          <p:nvPr/>
        </p:nvSpPr>
        <p:spPr>
          <a:xfrm>
            <a:off x="548640" y="6473952"/>
            <a:ext cx="2743200" cy="228600"/>
          </a:xfrm>
          <a:prstGeom prst="rect">
            <a:avLst/>
          </a:prstGeom>
          <a:noFill/>
          <a:ln/>
        </p:spPr>
        <p:txBody>
          <a:bodyPr wrap="square" lIns="0" tIns="0" rIns="0" bIns="0" rtlCol="0" anchor="t"/>
          <a:lstStyle/>
          <a:p>
            <a:pPr indent="0" marL="0">
              <a:buNone/>
            </a:pPr>
            <a:r>
              <a:rPr lang="en-US" sz="900" dirty="0">
                <a:solidFill>
                  <a:srgbClr val="75787B"/>
                </a:solidFill>
                <a:latin typeface="Arial" pitchFamily="34" charset="0"/>
                <a:ea typeface="Arial" pitchFamily="34" charset="-122"/>
                <a:cs typeface="Arial" pitchFamily="34" charset="-120"/>
              </a:rPr>
              <a:t>VR field guide</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7589520" cy="914400"/>
        </p:xfrm>
        <a:graphic>
          <a:graphicData uri="http://schemas.openxmlformats.org/drawingml/2006/table">
            <a:tbl>
              <a:tblPr/>
              <a:tblGrid>
                <a:gridCol w="1920240"/>
                <a:gridCol w="2651760"/>
                <a:gridCol w="3017520"/>
              </a:tblGrid>
              <a:tr h="411480">
                <a:tc>
                  <a:txBody>
                    <a:bodyPr/>
                    <a:lstStyle/>
                    <a:p>
                      <a:pPr indent="0" marL="0">
                        <a:buNone/>
                      </a:pPr>
                      <a:endParaRPr lang="en-US" sz="1300" dirty="0">
                        <a:latin typeface="Arial" charset="0"/>
                        <a:ea typeface="Arial" charset="0"/>
                        <a:cs typeface="Arial" charset="0"/>
                      </a:endParaRPr>
                    </a:p>
                  </a:txBody>
                  <a:tcPr marL="109728" marR="109728" marT="54864" marB="54864"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CVSS v2</a:t>
                      </a:r>
                      <a:endParaRPr lang="en-US" sz="1300" dirty="0">
                        <a:latin typeface="Arial" charset="0"/>
                        <a:ea typeface="Arial" charset="0"/>
                        <a:cs typeface="Arial" charset="0"/>
                      </a:endParaRPr>
                    </a:p>
                  </a:txBody>
                  <a:tcPr marL="109728" marR="109728" marT="54864" marB="54864"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CVSS v3.x</a:t>
                      </a:r>
                      <a:endParaRPr lang="en-US" sz="1300" dirty="0">
                        <a:latin typeface="Arial" charset="0"/>
                        <a:ea typeface="Arial" charset="0"/>
                        <a:cs typeface="Arial" charset="0"/>
                      </a:endParaRPr>
                    </a:p>
                  </a:txBody>
                  <a:tcPr marL="109728" marR="109728" marT="54864" marB="54864"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r>
              <a:tr h="457200">
                <a:tc>
                  <a:txBody>
                    <a:bodyPr/>
                    <a:lstStyle/>
                    <a:p>
                      <a:pPr indent="0" marL="0">
                        <a:buNone/>
                      </a:pPr>
                      <a:r>
                        <a:rPr lang="en-US" sz="1150" b="1" dirty="0">
                          <a:solidFill>
                            <a:srgbClr val="000000"/>
                          </a:solidFill>
                          <a:latin typeface="Arial" pitchFamily="34" charset="0"/>
                          <a:ea typeface="Arial" pitchFamily="34" charset="-122"/>
                          <a:cs typeface="Arial" pitchFamily="34" charset="-120"/>
                        </a:rPr>
                        <a:t>Published</a:t>
                      </a:r>
                      <a:endParaRPr lang="en-US" sz="1150" dirty="0">
                        <a:latin typeface="Arial" charset="0"/>
                        <a:ea typeface="Arial" charset="0"/>
                        <a:cs typeface="Arial" charset="0"/>
                      </a:endParaRPr>
                    </a:p>
                  </a:txBody>
                  <a:tcPr marL="109728" marR="109728" marT="54864" marB="54864"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c>
                  <a:txBody>
                    <a:bodyPr/>
                    <a:lstStyle/>
                    <a:p>
                      <a:pPr indent="0" marL="0">
                        <a:buNone/>
                      </a:pPr>
                      <a:r>
                        <a:rPr lang="en-US" sz="1150" dirty="0">
                          <a:solidFill>
                            <a:srgbClr val="53565A"/>
                          </a:solidFill>
                          <a:latin typeface="Arial" pitchFamily="34" charset="0"/>
                          <a:ea typeface="Arial" pitchFamily="34" charset="-122"/>
                          <a:cs typeface="Arial" pitchFamily="34" charset="-120"/>
                        </a:rPr>
                        <a:t>2007</a:t>
                      </a:r>
                      <a:endParaRPr lang="en-US" sz="1150" dirty="0">
                        <a:latin typeface="Arial" charset="0"/>
                        <a:ea typeface="Arial" charset="0"/>
                        <a:cs typeface="Arial" charset="0"/>
                      </a:endParaRPr>
                    </a:p>
                  </a:txBody>
                  <a:tcPr marL="109728" marR="109728" marT="54864" marB="54864"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c>
                  <a:txBody>
                    <a:bodyPr/>
                    <a:lstStyle/>
                    <a:p>
                      <a:pPr indent="0" marL="0">
                        <a:buNone/>
                      </a:pPr>
                      <a:r>
                        <a:rPr lang="en-US" sz="1150" dirty="0">
                          <a:solidFill>
                            <a:srgbClr val="53565A"/>
                          </a:solidFill>
                          <a:latin typeface="Arial" pitchFamily="34" charset="0"/>
                          <a:ea typeface="Arial" pitchFamily="34" charset="-122"/>
                          <a:cs typeface="Arial" pitchFamily="34" charset="-120"/>
                        </a:rPr>
                        <a:t>3.0 in 2015, 3.1 in 2019</a:t>
                      </a:r>
                      <a:endParaRPr lang="en-US" sz="1150" dirty="0">
                        <a:latin typeface="Arial" charset="0"/>
                        <a:ea typeface="Arial" charset="0"/>
                        <a:cs typeface="Arial" charset="0"/>
                      </a:endParaRPr>
                    </a:p>
                  </a:txBody>
                  <a:tcPr marL="109728" marR="109728" marT="54864" marB="54864"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r>
              <a:tr h="777240">
                <a:tc>
                  <a:txBody>
                    <a:bodyPr/>
                    <a:lstStyle/>
                    <a:p>
                      <a:pPr indent="0" marL="0">
                        <a:buNone/>
                      </a:pPr>
                      <a:r>
                        <a:rPr lang="en-US" sz="1150" b="1" dirty="0">
                          <a:solidFill>
                            <a:srgbClr val="000000"/>
                          </a:solidFill>
                          <a:latin typeface="Arial" pitchFamily="34" charset="0"/>
                          <a:ea typeface="Arial" pitchFamily="34" charset="-122"/>
                          <a:cs typeface="Arial" pitchFamily="34" charset="-120"/>
                        </a:rPr>
                        <a:t>How the attack works</a:t>
                      </a:r>
                      <a:endParaRPr lang="en-US" sz="1150" dirty="0">
                        <a:latin typeface="Arial" charset="0"/>
                        <a:ea typeface="Arial" charset="0"/>
                        <a:cs typeface="Arial" charset="0"/>
                      </a:endParaRPr>
                    </a:p>
                  </a:txBody>
                  <a:tcPr marL="109728" marR="109728" marT="54864" marB="54864"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2F2F2"/>
                    </a:solidFill>
                  </a:tcPr>
                </a:tc>
                <a:tc>
                  <a:txBody>
                    <a:bodyPr/>
                    <a:lstStyle/>
                    <a:p>
                      <a:pPr indent="0" marL="0">
                        <a:buNone/>
                      </a:pPr>
                      <a:r>
                        <a:rPr lang="en-US" sz="1150" dirty="0">
                          <a:solidFill>
                            <a:srgbClr val="53565A"/>
                          </a:solidFill>
                          <a:latin typeface="Arial" pitchFamily="34" charset="0"/>
                          <a:ea typeface="Arial" pitchFamily="34" charset="-122"/>
                          <a:cs typeface="Arial" pitchFamily="34" charset="-120"/>
                        </a:rPr>
                        <a:t>Access Vector, Access Complexity, Authentication</a:t>
                      </a:r>
                      <a:endParaRPr lang="en-US" sz="1150" dirty="0">
                        <a:latin typeface="Arial" charset="0"/>
                        <a:ea typeface="Arial" charset="0"/>
                        <a:cs typeface="Arial" charset="0"/>
                      </a:endParaRPr>
                    </a:p>
                  </a:txBody>
                  <a:tcPr marL="109728" marR="109728" marT="54864" marB="54864"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2F2F2"/>
                    </a:solidFill>
                  </a:tcPr>
                </a:tc>
                <a:tc>
                  <a:txBody>
                    <a:bodyPr/>
                    <a:lstStyle/>
                    <a:p>
                      <a:pPr indent="0" marL="0">
                        <a:buNone/>
                      </a:pPr>
                      <a:r>
                        <a:rPr lang="en-US" sz="1150" dirty="0">
                          <a:solidFill>
                            <a:srgbClr val="53565A"/>
                          </a:solidFill>
                          <a:latin typeface="Arial" pitchFamily="34" charset="0"/>
                          <a:ea typeface="Arial" pitchFamily="34" charset="-122"/>
                          <a:cs typeface="Arial" pitchFamily="34" charset="-120"/>
                        </a:rPr>
                        <a:t>Attack Vector (adds Physical), Attack Complexity, Privileges Required, User Interaction</a:t>
                      </a:r>
                      <a:endParaRPr lang="en-US" sz="1150" dirty="0">
                        <a:latin typeface="Arial" charset="0"/>
                        <a:ea typeface="Arial" charset="0"/>
                        <a:cs typeface="Arial" charset="0"/>
                      </a:endParaRPr>
                    </a:p>
                  </a:txBody>
                  <a:tcPr marL="109728" marR="109728" marT="54864" marB="54864"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2F2F2"/>
                    </a:solidFill>
                  </a:tcPr>
                </a:tc>
              </a:tr>
              <a:tr h="548640">
                <a:tc>
                  <a:txBody>
                    <a:bodyPr/>
                    <a:lstStyle/>
                    <a:p>
                      <a:pPr indent="0" marL="0">
                        <a:buNone/>
                      </a:pPr>
                      <a:r>
                        <a:rPr lang="en-US" sz="1150" b="1" dirty="0">
                          <a:solidFill>
                            <a:srgbClr val="000000"/>
                          </a:solidFill>
                          <a:latin typeface="Arial" pitchFamily="34" charset="0"/>
                          <a:ea typeface="Arial" pitchFamily="34" charset="-122"/>
                          <a:cs typeface="Arial" pitchFamily="34" charset="-120"/>
                        </a:rPr>
                        <a:t>Reach beyond the target</a:t>
                      </a:r>
                      <a:endParaRPr lang="en-US" sz="1150" dirty="0">
                        <a:latin typeface="Arial" charset="0"/>
                        <a:ea typeface="Arial" charset="0"/>
                        <a:cs typeface="Arial" charset="0"/>
                      </a:endParaRPr>
                    </a:p>
                  </a:txBody>
                  <a:tcPr marL="109728" marR="109728" marT="54864" marB="54864"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c>
                  <a:txBody>
                    <a:bodyPr/>
                    <a:lstStyle/>
                    <a:p>
                      <a:pPr indent="0" marL="0">
                        <a:buNone/>
                      </a:pPr>
                      <a:r>
                        <a:rPr lang="en-US" sz="1150" dirty="0">
                          <a:solidFill>
                            <a:srgbClr val="53565A"/>
                          </a:solidFill>
                          <a:latin typeface="Arial" pitchFamily="34" charset="0"/>
                          <a:ea typeface="Arial" pitchFamily="34" charset="-122"/>
                          <a:cs typeface="Arial" pitchFamily="34" charset="-120"/>
                        </a:rPr>
                        <a:t>Not measured</a:t>
                      </a:r>
                      <a:endParaRPr lang="en-US" sz="1150" dirty="0">
                        <a:latin typeface="Arial" charset="0"/>
                        <a:ea typeface="Arial" charset="0"/>
                        <a:cs typeface="Arial" charset="0"/>
                      </a:endParaRPr>
                    </a:p>
                  </a:txBody>
                  <a:tcPr marL="109728" marR="109728" marT="54864" marB="54864"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c>
                  <a:txBody>
                    <a:bodyPr/>
                    <a:lstStyle/>
                    <a:p>
                      <a:pPr indent="0" marL="0">
                        <a:buNone/>
                      </a:pPr>
                      <a:r>
                        <a:rPr lang="en-US" sz="1150" dirty="0">
                          <a:solidFill>
                            <a:srgbClr val="53565A"/>
                          </a:solidFill>
                          <a:latin typeface="Arial" pitchFamily="34" charset="0"/>
                          <a:ea typeface="Arial" pitchFamily="34" charset="-122"/>
                          <a:cs typeface="Arial" pitchFamily="34" charset="-120"/>
                        </a:rPr>
                        <a:t>Scope: can the attack affect other components?</a:t>
                      </a:r>
                      <a:endParaRPr lang="en-US" sz="1150" dirty="0">
                        <a:latin typeface="Arial" charset="0"/>
                        <a:ea typeface="Arial" charset="0"/>
                        <a:cs typeface="Arial" charset="0"/>
                      </a:endParaRPr>
                    </a:p>
                  </a:txBody>
                  <a:tcPr marL="109728" marR="109728" marT="54864" marB="54864"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r>
              <a:tr h="685800">
                <a:tc>
                  <a:txBody>
                    <a:bodyPr/>
                    <a:lstStyle/>
                    <a:p>
                      <a:pPr indent="0" marL="0">
                        <a:buNone/>
                      </a:pPr>
                      <a:r>
                        <a:rPr lang="en-US" sz="1150" b="1" dirty="0">
                          <a:solidFill>
                            <a:srgbClr val="000000"/>
                          </a:solidFill>
                          <a:latin typeface="Arial" pitchFamily="34" charset="0"/>
                          <a:ea typeface="Arial" pitchFamily="34" charset="-122"/>
                          <a:cs typeface="Arial" pitchFamily="34" charset="-120"/>
                        </a:rPr>
                        <a:t>Severity bands</a:t>
                      </a:r>
                      <a:endParaRPr lang="en-US" sz="1150" dirty="0">
                        <a:latin typeface="Arial" charset="0"/>
                        <a:ea typeface="Arial" charset="0"/>
                        <a:cs typeface="Arial" charset="0"/>
                      </a:endParaRPr>
                    </a:p>
                  </a:txBody>
                  <a:tcPr marL="109728" marR="109728" marT="54864" marB="54864"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2F2F2"/>
                    </a:solidFill>
                  </a:tcPr>
                </a:tc>
                <a:tc>
                  <a:txBody>
                    <a:bodyPr/>
                    <a:lstStyle/>
                    <a:p>
                      <a:pPr indent="0" marL="0">
                        <a:buNone/>
                      </a:pPr>
                      <a:r>
                        <a:rPr lang="en-US" sz="1150" dirty="0">
                          <a:solidFill>
                            <a:srgbClr val="53565A"/>
                          </a:solidFill>
                          <a:latin typeface="Arial" pitchFamily="34" charset="0"/>
                          <a:ea typeface="Arial" pitchFamily="34" charset="-122"/>
                          <a:cs typeface="Arial" pitchFamily="34" charset="-120"/>
                        </a:rPr>
                        <a:t>Low 0–3.9 · Medium 4–6.9 · High 7–10</a:t>
                      </a:r>
                      <a:endParaRPr lang="en-US" sz="1150" dirty="0">
                        <a:latin typeface="Arial" charset="0"/>
                        <a:ea typeface="Arial" charset="0"/>
                        <a:cs typeface="Arial" charset="0"/>
                      </a:endParaRPr>
                    </a:p>
                  </a:txBody>
                  <a:tcPr marL="109728" marR="109728" marT="54864" marB="54864"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2F2F2"/>
                    </a:solidFill>
                  </a:tcPr>
                </a:tc>
                <a:tc>
                  <a:txBody>
                    <a:bodyPr/>
                    <a:lstStyle/>
                    <a:p>
                      <a:pPr indent="0" marL="0">
                        <a:buNone/>
                      </a:pPr>
                      <a:r>
                        <a:rPr lang="en-US" sz="1150" dirty="0">
                          <a:solidFill>
                            <a:srgbClr val="53565A"/>
                          </a:solidFill>
                          <a:latin typeface="Arial" pitchFamily="34" charset="0"/>
                          <a:ea typeface="Arial" pitchFamily="34" charset="-122"/>
                          <a:cs typeface="Arial" pitchFamily="34" charset="-120"/>
                        </a:rPr>
                        <a:t>None 0 · Low 0.1–3.9 · Medium 4–6.9 · High 7–8.9 · Critical 9–10</a:t>
                      </a:r>
                      <a:endParaRPr lang="en-US" sz="1150" dirty="0">
                        <a:latin typeface="Arial" charset="0"/>
                        <a:ea typeface="Arial" charset="0"/>
                        <a:cs typeface="Arial" charset="0"/>
                      </a:endParaRPr>
                    </a:p>
                  </a:txBody>
                  <a:tcPr marL="109728" marR="109728" marT="54864" marB="54864"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2F2F2"/>
                    </a:solidFill>
                  </a:tcPr>
                </a:tc>
              </a:tr>
              <a:tr h="685800">
                <a:tc>
                  <a:txBody>
                    <a:bodyPr/>
                    <a:lstStyle/>
                    <a:p>
                      <a:pPr indent="0" marL="0">
                        <a:buNone/>
                      </a:pPr>
                      <a:r>
                        <a:rPr lang="en-US" sz="1150" b="1" dirty="0">
                          <a:solidFill>
                            <a:srgbClr val="000000"/>
                          </a:solidFill>
                          <a:latin typeface="Arial" pitchFamily="34" charset="0"/>
                          <a:ea typeface="Arial" pitchFamily="34" charset="-122"/>
                          <a:cs typeface="Arial" pitchFamily="34" charset="-120"/>
                        </a:rPr>
                        <a:t>Status</a:t>
                      </a:r>
                      <a:endParaRPr lang="en-US" sz="1150" dirty="0">
                        <a:latin typeface="Arial" charset="0"/>
                        <a:ea typeface="Arial" charset="0"/>
                        <a:cs typeface="Arial" charset="0"/>
                      </a:endParaRPr>
                    </a:p>
                  </a:txBody>
                  <a:tcPr marL="109728" marR="109728" marT="54864" marB="54864"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c>
                  <a:txBody>
                    <a:bodyPr/>
                    <a:lstStyle/>
                    <a:p>
                      <a:pPr indent="0" marL="0">
                        <a:buNone/>
                      </a:pPr>
                      <a:r>
                        <a:rPr lang="en-US" sz="1150" dirty="0">
                          <a:solidFill>
                            <a:srgbClr val="53565A"/>
                          </a:solidFill>
                          <a:latin typeface="Arial" pitchFamily="34" charset="0"/>
                          <a:ea typeface="Arial" pitchFamily="34" charset="-122"/>
                          <a:cs typeface="Arial" pitchFamily="34" charset="-120"/>
                        </a:rPr>
                        <a:t>NVD stopped scoring new CVEs with v2 in July 2022</a:t>
                      </a:r>
                      <a:endParaRPr lang="en-US" sz="1150" dirty="0">
                        <a:latin typeface="Arial" charset="0"/>
                        <a:ea typeface="Arial" charset="0"/>
                        <a:cs typeface="Arial" charset="0"/>
                      </a:endParaRPr>
                    </a:p>
                  </a:txBody>
                  <a:tcPr marL="109728" marR="109728" marT="54864" marB="54864"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c>
                  <a:txBody>
                    <a:bodyPr/>
                    <a:lstStyle/>
                    <a:p>
                      <a:pPr indent="0" marL="0">
                        <a:buNone/>
                      </a:pPr>
                      <a:r>
                        <a:rPr lang="en-US" sz="1150" dirty="0">
                          <a:solidFill>
                            <a:srgbClr val="53565A"/>
                          </a:solidFill>
                          <a:latin typeface="Arial" pitchFamily="34" charset="0"/>
                          <a:ea typeface="Arial" pitchFamily="34" charset="-122"/>
                          <a:cs typeface="Arial" pitchFamily="34" charset="-120"/>
                        </a:rPr>
                        <a:t>Current standard; v4.0 published November 2023</a:t>
                      </a:r>
                      <a:endParaRPr lang="en-US" sz="1150" dirty="0">
                        <a:latin typeface="Arial" charset="0"/>
                        <a:ea typeface="Arial" charset="0"/>
                        <a:cs typeface="Arial" charset="0"/>
                      </a:endParaRPr>
                    </a:p>
                  </a:txBody>
                  <a:tcPr marL="109728" marR="109728" marT="54864" marB="54864"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r>
            </a:tbl>
          </a:graphicData>
        </a:graphic>
      </p:graphicFrame>
      <p:sp>
        <p:nvSpPr>
          <p:cNvPr id="8" name="Shape 5"/>
          <p:cNvSpPr/>
          <p:nvPr/>
        </p:nvSpPr>
        <p:spPr>
          <a:xfrm>
            <a:off x="8503920" y="1874520"/>
            <a:ext cx="3139135" cy="2331720"/>
          </a:xfrm>
          <a:prstGeom prst="rect">
            <a:avLst/>
          </a:prstGeom>
          <a:solidFill>
            <a:srgbClr val="000000"/>
          </a:solidFill>
          <a:ln w="12700">
            <a:solidFill>
              <a:srgbClr val="000000"/>
            </a:solidFill>
            <a:prstDash val="solid"/>
          </a:ln>
        </p:spPr>
      </p:sp>
      <p:sp>
        <p:nvSpPr>
          <p:cNvPr id="9" name="Text 6"/>
          <p:cNvSpPr txBox="1"/>
          <p:nvPr/>
        </p:nvSpPr>
        <p:spPr>
          <a:xfrm>
            <a:off x="8778240" y="2011680"/>
            <a:ext cx="2590495" cy="320040"/>
          </a:xfrm>
          <a:prstGeom prst="rect">
            <a:avLst/>
          </a:prstGeom>
          <a:noFill/>
          <a:ln/>
        </p:spPr>
        <p:txBody>
          <a:bodyPr wrap="square" lIns="0" tIns="0" rIns="0" bIns="0" rtlCol="0" anchor="t"/>
          <a:lstStyle/>
          <a:p>
            <a:pPr indent="0" marL="0">
              <a:buNone/>
            </a:pPr>
            <a:r>
              <a:rPr lang="en-US" sz="1300" b="1" dirty="0">
                <a:solidFill>
                  <a:srgbClr val="86BC25"/>
                </a:solidFill>
                <a:latin typeface="Arial" pitchFamily="34" charset="0"/>
                <a:ea typeface="Arial" pitchFamily="34" charset="-122"/>
                <a:cs typeface="Arial" pitchFamily="34" charset="-120"/>
              </a:rPr>
              <a:t>Log4Shell, scored twice</a:t>
            </a:r>
            <a:endParaRPr lang="en-US" sz="1300" dirty="0"/>
          </a:p>
        </p:txBody>
      </p:sp>
      <p:sp>
        <p:nvSpPr>
          <p:cNvPr id="10" name="Text 7"/>
          <p:cNvSpPr txBox="1"/>
          <p:nvPr/>
        </p:nvSpPr>
        <p:spPr>
          <a:xfrm>
            <a:off x="8778240" y="2468880"/>
            <a:ext cx="2590495" cy="914400"/>
          </a:xfrm>
          <a:prstGeom prst="rect">
            <a:avLst/>
          </a:prstGeom>
          <a:noFill/>
          <a:ln/>
        </p:spPr>
        <p:txBody>
          <a:bodyPr wrap="square" lIns="0" tIns="0" rIns="0" bIns="0" rtlCol="0" anchor="t"/>
          <a:lstStyle/>
          <a:p>
            <a:pPr indent="0" marL="0">
              <a:spcAft>
                <a:spcPts val="400"/>
              </a:spcAft>
              <a:buNone/>
            </a:pPr>
            <a:r>
              <a:rPr lang="en-US" sz="1600" b="1" dirty="0">
                <a:solidFill>
                  <a:srgbClr val="FFFFFF"/>
                </a:solidFill>
                <a:latin typeface="Courier New" pitchFamily="34" charset="0"/>
                <a:ea typeface="Courier New" pitchFamily="34" charset="-122"/>
                <a:cs typeface="Courier New" pitchFamily="34" charset="-120"/>
              </a:rPr>
              <a:t>v2    9.3  </a:t>
            </a:r>
            <a:pPr indent="0" marL="0">
              <a:spcAft>
                <a:spcPts val="400"/>
              </a:spcAft>
              <a:buNone/>
            </a:pPr>
            <a:r>
              <a:rPr lang="en-US" sz="1600" dirty="0">
                <a:solidFill>
                  <a:srgbClr val="BBBCBC"/>
                </a:solidFill>
                <a:latin typeface="Courier New" pitchFamily="34" charset="0"/>
                <a:ea typeface="Courier New" pitchFamily="34" charset="-122"/>
                <a:cs typeface="Courier New" pitchFamily="34" charset="-120"/>
              </a:rPr>
              <a:t>High</a:t>
            </a:r>
            <a:endParaRPr lang="en-US" sz="1600" dirty="0"/>
          </a:p>
          <a:p>
            <a:pPr indent="0" marL="0">
              <a:spcAft>
                <a:spcPts val="400"/>
              </a:spcAft>
              <a:buNone/>
            </a:pPr>
            <a:r>
              <a:rPr lang="en-US" sz="1600" b="1" dirty="0">
                <a:solidFill>
                  <a:srgbClr val="FFFFFF"/>
                </a:solidFill>
                <a:latin typeface="Courier New" pitchFamily="34" charset="0"/>
                <a:ea typeface="Courier New" pitchFamily="34" charset="-122"/>
                <a:cs typeface="Courier New" pitchFamily="34" charset="-120"/>
              </a:rPr>
              <a:t>v3.1 10.0  </a:t>
            </a:r>
            <a:pPr indent="0" marL="0">
              <a:spcAft>
                <a:spcPts val="400"/>
              </a:spcAft>
              <a:buNone/>
            </a:pPr>
            <a:r>
              <a:rPr lang="en-US" sz="1600" b="1" dirty="0">
                <a:solidFill>
                  <a:srgbClr val="86BC25"/>
                </a:solidFill>
                <a:latin typeface="Courier New" pitchFamily="34" charset="0"/>
                <a:ea typeface="Courier New" pitchFamily="34" charset="-122"/>
                <a:cs typeface="Courier New" pitchFamily="34" charset="-120"/>
              </a:rPr>
              <a:t>Critical</a:t>
            </a:r>
            <a:endParaRPr lang="en-US" sz="1600" dirty="0"/>
          </a:p>
        </p:txBody>
      </p:sp>
      <p:sp>
        <p:nvSpPr>
          <p:cNvPr id="11" name="Text 8"/>
          <p:cNvSpPr txBox="1"/>
          <p:nvPr/>
        </p:nvSpPr>
        <p:spPr>
          <a:xfrm>
            <a:off x="8778240" y="3611880"/>
            <a:ext cx="2590495" cy="365760"/>
          </a:xfrm>
          <a:prstGeom prst="rect">
            <a:avLst/>
          </a:prstGeom>
          <a:noFill/>
          <a:ln/>
        </p:spPr>
        <p:txBody>
          <a:bodyPr wrap="square" lIns="0" tIns="0" rIns="0" bIns="0" rtlCol="0" anchor="t"/>
          <a:lstStyle/>
          <a:p>
            <a:pPr indent="0" marL="0">
              <a:buNone/>
            </a:pPr>
            <a:r>
              <a:rPr lang="en-US" sz="1150" dirty="0">
                <a:solidFill>
                  <a:srgbClr val="BBBCBC"/>
                </a:solidFill>
                <a:latin typeface="Arial" pitchFamily="34" charset="0"/>
                <a:ea typeface="Arial" pitchFamily="34" charset="-122"/>
                <a:cs typeface="Arial" pitchFamily="34" charset="-120"/>
              </a:rPr>
              <a:t>v2 has no Critical band.</a:t>
            </a:r>
            <a:endParaRPr lang="en-US" sz="1150" dirty="0"/>
          </a:p>
        </p:txBody>
      </p:sp>
      <p:sp>
        <p:nvSpPr>
          <p:cNvPr id="12" name="Shape 9"/>
          <p:cNvSpPr/>
          <p:nvPr/>
        </p:nvSpPr>
        <p:spPr>
          <a:xfrm>
            <a:off x="8503920" y="4389120"/>
            <a:ext cx="3139135" cy="1463040"/>
          </a:xfrm>
          <a:prstGeom prst="rect">
            <a:avLst/>
          </a:prstGeom>
          <a:solidFill>
            <a:srgbClr val="F2F2F2"/>
          </a:solidFill>
          <a:ln w="12700">
            <a:solidFill>
              <a:srgbClr val="F2F2F2"/>
            </a:solidFill>
            <a:prstDash val="solid"/>
          </a:ln>
        </p:spPr>
      </p:sp>
      <p:sp>
        <p:nvSpPr>
          <p:cNvPr id="13" name="Text 10"/>
          <p:cNvSpPr txBox="1"/>
          <p:nvPr/>
        </p:nvSpPr>
        <p:spPr>
          <a:xfrm>
            <a:off x="8778240" y="4526280"/>
            <a:ext cx="2590495" cy="1463040"/>
          </a:xfrm>
          <a:prstGeom prst="rect">
            <a:avLst/>
          </a:prstGeom>
          <a:noFill/>
          <a:ln/>
        </p:spPr>
        <p:txBody>
          <a:bodyPr wrap="square" lIns="0" tIns="0" rIns="0" bIns="0" rtlCol="0" anchor="t"/>
          <a:lstStyle/>
          <a:p>
            <a:pPr indent="0" marL="0">
              <a:buNone/>
            </a:pPr>
            <a:r>
              <a:rPr lang="en-US" sz="1200" b="1" dirty="0">
                <a:solidFill>
                  <a:srgbClr val="000000"/>
                </a:solidFill>
                <a:latin typeface="Arial" pitchFamily="34" charset="0"/>
                <a:ea typeface="Arial" pitchFamily="34" charset="-122"/>
                <a:cs typeface="Arial" pitchFamily="34" charset="-120"/>
              </a:rPr>
              <a:t>Severity is not risk. </a:t>
            </a:r>
            <a:pPr indent="0" marL="0">
              <a:buNone/>
            </a:pPr>
            <a:r>
              <a:rPr lang="en-US" sz="1200" dirty="0">
                <a:solidFill>
                  <a:srgbClr val="53565A"/>
                </a:solidFill>
                <a:latin typeface="Arial" pitchFamily="34" charset="0"/>
                <a:ea typeface="Arial" pitchFamily="34" charset="-122"/>
                <a:cs typeface="Arial" pitchFamily="34" charset="-120"/>
              </a:rPr>
              <a:t>Prioritise with exploitability, exposure and how critical the asset is: that is what the VR risk score adds.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000" b="1" spc="150" kern="0" dirty="0">
                <a:solidFill>
                  <a:srgbClr val="26890D"/>
                </a:solidFill>
                <a:latin typeface="Arial" pitchFamily="34" charset="0"/>
                <a:ea typeface="Arial" pitchFamily="34" charset="-122"/>
                <a:cs typeface="Arial" pitchFamily="34" charset="-120"/>
              </a:rPr>
              <a:t>5 · VULNERABILITY BASICS</a:t>
            </a:r>
            <a:endParaRPr lang="en-US" sz="10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SBOM: the software bill of materials</a:t>
            </a:r>
            <a:pPr indent="0" marL="0">
              <a:buNone/>
            </a:pPr>
            <a:r>
              <a:rPr lang="en-US" sz="3000" b="1" dirty="0">
                <a:solidFill>
                  <a:srgbClr val="86BC25"/>
                </a:solidFill>
                <a:latin typeface="Arial" pitchFamily="34" charset="0"/>
                <a:ea typeface="Arial" pitchFamily="34" charset="-122"/>
                <a:cs typeface="Arial" pitchFamily="34" charset="-120"/>
              </a:rPr>
              <a:t>.</a:t>
            </a:r>
            <a:endParaRPr lang="en-US" sz="3000" dirty="0"/>
          </a:p>
        </p:txBody>
      </p:sp>
      <p:sp>
        <p:nvSpPr>
          <p:cNvPr id="4" name="Text 2"/>
          <p:cNvSpPr txBox="1"/>
          <p:nvPr/>
        </p:nvSpPr>
        <p:spPr>
          <a:xfrm>
            <a:off x="548640" y="1243584"/>
            <a:ext cx="11094415" cy="411480"/>
          </a:xfrm>
          <a:prstGeom prst="rect">
            <a:avLst/>
          </a:prstGeom>
          <a:noFill/>
          <a:ln/>
        </p:spPr>
        <p:txBody>
          <a:bodyPr wrap="square" lIns="0" tIns="0" rIns="0" bIns="0" rtlCol="0" anchor="t"/>
          <a:lstStyle/>
          <a:p>
            <a:pPr indent="0" marL="0">
              <a:buNone/>
            </a:pPr>
            <a:r>
              <a:rPr lang="en-US" sz="1400" dirty="0">
                <a:solidFill>
                  <a:srgbClr val="53565A"/>
                </a:solidFill>
                <a:latin typeface="Arial" pitchFamily="34" charset="0"/>
                <a:ea typeface="Arial" pitchFamily="34" charset="-122"/>
                <a:cs typeface="Arial" pitchFamily="34" charset="-120"/>
              </a:rPr>
              <a:t>An ingredients list for software: every component inside an application, with its version.</a:t>
            </a:r>
            <a:endParaRPr lang="en-US" sz="1400" dirty="0"/>
          </a:p>
        </p:txBody>
      </p:sp>
      <p:sp>
        <p:nvSpPr>
          <p:cNvPr id="5" name="Text 3"/>
          <p:cNvSpPr txBox="1"/>
          <p:nvPr/>
        </p:nvSpPr>
        <p:spPr>
          <a:xfrm>
            <a:off x="11185855" y="6473952"/>
            <a:ext cx="457200" cy="228600"/>
          </a:xfrm>
          <a:prstGeom prst="rect">
            <a:avLst/>
          </a:prstGeom>
          <a:noFill/>
          <a:ln/>
        </p:spPr>
        <p:txBody>
          <a:bodyPr wrap="square" lIns="0" tIns="0" rIns="0" bIns="0" rtlCol="0" anchor="t"/>
          <a:lstStyle/>
          <a:p>
            <a:pPr algn="r" indent="0" marL="0">
              <a:buNone/>
            </a:pPr>
            <a:r>
              <a:rPr lang="en-US" sz="900" dirty="0">
                <a:solidFill>
                  <a:srgbClr val="75787B"/>
                </a:solidFill>
                <a:latin typeface="Arial" pitchFamily="34" charset="0"/>
                <a:ea typeface="Arial" pitchFamily="34" charset="-122"/>
                <a:cs typeface="Arial" pitchFamily="34" charset="-120"/>
              </a:rPr>
              <a:t>15</a:t>
            </a:r>
            <a:endParaRPr lang="en-US" sz="900" dirty="0"/>
          </a:p>
        </p:txBody>
      </p:sp>
      <p:sp>
        <p:nvSpPr>
          <p:cNvPr id="6" name="Text 4"/>
          <p:cNvSpPr txBox="1"/>
          <p:nvPr/>
        </p:nvSpPr>
        <p:spPr>
          <a:xfrm>
            <a:off x="548640" y="6473952"/>
            <a:ext cx="2743200" cy="228600"/>
          </a:xfrm>
          <a:prstGeom prst="rect">
            <a:avLst/>
          </a:prstGeom>
          <a:noFill/>
          <a:ln/>
        </p:spPr>
        <p:txBody>
          <a:bodyPr wrap="square" lIns="0" tIns="0" rIns="0" bIns="0" rtlCol="0" anchor="t"/>
          <a:lstStyle/>
          <a:p>
            <a:pPr indent="0" marL="0">
              <a:buNone/>
            </a:pPr>
            <a:r>
              <a:rPr lang="en-US" sz="900" dirty="0">
                <a:solidFill>
                  <a:srgbClr val="75787B"/>
                </a:solidFill>
                <a:latin typeface="Arial" pitchFamily="34" charset="0"/>
                <a:ea typeface="Arial" pitchFamily="34" charset="-122"/>
                <a:cs typeface="Arial" pitchFamily="34" charset="-120"/>
              </a:rPr>
              <a:t>VR field guide</a:t>
            </a:r>
            <a:endParaRPr lang="en-US" sz="900" dirty="0"/>
          </a:p>
        </p:txBody>
      </p:sp>
      <p:sp>
        <p:nvSpPr>
          <p:cNvPr id="7" name="Shape 5"/>
          <p:cNvSpPr/>
          <p:nvPr/>
        </p:nvSpPr>
        <p:spPr>
          <a:xfrm>
            <a:off x="548640" y="1874520"/>
            <a:ext cx="4754880" cy="4206240"/>
          </a:xfrm>
          <a:prstGeom prst="rect">
            <a:avLst/>
          </a:prstGeom>
          <a:solidFill>
            <a:srgbClr val="000000"/>
          </a:solidFill>
          <a:ln w="12700">
            <a:solidFill>
              <a:srgbClr val="000000"/>
            </a:solidFill>
            <a:prstDash val="solid"/>
          </a:ln>
        </p:spPr>
      </p:sp>
      <p:sp>
        <p:nvSpPr>
          <p:cNvPr id="8" name="Text 6"/>
          <p:cNvSpPr txBox="1"/>
          <p:nvPr/>
        </p:nvSpPr>
        <p:spPr>
          <a:xfrm>
            <a:off x="822960" y="2057400"/>
            <a:ext cx="4206240" cy="36576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payments-api 4.2.0</a:t>
            </a:r>
            <a:endParaRPr lang="en-US" sz="1500" dirty="0"/>
          </a:p>
        </p:txBody>
      </p:sp>
      <p:sp>
        <p:nvSpPr>
          <p:cNvPr id="9" name="Shape 7"/>
          <p:cNvSpPr/>
          <p:nvPr/>
        </p:nvSpPr>
        <p:spPr>
          <a:xfrm>
            <a:off x="822960" y="2606040"/>
            <a:ext cx="4206240" cy="475488"/>
          </a:xfrm>
          <a:prstGeom prst="rect">
            <a:avLst/>
          </a:prstGeom>
          <a:solidFill>
            <a:srgbClr val="3A5A12"/>
          </a:solidFill>
          <a:ln w="12700">
            <a:solidFill>
              <a:srgbClr val="3A5A12"/>
            </a:solidFill>
            <a:prstDash val="solid"/>
          </a:ln>
        </p:spPr>
      </p:sp>
      <p:sp>
        <p:nvSpPr>
          <p:cNvPr id="10" name="Text 8"/>
          <p:cNvSpPr txBox="1"/>
          <p:nvPr/>
        </p:nvSpPr>
        <p:spPr>
          <a:xfrm>
            <a:off x="1005840" y="2697480"/>
            <a:ext cx="1828800" cy="292608"/>
          </a:xfrm>
          <a:prstGeom prst="rect">
            <a:avLst/>
          </a:prstGeom>
          <a:noFill/>
          <a:ln/>
        </p:spPr>
        <p:txBody>
          <a:bodyPr wrap="square" lIns="0" tIns="0" rIns="0" bIns="0" rtlCol="0" anchor="t"/>
          <a:lstStyle/>
          <a:p>
            <a:pPr indent="0" marL="0">
              <a:buNone/>
            </a:pPr>
            <a:r>
              <a:rPr lang="en-US" sz="1250" dirty="0">
                <a:solidFill>
                  <a:srgbClr val="FFFFFF"/>
                </a:solidFill>
                <a:latin typeface="Courier New" pitchFamily="34" charset="0"/>
                <a:ea typeface="Courier New" pitchFamily="34" charset="-122"/>
                <a:cs typeface="Courier New" pitchFamily="34" charset="-120"/>
              </a:rPr>
              <a:t>log4j-core</a:t>
            </a:r>
            <a:endParaRPr lang="en-US" sz="1250" dirty="0"/>
          </a:p>
        </p:txBody>
      </p:sp>
      <p:sp>
        <p:nvSpPr>
          <p:cNvPr id="11" name="Text 9"/>
          <p:cNvSpPr txBox="1"/>
          <p:nvPr/>
        </p:nvSpPr>
        <p:spPr>
          <a:xfrm>
            <a:off x="2788920" y="2697480"/>
            <a:ext cx="822960" cy="292608"/>
          </a:xfrm>
          <a:prstGeom prst="rect">
            <a:avLst/>
          </a:prstGeom>
          <a:noFill/>
          <a:ln/>
        </p:spPr>
        <p:txBody>
          <a:bodyPr wrap="square" lIns="0" tIns="0" rIns="0" bIns="0" rtlCol="0" anchor="t"/>
          <a:lstStyle/>
          <a:p>
            <a:pPr indent="0" marL="0">
              <a:buNone/>
            </a:pPr>
            <a:r>
              <a:rPr lang="en-US" sz="1250" dirty="0">
                <a:solidFill>
                  <a:srgbClr val="86BC25"/>
                </a:solidFill>
                <a:latin typeface="Courier New" pitchFamily="34" charset="0"/>
                <a:ea typeface="Courier New" pitchFamily="34" charset="-122"/>
                <a:cs typeface="Courier New" pitchFamily="34" charset="-120"/>
              </a:rPr>
              <a:t>2.14.1</a:t>
            </a:r>
            <a:endParaRPr lang="en-US" sz="1250" dirty="0"/>
          </a:p>
        </p:txBody>
      </p:sp>
      <p:sp>
        <p:nvSpPr>
          <p:cNvPr id="12" name="Text 10"/>
          <p:cNvSpPr txBox="1"/>
          <p:nvPr/>
        </p:nvSpPr>
        <p:spPr>
          <a:xfrm>
            <a:off x="3611880" y="2715768"/>
            <a:ext cx="1280160" cy="274320"/>
          </a:xfrm>
          <a:prstGeom prst="rect">
            <a:avLst/>
          </a:prstGeom>
          <a:noFill/>
          <a:ln/>
        </p:spPr>
        <p:txBody>
          <a:bodyPr wrap="square" lIns="0" tIns="0" rIns="0" bIns="0" rtlCol="0" anchor="t"/>
          <a:lstStyle/>
          <a:p>
            <a:pPr algn="r" indent="0" marL="0">
              <a:buNone/>
            </a:pPr>
            <a:r>
              <a:rPr lang="en-US" sz="950" b="1" dirty="0">
                <a:solidFill>
                  <a:srgbClr val="86BC25"/>
                </a:solidFill>
                <a:latin typeface="Arial" pitchFamily="34" charset="0"/>
                <a:ea typeface="Arial" pitchFamily="34" charset="-122"/>
                <a:cs typeface="Arial" pitchFamily="34" charset="-120"/>
              </a:rPr>
              <a:t>CVE-2021-44228</a:t>
            </a:r>
            <a:endParaRPr lang="en-US" sz="950" dirty="0"/>
          </a:p>
        </p:txBody>
      </p:sp>
      <p:sp>
        <p:nvSpPr>
          <p:cNvPr id="13" name="Shape 11"/>
          <p:cNvSpPr/>
          <p:nvPr/>
        </p:nvSpPr>
        <p:spPr>
          <a:xfrm>
            <a:off x="822960" y="3209544"/>
            <a:ext cx="4206240" cy="475488"/>
          </a:xfrm>
          <a:prstGeom prst="rect">
            <a:avLst/>
          </a:prstGeom>
          <a:solidFill>
            <a:srgbClr val="1F1F1F"/>
          </a:solidFill>
          <a:ln w="12700">
            <a:solidFill>
              <a:srgbClr val="1F1F1F"/>
            </a:solidFill>
            <a:prstDash val="solid"/>
          </a:ln>
        </p:spPr>
      </p:sp>
      <p:sp>
        <p:nvSpPr>
          <p:cNvPr id="14" name="Text 12"/>
          <p:cNvSpPr txBox="1"/>
          <p:nvPr/>
        </p:nvSpPr>
        <p:spPr>
          <a:xfrm>
            <a:off x="1005840" y="3300984"/>
            <a:ext cx="1828800" cy="292608"/>
          </a:xfrm>
          <a:prstGeom prst="rect">
            <a:avLst/>
          </a:prstGeom>
          <a:noFill/>
          <a:ln/>
        </p:spPr>
        <p:txBody>
          <a:bodyPr wrap="square" lIns="0" tIns="0" rIns="0" bIns="0" rtlCol="0" anchor="t"/>
          <a:lstStyle/>
          <a:p>
            <a:pPr indent="0" marL="0">
              <a:buNone/>
            </a:pPr>
            <a:r>
              <a:rPr lang="en-US" sz="1250" dirty="0">
                <a:solidFill>
                  <a:srgbClr val="FFFFFF"/>
                </a:solidFill>
                <a:latin typeface="Courier New" pitchFamily="34" charset="0"/>
                <a:ea typeface="Courier New" pitchFamily="34" charset="-122"/>
                <a:cs typeface="Courier New" pitchFamily="34" charset="-120"/>
              </a:rPr>
              <a:t>spring-core</a:t>
            </a:r>
            <a:endParaRPr lang="en-US" sz="1250" dirty="0"/>
          </a:p>
        </p:txBody>
      </p:sp>
      <p:sp>
        <p:nvSpPr>
          <p:cNvPr id="15" name="Text 13"/>
          <p:cNvSpPr txBox="1"/>
          <p:nvPr/>
        </p:nvSpPr>
        <p:spPr>
          <a:xfrm>
            <a:off x="2788920" y="3300984"/>
            <a:ext cx="822960" cy="292608"/>
          </a:xfrm>
          <a:prstGeom prst="rect">
            <a:avLst/>
          </a:prstGeom>
          <a:noFill/>
          <a:ln/>
        </p:spPr>
        <p:txBody>
          <a:bodyPr wrap="square" lIns="0" tIns="0" rIns="0" bIns="0" rtlCol="0" anchor="t"/>
          <a:lstStyle/>
          <a:p>
            <a:pPr indent="0" marL="0">
              <a:buNone/>
            </a:pPr>
            <a:r>
              <a:rPr lang="en-US" sz="1250" dirty="0">
                <a:solidFill>
                  <a:srgbClr val="BBBCBC"/>
                </a:solidFill>
                <a:latin typeface="Courier New" pitchFamily="34" charset="0"/>
                <a:ea typeface="Courier New" pitchFamily="34" charset="-122"/>
                <a:cs typeface="Courier New" pitchFamily="34" charset="-120"/>
              </a:rPr>
              <a:t>5.3.18</a:t>
            </a:r>
            <a:endParaRPr lang="en-US" sz="1250" dirty="0"/>
          </a:p>
        </p:txBody>
      </p:sp>
      <p:sp>
        <p:nvSpPr>
          <p:cNvPr id="16" name="Shape 14"/>
          <p:cNvSpPr/>
          <p:nvPr/>
        </p:nvSpPr>
        <p:spPr>
          <a:xfrm>
            <a:off x="822960" y="3813048"/>
            <a:ext cx="4206240" cy="475488"/>
          </a:xfrm>
          <a:prstGeom prst="rect">
            <a:avLst/>
          </a:prstGeom>
          <a:solidFill>
            <a:srgbClr val="1F1F1F"/>
          </a:solidFill>
          <a:ln w="12700">
            <a:solidFill>
              <a:srgbClr val="1F1F1F"/>
            </a:solidFill>
            <a:prstDash val="solid"/>
          </a:ln>
        </p:spPr>
      </p:sp>
      <p:sp>
        <p:nvSpPr>
          <p:cNvPr id="17" name="Text 15"/>
          <p:cNvSpPr txBox="1"/>
          <p:nvPr/>
        </p:nvSpPr>
        <p:spPr>
          <a:xfrm>
            <a:off x="1005840" y="3904488"/>
            <a:ext cx="1828800" cy="292608"/>
          </a:xfrm>
          <a:prstGeom prst="rect">
            <a:avLst/>
          </a:prstGeom>
          <a:noFill/>
          <a:ln/>
        </p:spPr>
        <p:txBody>
          <a:bodyPr wrap="square" lIns="0" tIns="0" rIns="0" bIns="0" rtlCol="0" anchor="t"/>
          <a:lstStyle/>
          <a:p>
            <a:pPr indent="0" marL="0">
              <a:buNone/>
            </a:pPr>
            <a:r>
              <a:rPr lang="en-US" sz="1250" dirty="0">
                <a:solidFill>
                  <a:srgbClr val="FFFFFF"/>
                </a:solidFill>
                <a:latin typeface="Courier New" pitchFamily="34" charset="0"/>
                <a:ea typeface="Courier New" pitchFamily="34" charset="-122"/>
                <a:cs typeface="Courier New" pitchFamily="34" charset="-120"/>
              </a:rPr>
              <a:t>jackson-databind</a:t>
            </a:r>
            <a:endParaRPr lang="en-US" sz="1250" dirty="0"/>
          </a:p>
        </p:txBody>
      </p:sp>
      <p:sp>
        <p:nvSpPr>
          <p:cNvPr id="18" name="Text 16"/>
          <p:cNvSpPr txBox="1"/>
          <p:nvPr/>
        </p:nvSpPr>
        <p:spPr>
          <a:xfrm>
            <a:off x="2788920" y="3904488"/>
            <a:ext cx="822960" cy="292608"/>
          </a:xfrm>
          <a:prstGeom prst="rect">
            <a:avLst/>
          </a:prstGeom>
          <a:noFill/>
          <a:ln/>
        </p:spPr>
        <p:txBody>
          <a:bodyPr wrap="square" lIns="0" tIns="0" rIns="0" bIns="0" rtlCol="0" anchor="t"/>
          <a:lstStyle/>
          <a:p>
            <a:pPr indent="0" marL="0">
              <a:buNone/>
            </a:pPr>
            <a:r>
              <a:rPr lang="en-US" sz="1250" dirty="0">
                <a:solidFill>
                  <a:srgbClr val="BBBCBC"/>
                </a:solidFill>
                <a:latin typeface="Courier New" pitchFamily="34" charset="0"/>
                <a:ea typeface="Courier New" pitchFamily="34" charset="-122"/>
                <a:cs typeface="Courier New" pitchFamily="34" charset="-120"/>
              </a:rPr>
              <a:t>2.13.2</a:t>
            </a:r>
            <a:endParaRPr lang="en-US" sz="1250" dirty="0"/>
          </a:p>
        </p:txBody>
      </p:sp>
      <p:sp>
        <p:nvSpPr>
          <p:cNvPr id="19" name="Shape 17"/>
          <p:cNvSpPr/>
          <p:nvPr/>
        </p:nvSpPr>
        <p:spPr>
          <a:xfrm>
            <a:off x="822960" y="4416552"/>
            <a:ext cx="4206240" cy="475488"/>
          </a:xfrm>
          <a:prstGeom prst="rect">
            <a:avLst/>
          </a:prstGeom>
          <a:solidFill>
            <a:srgbClr val="1F1F1F"/>
          </a:solidFill>
          <a:ln w="12700">
            <a:solidFill>
              <a:srgbClr val="1F1F1F"/>
            </a:solidFill>
            <a:prstDash val="solid"/>
          </a:ln>
        </p:spPr>
      </p:sp>
      <p:sp>
        <p:nvSpPr>
          <p:cNvPr id="20" name="Text 18"/>
          <p:cNvSpPr txBox="1"/>
          <p:nvPr/>
        </p:nvSpPr>
        <p:spPr>
          <a:xfrm>
            <a:off x="1005840" y="4507992"/>
            <a:ext cx="1828800" cy="292608"/>
          </a:xfrm>
          <a:prstGeom prst="rect">
            <a:avLst/>
          </a:prstGeom>
          <a:noFill/>
          <a:ln/>
        </p:spPr>
        <p:txBody>
          <a:bodyPr wrap="square" lIns="0" tIns="0" rIns="0" bIns="0" rtlCol="0" anchor="t"/>
          <a:lstStyle/>
          <a:p>
            <a:pPr indent="0" marL="0">
              <a:buNone/>
            </a:pPr>
            <a:r>
              <a:rPr lang="en-US" sz="1250" dirty="0">
                <a:solidFill>
                  <a:srgbClr val="FFFFFF"/>
                </a:solidFill>
                <a:latin typeface="Courier New" pitchFamily="34" charset="0"/>
                <a:ea typeface="Courier New" pitchFamily="34" charset="-122"/>
                <a:cs typeface="Courier New" pitchFamily="34" charset="-120"/>
              </a:rPr>
              <a:t>openssl</a:t>
            </a:r>
            <a:endParaRPr lang="en-US" sz="1250" dirty="0"/>
          </a:p>
        </p:txBody>
      </p:sp>
      <p:sp>
        <p:nvSpPr>
          <p:cNvPr id="21" name="Text 19"/>
          <p:cNvSpPr txBox="1"/>
          <p:nvPr/>
        </p:nvSpPr>
        <p:spPr>
          <a:xfrm>
            <a:off x="2788920" y="4507992"/>
            <a:ext cx="822960" cy="292608"/>
          </a:xfrm>
          <a:prstGeom prst="rect">
            <a:avLst/>
          </a:prstGeom>
          <a:noFill/>
          <a:ln/>
        </p:spPr>
        <p:txBody>
          <a:bodyPr wrap="square" lIns="0" tIns="0" rIns="0" bIns="0" rtlCol="0" anchor="t"/>
          <a:lstStyle/>
          <a:p>
            <a:pPr indent="0" marL="0">
              <a:buNone/>
            </a:pPr>
            <a:r>
              <a:rPr lang="en-US" sz="1250" dirty="0">
                <a:solidFill>
                  <a:srgbClr val="BBBCBC"/>
                </a:solidFill>
                <a:latin typeface="Courier New" pitchFamily="34" charset="0"/>
                <a:ea typeface="Courier New" pitchFamily="34" charset="-122"/>
                <a:cs typeface="Courier New" pitchFamily="34" charset="-120"/>
              </a:rPr>
              <a:t>1.1.1k</a:t>
            </a:r>
            <a:endParaRPr lang="en-US" sz="1250" dirty="0"/>
          </a:p>
        </p:txBody>
      </p:sp>
      <p:sp>
        <p:nvSpPr>
          <p:cNvPr id="22" name="Shape 20"/>
          <p:cNvSpPr/>
          <p:nvPr/>
        </p:nvSpPr>
        <p:spPr>
          <a:xfrm>
            <a:off x="822960" y="5020056"/>
            <a:ext cx="4206240" cy="475488"/>
          </a:xfrm>
          <a:prstGeom prst="rect">
            <a:avLst/>
          </a:prstGeom>
          <a:solidFill>
            <a:srgbClr val="1F1F1F"/>
          </a:solidFill>
          <a:ln w="12700">
            <a:solidFill>
              <a:srgbClr val="1F1F1F"/>
            </a:solidFill>
            <a:prstDash val="solid"/>
          </a:ln>
        </p:spPr>
      </p:sp>
      <p:sp>
        <p:nvSpPr>
          <p:cNvPr id="23" name="Text 21"/>
          <p:cNvSpPr txBox="1"/>
          <p:nvPr/>
        </p:nvSpPr>
        <p:spPr>
          <a:xfrm>
            <a:off x="1005840" y="5111496"/>
            <a:ext cx="1828800" cy="292608"/>
          </a:xfrm>
          <a:prstGeom prst="rect">
            <a:avLst/>
          </a:prstGeom>
          <a:noFill/>
          <a:ln/>
        </p:spPr>
        <p:txBody>
          <a:bodyPr wrap="square" lIns="0" tIns="0" rIns="0" bIns="0" rtlCol="0" anchor="t"/>
          <a:lstStyle/>
          <a:p>
            <a:pPr indent="0" marL="0">
              <a:buNone/>
            </a:pPr>
            <a:r>
              <a:rPr lang="en-US" sz="1250" dirty="0">
                <a:solidFill>
                  <a:srgbClr val="FFFFFF"/>
                </a:solidFill>
                <a:latin typeface="Courier New" pitchFamily="34" charset="0"/>
                <a:ea typeface="Courier New" pitchFamily="34" charset="-122"/>
                <a:cs typeface="Courier New" pitchFamily="34" charset="-120"/>
              </a:rPr>
              <a:t>commons-text</a:t>
            </a:r>
            <a:endParaRPr lang="en-US" sz="1250" dirty="0"/>
          </a:p>
        </p:txBody>
      </p:sp>
      <p:sp>
        <p:nvSpPr>
          <p:cNvPr id="24" name="Text 22"/>
          <p:cNvSpPr txBox="1"/>
          <p:nvPr/>
        </p:nvSpPr>
        <p:spPr>
          <a:xfrm>
            <a:off x="2788920" y="5111496"/>
            <a:ext cx="822960" cy="292608"/>
          </a:xfrm>
          <a:prstGeom prst="rect">
            <a:avLst/>
          </a:prstGeom>
          <a:noFill/>
          <a:ln/>
        </p:spPr>
        <p:txBody>
          <a:bodyPr wrap="square" lIns="0" tIns="0" rIns="0" bIns="0" rtlCol="0" anchor="t"/>
          <a:lstStyle/>
          <a:p>
            <a:pPr indent="0" marL="0">
              <a:buNone/>
            </a:pPr>
            <a:r>
              <a:rPr lang="en-US" sz="1250" dirty="0">
                <a:solidFill>
                  <a:srgbClr val="BBBCBC"/>
                </a:solidFill>
                <a:latin typeface="Courier New" pitchFamily="34" charset="0"/>
                <a:ea typeface="Courier New" pitchFamily="34" charset="-122"/>
                <a:cs typeface="Courier New" pitchFamily="34" charset="-120"/>
              </a:rPr>
              <a:t>1.9</a:t>
            </a:r>
            <a:endParaRPr lang="en-US" sz="1250" dirty="0"/>
          </a:p>
        </p:txBody>
      </p:sp>
      <p:sp>
        <p:nvSpPr>
          <p:cNvPr id="25" name="Shape 23"/>
          <p:cNvSpPr/>
          <p:nvPr/>
        </p:nvSpPr>
        <p:spPr>
          <a:xfrm>
            <a:off x="5760720" y="1892808"/>
            <a:ext cx="365760" cy="365760"/>
          </a:xfrm>
          <a:prstGeom prst="ellipse">
            <a:avLst/>
          </a:prstGeom>
          <a:solidFill>
            <a:srgbClr val="86BC25"/>
          </a:solidFill>
          <a:ln w="12700">
            <a:solidFill>
              <a:srgbClr val="86BC25"/>
            </a:solidFill>
            <a:prstDash val="solid"/>
          </a:ln>
        </p:spPr>
      </p:sp>
      <p:sp>
        <p:nvSpPr>
          <p:cNvPr id="26" name="Text 24"/>
          <p:cNvSpPr txBox="1"/>
          <p:nvPr/>
        </p:nvSpPr>
        <p:spPr>
          <a:xfrm>
            <a:off x="5760720" y="189280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27" name="Text 25"/>
          <p:cNvSpPr txBox="1"/>
          <p:nvPr/>
        </p:nvSpPr>
        <p:spPr>
          <a:xfrm>
            <a:off x="6309360" y="1874520"/>
            <a:ext cx="5333695" cy="292608"/>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What it lists</a:t>
            </a:r>
            <a:endParaRPr lang="en-US" sz="1400" dirty="0"/>
          </a:p>
        </p:txBody>
      </p:sp>
      <p:sp>
        <p:nvSpPr>
          <p:cNvPr id="28" name="Text 26"/>
          <p:cNvSpPr txBox="1"/>
          <p:nvPr/>
        </p:nvSpPr>
        <p:spPr>
          <a:xfrm>
            <a:off x="6309360" y="2203704"/>
            <a:ext cx="5333695" cy="685800"/>
          </a:xfrm>
          <a:prstGeom prst="rect">
            <a:avLst/>
          </a:prstGeom>
          <a:noFill/>
          <a:ln/>
        </p:spPr>
        <p:txBody>
          <a:bodyPr wrap="square" lIns="0" tIns="0" rIns="0" bIns="0" rtlCol="0" anchor="t"/>
          <a:lstStyle/>
          <a:p>
            <a:pPr indent="0" marL="0">
              <a:buNone/>
            </a:pPr>
            <a:r>
              <a:rPr lang="en-US" sz="1200" dirty="0">
                <a:solidFill>
                  <a:srgbClr val="53565A"/>
                </a:solidFill>
                <a:latin typeface="Arial" pitchFamily="34" charset="0"/>
                <a:ea typeface="Arial" pitchFamily="34" charset="-122"/>
                <a:cs typeface="Arial" pitchFamily="34" charset="-120"/>
              </a:rPr>
              <a:t>Components (libraries, packages), versions, suppliers, licences and hashes, for one build of one application.</a:t>
            </a:r>
            <a:endParaRPr lang="en-US" sz="1200" dirty="0"/>
          </a:p>
        </p:txBody>
      </p:sp>
      <p:sp>
        <p:nvSpPr>
          <p:cNvPr id="29" name="Shape 27"/>
          <p:cNvSpPr/>
          <p:nvPr/>
        </p:nvSpPr>
        <p:spPr>
          <a:xfrm>
            <a:off x="5760720" y="2971800"/>
            <a:ext cx="365760" cy="365760"/>
          </a:xfrm>
          <a:prstGeom prst="ellipse">
            <a:avLst/>
          </a:prstGeom>
          <a:solidFill>
            <a:srgbClr val="86BC25"/>
          </a:solidFill>
          <a:ln w="12700">
            <a:solidFill>
              <a:srgbClr val="86BC25"/>
            </a:solidFill>
            <a:prstDash val="solid"/>
          </a:ln>
        </p:spPr>
      </p:sp>
      <p:sp>
        <p:nvSpPr>
          <p:cNvPr id="30" name="Text 28"/>
          <p:cNvSpPr txBox="1"/>
          <p:nvPr/>
        </p:nvSpPr>
        <p:spPr>
          <a:xfrm>
            <a:off x="5760720" y="29718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31" name="Text 29"/>
          <p:cNvSpPr txBox="1"/>
          <p:nvPr/>
        </p:nvSpPr>
        <p:spPr>
          <a:xfrm>
            <a:off x="6309360" y="2953512"/>
            <a:ext cx="5333695" cy="292608"/>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Formats</a:t>
            </a:r>
            <a:endParaRPr lang="en-US" sz="1400" dirty="0"/>
          </a:p>
        </p:txBody>
      </p:sp>
      <p:sp>
        <p:nvSpPr>
          <p:cNvPr id="32" name="Text 30"/>
          <p:cNvSpPr txBox="1"/>
          <p:nvPr/>
        </p:nvSpPr>
        <p:spPr>
          <a:xfrm>
            <a:off x="6309360" y="3282696"/>
            <a:ext cx="5333695" cy="685800"/>
          </a:xfrm>
          <a:prstGeom prst="rect">
            <a:avLst/>
          </a:prstGeom>
          <a:noFill/>
          <a:ln/>
        </p:spPr>
        <p:txBody>
          <a:bodyPr wrap="square" lIns="0" tIns="0" rIns="0" bIns="0" rtlCol="0" anchor="t"/>
          <a:lstStyle/>
          <a:p>
            <a:pPr indent="0" marL="0">
              <a:buNone/>
            </a:pPr>
            <a:r>
              <a:rPr lang="en-US" sz="1200" dirty="0">
                <a:solidFill>
                  <a:srgbClr val="53565A"/>
                </a:solidFill>
                <a:latin typeface="Arial" pitchFamily="34" charset="0"/>
                <a:ea typeface="Arial" pitchFamily="34" charset="-122"/>
                <a:cs typeface="Arial" pitchFamily="34" charset="-120"/>
              </a:rPr>
              <a:t>SPDX and CycloneDX, produced by build pipelines and SCA tools, or supplied by vendors.</a:t>
            </a:r>
            <a:endParaRPr lang="en-US" sz="1200" dirty="0"/>
          </a:p>
        </p:txBody>
      </p:sp>
      <p:sp>
        <p:nvSpPr>
          <p:cNvPr id="33" name="Shape 31"/>
          <p:cNvSpPr/>
          <p:nvPr/>
        </p:nvSpPr>
        <p:spPr>
          <a:xfrm>
            <a:off x="5760720" y="4050792"/>
            <a:ext cx="365760" cy="365760"/>
          </a:xfrm>
          <a:prstGeom prst="ellipse">
            <a:avLst/>
          </a:prstGeom>
          <a:solidFill>
            <a:srgbClr val="86BC25"/>
          </a:solidFill>
          <a:ln w="12700">
            <a:solidFill>
              <a:srgbClr val="86BC25"/>
            </a:solidFill>
            <a:prstDash val="solid"/>
          </a:ln>
        </p:spPr>
      </p:sp>
      <p:sp>
        <p:nvSpPr>
          <p:cNvPr id="34" name="Text 32"/>
          <p:cNvSpPr txBox="1"/>
          <p:nvPr/>
        </p:nvSpPr>
        <p:spPr>
          <a:xfrm>
            <a:off x="5760720" y="405079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35" name="Text 33"/>
          <p:cNvSpPr txBox="1"/>
          <p:nvPr/>
        </p:nvSpPr>
        <p:spPr>
          <a:xfrm>
            <a:off x="6309360" y="4032504"/>
            <a:ext cx="5333695" cy="292608"/>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Why it matters</a:t>
            </a:r>
            <a:endParaRPr lang="en-US" sz="1400" dirty="0"/>
          </a:p>
        </p:txBody>
      </p:sp>
      <p:sp>
        <p:nvSpPr>
          <p:cNvPr id="36" name="Text 34"/>
          <p:cNvSpPr txBox="1"/>
          <p:nvPr/>
        </p:nvSpPr>
        <p:spPr>
          <a:xfrm>
            <a:off x="6309360" y="4361688"/>
            <a:ext cx="5333695" cy="685800"/>
          </a:xfrm>
          <a:prstGeom prst="rect">
            <a:avLst/>
          </a:prstGeom>
          <a:noFill/>
          <a:ln/>
        </p:spPr>
        <p:txBody>
          <a:bodyPr wrap="square" lIns="0" tIns="0" rIns="0" bIns="0" rtlCol="0" anchor="t"/>
          <a:lstStyle/>
          <a:p>
            <a:pPr indent="0" marL="0">
              <a:buNone/>
            </a:pPr>
            <a:r>
              <a:rPr lang="en-US" sz="1200" dirty="0">
                <a:solidFill>
                  <a:srgbClr val="53565A"/>
                </a:solidFill>
                <a:latin typeface="Arial" pitchFamily="34" charset="0"/>
                <a:ea typeface="Arial" pitchFamily="34" charset="-122"/>
                <a:cs typeface="Arial" pitchFamily="34" charset="-120"/>
              </a:rPr>
              <a:t>When the next Log4Shell lands, it answers "which of our applications ship log4j-core 2.14?" in minutes instead of weeks.</a:t>
            </a:r>
            <a:endParaRPr lang="en-US" sz="1200" dirty="0"/>
          </a:p>
        </p:txBody>
      </p:sp>
      <p:sp>
        <p:nvSpPr>
          <p:cNvPr id="37" name="Shape 35"/>
          <p:cNvSpPr/>
          <p:nvPr/>
        </p:nvSpPr>
        <p:spPr>
          <a:xfrm>
            <a:off x="5760720" y="5129784"/>
            <a:ext cx="365760" cy="365760"/>
          </a:xfrm>
          <a:prstGeom prst="ellipse">
            <a:avLst/>
          </a:prstGeom>
          <a:solidFill>
            <a:srgbClr val="86BC25"/>
          </a:solidFill>
          <a:ln w="12700">
            <a:solidFill>
              <a:srgbClr val="86BC25"/>
            </a:solidFill>
            <a:prstDash val="solid"/>
          </a:ln>
        </p:spPr>
      </p:sp>
      <p:sp>
        <p:nvSpPr>
          <p:cNvPr id="38" name="Text 36"/>
          <p:cNvSpPr txBox="1"/>
          <p:nvPr/>
        </p:nvSpPr>
        <p:spPr>
          <a:xfrm>
            <a:off x="5760720" y="51297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39" name="Text 37"/>
          <p:cNvSpPr txBox="1"/>
          <p:nvPr/>
        </p:nvSpPr>
        <p:spPr>
          <a:xfrm>
            <a:off x="6309360" y="5111496"/>
            <a:ext cx="5333695" cy="292608"/>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Why now</a:t>
            </a:r>
            <a:endParaRPr lang="en-US" sz="1400" dirty="0"/>
          </a:p>
        </p:txBody>
      </p:sp>
      <p:sp>
        <p:nvSpPr>
          <p:cNvPr id="40" name="Text 38"/>
          <p:cNvSpPr txBox="1"/>
          <p:nvPr/>
        </p:nvSpPr>
        <p:spPr>
          <a:xfrm>
            <a:off x="6309360" y="5440680"/>
            <a:ext cx="5333695" cy="685800"/>
          </a:xfrm>
          <a:prstGeom prst="rect">
            <a:avLst/>
          </a:prstGeom>
          <a:noFill/>
          <a:ln/>
        </p:spPr>
        <p:txBody>
          <a:bodyPr wrap="square" lIns="0" tIns="0" rIns="0" bIns="0" rtlCol="0" anchor="t"/>
          <a:lstStyle/>
          <a:p>
            <a:pPr indent="0" marL="0">
              <a:buNone/>
            </a:pPr>
            <a:r>
              <a:rPr lang="en-US" sz="1200" dirty="0">
                <a:solidFill>
                  <a:srgbClr val="53565A"/>
                </a:solidFill>
                <a:latin typeface="Arial" pitchFamily="34" charset="0"/>
                <a:ea typeface="Arial" pitchFamily="34" charset="-122"/>
                <a:cs typeface="Arial" pitchFamily="34" charset="-120"/>
              </a:rPr>
              <a:t>US Executive Order 14028 (2021) made SBOMs expected for software sold to the US government; banks followed.</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000" b="1" spc="150" kern="0" dirty="0">
                <a:solidFill>
                  <a:srgbClr val="26890D"/>
                </a:solidFill>
                <a:latin typeface="Arial" pitchFamily="34" charset="0"/>
                <a:ea typeface="Arial" pitchFamily="34" charset="-122"/>
                <a:cs typeface="Arial" pitchFamily="34" charset="-120"/>
              </a:rPr>
              <a:t>5 · VULNERABILITY BASICS</a:t>
            </a:r>
            <a:endParaRPr lang="en-US" sz="10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Why CWE matters more than CVE for AVITs</a:t>
            </a:r>
            <a:pPr indent="0" marL="0">
              <a:buNone/>
            </a:pPr>
            <a:r>
              <a:rPr lang="en-US" sz="3000" b="1" dirty="0">
                <a:solidFill>
                  <a:srgbClr val="86BC25"/>
                </a:solidFill>
                <a:latin typeface="Arial" pitchFamily="34" charset="0"/>
                <a:ea typeface="Arial" pitchFamily="34" charset="-122"/>
                <a:cs typeface="Arial" pitchFamily="34" charset="-120"/>
              </a:rPr>
              <a:t>.</a:t>
            </a:r>
            <a:endParaRPr lang="en-US" sz="3000" dirty="0"/>
          </a:p>
        </p:txBody>
      </p:sp>
      <p:sp>
        <p:nvSpPr>
          <p:cNvPr id="4" name="Text 2"/>
          <p:cNvSpPr txBox="1"/>
          <p:nvPr/>
        </p:nvSpPr>
        <p:spPr>
          <a:xfrm>
            <a:off x="548640" y="1243584"/>
            <a:ext cx="11094415" cy="411480"/>
          </a:xfrm>
          <a:prstGeom prst="rect">
            <a:avLst/>
          </a:prstGeom>
          <a:noFill/>
          <a:ln/>
        </p:spPr>
        <p:txBody>
          <a:bodyPr wrap="square" lIns="0" tIns="0" rIns="0" bIns="0" rtlCol="0" anchor="t"/>
          <a:lstStyle/>
          <a:p>
            <a:pPr indent="0" marL="0">
              <a:buNone/>
            </a:pPr>
            <a:r>
              <a:rPr lang="en-US" sz="1400" dirty="0">
                <a:solidFill>
                  <a:srgbClr val="53565A"/>
                </a:solidFill>
                <a:latin typeface="Arial" pitchFamily="34" charset="0"/>
                <a:ea typeface="Arial" pitchFamily="34" charset="-122"/>
                <a:cs typeface="Arial" pitchFamily="34" charset="-120"/>
              </a:rPr>
              <a:t>Application findings are mostly flaws in the bank's own code, and own code never gets a CVE.</a:t>
            </a:r>
            <a:endParaRPr lang="en-US" sz="1400" dirty="0"/>
          </a:p>
        </p:txBody>
      </p:sp>
      <p:sp>
        <p:nvSpPr>
          <p:cNvPr id="5" name="Text 3"/>
          <p:cNvSpPr txBox="1"/>
          <p:nvPr/>
        </p:nvSpPr>
        <p:spPr>
          <a:xfrm>
            <a:off x="11185855" y="6473952"/>
            <a:ext cx="457200" cy="228600"/>
          </a:xfrm>
          <a:prstGeom prst="rect">
            <a:avLst/>
          </a:prstGeom>
          <a:noFill/>
          <a:ln/>
        </p:spPr>
        <p:txBody>
          <a:bodyPr wrap="square" lIns="0" tIns="0" rIns="0" bIns="0" rtlCol="0" anchor="t"/>
          <a:lstStyle/>
          <a:p>
            <a:pPr algn="r" indent="0" marL="0">
              <a:buNone/>
            </a:pPr>
            <a:r>
              <a:rPr lang="en-US" sz="900" dirty="0">
                <a:solidFill>
                  <a:srgbClr val="75787B"/>
                </a:solidFill>
                <a:latin typeface="Arial" pitchFamily="34" charset="0"/>
                <a:ea typeface="Arial" pitchFamily="34" charset="-122"/>
                <a:cs typeface="Arial" pitchFamily="34" charset="-120"/>
              </a:rPr>
              <a:t>16</a:t>
            </a:r>
            <a:endParaRPr lang="en-US" sz="900" dirty="0"/>
          </a:p>
        </p:txBody>
      </p:sp>
      <p:sp>
        <p:nvSpPr>
          <p:cNvPr id="6" name="Text 4"/>
          <p:cNvSpPr txBox="1"/>
          <p:nvPr/>
        </p:nvSpPr>
        <p:spPr>
          <a:xfrm>
            <a:off x="548640" y="6473952"/>
            <a:ext cx="2743200" cy="228600"/>
          </a:xfrm>
          <a:prstGeom prst="rect">
            <a:avLst/>
          </a:prstGeom>
          <a:noFill/>
          <a:ln/>
        </p:spPr>
        <p:txBody>
          <a:bodyPr wrap="square" lIns="0" tIns="0" rIns="0" bIns="0" rtlCol="0" anchor="t"/>
          <a:lstStyle/>
          <a:p>
            <a:pPr indent="0" marL="0">
              <a:buNone/>
            </a:pPr>
            <a:r>
              <a:rPr lang="en-US" sz="900" dirty="0">
                <a:solidFill>
                  <a:srgbClr val="75787B"/>
                </a:solidFill>
                <a:latin typeface="Arial" pitchFamily="34" charset="0"/>
                <a:ea typeface="Arial" pitchFamily="34" charset="-122"/>
                <a:cs typeface="Arial" pitchFamily="34" charset="-120"/>
              </a:rPr>
              <a:t>VR field guide</a:t>
            </a:r>
            <a:endParaRPr lang="en-US" sz="900" dirty="0"/>
          </a:p>
        </p:txBody>
      </p:sp>
      <p:sp>
        <p:nvSpPr>
          <p:cNvPr id="7" name="Shape 5"/>
          <p:cNvSpPr/>
          <p:nvPr/>
        </p:nvSpPr>
        <p:spPr>
          <a:xfrm>
            <a:off x="548640" y="1874520"/>
            <a:ext cx="11094415" cy="1828800"/>
          </a:xfrm>
          <a:prstGeom prst="rect">
            <a:avLst/>
          </a:prstGeom>
          <a:solidFill>
            <a:srgbClr val="E8F2D5"/>
          </a:solidFill>
          <a:ln w="12700">
            <a:solidFill>
              <a:srgbClr val="E8F2D5"/>
            </a:solidFill>
            <a:prstDash val="solid"/>
          </a:ln>
        </p:spPr>
      </p:sp>
      <p:sp>
        <p:nvSpPr>
          <p:cNvPr id="8" name="Text 6"/>
          <p:cNvSpPr txBox="1"/>
          <p:nvPr/>
        </p:nvSpPr>
        <p:spPr>
          <a:xfrm>
            <a:off x="822960" y="2103120"/>
            <a:ext cx="2651760" cy="365760"/>
          </a:xfrm>
          <a:prstGeom prst="rect">
            <a:avLst/>
          </a:prstGeom>
          <a:noFill/>
          <a:ln/>
        </p:spPr>
        <p:txBody>
          <a:bodyPr wrap="square" lIns="0" tIns="0" rIns="0" bIns="0" rtlCol="0" anchor="t"/>
          <a:lstStyle/>
          <a:p>
            <a:pPr indent="0" marL="0">
              <a:buNone/>
            </a:pPr>
            <a:r>
              <a:rPr lang="en-US" sz="1700" b="1" dirty="0">
                <a:solidFill>
                  <a:srgbClr val="000000"/>
                </a:solidFill>
                <a:latin typeface="Arial" pitchFamily="34" charset="0"/>
                <a:ea typeface="Arial" pitchFamily="34" charset="-122"/>
                <a:cs typeface="Arial" pitchFamily="34" charset="-120"/>
              </a:rPr>
              <a:t>Own code</a:t>
            </a:r>
            <a:endParaRPr lang="en-US" sz="1700" dirty="0"/>
          </a:p>
        </p:txBody>
      </p:sp>
      <p:sp>
        <p:nvSpPr>
          <p:cNvPr id="9" name="Text 7"/>
          <p:cNvSpPr txBox="1"/>
          <p:nvPr/>
        </p:nvSpPr>
        <p:spPr>
          <a:xfrm>
            <a:off x="822960" y="2514600"/>
            <a:ext cx="2651760" cy="320040"/>
          </a:xfrm>
          <a:prstGeom prst="rect">
            <a:avLst/>
          </a:prstGeom>
          <a:noFill/>
          <a:ln/>
        </p:spPr>
        <p:txBody>
          <a:bodyPr wrap="square" lIns="0" tIns="0" rIns="0" bIns="0" rtlCol="0" anchor="t"/>
          <a:lstStyle/>
          <a:p>
            <a:pPr indent="0" marL="0">
              <a:buNone/>
            </a:pPr>
            <a:r>
              <a:rPr lang="en-US" sz="1200" dirty="0">
                <a:solidFill>
                  <a:srgbClr val="53565A"/>
                </a:solidFill>
                <a:latin typeface="Arial" pitchFamily="34" charset="0"/>
                <a:ea typeface="Arial" pitchFamily="34" charset="-122"/>
                <a:cs typeface="Arial" pitchFamily="34" charset="-120"/>
              </a:rPr>
              <a:t>SAST, DAST, pen tests</a:t>
            </a:r>
            <a:endParaRPr lang="en-US" sz="1200" dirty="0"/>
          </a:p>
        </p:txBody>
      </p:sp>
      <p:sp>
        <p:nvSpPr>
          <p:cNvPr id="10" name="Text 8"/>
          <p:cNvSpPr txBox="1"/>
          <p:nvPr/>
        </p:nvSpPr>
        <p:spPr>
          <a:xfrm>
            <a:off x="3657600" y="2103120"/>
            <a:ext cx="6309360" cy="14630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53565A"/>
                </a:solidFill>
                <a:latin typeface="Arial" pitchFamily="34" charset="0"/>
                <a:ea typeface="Arial" pitchFamily="34" charset="-122"/>
                <a:cs typeface="Arial" pitchFamily="34" charset="-120"/>
              </a:rPr>
              <a:t>No CVE exists: CVEs are for published flaws in distributed products.</a:t>
            </a:r>
            <a:endParaRPr lang="en-US" sz="1200" dirty="0"/>
          </a:p>
          <a:p>
            <a:pPr marL="342900" indent="-342900">
              <a:spcAft>
                <a:spcPts val="600"/>
              </a:spcAft>
              <a:buSzPct val="100000"/>
              <a:buChar char="•"/>
            </a:pPr>
            <a:r>
              <a:rPr lang="en-US" sz="1200" dirty="0">
                <a:solidFill>
                  <a:srgbClr val="53565A"/>
                </a:solidFill>
                <a:latin typeface="Arial" pitchFamily="34" charset="0"/>
                <a:ea typeface="Arial" pitchFamily="34" charset="-122"/>
                <a:cs typeface="Arial" pitchFamily="34" charset="-120"/>
              </a:rPr>
              <a:t>The finding carries a CWE, e.g. a real AVIT: Veracode-10 CWE-522 (insufficiently protected credentials).</a:t>
            </a:r>
            <a:endParaRPr lang="en-US" sz="1200" dirty="0"/>
          </a:p>
          <a:p>
            <a:pPr marL="342900" indent="-342900">
              <a:spcAft>
                <a:spcPts val="600"/>
              </a:spcAft>
              <a:buSzPct val="100000"/>
              <a:buChar char="•"/>
            </a:pPr>
            <a:r>
              <a:rPr lang="en-US" sz="1200" dirty="0">
                <a:solidFill>
                  <a:srgbClr val="53565A"/>
                </a:solidFill>
                <a:latin typeface="Arial" pitchFamily="34" charset="0"/>
                <a:ea typeface="Arial" pitchFamily="34" charset="-122"/>
                <a:cs typeface="Arial" pitchFamily="34" charset="-120"/>
              </a:rPr>
              <a:t>Fix guidance, grouping, developer training and OWASP reporting all work by CWE.</a:t>
            </a:r>
            <a:endParaRPr lang="en-US" sz="1200" dirty="0"/>
          </a:p>
        </p:txBody>
      </p:sp>
      <p:sp>
        <p:nvSpPr>
          <p:cNvPr id="11" name="Shape 9"/>
          <p:cNvSpPr/>
          <p:nvPr/>
        </p:nvSpPr>
        <p:spPr>
          <a:xfrm>
            <a:off x="10225735" y="2194560"/>
            <a:ext cx="1188720" cy="1188720"/>
          </a:xfrm>
          <a:prstGeom prst="ellipse">
            <a:avLst/>
          </a:prstGeom>
          <a:solidFill>
            <a:srgbClr val="26890D"/>
          </a:solidFill>
          <a:ln w="12700">
            <a:solidFill>
              <a:srgbClr val="26890D"/>
            </a:solidFill>
            <a:prstDash val="solid"/>
          </a:ln>
        </p:spPr>
      </p:sp>
      <p:sp>
        <p:nvSpPr>
          <p:cNvPr id="12" name="Text 10"/>
          <p:cNvSpPr txBox="1"/>
          <p:nvPr/>
        </p:nvSpPr>
        <p:spPr>
          <a:xfrm>
            <a:off x="10225735" y="2194560"/>
            <a:ext cx="1188720" cy="11887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CWE</a:t>
            </a:r>
            <a:endParaRPr lang="en-US" sz="2000" dirty="0"/>
          </a:p>
        </p:txBody>
      </p:sp>
      <p:sp>
        <p:nvSpPr>
          <p:cNvPr id="13" name="Shape 11"/>
          <p:cNvSpPr/>
          <p:nvPr/>
        </p:nvSpPr>
        <p:spPr>
          <a:xfrm>
            <a:off x="548640" y="3886200"/>
            <a:ext cx="11094415" cy="1828800"/>
          </a:xfrm>
          <a:prstGeom prst="rect">
            <a:avLst/>
          </a:prstGeom>
          <a:solidFill>
            <a:srgbClr val="F2F2F2"/>
          </a:solidFill>
          <a:ln w="12700">
            <a:solidFill>
              <a:srgbClr val="F2F2F2"/>
            </a:solidFill>
            <a:prstDash val="solid"/>
          </a:ln>
        </p:spPr>
      </p:sp>
      <p:sp>
        <p:nvSpPr>
          <p:cNvPr id="14" name="Text 12"/>
          <p:cNvSpPr txBox="1"/>
          <p:nvPr/>
        </p:nvSpPr>
        <p:spPr>
          <a:xfrm>
            <a:off x="822960" y="4114800"/>
            <a:ext cx="2651760" cy="365760"/>
          </a:xfrm>
          <a:prstGeom prst="rect">
            <a:avLst/>
          </a:prstGeom>
          <a:noFill/>
          <a:ln/>
        </p:spPr>
        <p:txBody>
          <a:bodyPr wrap="square" lIns="0" tIns="0" rIns="0" bIns="0" rtlCol="0" anchor="t"/>
          <a:lstStyle/>
          <a:p>
            <a:pPr indent="0" marL="0">
              <a:buNone/>
            </a:pPr>
            <a:r>
              <a:rPr lang="en-US" sz="1700" b="1" dirty="0">
                <a:solidFill>
                  <a:srgbClr val="000000"/>
                </a:solidFill>
                <a:latin typeface="Arial" pitchFamily="34" charset="0"/>
                <a:ea typeface="Arial" pitchFamily="34" charset="-122"/>
                <a:cs typeface="Arial" pitchFamily="34" charset="-120"/>
              </a:rPr>
              <a:t>Third-party components</a:t>
            </a:r>
            <a:endParaRPr lang="en-US" sz="1700" dirty="0"/>
          </a:p>
        </p:txBody>
      </p:sp>
      <p:sp>
        <p:nvSpPr>
          <p:cNvPr id="15" name="Text 13"/>
          <p:cNvSpPr txBox="1"/>
          <p:nvPr/>
        </p:nvSpPr>
        <p:spPr>
          <a:xfrm>
            <a:off x="822960" y="4526280"/>
            <a:ext cx="2651760" cy="320040"/>
          </a:xfrm>
          <a:prstGeom prst="rect">
            <a:avLst/>
          </a:prstGeom>
          <a:noFill/>
          <a:ln/>
        </p:spPr>
        <p:txBody>
          <a:bodyPr wrap="square" lIns="0" tIns="0" rIns="0" bIns="0" rtlCol="0" anchor="t"/>
          <a:lstStyle/>
          <a:p>
            <a:pPr indent="0" marL="0">
              <a:buNone/>
            </a:pPr>
            <a:r>
              <a:rPr lang="en-US" sz="1200" dirty="0">
                <a:solidFill>
                  <a:srgbClr val="53565A"/>
                </a:solidFill>
                <a:latin typeface="Arial" pitchFamily="34" charset="0"/>
                <a:ea typeface="Arial" pitchFamily="34" charset="-122"/>
                <a:cs typeface="Arial" pitchFamily="34" charset="-120"/>
              </a:rPr>
              <a:t>SCA tools, SBOM</a:t>
            </a:r>
            <a:endParaRPr lang="en-US" sz="1200" dirty="0"/>
          </a:p>
        </p:txBody>
      </p:sp>
      <p:sp>
        <p:nvSpPr>
          <p:cNvPr id="16" name="Text 14"/>
          <p:cNvSpPr txBox="1"/>
          <p:nvPr/>
        </p:nvSpPr>
        <p:spPr>
          <a:xfrm>
            <a:off x="3657600" y="4114800"/>
            <a:ext cx="6309360" cy="14630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53565A"/>
                </a:solidFill>
                <a:latin typeface="Arial" pitchFamily="34" charset="0"/>
                <a:ea typeface="Arial" pitchFamily="34" charset="-122"/>
                <a:cs typeface="Arial" pitchFamily="34" charset="-120"/>
              </a:rPr>
              <a:t>A CVE applies to the library version the application ships.</a:t>
            </a:r>
            <a:endParaRPr lang="en-US" sz="1200" dirty="0"/>
          </a:p>
          <a:p>
            <a:pPr marL="342900" indent="-342900">
              <a:spcAft>
                <a:spcPts val="600"/>
              </a:spcAft>
              <a:buSzPct val="100000"/>
              <a:buChar char="•"/>
            </a:pPr>
            <a:r>
              <a:rPr lang="en-US" sz="1200" dirty="0">
                <a:solidFill>
                  <a:srgbClr val="53565A"/>
                </a:solidFill>
                <a:latin typeface="Arial" pitchFamily="34" charset="0"/>
                <a:ea typeface="Arial" pitchFamily="34" charset="-122"/>
                <a:cs typeface="Arial" pitchFamily="34" charset="-120"/>
              </a:rPr>
              <a:t>The fix is to upgrade or replace the component.</a:t>
            </a:r>
            <a:endParaRPr lang="en-US" sz="1200" dirty="0"/>
          </a:p>
          <a:p>
            <a:pPr marL="342900" indent="-342900">
              <a:spcAft>
                <a:spcPts val="600"/>
              </a:spcAft>
              <a:buSzPct val="100000"/>
              <a:buChar char="•"/>
            </a:pPr>
            <a:r>
              <a:rPr lang="en-US" sz="1200" dirty="0">
                <a:solidFill>
                  <a:srgbClr val="53565A"/>
                </a:solidFill>
                <a:latin typeface="Arial" pitchFamily="34" charset="0"/>
                <a:ea typeface="Arial" pitchFamily="34" charset="-122"/>
                <a:cs typeface="Arial" pitchFamily="34" charset="-120"/>
              </a:rPr>
              <a:t>The SBOM tells you where else that component lives.</a:t>
            </a:r>
            <a:endParaRPr lang="en-US" sz="1200" dirty="0"/>
          </a:p>
        </p:txBody>
      </p:sp>
      <p:sp>
        <p:nvSpPr>
          <p:cNvPr id="17" name="Shape 15"/>
          <p:cNvSpPr/>
          <p:nvPr/>
        </p:nvSpPr>
        <p:spPr>
          <a:xfrm>
            <a:off x="10225735" y="4206240"/>
            <a:ext cx="1188720" cy="1188720"/>
          </a:xfrm>
          <a:prstGeom prst="ellipse">
            <a:avLst/>
          </a:prstGeom>
          <a:solidFill>
            <a:srgbClr val="75787B"/>
          </a:solidFill>
          <a:ln w="12700">
            <a:solidFill>
              <a:srgbClr val="75787B"/>
            </a:solidFill>
            <a:prstDash val="solid"/>
          </a:ln>
        </p:spPr>
      </p:sp>
      <p:sp>
        <p:nvSpPr>
          <p:cNvPr id="18" name="Text 16"/>
          <p:cNvSpPr txBox="1"/>
          <p:nvPr/>
        </p:nvSpPr>
        <p:spPr>
          <a:xfrm>
            <a:off x="10225735" y="4206240"/>
            <a:ext cx="1188720" cy="11887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CVE</a:t>
            </a:r>
            <a:endParaRPr lang="en-US" sz="2000" dirty="0"/>
          </a:p>
        </p:txBody>
      </p:sp>
      <p:sp>
        <p:nvSpPr>
          <p:cNvPr id="19" name="Text 17"/>
          <p:cNvSpPr txBox="1"/>
          <p:nvPr/>
        </p:nvSpPr>
        <p:spPr>
          <a:xfrm>
            <a:off x="548640" y="5897880"/>
            <a:ext cx="11094415" cy="457200"/>
          </a:xfrm>
          <a:prstGeom prst="rect">
            <a:avLst/>
          </a:prstGeom>
          <a:noFill/>
          <a:ln/>
        </p:spPr>
        <p:txBody>
          <a:bodyPr wrap="square" lIns="0" tIns="0" rIns="0" bIns="0" rtlCol="0" anchor="t"/>
          <a:lstStyle/>
          <a:p>
            <a:pPr indent="0" marL="0">
              <a:buNone/>
            </a:pPr>
            <a:r>
              <a:rPr lang="en-US" sz="1250" b="1" dirty="0">
                <a:solidFill>
                  <a:srgbClr val="000000"/>
                </a:solidFill>
                <a:latin typeface="Arial" pitchFamily="34" charset="0"/>
                <a:ea typeface="Arial" pitchFamily="34" charset="-122"/>
                <a:cs typeface="Arial" pitchFamily="34" charset="-120"/>
              </a:rPr>
              <a:t>In short: </a:t>
            </a:r>
            <a:pPr indent="0" marL="0">
              <a:buNone/>
            </a:pPr>
            <a:r>
              <a:rPr lang="en-US" sz="1250" dirty="0">
                <a:solidFill>
                  <a:srgbClr val="53565A"/>
                </a:solidFill>
                <a:latin typeface="Arial" pitchFamily="34" charset="0"/>
                <a:ea typeface="Arial" pitchFamily="34" charset="-122"/>
                <a:cs typeface="Arial" pitchFamily="34" charset="-120"/>
              </a:rPr>
              <a:t>for application findings the CWE tells the developer what to fix and the programme where its weak spots are. A CVE only appears when the flaw sits in someone else's component.</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000" b="1" spc="150" kern="0" dirty="0">
                <a:solidFill>
                  <a:srgbClr val="26890D"/>
                </a:solidFill>
                <a:latin typeface="Arial" pitchFamily="34" charset="0"/>
                <a:ea typeface="Arial" pitchFamily="34" charset="-122"/>
                <a:cs typeface="Arial" pitchFamily="34" charset="-120"/>
              </a:rPr>
              <a:t>6 · BEST PRACTICES</a:t>
            </a:r>
            <a:endParaRPr lang="en-US" sz="10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How we build VR integrations</a:t>
            </a:r>
            <a:pPr indent="0" marL="0">
              <a:buNone/>
            </a:pPr>
            <a:r>
              <a:rPr lang="en-US" sz="3000" b="1" dirty="0">
                <a:solidFill>
                  <a:srgbClr val="86BC25"/>
                </a:solidFill>
                <a:latin typeface="Arial" pitchFamily="34" charset="0"/>
                <a:ea typeface="Arial" pitchFamily="34" charset="-122"/>
                <a:cs typeface="Arial" pitchFamily="34" charset="-120"/>
              </a:rPr>
              <a:t>.</a:t>
            </a:r>
            <a:endParaRPr lang="en-US" sz="3000" dirty="0"/>
          </a:p>
        </p:txBody>
      </p:sp>
      <p:sp>
        <p:nvSpPr>
          <p:cNvPr id="4" name="Text 2"/>
          <p:cNvSpPr txBox="1"/>
          <p:nvPr/>
        </p:nvSpPr>
        <p:spPr>
          <a:xfrm>
            <a:off x="548640" y="1243584"/>
            <a:ext cx="11094415" cy="411480"/>
          </a:xfrm>
          <a:prstGeom prst="rect">
            <a:avLst/>
          </a:prstGeom>
          <a:noFill/>
          <a:ln/>
        </p:spPr>
        <p:txBody>
          <a:bodyPr wrap="square" lIns="0" tIns="0" rIns="0" bIns="0" rtlCol="0" anchor="t"/>
          <a:lstStyle/>
          <a:p>
            <a:pPr indent="0" marL="0">
              <a:buNone/>
            </a:pPr>
            <a:r>
              <a:rPr lang="en-US" sz="1400" dirty="0">
                <a:solidFill>
                  <a:srgbClr val="53565A"/>
                </a:solidFill>
                <a:latin typeface="Arial" pitchFamily="34" charset="0"/>
                <a:ea typeface="Arial" pitchFamily="34" charset="-122"/>
                <a:cs typeface="Arial" pitchFamily="34" charset="-120"/>
              </a:rPr>
              <a:t>Three habits that separate a clean go-live from months of clean-up.</a:t>
            </a:r>
            <a:endParaRPr lang="en-US" sz="1400" dirty="0"/>
          </a:p>
        </p:txBody>
      </p:sp>
      <p:sp>
        <p:nvSpPr>
          <p:cNvPr id="5" name="Text 3"/>
          <p:cNvSpPr txBox="1"/>
          <p:nvPr/>
        </p:nvSpPr>
        <p:spPr>
          <a:xfrm>
            <a:off x="11185855" y="6473952"/>
            <a:ext cx="457200" cy="228600"/>
          </a:xfrm>
          <a:prstGeom prst="rect">
            <a:avLst/>
          </a:prstGeom>
          <a:noFill/>
          <a:ln/>
        </p:spPr>
        <p:txBody>
          <a:bodyPr wrap="square" lIns="0" tIns="0" rIns="0" bIns="0" rtlCol="0" anchor="t"/>
          <a:lstStyle/>
          <a:p>
            <a:pPr algn="r" indent="0" marL="0">
              <a:buNone/>
            </a:pPr>
            <a:r>
              <a:rPr lang="en-US" sz="900" dirty="0">
                <a:solidFill>
                  <a:srgbClr val="75787B"/>
                </a:solidFill>
                <a:latin typeface="Arial" pitchFamily="34" charset="0"/>
                <a:ea typeface="Arial" pitchFamily="34" charset="-122"/>
                <a:cs typeface="Arial" pitchFamily="34" charset="-120"/>
              </a:rPr>
              <a:t>17</a:t>
            </a:r>
            <a:endParaRPr lang="en-US" sz="900" dirty="0"/>
          </a:p>
        </p:txBody>
      </p:sp>
      <p:sp>
        <p:nvSpPr>
          <p:cNvPr id="6" name="Text 4"/>
          <p:cNvSpPr txBox="1"/>
          <p:nvPr/>
        </p:nvSpPr>
        <p:spPr>
          <a:xfrm>
            <a:off x="548640" y="6473952"/>
            <a:ext cx="2743200" cy="228600"/>
          </a:xfrm>
          <a:prstGeom prst="rect">
            <a:avLst/>
          </a:prstGeom>
          <a:noFill/>
          <a:ln/>
        </p:spPr>
        <p:txBody>
          <a:bodyPr wrap="square" lIns="0" tIns="0" rIns="0" bIns="0" rtlCol="0" anchor="t"/>
          <a:lstStyle/>
          <a:p>
            <a:pPr indent="0" marL="0">
              <a:buNone/>
            </a:pPr>
            <a:r>
              <a:rPr lang="en-US" sz="900" dirty="0">
                <a:solidFill>
                  <a:srgbClr val="75787B"/>
                </a:solidFill>
                <a:latin typeface="Arial" pitchFamily="34" charset="0"/>
                <a:ea typeface="Arial" pitchFamily="34" charset="-122"/>
                <a:cs typeface="Arial" pitchFamily="34" charset="-120"/>
              </a:rPr>
              <a:t>VR field guide</a:t>
            </a:r>
            <a:endParaRPr lang="en-US" sz="900" dirty="0"/>
          </a:p>
        </p:txBody>
      </p:sp>
      <p:sp>
        <p:nvSpPr>
          <p:cNvPr id="7" name="Shape 5"/>
          <p:cNvSpPr/>
          <p:nvPr/>
        </p:nvSpPr>
        <p:spPr>
          <a:xfrm>
            <a:off x="548640" y="1874520"/>
            <a:ext cx="3545738" cy="3108960"/>
          </a:xfrm>
          <a:prstGeom prst="rect">
            <a:avLst/>
          </a:prstGeom>
          <a:solidFill>
            <a:srgbClr val="F2F2F2"/>
          </a:solidFill>
          <a:ln w="12700">
            <a:solidFill>
              <a:srgbClr val="F2F2F2"/>
            </a:solidFill>
            <a:prstDash val="solid"/>
          </a:ln>
        </p:spPr>
      </p:sp>
      <p:sp>
        <p:nvSpPr>
          <p:cNvPr id="8" name="Shape 6"/>
          <p:cNvSpPr/>
          <p:nvPr/>
        </p:nvSpPr>
        <p:spPr>
          <a:xfrm>
            <a:off x="777240" y="2103120"/>
            <a:ext cx="457200" cy="457200"/>
          </a:xfrm>
          <a:prstGeom prst="ellipse">
            <a:avLst/>
          </a:prstGeom>
          <a:solidFill>
            <a:srgbClr val="86BC25"/>
          </a:solidFill>
          <a:ln w="12700">
            <a:solidFill>
              <a:srgbClr val="86BC25"/>
            </a:solidFill>
            <a:prstDash val="solid"/>
          </a:ln>
        </p:spPr>
      </p:sp>
      <p:sp>
        <p:nvSpPr>
          <p:cNvPr id="9" name="Text 7"/>
          <p:cNvSpPr txBox="1"/>
          <p:nvPr/>
        </p:nvSpPr>
        <p:spPr>
          <a:xfrm>
            <a:off x="777240" y="21031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417320" y="2148840"/>
            <a:ext cx="2448458" cy="365760"/>
          </a:xfrm>
          <a:prstGeom prst="rect">
            <a:avLst/>
          </a:prstGeom>
          <a:noFill/>
          <a:ln/>
        </p:spPr>
        <p:txBody>
          <a:bodyPr wrap="square" lIns="0" tIns="0" rIns="0" bIns="0" rtlCol="0" anchor="t"/>
          <a:lstStyle/>
          <a:p>
            <a:pPr indent="0" marL="0">
              <a:buNone/>
            </a:pPr>
            <a:r>
              <a:rPr lang="en-US" sz="1600" b="1" dirty="0">
                <a:solidFill>
                  <a:srgbClr val="000000"/>
                </a:solidFill>
                <a:latin typeface="Arial" pitchFamily="34" charset="0"/>
                <a:ea typeface="Arial" pitchFamily="34" charset="-122"/>
                <a:cs typeface="Arial" pitchFamily="34" charset="-120"/>
              </a:rPr>
              <a:t>Credentials</a:t>
            </a:r>
            <a:endParaRPr lang="en-US" sz="1600" dirty="0"/>
          </a:p>
        </p:txBody>
      </p:sp>
      <p:sp>
        <p:nvSpPr>
          <p:cNvPr id="11" name="Text 9"/>
          <p:cNvSpPr txBox="1"/>
          <p:nvPr/>
        </p:nvSpPr>
        <p:spPr>
          <a:xfrm>
            <a:off x="777240" y="2743200"/>
            <a:ext cx="3088538" cy="214884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53565A"/>
                </a:solidFill>
                <a:latin typeface="Arial" pitchFamily="34" charset="0"/>
                <a:ea typeface="Arial" pitchFamily="34" charset="-122"/>
                <a:cs typeface="Arial" pitchFamily="34" charset="-120"/>
              </a:rPr>
              <a:t>Keep secrets in credential records (or the client's vault), never in scripts or properties.</a:t>
            </a:r>
            <a:endParaRPr lang="en-US" sz="1250" dirty="0"/>
          </a:p>
          <a:p>
            <a:pPr marL="342900" indent="-342900">
              <a:spcAft>
                <a:spcPts val="900"/>
              </a:spcAft>
              <a:buSzPct val="100000"/>
              <a:buChar char="•"/>
            </a:pPr>
            <a:r>
              <a:rPr lang="en-US" sz="1250" dirty="0">
                <a:solidFill>
                  <a:srgbClr val="53565A"/>
                </a:solidFill>
                <a:latin typeface="Arial" pitchFamily="34" charset="0"/>
                <a:ea typeface="Arial" pitchFamily="34" charset="-122"/>
                <a:cs typeface="Arial" pitchFamily="34" charset="-120"/>
              </a:rPr>
              <a:t>A service account with the least privilege the API needs.</a:t>
            </a:r>
            <a:endParaRPr lang="en-US" sz="1250" dirty="0"/>
          </a:p>
          <a:p>
            <a:pPr marL="342900" indent="-342900">
              <a:spcAft>
                <a:spcPts val="900"/>
              </a:spcAft>
              <a:buSzPct val="100000"/>
              <a:buChar char="•"/>
            </a:pPr>
            <a:r>
              <a:rPr lang="en-US" sz="1250" dirty="0">
                <a:solidFill>
                  <a:srgbClr val="53565A"/>
                </a:solidFill>
                <a:latin typeface="Arial" pitchFamily="34" charset="0"/>
                <a:ea typeface="Arial" pitchFamily="34" charset="-122"/>
                <a:cs typeface="Arial" pitchFamily="34" charset="-120"/>
              </a:rPr>
              <a:t>An owner for rotation and an alert before expiry.</a:t>
            </a:r>
            <a:endParaRPr lang="en-US" sz="1250" dirty="0"/>
          </a:p>
          <a:p>
            <a:pPr marL="342900" indent="-342900">
              <a:spcAft>
                <a:spcPts val="900"/>
              </a:spcAft>
              <a:buSzPct val="100000"/>
              <a:buChar char="•"/>
            </a:pPr>
            <a:r>
              <a:rPr lang="en-US" sz="1250" dirty="0">
                <a:solidFill>
                  <a:srgbClr val="53565A"/>
                </a:solidFill>
                <a:latin typeface="Arial" pitchFamily="34" charset="0"/>
                <a:ea typeface="Arial" pitchFamily="34" charset="-122"/>
                <a:cs typeface="Arial" pitchFamily="34" charset="-120"/>
              </a:rPr>
              <a:t>Separate credentials per environment.</a:t>
            </a:r>
            <a:endParaRPr lang="en-US" sz="1250" dirty="0"/>
          </a:p>
        </p:txBody>
      </p:sp>
      <p:sp>
        <p:nvSpPr>
          <p:cNvPr id="12" name="Shape 10"/>
          <p:cNvSpPr/>
          <p:nvPr/>
        </p:nvSpPr>
        <p:spPr>
          <a:xfrm>
            <a:off x="4322978" y="1874520"/>
            <a:ext cx="3545738" cy="3108960"/>
          </a:xfrm>
          <a:prstGeom prst="rect">
            <a:avLst/>
          </a:prstGeom>
          <a:solidFill>
            <a:srgbClr val="F2F2F2"/>
          </a:solidFill>
          <a:ln w="12700">
            <a:solidFill>
              <a:srgbClr val="F2F2F2"/>
            </a:solidFill>
            <a:prstDash val="solid"/>
          </a:ln>
        </p:spPr>
      </p:sp>
      <p:sp>
        <p:nvSpPr>
          <p:cNvPr id="13" name="Shape 11"/>
          <p:cNvSpPr/>
          <p:nvPr/>
        </p:nvSpPr>
        <p:spPr>
          <a:xfrm>
            <a:off x="4551578" y="2103120"/>
            <a:ext cx="457200" cy="457200"/>
          </a:xfrm>
          <a:prstGeom prst="ellipse">
            <a:avLst/>
          </a:prstGeom>
          <a:solidFill>
            <a:srgbClr val="86BC25"/>
          </a:solidFill>
          <a:ln w="12700">
            <a:solidFill>
              <a:srgbClr val="86BC25"/>
            </a:solidFill>
            <a:prstDash val="solid"/>
          </a:ln>
        </p:spPr>
      </p:sp>
      <p:sp>
        <p:nvSpPr>
          <p:cNvPr id="14" name="Text 12"/>
          <p:cNvSpPr txBox="1"/>
          <p:nvPr/>
        </p:nvSpPr>
        <p:spPr>
          <a:xfrm>
            <a:off x="4551578" y="21031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3"/>
          <p:cNvSpPr txBox="1"/>
          <p:nvPr/>
        </p:nvSpPr>
        <p:spPr>
          <a:xfrm>
            <a:off x="5191658" y="2148840"/>
            <a:ext cx="2448458" cy="365760"/>
          </a:xfrm>
          <a:prstGeom prst="rect">
            <a:avLst/>
          </a:prstGeom>
          <a:noFill/>
          <a:ln/>
        </p:spPr>
        <p:txBody>
          <a:bodyPr wrap="square" lIns="0" tIns="0" rIns="0" bIns="0" rtlCol="0" anchor="t"/>
          <a:lstStyle/>
          <a:p>
            <a:pPr indent="0" marL="0">
              <a:buNone/>
            </a:pPr>
            <a:r>
              <a:rPr lang="en-US" sz="1600" b="1" dirty="0">
                <a:solidFill>
                  <a:srgbClr val="000000"/>
                </a:solidFill>
                <a:latin typeface="Arial" pitchFamily="34" charset="0"/>
                <a:ea typeface="Arial" pitchFamily="34" charset="-122"/>
                <a:cs typeface="Arial" pitchFamily="34" charset="-120"/>
              </a:rPr>
              <a:t>Error handling</a:t>
            </a:r>
            <a:endParaRPr lang="en-US" sz="1600" dirty="0"/>
          </a:p>
        </p:txBody>
      </p:sp>
      <p:sp>
        <p:nvSpPr>
          <p:cNvPr id="16" name="Text 14"/>
          <p:cNvSpPr txBox="1"/>
          <p:nvPr/>
        </p:nvSpPr>
        <p:spPr>
          <a:xfrm>
            <a:off x="4551578" y="2743200"/>
            <a:ext cx="3088538" cy="214884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53565A"/>
                </a:solidFill>
                <a:latin typeface="Arial" pitchFamily="34" charset="0"/>
                <a:ea typeface="Arial" pitchFamily="34" charset="-122"/>
                <a:cs typeface="Arial" pitchFamily="34" charset="-120"/>
              </a:rPr>
              <a:t>One try/catch at the entry point; one clear error: what failed, for which record, why.</a:t>
            </a:r>
            <a:endParaRPr lang="en-US" sz="1250" dirty="0"/>
          </a:p>
          <a:p>
            <a:pPr marL="342900" indent="-342900">
              <a:spcAft>
                <a:spcPts val="900"/>
              </a:spcAft>
              <a:buSzPct val="100000"/>
              <a:buChar char="•"/>
            </a:pPr>
            <a:r>
              <a:rPr lang="en-US" sz="1250" dirty="0">
                <a:solidFill>
                  <a:srgbClr val="53565A"/>
                </a:solidFill>
                <a:latin typeface="Arial" pitchFamily="34" charset="0"/>
                <a:ea typeface="Arial" pitchFamily="34" charset="-122"/>
                <a:cs typeface="Arial" pitchFamily="34" charset="-120"/>
              </a:rPr>
              <a:t>Validate a payload before it leaves the instance.</a:t>
            </a:r>
            <a:endParaRPr lang="en-US" sz="1250" dirty="0"/>
          </a:p>
          <a:p>
            <a:pPr marL="342900" indent="-342900">
              <a:spcAft>
                <a:spcPts val="900"/>
              </a:spcAft>
              <a:buSzPct val="100000"/>
              <a:buChar char="•"/>
            </a:pPr>
            <a:r>
              <a:rPr lang="en-US" sz="1250" dirty="0">
                <a:solidFill>
                  <a:srgbClr val="53565A"/>
                </a:solidFill>
                <a:latin typeface="Arial" pitchFamily="34" charset="0"/>
                <a:ea typeface="Arial" pitchFamily="34" charset="-122"/>
                <a:cs typeface="Arial" pitchFamily="34" charset="-120"/>
              </a:rPr>
              <a:t>Make every run safe to repeat.</a:t>
            </a:r>
            <a:endParaRPr lang="en-US" sz="1250" dirty="0"/>
          </a:p>
          <a:p>
            <a:pPr marL="342900" indent="-342900">
              <a:spcAft>
                <a:spcPts val="900"/>
              </a:spcAft>
              <a:buSzPct val="100000"/>
              <a:buChar char="•"/>
            </a:pPr>
            <a:r>
              <a:rPr lang="en-US" sz="1250" dirty="0">
                <a:solidFill>
                  <a:srgbClr val="53565A"/>
                </a:solidFill>
                <a:latin typeface="Arial" pitchFamily="34" charset="0"/>
                <a:ea typeface="Arial" pitchFamily="34" charset="-122"/>
                <a:cs typeface="Arial" pitchFamily="34" charset="-120"/>
              </a:rPr>
              <a:t>Show failures where people look: the integration run, the record.</a:t>
            </a:r>
            <a:endParaRPr lang="en-US" sz="1250" dirty="0"/>
          </a:p>
        </p:txBody>
      </p:sp>
      <p:sp>
        <p:nvSpPr>
          <p:cNvPr id="17" name="Shape 15"/>
          <p:cNvSpPr/>
          <p:nvPr/>
        </p:nvSpPr>
        <p:spPr>
          <a:xfrm>
            <a:off x="8097317" y="1874520"/>
            <a:ext cx="3545738" cy="3108960"/>
          </a:xfrm>
          <a:prstGeom prst="rect">
            <a:avLst/>
          </a:prstGeom>
          <a:solidFill>
            <a:srgbClr val="F2F2F2"/>
          </a:solidFill>
          <a:ln w="12700">
            <a:solidFill>
              <a:srgbClr val="F2F2F2"/>
            </a:solidFill>
            <a:prstDash val="solid"/>
          </a:ln>
        </p:spPr>
      </p:sp>
      <p:sp>
        <p:nvSpPr>
          <p:cNvPr id="18" name="Shape 16"/>
          <p:cNvSpPr/>
          <p:nvPr/>
        </p:nvSpPr>
        <p:spPr>
          <a:xfrm>
            <a:off x="8325917" y="2103120"/>
            <a:ext cx="457200" cy="457200"/>
          </a:xfrm>
          <a:prstGeom prst="ellipse">
            <a:avLst/>
          </a:prstGeom>
          <a:solidFill>
            <a:srgbClr val="86BC25"/>
          </a:solidFill>
          <a:ln w="12700">
            <a:solidFill>
              <a:srgbClr val="86BC25"/>
            </a:solidFill>
            <a:prstDash val="solid"/>
          </a:ln>
        </p:spPr>
      </p:sp>
      <p:sp>
        <p:nvSpPr>
          <p:cNvPr id="19" name="Text 17"/>
          <p:cNvSpPr txBox="1"/>
          <p:nvPr/>
        </p:nvSpPr>
        <p:spPr>
          <a:xfrm>
            <a:off x="8325917" y="21031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8"/>
          <p:cNvSpPr txBox="1"/>
          <p:nvPr/>
        </p:nvSpPr>
        <p:spPr>
          <a:xfrm>
            <a:off x="8965997" y="2148840"/>
            <a:ext cx="2448458" cy="365760"/>
          </a:xfrm>
          <a:prstGeom prst="rect">
            <a:avLst/>
          </a:prstGeom>
          <a:noFill/>
          <a:ln/>
        </p:spPr>
        <p:txBody>
          <a:bodyPr wrap="square" lIns="0" tIns="0" rIns="0" bIns="0" rtlCol="0" anchor="t"/>
          <a:lstStyle/>
          <a:p>
            <a:pPr indent="0" marL="0">
              <a:buNone/>
            </a:pPr>
            <a:r>
              <a:rPr lang="en-US" sz="1600" b="1" dirty="0">
                <a:solidFill>
                  <a:srgbClr val="000000"/>
                </a:solidFill>
                <a:latin typeface="Arial" pitchFamily="34" charset="0"/>
                <a:ea typeface="Arial" pitchFamily="34" charset="-122"/>
                <a:cs typeface="Arial" pitchFamily="34" charset="-120"/>
              </a:rPr>
              <a:t>Fallback lookup rules</a:t>
            </a:r>
            <a:endParaRPr lang="en-US" sz="1600" dirty="0"/>
          </a:p>
        </p:txBody>
      </p:sp>
      <p:sp>
        <p:nvSpPr>
          <p:cNvPr id="21" name="Text 19"/>
          <p:cNvSpPr txBox="1"/>
          <p:nvPr/>
        </p:nvSpPr>
        <p:spPr>
          <a:xfrm>
            <a:off x="8325917" y="2743200"/>
            <a:ext cx="3088538" cy="214884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53565A"/>
                </a:solidFill>
                <a:latin typeface="Arial" pitchFamily="34" charset="0"/>
                <a:ea typeface="Arial" pitchFamily="34" charset="-122"/>
                <a:cs typeface="Arial" pitchFamily="34" charset="-120"/>
              </a:rPr>
              <a:t>Strongest identifier first, IP last.</a:t>
            </a:r>
            <a:endParaRPr lang="en-US" sz="1250" dirty="0"/>
          </a:p>
          <a:p>
            <a:pPr marL="342900" indent="-342900">
              <a:spcAft>
                <a:spcPts val="900"/>
              </a:spcAft>
              <a:buSzPct val="100000"/>
              <a:buChar char="•"/>
            </a:pPr>
            <a:r>
              <a:rPr lang="en-US" sz="1250" dirty="0">
                <a:solidFill>
                  <a:srgbClr val="53565A"/>
                </a:solidFill>
                <a:latin typeface="Arial" pitchFamily="34" charset="0"/>
                <a:ea typeface="Arial" pitchFamily="34" charset="-122"/>
                <a:cs typeface="Arial" pitchFamily="34" charset="-120"/>
              </a:rPr>
              <a:t>Exactly one match or decline; never guess.</a:t>
            </a:r>
            <a:endParaRPr lang="en-US" sz="1250" dirty="0"/>
          </a:p>
          <a:p>
            <a:pPr marL="342900" indent="-342900">
              <a:spcAft>
                <a:spcPts val="900"/>
              </a:spcAft>
              <a:buSzPct val="100000"/>
              <a:buChar char="•"/>
            </a:pPr>
            <a:r>
              <a:rPr lang="en-US" sz="1250" dirty="0">
                <a:solidFill>
                  <a:srgbClr val="53565A"/>
                </a:solidFill>
                <a:latin typeface="Arial" pitchFamily="34" charset="0"/>
                <a:ea typeface="Arial" pitchFamily="34" charset="-122"/>
                <a:cs typeface="Arial" pitchFamily="34" charset="-120"/>
              </a:rPr>
              <a:t>Keep the out-of-box rules as the final fallback.</a:t>
            </a:r>
            <a:endParaRPr lang="en-US" sz="1250" dirty="0"/>
          </a:p>
          <a:p>
            <a:pPr marL="342900" indent="-342900">
              <a:spcAft>
                <a:spcPts val="900"/>
              </a:spcAft>
              <a:buSzPct val="100000"/>
              <a:buChar char="•"/>
            </a:pPr>
            <a:r>
              <a:rPr lang="en-US" sz="1250" dirty="0">
                <a:solidFill>
                  <a:srgbClr val="53565A"/>
                </a:solidFill>
                <a:latin typeface="Arial" pitchFamily="34" charset="0"/>
                <a:ea typeface="Arial" pitchFamily="34" charset="-122"/>
                <a:cs typeface="Arial" pitchFamily="34" charset="-120"/>
              </a:rPr>
              <a:t>Measure the match rate before and after every change; reapply after.</a:t>
            </a:r>
            <a:endParaRPr lang="en-US" sz="1250" dirty="0"/>
          </a:p>
        </p:txBody>
      </p:sp>
      <p:sp>
        <p:nvSpPr>
          <p:cNvPr id="22" name="Shape 20"/>
          <p:cNvSpPr/>
          <p:nvPr/>
        </p:nvSpPr>
        <p:spPr>
          <a:xfrm>
            <a:off x="548640" y="5257800"/>
            <a:ext cx="11094415" cy="658368"/>
          </a:xfrm>
          <a:prstGeom prst="rect">
            <a:avLst/>
          </a:prstGeom>
          <a:solidFill>
            <a:srgbClr val="000000"/>
          </a:solidFill>
          <a:ln w="12700">
            <a:solidFill>
              <a:srgbClr val="000000"/>
            </a:solidFill>
            <a:prstDash val="solid"/>
          </a:ln>
        </p:spPr>
      </p:sp>
      <p:sp>
        <p:nvSpPr>
          <p:cNvPr id="23" name="Text 21"/>
          <p:cNvSpPr txBox="1"/>
          <p:nvPr/>
        </p:nvSpPr>
        <p:spPr>
          <a:xfrm>
            <a:off x="822960" y="5257800"/>
            <a:ext cx="10545775" cy="658368"/>
          </a:xfrm>
          <a:prstGeom prst="rect">
            <a:avLst/>
          </a:prstGeom>
          <a:noFill/>
          <a:ln/>
        </p:spPr>
        <p:txBody>
          <a:bodyPr wrap="square" lIns="0" tIns="0" rIns="0" bIns="0" rtlCol="0" anchor="ctr"/>
          <a:lstStyle/>
          <a:p>
            <a:pPr indent="0" marL="0">
              <a:buNone/>
            </a:pPr>
            <a:r>
              <a:rPr lang="en-US" sz="1200" b="1" dirty="0">
                <a:solidFill>
                  <a:srgbClr val="86BC25"/>
                </a:solidFill>
                <a:latin typeface="Arial" pitchFamily="34" charset="0"/>
                <a:ea typeface="Arial" pitchFamily="34" charset="-122"/>
                <a:cs typeface="Arial" pitchFamily="34" charset="-120"/>
              </a:rPr>
              <a:t>Delivery  </a:t>
            </a:r>
            <a:pPr indent="0" marL="0">
              <a:buNone/>
            </a:pPr>
            <a:r>
              <a:rPr lang="en-US" sz="1200" dirty="0">
                <a:solidFill>
                  <a:srgbClr val="FFFFFF"/>
                </a:solidFill>
                <a:latin typeface="Arial" pitchFamily="34" charset="0"/>
                <a:ea typeface="Arial" pitchFamily="34" charset="-122"/>
                <a:cs typeface="Arial" pitchFamily="34" charset="-120"/>
              </a:rPr>
              <a:t>One scope per update set  ·  capture untracked records explicitly  ·  test positive and negative paths twice  ·  no client rule change without sign-off</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000" b="1" spc="150" kern="0" dirty="0">
                <a:solidFill>
                  <a:srgbClr val="26890D"/>
                </a:solidFill>
                <a:latin typeface="Arial" pitchFamily="34" charset="0"/>
                <a:ea typeface="Arial" pitchFamily="34" charset="-122"/>
                <a:cs typeface="Arial" pitchFamily="34" charset="-120"/>
              </a:rPr>
              <a:t>7 · USEM TODAY</a:t>
            </a:r>
            <a:endParaRPr lang="en-US" sz="10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What is new in USEM</a:t>
            </a:r>
            <a:pPr indent="0" marL="0">
              <a:buNone/>
            </a:pPr>
            <a:r>
              <a:rPr lang="en-US" sz="3000" b="1" dirty="0">
                <a:solidFill>
                  <a:srgbClr val="86BC25"/>
                </a:solidFill>
                <a:latin typeface="Arial" pitchFamily="34" charset="0"/>
                <a:ea typeface="Arial" pitchFamily="34" charset="-122"/>
                <a:cs typeface="Arial" pitchFamily="34" charset="-120"/>
              </a:rPr>
              <a:t>.</a:t>
            </a:r>
            <a:endParaRPr lang="en-US" sz="3000" dirty="0"/>
          </a:p>
        </p:txBody>
      </p:sp>
      <p:sp>
        <p:nvSpPr>
          <p:cNvPr id="4" name="Text 2"/>
          <p:cNvSpPr txBox="1"/>
          <p:nvPr/>
        </p:nvSpPr>
        <p:spPr>
          <a:xfrm>
            <a:off x="548640" y="1243584"/>
            <a:ext cx="11094415" cy="411480"/>
          </a:xfrm>
          <a:prstGeom prst="rect">
            <a:avLst/>
          </a:prstGeom>
          <a:noFill/>
          <a:ln/>
        </p:spPr>
        <p:txBody>
          <a:bodyPr wrap="square" lIns="0" tIns="0" rIns="0" bIns="0" rtlCol="0" anchor="t"/>
          <a:lstStyle/>
          <a:p>
            <a:pPr indent="0" marL="0">
              <a:buNone/>
            </a:pPr>
            <a:r>
              <a:rPr lang="en-US" sz="1400" dirty="0">
                <a:solidFill>
                  <a:srgbClr val="53565A"/>
                </a:solidFill>
                <a:latin typeface="Arial" pitchFamily="34" charset="0"/>
                <a:ea typeface="Arial" pitchFamily="34" charset="-122"/>
                <a:cs typeface="Arial" pitchFamily="34" charset="-120"/>
              </a:rPr>
              <a:t>Unified Security Exposure Management brings the separate exposure types under one roof.</a:t>
            </a:r>
            <a:endParaRPr lang="en-US" sz="1400" dirty="0"/>
          </a:p>
        </p:txBody>
      </p:sp>
      <p:sp>
        <p:nvSpPr>
          <p:cNvPr id="5" name="Text 3"/>
          <p:cNvSpPr txBox="1"/>
          <p:nvPr/>
        </p:nvSpPr>
        <p:spPr>
          <a:xfrm>
            <a:off x="11185855" y="6473952"/>
            <a:ext cx="457200" cy="228600"/>
          </a:xfrm>
          <a:prstGeom prst="rect">
            <a:avLst/>
          </a:prstGeom>
          <a:noFill/>
          <a:ln/>
        </p:spPr>
        <p:txBody>
          <a:bodyPr wrap="square" lIns="0" tIns="0" rIns="0" bIns="0" rtlCol="0" anchor="t"/>
          <a:lstStyle/>
          <a:p>
            <a:pPr algn="r" indent="0" marL="0">
              <a:buNone/>
            </a:pPr>
            <a:r>
              <a:rPr lang="en-US" sz="900" dirty="0">
                <a:solidFill>
                  <a:srgbClr val="75787B"/>
                </a:solidFill>
                <a:latin typeface="Arial" pitchFamily="34" charset="0"/>
                <a:ea typeface="Arial" pitchFamily="34" charset="-122"/>
                <a:cs typeface="Arial" pitchFamily="34" charset="-120"/>
              </a:rPr>
              <a:t>18</a:t>
            </a:r>
            <a:endParaRPr lang="en-US" sz="900" dirty="0"/>
          </a:p>
        </p:txBody>
      </p:sp>
      <p:sp>
        <p:nvSpPr>
          <p:cNvPr id="6" name="Text 4"/>
          <p:cNvSpPr txBox="1"/>
          <p:nvPr/>
        </p:nvSpPr>
        <p:spPr>
          <a:xfrm>
            <a:off x="548640" y="6473952"/>
            <a:ext cx="2743200" cy="228600"/>
          </a:xfrm>
          <a:prstGeom prst="rect">
            <a:avLst/>
          </a:prstGeom>
          <a:noFill/>
          <a:ln/>
        </p:spPr>
        <p:txBody>
          <a:bodyPr wrap="square" lIns="0" tIns="0" rIns="0" bIns="0" rtlCol="0" anchor="t"/>
          <a:lstStyle/>
          <a:p>
            <a:pPr indent="0" marL="0">
              <a:buNone/>
            </a:pPr>
            <a:r>
              <a:rPr lang="en-US" sz="900" dirty="0">
                <a:solidFill>
                  <a:srgbClr val="75787B"/>
                </a:solidFill>
                <a:latin typeface="Arial" pitchFamily="34" charset="0"/>
                <a:ea typeface="Arial" pitchFamily="34" charset="-122"/>
                <a:cs typeface="Arial" pitchFamily="34" charset="-120"/>
              </a:rPr>
              <a:t>VR field guide</a:t>
            </a:r>
            <a:endParaRPr lang="en-US" sz="900" dirty="0"/>
          </a:p>
        </p:txBody>
      </p:sp>
      <p:sp>
        <p:nvSpPr>
          <p:cNvPr id="7" name="Shape 5"/>
          <p:cNvSpPr/>
          <p:nvPr/>
        </p:nvSpPr>
        <p:spPr>
          <a:xfrm>
            <a:off x="548640" y="1874520"/>
            <a:ext cx="3545738" cy="1874520"/>
          </a:xfrm>
          <a:prstGeom prst="rect">
            <a:avLst/>
          </a:prstGeom>
          <a:solidFill>
            <a:srgbClr val="F2F2F2"/>
          </a:solidFill>
          <a:ln w="12700">
            <a:solidFill>
              <a:srgbClr val="F2F2F2"/>
            </a:solidFill>
            <a:prstDash val="solid"/>
          </a:ln>
        </p:spPr>
      </p:sp>
      <p:sp>
        <p:nvSpPr>
          <p:cNvPr id="8" name="Text 6"/>
          <p:cNvSpPr txBox="1"/>
          <p:nvPr/>
        </p:nvSpPr>
        <p:spPr>
          <a:xfrm>
            <a:off x="777240" y="2057400"/>
            <a:ext cx="3088538" cy="347472"/>
          </a:xfrm>
          <a:prstGeom prst="rect">
            <a:avLst/>
          </a:prstGeom>
          <a:noFill/>
          <a:ln/>
        </p:spPr>
        <p:txBody>
          <a:bodyPr wrap="square" lIns="0" tIns="0" rIns="0" bIns="0" rtlCol="0" anchor="t"/>
          <a:lstStyle/>
          <a:p>
            <a:pPr indent="0" marL="0">
              <a:buNone/>
            </a:pPr>
            <a:r>
              <a:rPr lang="en-US" sz="1600" b="1" dirty="0">
                <a:solidFill>
                  <a:srgbClr val="000000"/>
                </a:solidFill>
                <a:latin typeface="Arial" pitchFamily="34" charset="0"/>
                <a:ea typeface="Arial" pitchFamily="34" charset="-122"/>
                <a:cs typeface="Arial" pitchFamily="34" charset="-120"/>
              </a:rPr>
              <a:t>Common layer</a:t>
            </a:r>
            <a:endParaRPr lang="en-US" sz="1600" dirty="0"/>
          </a:p>
        </p:txBody>
      </p:sp>
      <p:sp>
        <p:nvSpPr>
          <p:cNvPr id="9" name="Text 7"/>
          <p:cNvSpPr txBox="1"/>
          <p:nvPr/>
        </p:nvSpPr>
        <p:spPr>
          <a:xfrm>
            <a:off x="777240" y="2468880"/>
            <a:ext cx="3088538" cy="914400"/>
          </a:xfrm>
          <a:prstGeom prst="rect">
            <a:avLst/>
          </a:prstGeom>
          <a:noFill/>
          <a:ln/>
        </p:spPr>
        <p:txBody>
          <a:bodyPr wrap="square" lIns="0" tIns="0" rIns="0" bIns="0" rtlCol="0" anchor="t"/>
          <a:lstStyle/>
          <a:p>
            <a:pPr indent="0" marL="0">
              <a:buNone/>
            </a:pPr>
            <a:r>
              <a:rPr lang="en-US" sz="1150" dirty="0">
                <a:solidFill>
                  <a:srgbClr val="53565A"/>
                </a:solidFill>
                <a:latin typeface="Arial" pitchFamily="34" charset="0"/>
                <a:ea typeface="Arial" pitchFamily="34" charset="-122"/>
                <a:cs typeface="Arial" pitchFamily="34" charset="-120"/>
              </a:rPr>
              <a:t>Unified Security Exposure Management: one foundation for infrastructure, application, container and configuration findings.</a:t>
            </a:r>
            <a:endParaRPr lang="en-US" sz="1150" dirty="0"/>
          </a:p>
        </p:txBody>
      </p:sp>
      <p:sp>
        <p:nvSpPr>
          <p:cNvPr id="10" name="Text 8"/>
          <p:cNvSpPr txBox="1"/>
          <p:nvPr/>
        </p:nvSpPr>
        <p:spPr>
          <a:xfrm>
            <a:off x="777240" y="3410712"/>
            <a:ext cx="3088538" cy="256032"/>
          </a:xfrm>
          <a:prstGeom prst="rect">
            <a:avLst/>
          </a:prstGeom>
          <a:noFill/>
          <a:ln/>
        </p:spPr>
        <p:txBody>
          <a:bodyPr wrap="square" lIns="0" tIns="0" rIns="0" bIns="0" rtlCol="0" anchor="t"/>
          <a:lstStyle/>
          <a:p>
            <a:pPr indent="0" marL="0">
              <a:buNone/>
            </a:pPr>
            <a:r>
              <a:rPr lang="en-US" sz="950" dirty="0">
                <a:solidFill>
                  <a:srgbClr val="26890D"/>
                </a:solidFill>
                <a:latin typeface="Courier New" pitchFamily="34" charset="0"/>
                <a:ea typeface="Courier New" pitchFamily="34" charset="-122"/>
                <a:cs typeface="Courier New" pitchFamily="34" charset="-120"/>
              </a:rPr>
              <a:t>sn_vul_usem_common</a:t>
            </a:r>
            <a:endParaRPr lang="en-US" sz="950" dirty="0"/>
          </a:p>
        </p:txBody>
      </p:sp>
      <p:sp>
        <p:nvSpPr>
          <p:cNvPr id="11" name="Shape 9"/>
          <p:cNvSpPr/>
          <p:nvPr/>
        </p:nvSpPr>
        <p:spPr>
          <a:xfrm>
            <a:off x="4322978" y="1874520"/>
            <a:ext cx="3545738" cy="1874520"/>
          </a:xfrm>
          <a:prstGeom prst="rect">
            <a:avLst/>
          </a:prstGeom>
          <a:solidFill>
            <a:srgbClr val="F2F2F2"/>
          </a:solidFill>
          <a:ln w="12700">
            <a:solidFill>
              <a:srgbClr val="F2F2F2"/>
            </a:solidFill>
            <a:prstDash val="solid"/>
          </a:ln>
        </p:spPr>
      </p:sp>
      <p:sp>
        <p:nvSpPr>
          <p:cNvPr id="12" name="Text 10"/>
          <p:cNvSpPr txBox="1"/>
          <p:nvPr/>
        </p:nvSpPr>
        <p:spPr>
          <a:xfrm>
            <a:off x="4551578" y="2057400"/>
            <a:ext cx="3088538" cy="347472"/>
          </a:xfrm>
          <a:prstGeom prst="rect">
            <a:avLst/>
          </a:prstGeom>
          <a:noFill/>
          <a:ln/>
        </p:spPr>
        <p:txBody>
          <a:bodyPr wrap="square" lIns="0" tIns="0" rIns="0" bIns="0" rtlCol="0" anchor="t"/>
          <a:lstStyle/>
          <a:p>
            <a:pPr indent="0" marL="0">
              <a:buNone/>
            </a:pPr>
            <a:r>
              <a:rPr lang="en-US" sz="1600" b="1" dirty="0">
                <a:solidFill>
                  <a:srgbClr val="000000"/>
                </a:solidFill>
                <a:latin typeface="Arial" pitchFamily="34" charset="0"/>
                <a:ea typeface="Arial" pitchFamily="34" charset="-122"/>
                <a:cs typeface="Arial" pitchFamily="34" charset="-120"/>
              </a:rPr>
              <a:t>One workspace</a:t>
            </a:r>
            <a:endParaRPr lang="en-US" sz="1600" dirty="0"/>
          </a:p>
        </p:txBody>
      </p:sp>
      <p:sp>
        <p:nvSpPr>
          <p:cNvPr id="13" name="Text 11"/>
          <p:cNvSpPr txBox="1"/>
          <p:nvPr/>
        </p:nvSpPr>
        <p:spPr>
          <a:xfrm>
            <a:off x="4551578" y="2468880"/>
            <a:ext cx="3088538" cy="914400"/>
          </a:xfrm>
          <a:prstGeom prst="rect">
            <a:avLst/>
          </a:prstGeom>
          <a:noFill/>
          <a:ln/>
        </p:spPr>
        <p:txBody>
          <a:bodyPr wrap="square" lIns="0" tIns="0" rIns="0" bIns="0" rtlCol="0" anchor="t"/>
          <a:lstStyle/>
          <a:p>
            <a:pPr indent="0" marL="0">
              <a:buNone/>
            </a:pPr>
            <a:r>
              <a:rPr lang="en-US" sz="1150" dirty="0">
                <a:solidFill>
                  <a:srgbClr val="53565A"/>
                </a:solidFill>
                <a:latin typeface="Arial" pitchFamily="34" charset="0"/>
                <a:ea typeface="Arial" pitchFamily="34" charset="-122"/>
                <a:cs typeface="Arial" pitchFamily="34" charset="-120"/>
              </a:rPr>
              <a:t>Security Exposure Management workspace: analyse exposures across all types in one place.</a:t>
            </a:r>
            <a:endParaRPr lang="en-US" sz="1150" dirty="0"/>
          </a:p>
        </p:txBody>
      </p:sp>
      <p:sp>
        <p:nvSpPr>
          <p:cNvPr id="14" name="Text 12"/>
          <p:cNvSpPr txBox="1"/>
          <p:nvPr/>
        </p:nvSpPr>
        <p:spPr>
          <a:xfrm>
            <a:off x="4551578" y="3410712"/>
            <a:ext cx="3088538" cy="256032"/>
          </a:xfrm>
          <a:prstGeom prst="rect">
            <a:avLst/>
          </a:prstGeom>
          <a:noFill/>
          <a:ln/>
        </p:spPr>
        <p:txBody>
          <a:bodyPr wrap="square" lIns="0" tIns="0" rIns="0" bIns="0" rtlCol="0" anchor="t"/>
          <a:lstStyle/>
          <a:p>
            <a:pPr indent="0" marL="0">
              <a:buNone/>
            </a:pPr>
            <a:r>
              <a:rPr lang="en-US" sz="950" dirty="0">
                <a:solidFill>
                  <a:srgbClr val="26890D"/>
                </a:solidFill>
                <a:latin typeface="Courier New" pitchFamily="34" charset="0"/>
                <a:ea typeface="Courier New" pitchFamily="34" charset="-122"/>
                <a:cs typeface="Courier New" pitchFamily="34" charset="-120"/>
              </a:rPr>
              <a:t>/now/vr-analysis</a:t>
            </a:r>
            <a:endParaRPr lang="en-US" sz="950" dirty="0"/>
          </a:p>
        </p:txBody>
      </p:sp>
      <p:sp>
        <p:nvSpPr>
          <p:cNvPr id="15" name="Shape 13"/>
          <p:cNvSpPr/>
          <p:nvPr/>
        </p:nvSpPr>
        <p:spPr>
          <a:xfrm>
            <a:off x="8097317" y="1874520"/>
            <a:ext cx="3545738" cy="1874520"/>
          </a:xfrm>
          <a:prstGeom prst="rect">
            <a:avLst/>
          </a:prstGeom>
          <a:solidFill>
            <a:srgbClr val="F2F2F2"/>
          </a:solidFill>
          <a:ln w="12700">
            <a:solidFill>
              <a:srgbClr val="F2F2F2"/>
            </a:solidFill>
            <a:prstDash val="solid"/>
          </a:ln>
        </p:spPr>
      </p:sp>
      <p:sp>
        <p:nvSpPr>
          <p:cNvPr id="16" name="Text 14"/>
          <p:cNvSpPr txBox="1"/>
          <p:nvPr/>
        </p:nvSpPr>
        <p:spPr>
          <a:xfrm>
            <a:off x="8325917" y="2057400"/>
            <a:ext cx="3088538" cy="347472"/>
          </a:xfrm>
          <a:prstGeom prst="rect">
            <a:avLst/>
          </a:prstGeom>
          <a:noFill/>
          <a:ln/>
        </p:spPr>
        <p:txBody>
          <a:bodyPr wrap="square" lIns="0" tIns="0" rIns="0" bIns="0" rtlCol="0" anchor="t"/>
          <a:lstStyle/>
          <a:p>
            <a:pPr indent="0" marL="0">
              <a:buNone/>
            </a:pPr>
            <a:r>
              <a:rPr lang="en-US" sz="1600" b="1" dirty="0">
                <a:solidFill>
                  <a:srgbClr val="000000"/>
                </a:solidFill>
                <a:latin typeface="Arial" pitchFamily="34" charset="0"/>
                <a:ea typeface="Arial" pitchFamily="34" charset="-122"/>
                <a:cs typeface="Arial" pitchFamily="34" charset="-120"/>
              </a:rPr>
              <a:t>Risk scoring</a:t>
            </a:r>
            <a:endParaRPr lang="en-US" sz="1600" dirty="0"/>
          </a:p>
        </p:txBody>
      </p:sp>
      <p:sp>
        <p:nvSpPr>
          <p:cNvPr id="17" name="Text 15"/>
          <p:cNvSpPr txBox="1"/>
          <p:nvPr/>
        </p:nvSpPr>
        <p:spPr>
          <a:xfrm>
            <a:off x="8325917" y="2468880"/>
            <a:ext cx="3088538" cy="914400"/>
          </a:xfrm>
          <a:prstGeom prst="rect">
            <a:avLst/>
          </a:prstGeom>
          <a:noFill/>
          <a:ln/>
        </p:spPr>
        <p:txBody>
          <a:bodyPr wrap="square" lIns="0" tIns="0" rIns="0" bIns="0" rtlCol="0" anchor="t"/>
          <a:lstStyle/>
          <a:p>
            <a:pPr indent="0" marL="0">
              <a:buNone/>
            </a:pPr>
            <a:r>
              <a:rPr lang="en-US" sz="1150" dirty="0">
                <a:solidFill>
                  <a:srgbClr val="53565A"/>
                </a:solidFill>
                <a:latin typeface="Arial" pitchFamily="34" charset="0"/>
                <a:ea typeface="Arial" pitchFamily="34" charset="-122"/>
                <a:cs typeface="Arial" pitchFamily="34" charset="-120"/>
              </a:rPr>
              <a:t>Risk Scoring for Security Exposure Management: one way to score risk across exposure types.</a:t>
            </a:r>
            <a:endParaRPr lang="en-US" sz="1150" dirty="0"/>
          </a:p>
        </p:txBody>
      </p:sp>
      <p:sp>
        <p:nvSpPr>
          <p:cNvPr id="18" name="Text 16"/>
          <p:cNvSpPr txBox="1"/>
          <p:nvPr/>
        </p:nvSpPr>
        <p:spPr>
          <a:xfrm>
            <a:off x="8325917" y="3410712"/>
            <a:ext cx="3088538" cy="256032"/>
          </a:xfrm>
          <a:prstGeom prst="rect">
            <a:avLst/>
          </a:prstGeom>
          <a:noFill/>
          <a:ln/>
        </p:spPr>
        <p:txBody>
          <a:bodyPr wrap="square" lIns="0" tIns="0" rIns="0" bIns="0" rtlCol="0" anchor="t"/>
          <a:lstStyle/>
          <a:p>
            <a:pPr indent="0" marL="0">
              <a:buNone/>
            </a:pPr>
            <a:r>
              <a:rPr lang="en-US" sz="950" dirty="0">
                <a:solidFill>
                  <a:srgbClr val="26890D"/>
                </a:solidFill>
                <a:latin typeface="Courier New" pitchFamily="34" charset="0"/>
                <a:ea typeface="Courier New" pitchFamily="34" charset="-122"/>
                <a:cs typeface="Courier New" pitchFamily="34" charset="-120"/>
              </a:rPr>
              <a:t>sn_sec_calculator</a:t>
            </a:r>
            <a:endParaRPr lang="en-US" sz="950" dirty="0"/>
          </a:p>
        </p:txBody>
      </p:sp>
      <p:sp>
        <p:nvSpPr>
          <p:cNvPr id="19" name="Shape 17"/>
          <p:cNvSpPr/>
          <p:nvPr/>
        </p:nvSpPr>
        <p:spPr>
          <a:xfrm>
            <a:off x="548640" y="3950208"/>
            <a:ext cx="3545738" cy="1874520"/>
          </a:xfrm>
          <a:prstGeom prst="rect">
            <a:avLst/>
          </a:prstGeom>
          <a:solidFill>
            <a:srgbClr val="F2F2F2"/>
          </a:solidFill>
          <a:ln w="12700">
            <a:solidFill>
              <a:srgbClr val="F2F2F2"/>
            </a:solidFill>
            <a:prstDash val="solid"/>
          </a:ln>
        </p:spPr>
      </p:sp>
      <p:sp>
        <p:nvSpPr>
          <p:cNvPr id="20" name="Text 18"/>
          <p:cNvSpPr txBox="1"/>
          <p:nvPr/>
        </p:nvSpPr>
        <p:spPr>
          <a:xfrm>
            <a:off x="777240" y="4133088"/>
            <a:ext cx="3088538" cy="347472"/>
          </a:xfrm>
          <a:prstGeom prst="rect">
            <a:avLst/>
          </a:prstGeom>
          <a:noFill/>
          <a:ln/>
        </p:spPr>
        <p:txBody>
          <a:bodyPr wrap="square" lIns="0" tIns="0" rIns="0" bIns="0" rtlCol="0" anchor="t"/>
          <a:lstStyle/>
          <a:p>
            <a:pPr indent="0" marL="0">
              <a:buNone/>
            </a:pPr>
            <a:r>
              <a:rPr lang="en-US" sz="1600" b="1" dirty="0">
                <a:solidFill>
                  <a:srgbClr val="000000"/>
                </a:solidFill>
                <a:latin typeface="Arial" pitchFamily="34" charset="0"/>
                <a:ea typeface="Arial" pitchFamily="34" charset="-122"/>
                <a:cs typeface="Arial" pitchFamily="34" charset="-120"/>
              </a:rPr>
              <a:t>Exceptions</a:t>
            </a:r>
            <a:endParaRPr lang="en-US" sz="1600" dirty="0"/>
          </a:p>
        </p:txBody>
      </p:sp>
      <p:sp>
        <p:nvSpPr>
          <p:cNvPr id="21" name="Text 19"/>
          <p:cNvSpPr txBox="1"/>
          <p:nvPr/>
        </p:nvSpPr>
        <p:spPr>
          <a:xfrm>
            <a:off x="777240" y="4544568"/>
            <a:ext cx="3088538" cy="914400"/>
          </a:xfrm>
          <a:prstGeom prst="rect">
            <a:avLst/>
          </a:prstGeom>
          <a:noFill/>
          <a:ln/>
        </p:spPr>
        <p:txBody>
          <a:bodyPr wrap="square" lIns="0" tIns="0" rIns="0" bIns="0" rtlCol="0" anchor="t"/>
          <a:lstStyle/>
          <a:p>
            <a:pPr indent="0" marL="0">
              <a:buNone/>
            </a:pPr>
            <a:r>
              <a:rPr lang="en-US" sz="1150" dirty="0">
                <a:solidFill>
                  <a:srgbClr val="53565A"/>
                </a:solidFill>
                <a:latin typeface="Arial" pitchFamily="34" charset="0"/>
                <a:ea typeface="Arial" pitchFamily="34" charset="-122"/>
                <a:cs typeface="Arial" pitchFamily="34" charset="-120"/>
              </a:rPr>
              <a:t>Exception Management for USEM: one route for exceptions and deferrals, whatever the finding type.</a:t>
            </a:r>
            <a:endParaRPr lang="en-US" sz="1150" dirty="0"/>
          </a:p>
        </p:txBody>
      </p:sp>
      <p:sp>
        <p:nvSpPr>
          <p:cNvPr id="22" name="Text 20"/>
          <p:cNvSpPr txBox="1"/>
          <p:nvPr/>
        </p:nvSpPr>
        <p:spPr>
          <a:xfrm>
            <a:off x="777240" y="5486400"/>
            <a:ext cx="3088538" cy="256032"/>
          </a:xfrm>
          <a:prstGeom prst="rect">
            <a:avLst/>
          </a:prstGeom>
          <a:noFill/>
          <a:ln/>
        </p:spPr>
        <p:txBody>
          <a:bodyPr wrap="square" lIns="0" tIns="0" rIns="0" bIns="0" rtlCol="0" anchor="t"/>
          <a:lstStyle/>
          <a:p>
            <a:pPr indent="0" marL="0">
              <a:buNone/>
            </a:pPr>
            <a:r>
              <a:rPr lang="en-US" sz="950" dirty="0">
                <a:solidFill>
                  <a:srgbClr val="26890D"/>
                </a:solidFill>
                <a:latin typeface="Courier New" pitchFamily="34" charset="0"/>
                <a:ea typeface="Courier New" pitchFamily="34" charset="-122"/>
                <a:cs typeface="Courier New" pitchFamily="34" charset="-120"/>
              </a:rPr>
              <a:t>sn_sec_exception</a:t>
            </a:r>
            <a:endParaRPr lang="en-US" sz="950" dirty="0"/>
          </a:p>
        </p:txBody>
      </p:sp>
      <p:sp>
        <p:nvSpPr>
          <p:cNvPr id="23" name="Shape 21"/>
          <p:cNvSpPr/>
          <p:nvPr/>
        </p:nvSpPr>
        <p:spPr>
          <a:xfrm>
            <a:off x="4322978" y="3950208"/>
            <a:ext cx="3545738" cy="1874520"/>
          </a:xfrm>
          <a:prstGeom prst="rect">
            <a:avLst/>
          </a:prstGeom>
          <a:solidFill>
            <a:srgbClr val="F2F2F2"/>
          </a:solidFill>
          <a:ln w="12700">
            <a:solidFill>
              <a:srgbClr val="F2F2F2"/>
            </a:solidFill>
            <a:prstDash val="solid"/>
          </a:ln>
        </p:spPr>
      </p:sp>
      <p:sp>
        <p:nvSpPr>
          <p:cNvPr id="24" name="Text 22"/>
          <p:cNvSpPr txBox="1"/>
          <p:nvPr/>
        </p:nvSpPr>
        <p:spPr>
          <a:xfrm>
            <a:off x="4551578" y="4133088"/>
            <a:ext cx="3088538" cy="347472"/>
          </a:xfrm>
          <a:prstGeom prst="rect">
            <a:avLst/>
          </a:prstGeom>
          <a:noFill/>
          <a:ln/>
        </p:spPr>
        <p:txBody>
          <a:bodyPr wrap="square" lIns="0" tIns="0" rIns="0" bIns="0" rtlCol="0" anchor="t"/>
          <a:lstStyle/>
          <a:p>
            <a:pPr indent="0" marL="0">
              <a:buNone/>
            </a:pPr>
            <a:r>
              <a:rPr lang="en-US" sz="1600" b="1" dirty="0">
                <a:solidFill>
                  <a:srgbClr val="000000"/>
                </a:solidFill>
                <a:latin typeface="Arial" pitchFamily="34" charset="0"/>
                <a:ea typeface="Arial" pitchFamily="34" charset="-122"/>
                <a:cs typeface="Arial" pitchFamily="34" charset="-120"/>
              </a:rPr>
              <a:t>Remediation</a:t>
            </a:r>
            <a:endParaRPr lang="en-US" sz="1600" dirty="0"/>
          </a:p>
        </p:txBody>
      </p:sp>
      <p:sp>
        <p:nvSpPr>
          <p:cNvPr id="25" name="Text 23"/>
          <p:cNvSpPr txBox="1"/>
          <p:nvPr/>
        </p:nvSpPr>
        <p:spPr>
          <a:xfrm>
            <a:off x="4551578" y="4544568"/>
            <a:ext cx="3088538" cy="914400"/>
          </a:xfrm>
          <a:prstGeom prst="rect">
            <a:avLst/>
          </a:prstGeom>
          <a:noFill/>
          <a:ln/>
        </p:spPr>
        <p:txBody>
          <a:bodyPr wrap="square" lIns="0" tIns="0" rIns="0" bIns="0" rtlCol="0" anchor="t"/>
          <a:lstStyle/>
          <a:p>
            <a:pPr indent="0" marL="0">
              <a:buNone/>
            </a:pPr>
            <a:r>
              <a:rPr lang="en-US" sz="1150" dirty="0">
                <a:solidFill>
                  <a:srgbClr val="53565A"/>
                </a:solidFill>
                <a:latin typeface="Arial" pitchFamily="34" charset="0"/>
                <a:ea typeface="Arial" pitchFamily="34" charset="-122"/>
                <a:cs typeface="Arial" pitchFamily="34" charset="-120"/>
              </a:rPr>
              <a:t>Remediation for Security Exposure Management: shared remediation handling across types.</a:t>
            </a:r>
            <a:endParaRPr lang="en-US" sz="1150" dirty="0"/>
          </a:p>
        </p:txBody>
      </p:sp>
      <p:sp>
        <p:nvSpPr>
          <p:cNvPr id="26" name="Text 24"/>
          <p:cNvSpPr txBox="1"/>
          <p:nvPr/>
        </p:nvSpPr>
        <p:spPr>
          <a:xfrm>
            <a:off x="4551578" y="5486400"/>
            <a:ext cx="3088538" cy="256032"/>
          </a:xfrm>
          <a:prstGeom prst="rect">
            <a:avLst/>
          </a:prstGeom>
          <a:noFill/>
          <a:ln/>
        </p:spPr>
        <p:txBody>
          <a:bodyPr wrap="square" lIns="0" tIns="0" rIns="0" bIns="0" rtlCol="0" anchor="t"/>
          <a:lstStyle/>
          <a:p>
            <a:pPr indent="0" marL="0">
              <a:buNone/>
            </a:pPr>
            <a:r>
              <a:rPr lang="en-US" sz="950" dirty="0">
                <a:solidFill>
                  <a:srgbClr val="26890D"/>
                </a:solidFill>
                <a:latin typeface="Courier New" pitchFamily="34" charset="0"/>
                <a:ea typeface="Courier New" pitchFamily="34" charset="-122"/>
                <a:cs typeface="Courier New" pitchFamily="34" charset="-120"/>
              </a:rPr>
              <a:t>sn_sec_rem</a:t>
            </a:r>
            <a:endParaRPr lang="en-US" sz="950" dirty="0"/>
          </a:p>
        </p:txBody>
      </p:sp>
      <p:sp>
        <p:nvSpPr>
          <p:cNvPr id="27" name="Shape 25"/>
          <p:cNvSpPr/>
          <p:nvPr/>
        </p:nvSpPr>
        <p:spPr>
          <a:xfrm>
            <a:off x="8097317" y="3950208"/>
            <a:ext cx="3545738" cy="1874520"/>
          </a:xfrm>
          <a:prstGeom prst="rect">
            <a:avLst/>
          </a:prstGeom>
          <a:solidFill>
            <a:srgbClr val="F2F2F2"/>
          </a:solidFill>
          <a:ln w="12700">
            <a:solidFill>
              <a:srgbClr val="F2F2F2"/>
            </a:solidFill>
            <a:prstDash val="solid"/>
          </a:ln>
        </p:spPr>
      </p:sp>
      <p:sp>
        <p:nvSpPr>
          <p:cNvPr id="28" name="Text 26"/>
          <p:cNvSpPr txBox="1"/>
          <p:nvPr/>
        </p:nvSpPr>
        <p:spPr>
          <a:xfrm>
            <a:off x="8325917" y="4133088"/>
            <a:ext cx="3088538" cy="347472"/>
          </a:xfrm>
          <a:prstGeom prst="rect">
            <a:avLst/>
          </a:prstGeom>
          <a:noFill/>
          <a:ln/>
        </p:spPr>
        <p:txBody>
          <a:bodyPr wrap="square" lIns="0" tIns="0" rIns="0" bIns="0" rtlCol="0" anchor="t"/>
          <a:lstStyle/>
          <a:p>
            <a:pPr indent="0" marL="0">
              <a:buNone/>
            </a:pPr>
            <a:r>
              <a:rPr lang="en-US" sz="1600" b="1" dirty="0">
                <a:solidFill>
                  <a:srgbClr val="000000"/>
                </a:solidFill>
                <a:latin typeface="Arial" pitchFamily="34" charset="0"/>
                <a:ea typeface="Arial" pitchFamily="34" charset="-122"/>
                <a:cs typeface="Arial" pitchFamily="34" charset="-120"/>
              </a:rPr>
              <a:t>One catalogue</a:t>
            </a:r>
            <a:endParaRPr lang="en-US" sz="1600" dirty="0"/>
          </a:p>
        </p:txBody>
      </p:sp>
      <p:sp>
        <p:nvSpPr>
          <p:cNvPr id="29" name="Text 27"/>
          <p:cNvSpPr txBox="1"/>
          <p:nvPr/>
        </p:nvSpPr>
        <p:spPr>
          <a:xfrm>
            <a:off x="8325917" y="4544568"/>
            <a:ext cx="3088538" cy="914400"/>
          </a:xfrm>
          <a:prstGeom prst="rect">
            <a:avLst/>
          </a:prstGeom>
          <a:noFill/>
          <a:ln/>
        </p:spPr>
        <p:txBody>
          <a:bodyPr wrap="square" lIns="0" tIns="0" rIns="0" bIns="0" rtlCol="0" anchor="t"/>
          <a:lstStyle/>
          <a:p>
            <a:pPr indent="0" marL="0">
              <a:buNone/>
            </a:pPr>
            <a:r>
              <a:rPr lang="en-US" sz="1150" dirty="0">
                <a:solidFill>
                  <a:srgbClr val="53565A"/>
                </a:solidFill>
                <a:latin typeface="Arial" pitchFamily="34" charset="0"/>
                <a:ea typeface="Arial" pitchFamily="34" charset="-122"/>
                <a:cs typeface="Arial" pitchFamily="34" charset="-120"/>
              </a:rPr>
              <a:t>Central Vulnerability Database: one place for vulnerability entries (CVE, CWE, scanner ids).</a:t>
            </a:r>
            <a:endParaRPr lang="en-US" sz="1150" dirty="0"/>
          </a:p>
        </p:txBody>
      </p:sp>
      <p:sp>
        <p:nvSpPr>
          <p:cNvPr id="30" name="Text 28"/>
          <p:cNvSpPr txBox="1"/>
          <p:nvPr/>
        </p:nvSpPr>
        <p:spPr>
          <a:xfrm>
            <a:off x="8325917" y="5486400"/>
            <a:ext cx="3088538" cy="256032"/>
          </a:xfrm>
          <a:prstGeom prst="rect">
            <a:avLst/>
          </a:prstGeom>
          <a:noFill/>
          <a:ln/>
        </p:spPr>
        <p:txBody>
          <a:bodyPr wrap="square" lIns="0" tIns="0" rIns="0" bIns="0" rtlCol="0" anchor="t"/>
          <a:lstStyle/>
          <a:p>
            <a:pPr indent="0" marL="0">
              <a:buNone/>
            </a:pPr>
            <a:r>
              <a:rPr lang="en-US" sz="950" dirty="0">
                <a:solidFill>
                  <a:srgbClr val="26890D"/>
                </a:solidFill>
                <a:latin typeface="Courier New" pitchFamily="34" charset="0"/>
                <a:ea typeface="Courier New" pitchFamily="34" charset="-122"/>
                <a:cs typeface="Courier New" pitchFamily="34" charset="-120"/>
              </a:rPr>
              <a:t>sn_sec_cvd</a:t>
            </a:r>
            <a:endParaRPr lang="en-US" sz="950" dirty="0"/>
          </a:p>
        </p:txBody>
      </p:sp>
      <p:sp>
        <p:nvSpPr>
          <p:cNvPr id="31" name="Text 29"/>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000" i="1" dirty="0">
                <a:solidFill>
                  <a:srgbClr val="75787B"/>
                </a:solidFill>
                <a:latin typeface="Arial" pitchFamily="34" charset="0"/>
                <a:ea typeface="Arial" pitchFamily="34" charset="-122"/>
                <a:cs typeface="Arial" pitchFamily="34" charset="-120"/>
              </a:rPr>
              <a:t>Also new as sources: Wiz for cloud and containers, and CSAF vendor advisories. Installed on the demo PDI; check the release notes of the client's version.</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000" b="1" spc="150" kern="0" dirty="0">
                <a:solidFill>
                  <a:srgbClr val="26890D"/>
                </a:solidFill>
                <a:latin typeface="Arial" pitchFamily="34" charset="0"/>
                <a:ea typeface="Arial" pitchFamily="34" charset="-122"/>
                <a:cs typeface="Arial" pitchFamily="34" charset="-120"/>
              </a:rPr>
              <a:t>7 · USEM TODAY</a:t>
            </a:r>
            <a:endParaRPr lang="en-US" sz="1000" dirty="0"/>
          </a:p>
        </p:txBody>
      </p:sp>
      <p:sp>
        <p:nvSpPr>
          <p:cNvPr id="3" name="Text 1"/>
          <p:cNvSpPr txBox="1"/>
          <p:nvPr/>
        </p:nvSpPr>
        <p:spPr>
          <a:xfrm>
            <a:off x="548640" y="566928"/>
            <a:ext cx="1109441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Demo on the PDI</a:t>
            </a:r>
            <a:pPr indent="0" marL="0">
              <a:buNone/>
            </a:pPr>
            <a:r>
              <a:rPr lang="en-US" sz="3000" b="1" dirty="0">
                <a:solidFill>
                  <a:srgbClr val="86BC25"/>
                </a:solidFill>
                <a:latin typeface="Arial" pitchFamily="34" charset="0"/>
                <a:ea typeface="Arial" pitchFamily="34" charset="-122"/>
                <a:cs typeface="Arial" pitchFamily="34" charset="-120"/>
              </a:rPr>
              <a:t>.</a:t>
            </a:r>
            <a:endParaRPr lang="en-US" sz="3000" dirty="0"/>
          </a:p>
        </p:txBody>
      </p:sp>
      <p:sp>
        <p:nvSpPr>
          <p:cNvPr id="4" name="Text 2"/>
          <p:cNvSpPr txBox="1"/>
          <p:nvPr/>
        </p:nvSpPr>
        <p:spPr>
          <a:xfrm>
            <a:off x="548640" y="1243584"/>
            <a:ext cx="11094415" cy="411480"/>
          </a:xfrm>
          <a:prstGeom prst="rect">
            <a:avLst/>
          </a:prstGeom>
          <a:noFill/>
          <a:ln/>
        </p:spPr>
        <p:txBody>
          <a:bodyPr wrap="square" lIns="0" tIns="0" rIns="0" bIns="0" rtlCol="0" anchor="t"/>
          <a:lstStyle/>
          <a:p>
            <a:pPr indent="0" marL="0">
              <a:buNone/>
            </a:pPr>
            <a:r>
              <a:rPr lang="en-US" sz="1400" dirty="0">
                <a:solidFill>
                  <a:srgbClr val="53565A"/>
                </a:solidFill>
                <a:latin typeface="Arial" pitchFamily="34" charset="0"/>
                <a:ea typeface="Arial" pitchFamily="34" charset="-122"/>
                <a:cs typeface="Arial" pitchFamily="34" charset="-120"/>
              </a:rPr>
              <a:t>Every link opens the record or list on the demo instance. Log in first.</a:t>
            </a:r>
            <a:endParaRPr lang="en-US" sz="1400" dirty="0"/>
          </a:p>
        </p:txBody>
      </p:sp>
      <p:sp>
        <p:nvSpPr>
          <p:cNvPr id="5" name="Text 3"/>
          <p:cNvSpPr txBox="1"/>
          <p:nvPr/>
        </p:nvSpPr>
        <p:spPr>
          <a:xfrm>
            <a:off x="11185855" y="6473952"/>
            <a:ext cx="457200" cy="228600"/>
          </a:xfrm>
          <a:prstGeom prst="rect">
            <a:avLst/>
          </a:prstGeom>
          <a:noFill/>
          <a:ln/>
        </p:spPr>
        <p:txBody>
          <a:bodyPr wrap="square" lIns="0" tIns="0" rIns="0" bIns="0" rtlCol="0" anchor="t"/>
          <a:lstStyle/>
          <a:p>
            <a:pPr algn="r" indent="0" marL="0">
              <a:buNone/>
            </a:pPr>
            <a:r>
              <a:rPr lang="en-US" sz="900" dirty="0">
                <a:solidFill>
                  <a:srgbClr val="75787B"/>
                </a:solidFill>
                <a:latin typeface="Arial" pitchFamily="34" charset="0"/>
                <a:ea typeface="Arial" pitchFamily="34" charset="-122"/>
                <a:cs typeface="Arial" pitchFamily="34" charset="-120"/>
              </a:rPr>
              <a:t>19</a:t>
            </a:r>
            <a:endParaRPr lang="en-US" sz="900" dirty="0"/>
          </a:p>
        </p:txBody>
      </p:sp>
      <p:sp>
        <p:nvSpPr>
          <p:cNvPr id="6" name="Text 4"/>
          <p:cNvSpPr txBox="1"/>
          <p:nvPr/>
        </p:nvSpPr>
        <p:spPr>
          <a:xfrm>
            <a:off x="548640" y="6473952"/>
            <a:ext cx="2743200" cy="228600"/>
          </a:xfrm>
          <a:prstGeom prst="rect">
            <a:avLst/>
          </a:prstGeom>
          <a:noFill/>
          <a:ln/>
        </p:spPr>
        <p:txBody>
          <a:bodyPr wrap="square" lIns="0" tIns="0" rIns="0" bIns="0" rtlCol="0" anchor="t"/>
          <a:lstStyle/>
          <a:p>
            <a:pPr indent="0" marL="0">
              <a:buNone/>
            </a:pPr>
            <a:r>
              <a:rPr lang="en-US" sz="900" dirty="0">
                <a:solidFill>
                  <a:srgbClr val="75787B"/>
                </a:solidFill>
                <a:latin typeface="Arial" pitchFamily="34" charset="0"/>
                <a:ea typeface="Arial" pitchFamily="34" charset="-122"/>
                <a:cs typeface="Arial" pitchFamily="34" charset="-120"/>
              </a:rPr>
              <a:t>VR field guide</a:t>
            </a:r>
            <a:endParaRPr lang="en-US" sz="900" dirty="0"/>
          </a:p>
        </p:txBody>
      </p:sp>
      <p:sp>
        <p:nvSpPr>
          <p:cNvPr id="7" name="Shape 5"/>
          <p:cNvSpPr/>
          <p:nvPr/>
        </p:nvSpPr>
        <p:spPr>
          <a:xfrm>
            <a:off x="548640" y="1874520"/>
            <a:ext cx="3545738" cy="4069080"/>
          </a:xfrm>
          <a:prstGeom prst="rect">
            <a:avLst/>
          </a:prstGeom>
          <a:solidFill>
            <a:srgbClr val="F2F2F2"/>
          </a:solidFill>
          <a:ln w="12700">
            <a:solidFill>
              <a:srgbClr val="F2F2F2"/>
            </a:solidFill>
            <a:prstDash val="solid"/>
          </a:ln>
        </p:spPr>
      </p:sp>
      <p:sp>
        <p:nvSpPr>
          <p:cNvPr id="8" name="Text 6"/>
          <p:cNvSpPr txBox="1"/>
          <p:nvPr/>
        </p:nvSpPr>
        <p:spPr>
          <a:xfrm>
            <a:off x="777240" y="2029968"/>
            <a:ext cx="3088538" cy="347472"/>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Workspaces</a:t>
            </a:r>
            <a:endParaRPr lang="en-US" sz="1500" dirty="0"/>
          </a:p>
        </p:txBody>
      </p:sp>
      <p:sp>
        <p:nvSpPr>
          <p:cNvPr id="9" name="Text 7"/>
          <p:cNvSpPr txBox="1"/>
          <p:nvPr/>
        </p:nvSpPr>
        <p:spPr>
          <a:xfrm>
            <a:off x="777240" y="2542032"/>
            <a:ext cx="3088538" cy="3337560"/>
          </a:xfrm>
          <a:prstGeom prst="rect">
            <a:avLst/>
          </a:prstGeom>
          <a:noFill/>
          <a:ln/>
        </p:spPr>
        <p:txBody>
          <a:bodyPr wrap="square" lIns="0" tIns="0" rIns="0" bIns="0" rtlCol="0" anchor="t"/>
          <a:lstStyle/>
          <a:p>
            <a:pPr marL="342900" indent="-342900">
              <a:spcAft>
                <a:spcPts val="1100"/>
              </a:spcAft>
              <a:buSzPct val="100000"/>
              <a:buChar char="●"/>
            </a:pPr>
            <a:r>
              <a:rPr lang="en-US" sz="1300" u="sng" dirty="0">
                <a:solidFill>
                  <a:srgbClr val="007CB0"/>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IT Remediation Workspace</a:t>
            </a:r>
            <a:endParaRPr lang="en-US" sz="1300" dirty="0"/>
          </a:p>
          <a:p>
            <a:pPr marL="342900" indent="-342900">
              <a:spcAft>
                <a:spcPts val="1100"/>
              </a:spcAft>
              <a:buSzPct val="100000"/>
              <a:buChar char="●"/>
            </a:pPr>
            <a:r>
              <a:rPr lang="en-US" sz="1300" u="sng" dirty="0">
                <a:solidFill>
                  <a:srgbClr val="007CB0"/>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Security Exposure Management</a:t>
            </a:r>
            <a:endParaRPr lang="en-US" sz="1300" dirty="0"/>
          </a:p>
          <a:p>
            <a:pPr marL="342900" indent="-342900">
              <a:spcAft>
                <a:spcPts val="1100"/>
              </a:spcAft>
              <a:buSzPct val="100000"/>
              <a:buChar char="●"/>
            </a:pPr>
            <a:r>
              <a:rPr lang="en-US" sz="1300" u="sng" dirty="0">
                <a:solidFill>
                  <a:srgbClr val="007CB0"/>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CMDB Workspace</a:t>
            </a:r>
            <a:endParaRPr lang="en-US" sz="1300" dirty="0"/>
          </a:p>
          <a:p>
            <a:pPr marL="342900" indent="-342900">
              <a:spcAft>
                <a:spcPts val="1100"/>
              </a:spcAft>
              <a:buSzPct val="100000"/>
              <a:buChar char="●"/>
            </a:pPr>
            <a:r>
              <a:rPr lang="en-US" sz="1300" u="sng" dirty="0">
                <a:solidFill>
                  <a:srgbClr val="007CB0"/>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Integrations (sources)</a:t>
            </a:r>
            <a:endParaRPr lang="en-US" sz="1300" dirty="0"/>
          </a:p>
          <a:p>
            <a:pPr marL="342900" indent="-342900">
              <a:spcAft>
                <a:spcPts val="1100"/>
              </a:spcAft>
              <a:buSzPct val="100000"/>
              <a:buChar char="●"/>
            </a:pPr>
            <a:r>
              <a:rPr lang="en-US" sz="1300" u="sng" dirty="0">
                <a:solidFill>
                  <a:srgbClr val="007CB0"/>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Qualys host detection integration</a:t>
            </a:r>
            <a:endParaRPr lang="en-US" sz="1300" dirty="0"/>
          </a:p>
        </p:txBody>
      </p:sp>
      <p:sp>
        <p:nvSpPr>
          <p:cNvPr id="10" name="Shape 8"/>
          <p:cNvSpPr/>
          <p:nvPr/>
        </p:nvSpPr>
        <p:spPr>
          <a:xfrm>
            <a:off x="4322978" y="1874520"/>
            <a:ext cx="3545738" cy="4069080"/>
          </a:xfrm>
          <a:prstGeom prst="rect">
            <a:avLst/>
          </a:prstGeom>
          <a:solidFill>
            <a:srgbClr val="F2F2F2"/>
          </a:solidFill>
          <a:ln w="12700">
            <a:solidFill>
              <a:srgbClr val="F2F2F2"/>
            </a:solidFill>
            <a:prstDash val="solid"/>
          </a:ln>
        </p:spPr>
      </p:sp>
      <p:sp>
        <p:nvSpPr>
          <p:cNvPr id="11" name="Text 9"/>
          <p:cNvSpPr txBox="1"/>
          <p:nvPr/>
        </p:nvSpPr>
        <p:spPr>
          <a:xfrm>
            <a:off x="4551578" y="2029968"/>
            <a:ext cx="3088538" cy="347472"/>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From scan to CI</a:t>
            </a:r>
            <a:endParaRPr lang="en-US" sz="1500" dirty="0"/>
          </a:p>
        </p:txBody>
      </p:sp>
      <p:sp>
        <p:nvSpPr>
          <p:cNvPr id="12" name="Text 10"/>
          <p:cNvSpPr txBox="1"/>
          <p:nvPr/>
        </p:nvSpPr>
        <p:spPr>
          <a:xfrm>
            <a:off x="4551578" y="2542032"/>
            <a:ext cx="3088538" cy="3337560"/>
          </a:xfrm>
          <a:prstGeom prst="rect">
            <a:avLst/>
          </a:prstGeom>
          <a:noFill/>
          <a:ln/>
        </p:spPr>
        <p:txBody>
          <a:bodyPr wrap="square" lIns="0" tIns="0" rIns="0" bIns="0" rtlCol="0" anchor="t"/>
          <a:lstStyle/>
          <a:p>
            <a:pPr marL="342900" indent="-342900">
              <a:spcAft>
                <a:spcPts val="1100"/>
              </a:spcAft>
              <a:buSzPct val="100000"/>
              <a:buChar char="●"/>
            </a:pPr>
            <a:r>
              <a:rPr lang="en-US" sz="1300" u="sng" dirty="0">
                <a:solidFill>
                  <a:srgbClr val="007CB0"/>
                </a:solidFill>
                <a:latin typeface="Arial" pitchFamily="34" charset="0"/>
                <a:ea typeface="Arial" pitchFamily="34" charset="-122"/>
                <a:cs typeface="Arial" pitchFamily="34" charset="-120"/>
                <a:hlinkClick r:id="rId6" invalidUrl="" action="" tgtFrame="" tooltip="" history="1" highlightClick="0" endSnd="0">
                  <a:extLst>
                    <a:ext uri="{A12FA001-AC4F-418D-AE19-62706E023703}">
                      <ahyp:hlinkClr xmlns:ahyp="http://schemas.microsoft.com/office/drawing/2018/hyperlinkcolor" val="tx"/>
                    </a:ext>
                  </a:extLst>
                </a:hlinkClick>
              </a:rPr>
              <a:t>Qualys lookup rules, in order</a:t>
            </a:r>
            <a:endParaRPr lang="en-US" sz="1300" dirty="0"/>
          </a:p>
          <a:p>
            <a:pPr marL="342900" indent="-342900">
              <a:spcAft>
                <a:spcPts val="1100"/>
              </a:spcAft>
              <a:buSzPct val="100000"/>
              <a:buChar char="●"/>
            </a:pPr>
            <a:r>
              <a:rPr lang="en-US" sz="1300" u="sng" dirty="0">
                <a:solidFill>
                  <a:srgbClr val="007CB0"/>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Unmatched discovered items</a:t>
            </a:r>
            <a:endParaRPr lang="en-US" sz="1300" dirty="0"/>
          </a:p>
          <a:p>
            <a:pPr marL="342900" indent="-342900">
              <a:spcAft>
                <a:spcPts val="1100"/>
              </a:spcAft>
              <a:buSzPct val="100000"/>
              <a:buChar char="●"/>
            </a:pPr>
            <a:r>
              <a:rPr lang="en-US" sz="1300" u="sng" dirty="0">
                <a:solidFill>
                  <a:srgbClr val="007CB0"/>
                </a:solidFill>
                <a:latin typeface="Arial" pitchFamily="34" charset="0"/>
                <a:ea typeface="Arial" pitchFamily="34" charset="-122"/>
                <a:cs typeface="Arial" pitchFamily="34" charset="-120"/>
                <a:hlinkClick r:id="rId8" invalidUrl="" action="" tgtFrame="" tooltip="" history="1" highlightClick="0" endSnd="0">
                  <a:extLst>
                    <a:ext uri="{A12FA001-AC4F-418D-AE19-62706E023703}">
                      <ahyp:hlinkClr xmlns:ahyp="http://schemas.microsoft.com/office/drawing/2018/hyperlinkcolor" val="tx"/>
                    </a:ext>
                  </a:extLst>
                </a:hlinkClick>
              </a:rPr>
              <a:t>A matched item (virtual IP)</a:t>
            </a:r>
            <a:endParaRPr lang="en-US" sz="1300" dirty="0"/>
          </a:p>
          <a:p>
            <a:pPr marL="342900" indent="-342900">
              <a:spcAft>
                <a:spcPts val="1100"/>
              </a:spcAft>
              <a:buSzPct val="100000"/>
              <a:buChar char="●"/>
            </a:pPr>
            <a:r>
              <a:rPr lang="en-US" sz="1300" u="sng" dirty="0">
                <a:solidFill>
                  <a:srgbClr val="007CB0"/>
                </a:solidFill>
                <a:latin typeface="Arial" pitchFamily="34" charset="0"/>
                <a:ea typeface="Arial" pitchFamily="34" charset="-122"/>
                <a:cs typeface="Arial" pitchFamily="34" charset="-120"/>
                <a:hlinkClick r:id="rId9" invalidUrl="" action="" tgtFrame="" tooltip="" history="1" highlightClick="0" endSnd="0">
                  <a:extLst>
                    <a:ext uri="{A12FA001-AC4F-418D-AE19-62706E023703}">
                      <ahyp:hlinkClr xmlns:ahyp="http://schemas.microsoft.com/office/drawing/2018/hyperlinkcolor" val="tx"/>
                    </a:ext>
                  </a:extLst>
                </a:hlinkClick>
              </a:rPr>
              <a:t>VR properties (ignore list, IRE)</a:t>
            </a:r>
            <a:endParaRPr lang="en-US" sz="1300" dirty="0"/>
          </a:p>
          <a:p>
            <a:pPr marL="342900" indent="-342900">
              <a:spcAft>
                <a:spcPts val="1100"/>
              </a:spcAft>
              <a:buSzPct val="100000"/>
              <a:buChar char="●"/>
            </a:pPr>
            <a:r>
              <a:rPr lang="en-US" sz="1300" u="sng" dirty="0">
                <a:solidFill>
                  <a:srgbClr val="007CB0"/>
                </a:solidFill>
                <a:latin typeface="Arial" pitchFamily="34" charset="0"/>
                <a:ea typeface="Arial" pitchFamily="34" charset="-122"/>
                <a:cs typeface="Arial" pitchFamily="34" charset="-120"/>
                <a:hlinkClick r:id="rId10" invalidUrl="" action="" tgtFrame="" tooltip="" history="1" highlightClick="0" endSnd="0">
                  <a:extLst>
                    <a:ext uri="{A12FA001-AC4F-418D-AE19-62706E023703}">
                      <ahyp:hlinkClr xmlns:ahyp="http://schemas.microsoft.com/office/drawing/2018/hyperlinkcolor" val="tx"/>
                    </a:ext>
                  </a:extLst>
                </a:hlinkClick>
              </a:rPr>
              <a:t>IRE identification rules</a:t>
            </a:r>
            <a:endParaRPr lang="en-US" sz="1300" dirty="0"/>
          </a:p>
          <a:p>
            <a:pPr marL="342900" indent="-342900">
              <a:spcAft>
                <a:spcPts val="1100"/>
              </a:spcAft>
              <a:buSzPct val="100000"/>
              <a:buChar char="●"/>
            </a:pPr>
            <a:r>
              <a:rPr lang="en-US" sz="1300" u="sng" dirty="0">
                <a:solidFill>
                  <a:srgbClr val="007CB0"/>
                </a:solidFill>
                <a:latin typeface="Arial" pitchFamily="34" charset="0"/>
                <a:ea typeface="Arial" pitchFamily="34" charset="-122"/>
                <a:cs typeface="Arial" pitchFamily="34" charset="-120"/>
                <a:hlinkClick r:id="rId11" invalidUrl="" action="" tgtFrame="" tooltip="" history="1" highlightClick="0" endSnd="0">
                  <a:extLst>
                    <a:ext uri="{A12FA001-AC4F-418D-AE19-62706E023703}">
                      <ahyp:hlinkClr xmlns:ahyp="http://schemas.microsoft.com/office/drawing/2018/hyperlinkcolor" val="tx"/>
                    </a:ext>
                  </a:extLst>
                </a:hlinkClick>
              </a:rPr>
              <a:t>Load balancer services</a:t>
            </a:r>
            <a:endParaRPr lang="en-US" sz="1300" dirty="0"/>
          </a:p>
          <a:p>
            <a:pPr marL="342900" indent="-342900">
              <a:spcAft>
                <a:spcPts val="1100"/>
              </a:spcAft>
              <a:buSzPct val="100000"/>
              <a:buChar char="●"/>
            </a:pPr>
            <a:r>
              <a:rPr lang="en-US" sz="1300" u="sng" dirty="0">
                <a:solidFill>
                  <a:srgbClr val="007CB0"/>
                </a:solidFill>
                <a:latin typeface="Arial" pitchFamily="34" charset="0"/>
                <a:ea typeface="Arial" pitchFamily="34" charset="-122"/>
                <a:cs typeface="Arial" pitchFamily="34" charset="-120"/>
                <a:hlinkClick r:id="rId12" invalidUrl="" action="" tgtFrame="" tooltip="" history="1" highlightClick="0" endSnd="0">
                  <a:extLst>
                    <a:ext uri="{A12FA001-AC4F-418D-AE19-62706E023703}">
                      <ahyp:hlinkClr xmlns:ahyp="http://schemas.microsoft.com/office/drawing/2018/hyperlinkcolor" val="tx"/>
                    </a:ext>
                  </a:extLst>
                </a:hlinkClick>
              </a:rPr>
              <a:t>Pool members</a:t>
            </a:r>
            <a:endParaRPr lang="en-US" sz="1300" dirty="0"/>
          </a:p>
          <a:p>
            <a:pPr marL="342900" indent="-342900">
              <a:spcAft>
                <a:spcPts val="1100"/>
              </a:spcAft>
              <a:buSzPct val="100000"/>
              <a:buChar char="●"/>
            </a:pPr>
            <a:r>
              <a:rPr lang="en-US" sz="1300" u="sng" dirty="0">
                <a:solidFill>
                  <a:srgbClr val="007CB0"/>
                </a:solidFill>
                <a:latin typeface="Arial" pitchFamily="34" charset="0"/>
                <a:ea typeface="Arial" pitchFamily="34" charset="-122"/>
                <a:cs typeface="Arial" pitchFamily="34" charset="-120"/>
                <a:hlinkClick r:id="rId13" invalidUrl="" action="" tgtFrame="" tooltip="" history="1" highlightClick="0" endSnd="0">
                  <a:extLst>
                    <a:ext uri="{A12FA001-AC4F-418D-AE19-62706E023703}">
                      <ahyp:hlinkClr xmlns:ahyp="http://schemas.microsoft.com/office/drawing/2018/hyperlinkcolor" val="tx"/>
                    </a:ext>
                  </a:extLst>
                </a:hlinkClick>
              </a:rPr>
              <a:t>Network adapters</a:t>
            </a:r>
            <a:endParaRPr lang="en-US" sz="1300" dirty="0"/>
          </a:p>
        </p:txBody>
      </p:sp>
      <p:sp>
        <p:nvSpPr>
          <p:cNvPr id="13" name="Shape 11"/>
          <p:cNvSpPr/>
          <p:nvPr/>
        </p:nvSpPr>
        <p:spPr>
          <a:xfrm>
            <a:off x="8097317" y="1874520"/>
            <a:ext cx="3545738" cy="4069080"/>
          </a:xfrm>
          <a:prstGeom prst="rect">
            <a:avLst/>
          </a:prstGeom>
          <a:solidFill>
            <a:srgbClr val="F2F2F2"/>
          </a:solidFill>
          <a:ln w="12700">
            <a:solidFill>
              <a:srgbClr val="F2F2F2"/>
            </a:solidFill>
            <a:prstDash val="solid"/>
          </a:ln>
        </p:spPr>
      </p:sp>
      <p:sp>
        <p:nvSpPr>
          <p:cNvPr id="14" name="Text 12"/>
          <p:cNvSpPr txBox="1"/>
          <p:nvPr/>
        </p:nvSpPr>
        <p:spPr>
          <a:xfrm>
            <a:off x="8325917" y="2029968"/>
            <a:ext cx="3088538" cy="347472"/>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Findings and intelligence</a:t>
            </a:r>
            <a:endParaRPr lang="en-US" sz="1500" dirty="0"/>
          </a:p>
        </p:txBody>
      </p:sp>
      <p:sp>
        <p:nvSpPr>
          <p:cNvPr id="15" name="Text 13"/>
          <p:cNvSpPr txBox="1"/>
          <p:nvPr/>
        </p:nvSpPr>
        <p:spPr>
          <a:xfrm>
            <a:off x="8325917" y="2542032"/>
            <a:ext cx="3088538" cy="3337560"/>
          </a:xfrm>
          <a:prstGeom prst="rect">
            <a:avLst/>
          </a:prstGeom>
          <a:noFill/>
          <a:ln/>
        </p:spPr>
        <p:txBody>
          <a:bodyPr wrap="square" lIns="0" tIns="0" rIns="0" bIns="0" rtlCol="0" anchor="t"/>
          <a:lstStyle/>
          <a:p>
            <a:pPr marL="342900" indent="-342900">
              <a:spcAft>
                <a:spcPts val="1100"/>
              </a:spcAft>
              <a:buSzPct val="100000"/>
              <a:buChar char="●"/>
            </a:pPr>
            <a:r>
              <a:rPr lang="en-US" sz="1300" u="sng" dirty="0">
                <a:solidFill>
                  <a:srgbClr val="007CB0"/>
                </a:solidFill>
                <a:latin typeface="Arial" pitchFamily="34" charset="0"/>
                <a:ea typeface="Arial" pitchFamily="34" charset="-122"/>
                <a:cs typeface="Arial" pitchFamily="34" charset="-120"/>
                <a:hlinkClick r:id="rId14" invalidUrl="" action="" tgtFrame="" tooltip="" history="1" highlightClick="0" endSnd="0">
                  <a:extLst>
                    <a:ext uri="{A12FA001-AC4F-418D-AE19-62706E023703}">
                      <ahyp:hlinkClr xmlns:ahyp="http://schemas.microsoft.com/office/drawing/2018/hyperlinkcolor" val="tx"/>
                    </a:ext>
                  </a:extLst>
                </a:hlinkClick>
              </a:rPr>
              <a:t>Log4Shell (CVE-2021-44228)</a:t>
            </a:r>
            <a:endParaRPr lang="en-US" sz="1300" dirty="0"/>
          </a:p>
          <a:p>
            <a:pPr marL="342900" indent="-342900">
              <a:spcAft>
                <a:spcPts val="1100"/>
              </a:spcAft>
              <a:buSzPct val="100000"/>
              <a:buChar char="●"/>
            </a:pPr>
            <a:r>
              <a:rPr lang="en-US" sz="1300" u="sng" dirty="0">
                <a:solidFill>
                  <a:srgbClr val="007CB0"/>
                </a:solidFill>
                <a:latin typeface="Arial" pitchFamily="34" charset="0"/>
                <a:ea typeface="Arial" pitchFamily="34" charset="-122"/>
                <a:cs typeface="Arial" pitchFamily="34" charset="-120"/>
                <a:hlinkClick r:id="rId15" invalidUrl="" action="" tgtFrame="" tooltip="" history="1" highlightClick="0" endSnd="0">
                  <a:extLst>
                    <a:ext uri="{A12FA001-AC4F-418D-AE19-62706E023703}">
                      <ahyp:hlinkClr xmlns:ahyp="http://schemas.microsoft.com/office/drawing/2018/hyperlinkcolor" val="tx"/>
                    </a:ext>
                  </a:extLst>
                </a:hlinkClick>
              </a:rPr>
              <a:t>CWE-79 cross-site scripting</a:t>
            </a:r>
            <a:endParaRPr lang="en-US" sz="1300" dirty="0"/>
          </a:p>
          <a:p>
            <a:pPr marL="342900" indent="-342900">
              <a:spcAft>
                <a:spcPts val="1100"/>
              </a:spcAft>
              <a:buSzPct val="100000"/>
              <a:buChar char="●"/>
            </a:pPr>
            <a:r>
              <a:rPr lang="en-US" sz="1300" u="sng" dirty="0">
                <a:solidFill>
                  <a:srgbClr val="007CB0"/>
                </a:solidFill>
                <a:latin typeface="Arial" pitchFamily="34" charset="0"/>
                <a:ea typeface="Arial" pitchFamily="34" charset="-122"/>
                <a:cs typeface="Arial" pitchFamily="34" charset="-120"/>
                <a:hlinkClick r:id="rId16" invalidUrl="" action="" tgtFrame="" tooltip="" history="1" highlightClick="0" endSnd="0">
                  <a:extLst>
                    <a:ext uri="{A12FA001-AC4F-418D-AE19-62706E023703}">
                      <ahyp:hlinkClr xmlns:ahyp="http://schemas.microsoft.com/office/drawing/2018/hyperlinkcolor" val="tx"/>
                    </a:ext>
                  </a:extLst>
                </a:hlinkClick>
              </a:rPr>
              <a:t>CWE-502 deserialization</a:t>
            </a:r>
            <a:endParaRPr lang="en-US" sz="1300" dirty="0"/>
          </a:p>
          <a:p>
            <a:pPr marL="342900" indent="-342900">
              <a:spcAft>
                <a:spcPts val="1100"/>
              </a:spcAft>
              <a:buSzPct val="100000"/>
              <a:buChar char="●"/>
            </a:pPr>
            <a:r>
              <a:rPr lang="en-US" sz="1300" u="sng" dirty="0">
                <a:solidFill>
                  <a:srgbClr val="007CB0"/>
                </a:solidFill>
                <a:latin typeface="Arial" pitchFamily="34" charset="0"/>
                <a:ea typeface="Arial" pitchFamily="34" charset="-122"/>
                <a:cs typeface="Arial" pitchFamily="34" charset="-120"/>
                <a:hlinkClick r:id="rId17" invalidUrl="" action="" tgtFrame="" tooltip="" history="1" highlightClick="0" endSnd="0">
                  <a:extLst>
                    <a:ext uri="{A12FA001-AC4F-418D-AE19-62706E023703}">
                      <ahyp:hlinkClr xmlns:ahyp="http://schemas.microsoft.com/office/drawing/2018/hyperlinkcolor" val="tx"/>
                    </a:ext>
                  </a:extLst>
                </a:hlinkClick>
              </a:rPr>
              <a:t>AVIT with a CWE (Veracode)</a:t>
            </a:r>
            <a:endParaRPr lang="en-US" sz="1300" dirty="0"/>
          </a:p>
          <a:p>
            <a:pPr marL="342900" indent="-342900">
              <a:spcAft>
                <a:spcPts val="1100"/>
              </a:spcAft>
              <a:buSzPct val="100000"/>
              <a:buChar char="●"/>
            </a:pPr>
            <a:r>
              <a:rPr lang="en-US" sz="1300" u="sng" dirty="0">
                <a:solidFill>
                  <a:srgbClr val="007CB0"/>
                </a:solidFill>
                <a:latin typeface="Arial" pitchFamily="34" charset="0"/>
                <a:ea typeface="Arial" pitchFamily="34" charset="-122"/>
                <a:cs typeface="Arial" pitchFamily="34" charset="-120"/>
                <a:hlinkClick r:id="rId18" invalidUrl="" action="" tgtFrame="" tooltip="" history="1" highlightClick="0" endSnd="0">
                  <a:extLst>
                    <a:ext uri="{A12FA001-AC4F-418D-AE19-62706E023703}">
                      <ahyp:hlinkClr xmlns:ahyp="http://schemas.microsoft.com/office/drawing/2018/hyperlinkcolor" val="tx"/>
                    </a:ext>
                  </a:extLst>
                </a:hlinkClick>
              </a:rPr>
              <a:t>Open vulnerable items</a:t>
            </a:r>
            <a:endParaRPr lang="en-US" sz="1300" dirty="0"/>
          </a:p>
          <a:p>
            <a:pPr marL="342900" indent="-342900">
              <a:spcAft>
                <a:spcPts val="1100"/>
              </a:spcAft>
              <a:buSzPct val="100000"/>
              <a:buChar char="●"/>
            </a:pPr>
            <a:r>
              <a:rPr lang="en-US" sz="1300" u="sng" dirty="0">
                <a:solidFill>
                  <a:srgbClr val="007CB0"/>
                </a:solidFill>
                <a:latin typeface="Arial" pitchFamily="34" charset="0"/>
                <a:ea typeface="Arial" pitchFamily="34" charset="-122"/>
                <a:cs typeface="Arial" pitchFamily="34" charset="-120"/>
                <a:hlinkClick r:id="rId19" invalidUrl="" action="" tgtFrame="" tooltip="" history="1" highlightClick="0" endSnd="0">
                  <a:extLst>
                    <a:ext uri="{A12FA001-AC4F-418D-AE19-62706E023703}">
                      <ahyp:hlinkClr xmlns:ahyp="http://schemas.microsoft.com/office/drawing/2018/hyperlinkcolor" val="tx"/>
                    </a:ext>
                  </a:extLst>
                </a:hlinkClick>
              </a:rPr>
              <a:t>Remediation tasks</a:t>
            </a:r>
            <a:endParaRPr lang="en-US" sz="1300" dirty="0"/>
          </a:p>
          <a:p>
            <a:pPr marL="342900" indent="-342900">
              <a:spcAft>
                <a:spcPts val="1100"/>
              </a:spcAft>
              <a:buSzPct val="100000"/>
              <a:buChar char="●"/>
            </a:pPr>
            <a:r>
              <a:rPr lang="en-US" sz="1300" u="sng" dirty="0">
                <a:solidFill>
                  <a:srgbClr val="007CB0"/>
                </a:solidFill>
                <a:latin typeface="Arial" pitchFamily="34" charset="0"/>
                <a:ea typeface="Arial" pitchFamily="34" charset="-122"/>
                <a:cs typeface="Arial" pitchFamily="34" charset="-120"/>
                <a:hlinkClick r:id="rId20" invalidUrl="" action="" tgtFrame="" tooltip="" history="1" highlightClick="0" endSnd="0">
                  <a:extLst>
                    <a:ext uri="{A12FA001-AC4F-418D-AE19-62706E023703}">
                      <ahyp:hlinkClr xmlns:ahyp="http://schemas.microsoft.com/office/drawing/2018/hyperlinkcolor" val="tx"/>
                    </a:ext>
                  </a:extLst>
                </a:hlinkClick>
              </a:rPr>
              <a:t>Compliance remediation groups</a:t>
            </a:r>
            <a:endParaRPr lang="en-US" sz="1300" dirty="0"/>
          </a:p>
        </p:txBody>
      </p:sp>
      <p:sp>
        <p:nvSpPr>
          <p:cNvPr id="16" name="Text 14"/>
          <p:cNvSpPr txBox="1"/>
          <p:nvPr/>
        </p:nvSpPr>
        <p:spPr>
          <a:xfrm>
            <a:off x="548640" y="6144768"/>
            <a:ext cx="5486400" cy="228600"/>
          </a:xfrm>
          <a:prstGeom prst="rect">
            <a:avLst/>
          </a:prstGeom>
          <a:noFill/>
          <a:ln/>
        </p:spPr>
        <p:txBody>
          <a:bodyPr wrap="square" lIns="0" tIns="0" rIns="0" bIns="0" rtlCol="0" anchor="t"/>
          <a:lstStyle/>
          <a:p>
            <a:pPr indent="0" marL="0">
              <a:buNone/>
            </a:pPr>
            <a:r>
              <a:rPr lang="en-US" sz="950" dirty="0">
                <a:solidFill>
                  <a:srgbClr val="75787B"/>
                </a:solidFill>
                <a:latin typeface="Arial" pitchFamily="34" charset="0"/>
                <a:ea typeface="Arial" pitchFamily="34" charset="-122"/>
                <a:cs typeface="Arial" pitchFamily="34" charset="-120"/>
              </a:rPr>
              <a:t>https://dev390397.service-now.com</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48640" y="731520"/>
            <a:ext cx="10058400" cy="73152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Five things to remember</a:t>
            </a:r>
            <a:pPr indent="0" marL="0">
              <a:buNone/>
            </a:pPr>
            <a:r>
              <a:rPr lang="en-US" sz="3400" b="1" dirty="0">
                <a:solidFill>
                  <a:srgbClr val="86BC25"/>
                </a:solidFill>
                <a:latin typeface="Arial" pitchFamily="34" charset="0"/>
                <a:ea typeface="Arial" pitchFamily="34" charset="-122"/>
                <a:cs typeface="Arial" pitchFamily="34" charset="-120"/>
              </a:rPr>
              <a:t>.</a:t>
            </a:r>
            <a:endParaRPr lang="en-US" sz="3400" dirty="0"/>
          </a:p>
        </p:txBody>
      </p:sp>
      <p:sp>
        <p:nvSpPr>
          <p:cNvPr id="3" name="Shape 1"/>
          <p:cNvSpPr/>
          <p:nvPr/>
        </p:nvSpPr>
        <p:spPr>
          <a:xfrm>
            <a:off x="548640" y="1828800"/>
            <a:ext cx="502920" cy="502920"/>
          </a:xfrm>
          <a:prstGeom prst="ellipse">
            <a:avLst/>
          </a:prstGeom>
          <a:solidFill>
            <a:srgbClr val="86BC25"/>
          </a:solidFill>
          <a:ln w="12700">
            <a:solidFill>
              <a:srgbClr val="86BC25"/>
            </a:solidFill>
            <a:prstDash val="solid"/>
          </a:ln>
        </p:spPr>
      </p:sp>
      <p:sp>
        <p:nvSpPr>
          <p:cNvPr id="4" name="Text 2"/>
          <p:cNvSpPr txBox="1"/>
          <p:nvPr/>
        </p:nvSpPr>
        <p:spPr>
          <a:xfrm>
            <a:off x="548640" y="18288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5" name="Text 3"/>
          <p:cNvSpPr txBox="1"/>
          <p:nvPr/>
        </p:nvSpPr>
        <p:spPr>
          <a:xfrm>
            <a:off x="1325880" y="1856232"/>
            <a:ext cx="10058400" cy="45720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Every finding follows one path: import, discovered item, CI, vulnerable item, remediation task.</a:t>
            </a:r>
            <a:endParaRPr lang="en-US" sz="1700" dirty="0"/>
          </a:p>
        </p:txBody>
      </p:sp>
      <p:sp>
        <p:nvSpPr>
          <p:cNvPr id="6" name="Shape 4"/>
          <p:cNvSpPr/>
          <p:nvPr/>
        </p:nvSpPr>
        <p:spPr>
          <a:xfrm>
            <a:off x="548640" y="2697480"/>
            <a:ext cx="502920" cy="502920"/>
          </a:xfrm>
          <a:prstGeom prst="ellipse">
            <a:avLst/>
          </a:prstGeom>
          <a:solidFill>
            <a:srgbClr val="86BC25"/>
          </a:solidFill>
          <a:ln w="12700">
            <a:solidFill>
              <a:srgbClr val="86BC25"/>
            </a:solidFill>
            <a:prstDash val="solid"/>
          </a:ln>
        </p:spPr>
      </p:sp>
      <p:sp>
        <p:nvSpPr>
          <p:cNvPr id="7" name="Text 5"/>
          <p:cNvSpPr txBox="1"/>
          <p:nvPr/>
        </p:nvSpPr>
        <p:spPr>
          <a:xfrm>
            <a:off x="548640" y="269748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8" name="Text 6"/>
          <p:cNvSpPr txBox="1"/>
          <p:nvPr/>
        </p:nvSpPr>
        <p:spPr>
          <a:xfrm>
            <a:off x="1325880" y="2724912"/>
            <a:ext cx="10058400" cy="45720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Match on the strongest identifier. Exactly one CI, or none.</a:t>
            </a:r>
            <a:endParaRPr lang="en-US" sz="1700" dirty="0"/>
          </a:p>
        </p:txBody>
      </p:sp>
      <p:sp>
        <p:nvSpPr>
          <p:cNvPr id="9" name="Shape 7"/>
          <p:cNvSpPr/>
          <p:nvPr/>
        </p:nvSpPr>
        <p:spPr>
          <a:xfrm>
            <a:off x="548640" y="3566160"/>
            <a:ext cx="502920" cy="502920"/>
          </a:xfrm>
          <a:prstGeom prst="ellipse">
            <a:avLst/>
          </a:prstGeom>
          <a:solidFill>
            <a:srgbClr val="86BC25"/>
          </a:solidFill>
          <a:ln w="12700">
            <a:solidFill>
              <a:srgbClr val="86BC25"/>
            </a:solidFill>
            <a:prstDash val="solid"/>
          </a:ln>
        </p:spPr>
      </p:sp>
      <p:sp>
        <p:nvSpPr>
          <p:cNvPr id="10" name="Text 8"/>
          <p:cNvSpPr txBox="1"/>
          <p:nvPr/>
        </p:nvSpPr>
        <p:spPr>
          <a:xfrm>
            <a:off x="548640" y="35661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1" name="Text 9"/>
          <p:cNvSpPr txBox="1"/>
          <p:nvPr/>
        </p:nvSpPr>
        <p:spPr>
          <a:xfrm>
            <a:off x="1325880" y="3593592"/>
            <a:ext cx="10058400" cy="45720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IRE guards the CMDB. A lookup miss becomes a placeholder, not a fix.</a:t>
            </a:r>
            <a:endParaRPr lang="en-US" sz="1700" dirty="0"/>
          </a:p>
        </p:txBody>
      </p:sp>
      <p:sp>
        <p:nvSpPr>
          <p:cNvPr id="12" name="Shape 10"/>
          <p:cNvSpPr/>
          <p:nvPr/>
        </p:nvSpPr>
        <p:spPr>
          <a:xfrm>
            <a:off x="548640" y="4434840"/>
            <a:ext cx="502920" cy="502920"/>
          </a:xfrm>
          <a:prstGeom prst="ellipse">
            <a:avLst/>
          </a:prstGeom>
          <a:solidFill>
            <a:srgbClr val="86BC25"/>
          </a:solidFill>
          <a:ln w="12700">
            <a:solidFill>
              <a:srgbClr val="86BC25"/>
            </a:solidFill>
            <a:prstDash val="solid"/>
          </a:ln>
        </p:spPr>
      </p:sp>
      <p:sp>
        <p:nvSpPr>
          <p:cNvPr id="13" name="Text 11"/>
          <p:cNvSpPr txBox="1"/>
          <p:nvPr/>
        </p:nvSpPr>
        <p:spPr>
          <a:xfrm>
            <a:off x="548640" y="44348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4" name="Text 12"/>
          <p:cNvSpPr txBox="1"/>
          <p:nvPr/>
        </p:nvSpPr>
        <p:spPr>
          <a:xfrm>
            <a:off x="1325880" y="4462272"/>
            <a:ext cx="10058400" cy="45720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CVE is the flaw in a product; CWE is the kind of mistake. For the bank's own code, CWE is what you have.</a:t>
            </a:r>
            <a:endParaRPr lang="en-US" sz="1700" dirty="0"/>
          </a:p>
        </p:txBody>
      </p:sp>
      <p:sp>
        <p:nvSpPr>
          <p:cNvPr id="15" name="Shape 13"/>
          <p:cNvSpPr/>
          <p:nvPr/>
        </p:nvSpPr>
        <p:spPr>
          <a:xfrm>
            <a:off x="548640" y="5303520"/>
            <a:ext cx="502920" cy="502920"/>
          </a:xfrm>
          <a:prstGeom prst="ellipse">
            <a:avLst/>
          </a:prstGeom>
          <a:solidFill>
            <a:srgbClr val="86BC25"/>
          </a:solidFill>
          <a:ln w="12700">
            <a:solidFill>
              <a:srgbClr val="86BC25"/>
            </a:solidFill>
            <a:prstDash val="solid"/>
          </a:ln>
        </p:spPr>
      </p:sp>
      <p:sp>
        <p:nvSpPr>
          <p:cNvPr id="16" name="Text 14"/>
          <p:cNvSpPr txBox="1"/>
          <p:nvPr/>
        </p:nvSpPr>
        <p:spPr>
          <a:xfrm>
            <a:off x="548640" y="530352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17" name="Text 15"/>
          <p:cNvSpPr txBox="1"/>
          <p:nvPr/>
        </p:nvSpPr>
        <p:spPr>
          <a:xfrm>
            <a:off x="1325880" y="5330952"/>
            <a:ext cx="10058400" cy="45720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Measure before you change: counts, match rates, and a test on the PDI.</a:t>
            </a:r>
            <a:endParaRPr lang="en-US" sz="1700" dirty="0"/>
          </a:p>
        </p:txBody>
      </p:sp>
      <p:sp>
        <p:nvSpPr>
          <p:cNvPr id="18" name="Text 16"/>
          <p:cNvSpPr txBox="1"/>
          <p:nvPr/>
        </p:nvSpPr>
        <p:spPr>
          <a:xfrm>
            <a:off x="548640" y="6126480"/>
            <a:ext cx="5486400" cy="365760"/>
          </a:xfrm>
          <a:prstGeom prst="rect">
            <a:avLst/>
          </a:prstGeom>
          <a:noFill/>
          <a:ln/>
        </p:spPr>
        <p:txBody>
          <a:bodyPr wrap="square" lIns="0" tIns="0" rIns="0" bIns="0" rtlCol="0" anchor="t"/>
          <a:lstStyle/>
          <a:p>
            <a:pPr indent="0" marL="0">
              <a:buNone/>
            </a:pPr>
            <a:r>
              <a:rPr lang="en-US" sz="1400" b="1" dirty="0">
                <a:solidFill>
                  <a:srgbClr val="86BC25"/>
                </a:solidFill>
                <a:latin typeface="Arial" pitchFamily="34" charset="0"/>
                <a:ea typeface="Arial" pitchFamily="34" charset="-122"/>
                <a:cs typeface="Arial" pitchFamily="34" charset="-120"/>
              </a:rPr>
              <a:t>Questions?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Vulnerability Response on ServiceNow - Field Guide</dc:title>
  <dc:subject>PptxGenJS Presentation</dc:subject>
  <dc:creator>PptxGenJS</dc:creator>
  <cp:lastModifiedBy>PptxGenJS</cp:lastModifiedBy>
  <cp:revision>1</cp:revision>
  <dcterms:created xsi:type="dcterms:W3CDTF">2026-09-30T03:28:50Z</dcterms:created>
  <dcterms:modified xsi:type="dcterms:W3CDTF">2026-09-30T03:28:50Z</dcterms:modified>
</cp:coreProperties>
</file>