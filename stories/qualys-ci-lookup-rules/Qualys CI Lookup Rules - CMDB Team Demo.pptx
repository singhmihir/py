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Lst>
  <p:notesMasterIdLst>
    <p:notesMasterId r:id="rId20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notesMaster" Target="notesMasters/notesMaster1.xml"/><Relationship Id="rId204" Type="http://schemas.openxmlformats.org/officeDocument/2006/relationships/presProps" Target="presProps.xml"/><Relationship Id="rId205" Type="http://schemas.openxmlformats.org/officeDocument/2006/relationships/viewProps" Target="viewProps.xml"/><Relationship Id="rId206" Type="http://schemas.openxmlformats.org/officeDocument/2006/relationships/theme" Target="theme/theme1.xml"/><Relationship Id="rId20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148411" TargetMode="External"/><Relationship Id="rId2" Type="http://schemas.openxmlformats.org/officeDocument/2006/relationships/hyperlink" Target="https://bofasecopsdev.service-now.com/cmdb_ci_win_server.do?sys_id=7e63ec2a3b84e250d5062b64c3e45a11"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bofasecopsdev.service-now.com/sn_sec_cmn_src_ci.do?sys_id=fdf0ab42ebb6c714017ff4d7cad0cd9f" TargetMode="External"/><Relationship Id="rId2" Type="http://schemas.openxmlformats.org/officeDocument/2006/relationships/hyperlink" Target="https://bofasecopsdev.service-now.com/sn_sec_cmn_ci_lookup_rule.do?sys_id=8aae840f47224710a1a9295b416d43f9"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win_server.do?sys_id=7e63ec2a3b84e250d5062b64c3e45a11" TargetMode="External"/><Relationship Id="rId5" Type="http://schemas.openxmlformats.org/officeDocument/2006/relationships/hyperlink" Target="https://bofasecopsdev.service-now.com/cmdb_ci_win_server_list.do?sysparm_query=serial_number%3DVMware-42%200c%2039%2043%2040%20ea%2020%2022-2b%2099%207d%200f%204e%20e1%209e%2059" TargetMode="External"/><Relationship Id="rId6" Type="http://schemas.openxmlformats.org/officeDocument/2006/relationships/hyperlink" Target="https://bofasecopsdev.service-now.com/cmdb_ci_win_server.do?sys_id=7e63ec2a3b84e250d5062b64c3e45a11" TargetMode="External"/><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148409" TargetMode="External"/><Relationship Id="rId2" Type="http://schemas.openxmlformats.org/officeDocument/2006/relationships/hyperlink" Target="https://bofasecopsdev.service-now.com/cmdb_ci_win_server.do?sys_id=b663ec2a3b84e250d5062b64c3e45a0e"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bofasecopsdev.service-now.com/sn_sec_cmn_src_ci.do?sys_id=b5f0ab42ebb6c714017ff4d7cad0cd9e" TargetMode="External"/><Relationship Id="rId2" Type="http://schemas.openxmlformats.org/officeDocument/2006/relationships/hyperlink" Target="https://bofasecopsdev.service-now.com/sn_sec_cmn_ci_lookup_rule.do?sys_id=8aae840f47224710a1a9295b416d43f9"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win_server.do?sys_id=b663ec2a3b84e250d5062b64c3e45a0e" TargetMode="External"/><Relationship Id="rId5" Type="http://schemas.openxmlformats.org/officeDocument/2006/relationships/hyperlink" Target="https://bofasecopsdev.service-now.com/cmdb_ci_win_server_list.do?sysparm_query=serial_number%3DVMware-42%200c%20a4%201f%208c%20fb%2062%20d6-3c%202e%2016%200e%202d%20ed%201d%2056" TargetMode="External"/><Relationship Id="rId6" Type="http://schemas.openxmlformats.org/officeDocument/2006/relationships/hyperlink" Target="https://bofasecopsdev.service-now.com/cmdb_ci_win_server.do?sys_id=b663ec2a3b84e250d5062b64c3e45a0e" TargetMode="External"/><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148406" TargetMode="External"/><Relationship Id="rId2" Type="http://schemas.openxmlformats.org/officeDocument/2006/relationships/hyperlink" Target="https://bofasecopsdev.service-now.com/cmdb_ci_win_server.do?sys_id=f663ec2a3b84e250d5062b64c3e45a04" TargetMode="Externa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bofasecopsdev.service-now.com/sn_sec_cmn_src_ci.do?sys_id=6df0ab42ebb6c714017ff4d7cad0cd9c" TargetMode="External"/><Relationship Id="rId2" Type="http://schemas.openxmlformats.org/officeDocument/2006/relationships/hyperlink" Target="https://bofasecopsdev.service-now.com/sn_sec_cmn_ci_lookup_rule.do?sys_id=8aae840f47224710a1a9295b416d43f9"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win_server.do?sys_id=f663ec2a3b84e250d5062b64c3e45a04" TargetMode="External"/><Relationship Id="rId5" Type="http://schemas.openxmlformats.org/officeDocument/2006/relationships/hyperlink" Target="https://bofasecopsdev.service-now.com/cmdb_ci_win_server_list.do?sysparm_query=serial_number%3DVMware-42%200c%2068%2079%2099%200f%205a%2053-34%2017%207f%2027%2062%2010%206e%20de" TargetMode="External"/><Relationship Id="rId6" Type="http://schemas.openxmlformats.org/officeDocument/2006/relationships/hyperlink" Target="https://bofasecopsdev.service-now.com/cmdb_ci_win_server.do?sys_id=f663ec2a3b84e250d5062b64c3e45a04" TargetMode="External"/><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68092" TargetMode="External"/><Relationship Id="rId2" Type="http://schemas.openxmlformats.org/officeDocument/2006/relationships/hyperlink" Target="https://bofasecopsdev.service-now.com/cmdb_ci_printer.do?sys_id=694be8342bc6ae54d50dffbdbe91bf87" TargetMode="External"/><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bofasecopsdev.service-now.com/sn_sec_cmn_src_ci.do?sys_id=1de8581e93fa4b549110fe584dba10f7" TargetMode="External"/><Relationship Id="rId2" Type="http://schemas.openxmlformats.org/officeDocument/2006/relationships/hyperlink" Target="https://bofasecopsdev.service-now.com/sn_sec_cmn_ci_lookup_rule.do?sys_id=7bb3ac4b47624710a1a9295b416d4304"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printer.do?sys_id=694be8342bc6ae54d50dffbdbe91bf87" TargetMode="External"/><Relationship Id="rId5" Type="http://schemas.openxmlformats.org/officeDocument/2006/relationships/hyperlink" Target="https://bofasecopsdev.service-now.com/cmdb_ci_hardware_list.do?sysparm_query=serial_number%3DMXBCS730XY" TargetMode="External"/><Relationship Id="rId6" Type="http://schemas.openxmlformats.org/officeDocument/2006/relationships/hyperlink" Target="https://bofasecopsdev.service-now.com/cmdb_ci_printer.do?sys_id=694be8342bc6ae54d50dffbdbe91bf87" TargetMode="External"/><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26199" TargetMode="External"/><Relationship Id="rId2" Type="http://schemas.openxmlformats.org/officeDocument/2006/relationships/hyperlink" Target="https://bofasecopsdev.service-now.com/cmdb_ci_hardware.do?sys_id=9a3819182ba72e54d28af8a4ce91bfa1" TargetMode="External"/><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bofasecopsdev.service-now.com/sn_sec_cmn_src_ci.do?sys_id=6d5c8c16eb3ec710577bf284dad0cde0" TargetMode="External"/><Relationship Id="rId2" Type="http://schemas.openxmlformats.org/officeDocument/2006/relationships/hyperlink" Target="https://bofasecopsdev.service-now.com/sn_sec_cmn_ci_lookup_rule.do?sys_id=7bb3ac4b47624710a1a9295b416d4304"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hardware.do?sys_id=9a3819182ba72e54d28af8a4ce91bfa1" TargetMode="External"/><Relationship Id="rId5" Type="http://schemas.openxmlformats.org/officeDocument/2006/relationships/hyperlink" Target="https://bofasecopsdev.service-now.com/cmdb_ci_hardware_list.do?sysparm_query=serial_number%3DVNCCSB20Y7" TargetMode="External"/><Relationship Id="rId6" Type="http://schemas.openxmlformats.org/officeDocument/2006/relationships/hyperlink" Target="https://bofasecopsdev.service-now.com/cmdb_ci_hardware.do?sys_id=9a3819182ba72e54d28af8a4ce91bfa1" TargetMode="External"/><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90879" TargetMode="External"/><Relationship Id="rId2" Type="http://schemas.openxmlformats.org/officeDocument/2006/relationships/hyperlink" Target="https://bofasecopsdev.service-now.com/cmdb_ci_printer.do?sys_id=084b28342bc6ae54d50dffbdbe91bfc9" TargetMode="External"/><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bofasecopsdev.service-now.com/sn_sec_cmn_src_ci.do?sys_id=a41d909a3b760f942fcecefe23e45a2d" TargetMode="External"/><Relationship Id="rId2" Type="http://schemas.openxmlformats.org/officeDocument/2006/relationships/hyperlink" Target="https://bofasecopsdev.service-now.com/sn_sec_cmn_ci_lookup_rule.do?sys_id=7bb3ac4b47624710a1a9295b416d4304"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printer.do?sys_id=084b28342bc6ae54d50dffbdbe91bfc9" TargetMode="External"/><Relationship Id="rId5" Type="http://schemas.openxmlformats.org/officeDocument/2006/relationships/hyperlink" Target="https://bofasecopsdev.service-now.com/cmdb_ci_hardware_list.do?sysparm_query=serial_number%3DMXBCS6D1LS" TargetMode="External"/><Relationship Id="rId6" Type="http://schemas.openxmlformats.org/officeDocument/2006/relationships/hyperlink" Target="https://bofasecopsdev.service-now.com/cmdb_ci_printer.do?sys_id=084b28342bc6ae54d50dffbdbe91bfc9" TargetMode="External"/><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627752" TargetMode="External"/><Relationship Id="rId2" Type="http://schemas.openxmlformats.org/officeDocument/2006/relationships/hyperlink" Target="https://bofasecopsdev.service-now.com/cmdb_ci_ip_phone.do?sys_id=df221eb33be96210df0f0c54c3e45adf" TargetMode="External"/><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bofasecopsdev.service-now.com/sn_sec_cmn_src_ci.do?sys_id=b2998da6eb7ecb14017ff4d7cad0cd60" TargetMode="External"/><Relationship Id="rId2" Type="http://schemas.openxmlformats.org/officeDocument/2006/relationships/hyperlink" Target="https://bofasecopsdev.service-now.com/sn_sec_cmn_ci_lookup_rule.do?sys_id=715e000f47224710a1a9295b416d4302"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ip_phone.do?sys_id=df221eb33be96210df0f0c54c3e45adf" TargetMode="External"/><Relationship Id="rId5" Type="http://schemas.openxmlformats.org/officeDocument/2006/relationships/hyperlink" Target="https://bofasecopsdev.service-now.com/cmdb_ci_network_adapter_list.do?sysparm_query=mac_addressIN6C:71:0D:8A:DC:3B,6c:71:0d:8a:dc:3b,6C710D8ADC3B,6c710d8adc3b" TargetMode="External"/><Relationship Id="rId6" Type="http://schemas.openxmlformats.org/officeDocument/2006/relationships/hyperlink" Target="https://bofasecopsdev.service-now.com/cmdb_ci_ip_phone_list.do?sysparm_query=mac_addressIN6C:71:0D:8A:DC:3B,6c:71:0d:8a:dc:3b,6C710D8ADC3B,6c710d8adc3b" TargetMode="External"/><Relationship Id="rId7" Type="http://schemas.openxmlformats.org/officeDocument/2006/relationships/hyperlink" Target="https://bofasecopsdev.service-now.com/cmdb_ci_ip_phone.do?sys_id=df221eb33be96210df0f0c54c3e45adf" TargetMode="External"/><Relationship Id="rId8" Type="http://schemas.openxmlformats.org/officeDocument/2006/relationships/hyperlink" Target="https://bofasecopsdev.service-now.com/cmdb_ci_ip_phone_list.do?sysparm_query=name%3DSEP6C710D8ADC3B" TargetMode="External"/><Relationship Id="rId9" Type="http://schemas.openxmlformats.org/officeDocument/2006/relationships/hyperlink" Target="https://bofasecopsdev.service-now.com/cmdb_ci_ip_phone.do?sys_id=df221eb33be96210df0f0c54c3e45adf" TargetMode="External"/><Relationship Id="rId10" Type="http://schemas.openxmlformats.org/officeDocument/2006/relationships/slideLayout" Target="../slideLayouts/slideLayout1.xml"/><Relationship Id="rId11"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617321" TargetMode="External"/><Relationship Id="rId2" Type="http://schemas.openxmlformats.org/officeDocument/2006/relationships/hyperlink" Target="https://bofasecopsdev.service-now.com/cmdb_ci_ip_phone.do?sys_id=3e7fc2bf3b696210df0f0c54c3e45abd" TargetMode="External"/><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bofasecopsdev.service-now.com/sn_sec_cmn_src_ci.do?sys_id=59c04526ebfe8b10577bf284dad0cdda" TargetMode="External"/><Relationship Id="rId2" Type="http://schemas.openxmlformats.org/officeDocument/2006/relationships/hyperlink" Target="https://bofasecopsdev.service-now.com/sn_sec_cmn_ci_lookup_rule.do?sys_id=715e000f47224710a1a9295b416d4302"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ip_phone.do?sys_id=3e7fc2bf3b696210df0f0c54c3e45abd" TargetMode="External"/><Relationship Id="rId5" Type="http://schemas.openxmlformats.org/officeDocument/2006/relationships/hyperlink" Target="https://bofasecopsdev.service-now.com/cmdb_ci_network_adapter_list.do?sysparm_query=mac_addressIN60:26:AA:8F:08:CD,60:26:aa:8f:08:cd,6026AA8F08CD,6026aa8f08cd" TargetMode="External"/><Relationship Id="rId6" Type="http://schemas.openxmlformats.org/officeDocument/2006/relationships/hyperlink" Target="https://bofasecopsdev.service-now.com/cmdb_ci_ip_phone_list.do?sysparm_query=mac_addressIN60:26:AA:8F:08:CD,60:26:aa:8f:08:cd,6026AA8F08CD,6026aa8f08cd" TargetMode="External"/><Relationship Id="rId7" Type="http://schemas.openxmlformats.org/officeDocument/2006/relationships/hyperlink" Target="https://bofasecopsdev.service-now.com/cmdb_ci_ip_phone.do?sys_id=3e7fc2bf3b696210df0f0c54c3e45abd" TargetMode="External"/><Relationship Id="rId8" Type="http://schemas.openxmlformats.org/officeDocument/2006/relationships/hyperlink" Target="https://bofasecopsdev.service-now.com/cmdb_ci_ip_phone_list.do?sysparm_query=name%3DSEP6026AA8F08CD" TargetMode="External"/><Relationship Id="rId9" Type="http://schemas.openxmlformats.org/officeDocument/2006/relationships/hyperlink" Target="https://bofasecopsdev.service-now.com/cmdb_ci_ip_phone.do?sys_id=3e7fc2bf3b696210df0f0c54c3e45abd" TargetMode="External"/><Relationship Id="rId10" Type="http://schemas.openxmlformats.org/officeDocument/2006/relationships/slideLayout" Target="../slideLayouts/slideLayout1.xml"/><Relationship Id="rId11"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619434" TargetMode="External"/><Relationship Id="rId2" Type="http://schemas.openxmlformats.org/officeDocument/2006/relationships/hyperlink" Target="https://bofasecopsdev.service-now.com/cmdb_ci_ip_phone.do?sys_id=57a9c2b33be56210df0f0c54c3e45a65" TargetMode="Externa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hyperlink" Target="https://bofasecopsdev.service-now.com/sn_sec_cmn_src_ci.do?sys_id=75520da63bbe43180e435c8a04e45a2d" TargetMode="External"/><Relationship Id="rId2" Type="http://schemas.openxmlformats.org/officeDocument/2006/relationships/hyperlink" Target="https://bofasecopsdev.service-now.com/sn_sec_cmn_ci_lookup_rule.do?sys_id=715e000f47224710a1a9295b416d4302"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ip_phone.do?sys_id=57a9c2b33be56210df0f0c54c3e45a65" TargetMode="External"/><Relationship Id="rId5" Type="http://schemas.openxmlformats.org/officeDocument/2006/relationships/hyperlink" Target="https://bofasecopsdev.service-now.com/cmdb_ci_network_adapter_list.do?sysparm_query=mac_addressIN3C:26:E4:A7:CB:09,3c:26:e4:a7:cb:09,3C26E4A7CB09,3c26e4a7cb09" TargetMode="External"/><Relationship Id="rId6" Type="http://schemas.openxmlformats.org/officeDocument/2006/relationships/hyperlink" Target="https://bofasecopsdev.service-now.com/cmdb_ci_ip_phone_list.do?sysparm_query=mac_addressIN3C:26:E4:A7:CB:09,3c:26:e4:a7:cb:09,3C26E4A7CB09,3c26e4a7cb09" TargetMode="External"/><Relationship Id="rId7" Type="http://schemas.openxmlformats.org/officeDocument/2006/relationships/hyperlink" Target="https://bofasecopsdev.service-now.com/cmdb_ci_ip_phone.do?sys_id=57a9c2b33be56210df0f0c54c3e45a65" TargetMode="External"/><Relationship Id="rId8" Type="http://schemas.openxmlformats.org/officeDocument/2006/relationships/hyperlink" Target="https://bofasecopsdev.service-now.com/cmdb_ci_ip_phone_list.do?sysparm_query=name%3DSEP3C26E4A7CB09" TargetMode="External"/><Relationship Id="rId9" Type="http://schemas.openxmlformats.org/officeDocument/2006/relationships/hyperlink" Target="https://bofasecopsdev.service-now.com/cmdb_ci_ip_phone.do?sys_id=57a9c2b33be56210df0f0c54c3e45a65" TargetMode="External"/><Relationship Id="rId10" Type="http://schemas.openxmlformats.org/officeDocument/2006/relationships/slideLayout" Target="../slideLayouts/slideLayout1.xml"/><Relationship Id="rId11"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151366" TargetMode="External"/><Relationship Id="rId2" Type="http://schemas.openxmlformats.org/officeDocument/2006/relationships/hyperlink" Target="https://bofasecopsdev.service-now.com/cmdb_ci_win_server.do?sys_id=2127d1bb3bd8ea90d5062b64c3e45ab9" TargetMode="External"/><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hyperlink" Target="https://bofasecopsdev.service-now.com/sn_sec_cmn_src_ci.do?sys_id=3251e706ebb6c714017ff4d7cad0cd1c" TargetMode="External"/><Relationship Id="rId2" Type="http://schemas.openxmlformats.org/officeDocument/2006/relationships/hyperlink" Target="https://bofasecopsdev.service-now.com/sn_sec_cmn_ci_lookup_rule.do?sys_id=3804208b47624710a1a9295b416d437e"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win_server.do?sys_id=2127d1bb3bd8ea90d5062b64c3e45ab9" TargetMode="External"/><Relationship Id="rId5" Type="http://schemas.openxmlformats.org/officeDocument/2006/relationships/hyperlink" Target="https://bofasecopsdev.service-now.com/cmdb_ci_win_server_list.do?sysparm_query=fqdn%3Dwrdne67svtsrv.bankofamerica.com" TargetMode="External"/><Relationship Id="rId6" Type="http://schemas.openxmlformats.org/officeDocument/2006/relationships/hyperlink" Target="https://bofasecopsdev.service-now.com/cmdb_ci_win_server.do?sys_id=2127d1bb3bd8ea90d5062b64c3e45ab9" TargetMode="External"/><Relationship Id="rId7" Type="http://schemas.openxmlformats.org/officeDocument/2006/relationships/slideLayout" Target="../slideLayouts/slideLayout1.xml"/><Relationship Id="rId8"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76655" TargetMode="External"/><Relationship Id="rId2" Type="http://schemas.openxmlformats.org/officeDocument/2006/relationships/hyperlink" Target="https://bofasecopsdev.service-now.com/cmdb_ci_linux_server.do?sys_id=0873ca94fbf0ee502fe7f7ad5eefdc48" TargetMode="External"/><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hyperlink" Target="https://bofasecopsdev.service-now.com/sn_sec_cmn_src_ci.do?sys_id=c2ece9493b1307d02fcecefe23e45aa6" TargetMode="External"/><Relationship Id="rId2" Type="http://schemas.openxmlformats.org/officeDocument/2006/relationships/hyperlink" Target="https://bofasecopsdev.service-now.com/sn_sec_cmn_ci_lookup_rule.do?sys_id=3804208b47624710a1a9295b416d437e"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linux_server.do?sys_id=0873ca94fbf0ee502fe7f7ad5eefdc48" TargetMode="External"/><Relationship Id="rId5" Type="http://schemas.openxmlformats.org/officeDocument/2006/relationships/hyperlink" Target="https://bofasecopsdev.service-now.com/cmdb_ci_linux_server_list.do?sysparm_query=fqdn%3Dlrdnab68xsdi008.sdi.corp.bankofamerica.com" TargetMode="External"/><Relationship Id="rId6" Type="http://schemas.openxmlformats.org/officeDocument/2006/relationships/hyperlink" Target="https://bofasecopsdev.service-now.com/cmdb_ci_linux_server.do?sys_id=0873ca94fbf0ee502fe7f7ad5eefdc48" TargetMode="External"/><Relationship Id="rId7" Type="http://schemas.openxmlformats.org/officeDocument/2006/relationships/slideLayout" Target="../slideLayouts/slideLayout1.xml"/><Relationship Id="rId8"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129659" TargetMode="External"/><Relationship Id="rId2" Type="http://schemas.openxmlformats.org/officeDocument/2006/relationships/hyperlink" Target="https://bofasecopsdev.service-now.com/cmdb_ci_win_server.do?sys_id=b3cab1bb93d8ee5007a4f84958373cba" TargetMode="External"/><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hyperlink" Target="https://bofasecopsdev.service-now.com/sn_sec_cmn_src_ci.do?sys_id=b1eccbb22b7a4758a277fab2f291bf76" TargetMode="External"/><Relationship Id="rId2" Type="http://schemas.openxmlformats.org/officeDocument/2006/relationships/hyperlink" Target="https://bofasecopsdev.service-now.com/sn_sec_cmn_ci_lookup_rule.do?sys_id=3804208b47624710a1a9295b416d437e"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win_server.do?sys_id=b3cab1bb93d8ee5007a4f84958373cba" TargetMode="External"/><Relationship Id="rId5" Type="http://schemas.openxmlformats.org/officeDocument/2006/relationships/hyperlink" Target="https://bofasecopsdev.service-now.com/cmdb_ci_win_server_list.do?sysparm_query=fqdn%3Dusvmsqhalc01.corp.bankofamerica.com" TargetMode="External"/><Relationship Id="rId6" Type="http://schemas.openxmlformats.org/officeDocument/2006/relationships/hyperlink" Target="https://bofasecopsdev.service-now.com/cmdb_ci_win_server.do?sys_id=b3cab1bb93d8ee5007a4f84958373cba" TargetMode="External"/><Relationship Id="rId7" Type="http://schemas.openxmlformats.org/officeDocument/2006/relationships/slideLayout" Target="../slideLayouts/slideLayout1.xml"/><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51953" TargetMode="External"/><Relationship Id="rId2" Type="http://schemas.openxmlformats.org/officeDocument/2006/relationships/hyperlink" Target="https://bofasecopsdev.service-now.com/cmdb_ci_linux_server.do?sys_id=e43c52133b146a90d5062b64c3e45a25" TargetMode="External"/><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hyperlink" Target="https://bofasecopsdev.service-now.com/sn_sec_cmn_src_ci.do?sys_id=f4137e33930fcb909110fe584dba108f" TargetMode="External"/><Relationship Id="rId2" Type="http://schemas.openxmlformats.org/officeDocument/2006/relationships/hyperlink" Target="https://bofasecopsdev.service-now.com/sn_sec_cmn_ci_lookup_rule.do?sys_id=db54248b47624710a1a9295b416d4362"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linux_server.do?sys_id=e43c52133b146a90d5062b64c3e45a25" TargetMode="External"/><Relationship Id="rId5" Type="http://schemas.openxmlformats.org/officeDocument/2006/relationships/hyperlink" Target="https://bofasecopsdev.service-now.com/cmdb_ci_hardware_list.do?sysparm_query=fqdn%3Dlclte0ln.bankofamerica.com" TargetMode="External"/><Relationship Id="rId6" Type="http://schemas.openxmlformats.org/officeDocument/2006/relationships/hyperlink" Target="https://bofasecopsdev.service-now.com/cmdb_ci_linux_server.do?sys_id=e43c52133b146a90d5062b64c3e45a25" TargetMode="External"/><Relationship Id="rId7" Type="http://schemas.openxmlformats.org/officeDocument/2006/relationships/slideLayout" Target="../slideLayouts/slideLayout1.xml"/><Relationship Id="rId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438418" TargetMode="External"/><Relationship Id="rId2" Type="http://schemas.openxmlformats.org/officeDocument/2006/relationships/hyperlink" Target="https://bofasecopsdev.service-now.com/cmdb_ci_win_server.do?sys_id=7e20daa72bac22546d55ff5fe291bf63" TargetMode="External"/><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hyperlink" Target="https://bofasecopsdev.service-now.com/sn_sec_cmn_src_ci.do?sys_id=f9548099eb8303d0577bf284dad0cd24" TargetMode="External"/><Relationship Id="rId2" Type="http://schemas.openxmlformats.org/officeDocument/2006/relationships/hyperlink" Target="https://bofasecopsdev.service-now.com/sn_sec_cmn_ci_lookup_rule.do?sys_id=db54248b47624710a1a9295b416d4362"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win_server.do?sys_id=7e20daa72bac22546d55ff5fe291bf63" TargetMode="External"/><Relationship Id="rId5" Type="http://schemas.openxmlformats.org/officeDocument/2006/relationships/hyperlink" Target="https://bofasecopsdev.service-now.com/cmdb_ci_hardware_list.do?sysparm_query=fqdn%3Dhpuwrsubsql02.corp.bankofamerica.com" TargetMode="External"/><Relationship Id="rId6" Type="http://schemas.openxmlformats.org/officeDocument/2006/relationships/hyperlink" Target="https://bofasecopsdev.service-now.com/cmdb_ci_win_server.do?sys_id=7e20daa72bac22546d55ff5fe291bf63" TargetMode="External"/><Relationship Id="rId7" Type="http://schemas.openxmlformats.org/officeDocument/2006/relationships/slideLayout" Target="../slideLayouts/slideLayout1.xml"/><Relationship Id="rId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444611" TargetMode="External"/><Relationship Id="rId2" Type="http://schemas.openxmlformats.org/officeDocument/2006/relationships/hyperlink" Target="https://bofasecopsdev.service-now.com/cmdb_ci_win_server.do?sys_id=f3e5f0f09782f29834bfb65de053af5e" TargetMode="External"/><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hyperlink" Target="https://bofasecopsdev.service-now.com/sn_sec_cmn_src_ci.do?sys_id=874c945d3b8747102fcecefe23e45a11" TargetMode="External"/><Relationship Id="rId2" Type="http://schemas.openxmlformats.org/officeDocument/2006/relationships/hyperlink" Target="https://bofasecopsdev.service-now.com/sn_sec_cmn_ci_lookup_rule.do?sys_id=db54248b47624710a1a9295b416d4362"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win_server.do?sys_id=f3e5f0f09782f29834bfb65de053af5e" TargetMode="External"/><Relationship Id="rId5" Type="http://schemas.openxmlformats.org/officeDocument/2006/relationships/hyperlink" Target="https://bofasecopsdev.service-now.com/cmdb_ci_hardware_list.do?sysparm_query=fqdn%3Dusvmsrelecp20.corp.bankofamerica.com" TargetMode="External"/><Relationship Id="rId6" Type="http://schemas.openxmlformats.org/officeDocument/2006/relationships/hyperlink" Target="https://bofasecopsdev.service-now.com/cmdb_ci_win_server.do?sys_id=f3e5f0f09782f29834bfb65de053af5e" TargetMode="External"/><Relationship Id="rId7" Type="http://schemas.openxmlformats.org/officeDocument/2006/relationships/slideLayout" Target="../slideLayouts/slideLayout1.xml"/><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76701" TargetMode="External"/><Relationship Id="rId2" Type="http://schemas.openxmlformats.org/officeDocument/2006/relationships/hyperlink" Target="https://bofasecopsdev.service-now.com/cmdb_ci_linux_server.do?sys_id=30c82e632b91aa14d50dffbdbe91bfa9" TargetMode="External"/><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hyperlink" Target="https://bofasecopsdev.service-now.com/sn_sec_cmn_src_ci.do?sys_id=9635d6563b47039c9289d164c3e45ad7" TargetMode="External"/><Relationship Id="rId2" Type="http://schemas.openxmlformats.org/officeDocument/2006/relationships/hyperlink" Target="https://bofasecopsdev.service-now.com/sn_sec_cmn_ci_lookup_rule.do?sys_id=2194e48b47624710a1a9295b416d4327"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linux_server.do?sys_id=30c82e632b91aa14d50dffbdbe91bfa9" TargetMode="External"/><Relationship Id="rId5" Type="http://schemas.openxmlformats.org/officeDocument/2006/relationships/hyperlink" Target="https://bofasecopsdev.service-now.com/cmdb_ci_linux_server_list.do?sysparm_query=name%3Dlsdnab00xsdi001" TargetMode="External"/><Relationship Id="rId6" Type="http://schemas.openxmlformats.org/officeDocument/2006/relationships/hyperlink" Target="https://bofasecopsdev.service-now.com/cmdb_ci_linux_server.do?sys_id=30c82e632b91aa14d50dffbdbe91bfa9" TargetMode="External"/><Relationship Id="rId7" Type="http://schemas.openxmlformats.org/officeDocument/2006/relationships/slideLayout" Target="../slideLayouts/slideLayout1.xml"/><Relationship Id="rId8"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76699" TargetMode="External"/><Relationship Id="rId2" Type="http://schemas.openxmlformats.org/officeDocument/2006/relationships/hyperlink" Target="https://bofasecopsdev.service-now.com/cmdb_ci_linux_server.do?sys_id=44e8b6fd47cd3a90b5da45ac026d438f" TargetMode="External"/><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hyperlink" Target="https://bofasecopsdev.service-now.com/sn_sec_cmn_src_ci.do?sys_id=9a35d6563b47039c9289d164c3e45ad0" TargetMode="External"/><Relationship Id="rId2" Type="http://schemas.openxmlformats.org/officeDocument/2006/relationships/hyperlink" Target="https://bofasecopsdev.service-now.com/sn_sec_cmn_ci_lookup_rule.do?sys_id=2194e48b47624710a1a9295b416d4327"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linux_server.do?sys_id=44e8b6fd47cd3a90b5da45ac026d438f" TargetMode="External"/><Relationship Id="rId5" Type="http://schemas.openxmlformats.org/officeDocument/2006/relationships/hyperlink" Target="https://bofasecopsdev.service-now.com/cmdb_ci_linux_server_list.do?sysparm_query=name%3Dltx14a31xsdi001" TargetMode="External"/><Relationship Id="rId6" Type="http://schemas.openxmlformats.org/officeDocument/2006/relationships/hyperlink" Target="https://bofasecopsdev.service-now.com/cmdb_ci_linux_server.do?sys_id=44e8b6fd47cd3a90b5da45ac026d438f" TargetMode="External"/><Relationship Id="rId7" Type="http://schemas.openxmlformats.org/officeDocument/2006/relationships/slideLayout" Target="../slideLayouts/slideLayout1.xml"/><Relationship Id="rId8"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76697" TargetMode="External"/><Relationship Id="rId2" Type="http://schemas.openxmlformats.org/officeDocument/2006/relationships/hyperlink" Target="https://bofasecopsdev.service-now.com/cmdb_ci_linux_server.do?sys_id=15cec45c3b742e14055e3b64c3e45a73" TargetMode="External"/><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hyperlink" Target="https://bofasecopsdev.service-now.com/sn_sec_cmn_src_ci.do?sys_id=d635d6563b47039c9289d164c3e45abd" TargetMode="External"/><Relationship Id="rId2" Type="http://schemas.openxmlformats.org/officeDocument/2006/relationships/hyperlink" Target="https://bofasecopsdev.service-now.com/sn_sec_cmn_ci_lookup_rule.do?sys_id=2194e48b47624710a1a9295b416d4327"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linux_server.do?sys_id=15cec45c3b742e14055e3b64c3e45a73" TargetMode="External"/><Relationship Id="rId5" Type="http://schemas.openxmlformats.org/officeDocument/2006/relationships/hyperlink" Target="https://bofasecopsdev.service-now.com/cmdb_ci_linux_server_list.do?sysparm_query=name%3Dlrchac11xsdi001" TargetMode="External"/><Relationship Id="rId6" Type="http://schemas.openxmlformats.org/officeDocument/2006/relationships/hyperlink" Target="https://bofasecopsdev.service-now.com/cmdb_ci_linux_server.do?sys_id=15cec45c3b742e14055e3b64c3e45a73" TargetMode="External"/><Relationship Id="rId7" Type="http://schemas.openxmlformats.org/officeDocument/2006/relationships/slideLayout" Target="../slideLayouts/slideLayout1.xml"/><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76283" TargetMode="External"/><Relationship Id="rId2" Type="http://schemas.openxmlformats.org/officeDocument/2006/relationships/hyperlink" Target="https://bofasecopsdev.service-now.com/cmdb_ci_server.do?sys_id=35485a949310fe1026fbfbb4ed03d640" TargetMode="External"/><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hyperlink" Target="https://bofasecopsdev.service-now.com/sn_sec_cmn_src_ci.do?sys_id=f8059a962bcf0350a277fab2f291bf8c" TargetMode="External"/><Relationship Id="rId2" Type="http://schemas.openxmlformats.org/officeDocument/2006/relationships/hyperlink" Target="https://bofasecopsdev.service-now.com/sn_sec_cmn_ci_lookup_rule.do?sys_id=6d05a88b47624710a1a9295b416d43eb"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server.do?sys_id=35485a949310fe1026fbfbb4ed03d640" TargetMode="External"/><Relationship Id="rId5" Type="http://schemas.openxmlformats.org/officeDocument/2006/relationships/hyperlink" Target="https://bofasecopsdev.service-now.com/cmdb_ci_hardware_list.do?sysparm_query=name%3Dlsdnab03xsdi009" TargetMode="External"/><Relationship Id="rId6" Type="http://schemas.openxmlformats.org/officeDocument/2006/relationships/hyperlink" Target="https://bofasecopsdev.service-now.com/cmdb_ci_server.do?sys_id=35485a949310fe1026fbfbb4ed03d640" TargetMode="External"/><Relationship Id="rId7" Type="http://schemas.openxmlformats.org/officeDocument/2006/relationships/slideLayout" Target="../slideLayouts/slideLayout1.xml"/><Relationship Id="rId8"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69773" TargetMode="External"/><Relationship Id="rId2" Type="http://schemas.openxmlformats.org/officeDocument/2006/relationships/hyperlink" Target="https://bofasecopsdev.service-now.com/cmdb_ci_server.do?sys_id=502f97033b417ed04826a7ae53e45a4c" TargetMode="External"/><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hyperlink" Target="https://bofasecopsdev.service-now.com/sn_sec_cmn_src_ci.do?sys_id=76912eb8935b4798cfcebc5a7bba10ab" TargetMode="External"/><Relationship Id="rId2" Type="http://schemas.openxmlformats.org/officeDocument/2006/relationships/hyperlink" Target="https://bofasecopsdev.service-now.com/sn_sec_cmn_ci_lookup_rule.do?sys_id=6d05a88b47624710a1a9295b416d43eb"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server.do?sys_id=502f97033b417ed04826a7ae53e45a4c" TargetMode="External"/><Relationship Id="rId5" Type="http://schemas.openxmlformats.org/officeDocument/2006/relationships/hyperlink" Target="https://bofasecopsdev.service-now.com/cmdb_ci_hardware_list.do?sysparm_query=name%3Dlsdnab05xsdi005" TargetMode="External"/><Relationship Id="rId6" Type="http://schemas.openxmlformats.org/officeDocument/2006/relationships/hyperlink" Target="https://bofasecopsdev.service-now.com/cmdb_ci_server.do?sys_id=502f97033b417ed04826a7ae53e45a4c" TargetMode="External"/><Relationship Id="rId7" Type="http://schemas.openxmlformats.org/officeDocument/2006/relationships/slideLayout" Target="../slideLayouts/slideLayout1.xml"/><Relationship Id="rId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69770" TargetMode="External"/><Relationship Id="rId2" Type="http://schemas.openxmlformats.org/officeDocument/2006/relationships/hyperlink" Target="https://bofasecopsdev.service-now.com/cmdb_ci_server.do?sys_id=7a3896949310fe1026fbfbb4ed03d695" TargetMode="External"/><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hyperlink" Target="https://bofasecopsdev.service-now.com/sn_sec_cmn_src_ci.do?sys_id=9a916ab8935b4798cfcebc5a7bba100a" TargetMode="External"/><Relationship Id="rId2" Type="http://schemas.openxmlformats.org/officeDocument/2006/relationships/hyperlink" Target="https://bofasecopsdev.service-now.com/sn_sec_cmn_ci_lookup_rule.do?sys_id=6d05a88b47624710a1a9295b416d43eb"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server.do?sys_id=7a3896949310fe1026fbfbb4ed03d695" TargetMode="External"/><Relationship Id="rId5" Type="http://schemas.openxmlformats.org/officeDocument/2006/relationships/hyperlink" Target="https://bofasecopsdev.service-now.com/cmdb_ci_hardware_list.do?sysparm_query=name%3Dlsdnab03xsdi004" TargetMode="External"/><Relationship Id="rId6" Type="http://schemas.openxmlformats.org/officeDocument/2006/relationships/hyperlink" Target="https://bofasecopsdev.service-now.com/cmdb_ci_server.do?sys_id=7a3896949310fe1026fbfbb4ed03d695" TargetMode="External"/><Relationship Id="rId7" Type="http://schemas.openxmlformats.org/officeDocument/2006/relationships/slideLayout" Target="../slideLayouts/slideLayout1.xml"/><Relationship Id="rId8"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82887" TargetMode="External"/><Relationship Id="rId2" Type="http://schemas.openxmlformats.org/officeDocument/2006/relationships/hyperlink" Target="https://bofasecopsdev.service-now.com/cmdb_ci_printer.do?sys_id=b38a64fc2b86ae54d50dffbdbe91bf08" TargetMode="External"/><Relationship Id="rId3" Type="http://schemas.openxmlformats.org/officeDocument/2006/relationships/slideLayout" Target="../slideLayouts/slideLayout1.xm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hyperlink" Target="https://bofasecopsdev.service-now.com/sn_sec_cmn_src_ci.do?sys_id=bc6c5e5a9303cb14cfcebc5a7bba10c0" TargetMode="External"/><Relationship Id="rId2" Type="http://schemas.openxmlformats.org/officeDocument/2006/relationships/hyperlink" Target="https://bofasecopsdev.service-now.com/sn_sec_cmn_ci_lookup_rule.do?sys_id=bab564cb47624710a1a9295b416d43a4"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printer.do?sys_id=b38a64fc2b86ae54d50dffbdbe91bf08" TargetMode="External"/><Relationship Id="rId5" Type="http://schemas.openxmlformats.org/officeDocument/2006/relationships/hyperlink" Target="https://bofasecopsdev.service-now.com/cmdb_ip_address_dns_name_list.do?sysparm_query=dns_name.name%3Dca6-229-01-m01.bankofamerica.com" TargetMode="External"/><Relationship Id="rId6" Type="http://schemas.openxmlformats.org/officeDocument/2006/relationships/hyperlink" Target="https://bofasecopsdev.service-now.com/cmdb_ip_address_dns_name.do?sys_id=11926a8893373a1079dafd8ab903d6ce" TargetMode="External"/><Relationship Id="rId7" Type="http://schemas.openxmlformats.org/officeDocument/2006/relationships/hyperlink" Target="https://bofasecopsdev.service-now.com/cmdb_ci_network_adapter.do?sys_id=6ca25a883b3b7a146e084b9aa4e45afa" TargetMode="External"/><Relationship Id="rId8" Type="http://schemas.openxmlformats.org/officeDocument/2006/relationships/hyperlink" Target="https://bofasecopsdev.service-now.com/cmdb_ci_printer.do?sys_id=b38a64fc2b86ae54d50dffbdbe91bf08" TargetMode="External"/><Relationship Id="rId9" Type="http://schemas.openxmlformats.org/officeDocument/2006/relationships/hyperlink" Target="https://bofasecopsdev.service-now.com/cmdb_ci_dns_name.do?sys_id=d5926a8893373a1079dafd8ab903d6cd" TargetMode="External"/><Relationship Id="rId10" Type="http://schemas.openxmlformats.org/officeDocument/2006/relationships/hyperlink" Target="https://bofasecopsdev.service-now.com/cmdb_ci_ip_address.do?sys_id=d5a29a883b3b7a146e084b9aa4e45ae2" TargetMode="External"/><Relationship Id="rId11" Type="http://schemas.openxmlformats.org/officeDocument/2006/relationships/slideLayout" Target="../slideLayouts/slideLayout1.xml"/><Relationship Id="rId1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52286" TargetMode="External"/><Relationship Id="rId2" Type="http://schemas.openxmlformats.org/officeDocument/2006/relationships/hyperlink" Target="https://bofasecopsdev.service-now.com/cmdb_ci_printer.do?sys_id=e4b9ac382b86ae54d50dffbdbe91bfe3" TargetMode="External"/><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hyperlink" Target="https://bofasecopsdev.service-now.com/sn_sec_cmn_src_ci.do?sys_id=f17bde363b3e4f180e435c8a04e45a33" TargetMode="External"/><Relationship Id="rId2" Type="http://schemas.openxmlformats.org/officeDocument/2006/relationships/hyperlink" Target="https://bofasecopsdev.service-now.com/sn_sec_cmn_ci_lookup_rule.do?sys_id=bab564cb47624710a1a9295b416d43a4"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printer.do?sys_id=e4b9ac382b86ae54d50dffbdbe91bfe3" TargetMode="External"/><Relationship Id="rId5" Type="http://schemas.openxmlformats.org/officeDocument/2006/relationships/hyperlink" Target="https://bofasecopsdev.service-now.com/cmdb_ip_address_dns_name_list.do?sysparm_query=dns_name.name%3Dca3-166-01-m02-c.bankofamerica.com" TargetMode="External"/><Relationship Id="rId6" Type="http://schemas.openxmlformats.org/officeDocument/2006/relationships/hyperlink" Target="https://bofasecopsdev.service-now.com/cmdb_ip_address_dns_name.do?sys_id=3abed2c02b7332545371f1f5d891bfad" TargetMode="External"/><Relationship Id="rId7" Type="http://schemas.openxmlformats.org/officeDocument/2006/relationships/hyperlink" Target="https://bofasecopsdev.service-now.com/cmdb_ci_network_adapter.do?sys_id=0aef8e000fb3be50f85854d530d1b2c7" TargetMode="External"/><Relationship Id="rId8" Type="http://schemas.openxmlformats.org/officeDocument/2006/relationships/hyperlink" Target="https://bofasecopsdev.service-now.com/cmdb_ci_printer.do?sys_id=e4b9ac382b86ae54d50dffbdbe91bfe3" TargetMode="External"/><Relationship Id="rId9" Type="http://schemas.openxmlformats.org/officeDocument/2006/relationships/hyperlink" Target="https://bofasecopsdev.service-now.com/cmdb_ci_dns_name.do?sys_id=b2bed2c02b7332545371f1f5d891bfad" TargetMode="External"/><Relationship Id="rId10" Type="http://schemas.openxmlformats.org/officeDocument/2006/relationships/hyperlink" Target="https://bofasecopsdev.service-now.com/cmdb_ci_ip_address.do?sys_id=feefce000fb3be50f85854d530d1b2b7" TargetMode="External"/><Relationship Id="rId11" Type="http://schemas.openxmlformats.org/officeDocument/2006/relationships/slideLayout" Target="../slideLayouts/slideLayout1.xml"/><Relationship Id="rId1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85182" TargetMode="External"/><Relationship Id="rId2" Type="http://schemas.openxmlformats.org/officeDocument/2006/relationships/hyperlink" Target="https://bofasecopsdev.service-now.com/cmdb_ci_printer.do?sys_id=a18a20fc2b86ae54d50dffbdbe91bf86" TargetMode="External"/><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hyperlink" Target="https://bofasecopsdev.service-now.com/sn_sec_cmn_src_ci.do?sys_id=a48172b2eb7ecf14017ff4d7cad0cdf3" TargetMode="External"/><Relationship Id="rId2" Type="http://schemas.openxmlformats.org/officeDocument/2006/relationships/hyperlink" Target="https://bofasecopsdev.service-now.com/sn_sec_cmn_ci_lookup_rule.do?sys_id=bab564cb47624710a1a9295b416d43a4"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printer.do?sys_id=a18a20fc2b86ae54d50dffbdbe91bf86" TargetMode="External"/><Relationship Id="rId5" Type="http://schemas.openxmlformats.org/officeDocument/2006/relationships/hyperlink" Target="https://bofasecopsdev.service-now.com/cmdb_ip_address_dns_name_list.do?sysparm_query=dns_name.name%3Dca6-168-02-p200.bankofamerica.com" TargetMode="External"/><Relationship Id="rId6" Type="http://schemas.openxmlformats.org/officeDocument/2006/relationships/hyperlink" Target="https://bofasecopsdev.service-now.com/cmdb_ip_address_dns_name.do?sys_id=85079a8093f33a1079dafd8ab903d645" TargetMode="External"/><Relationship Id="rId7" Type="http://schemas.openxmlformats.org/officeDocument/2006/relationships/hyperlink" Target="https://bofasecopsdev.service-now.com/cmdb_ci_network_adapter.do?sys_id=543c0ac8eb7b3a10ea58f81dfdc0cdc2" TargetMode="External"/><Relationship Id="rId8" Type="http://schemas.openxmlformats.org/officeDocument/2006/relationships/hyperlink" Target="https://bofasecopsdev.service-now.com/cmdb_ci_printer.do?sys_id=a18a20fc2b86ae54d50dffbdbe91bf86" TargetMode="External"/><Relationship Id="rId9" Type="http://schemas.openxmlformats.org/officeDocument/2006/relationships/hyperlink" Target="https://bofasecopsdev.service-now.com/cmdb_ci_dns_name.do?sys_id=01079a8093f33a1079dafd8ab903d645" TargetMode="External"/><Relationship Id="rId10" Type="http://schemas.openxmlformats.org/officeDocument/2006/relationships/hyperlink" Target="https://bofasecopsdev.service-now.com/cmdb_ci_ip_address.do?sys_id=413c8ac8eb7b3a10ea58f81dfdc0cd9f" TargetMode="External"/><Relationship Id="rId11" Type="http://schemas.openxmlformats.org/officeDocument/2006/relationships/slideLayout" Target="../slideLayouts/slideLayout1.xml"/><Relationship Id="rId1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129664" TargetMode="External"/><Relationship Id="rId2" Type="http://schemas.openxmlformats.org/officeDocument/2006/relationships/hyperlink" Target="https://bofasecopsdev.service-now.com/cmdb_ci_win_server.do?sys_id=27e62ee33b5022d0055e3b64c3e45ae1" TargetMode="External"/><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hyperlink" Target="https://bofasecopsdev.service-now.com/sn_sec_cmn_src_ci.do?sys_id=d2eccbb22b7a4758a277fab2f291bfca" TargetMode="External"/><Relationship Id="rId2" Type="http://schemas.openxmlformats.org/officeDocument/2006/relationships/hyperlink" Target="https://bofasecopsdev.service-now.com/sn_sec_cmn_ci_lookup_rule.do?sys_id=5b1628cb47624710a1a9295b416d438d"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win_server.do?sys_id=27e62ee33b5022d0055e3b64c3e45ae1" TargetMode="External"/><Relationship Id="rId5" Type="http://schemas.openxmlformats.org/officeDocument/2006/relationships/hyperlink" Target="https://bofasecopsdev.service-now.com/cmdb_ci_win_server_list.do?sysparm_query=name%3Dwsina1cdreapp" TargetMode="External"/><Relationship Id="rId6" Type="http://schemas.openxmlformats.org/officeDocument/2006/relationships/hyperlink" Target="https://bofasecopsdev.service-now.com/cmdb_ci_win_server.do?sys_id=27e62ee33b5022d0055e3b64c3e45ae1" TargetMode="External"/><Relationship Id="rId7" Type="http://schemas.openxmlformats.org/officeDocument/2006/relationships/slideLayout" Target="../slideLayouts/slideLayout1.xml"/><Relationship Id="rId8"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76309" TargetMode="External"/><Relationship Id="rId2" Type="http://schemas.openxmlformats.org/officeDocument/2006/relationships/hyperlink" Target="https://bofasecopsdev.service-now.com/cmdb_ci_linux_server.do?sys_id=a1194c903bbc2614d5062b64c3e45a71" TargetMode="External"/><Relationship Id="rId3" Type="http://schemas.openxmlformats.org/officeDocument/2006/relationships/slideLayout" Target="../slideLayouts/slideLayout1.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hyperlink" Target="https://bofasecopsdev.service-now.com/sn_sec_cmn_src_ci.do?sys_id=0e05da962bcf0350a277fab2f291bf72" TargetMode="External"/><Relationship Id="rId2" Type="http://schemas.openxmlformats.org/officeDocument/2006/relationships/hyperlink" Target="https://bofasecopsdev.service-now.com/sn_sec_cmn_ci_lookup_rule.do?sys_id=5b1628cb47624710a1a9295b416d438d"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linux_server.do?sys_id=a1194c903bbc2614d5062b64c3e45a71" TargetMode="External"/><Relationship Id="rId5" Type="http://schemas.openxmlformats.org/officeDocument/2006/relationships/hyperlink" Target="https://bofasecopsdev.service-now.com/cmdb_ci_linux_server_list.do?sysparm_query=name%3Dlrchab85xsdi015" TargetMode="External"/><Relationship Id="rId6" Type="http://schemas.openxmlformats.org/officeDocument/2006/relationships/hyperlink" Target="https://bofasecopsdev.service-now.com/cmdb_ci_linux_server.do?sys_id=a1194c903bbc2614d5062b64c3e45a71" TargetMode="External"/><Relationship Id="rId7" Type="http://schemas.openxmlformats.org/officeDocument/2006/relationships/slideLayout" Target="../slideLayouts/slideLayout1.xml"/><Relationship Id="rId8"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129660" TargetMode="External"/><Relationship Id="rId2" Type="http://schemas.openxmlformats.org/officeDocument/2006/relationships/hyperlink" Target="https://bofasecopsdev.service-now.com/cmdb_ci_win_server.do?sys_id=0a7265773bd062d0055e3b64c3e45a23" TargetMode="External"/><Relationship Id="rId3" Type="http://schemas.openxmlformats.org/officeDocument/2006/relationships/slideLayout" Target="../slideLayouts/slideLayout1.xm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hyperlink" Target="https://bofasecopsdev.service-now.com/sn_sec_cmn_src_ci.do?sys_id=caeccbb22b7a4758a277fab2f291bf9d" TargetMode="External"/><Relationship Id="rId2" Type="http://schemas.openxmlformats.org/officeDocument/2006/relationships/hyperlink" Target="https://bofasecopsdev.service-now.com/sn_sec_cmn_ci_lookup_rule.do?sys_id=5b1628cb47624710a1a9295b416d438d"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win_server.do?sys_id=0a7265773bd062d0055e3b64c3e45a23" TargetMode="External"/><Relationship Id="rId5" Type="http://schemas.openxmlformats.org/officeDocument/2006/relationships/hyperlink" Target="https://bofasecopsdev.service-now.com/cmdb_ci_win_server_list.do?sysparm_query=name%3Dwva20bmcvlfs21v" TargetMode="External"/><Relationship Id="rId6" Type="http://schemas.openxmlformats.org/officeDocument/2006/relationships/hyperlink" Target="https://bofasecopsdev.service-now.com/cmdb_ci_win_server.do?sys_id=0a7265773bd062d0055e3b64c3e45a23" TargetMode="External"/><Relationship Id="rId7" Type="http://schemas.openxmlformats.org/officeDocument/2006/relationships/slideLayout" Target="../slideLayouts/slideLayout1.xml"/><Relationship Id="rId8"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50853" TargetMode="External"/><Relationship Id="rId2" Type="http://schemas.openxmlformats.org/officeDocument/2006/relationships/hyperlink" Target="https://bofasecopsdev.service-now.com/cmdb_ci_server.do?sys_id=2b66dbe59348b254b096f35e1dba1064" TargetMode="External"/><Relationship Id="rId3" Type="http://schemas.openxmlformats.org/officeDocument/2006/relationships/slideLayout" Target="../slideLayouts/slideLayout1.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hyperlink" Target="https://bofasecopsdev.service-now.com/sn_sec_cmn_src_ci.do?sys_id=b3646affeb4b4350017ff4d7cad0cda0" TargetMode="External"/><Relationship Id="rId2" Type="http://schemas.openxmlformats.org/officeDocument/2006/relationships/hyperlink" Target="https://bofasecopsdev.service-now.com/sn_sec_cmn_ci_lookup_rule.do?sys_id=1c38204f47624710a1a9295b416d4305"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server.do?sys_id=2b66dbe59348b254b096f35e1dba1064" TargetMode="External"/><Relationship Id="rId5" Type="http://schemas.openxmlformats.org/officeDocument/2006/relationships/hyperlink" Target="https://bofasecopsdev.service-now.com/cmdb_ci_hardware_list.do?sysparm_query=name%3Dlrchac09xsdi013" TargetMode="External"/><Relationship Id="rId6" Type="http://schemas.openxmlformats.org/officeDocument/2006/relationships/hyperlink" Target="https://bofasecopsdev.service-now.com/cmdb_ci_server.do?sys_id=2b66dbe59348b254b096f35e1dba1064" TargetMode="External"/><Relationship Id="rId7" Type="http://schemas.openxmlformats.org/officeDocument/2006/relationships/slideLayout" Target="../slideLayouts/slideLayout1.xml"/><Relationship Id="rId8"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05570" TargetMode="External"/><Relationship Id="rId2" Type="http://schemas.openxmlformats.org/officeDocument/2006/relationships/hyperlink" Target="https://bofasecopsdev.service-now.com/cmdb_ci_computer.do?sys_id=215ec3123b046e10055e3b64c3e45af6" TargetMode="External"/><Relationship Id="rId3" Type="http://schemas.openxmlformats.org/officeDocument/2006/relationships/slideLayout" Target="../slideLayouts/slideLayout1.xm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hyperlink" Target="https://bofasecopsdev.service-now.com/sn_sec_cmn_src_ci.do?sys_id=5af3a6963bc7039c9289d164c3e45aef" TargetMode="External"/><Relationship Id="rId2" Type="http://schemas.openxmlformats.org/officeDocument/2006/relationships/hyperlink" Target="https://bofasecopsdev.service-now.com/sn_sec_cmn_ci_lookup_rule.do?sys_id=1c38204f47624710a1a9295b416d4305"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computer.do?sys_id=215ec3123b046e10055e3b64c3e45af6" TargetMode="External"/><Relationship Id="rId5" Type="http://schemas.openxmlformats.org/officeDocument/2006/relationships/hyperlink" Target="https://bofasecopsdev.service-now.com/cmdb_ci_hardware_list.do?sysparm_query=name%3Dd011e580110bmac" TargetMode="External"/><Relationship Id="rId6" Type="http://schemas.openxmlformats.org/officeDocument/2006/relationships/hyperlink" Target="https://bofasecopsdev.service-now.com/cmdb_ci_computer.do?sys_id=215ec3123b046e10055e3b64c3e45af6" TargetMode="External"/><Relationship Id="rId7" Type="http://schemas.openxmlformats.org/officeDocument/2006/relationships/slideLayout" Target="../slideLayouts/slideLayout1.xml"/><Relationship Id="rId8"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50834" TargetMode="External"/><Relationship Id="rId2" Type="http://schemas.openxmlformats.org/officeDocument/2006/relationships/hyperlink" Target="https://bofasecopsdev.service-now.com/cmdb_ci_server.do?sys_id=c4b557ed9388321499fa7dd548373c4d" TargetMode="External"/><Relationship Id="rId3" Type="http://schemas.openxmlformats.org/officeDocument/2006/relationships/slideLayout" Target="../slideLayouts/slideLayout1.xml"/><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hyperlink" Target="https://bofasecopsdev.service-now.com/sn_sec_cmn_src_ci.do?sys_id=5344eebfeb4b4350017ff4d7cad0cd28" TargetMode="External"/><Relationship Id="rId2" Type="http://schemas.openxmlformats.org/officeDocument/2006/relationships/hyperlink" Target="https://bofasecopsdev.service-now.com/sn_sec_cmn_ci_lookup_rule.do?sys_id=1c38204f47624710a1a9295b416d4305"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server.do?sys_id=c4b557ed9388321499fa7dd548373c4d" TargetMode="External"/><Relationship Id="rId5" Type="http://schemas.openxmlformats.org/officeDocument/2006/relationships/hyperlink" Target="https://bofasecopsdev.service-now.com/cmdb_ci_hardware_list.do?sysparm_query=name%3Dlrchac09xsdi003" TargetMode="External"/><Relationship Id="rId6" Type="http://schemas.openxmlformats.org/officeDocument/2006/relationships/hyperlink" Target="https://bofasecopsdev.service-now.com/cmdb_ci_server.do?sys_id=c4b557ed9388321499fa7dd548373c4d" TargetMode="External"/><Relationship Id="rId7" Type="http://schemas.openxmlformats.org/officeDocument/2006/relationships/slideLayout" Target="../slideLayouts/slideLayout1.xml"/><Relationship Id="rId8"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799341" TargetMode="External"/><Relationship Id="rId2" Type="http://schemas.openxmlformats.org/officeDocument/2006/relationships/hyperlink" Target="https://bofasecopsdev.service-now.com/cmdb_ci_ip_phone.do?sys_id=e07817742b062694d50dffbdbe91bf38" TargetMode="External"/><Relationship Id="rId3" Type="http://schemas.openxmlformats.org/officeDocument/2006/relationships/slideLayout" Target="../slideLayouts/slideLayout1.xml"/><Relationship Id="rId4"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hyperlink" Target="https://bofasecopsdev.service-now.com/sn_sec_cmn_src_ci.do?sys_id=6714e30c2bebc710a277fab2f291bf41" TargetMode="External"/><Relationship Id="rId2" Type="http://schemas.openxmlformats.org/officeDocument/2006/relationships/hyperlink" Target="https://bofasecopsdev.service-now.com/sn_sec_cmn_ci_lookup_rule.do?sys_id=725622123b9b4310e973496ea5e45abb"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ip_phone.do?sys_id=e07817742b062694d50dffbdbe91bf38" TargetMode="External"/><Relationship Id="rId5" Type="http://schemas.openxmlformats.org/officeDocument/2006/relationships/hyperlink" Target="https://bofasecopsdev.service-now.com/cmdb_ci_ip_phone_list.do?sysparm_query=name%3Davxef52fb" TargetMode="External"/><Relationship Id="rId6" Type="http://schemas.openxmlformats.org/officeDocument/2006/relationships/hyperlink" Target="https://bofasecopsdev.service-now.com/cmdb_ci_ip_phone.do?sys_id=e07817742b062694d50dffbdbe91bf38" TargetMode="External"/><Relationship Id="rId7" Type="http://schemas.openxmlformats.org/officeDocument/2006/relationships/hyperlink" Target="https://bofasecopsdev.service-now.com/cmdb_ci_imaging_hardware_list.do?sysparm_query=name%3Davxef52fb" TargetMode="External"/><Relationship Id="rId8" Type="http://schemas.openxmlformats.org/officeDocument/2006/relationships/slideLayout" Target="../slideLayouts/slideLayout1.xml"/><Relationship Id="rId9"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799352" TargetMode="External"/><Relationship Id="rId2" Type="http://schemas.openxmlformats.org/officeDocument/2006/relationships/hyperlink" Target="https://bofasecopsdev.service-now.com/cmdb_ci_ip_phone.do?sys_id=19b683b83b4e2254860863b693e45a0e" TargetMode="External"/><Relationship Id="rId3" Type="http://schemas.openxmlformats.org/officeDocument/2006/relationships/slideLayout" Target="../slideLayouts/slideLayout1.xml"/><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hyperlink" Target="https://bofasecopsdev.service-now.com/sn_sec_cmn_src_ci.do?sys_id=e024670c2bebc710a277fab2f291bf2a" TargetMode="External"/><Relationship Id="rId2" Type="http://schemas.openxmlformats.org/officeDocument/2006/relationships/hyperlink" Target="https://bofasecopsdev.service-now.com/sn_sec_cmn_ci_lookup_rule.do?sys_id=725622123b9b4310e973496ea5e45abb"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ip_phone.do?sys_id=19b683b83b4e2254860863b693e45a0e" TargetMode="External"/><Relationship Id="rId5" Type="http://schemas.openxmlformats.org/officeDocument/2006/relationships/hyperlink" Target="https://bofasecopsdev.service-now.com/cmdb_ci_ip_phone_list.do?sysparm_query=name%3Davxef5783" TargetMode="External"/><Relationship Id="rId6" Type="http://schemas.openxmlformats.org/officeDocument/2006/relationships/hyperlink" Target="https://bofasecopsdev.service-now.com/cmdb_ci_ip_phone.do?sys_id=19b683b83b4e2254860863b693e45a0e" TargetMode="External"/><Relationship Id="rId7" Type="http://schemas.openxmlformats.org/officeDocument/2006/relationships/hyperlink" Target="https://bofasecopsdev.service-now.com/cmdb_ci_imaging_hardware_list.do?sysparm_query=name%3Davxef5783" TargetMode="External"/><Relationship Id="rId8" Type="http://schemas.openxmlformats.org/officeDocument/2006/relationships/slideLayout" Target="../slideLayouts/slideLayout1.xml"/><Relationship Id="rId9"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799469" TargetMode="External"/><Relationship Id="rId2" Type="http://schemas.openxmlformats.org/officeDocument/2006/relationships/hyperlink" Target="https://bofasecopsdev.service-now.com/cmdb_ci_ip_phone.do?sys_id=50f767343bce6254860863b693e45a2b" TargetMode="External"/><Relationship Id="rId3" Type="http://schemas.openxmlformats.org/officeDocument/2006/relationships/slideLayout" Target="../slideLayouts/slideLayout1.xml"/><Relationship Id="rId4"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hyperlink" Target="https://bofasecopsdev.service-now.com/sn_sec_cmn_src_ci.do?sys_id=39e867883b6b47102fcecefe23e45a7f" TargetMode="External"/><Relationship Id="rId2" Type="http://schemas.openxmlformats.org/officeDocument/2006/relationships/hyperlink" Target="https://bofasecopsdev.service-now.com/sn_sec_cmn_ci_lookup_rule.do?sys_id=725622123b9b4310e973496ea5e45abb"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ip_phone.do?sys_id=50f767343bce6254860863b693e45a2b" TargetMode="External"/><Relationship Id="rId5" Type="http://schemas.openxmlformats.org/officeDocument/2006/relationships/hyperlink" Target="https://bofasecopsdev.service-now.com/cmdb_ci_ip_phone_list.do?sysparm_query=name%3Davxf1efdf" TargetMode="External"/><Relationship Id="rId6" Type="http://schemas.openxmlformats.org/officeDocument/2006/relationships/hyperlink" Target="https://bofasecopsdev.service-now.com/cmdb_ci_ip_phone.do?sys_id=50f767343bce6254860863b693e45a2b" TargetMode="External"/><Relationship Id="rId7" Type="http://schemas.openxmlformats.org/officeDocument/2006/relationships/hyperlink" Target="https://bofasecopsdev.service-now.com/cmdb_ci_imaging_hardware_list.do?sysparm_query=name%3Davxf1efdf" TargetMode="External"/><Relationship Id="rId8" Type="http://schemas.openxmlformats.org/officeDocument/2006/relationships/slideLayout" Target="../slideLayouts/slideLayout1.xml"/><Relationship Id="rId9"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647592" TargetMode="External"/><Relationship Id="rId2" Type="http://schemas.openxmlformats.org/officeDocument/2006/relationships/hyperlink" Target="https://bofasecopsdev.service-now.com/cmdb_ci_linux_server.do?sys_id=a53749b02b062e54d28af8a4ce91bf65" TargetMode="External"/><Relationship Id="rId3" Type="http://schemas.openxmlformats.org/officeDocument/2006/relationships/slideLayout" Target="../slideLayouts/slideLayout1.xml"/><Relationship Id="rId4"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hyperlink" Target="https://bofasecopsdev.service-now.com/sn_sec_cmn_src_ci.do?sys_id=918911a23bbe83180e435c8a04e45a8d" TargetMode="External"/><Relationship Id="rId2" Type="http://schemas.openxmlformats.org/officeDocument/2006/relationships/hyperlink" Target="https://bofasecopsdev.service-now.com/sn_sec_cmn_ci_lookup_rule.do?sys_id=fdd5d3dc2b534350e76ff4bc4e91bf40"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linux_server.do?sys_id=a53749b02b062e54d28af8a4ce91bf65" TargetMode="External"/><Relationship Id="rId5" Type="http://schemas.openxmlformats.org/officeDocument/2006/relationships/hyperlink" Target="https://bofasecopsdev.service-now.com/cmdb_ci_hardware_list.do?sysparm_query=name%3Dlva10regbxch0j" TargetMode="External"/><Relationship Id="rId6" Type="http://schemas.openxmlformats.org/officeDocument/2006/relationships/hyperlink" Target="https://bofasecopsdev.service-now.com/cmdb_ci_linux_server.do?sys_id=a53749b02b062e54d28af8a4ce91bf65" TargetMode="External"/><Relationship Id="rId7" Type="http://schemas.openxmlformats.org/officeDocument/2006/relationships/slideLayout" Target="../slideLayouts/slideLayout1.xml"/><Relationship Id="rId8"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530819" TargetMode="External"/><Relationship Id="rId2" Type="http://schemas.openxmlformats.org/officeDocument/2006/relationships/hyperlink" Target="https://bofasecopsdev.service-now.com/cmdb_ci_linux_server.do?sys_id=a8cf49353b4e6a90be6d95c964e45a24" TargetMode="External"/><Relationship Id="rId3" Type="http://schemas.openxmlformats.org/officeDocument/2006/relationships/slideLayout" Target="../slideLayouts/slideLayout1.xml"/><Relationship Id="rId4"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hyperlink" Target="https://bofasecopsdev.service-now.com/sn_sec_cmn_src_ci.do?sys_id=1957cc663b3ecf942fcecefe23e45aef" TargetMode="External"/><Relationship Id="rId2" Type="http://schemas.openxmlformats.org/officeDocument/2006/relationships/hyperlink" Target="https://bofasecopsdev.service-now.com/sn_sec_cmn_ci_lookup_rule.do?sys_id=fdd5d3dc2b534350e76ff4bc4e91bf40"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linux_server.do?sys_id=a8cf49353b4e6a90be6d95c964e45a24" TargetMode="External"/><Relationship Id="rId5" Type="http://schemas.openxmlformats.org/officeDocument/2006/relationships/hyperlink" Target="https://bofasecopsdev.service-now.com/cmdb_ci_hardware_list.do?sysparm_query=name%3Dxvu46dbm07" TargetMode="External"/><Relationship Id="rId6" Type="http://schemas.openxmlformats.org/officeDocument/2006/relationships/hyperlink" Target="https://bofasecopsdev.service-now.com/cmdb_ci_linux_server.do?sys_id=a8cf49353b4e6a90be6d95c964e45a24" TargetMode="External"/><Relationship Id="rId7" Type="http://schemas.openxmlformats.org/officeDocument/2006/relationships/slideLayout" Target="../slideLayouts/slideLayout1.xml"/><Relationship Id="rId8"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103867" TargetMode="External"/><Relationship Id="rId2" Type="http://schemas.openxmlformats.org/officeDocument/2006/relationships/hyperlink" Target="https://bofasecopsdev.service-now.com/cmdb_ci_ip_firewall.do?sys_id=f7300d7d3b466a90be6d95c964e45a21" TargetMode="External"/><Relationship Id="rId3" Type="http://schemas.openxmlformats.org/officeDocument/2006/relationships/slideLayout" Target="../slideLayouts/slideLayout1.xml"/><Relationship Id="rId4"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hyperlink" Target="https://bofasecopsdev.service-now.com/sn_sec_cmn_src_ci.do?sys_id=bc3e32beebfecf14017ff4d7cad0cdc9" TargetMode="External"/><Relationship Id="rId2" Type="http://schemas.openxmlformats.org/officeDocument/2006/relationships/hyperlink" Target="https://bofasecopsdev.service-now.com/sn_sec_cmn_ci_lookup_rule.do?sys_id=fdd5d3dc2b534350e76ff4bc4e91bf40"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ip_firewall.do?sys_id=f7300d7d3b466a90be6d95c964e45a21" TargetMode="External"/><Relationship Id="rId5" Type="http://schemas.openxmlformats.org/officeDocument/2006/relationships/hyperlink" Target="https://bofasecopsdev.service-now.com/cmdb_ci_hardware_list.do?sysparm_query=name%3Dsgcpap1mbl11" TargetMode="External"/><Relationship Id="rId6" Type="http://schemas.openxmlformats.org/officeDocument/2006/relationships/hyperlink" Target="https://bofasecopsdev.service-now.com/cmdb_ci_ip_firewall.do?sys_id=f7300d7d3b466a90be6d95c964e45a21" TargetMode="External"/><Relationship Id="rId7" Type="http://schemas.openxmlformats.org/officeDocument/2006/relationships/slideLayout" Target="../slideLayouts/slideLayout1.xml"/><Relationship Id="rId8"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800077" TargetMode="External"/><Relationship Id="rId2" Type="http://schemas.openxmlformats.org/officeDocument/2006/relationships/hyperlink" Target="https://bofasecopsdev.service-now.com/cmdb_ci_ip_switch.do?sys_id=aaac6f842b256610cca5f39ec891bf8d" TargetMode="External"/><Relationship Id="rId3" Type="http://schemas.openxmlformats.org/officeDocument/2006/relationships/slideLayout" Target="../slideLayouts/slideLayout1.xml"/><Relationship Id="rId4"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hyperlink" Target="https://bofasecopsdev.service-now.com/sn_sec_cmn_src_ci.do?sys_id=8d6b274c93a747109110fe584dba104b" TargetMode="External"/><Relationship Id="rId2" Type="http://schemas.openxmlformats.org/officeDocument/2006/relationships/hyperlink" Target="https://bofasecopsdev.service-now.com/sn_sec_cmn_ci_lookup_rule.do?sys_id=34c1171c2b534350e76ff4bc4e91bfb4"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ip_switch.do?sys_id=aaac6f842b256610cca5f39ec891bf8d" TargetMode="External"/><Relationship Id="rId5" Type="http://schemas.openxmlformats.org/officeDocument/2006/relationships/hyperlink" Target="https://bofasecopsdev.service-now.com/cmdb_ci_netgear_list.do?sysparm_query=name%3Dtwtwtpett48bdm0002-eth1" TargetMode="External"/><Relationship Id="rId6" Type="http://schemas.openxmlformats.org/officeDocument/2006/relationships/hyperlink" Target="https://bofasecopsdev.service-now.com/cmdb_ci_lb_list.do?sysparm_query=name%3Dtwtwtpett48bdm0002-eth1" TargetMode="External"/><Relationship Id="rId7" Type="http://schemas.openxmlformats.org/officeDocument/2006/relationships/hyperlink" Target="https://bofasecopsdev.service-now.com/cmdb_ci_netgear_list.do?sysparm_query=name%3Dtwtwtpett48bdm0002" TargetMode="External"/><Relationship Id="rId8" Type="http://schemas.openxmlformats.org/officeDocument/2006/relationships/hyperlink" Target="https://bofasecopsdev.service-now.com/cmdb_ci_ip_switch.do?sys_id=aaac6f842b256610cca5f39ec891bf8d" TargetMode="External"/><Relationship Id="rId9" Type="http://schemas.openxmlformats.org/officeDocument/2006/relationships/hyperlink" Target="https://bofasecopsdev.service-now.com/cmdb_ci_lb_list.do?sysparm_query=name%3Dtwtwtpett48bdm0002" TargetMode="External"/><Relationship Id="rId10" Type="http://schemas.openxmlformats.org/officeDocument/2006/relationships/slideLayout" Target="../slideLayouts/slideLayout1.xml"/><Relationship Id="rId11"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800075" TargetMode="External"/><Relationship Id="rId2" Type="http://schemas.openxmlformats.org/officeDocument/2006/relationships/hyperlink" Target="https://bofasecopsdev.service-now.com/cmdb_ci_ip_switch.do?sys_id=28acb0423bd00754a052e71864e45a01" TargetMode="External"/><Relationship Id="rId3" Type="http://schemas.openxmlformats.org/officeDocument/2006/relationships/slideLayout" Target="../slideLayouts/slideLayout1.xml"/><Relationship Id="rId4"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hyperlink" Target="https://bofasecopsdev.service-now.com/sn_sec_cmn_src_ci.do?sys_id=d74a274493a747109110fe584dba10f9" TargetMode="External"/><Relationship Id="rId2" Type="http://schemas.openxmlformats.org/officeDocument/2006/relationships/hyperlink" Target="https://bofasecopsdev.service-now.com/sn_sec_cmn_ci_lookup_rule.do?sys_id=34c1171c2b534350e76ff4bc4e91bfb4"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ip_switch.do?sys_id=28acb0423bd00754a052e71864e45a01" TargetMode="External"/><Relationship Id="rId5" Type="http://schemas.openxmlformats.org/officeDocument/2006/relationships/hyperlink" Target="https://bofasecopsdev.service-now.com/cmdb_ci_netgear_list.do?sysparm_query=name%3Dsgsgsings07drm0156-cz01" TargetMode="External"/><Relationship Id="rId6" Type="http://schemas.openxmlformats.org/officeDocument/2006/relationships/hyperlink" Target="https://bofasecopsdev.service-now.com/cmdb_ci_ip_switch.do?sys_id=28acb0423bd00754a052e71864e45a01" TargetMode="External"/><Relationship Id="rId7" Type="http://schemas.openxmlformats.org/officeDocument/2006/relationships/hyperlink" Target="https://bofasecopsdev.service-now.com/cmdb_ci_lb_list.do?sysparm_query=name%3Dsgsgsings07drm0156-cz01" TargetMode="External"/><Relationship Id="rId8" Type="http://schemas.openxmlformats.org/officeDocument/2006/relationships/slideLayout" Target="../slideLayouts/slideLayout1.xml"/><Relationship Id="rId9"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799353" TargetMode="External"/><Relationship Id="rId2" Type="http://schemas.openxmlformats.org/officeDocument/2006/relationships/hyperlink" Target="https://bofasecopsdev.service-now.com/cmdb_ci_lb.do?sys_id=fedb74f52bc6ae94d28af8a4ce91bf69" TargetMode="External"/><Relationship Id="rId3" Type="http://schemas.openxmlformats.org/officeDocument/2006/relationships/slideLayout" Target="../slideLayouts/slideLayout1.xml"/><Relationship Id="rId4"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hyperlink" Target="https://bofasecopsdev.service-now.com/sn_sec_cmn_src_ci.do?sys_id=9b646b8c2bebc710a277fab2f291bfa0" TargetMode="External"/><Relationship Id="rId2" Type="http://schemas.openxmlformats.org/officeDocument/2006/relationships/hyperlink" Target="https://bofasecopsdev.service-now.com/sn_sec_cmn_ci_lookup_rule.do?sys_id=34c1171c2b534350e76ff4bc4e91bfb4"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lb.do?sys_id=fedb74f52bc6ae94d28af8a4ce91bf69" TargetMode="External"/><Relationship Id="rId5" Type="http://schemas.openxmlformats.org/officeDocument/2006/relationships/hyperlink" Target="https://bofasecopsdev.service-now.com/cmdb_ci_netgear_list.do?sysparm_query=name%3Dsgcppz1utilb01a" TargetMode="External"/><Relationship Id="rId6" Type="http://schemas.openxmlformats.org/officeDocument/2006/relationships/hyperlink" Target="https://bofasecopsdev.service-now.com/cmdb_ci_lb_list.do?sysparm_query=name%3Dsgcppz1utilb01a" TargetMode="External"/><Relationship Id="rId7" Type="http://schemas.openxmlformats.org/officeDocument/2006/relationships/hyperlink" Target="https://bofasecopsdev.service-now.com/cmdb_ci_lb.do?sys_id=fedb74f52bc6ae94d28af8a4ce91bf69" TargetMode="External"/><Relationship Id="rId8" Type="http://schemas.openxmlformats.org/officeDocument/2006/relationships/slideLayout" Target="../slideLayouts/slideLayout1.xml"/><Relationship Id="rId9"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103157" TargetMode="External"/><Relationship Id="rId2" Type="http://schemas.openxmlformats.org/officeDocument/2006/relationships/hyperlink" Target="https://bofasecopsdev.service-now.com/cmdb_ci_printer.do?sys_id=7ed9e0b82b86ae54d50dffbdbe91bf4b" TargetMode="External"/><Relationship Id="rId3" Type="http://schemas.openxmlformats.org/officeDocument/2006/relationships/slideLayout" Target="../slideLayouts/slideLayout1.xml"/><Relationship Id="rId4"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hyperlink" Target="https://bofasecopsdev.service-now.com/sn_sec_cmn_src_ci.do?sys_id=e8ddba3a93fec310cfcebc5a7bba10fc" TargetMode="External"/><Relationship Id="rId2" Type="http://schemas.openxmlformats.org/officeDocument/2006/relationships/hyperlink" Target="https://bofasecopsdev.service-now.com/sn_sec_cmn_ci_lookup_rule.do?sys_id=0678604f47624710a1a9295b416d4377"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printer.do?sys_id=7ed9e0b82b86ae54d50dffbdbe91bf4b" TargetMode="External"/><Relationship Id="rId5" Type="http://schemas.openxmlformats.org/officeDocument/2006/relationships/hyperlink" Target="https://bofasecopsdev.service-now.com/cmdb_ci_hardware_list.do?sysparm_query=name%3Dca9-107-01-m02.bankofamerica.com" TargetMode="External"/><Relationship Id="rId6" Type="http://schemas.openxmlformats.org/officeDocument/2006/relationships/hyperlink" Target="https://bofasecopsdev.service-now.com/cmdb_ci_printer.do?sys_id=7ed9e0b82b86ae54d50dffbdbe91bf4b" TargetMode="External"/><Relationship Id="rId7" Type="http://schemas.openxmlformats.org/officeDocument/2006/relationships/slideLayout" Target="../slideLayouts/slideLayout1.xml"/><Relationship Id="rId8"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93687" TargetMode="External"/><Relationship Id="rId2" Type="http://schemas.openxmlformats.org/officeDocument/2006/relationships/hyperlink" Target="https://bofasecopsdev.service-now.com/cmdb_ci_linux_server.do?sys_id=f2130b8693966a107fb5f842ed03d653" TargetMode="External"/><Relationship Id="rId3" Type="http://schemas.openxmlformats.org/officeDocument/2006/relationships/slideLayout" Target="../slideLayouts/slideLayout1.xml"/><Relationship Id="rId4"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hyperlink" Target="https://bofasecopsdev.service-now.com/sn_sec_cmn_src_ci.do?sys_id=deb3b97a3bfe4b189289d164c3e45a59" TargetMode="External"/><Relationship Id="rId2" Type="http://schemas.openxmlformats.org/officeDocument/2006/relationships/hyperlink" Target="https://bofasecopsdev.service-now.com/sn_sec_cmn_ci_lookup_rule.do?sys_id=52af62963b9b4310e973496ea5e45aa5"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linux_server.do?sys_id=f2130b8693966a107fb5f842ed03d653" TargetMode="External"/><Relationship Id="rId5" Type="http://schemas.openxmlformats.org/officeDocument/2006/relationships/hyperlink" Target="https://bofasecopsdev.service-now.com/cmdb_ci_lb_service_list.do?sysparm_query=fqdn%3Dboluiv4-dev2-benefits-l7-vip1.dev.gwimnp.rpg" TargetMode="External"/><Relationship Id="rId6" Type="http://schemas.openxmlformats.org/officeDocument/2006/relationships/hyperlink" Target="https://bofasecopsdev.service-now.com/cmdb_ci_lb_service_list.do?sysparm_query=name%3Dboluiv4-dev2-benefits-l7-vip1.dev.gwimnp.rpg" TargetMode="External"/><Relationship Id="rId7" Type="http://schemas.openxmlformats.org/officeDocument/2006/relationships/hyperlink" Target="https://bofasecopsdev.service-now.com/cmdb_ci_lb_service_list.do?sysparm_query=name%3Dboluiv4-dev2-benefits-l7-vip1" TargetMode="External"/><Relationship Id="rId8" Type="http://schemas.openxmlformats.org/officeDocument/2006/relationships/hyperlink" Target="https://bofasecopsdev.service-now.com/cmdb_ci_lb_service_list.do?sysparm_query=ip_address%3D10.143.53.96" TargetMode="External"/><Relationship Id="rId9" Type="http://schemas.openxmlformats.org/officeDocument/2006/relationships/hyperlink" Target="https://bofasecopsdev.service-now.com/cmdb_ci_lb_service.do?sys_id=a966482d3b68c710ae0c4047f4e45ab3" TargetMode="External"/><Relationship Id="rId10" Type="http://schemas.openxmlformats.org/officeDocument/2006/relationships/hyperlink" Target="https://bofasecopsdev.service-now.com/cmdb_ci_lb_pool.do?sys_id=3066482d3b68c710ae0c4047f4e45aac" TargetMode="External"/><Relationship Id="rId11" Type="http://schemas.openxmlformats.org/officeDocument/2006/relationships/hyperlink" Target="https://bofasecopsdev.service-now.com/cmdb_ci_lb_bigip.do?sys_id=027d15e32b2076d0da9bf8c9c891bf34" TargetMode="External"/><Relationship Id="rId12" Type="http://schemas.openxmlformats.org/officeDocument/2006/relationships/slideLayout" Target="../slideLayouts/slideLayout1.xml"/><Relationship Id="rId1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hyperlink" Target="https://bofasecopsdev.service-now.com/sn_sec_cmn_src_ci.do?sys_id=deb3b97a3bfe4b189289d164c3e45a59" TargetMode="External"/><Relationship Id="rId2" Type="http://schemas.openxmlformats.org/officeDocument/2006/relationships/hyperlink" Target="https://bofasecopsdev.service-now.com/sn_sec_cmn_ci_lookup_rule.do?sys_id=52af62963b9b4310e973496ea5e45aa5"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linux_server.do?sys_id=f2130b8693966a107fb5f842ed03d653" TargetMode="External"/><Relationship Id="rId5" Type="http://schemas.openxmlformats.org/officeDocument/2006/relationships/hyperlink" Target="https://bofasecopsdev.service-now.com/cmdb_ci_lb_pool_list.do?sysparm_query=service%3Da966482d3b68c710ae0c4047f4e45ab3" TargetMode="External"/><Relationship Id="rId6" Type="http://schemas.openxmlformats.org/officeDocument/2006/relationships/hyperlink" Target="https://bofasecopsdev.service-now.com/cmdb_rel_ci_list.do?sysparm_query=parent%3Da966482d3b68c710ae0c4047f4e45ab3%5EORchild%3Da966482d3b68c710ae0c4047f4e45ab3" TargetMode="External"/><Relationship Id="rId7" Type="http://schemas.openxmlformats.org/officeDocument/2006/relationships/hyperlink" Target="https://bofasecopsdev.service-now.com/cmdb_ci_lb_pool.do?sys_id=3066482d3b68c710ae0c4047f4e45aac" TargetMode="External"/><Relationship Id="rId8" Type="http://schemas.openxmlformats.org/officeDocument/2006/relationships/hyperlink" Target="https://bofasecopsdev.service-now.com/cmdb_ci_lb_pool_list.do?sysparm_query=sys_idIN3066482d3b68c710ae0c4047f4e45aac" TargetMode="External"/><Relationship Id="rId9" Type="http://schemas.openxmlformats.org/officeDocument/2006/relationships/hyperlink" Target="https://bofasecopsdev.service-now.com/cmdb_ci_lb_pool.do?sys_id=3066482d3b68c710ae0c4047f4e45aac" TargetMode="External"/><Relationship Id="rId10" Type="http://schemas.openxmlformats.org/officeDocument/2006/relationships/hyperlink" Target="https://bofasecopsdev.service-now.com/cmdb_ci_lb_pool_member_list.do?sysparm_query=pool%3D3066482d3b68c710ae0c4047f4e45aac" TargetMode="External"/><Relationship Id="rId11" Type="http://schemas.openxmlformats.org/officeDocument/2006/relationships/hyperlink" Target="https://bofasecopsdev.service-now.com/cmdb_ci_lb_pool_member.do?sys_id=5a66006d3b68c710ae0c4047f4e45a69" TargetMode="External"/><Relationship Id="rId12" Type="http://schemas.openxmlformats.org/officeDocument/2006/relationships/hyperlink" Target="https://bofasecopsdev.service-now.com/cmdb_rel_ci_list.do?sysparm_query=parent%3D3066482d3b68c710ae0c4047f4e45aac%5EORchild%3D3066482d3b68c710ae0c4047f4e45aac" TargetMode="External"/><Relationship Id="rId13" Type="http://schemas.openxmlformats.org/officeDocument/2006/relationships/hyperlink" Target="https://bofasecopsdev.service-now.com/cmdb_ci_lb_pool_member.do?sys_id=5a66006d3b68c710ae0c4047f4e45a69" TargetMode="External"/><Relationship Id="rId14" Type="http://schemas.openxmlformats.org/officeDocument/2006/relationships/hyperlink" Target="https://bofasecopsdev.service-now.com/cmdb_ci_hardware_list.do?sysparm_query=ip_address%3D171.184.193.14" TargetMode="External"/><Relationship Id="rId15" Type="http://schemas.openxmlformats.org/officeDocument/2006/relationships/hyperlink" Target="https://bofasecopsdev.service-now.com/cmdb_ci_linux_server.do?sys_id=f2130b8693966a107fb5f842ed03d653" TargetMode="External"/><Relationship Id="rId16" Type="http://schemas.openxmlformats.org/officeDocument/2006/relationships/hyperlink" Target="https://bofasecopsdev.service-now.com/cmdb_ci_network_adapter_list.do?sysparm_query=ip_address%3D171.184.193.14" TargetMode="External"/><Relationship Id="rId17" Type="http://schemas.openxmlformats.org/officeDocument/2006/relationships/hyperlink" Target="https://bofasecopsdev.service-now.com/cmdb_ci_network_adapter.do?sys_id=47c2a6c83ba9a2106e084b9aa4e45ab2" TargetMode="External"/><Relationship Id="rId18" Type="http://schemas.openxmlformats.org/officeDocument/2006/relationships/hyperlink" Target="https://bofasecopsdev.service-now.com/cmdb_ci_vmware_instance.do?sys_id=dcc22ec82ba9a21093f5f1aac891bf73" TargetMode="External"/><Relationship Id="rId19" Type="http://schemas.openxmlformats.org/officeDocument/2006/relationships/hyperlink" Target="https://bofasecopsdev.service-now.com/cmdb_ci_network_adapter.do?sys_id=9f0d76383b6e6290489ce5d964e45aa2" TargetMode="External"/><Relationship Id="rId20" Type="http://schemas.openxmlformats.org/officeDocument/2006/relationships/hyperlink" Target="https://bofasecopsdev.service-now.com/cmdb_ci_linux_server.do?sys_id=f2130b8693966a107fb5f842ed03d653" TargetMode="External"/><Relationship Id="rId21" Type="http://schemas.openxmlformats.org/officeDocument/2006/relationships/hyperlink" Target="https://bofasecopsdev.service-now.com/cmdb_ci_ip_address_list.do?sysparm_query=ip_address%3D171.184.193.14" TargetMode="External"/><Relationship Id="rId22" Type="http://schemas.openxmlformats.org/officeDocument/2006/relationships/hyperlink" Target="https://bofasecopsdev.service-now.com/cmdb_ci_ip_address.do?sys_id=53fc76383b6e6290489ce5d964e45a3e" TargetMode="External"/><Relationship Id="rId23" Type="http://schemas.openxmlformats.org/officeDocument/2006/relationships/hyperlink" Target="https://bofasecopsdev.service-now.com/cmdb_ci_network_adapter.do?sys_id=9f0d76383b6e6290489ce5d964e45aa2" TargetMode="External"/><Relationship Id="rId24" Type="http://schemas.openxmlformats.org/officeDocument/2006/relationships/hyperlink" Target="https://bofasecopsdev.service-now.com/cmdb_ci_linux_server.do?sys_id=f2130b8693966a107fb5f842ed03d653" TargetMode="External"/><Relationship Id="rId25" Type="http://schemas.openxmlformats.org/officeDocument/2006/relationships/hyperlink" Target="https://bofasecopsdev.service-now.com/cmdb_rel_ci_list.do?sysparm_query=parent%3D5a66006d3b68c710ae0c4047f4e45a69%5EORchild%3D5a66006d3b68c710ae0c4047f4e45a69" TargetMode="External"/><Relationship Id="rId26" Type="http://schemas.openxmlformats.org/officeDocument/2006/relationships/hyperlink" Target="https://bofasecopsdev.service-now.com/cmdb_ci_linux_server.do?sys_id=f2130b8693966a107fb5f842ed03d653" TargetMode="External"/><Relationship Id="rId27" Type="http://schemas.openxmlformats.org/officeDocument/2006/relationships/hyperlink" Target="https://bofasecopsdev.service-now.com/cmdb_ci_vmware_instance.do?sys_id=dcc22ec82ba9a21093f5f1aac891bf73" TargetMode="External"/><Relationship Id="rId28" Type="http://schemas.openxmlformats.org/officeDocument/2006/relationships/hyperlink" Target="https://bofasecopsdev.service-now.com/cmdb_ci_linux_server.do?sys_id=f2130b8693966a107fb5f842ed03d653" TargetMode="External"/><Relationship Id="rId29" Type="http://schemas.openxmlformats.org/officeDocument/2006/relationships/hyperlink" Target="https://bofasecopsdev.service-now.com/cmdb_ci_linux_server.do?sys_id=f2130b8693966a107fb5f842ed03d653" TargetMode="External"/><Relationship Id="rId30" Type="http://schemas.openxmlformats.org/officeDocument/2006/relationships/hyperlink" Target="https://bofasecopsdev.service-now.com/cmdb_ci_linux_server.do?sys_id=f2130b8693966a107fb5f842ed03d653" TargetMode="External"/><Relationship Id="rId31" Type="http://schemas.openxmlformats.org/officeDocument/2006/relationships/slideLayout" Target="../slideLayouts/slideLayout1.xml"/><Relationship Id="rId3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786277" TargetMode="External"/><Relationship Id="rId2" Type="http://schemas.openxmlformats.org/officeDocument/2006/relationships/hyperlink" Target="https://bofasecopsdev.service-now.com/cmdb_ci_linux_server.do?sys_id=6dba925b2b1ca210e9c1f4cdce91bf42" TargetMode="External"/><Relationship Id="rId3" Type="http://schemas.openxmlformats.org/officeDocument/2006/relationships/slideLayout" Target="../slideLayouts/slideLayout1.xml"/><Relationship Id="rId4"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hyperlink" Target="https://bofasecopsdev.service-now.com/sn_sec_cmn_src_ci.do?sys_id=eac78dafebdb47d0577bf284dad0cd8f" TargetMode="External"/><Relationship Id="rId2" Type="http://schemas.openxmlformats.org/officeDocument/2006/relationships/hyperlink" Target="https://bofasecopsdev.service-now.com/sn_sec_cmn_ci_lookup_rule.do?sys_id=52af62963b9b4310e973496ea5e45aa5"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linux_server.do?sys_id=6dba925b2b1ca210e9c1f4cdce91bf42" TargetMode="External"/><Relationship Id="rId5" Type="http://schemas.openxmlformats.org/officeDocument/2006/relationships/hyperlink" Target="https://bofasecopsdev.service-now.com/cmdb_ci_lb_service_list.do?sysparm_query=fqdn%3Daim-xfer-dev-ltwbt1-vip.bankofamerica.com" TargetMode="External"/><Relationship Id="rId6" Type="http://schemas.openxmlformats.org/officeDocument/2006/relationships/hyperlink" Target="https://bofasecopsdev.service-now.com/cmdb_ci_lb_service_list.do?sysparm_query=name%3Daim-xfer-dev-ltwbt1-vip.bankofamerica.com" TargetMode="External"/><Relationship Id="rId7" Type="http://schemas.openxmlformats.org/officeDocument/2006/relationships/hyperlink" Target="https://bofasecopsdev.service-now.com/cmdb_ci_lb_service_list.do?sysparm_query=name%3Daim-xfer-dev-ltwbt1-vip" TargetMode="External"/><Relationship Id="rId8" Type="http://schemas.openxmlformats.org/officeDocument/2006/relationships/hyperlink" Target="https://bofasecopsdev.service-now.com/cmdb_ci_lb_service_list.do?sysparm_query=ip_address%3D171.206.7.25" TargetMode="External"/><Relationship Id="rId9" Type="http://schemas.openxmlformats.org/officeDocument/2006/relationships/hyperlink" Target="https://bofasecopsdev.service-now.com/cmdb_ci_lb_service.do?sys_id=33ef13302beeae146d55ff5fe291bfae" TargetMode="External"/><Relationship Id="rId10" Type="http://schemas.openxmlformats.org/officeDocument/2006/relationships/hyperlink" Target="https://bofasecopsdev.service-now.com/cmdb_ci_lb_pool.do?sys_id=2fef13302beeae146d55ff5fe291bfac" TargetMode="External"/><Relationship Id="rId11" Type="http://schemas.openxmlformats.org/officeDocument/2006/relationships/hyperlink" Target="https://bofasecopsdev.service-now.com/cmdb_ci_lb.do?sys_id=be70c9fd3b466a90be6d95c964e45abc" TargetMode="External"/><Relationship Id="rId12" Type="http://schemas.openxmlformats.org/officeDocument/2006/relationships/hyperlink" Target="https://bofasecopsdev.service-now.com/cmdb_ci_lb_service.do?sys_id=571d80492b9c4b906d55ff5fe291bfa6" TargetMode="External"/><Relationship Id="rId13" Type="http://schemas.openxmlformats.org/officeDocument/2006/relationships/hyperlink" Target="https://bofasecopsdev.service-now.com/cmdb_ci_lb_pool.do?sys_id=cb1d80492b9c4b906d55ff5fe291bfa5" TargetMode="External"/><Relationship Id="rId14" Type="http://schemas.openxmlformats.org/officeDocument/2006/relationships/hyperlink" Target="https://bofasecopsdev.service-now.com/cmdb_ci_lb_bigip.do?sys_id=625520642bfc7ed0bc06f739e391bf74" TargetMode="External"/><Relationship Id="rId15" Type="http://schemas.openxmlformats.org/officeDocument/2006/relationships/hyperlink" Target="https://bofasecopsdev.service-now.com/cmdb_ci_lb_service.do?sys_id=aed2ab783baa2254055e3b64c3e45add" TargetMode="External"/><Relationship Id="rId16" Type="http://schemas.openxmlformats.org/officeDocument/2006/relationships/hyperlink" Target="https://bofasecopsdev.service-now.com/cmdb_ci_lb_pool.do?sys_id=8ad2ab783baa2254055e3b64c3e45adc" TargetMode="External"/><Relationship Id="rId17" Type="http://schemas.openxmlformats.org/officeDocument/2006/relationships/hyperlink" Target="https://bofasecopsdev.service-now.com/cmdb_ci_lb.do?sys_id=5eba7c792b86ae94d28af8a4ce91bf2a" TargetMode="External"/><Relationship Id="rId18" Type="http://schemas.openxmlformats.org/officeDocument/2006/relationships/hyperlink" Target="https://bofasecopsdev.service-now.com/cmdb_ci_lb_service.do?sys_id=c59e400d3bd88790dee4bcdc73e45aa1" TargetMode="External"/><Relationship Id="rId19" Type="http://schemas.openxmlformats.org/officeDocument/2006/relationships/hyperlink" Target="https://bofasecopsdev.service-now.com/cmdb_ci_lb_pool.do?sys_id=7c9e400d3bd88790dee4bcdc73e45aa0" TargetMode="External"/><Relationship Id="rId20" Type="http://schemas.openxmlformats.org/officeDocument/2006/relationships/hyperlink" Target="https://bofasecopsdev.service-now.com/cmdb_ci_lb_bigip.do?sys_id=f47725e79300c790b739f912ed03d679" TargetMode="External"/><Relationship Id="rId21" Type="http://schemas.openxmlformats.org/officeDocument/2006/relationships/slideLayout" Target="../slideLayouts/slideLayout1.xml"/><Relationship Id="rId2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hyperlink" Target="https://bofasecopsdev.service-now.com/sn_sec_cmn_src_ci.do?sys_id=eac78dafebdb47d0577bf284dad0cd8f" TargetMode="External"/><Relationship Id="rId2" Type="http://schemas.openxmlformats.org/officeDocument/2006/relationships/hyperlink" Target="https://bofasecopsdev.service-now.com/sn_sec_cmn_ci_lookup_rule.do?sys_id=52af62963b9b4310e973496ea5e45aa5"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linux_server.do?sys_id=6dba925b2b1ca210e9c1f4cdce91bf42" TargetMode="External"/><Relationship Id="rId5" Type="http://schemas.openxmlformats.org/officeDocument/2006/relationships/slideLayout" Target="../slideLayouts/slideLayout1.xml"/><Relationship Id="rId6"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hyperlink" Target="https://bofasecopsdev.service-now.com/sn_sec_cmn_src_ci.do?sys_id=eac78dafebdb47d0577bf284dad0cd8f" TargetMode="External"/><Relationship Id="rId2" Type="http://schemas.openxmlformats.org/officeDocument/2006/relationships/hyperlink" Target="https://bofasecopsdev.service-now.com/sn_sec_cmn_ci_lookup_rule.do?sys_id=52af62963b9b4310e973496ea5e45aa5"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linux_server.do?sys_id=6dba925b2b1ca210e9c1f4cdce91bf42" TargetMode="External"/><Relationship Id="rId5" Type="http://schemas.openxmlformats.org/officeDocument/2006/relationships/hyperlink" Target="https://bofasecopsdev.service-now.com/cmdb_ci_lb_pool_list.do?sysparm_query=service%3D33ef13302beeae146d55ff5fe291bfae" TargetMode="External"/><Relationship Id="rId6" Type="http://schemas.openxmlformats.org/officeDocument/2006/relationships/hyperlink" Target="https://bofasecopsdev.service-now.com/cmdb_rel_ci_list.do?sysparm_query=parent%3D33ef13302beeae146d55ff5fe291bfae%5EORchild%3D33ef13302beeae146d55ff5fe291bfae" TargetMode="External"/><Relationship Id="rId7" Type="http://schemas.openxmlformats.org/officeDocument/2006/relationships/hyperlink" Target="https://bofasecopsdev.service-now.com/cmdb_ci_lb_pool.do?sys_id=2fef13302beeae146d55ff5fe291bfac" TargetMode="External"/><Relationship Id="rId8" Type="http://schemas.openxmlformats.org/officeDocument/2006/relationships/hyperlink" Target="https://bofasecopsdev.service-now.com/cmdb_ci_lb_pool_list.do?sysparm_query=service%3D571d80492b9c4b906d55ff5fe291bfa6" TargetMode="External"/><Relationship Id="rId9" Type="http://schemas.openxmlformats.org/officeDocument/2006/relationships/hyperlink" Target="https://bofasecopsdev.service-now.com/cmdb_rel_ci_list.do?sysparm_query=parent%3D571d80492b9c4b906d55ff5fe291bfa6%5EORchild%3D571d80492b9c4b906d55ff5fe291bfa6" TargetMode="External"/><Relationship Id="rId10" Type="http://schemas.openxmlformats.org/officeDocument/2006/relationships/hyperlink" Target="https://bofasecopsdev.service-now.com/cmdb_ci_lb_pool.do?sys_id=cb1d80492b9c4b906d55ff5fe291bfa5" TargetMode="External"/><Relationship Id="rId11" Type="http://schemas.openxmlformats.org/officeDocument/2006/relationships/hyperlink" Target="https://bofasecopsdev.service-now.com/cmdb_ci_lb_pool_list.do?sysparm_query=service%3Daed2ab783baa2254055e3b64c3e45add" TargetMode="External"/><Relationship Id="rId12" Type="http://schemas.openxmlformats.org/officeDocument/2006/relationships/hyperlink" Target="https://bofasecopsdev.service-now.com/cmdb_rel_ci_list.do?sysparm_query=parent%3Daed2ab783baa2254055e3b64c3e45add%5EORchild%3Daed2ab783baa2254055e3b64c3e45add" TargetMode="External"/><Relationship Id="rId13" Type="http://schemas.openxmlformats.org/officeDocument/2006/relationships/hyperlink" Target="https://bofasecopsdev.service-now.com/cmdb_ci_lb_pool.do?sys_id=8ad2ab783baa2254055e3b64c3e45adc" TargetMode="External"/><Relationship Id="rId14" Type="http://schemas.openxmlformats.org/officeDocument/2006/relationships/hyperlink" Target="https://bofasecopsdev.service-now.com/cmdb_ci_lb_pool_list.do?sysparm_query=service%3Dc59e400d3bd88790dee4bcdc73e45aa1" TargetMode="External"/><Relationship Id="rId15" Type="http://schemas.openxmlformats.org/officeDocument/2006/relationships/hyperlink" Target="https://bofasecopsdev.service-now.com/cmdb_rel_ci_list.do?sysparm_query=parent%3Dc59e400d3bd88790dee4bcdc73e45aa1%5EORchild%3Dc59e400d3bd88790dee4bcdc73e45aa1" TargetMode="External"/><Relationship Id="rId16" Type="http://schemas.openxmlformats.org/officeDocument/2006/relationships/hyperlink" Target="https://bofasecopsdev.service-now.com/cmdb_ci_lb_pool.do?sys_id=7c9e400d3bd88790dee4bcdc73e45aa0" TargetMode="External"/><Relationship Id="rId17" Type="http://schemas.openxmlformats.org/officeDocument/2006/relationships/hyperlink" Target="https://bofasecopsdev.service-now.com/cmdb_ci_lb_pool_list.do?sysparm_query=sys_idIN2fef13302beeae146d55ff5fe291bfac,cb1d80492b9c4b906d55ff5fe291bfa5,8ad2ab783baa2254055e3b64c3e45adc,7c9e400d3bd88790dee4bcdc73e45aa0" TargetMode="External"/><Relationship Id="rId18" Type="http://schemas.openxmlformats.org/officeDocument/2006/relationships/hyperlink" Target="https://bofasecopsdev.service-now.com/cmdb_ci_lb_pool.do?sys_id=2fef13302beeae146d55ff5fe291bfac" TargetMode="External"/><Relationship Id="rId19" Type="http://schemas.openxmlformats.org/officeDocument/2006/relationships/hyperlink" Target="https://bofasecopsdev.service-now.com/cmdb_ci_lb_pool.do?sys_id=cb1d80492b9c4b906d55ff5fe291bfa5" TargetMode="External"/><Relationship Id="rId20" Type="http://schemas.openxmlformats.org/officeDocument/2006/relationships/hyperlink" Target="https://bofasecopsdev.service-now.com/cmdb_ci_lb_pool.do?sys_id=8ad2ab783baa2254055e3b64c3e45adc" TargetMode="External"/><Relationship Id="rId21" Type="http://schemas.openxmlformats.org/officeDocument/2006/relationships/hyperlink" Target="https://bofasecopsdev.service-now.com/cmdb_ci_lb_pool.do?sys_id=7c9e400d3bd88790dee4bcdc73e45aa0" TargetMode="External"/><Relationship Id="rId22" Type="http://schemas.openxmlformats.org/officeDocument/2006/relationships/hyperlink" Target="https://bofasecopsdev.service-now.com/cmdb_ci_lb_pool_member_list.do?sysparm_query=pool%3D2fef13302beeae146d55ff5fe291bfac" TargetMode="External"/><Relationship Id="rId23" Type="http://schemas.openxmlformats.org/officeDocument/2006/relationships/hyperlink" Target="https://bofasecopsdev.service-now.com/cmdb_ci_lb_pool_member.do?sys_id=ebef13302beeae146d55ff5fe291bfad" TargetMode="External"/><Relationship Id="rId24" Type="http://schemas.openxmlformats.org/officeDocument/2006/relationships/hyperlink" Target="https://bofasecopsdev.service-now.com/cmdb_rel_ci_list.do?sysparm_query=parent%3D2fef13302beeae146d55ff5fe291bfac%5EORchild%3D2fef13302beeae146d55ff5fe291bfac" TargetMode="External"/><Relationship Id="rId25" Type="http://schemas.openxmlformats.org/officeDocument/2006/relationships/hyperlink" Target="https://bofasecopsdev.service-now.com/cmdb_ci_lb_pool_member.do?sys_id=ebef13302beeae146d55ff5fe291bfad" TargetMode="External"/><Relationship Id="rId26" Type="http://schemas.openxmlformats.org/officeDocument/2006/relationships/hyperlink" Target="https://bofasecopsdev.service-now.com/cmdb_ci_lb_pool_member_list.do?sysparm_query=pool%3Dcb1d80492b9c4b906d55ff5fe291bfa5" TargetMode="External"/><Relationship Id="rId27" Type="http://schemas.openxmlformats.org/officeDocument/2006/relationships/hyperlink" Target="https://bofasecopsdev.service-now.com/cmdb_ci_lb_pool_member.do?sys_id=131d80492b9c4b906d55ff5fe291bfa6" TargetMode="External"/><Relationship Id="rId28" Type="http://schemas.openxmlformats.org/officeDocument/2006/relationships/hyperlink" Target="https://bofasecopsdev.service-now.com/cmdb_rel_ci_list.do?sysparm_query=parent%3Dcb1d80492b9c4b906d55ff5fe291bfa5%5EORchild%3Dcb1d80492b9c4b906d55ff5fe291bfa5" TargetMode="External"/><Relationship Id="rId29" Type="http://schemas.openxmlformats.org/officeDocument/2006/relationships/hyperlink" Target="https://bofasecopsdev.service-now.com/cmdb_ci_lb_pool_member.do?sys_id=131d80492b9c4b906d55ff5fe291bfa6" TargetMode="External"/><Relationship Id="rId30" Type="http://schemas.openxmlformats.org/officeDocument/2006/relationships/hyperlink" Target="https://bofasecopsdev.service-now.com/cmdb_ci_lb_pool_member_list.do?sysparm_query=pool%3D8ad2ab783baa2254055e3b64c3e45adc" TargetMode="External"/><Relationship Id="rId31" Type="http://schemas.openxmlformats.org/officeDocument/2006/relationships/hyperlink" Target="https://bofasecopsdev.service-now.com/cmdb_ci_lb_pool_member.do?sys_id=5ad2ab783baa2254055e3b64c3e45add" TargetMode="External"/><Relationship Id="rId32" Type="http://schemas.openxmlformats.org/officeDocument/2006/relationships/hyperlink" Target="https://bofasecopsdev.service-now.com/cmdb_rel_ci_list.do?sysparm_query=parent%3D8ad2ab783baa2254055e3b64c3e45adc%5EORchild%3D8ad2ab783baa2254055e3b64c3e45adc" TargetMode="External"/><Relationship Id="rId33" Type="http://schemas.openxmlformats.org/officeDocument/2006/relationships/hyperlink" Target="https://bofasecopsdev.service-now.com/cmdb_ci_lb_pool_member.do?sys_id=5ad2ab783baa2254055e3b64c3e45add" TargetMode="External"/><Relationship Id="rId34" Type="http://schemas.openxmlformats.org/officeDocument/2006/relationships/hyperlink" Target="https://bofasecopsdev.service-now.com/cmdb_ci_lb_pool_member_list.do?sysparm_query=pool%3D7c9e400d3bd88790dee4bcdc73e45aa0" TargetMode="External"/><Relationship Id="rId35" Type="http://schemas.openxmlformats.org/officeDocument/2006/relationships/hyperlink" Target="https://bofasecopsdev.service-now.com/cmdb_ci_lb_pool_member.do?sys_id=b09e400d3bd88790dee4bcdc73e45aa1" TargetMode="External"/><Relationship Id="rId36" Type="http://schemas.openxmlformats.org/officeDocument/2006/relationships/hyperlink" Target="https://bofasecopsdev.service-now.com/cmdb_rel_ci_list.do?sysparm_query=parent%3D7c9e400d3bd88790dee4bcdc73e45aa0%5EORchild%3D7c9e400d3bd88790dee4bcdc73e45aa0" TargetMode="External"/><Relationship Id="rId37" Type="http://schemas.openxmlformats.org/officeDocument/2006/relationships/hyperlink" Target="https://bofasecopsdev.service-now.com/cmdb_ci_lb_pool_member.do?sys_id=b09e400d3bd88790dee4bcdc73e45aa1" TargetMode="External"/><Relationship Id="rId38" Type="http://schemas.openxmlformats.org/officeDocument/2006/relationships/slideLayout" Target="../slideLayouts/slideLayout1.xml"/><Relationship Id="rId39"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hyperlink" Target="https://bofasecopsdev.service-now.com/sn_sec_cmn_src_ci.do?sys_id=eac78dafebdb47d0577bf284dad0cd8f" TargetMode="External"/><Relationship Id="rId2" Type="http://schemas.openxmlformats.org/officeDocument/2006/relationships/hyperlink" Target="https://bofasecopsdev.service-now.com/sn_sec_cmn_ci_lookup_rule.do?sys_id=52af62963b9b4310e973496ea5e45aa5"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linux_server.do?sys_id=6dba925b2b1ca210e9c1f4cdce91bf42" TargetMode="External"/><Relationship Id="rId5" Type="http://schemas.openxmlformats.org/officeDocument/2006/relationships/hyperlink" Target="https://bofasecopsdev.service-now.com/cmdb_ci_hardware_list.do?sysparm_query=ip_address%3D30.123.135.170" TargetMode="External"/><Relationship Id="rId6" Type="http://schemas.openxmlformats.org/officeDocument/2006/relationships/hyperlink" Target="https://bofasecopsdev.service-now.com/cmdb_ci_linux_server.do?sys_id=6dba925b2b1ca210e9c1f4cdce91bf42" TargetMode="External"/><Relationship Id="rId7" Type="http://schemas.openxmlformats.org/officeDocument/2006/relationships/hyperlink" Target="https://bofasecopsdev.service-now.com/cmdb_ci_network_adapter_list.do?sysparm_query=ip_address%3D30.123.135.170" TargetMode="External"/><Relationship Id="rId8" Type="http://schemas.openxmlformats.org/officeDocument/2006/relationships/hyperlink" Target="https://bofasecopsdev.service-now.com/cmdb_ci_network_adapter.do?sys_id=adba925b2b1ca210e9c1f4cdce91bf4a" TargetMode="External"/><Relationship Id="rId9" Type="http://schemas.openxmlformats.org/officeDocument/2006/relationships/hyperlink" Target="https://bofasecopsdev.service-now.com/cmdb_ci_linux_server.do?sys_id=6dba925b2b1ca210e9c1f4cdce91bf42" TargetMode="External"/><Relationship Id="rId10" Type="http://schemas.openxmlformats.org/officeDocument/2006/relationships/hyperlink" Target="https://bofasecopsdev.service-now.com/cmdb_ci_network_adapter.do?sys_id=b4a1ae8c2ba9a210860cf794e391bf5a" TargetMode="External"/><Relationship Id="rId11" Type="http://schemas.openxmlformats.org/officeDocument/2006/relationships/hyperlink" Target="https://bofasecopsdev.service-now.com/cmdb_ci_vmware_instance.do?sys_id=7191eac42b69a210442ff1aac891bf00" TargetMode="External"/><Relationship Id="rId12" Type="http://schemas.openxmlformats.org/officeDocument/2006/relationships/hyperlink" Target="https://bofasecopsdev.service-now.com/cmdb_ci_ip_address_list.do?sysparm_query=ip_address%3D30.123.135.170" TargetMode="External"/><Relationship Id="rId13" Type="http://schemas.openxmlformats.org/officeDocument/2006/relationships/hyperlink" Target="https://bofasecopsdev.service-now.com/cmdb_ci_ip_address.do?sys_id=29ba925b2b1ca210e9c1f4cdce91bf43" TargetMode="External"/><Relationship Id="rId14" Type="http://schemas.openxmlformats.org/officeDocument/2006/relationships/hyperlink" Target="https://bofasecopsdev.service-now.com/cmdb_ci_network_adapter.do?sys_id=adba925b2b1ca210e9c1f4cdce91bf4a" TargetMode="External"/><Relationship Id="rId15" Type="http://schemas.openxmlformats.org/officeDocument/2006/relationships/hyperlink" Target="https://bofasecopsdev.service-now.com/cmdb_ci_linux_server.do?sys_id=6dba925b2b1ca210e9c1f4cdce91bf42" TargetMode="External"/><Relationship Id="rId16" Type="http://schemas.openxmlformats.org/officeDocument/2006/relationships/hyperlink" Target="https://bofasecopsdev.service-now.com/cmdb_rel_ci_list.do?sysparm_query=parent%3Debef13302beeae146d55ff5fe291bfad%5EORchild%3Debef13302beeae146d55ff5fe291bfad" TargetMode="External"/><Relationship Id="rId17" Type="http://schemas.openxmlformats.org/officeDocument/2006/relationships/hyperlink" Target="https://bofasecopsdev.service-now.com/cmdb_ci_linux_server.do?sys_id=6dba925b2b1ca210e9c1f4cdce91bf42" TargetMode="External"/><Relationship Id="rId18" Type="http://schemas.openxmlformats.org/officeDocument/2006/relationships/hyperlink" Target="https://bofasecopsdev.service-now.com/cmdb_ci_linux_server.do?sys_id=6dba925b2b1ca210e9c1f4cdce91bf42" TargetMode="External"/><Relationship Id="rId19" Type="http://schemas.openxmlformats.org/officeDocument/2006/relationships/hyperlink" Target="https://bofasecopsdev.service-now.com/cmdb_ci_vmware_instance.do?sys_id=7191eac42b69a210442ff1aac891bf00" TargetMode="External"/><Relationship Id="rId20" Type="http://schemas.openxmlformats.org/officeDocument/2006/relationships/hyperlink" Target="https://bofasecopsdev.service-now.com/cmdb_ci_linux_server.do?sys_id=6dba925b2b1ca210e9c1f4cdce91bf42" TargetMode="External"/><Relationship Id="rId21" Type="http://schemas.openxmlformats.org/officeDocument/2006/relationships/hyperlink" Target="https://bofasecopsdev.service-now.com/cmdb_ci_hardware_list.do?sysparm_query=ip_address%3D30.123.135.170" TargetMode="External"/><Relationship Id="rId22" Type="http://schemas.openxmlformats.org/officeDocument/2006/relationships/hyperlink" Target="https://bofasecopsdev.service-now.com/cmdb_ci_linux_server.do?sys_id=6dba925b2b1ca210e9c1f4cdce91bf42" TargetMode="External"/><Relationship Id="rId23" Type="http://schemas.openxmlformats.org/officeDocument/2006/relationships/hyperlink" Target="https://bofasecopsdev.service-now.com/cmdb_ci_network_adapter_list.do?sysparm_query=ip_address%3D30.123.135.170" TargetMode="External"/><Relationship Id="rId24" Type="http://schemas.openxmlformats.org/officeDocument/2006/relationships/hyperlink" Target="https://bofasecopsdev.service-now.com/cmdb_ci_network_adapter.do?sys_id=adba925b2b1ca210e9c1f4cdce91bf4a" TargetMode="External"/><Relationship Id="rId25" Type="http://schemas.openxmlformats.org/officeDocument/2006/relationships/hyperlink" Target="https://bofasecopsdev.service-now.com/cmdb_ci_linux_server.do?sys_id=6dba925b2b1ca210e9c1f4cdce91bf42" TargetMode="External"/><Relationship Id="rId26" Type="http://schemas.openxmlformats.org/officeDocument/2006/relationships/hyperlink" Target="https://bofasecopsdev.service-now.com/cmdb_ci_network_adapter.do?sys_id=b4a1ae8c2ba9a210860cf794e391bf5a" TargetMode="External"/><Relationship Id="rId27" Type="http://schemas.openxmlformats.org/officeDocument/2006/relationships/hyperlink" Target="https://bofasecopsdev.service-now.com/cmdb_ci_vmware_instance.do?sys_id=7191eac42b69a210442ff1aac891bf00" TargetMode="External"/><Relationship Id="rId28" Type="http://schemas.openxmlformats.org/officeDocument/2006/relationships/hyperlink" Target="https://bofasecopsdev.service-now.com/cmdb_ci_ip_address_list.do?sysparm_query=ip_address%3D30.123.135.170" TargetMode="External"/><Relationship Id="rId29" Type="http://schemas.openxmlformats.org/officeDocument/2006/relationships/hyperlink" Target="https://bofasecopsdev.service-now.com/cmdb_ci_ip_address.do?sys_id=29ba925b2b1ca210e9c1f4cdce91bf43" TargetMode="External"/><Relationship Id="rId30" Type="http://schemas.openxmlformats.org/officeDocument/2006/relationships/hyperlink" Target="https://bofasecopsdev.service-now.com/cmdb_ci_network_adapter.do?sys_id=adba925b2b1ca210e9c1f4cdce91bf4a" TargetMode="External"/><Relationship Id="rId31" Type="http://schemas.openxmlformats.org/officeDocument/2006/relationships/hyperlink" Target="https://bofasecopsdev.service-now.com/cmdb_ci_linux_server.do?sys_id=6dba925b2b1ca210e9c1f4cdce91bf42" TargetMode="External"/><Relationship Id="rId32" Type="http://schemas.openxmlformats.org/officeDocument/2006/relationships/hyperlink" Target="https://bofasecopsdev.service-now.com/cmdb_rel_ci_list.do?sysparm_query=parent%3D131d80492b9c4b906d55ff5fe291bfa6%5EORchild%3D131d80492b9c4b906d55ff5fe291bfa6" TargetMode="External"/><Relationship Id="rId33" Type="http://schemas.openxmlformats.org/officeDocument/2006/relationships/hyperlink" Target="https://bofasecopsdev.service-now.com/cmdb_ci_linux_server.do?sys_id=6dba925b2b1ca210e9c1f4cdce91bf42" TargetMode="External"/><Relationship Id="rId34" Type="http://schemas.openxmlformats.org/officeDocument/2006/relationships/hyperlink" Target="https://bofasecopsdev.service-now.com/cmdb_ci_linux_server.do?sys_id=6dba925b2b1ca210e9c1f4cdce91bf42" TargetMode="External"/><Relationship Id="rId35" Type="http://schemas.openxmlformats.org/officeDocument/2006/relationships/hyperlink" Target="https://bofasecopsdev.service-now.com/cmdb_ci_vmware_instance.do?sys_id=7191eac42b69a210442ff1aac891bf00" TargetMode="External"/><Relationship Id="rId36" Type="http://schemas.openxmlformats.org/officeDocument/2006/relationships/hyperlink" Target="https://bofasecopsdev.service-now.com/cmdb_ci_linux_server.do?sys_id=6dba925b2b1ca210e9c1f4cdce91bf42" TargetMode="External"/><Relationship Id="rId37" Type="http://schemas.openxmlformats.org/officeDocument/2006/relationships/hyperlink" Target="https://bofasecopsdev.service-now.com/cmdb_ci_hardware_list.do?sysparm_query=ip_address%3D30.123.135.170" TargetMode="External"/><Relationship Id="rId38" Type="http://schemas.openxmlformats.org/officeDocument/2006/relationships/hyperlink" Target="https://bofasecopsdev.service-now.com/cmdb_ci_linux_server.do?sys_id=6dba925b2b1ca210e9c1f4cdce91bf42" TargetMode="External"/><Relationship Id="rId39" Type="http://schemas.openxmlformats.org/officeDocument/2006/relationships/hyperlink" Target="https://bofasecopsdev.service-now.com/cmdb_ci_network_adapter_list.do?sysparm_query=ip_address%3D30.123.135.170" TargetMode="External"/><Relationship Id="rId40" Type="http://schemas.openxmlformats.org/officeDocument/2006/relationships/hyperlink" Target="https://bofasecopsdev.service-now.com/cmdb_ci_network_adapter.do?sys_id=adba925b2b1ca210e9c1f4cdce91bf4a" TargetMode="External"/><Relationship Id="rId41" Type="http://schemas.openxmlformats.org/officeDocument/2006/relationships/hyperlink" Target="https://bofasecopsdev.service-now.com/cmdb_ci_linux_server.do?sys_id=6dba925b2b1ca210e9c1f4cdce91bf42" TargetMode="External"/><Relationship Id="rId42" Type="http://schemas.openxmlformats.org/officeDocument/2006/relationships/hyperlink" Target="https://bofasecopsdev.service-now.com/cmdb_ci_network_adapter.do?sys_id=b4a1ae8c2ba9a210860cf794e391bf5a" TargetMode="External"/><Relationship Id="rId43" Type="http://schemas.openxmlformats.org/officeDocument/2006/relationships/hyperlink" Target="https://bofasecopsdev.service-now.com/cmdb_ci_vmware_instance.do?sys_id=7191eac42b69a210442ff1aac891bf00" TargetMode="External"/><Relationship Id="rId44" Type="http://schemas.openxmlformats.org/officeDocument/2006/relationships/hyperlink" Target="https://bofasecopsdev.service-now.com/cmdb_ci_ip_address_list.do?sysparm_query=ip_address%3D30.123.135.170" TargetMode="External"/><Relationship Id="rId45" Type="http://schemas.openxmlformats.org/officeDocument/2006/relationships/hyperlink" Target="https://bofasecopsdev.service-now.com/cmdb_ci_ip_address.do?sys_id=29ba925b2b1ca210e9c1f4cdce91bf43" TargetMode="External"/><Relationship Id="rId46" Type="http://schemas.openxmlformats.org/officeDocument/2006/relationships/hyperlink" Target="https://bofasecopsdev.service-now.com/cmdb_ci_network_adapter.do?sys_id=adba925b2b1ca210e9c1f4cdce91bf4a" TargetMode="External"/><Relationship Id="rId47" Type="http://schemas.openxmlformats.org/officeDocument/2006/relationships/hyperlink" Target="https://bofasecopsdev.service-now.com/cmdb_ci_linux_server.do?sys_id=6dba925b2b1ca210e9c1f4cdce91bf42" TargetMode="External"/><Relationship Id="rId48" Type="http://schemas.openxmlformats.org/officeDocument/2006/relationships/hyperlink" Target="https://bofasecopsdev.service-now.com/cmdb_rel_ci_list.do?sysparm_query=parent%3D5ad2ab783baa2254055e3b64c3e45add%5EORchild%3D5ad2ab783baa2254055e3b64c3e45add" TargetMode="External"/><Relationship Id="rId49" Type="http://schemas.openxmlformats.org/officeDocument/2006/relationships/hyperlink" Target="https://bofasecopsdev.service-now.com/cmdb_ci_linux_server.do?sys_id=6dba925b2b1ca210e9c1f4cdce91bf42" TargetMode="External"/><Relationship Id="rId50" Type="http://schemas.openxmlformats.org/officeDocument/2006/relationships/hyperlink" Target="https://bofasecopsdev.service-now.com/cmdb_ci_linux_server.do?sys_id=6dba925b2b1ca210e9c1f4cdce91bf42" TargetMode="External"/><Relationship Id="rId51" Type="http://schemas.openxmlformats.org/officeDocument/2006/relationships/hyperlink" Target="https://bofasecopsdev.service-now.com/cmdb_ci_vmware_instance.do?sys_id=7191eac42b69a210442ff1aac891bf00" TargetMode="External"/><Relationship Id="rId52" Type="http://schemas.openxmlformats.org/officeDocument/2006/relationships/hyperlink" Target="https://bofasecopsdev.service-now.com/cmdb_ci_linux_server.do?sys_id=6dba925b2b1ca210e9c1f4cdce91bf42" TargetMode="External"/><Relationship Id="rId53" Type="http://schemas.openxmlformats.org/officeDocument/2006/relationships/hyperlink" Target="https://bofasecopsdev.service-now.com/cmdb_ci_hardware_list.do?sysparm_query=ip_address%3D30.123.135.170" TargetMode="External"/><Relationship Id="rId54" Type="http://schemas.openxmlformats.org/officeDocument/2006/relationships/hyperlink" Target="https://bofasecopsdev.service-now.com/cmdb_ci_linux_server.do?sys_id=6dba925b2b1ca210e9c1f4cdce91bf42" TargetMode="External"/><Relationship Id="rId55" Type="http://schemas.openxmlformats.org/officeDocument/2006/relationships/hyperlink" Target="https://bofasecopsdev.service-now.com/cmdb_ci_network_adapter_list.do?sysparm_query=ip_address%3D30.123.135.170" TargetMode="External"/><Relationship Id="rId56" Type="http://schemas.openxmlformats.org/officeDocument/2006/relationships/hyperlink" Target="https://bofasecopsdev.service-now.com/cmdb_ci_network_adapter.do?sys_id=adba925b2b1ca210e9c1f4cdce91bf4a" TargetMode="External"/><Relationship Id="rId57" Type="http://schemas.openxmlformats.org/officeDocument/2006/relationships/hyperlink" Target="https://bofasecopsdev.service-now.com/cmdb_ci_linux_server.do?sys_id=6dba925b2b1ca210e9c1f4cdce91bf42" TargetMode="External"/><Relationship Id="rId58" Type="http://schemas.openxmlformats.org/officeDocument/2006/relationships/hyperlink" Target="https://bofasecopsdev.service-now.com/cmdb_ci_network_adapter.do?sys_id=b4a1ae8c2ba9a210860cf794e391bf5a" TargetMode="External"/><Relationship Id="rId59" Type="http://schemas.openxmlformats.org/officeDocument/2006/relationships/hyperlink" Target="https://bofasecopsdev.service-now.com/cmdb_ci_vmware_instance.do?sys_id=7191eac42b69a210442ff1aac891bf00" TargetMode="External"/><Relationship Id="rId60" Type="http://schemas.openxmlformats.org/officeDocument/2006/relationships/hyperlink" Target="https://bofasecopsdev.service-now.com/cmdb_ci_ip_address_list.do?sysparm_query=ip_address%3D30.123.135.170" TargetMode="External"/><Relationship Id="rId61" Type="http://schemas.openxmlformats.org/officeDocument/2006/relationships/hyperlink" Target="https://bofasecopsdev.service-now.com/cmdb_ci_ip_address.do?sys_id=29ba925b2b1ca210e9c1f4cdce91bf43" TargetMode="External"/><Relationship Id="rId62" Type="http://schemas.openxmlformats.org/officeDocument/2006/relationships/hyperlink" Target="https://bofasecopsdev.service-now.com/cmdb_ci_network_adapter.do?sys_id=adba925b2b1ca210e9c1f4cdce91bf4a" TargetMode="External"/><Relationship Id="rId63" Type="http://schemas.openxmlformats.org/officeDocument/2006/relationships/hyperlink" Target="https://bofasecopsdev.service-now.com/cmdb_ci_linux_server.do?sys_id=6dba925b2b1ca210e9c1f4cdce91bf42" TargetMode="External"/><Relationship Id="rId64" Type="http://schemas.openxmlformats.org/officeDocument/2006/relationships/hyperlink" Target="https://bofasecopsdev.service-now.com/cmdb_rel_ci_list.do?sysparm_query=parent%3Db09e400d3bd88790dee4bcdc73e45aa1%5EORchild%3Db09e400d3bd88790dee4bcdc73e45aa1" TargetMode="External"/><Relationship Id="rId65" Type="http://schemas.openxmlformats.org/officeDocument/2006/relationships/hyperlink" Target="https://bofasecopsdev.service-now.com/cmdb_ci_linux_server.do?sys_id=6dba925b2b1ca210e9c1f4cdce91bf42" TargetMode="External"/><Relationship Id="rId66" Type="http://schemas.openxmlformats.org/officeDocument/2006/relationships/hyperlink" Target="https://bofasecopsdev.service-now.com/cmdb_ci_linux_server.do?sys_id=6dba925b2b1ca210e9c1f4cdce91bf42" TargetMode="External"/><Relationship Id="rId67" Type="http://schemas.openxmlformats.org/officeDocument/2006/relationships/hyperlink" Target="https://bofasecopsdev.service-now.com/cmdb_ci_vmware_instance.do?sys_id=7191eac42b69a210442ff1aac891bf00" TargetMode="External"/><Relationship Id="rId68" Type="http://schemas.openxmlformats.org/officeDocument/2006/relationships/hyperlink" Target="https://bofasecopsdev.service-now.com/cmdb_ci_linux_server.do?sys_id=6dba925b2b1ca210e9c1f4cdce91bf42" TargetMode="External"/><Relationship Id="rId69" Type="http://schemas.openxmlformats.org/officeDocument/2006/relationships/slideLayout" Target="../slideLayouts/slideLayout1.xml"/><Relationship Id="rId70"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hyperlink" Target="https://bofasecopsdev.service-now.com/sn_sec_cmn_src_ci.do?sys_id=eac78dafebdb47d0577bf284dad0cd8f" TargetMode="External"/><Relationship Id="rId2" Type="http://schemas.openxmlformats.org/officeDocument/2006/relationships/hyperlink" Target="https://bofasecopsdev.service-now.com/sn_sec_cmn_ci_lookup_rule.do?sys_id=52af62963b9b4310e973496ea5e45aa5"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linux_server.do?sys_id=6dba925b2b1ca210e9c1f4cdce91bf42" TargetMode="External"/><Relationship Id="rId5" Type="http://schemas.openxmlformats.org/officeDocument/2006/relationships/hyperlink" Target="https://bofasecopsdev.service-now.com/cmdb_ci_linux_server.do?sys_id=6dba925b2b1ca210e9c1f4cdce91bf42" TargetMode="External"/><Relationship Id="rId6" Type="http://schemas.openxmlformats.org/officeDocument/2006/relationships/slideLayout" Target="../slideLayouts/slideLayout1.xml"/><Relationship Id="rId7"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418623" TargetMode="External"/><Relationship Id="rId2" Type="http://schemas.openxmlformats.org/officeDocument/2006/relationships/hyperlink" Target="https://bofasecopsdev.service-now.com/cmdb_ci_linux_server.do?sys_id=ddcdddf02b462294d50dffbdbe91bf9b" TargetMode="External"/><Relationship Id="rId3" Type="http://schemas.openxmlformats.org/officeDocument/2006/relationships/slideLayout" Target="../slideLayouts/slideLayout1.xml"/><Relationship Id="rId4"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hyperlink" Target="https://bofasecopsdev.service-now.com/sn_sec_cmn_src_ci.do?sys_id=9f78729e3bf28f942fcecefe23e45a40" TargetMode="External"/><Relationship Id="rId2" Type="http://schemas.openxmlformats.org/officeDocument/2006/relationships/hyperlink" Target="https://bofasecopsdev.service-now.com/sn_sec_cmn_ci_lookup_rule.do?sys_id=52af62963b9b4310e973496ea5e45aa5"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linux_server.do?sys_id=ddcdddf02b462294d50dffbdbe91bf9b" TargetMode="External"/><Relationship Id="rId5" Type="http://schemas.openxmlformats.org/officeDocument/2006/relationships/hyperlink" Target="https://bofasecopsdev.service-now.com/cmdb_ci_lb_service_list.do?sysparm_query=fqdn%3Dccgw-l7-vip2.sit1.gwimnp.rpg" TargetMode="External"/><Relationship Id="rId6" Type="http://schemas.openxmlformats.org/officeDocument/2006/relationships/hyperlink" Target="https://bofasecopsdev.service-now.com/cmdb_ci_lb_service_list.do?sysparm_query=name%3Dccgw-l7-vip2.sit1.gwimnp.rpg" TargetMode="External"/><Relationship Id="rId7" Type="http://schemas.openxmlformats.org/officeDocument/2006/relationships/hyperlink" Target="https://bofasecopsdev.service-now.com/cmdb_ci_lb_service_list.do?sysparm_query=name%3Dccgw-l7-vip2" TargetMode="External"/><Relationship Id="rId8" Type="http://schemas.openxmlformats.org/officeDocument/2006/relationships/hyperlink" Target="https://bofasecopsdev.service-now.com/cmdb_ci_lb_service_list.do?sysparm_query=ip_address%3D10.143.52.217" TargetMode="External"/><Relationship Id="rId9" Type="http://schemas.openxmlformats.org/officeDocument/2006/relationships/hyperlink" Target="https://bofasecopsdev.service-now.com/cmdb_ci_lb_service.do?sys_id=be381f963bfd2e50489ce5d964e45a84" TargetMode="External"/><Relationship Id="rId10" Type="http://schemas.openxmlformats.org/officeDocument/2006/relationships/hyperlink" Target="https://bofasecopsdev.service-now.com/cmdb_ci_lb_pool.do?sys_id=36381f963bfd2e50489ce5d964e45a84" TargetMode="External"/><Relationship Id="rId11" Type="http://schemas.openxmlformats.org/officeDocument/2006/relationships/hyperlink" Target="https://bofasecopsdev.service-now.com/cmdb_ci_lb.do?sys_id=e1381f16933de65007a4f84958373cf2" TargetMode="External"/><Relationship Id="rId12" Type="http://schemas.openxmlformats.org/officeDocument/2006/relationships/slideLayout" Target="../slideLayouts/slideLayout1.xml"/><Relationship Id="rId1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hyperlink" Target="https://bofasecopsdev.service-now.com/sn_sec_cmn_src_ci.do?sys_id=9f78729e3bf28f942fcecefe23e45a40" TargetMode="External"/><Relationship Id="rId2" Type="http://schemas.openxmlformats.org/officeDocument/2006/relationships/hyperlink" Target="https://bofasecopsdev.service-now.com/sn_sec_cmn_ci_lookup_rule.do?sys_id=52af62963b9b4310e973496ea5e45aa5"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linux_server.do?sys_id=ddcdddf02b462294d50dffbdbe91bf9b" TargetMode="External"/><Relationship Id="rId5" Type="http://schemas.openxmlformats.org/officeDocument/2006/relationships/hyperlink" Target="https://bofasecopsdev.service-now.com/cmdb_ci_lb_pool_list.do?sysparm_query=service%3Dbe381f963bfd2e50489ce5d964e45a84" TargetMode="External"/><Relationship Id="rId6" Type="http://schemas.openxmlformats.org/officeDocument/2006/relationships/hyperlink" Target="https://bofasecopsdev.service-now.com/cmdb_rel_ci_list.do?sysparm_query=parent%3Dbe381f963bfd2e50489ce5d964e45a84%5EORchild%3Dbe381f963bfd2e50489ce5d964e45a84" TargetMode="External"/><Relationship Id="rId7" Type="http://schemas.openxmlformats.org/officeDocument/2006/relationships/hyperlink" Target="https://bofasecopsdev.service-now.com/cmdb_ci_lb_pool.do?sys_id=36381f963bfd2e50489ce5d964e45a84" TargetMode="External"/><Relationship Id="rId8" Type="http://schemas.openxmlformats.org/officeDocument/2006/relationships/hyperlink" Target="https://bofasecopsdev.service-now.com/cmdb_ci_lb_pool_list.do?sysparm_query=sys_idIN36381f963bfd2e50489ce5d964e45a84" TargetMode="External"/><Relationship Id="rId9" Type="http://schemas.openxmlformats.org/officeDocument/2006/relationships/hyperlink" Target="https://bofasecopsdev.service-now.com/cmdb_ci_lb_pool.do?sys_id=36381f963bfd2e50489ce5d964e45a84" TargetMode="External"/><Relationship Id="rId10" Type="http://schemas.openxmlformats.org/officeDocument/2006/relationships/hyperlink" Target="https://bofasecopsdev.service-now.com/cmdb_ci_lb_pool_member_list.do?sysparm_query=pool%3D36381f963bfd2e50489ce5d964e45a84" TargetMode="External"/><Relationship Id="rId11" Type="http://schemas.openxmlformats.org/officeDocument/2006/relationships/hyperlink" Target="https://bofasecopsdev.service-now.com/cmdb_ci_lb_pool_member.do?sys_id=7a381f963bfd2e50489ce5d964e45a84" TargetMode="External"/><Relationship Id="rId12" Type="http://schemas.openxmlformats.org/officeDocument/2006/relationships/hyperlink" Target="https://bofasecopsdev.service-now.com/cmdb_rel_ci_list.do?sysparm_query=parent%3D36381f963bfd2e50489ce5d964e45a84%5EORchild%3D36381f963bfd2e50489ce5d964e45a84" TargetMode="External"/><Relationship Id="rId13" Type="http://schemas.openxmlformats.org/officeDocument/2006/relationships/hyperlink" Target="https://bofasecopsdev.service-now.com/cmdb_ci_lb_pool_member.do?sys_id=7a381f963bfd2e50489ce5d964e45a84" TargetMode="External"/><Relationship Id="rId14" Type="http://schemas.openxmlformats.org/officeDocument/2006/relationships/hyperlink" Target="https://bofasecopsdev.service-now.com/cmdb_ci_hardware_list.do?sysparm_query=ip_address%3D10.143.72.200" TargetMode="External"/><Relationship Id="rId15" Type="http://schemas.openxmlformats.org/officeDocument/2006/relationships/hyperlink" Target="https://bofasecopsdev.service-now.com/cmdb_ci_linux_server.do?sys_id=ddcdddf02b462294d50dffbdbe91bf9b" TargetMode="External"/><Relationship Id="rId16" Type="http://schemas.openxmlformats.org/officeDocument/2006/relationships/hyperlink" Target="https://bofasecopsdev.service-now.com/cmdb_ci_network_adapter_list.do?sysparm_query=ip_address%3D10.143.72.200" TargetMode="External"/><Relationship Id="rId17" Type="http://schemas.openxmlformats.org/officeDocument/2006/relationships/hyperlink" Target="https://bofasecopsdev.service-now.com/cmdb_ci_network_adapter.do?sys_id=44f08bf833666a14de49d7c91e5c7bd7" TargetMode="External"/><Relationship Id="rId18" Type="http://schemas.openxmlformats.org/officeDocument/2006/relationships/hyperlink" Target="https://bofasecopsdev.service-now.com/cmdb_ci_linux_server.do?sys_id=ddcdddf02b462294d50dffbdbe91bf9b" TargetMode="External"/><Relationship Id="rId19" Type="http://schemas.openxmlformats.org/officeDocument/2006/relationships/hyperlink" Target="https://bofasecopsdev.service-now.com/cmdb_ci_network_adapter.do?sys_id=470cc0012b95b294412af1f7d891bfda" TargetMode="External"/><Relationship Id="rId20" Type="http://schemas.openxmlformats.org/officeDocument/2006/relationships/hyperlink" Target="https://bofasecopsdev.service-now.com/cmdb_ci_vmware_instance.do?sys_id=4099884993d1b694205fb5627cba10ca" TargetMode="External"/><Relationship Id="rId21" Type="http://schemas.openxmlformats.org/officeDocument/2006/relationships/hyperlink" Target="https://bofasecopsdev.service-now.com/cmdb_ci_ip_address_list.do?sysparm_query=ip_address%3D10.143.72.200" TargetMode="External"/><Relationship Id="rId22" Type="http://schemas.openxmlformats.org/officeDocument/2006/relationships/hyperlink" Target="https://bofasecopsdev.service-now.com/cmdb_ci_ip_address.do?sys_id=fed08bf833666a14de49d7c91e5c7b88" TargetMode="External"/><Relationship Id="rId23" Type="http://schemas.openxmlformats.org/officeDocument/2006/relationships/hyperlink" Target="https://bofasecopsdev.service-now.com/cmdb_ci_network_adapter.do?sys_id=44f08bf833666a14de49d7c91e5c7bd7" TargetMode="External"/><Relationship Id="rId24" Type="http://schemas.openxmlformats.org/officeDocument/2006/relationships/hyperlink" Target="https://bofasecopsdev.service-now.com/cmdb_ci_linux_server.do?sys_id=ddcdddf02b462294d50dffbdbe91bf9b" TargetMode="External"/><Relationship Id="rId25" Type="http://schemas.openxmlformats.org/officeDocument/2006/relationships/hyperlink" Target="https://bofasecopsdev.service-now.com/cmdb_rel_ci_list.do?sysparm_query=parent%3D7a381f963bfd2e50489ce5d964e45a84%5EORchild%3D7a381f963bfd2e50489ce5d964e45a84" TargetMode="External"/><Relationship Id="rId26" Type="http://schemas.openxmlformats.org/officeDocument/2006/relationships/hyperlink" Target="https://bofasecopsdev.service-now.com/cmdb_ci_linux_server.do?sys_id=ddcdddf02b462294d50dffbdbe91bf9b" TargetMode="External"/><Relationship Id="rId27" Type="http://schemas.openxmlformats.org/officeDocument/2006/relationships/hyperlink" Target="https://bofasecopsdev.service-now.com/cmdb_ci_linux_server.do?sys_id=ddcdddf02b462294d50dffbdbe91bf9b" TargetMode="External"/><Relationship Id="rId28" Type="http://schemas.openxmlformats.org/officeDocument/2006/relationships/hyperlink" Target="https://bofasecopsdev.service-now.com/cmdb_ci_vmware_instance.do?sys_id=4099884993d1b694205fb5627cba10ca" TargetMode="External"/><Relationship Id="rId29" Type="http://schemas.openxmlformats.org/officeDocument/2006/relationships/hyperlink" Target="https://bofasecopsdev.service-now.com/cmdb_ci_linux_server.do?sys_id=ddcdddf02b462294d50dffbdbe91bf9b" TargetMode="External"/><Relationship Id="rId30" Type="http://schemas.openxmlformats.org/officeDocument/2006/relationships/hyperlink" Target="https://bofasecopsdev.service-now.com/cmdb_ci_linux_server.do?sys_id=ddcdddf02b462294d50dffbdbe91bf9b" TargetMode="External"/><Relationship Id="rId31" Type="http://schemas.openxmlformats.org/officeDocument/2006/relationships/slideLayout" Target="../slideLayouts/slideLayout1.xml"/><Relationship Id="rId3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55580" TargetMode="External"/><Relationship Id="rId2" Type="http://schemas.openxmlformats.org/officeDocument/2006/relationships/hyperlink" Target="https://bofasecopsdev.service-now.com/cmdb_ci_lb_service.do?sys_id=84466888930e0b50205fb5627cba107c" TargetMode="External"/><Relationship Id="rId3" Type="http://schemas.openxmlformats.org/officeDocument/2006/relationships/slideLayout" Target="../slideLayouts/slideLayout1.xml"/><Relationship Id="rId4"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hyperlink" Target="https://bofasecopsdev.service-now.com/sn_sec_cmn_src_ci.do?sys_id=28ad5e36933283949110fe584dba108d" TargetMode="External"/><Relationship Id="rId2" Type="http://schemas.openxmlformats.org/officeDocument/2006/relationships/hyperlink" Target="https://bofasecopsdev.service-now.com/sn_sec_cmn_ci_lookup_rule.do?sys_id=24a593dc2b534350e76ff4bc4e91bfb5"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lb_service.do?sys_id=84466888930e0b50205fb5627cba107c" TargetMode="External"/><Relationship Id="rId5" Type="http://schemas.openxmlformats.org/officeDocument/2006/relationships/hyperlink" Target="https://bofasecopsdev.service-now.com/cmdb_ci_lb_service_list.do?sysparm_query=fqdn%3Dolmerrillweb-review1-l7-vip1.gwimnp.rpg" TargetMode="External"/><Relationship Id="rId6" Type="http://schemas.openxmlformats.org/officeDocument/2006/relationships/hyperlink" Target="https://bofasecopsdev.service-now.com/cmdb_ci_lb_service_list.do?sysparm_query=name%3Dolmerrillweb-review1-l7-vip1.gwimnp.rpg" TargetMode="External"/><Relationship Id="rId7" Type="http://schemas.openxmlformats.org/officeDocument/2006/relationships/hyperlink" Target="https://bofasecopsdev.service-now.com/cmdb_ci_lb_service_list.do?sysparm_query=name%3Dolmerrillweb-review1-l7-vip1" TargetMode="External"/><Relationship Id="rId8" Type="http://schemas.openxmlformats.org/officeDocument/2006/relationships/hyperlink" Target="https://bofasecopsdev.service-now.com/cmdb_ci_lb_service_list.do?sysparm_query=ip_address%3D10.143.52.113" TargetMode="External"/><Relationship Id="rId9" Type="http://schemas.openxmlformats.org/officeDocument/2006/relationships/hyperlink" Target="https://bofasecopsdev.service-now.com/cmdb_ci_lb_service.do?sys_id=84466888930e0b50205fb5627cba107c" TargetMode="External"/><Relationship Id="rId10" Type="http://schemas.openxmlformats.org/officeDocument/2006/relationships/hyperlink" Target="https://bofasecopsdev.service-now.com/cmdb_ci_lb_pool.do?sys_id=88466888930e0b50205fb5627cba107b" TargetMode="External"/><Relationship Id="rId11" Type="http://schemas.openxmlformats.org/officeDocument/2006/relationships/hyperlink" Target="https://bofasecopsdev.service-now.com/cmdb_ci_lb_bigip.do?sys_id=8838d7523b752210d5062b64c3e45a68" TargetMode="External"/><Relationship Id="rId12" Type="http://schemas.openxmlformats.org/officeDocument/2006/relationships/slideLayout" Target="../slideLayouts/slideLayout1.xml"/><Relationship Id="rId1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36490" TargetMode="External"/><Relationship Id="rId2" Type="http://schemas.openxmlformats.org/officeDocument/2006/relationships/hyperlink" Target="https://bofasecopsdev.service-now.com/cmdb_ci_lb_service.do?sys_id=0a6f146b2bed4354412af1f7d891bf68" TargetMode="External"/><Relationship Id="rId3" Type="http://schemas.openxmlformats.org/officeDocument/2006/relationships/slideLayout" Target="../slideLayouts/slideLayout1.xml"/><Relationship Id="rId4"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hyperlink" Target="https://bofasecopsdev.service-now.com/sn_sec_cmn_src_ci.do?sys_id=e8d1123e3bf647d42fcecefe23e45a89" TargetMode="External"/><Relationship Id="rId2" Type="http://schemas.openxmlformats.org/officeDocument/2006/relationships/hyperlink" Target="https://bofasecopsdev.service-now.com/sn_sec_cmn_ci_lookup_rule.do?sys_id=24a593dc2b534350e76ff4bc4e91bfb5"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lb_service.do?sys_id=0a6f146b2bed4354412af1f7d891bf68" TargetMode="External"/><Relationship Id="rId5" Type="http://schemas.openxmlformats.org/officeDocument/2006/relationships/hyperlink" Target="https://bofasecopsdev.service-now.com/cmdb_ci_lb_service_list.do?sysparm_query=fqdn%3Dolmerrillweb-preview1-l7-vip1.gwimnp.rpg" TargetMode="External"/><Relationship Id="rId6" Type="http://schemas.openxmlformats.org/officeDocument/2006/relationships/hyperlink" Target="https://bofasecopsdev.service-now.com/cmdb_ci_lb_service_list.do?sysparm_query=name%3Dolmerrillweb-preview1-l7-vip1.gwimnp.rpg" TargetMode="External"/><Relationship Id="rId7" Type="http://schemas.openxmlformats.org/officeDocument/2006/relationships/hyperlink" Target="https://bofasecopsdev.service-now.com/cmdb_ci_lb_service_list.do?sysparm_query=name%3Dolmerrillweb-preview1-l7-vip1" TargetMode="External"/><Relationship Id="rId8" Type="http://schemas.openxmlformats.org/officeDocument/2006/relationships/hyperlink" Target="https://bofasecopsdev.service-now.com/cmdb_ci_lb_service_list.do?sysparm_query=ip_address%3D10.143.52.108" TargetMode="External"/><Relationship Id="rId9" Type="http://schemas.openxmlformats.org/officeDocument/2006/relationships/hyperlink" Target="https://bofasecopsdev.service-now.com/cmdb_ci_lb_service.do?sys_id=0a6f146b2bed4354412af1f7d891bf68" TargetMode="External"/><Relationship Id="rId10" Type="http://schemas.openxmlformats.org/officeDocument/2006/relationships/hyperlink" Target="https://bofasecopsdev.service-now.com/cmdb_ci_lb_pool.do?sys_id=b56fd06b2bed4354412af1f7d891bf0a" TargetMode="External"/><Relationship Id="rId11" Type="http://schemas.openxmlformats.org/officeDocument/2006/relationships/hyperlink" Target="https://bofasecopsdev.service-now.com/cmdb_ci_lb_bigip.do?sys_id=8838d7523b752210d5062b64c3e45a68" TargetMode="External"/><Relationship Id="rId12" Type="http://schemas.openxmlformats.org/officeDocument/2006/relationships/slideLayout" Target="../slideLayouts/slideLayout1.xml"/><Relationship Id="rId1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08717" TargetMode="External"/><Relationship Id="rId2" Type="http://schemas.openxmlformats.org/officeDocument/2006/relationships/hyperlink" Target="https://bofasecopsdev.service-now.com/cmdb_ci_lb_service.do?sys_id=3ff610aa2b8d871032e4f5cdc891bf75" TargetMode="External"/><Relationship Id="rId3" Type="http://schemas.openxmlformats.org/officeDocument/2006/relationships/slideLayout" Target="../slideLayouts/slideLayout1.xml"/><Relationship Id="rId4"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hyperlink" Target="https://bofasecopsdev.service-now.com/sn_sec_cmn_src_ci.do?sys_id=dd4eb5ba3bb60f180e435c8a04e45a29" TargetMode="External"/><Relationship Id="rId2" Type="http://schemas.openxmlformats.org/officeDocument/2006/relationships/hyperlink" Target="https://bofasecopsdev.service-now.com/sn_sec_cmn_ci_lookup_rule.do?sys_id=24a593dc2b534350e76ff4bc4e91bfb5"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lb_service.do?sys_id=3ff610aa2b8d871032e4f5cdc891bf75" TargetMode="External"/><Relationship Id="rId5" Type="http://schemas.openxmlformats.org/officeDocument/2006/relationships/hyperlink" Target="https://bofasecopsdev.service-now.com/cmdb_ci_lb_service_list.do?sysparm_query=fqdn%3Dpbui-va2-vip.gwim.rpg" TargetMode="External"/><Relationship Id="rId6" Type="http://schemas.openxmlformats.org/officeDocument/2006/relationships/hyperlink" Target="https://bofasecopsdev.service-now.com/cmdb_ci_lb_service_list.do?sysparm_query=name%3Dpbui-va2-vip.gwim.rpg" TargetMode="External"/><Relationship Id="rId7" Type="http://schemas.openxmlformats.org/officeDocument/2006/relationships/hyperlink" Target="https://bofasecopsdev.service-now.com/cmdb_ci_lb_service_list.do?sysparm_query=name%3Dpbui-va2-vip" TargetMode="External"/><Relationship Id="rId8" Type="http://schemas.openxmlformats.org/officeDocument/2006/relationships/hyperlink" Target="https://bofasecopsdev.service-now.com/cmdb_ci_lb_service_list.do?sysparm_query=ip_address%3D158.171.199.147" TargetMode="External"/><Relationship Id="rId9" Type="http://schemas.openxmlformats.org/officeDocument/2006/relationships/hyperlink" Target="https://bofasecopsdev.service-now.com/cmdb_ci_lb_service.do?sys_id=3ff610aa2b8d871032e4f5cdc891bf75" TargetMode="External"/><Relationship Id="rId10" Type="http://schemas.openxmlformats.org/officeDocument/2006/relationships/hyperlink" Target="https://bofasecopsdev.service-now.com/cmdb_ci_lb_pool.do?sys_id=c3f610aa2b8d871032e4f5cdc891bf74" TargetMode="External"/><Relationship Id="rId11" Type="http://schemas.openxmlformats.org/officeDocument/2006/relationships/hyperlink" Target="https://bofasecopsdev.service-now.com/cmdb_ci_lb_bigip.do?sys_id=c787b6762bfcfa50da9bf8c9c891bf06" TargetMode="External"/><Relationship Id="rId12" Type="http://schemas.openxmlformats.org/officeDocument/2006/relationships/slideLayout" Target="../slideLayouts/slideLayout1.xml"/><Relationship Id="rId1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93964" TargetMode="External"/><Relationship Id="rId2" Type="http://schemas.openxmlformats.org/officeDocument/2006/relationships/hyperlink" Target="https://bofasecopsdev.service-now.com/cmdb_ci_win_server.do?sys_id=c785e52bfbddc7d0f40ef34c5eefdccf" TargetMode="External"/><Relationship Id="rId3" Type="http://schemas.openxmlformats.org/officeDocument/2006/relationships/slideLayout" Target="../slideLayouts/slideLayout1.xml"/><Relationship Id="rId4"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hyperlink" Target="https://bofasecopsdev.service-now.com/sn_sec_cmn_src_ci.do?sys_id=ff38b63a93bec310cfcebc5a7bba10bf" TargetMode="External"/><Relationship Id="rId2" Type="http://schemas.openxmlformats.org/officeDocument/2006/relationships/hyperlink" Target="https://bofasecopsdev.service-now.com/sn_sec_cmn_ci_lookup_rule.do?sys_id=3adceccf47624710a1a9295b416d43f9"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win_server.do?sys_id=c785e52bfbddc7d0f40ef34c5eefdccf" TargetMode="External"/><Relationship Id="rId5" Type="http://schemas.openxmlformats.org/officeDocument/2006/relationships/hyperlink" Target="https://bofasecopsdev.service-now.com/cmdb_ci_win_server_list.do?sysparm_query=ip_address%3D30.30.58.0" TargetMode="External"/><Relationship Id="rId6" Type="http://schemas.openxmlformats.org/officeDocument/2006/relationships/hyperlink" Target="https://bofasecopsdev.service-now.com/cmdb_ci_win_server.do?sys_id=c785e52bfbddc7d0f40ef34c5eefdccf" TargetMode="External"/><Relationship Id="rId7" Type="http://schemas.openxmlformats.org/officeDocument/2006/relationships/slideLayout" Target="../slideLayouts/slideLayout1.xml"/><Relationship Id="rId8"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93886" TargetMode="External"/><Relationship Id="rId2" Type="http://schemas.openxmlformats.org/officeDocument/2006/relationships/hyperlink" Target="https://bofasecopsdev.service-now.com/cmdb_ci_win_server.do?sys_id=3fb5a1633bd90754ef3892e643e45ade" TargetMode="External"/><Relationship Id="rId3" Type="http://schemas.openxmlformats.org/officeDocument/2006/relationships/slideLayout" Target="../slideLayouts/slideLayout1.xml"/><Relationship Id="rId4"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hyperlink" Target="https://bofasecopsdev.service-now.com/sn_sec_cmn_src_ci.do?sys_id=dc38f23a93bec310cfcebc5a7bba10af" TargetMode="External"/><Relationship Id="rId2" Type="http://schemas.openxmlformats.org/officeDocument/2006/relationships/hyperlink" Target="https://bofasecopsdev.service-now.com/sn_sec_cmn_ci_lookup_rule.do?sys_id=3adceccf47624710a1a9295b416d43f9"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win_server.do?sys_id=3fb5a1633bd90754ef3892e643e45ade" TargetMode="External"/><Relationship Id="rId5" Type="http://schemas.openxmlformats.org/officeDocument/2006/relationships/hyperlink" Target="https://bofasecopsdev.service-now.com/cmdb_ci_win_server_list.do?sysparm_query=ip_address%3D30.30.58.3" TargetMode="External"/><Relationship Id="rId6" Type="http://schemas.openxmlformats.org/officeDocument/2006/relationships/hyperlink" Target="https://bofasecopsdev.service-now.com/cmdb_ci_win_server.do?sys_id=3fb5a1633bd90754ef3892e643e45ade" TargetMode="External"/><Relationship Id="rId7" Type="http://schemas.openxmlformats.org/officeDocument/2006/relationships/slideLayout" Target="../slideLayouts/slideLayout1.xml"/><Relationship Id="rId8"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70780" TargetMode="External"/><Relationship Id="rId2" Type="http://schemas.openxmlformats.org/officeDocument/2006/relationships/hyperlink" Target="https://bofasecopsdev.service-now.com/cmdb_ci_win_server.do?sys_id=8bfab94747d18714b5da45ac026d434c" TargetMode="External"/><Relationship Id="rId3" Type="http://schemas.openxmlformats.org/officeDocument/2006/relationships/slideLayout" Target="../slideLayouts/slideLayout1.xml"/><Relationship Id="rId4"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hyperlink" Target="https://bofasecopsdev.service-now.com/sn_sec_cmn_src_ci.do?sys_id=a858ea3a933ec310cfcebc5a7bba1094" TargetMode="External"/><Relationship Id="rId2" Type="http://schemas.openxmlformats.org/officeDocument/2006/relationships/hyperlink" Target="https://bofasecopsdev.service-now.com/sn_sec_cmn_ci_lookup_rule.do?sys_id=3adceccf47624710a1a9295b416d43f9"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win_server.do?sys_id=8bfab94747d18714b5da45ac026d434c" TargetMode="External"/><Relationship Id="rId5" Type="http://schemas.openxmlformats.org/officeDocument/2006/relationships/hyperlink" Target="https://bofasecopsdev.service-now.com/cmdb_ci_win_server_list.do?sysparm_query=ip_address%3D30.133.68.211" TargetMode="External"/><Relationship Id="rId6" Type="http://schemas.openxmlformats.org/officeDocument/2006/relationships/hyperlink" Target="https://bofasecopsdev.service-now.com/cmdb_ci_win_server.do?sys_id=8bfab94747d18714b5da45ac026d434c" TargetMode="External"/><Relationship Id="rId7" Type="http://schemas.openxmlformats.org/officeDocument/2006/relationships/slideLayout" Target="../slideLayouts/slideLayout1.xml"/><Relationship Id="rId8"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07215" TargetMode="External"/><Relationship Id="rId2" Type="http://schemas.openxmlformats.org/officeDocument/2006/relationships/hyperlink" Target="https://bofasecopsdev.service-now.com/cmdb_ci_computer.do?sys_id=f1593dbd3b74c710ef3892e643e45a81" TargetMode="External"/><Relationship Id="rId3" Type="http://schemas.openxmlformats.org/officeDocument/2006/relationships/slideLayout" Target="../slideLayouts/slideLayout1.xml"/><Relationship Id="rId4"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hyperlink" Target="https://bofasecopsdev.service-now.com/sn_sec_cmn_src_ci.do?sys_id=614df97e3b328b189289d164c3e45a44" TargetMode="External"/><Relationship Id="rId2" Type="http://schemas.openxmlformats.org/officeDocument/2006/relationships/hyperlink" Target="https://bofasecopsdev.service-now.com/sn_sec_cmn_ci_lookup_rule.do?sys_id=5bad640347a24710a1a9295b416d43b2"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computer.do?sys_id=f1593dbd3b74c710ef3892e643e45a81" TargetMode="External"/><Relationship Id="rId5" Type="http://schemas.openxmlformats.org/officeDocument/2006/relationships/hyperlink" Target="https://bofasecopsdev.service-now.com/cmdb_ci_hardware_list.do?sysparm_query=ip_address%3D30.37.248.149" TargetMode="External"/><Relationship Id="rId6" Type="http://schemas.openxmlformats.org/officeDocument/2006/relationships/hyperlink" Target="https://bofasecopsdev.service-now.com/cmdb_ci_computer.do?sys_id=f1593dbd3b74c710ef3892e643e45a81" TargetMode="External"/><Relationship Id="rId7" Type="http://schemas.openxmlformats.org/officeDocument/2006/relationships/slideLayout" Target="../slideLayouts/slideLayout1.xml"/><Relationship Id="rId8"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54392" TargetMode="External"/><Relationship Id="rId2" Type="http://schemas.openxmlformats.org/officeDocument/2006/relationships/hyperlink" Target="https://bofasecopsdev.service-now.com/cmdb_ci_server.do?sys_id=671eaa82935e2a107fb5f842ed03d6e0" TargetMode="External"/><Relationship Id="rId3" Type="http://schemas.openxmlformats.org/officeDocument/2006/relationships/slideLayout" Target="../slideLayouts/slideLayout1.xml"/><Relationship Id="rId4"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hyperlink" Target="https://bofasecopsdev.service-now.com/sn_sec_cmn_src_ci.do?sys_id=81dc16f23b3a8b189289d164c3e45aeb" TargetMode="External"/><Relationship Id="rId2" Type="http://schemas.openxmlformats.org/officeDocument/2006/relationships/hyperlink" Target="https://bofasecopsdev.service-now.com/sn_sec_cmn_ci_lookup_rule.do?sys_id=5bad640347a24710a1a9295b416d43b2"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server.do?sys_id=671eaa82935e2a107fb5f842ed03d6e0" TargetMode="External"/><Relationship Id="rId5" Type="http://schemas.openxmlformats.org/officeDocument/2006/relationships/hyperlink" Target="https://bofasecopsdev.service-now.com/cmdb_ci_hardware_list.do?sysparm_query=ip_address%3D30.129.149.101" TargetMode="External"/><Relationship Id="rId6" Type="http://schemas.openxmlformats.org/officeDocument/2006/relationships/hyperlink" Target="https://bofasecopsdev.service-now.com/cmdb_ci_server.do?sys_id=671eaa82935e2a107fb5f842ed03d6e0" TargetMode="External"/><Relationship Id="rId7" Type="http://schemas.openxmlformats.org/officeDocument/2006/relationships/slideLayout" Target="../slideLayouts/slideLayout1.xml"/><Relationship Id="rId8"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07396" TargetMode="External"/><Relationship Id="rId2" Type="http://schemas.openxmlformats.org/officeDocument/2006/relationships/hyperlink" Target="https://bofasecopsdev.service-now.com/cmdb_ci_ups.do?sys_id=4966fb582ba7e614d50dffbdbe91bf76" TargetMode="External"/><Relationship Id="rId3" Type="http://schemas.openxmlformats.org/officeDocument/2006/relationships/slideLayout" Target="../slideLayouts/slideLayout1.xml"/><Relationship Id="rId4"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hyperlink" Target="https://bofasecopsdev.service-now.com/sn_sec_cmn_src_ci.do?sys_id=f17dac323bb64b189289d164c3e45a6f" TargetMode="External"/><Relationship Id="rId2" Type="http://schemas.openxmlformats.org/officeDocument/2006/relationships/hyperlink" Target="https://bofasecopsdev.service-now.com/sn_sec_cmn_ci_lookup_rule.do?sys_id=5bad640347a24710a1a9295b416d43b2"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ups.do?sys_id=4966fb582ba7e614d50dffbdbe91bf76" TargetMode="External"/><Relationship Id="rId5" Type="http://schemas.openxmlformats.org/officeDocument/2006/relationships/hyperlink" Target="https://bofasecopsdev.service-now.com/cmdb_ci_hardware_list.do?sysparm_query=ip_address%3D10.77.57.21" TargetMode="External"/><Relationship Id="rId6" Type="http://schemas.openxmlformats.org/officeDocument/2006/relationships/hyperlink" Target="https://bofasecopsdev.service-now.com/cmdb_ci_ups.do?sys_id=4966fb582ba7e614d50dffbdbe91bf76" TargetMode="External"/><Relationship Id="rId7" Type="http://schemas.openxmlformats.org/officeDocument/2006/relationships/slideLayout" Target="../slideLayouts/slideLayout1.xml"/><Relationship Id="rId8"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813895" TargetMode="External"/><Relationship Id="rId2" Type="http://schemas.openxmlformats.org/officeDocument/2006/relationships/hyperlink" Target="https://bofasecopsdev.service-now.com/cmdb_ci_esx_server.do?sys_id=abb100a52b976e908afbf3b28191bf4f" TargetMode="External"/><Relationship Id="rId3" Type="http://schemas.openxmlformats.org/officeDocument/2006/relationships/slideLayout" Target="../slideLayouts/slideLayout1.xml"/><Relationship Id="rId4"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hyperlink" Target="https://bofasecopsdev.service-now.com/sn_sec_cmn_src_ci.do?sys_id=c6ab93a293724750a2b4f91e1dba10a8" TargetMode="External"/><Relationship Id="rId2" Type="http://schemas.openxmlformats.org/officeDocument/2006/relationships/hyperlink" Target="https://bofasecopsdev.service-now.com/sn_sec_cmn_ci_lookup_rule.do?sys_id=0740b48347a24710a1a9295b416d4315"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esx_server.do?sys_id=abb100a52b976e908afbf3b28191bf4f" TargetMode="External"/><Relationship Id="rId5" Type="http://schemas.openxmlformats.org/officeDocument/2006/relationships/hyperlink" Target="https://bofasecopsdev.service-now.com/cmdb_ci_network_adapter_list.do?sysparm_query=ip_address%3D165.38.176.81" TargetMode="External"/><Relationship Id="rId6" Type="http://schemas.openxmlformats.org/officeDocument/2006/relationships/hyperlink" Target="https://bofasecopsdev.service-now.com/cmdb_ci_network_adapter.do?sys_id=3e5fc7ef47dfe29464eca755516d4301" TargetMode="External"/><Relationship Id="rId7" Type="http://schemas.openxmlformats.org/officeDocument/2006/relationships/hyperlink" Target="https://bofasecopsdev.service-now.com/cmdb_ci_esx_server.do?sys_id=abb100a52b976e908afbf3b28191bf4f" TargetMode="External"/><Relationship Id="rId8" Type="http://schemas.openxmlformats.org/officeDocument/2006/relationships/slideLayout" Target="../slideLayouts/slideLayout1.xml"/><Relationship Id="rId9"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578917" TargetMode="External"/><Relationship Id="rId2" Type="http://schemas.openxmlformats.org/officeDocument/2006/relationships/hyperlink" Target="https://bofasecopsdev.service-now.com/cmdb_ci_esx_server.do?sys_id=2e0ed1d1ebccb254986cffd6bad0cdf6" TargetMode="External"/><Relationship Id="rId3" Type="http://schemas.openxmlformats.org/officeDocument/2006/relationships/slideLayout" Target="../slideLayouts/slideLayout1.xml"/><Relationship Id="rId4"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hyperlink" Target="https://bofasecopsdev.service-now.com/sn_sec_cmn_src_ci.do?sys_id=f17624e23b7e03180e435c8a04e45a79" TargetMode="External"/><Relationship Id="rId2" Type="http://schemas.openxmlformats.org/officeDocument/2006/relationships/hyperlink" Target="https://bofasecopsdev.service-now.com/sn_sec_cmn_ci_lookup_rule.do?sys_id=0740b48347a24710a1a9295b416d4315"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esx_server.do?sys_id=2e0ed1d1ebccb254986cffd6bad0cdf6" TargetMode="External"/><Relationship Id="rId5" Type="http://schemas.openxmlformats.org/officeDocument/2006/relationships/hyperlink" Target="https://bofasecopsdev.service-now.com/cmdb_ci_network_adapter_list.do?sysparm_query=ip_address%3D30.184.129.84" TargetMode="External"/><Relationship Id="rId6" Type="http://schemas.openxmlformats.org/officeDocument/2006/relationships/hyperlink" Target="https://bofasecopsdev.service-now.com/cmdb_ci_network_adapter.do?sys_id=683e915993c03e546e4ef96ab903d693" TargetMode="External"/><Relationship Id="rId7" Type="http://schemas.openxmlformats.org/officeDocument/2006/relationships/hyperlink" Target="https://bofasecopsdev.service-now.com/cmdb_ci_esx_server.do?sys_id=2e0ed1d1ebccb254986cffd6bad0cdf6" TargetMode="External"/><Relationship Id="rId8" Type="http://schemas.openxmlformats.org/officeDocument/2006/relationships/slideLayout" Target="../slideLayouts/slideLayout1.xml"/><Relationship Id="rId9"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582383" TargetMode="External"/><Relationship Id="rId2" Type="http://schemas.openxmlformats.org/officeDocument/2006/relationships/hyperlink" Target="https://bofasecopsdev.service-now.com/cmdb_ci_esx_server.do?sys_id=c5fad55d3b8cf25cdf0f0c54c3e45ac8" TargetMode="External"/><Relationship Id="rId3" Type="http://schemas.openxmlformats.org/officeDocument/2006/relationships/slideLayout" Target="../slideLayouts/slideLayout1.xml"/><Relationship Id="rId4"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hyperlink" Target="https://bofasecopsdev.service-now.com/sn_sec_cmn_src_ci.do?sys_id=139824a23b3287189289d164c3e45a8f" TargetMode="External"/><Relationship Id="rId2" Type="http://schemas.openxmlformats.org/officeDocument/2006/relationships/hyperlink" Target="https://bofasecopsdev.service-now.com/sn_sec_cmn_ci_lookup_rule.do?sys_id=0740b48347a24710a1a9295b416d4315"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esx_server.do?sys_id=c5fad55d3b8cf25cdf0f0c54c3e45ac8" TargetMode="External"/><Relationship Id="rId5" Type="http://schemas.openxmlformats.org/officeDocument/2006/relationships/hyperlink" Target="https://bofasecopsdev.service-now.com/cmdb_ci_network_adapter_list.do?sysparm_query=ip_address%3D30.184.129.17" TargetMode="External"/><Relationship Id="rId6" Type="http://schemas.openxmlformats.org/officeDocument/2006/relationships/hyperlink" Target="https://bofasecopsdev.service-now.com/cmdb_ci_network_adapter.do?sys_id=c51bd9113bc4b61c055e3b64c3e45a55" TargetMode="External"/><Relationship Id="rId7" Type="http://schemas.openxmlformats.org/officeDocument/2006/relationships/hyperlink" Target="https://bofasecopsdev.service-now.com/cmdb_ci_esx_server.do?sys_id=c5fad55d3b8cf25cdf0f0c54c3e45ac8" TargetMode="External"/><Relationship Id="rId8" Type="http://schemas.openxmlformats.org/officeDocument/2006/relationships/slideLayout" Target="../slideLayouts/slideLayout1.xml"/><Relationship Id="rId9"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76737" TargetMode="External"/><Relationship Id="rId2" Type="http://schemas.openxmlformats.org/officeDocument/2006/relationships/hyperlink" Target="https://bofasecopsdev.service-now.com/cmdb_ci_ip_switch.do?sys_id=c835c6e83ba822d0670e839704e45ae8" TargetMode="External"/><Relationship Id="rId3" Type="http://schemas.openxmlformats.org/officeDocument/2006/relationships/slideLayout" Target="../slideLayouts/slideLayout1.xml"/><Relationship Id="rId4"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hyperlink" Target="https://bofasecopsdev.service-now.com/sn_sec_cmn_src_ci.do?sys_id=795ad412933a8b10a2b4f91e1dba10be" TargetMode="External"/><Relationship Id="rId2" Type="http://schemas.openxmlformats.org/officeDocument/2006/relationships/hyperlink" Target="https://bofasecopsdev.service-now.com/sn_sec_cmn_ci_lookup_rule.do?sys_id=d14eaccf47624710a1a9295b416d43bf"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ip_switch.do?sys_id=c835c6e83ba822d0670e839704e45ae8" TargetMode="External"/><Relationship Id="rId5" Type="http://schemas.openxmlformats.org/officeDocument/2006/relationships/hyperlink" Target="https://bofasecopsdev.service-now.com/cmdb_ci_ip_address_list.do?sysparm_query=ip_address%3D165.40.253.178" TargetMode="External"/><Relationship Id="rId6" Type="http://schemas.openxmlformats.org/officeDocument/2006/relationships/hyperlink" Target="https://bofasecopsdev.service-now.com/cmdb_ci_ip_address.do?sys_id=f03542a03ba026d0d5062b64c3e45a79" TargetMode="External"/><Relationship Id="rId7" Type="http://schemas.openxmlformats.org/officeDocument/2006/relationships/hyperlink" Target="https://bofasecopsdev.service-now.com/cmdb_ci_network_adapter.do?sys_id=453582a03ba026d0d5062b64c3e45a44" TargetMode="External"/><Relationship Id="rId8" Type="http://schemas.openxmlformats.org/officeDocument/2006/relationships/hyperlink" Target="https://bofasecopsdev.service-now.com/cmdb_ci_ip_switch.do?sys_id=c835c6e83ba822d0670e839704e45ae8" TargetMode="External"/><Relationship Id="rId9" Type="http://schemas.openxmlformats.org/officeDocument/2006/relationships/slideLayout" Target="../slideLayouts/slideLayout1.xml"/><Relationship Id="rId10"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54915" TargetMode="External"/><Relationship Id="rId2" Type="http://schemas.openxmlformats.org/officeDocument/2006/relationships/hyperlink" Target="https://bofasecopsdev.service-now.com/cmdb_ci_ip_switch.do?sys_id=04f4cae0fba82e102fe7f7ad5eefdcd3" TargetMode="External"/><Relationship Id="rId3" Type="http://schemas.openxmlformats.org/officeDocument/2006/relationships/slideLayout" Target="../slideLayouts/slideLayout1.xml"/><Relationship Id="rId4"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hyperlink" Target="https://bofasecopsdev.service-now.com/sn_sec_cmn_src_ci.do?sys_id=a0e4dc9693ba4b549110fe584dba10bc" TargetMode="External"/><Relationship Id="rId2" Type="http://schemas.openxmlformats.org/officeDocument/2006/relationships/hyperlink" Target="https://bofasecopsdev.service-now.com/sn_sec_cmn_ci_lookup_rule.do?sys_id=d14eaccf47624710a1a9295b416d43bf"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ip_switch.do?sys_id=04f4cae0fba82e102fe7f7ad5eefdcd3" TargetMode="External"/><Relationship Id="rId5" Type="http://schemas.openxmlformats.org/officeDocument/2006/relationships/hyperlink" Target="https://bofasecopsdev.service-now.com/cmdb_ci_ip_address_list.do?sysparm_query=ip_address%3D171.151.214.18" TargetMode="External"/><Relationship Id="rId6" Type="http://schemas.openxmlformats.org/officeDocument/2006/relationships/hyperlink" Target="https://bofasecopsdev.service-now.com/cmdb_ci_ip_address.do?sys_id=0cf40ee0fba82e102fe7f7ad5eefdcd8" TargetMode="External"/><Relationship Id="rId7" Type="http://schemas.openxmlformats.org/officeDocument/2006/relationships/hyperlink" Target="https://bofasecopsdev.service-now.com/cmdb_ci_network_adapter.do?sys_id=e4f44224fba82e102fe7f7ad5eefdc65" TargetMode="External"/><Relationship Id="rId8" Type="http://schemas.openxmlformats.org/officeDocument/2006/relationships/hyperlink" Target="https://bofasecopsdev.service-now.com/cmdb_ci_ip_switch.do?sys_id=04f4cae0fba82e102fe7f7ad5eefdcd3" TargetMode="External"/><Relationship Id="rId9" Type="http://schemas.openxmlformats.org/officeDocument/2006/relationships/slideLayout" Target="../slideLayouts/slideLayout1.xml"/><Relationship Id="rId10"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62461" TargetMode="External"/><Relationship Id="rId2" Type="http://schemas.openxmlformats.org/officeDocument/2006/relationships/hyperlink" Target="https://bofasecopsdev.service-now.com/cmdb_ci_computer.do?sys_id=587f01782b0eee54d50dffbdbe91bf2d" TargetMode="External"/><Relationship Id="rId3" Type="http://schemas.openxmlformats.org/officeDocument/2006/relationships/slideLayout" Target="../slideLayouts/slideLayout1.xml"/><Relationship Id="rId4"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hyperlink" Target="https://bofasecopsdev.service-now.com/sn_sec_cmn_src_ci.do?sys_id=20f991fe93b643949110fe584dba10c6" TargetMode="External"/><Relationship Id="rId2" Type="http://schemas.openxmlformats.org/officeDocument/2006/relationships/hyperlink" Target="https://bofasecopsdev.service-now.com/sn_sec_cmn_ci_lookup_rule.do?sys_id=d14eaccf47624710a1a9295b416d43bf"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computer.do?sys_id=587f01782b0eee54d50dffbdbe91bf2d" TargetMode="External"/><Relationship Id="rId5" Type="http://schemas.openxmlformats.org/officeDocument/2006/relationships/hyperlink" Target="https://bofasecopsdev.service-now.com/cmdb_ci_ip_address_list.do?sysparm_query=ip_address%3D172.24.5.68" TargetMode="External"/><Relationship Id="rId6" Type="http://schemas.openxmlformats.org/officeDocument/2006/relationships/hyperlink" Target="https://bofasecopsdev.service-now.com/cmdb_ci_ip_address.do?sys_id=81e4111693a8035006c3f956dd03d636" TargetMode="External"/><Relationship Id="rId7" Type="http://schemas.openxmlformats.org/officeDocument/2006/relationships/hyperlink" Target="https://bofasecopsdev.service-now.com/cmdb_ci_network_adapter.do?sys_id=3fba8d262b23721422b7fcded391bf72" TargetMode="External"/><Relationship Id="rId8" Type="http://schemas.openxmlformats.org/officeDocument/2006/relationships/hyperlink" Target="https://bofasecopsdev.service-now.com/cmdb_ci_computer.do?sys_id=587f01782b0eee54d50dffbdbe91bf2d" TargetMode="External"/><Relationship Id="rId9" Type="http://schemas.openxmlformats.org/officeDocument/2006/relationships/slideLayout" Target="../slideLayouts/slideLayout1.xml"/><Relationship Id="rId10"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69791" TargetMode="External"/><Relationship Id="rId2" Type="http://schemas.openxmlformats.org/officeDocument/2006/relationships/hyperlink" Target="https://bofasecopsdev.service-now.com/cmdb_ci_kubernetes_node.do?sys_id=b0da27023beba690dee4bcdc73e45a10" TargetMode="External"/><Relationship Id="rId3" Type="http://schemas.openxmlformats.org/officeDocument/2006/relationships/slideLayout" Target="../slideLayouts/slideLayout1.xml"/><Relationship Id="rId4"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hyperlink" Target="https://bofasecopsdev.service-now.com/sn_sec_cmn_src_ci.do?sys_id=4da1e6f8935b4798cfcebc5a7bba1022" TargetMode="External"/><Relationship Id="rId2" Type="http://schemas.openxmlformats.org/officeDocument/2006/relationships/hyperlink" Target="https://bofasecopsdev.service-now.com/sn_sec_cmn_ci_lookup_rule.do?sys_id=ee9fe04347a24710a1a9295b416d43e2"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kubernetes_node.do?sys_id=b0da27023beba690dee4bcdc73e45a10" TargetMode="External"/><Relationship Id="rId5" Type="http://schemas.openxmlformats.org/officeDocument/2006/relationships/hyperlink" Target="https://bofasecopsdev.service-now.com/cmdb_ci_list.do?sysparm_query=name%3Dlrchac13xsdi001.sdi.corp.bankofamerica.com" TargetMode="External"/><Relationship Id="rId6" Type="http://schemas.openxmlformats.org/officeDocument/2006/relationships/hyperlink" Target="https://bofasecopsdev.service-now.com/cmdb_ci_kubernetes_node.do?sys_id=b0da27023beba690dee4bcdc73e45a10" TargetMode="External"/><Relationship Id="rId7" Type="http://schemas.openxmlformats.org/officeDocument/2006/relationships/slideLayout" Target="../slideLayouts/slideLayout1.xml"/><Relationship Id="rId8"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70195" TargetMode="External"/><Relationship Id="rId2" Type="http://schemas.openxmlformats.org/officeDocument/2006/relationships/hyperlink" Target="https://bofasecopsdev.service-now.com/cmdb_ci_kubernetes_node.do?sys_id=33e5941293c507103854f05ea903d6aa" TargetMode="External"/><Relationship Id="rId3" Type="http://schemas.openxmlformats.org/officeDocument/2006/relationships/slideLayout" Target="../slideLayouts/slideLayout1.xml"/><Relationship Id="rId4"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hyperlink" Target="https://bofasecopsdev.service-now.com/sn_sec_cmn_src_ci.do?sys_id=b424a6bc2b9fcfd0a277fab2f291bfcc" TargetMode="External"/><Relationship Id="rId2" Type="http://schemas.openxmlformats.org/officeDocument/2006/relationships/hyperlink" Target="https://bofasecopsdev.service-now.com/sn_sec_cmn_ci_lookup_rule.do?sys_id=ee9fe04347a24710a1a9295b416d43e2"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kubernetes_node.do?sys_id=33e5941293c507103854f05ea903d6aa" TargetMode="External"/><Relationship Id="rId5" Type="http://schemas.openxmlformats.org/officeDocument/2006/relationships/hyperlink" Target="https://bofasecopsdev.service-now.com/cmdb_ci_list.do?sysparm_query=name%3Dlrchac14xsdi005.sdi.corp.bankofamerica.com" TargetMode="External"/><Relationship Id="rId6" Type="http://schemas.openxmlformats.org/officeDocument/2006/relationships/hyperlink" Target="https://bofasecopsdev.service-now.com/cmdb_ci_kubernetes_node.do?sys_id=33e5941293c507103854f05ea903d6aa" TargetMode="External"/><Relationship Id="rId7" Type="http://schemas.openxmlformats.org/officeDocument/2006/relationships/slideLayout" Target="../slideLayouts/slideLayout1.xml"/><Relationship Id="rId8"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70186" TargetMode="External"/><Relationship Id="rId2" Type="http://schemas.openxmlformats.org/officeDocument/2006/relationships/hyperlink" Target="https://bofasecopsdev.service-now.com/cmdb_ci_kubernetes_node.do?sys_id=29d51c922b09071022b7fcded391bff8" TargetMode="External"/><Relationship Id="rId3" Type="http://schemas.openxmlformats.org/officeDocument/2006/relationships/slideLayout" Target="../slideLayouts/slideLayout1.xml"/><Relationship Id="rId4"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hyperlink" Target="https://bofasecopsdev.service-now.com/sn_sec_cmn_src_ci.do?sys_id=5c2426bc2b9fcfd0a277fab2f291bfe4" TargetMode="External"/><Relationship Id="rId2" Type="http://schemas.openxmlformats.org/officeDocument/2006/relationships/hyperlink" Target="https://bofasecopsdev.service-now.com/sn_sec_cmn_ci_lookup_rule.do?sys_id=ee9fe04347a24710a1a9295b416d43e2"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kubernetes_node.do?sys_id=29d51c922b09071022b7fcded391bff8" TargetMode="External"/><Relationship Id="rId5" Type="http://schemas.openxmlformats.org/officeDocument/2006/relationships/hyperlink" Target="https://bofasecopsdev.service-now.com/cmdb_ci_list.do?sysparm_query=name%3Dlrchac14xsdi013.sdi.corp.bankofamerica.com" TargetMode="External"/><Relationship Id="rId6" Type="http://schemas.openxmlformats.org/officeDocument/2006/relationships/hyperlink" Target="https://bofasecopsdev.service-now.com/cmdb_ci_kubernetes_node.do?sys_id=29d51c922b09071022b7fcded391bff8" TargetMode="External"/><Relationship Id="rId7" Type="http://schemas.openxmlformats.org/officeDocument/2006/relationships/slideLayout" Target="../slideLayouts/slideLayout1.xml"/><Relationship Id="rId8" Type="http://schemas.openxmlformats.org/officeDocument/2006/relationships/notesSlide" Target="../notesSlides/notesSlide20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169"/>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E31837"/>
          </a:solidFill>
          <a:ln w="12700">
            <a:solidFill>
              <a:srgbClr val="333333"/>
            </a:solidFill>
            <a:prstDash val="solid"/>
          </a:ln>
        </p:spPr>
      </p:sp>
      <p:sp>
        <p:nvSpPr>
          <p:cNvPr id="3" name="Shape 1"/>
          <p:cNvSpPr/>
          <p:nvPr/>
        </p:nvSpPr>
        <p:spPr>
          <a:xfrm>
            <a:off x="960120" y="1874520"/>
            <a:ext cx="1097280" cy="54864"/>
          </a:xfrm>
          <a:prstGeom prst="rect">
            <a:avLst/>
          </a:prstGeom>
          <a:solidFill>
            <a:srgbClr val="E31837"/>
          </a:solidFill>
          <a:ln w="12700">
            <a:solidFill>
              <a:srgbClr val="333333"/>
            </a:solidFill>
            <a:prstDash val="solid"/>
          </a:ln>
        </p:spPr>
      </p:sp>
      <p:sp>
        <p:nvSpPr>
          <p:cNvPr id="4" name="Text 2"/>
          <p:cNvSpPr txBox="1"/>
          <p:nvPr/>
        </p:nvSpPr>
        <p:spPr>
          <a:xfrm>
            <a:off x="960120" y="2057400"/>
            <a:ext cx="10058400" cy="274320"/>
          </a:xfrm>
          <a:prstGeom prst="rect">
            <a:avLst/>
          </a:prstGeom>
          <a:noFill/>
          <a:ln/>
        </p:spPr>
        <p:txBody>
          <a:bodyPr wrap="square" lIns="0" tIns="0" rIns="0" bIns="0" rtlCol="0" anchor="ctr"/>
          <a:lstStyle/>
          <a:p>
            <a:pPr indent="0" marL="0">
              <a:buNone/>
            </a:pPr>
            <a:r>
              <a:rPr lang="en-US" sz="1200" b="1" spc="220" kern="0" dirty="0">
                <a:solidFill>
                  <a:srgbClr val="C9D1E3"/>
                </a:solidFill>
                <a:latin typeface="Arial" pitchFamily="34" charset="0"/>
                <a:ea typeface="Arial" pitchFamily="34" charset="-122"/>
                <a:cs typeface="Arial" pitchFamily="34" charset="-120"/>
              </a:rPr>
              <a:t>USEM  ·  VULNERABILITY RESPONSE</a:t>
            </a:r>
            <a:endParaRPr lang="en-US" sz="1200" dirty="0"/>
          </a:p>
        </p:txBody>
      </p:sp>
      <p:sp>
        <p:nvSpPr>
          <p:cNvPr id="5" name="Text 3"/>
          <p:cNvSpPr txBox="1"/>
          <p:nvPr/>
        </p:nvSpPr>
        <p:spPr>
          <a:xfrm>
            <a:off x="960120" y="2423160"/>
            <a:ext cx="10058400" cy="91440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Qualys CI Lookup Rules</a:t>
            </a:r>
            <a:endParaRPr lang="en-US" sz="4200" dirty="0"/>
          </a:p>
        </p:txBody>
      </p:sp>
      <p:sp>
        <p:nvSpPr>
          <p:cNvPr id="6" name="Text 4"/>
          <p:cNvSpPr txBox="1"/>
          <p:nvPr/>
        </p:nvSpPr>
        <p:spPr>
          <a:xfrm>
            <a:off x="960120" y="3337560"/>
            <a:ext cx="10058400" cy="457200"/>
          </a:xfrm>
          <a:prstGeom prst="rect">
            <a:avLst/>
          </a:prstGeom>
          <a:noFill/>
          <a:ln/>
        </p:spPr>
        <p:txBody>
          <a:bodyPr wrap="square" lIns="0" tIns="0" rIns="0" bIns="0" rtlCol="0" anchor="ctr"/>
          <a:lstStyle/>
          <a:p>
            <a:pPr indent="0" marL="0">
              <a:buNone/>
            </a:pPr>
            <a:r>
              <a:rPr lang="en-US" sz="2000" dirty="0">
                <a:solidFill>
                  <a:srgbClr val="E4E8F0"/>
                </a:solidFill>
                <a:latin typeface="Arial" pitchFamily="34" charset="0"/>
                <a:ea typeface="Arial" pitchFamily="34" charset="-122"/>
                <a:cs typeface="Arial" pitchFamily="34" charset="-120"/>
              </a:rPr>
              <a:t>How a scanned host finds its CI</a:t>
            </a:r>
            <a:endParaRPr lang="en-US" sz="2000" dirty="0"/>
          </a:p>
        </p:txBody>
      </p:sp>
      <p:sp>
        <p:nvSpPr>
          <p:cNvPr id="7" name="Text 5"/>
          <p:cNvSpPr txBox="1"/>
          <p:nvPr/>
        </p:nvSpPr>
        <p:spPr>
          <a:xfrm>
            <a:off x="960120" y="5212080"/>
            <a:ext cx="10058400" cy="274320"/>
          </a:xfrm>
          <a:prstGeom prst="rect">
            <a:avLst/>
          </a:prstGeom>
          <a:noFill/>
          <a:ln/>
        </p:spPr>
        <p:txBody>
          <a:bodyPr wrap="square" lIns="0" tIns="0" rIns="0" bIns="0" rtlCol="0" anchor="ctr"/>
          <a:lstStyle/>
          <a:p>
            <a:pPr indent="0" marL="0">
              <a:buNone/>
            </a:pPr>
            <a:r>
              <a:rPr lang="en-US" sz="1200" dirty="0">
                <a:solidFill>
                  <a:srgbClr val="C9D1E3"/>
                </a:solidFill>
                <a:latin typeface="Arial" pitchFamily="34" charset="0"/>
                <a:ea typeface="Arial" pitchFamily="34" charset="-122"/>
                <a:cs typeface="Arial" pitchFamily="34" charset="-120"/>
              </a:rPr>
              <a:t>Demo for the CMDB team  ·  21 September 2026  ·  Mihir Kumar Singh</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KEY CONCEPTS  ·  HOW EVERY SCRIPT RUNS</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The contract and the search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1 of 2  ·  How every script runs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851400"/>
          </a:xfrm>
          <a:prstGeom prst="roundRect">
            <a:avLst>
              <a:gd name="adj" fmla="val 1131"/>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64792"/>
            <a:ext cx="5088636" cy="4302760"/>
          </a:xfrm>
          <a:prstGeom prst="rect">
            <a:avLst/>
          </a:prstGeom>
          <a:noFill/>
          <a:ln/>
        </p:spPr>
        <p:txBody>
          <a:bodyPr wrap="square" lIns="0" tIns="0" rIns="0" bIns="0" rtlCol="0" anchor="t"/>
          <a:lstStyle/>
          <a:p>
            <a:pPr marL="177800" indent="-177800">
              <a:lnSpc>
                <a:spcPct val="100000"/>
              </a:lnSpc>
              <a:buSzPct val="100000"/>
              <a:buChar char="•"/>
            </a:pPr>
            <a:r>
              <a:rPr lang="en-US" sz="1500" b="1" dirty="0">
                <a:solidFill>
                  <a:srgbClr val="012169"/>
                </a:solidFill>
                <a:latin typeface="Arial" pitchFamily="34" charset="0"/>
                <a:ea typeface="Arial" pitchFamily="34" charset="-122"/>
                <a:cs typeface="Arial" pitchFamily="34" charset="-120"/>
              </a:rPr>
              <a:t>Contract.  </a:t>
            </a:r>
            <a:pPr indent="0" marL="0">
              <a:lnSpc>
                <a:spcPct val="100000"/>
              </a:lnSpc>
              <a:spcAft>
                <a:spcPts val="1000"/>
              </a:spcAft>
              <a:buNone/>
            </a:pPr>
            <a:r>
              <a:rPr lang="en-US" sz="1500" dirty="0">
                <a:solidFill>
                  <a:srgbClr val="4D4F53"/>
                </a:solidFill>
                <a:latin typeface="Arial" pitchFamily="34" charset="0"/>
                <a:ea typeface="Arial" pitchFamily="34" charset="-122"/>
                <a:cs typeface="Arial" pitchFamily="34" charset="-120"/>
              </a:rPr>
              <a:t>process(rule, sourceValue, sourcePayload) returns one sys_id or null. sourceValue is the rule's source field (SERIAL_NUMBER, DNS or IP); the OS, DNS and IP come from the payload.</a:t>
            </a:r>
            <a:endParaRPr lang="en-US" sz="1500" dirty="0"/>
          </a:p>
          <a:p>
            <a:pPr marL="177800" indent="-177800">
              <a:lnSpc>
                <a:spcPct val="100000"/>
              </a:lnSpc>
              <a:buSzPct val="100000"/>
              <a:buChar char="•"/>
            </a:pPr>
            <a:r>
              <a:rPr lang="en-US" sz="1500" b="1" dirty="0">
                <a:solidFill>
                  <a:srgbClr val="012169"/>
                </a:solidFill>
                <a:latin typeface="Arial" pitchFamily="34" charset="0"/>
                <a:ea typeface="Arial" pitchFamily="34" charset="-122"/>
                <a:cs typeface="Arial" pitchFamily="34" charset="-120"/>
              </a:rPr>
              <a:t>Normalisation.  </a:t>
            </a:r>
            <a:pPr indent="0" marL="0">
              <a:lnSpc>
                <a:spcPct val="100000"/>
              </a:lnSpc>
              <a:spcAft>
                <a:spcPts val="1000"/>
              </a:spcAft>
              <a:buNone/>
            </a:pPr>
            <a:r>
              <a:rPr lang="en-US" sz="1500" dirty="0">
                <a:solidFill>
                  <a:srgbClr val="4D4F53"/>
                </a:solidFill>
                <a:latin typeface="Arial" pitchFamily="34" charset="0"/>
                <a:ea typeface="Arial" pitchFamily="34" charset="-122"/>
                <a:cs typeface="Arial" pitchFamily="34" charset="-120"/>
              </a:rPr>
              <a:t>The value is coerced to a string and trimmed; names are lower-cased; the text before the first dot is the short host; an absent DNS or OS reads as empty, never as the string "undefined".</a:t>
            </a:r>
            <a:endParaRPr lang="en-US" sz="1500" dirty="0"/>
          </a:p>
          <a:p>
            <a:pPr marL="177800" indent="-177800">
              <a:lnSpc>
                <a:spcPct val="100000"/>
              </a:lnSpc>
              <a:buSzPct val="100000"/>
              <a:buChar char="•"/>
            </a:pPr>
            <a:r>
              <a:rPr lang="en-US" sz="1500" b="1" dirty="0">
                <a:solidFill>
                  <a:srgbClr val="012169"/>
                </a:solidFill>
                <a:latin typeface="Arial" pitchFamily="34" charset="0"/>
                <a:ea typeface="Arial" pitchFamily="34" charset="-122"/>
                <a:cs typeface="Arial" pitchFamily="34" charset="-120"/>
              </a:rPr>
              <a:t>Ignored classes.  </a:t>
            </a:r>
            <a:pPr indent="0" marL="0">
              <a:lnSpc>
                <a:spcPct val="100000"/>
              </a:lnSpc>
              <a:spcAft>
                <a:spcPts val="1000"/>
              </a:spcAft>
              <a:buNone/>
            </a:pPr>
            <a:r>
              <a:rPr lang="en-US" sz="1500" dirty="0">
                <a:solidFill>
                  <a:srgbClr val="4D4F53"/>
                </a:solidFill>
                <a:latin typeface="Arial" pitchFamily="34" charset="0"/>
                <a:ea typeface="Arial" pitchFamily="34" charset="-122"/>
                <a:cs typeface="Arial" pitchFamily="34" charset="-120"/>
              </a:rPr>
              <a:t>The framework's _ignoreClass, else sn_sec_cmn.ignoreCIClass, added as sys_class_name NOT IN on every search. Exact class names, no hierarchy.</a:t>
            </a:r>
            <a:endParaRPr lang="en-US" sz="1500" dirty="0"/>
          </a:p>
          <a:p>
            <a:pPr marL="177800" indent="-177800">
              <a:lnSpc>
                <a:spcPct val="100000"/>
              </a:lnSpc>
              <a:buSzPct val="100000"/>
              <a:buChar char="•"/>
            </a:pPr>
            <a:r>
              <a:rPr lang="en-US" sz="1500" b="1" dirty="0">
                <a:solidFill>
                  <a:srgbClr val="012169"/>
                </a:solidFill>
                <a:latin typeface="Arial" pitchFamily="34" charset="0"/>
                <a:ea typeface="Arial" pitchFamily="34" charset="-122"/>
                <a:cs typeface="Arial" pitchFamily="34" charset="-120"/>
              </a:rPr>
              <a:t>Exactly one.  </a:t>
            </a:r>
            <a:pPr indent="0" marL="0">
              <a:lnSpc>
                <a:spcPct val="100000"/>
              </a:lnSpc>
              <a:spcAft>
                <a:spcPts val="1000"/>
              </a:spcAft>
              <a:buNone/>
            </a:pPr>
            <a:r>
              <a:rPr lang="en-US" sz="1500" dirty="0">
                <a:solidFill>
                  <a:srgbClr val="4D4F53"/>
                </a:solidFill>
                <a:latin typeface="Arial" pitchFamily="34" charset="0"/>
                <a:ea typeface="Arial" pitchFamily="34" charset="-122"/>
                <a:cs typeface="Arial" pitchFamily="34" charset="-120"/>
              </a:rPr>
              <a:t>query() with no setLimit, then next() and hasNext(): a second row declines. The rules that walk records count distinct owning CIs instead, and two owners decline.</a:t>
            </a:r>
            <a:endParaRPr lang="en-US" sz="1500" dirty="0"/>
          </a:p>
        </p:txBody>
      </p:sp>
      <p:sp>
        <p:nvSpPr>
          <p:cNvPr id="10" name="Text 8"/>
          <p:cNvSpPr txBox="1"/>
          <p:nvPr/>
        </p:nvSpPr>
        <p:spPr>
          <a:xfrm>
            <a:off x="6277356" y="1764792"/>
            <a:ext cx="5088636" cy="4302760"/>
          </a:xfrm>
          <a:prstGeom prst="rect">
            <a:avLst/>
          </a:prstGeom>
          <a:noFill/>
          <a:ln/>
        </p:spPr>
        <p:txBody>
          <a:bodyPr wrap="square" lIns="0" tIns="0" rIns="0" bIns="0" rtlCol="0" anchor="t"/>
          <a:lstStyle/>
          <a:p>
            <a:pPr marL="177800" indent="-177800">
              <a:lnSpc>
                <a:spcPct val="100000"/>
              </a:lnSpc>
              <a:buSzPct val="100000"/>
              <a:buChar char="•"/>
            </a:pPr>
            <a:r>
              <a:rPr lang="en-US" sz="1500" b="1" dirty="0">
                <a:solidFill>
                  <a:srgbClr val="012169"/>
                </a:solidFill>
                <a:latin typeface="Arial" pitchFamily="34" charset="0"/>
                <a:ea typeface="Arial" pitchFamily="34" charset="-122"/>
                <a:cs typeface="Arial" pitchFamily="34" charset="-120"/>
              </a:rPr>
              <a:t>Address tie-break.  </a:t>
            </a:r>
            <a:pPr indent="0" marL="0">
              <a:lnSpc>
                <a:spcPct val="100000"/>
              </a:lnSpc>
              <a:spcAft>
                <a:spcPts val="1000"/>
              </a:spcAft>
              <a:buNone/>
            </a:pPr>
            <a:r>
              <a:rPr lang="en-US" sz="1500" dirty="0">
                <a:solidFill>
                  <a:srgbClr val="4D4F53"/>
                </a:solidFill>
                <a:latin typeface="Arial" pitchFamily="34" charset="0"/>
                <a:ea typeface="Arial" pitchFamily="34" charset="-122"/>
                <a:cs typeface="Arial" pitchFamily="34" charset="-120"/>
              </a:rPr>
              <a:t>Only the FQDN, host name with domain, layered DNS and device name rules break several candidates with the scanned IP. The address rules never tie-break.</a:t>
            </a:r>
            <a:endParaRPr lang="en-US" sz="1500" dirty="0"/>
          </a:p>
          <a:p>
            <a:pPr marL="177800" indent="-177800">
              <a:lnSpc>
                <a:spcPct val="100000"/>
              </a:lnSpc>
              <a:buSzPct val="100000"/>
              <a:buChar char="•"/>
            </a:pPr>
            <a:r>
              <a:rPr lang="en-US" sz="1500" b="1" dirty="0">
                <a:solidFill>
                  <a:srgbClr val="012169"/>
                </a:solidFill>
                <a:latin typeface="Arial" pitchFamily="34" charset="0"/>
                <a:ea typeface="Arial" pitchFamily="34" charset="-122"/>
                <a:cs typeface="Arial" pitchFamily="34" charset="-120"/>
              </a:rPr>
              <a:t>Loopback and link-local.  </a:t>
            </a:r>
            <a:pPr indent="0" marL="0">
              <a:lnSpc>
                <a:spcPct val="100000"/>
              </a:lnSpc>
              <a:spcAft>
                <a:spcPts val="1000"/>
              </a:spcAft>
              <a:buNone/>
            </a:pPr>
            <a:r>
              <a:rPr lang="en-US" sz="1500" dirty="0">
                <a:solidFill>
                  <a:srgbClr val="4D4F53"/>
                </a:solidFill>
                <a:latin typeface="Arial" pitchFamily="34" charset="0"/>
                <a:ea typeface="Arial" pitchFamily="34" charset="-122"/>
                <a:cs typeface="Arial" pitchFamily="34" charset="-120"/>
              </a:rPr>
              <a:t>The address and virtual server rules refuse 127. and 169.254. before reading anything else.</a:t>
            </a:r>
            <a:endParaRPr lang="en-US" sz="1500" dirty="0"/>
          </a:p>
          <a:p>
            <a:pPr marL="177800" indent="-177800">
              <a:lnSpc>
                <a:spcPct val="100000"/>
              </a:lnSpc>
              <a:buSzPct val="100000"/>
              <a:buChar char="•"/>
            </a:pPr>
            <a:r>
              <a:rPr lang="en-US" sz="1500" b="1" dirty="0">
                <a:solidFill>
                  <a:srgbClr val="012169"/>
                </a:solidFill>
                <a:latin typeface="Arial" pitchFamily="34" charset="0"/>
                <a:ea typeface="Arial" pitchFamily="34" charset="-122"/>
                <a:cs typeface="Arial" pitchFamily="34" charset="-120"/>
              </a:rPr>
              <a:t>Retired records.  </a:t>
            </a:r>
            <a:pPr indent="0" marL="0">
              <a:lnSpc>
                <a:spcPct val="100000"/>
              </a:lnSpc>
              <a:spcAft>
                <a:spcPts val="1000"/>
              </a:spcAft>
              <a:buNone/>
            </a:pPr>
            <a:r>
              <a:rPr lang="en-US" sz="1500" dirty="0">
                <a:solidFill>
                  <a:srgbClr val="4D4F53"/>
                </a:solidFill>
                <a:latin typeface="Arial" pitchFamily="34" charset="0"/>
                <a:ea typeface="Arial" pitchFamily="34" charset="-122"/>
                <a:cs typeface="Arial" pitchFamily="34" charset="-120"/>
              </a:rPr>
              <a:t>retired(): install_status 7, operational_status 6 or life cycle stage Retired. The virtual server rules set a retired twin aside; the platform property filterOutDecommissionedCI drops retired CIs after any rule.</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KEY CONCEPTS  ·  HOW EVERY SCRIPT RUNS</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Class from the scanned OS</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2 of 2  ·  How every script runs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267200"/>
          </a:xfrm>
          <a:prstGeom prst="roundRect">
            <a:avLst>
              <a:gd name="adj" fmla="val 128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64792"/>
            <a:ext cx="5088636" cy="3718560"/>
          </a:xfrm>
          <a:prstGeom prst="rect">
            <a:avLst/>
          </a:prstGeom>
          <a:noFill/>
          <a:ln/>
        </p:spPr>
        <p:txBody>
          <a:bodyPr wrap="square" lIns="0" tIns="0" rIns="0" bIns="0" rtlCol="0" anchor="t"/>
          <a:lstStyle/>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classFor(OS).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Lower-cased OS text; three or more "/"-separated guesses give no class. Keywords in order, first hit wins: esx; windows (with server) / windows; aix; solaris, sunos; hp-ux; netapp, ontap; printer, laserjet, jetdirect; red hat, linux, centos, ubuntu, suse, debian, fedora, euleros, oracle enterprise, amazon; nx-os, catos, cisco.</a:t>
            </a:r>
            <a:endParaRPr lang="en-US" sz="1400" dirty="0"/>
          </a:p>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Classes.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ESX Server, Windows Server or Computer, AIX Server, Solaris Server, HP-UX Server, Storage Server, Printer, Linux Server, Network Gear. Anything else: no class.</a:t>
            </a:r>
            <a:endParaRPr lang="en-US" sz="1400" dirty="0"/>
          </a:p>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Class rules.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Search the OS class and its sub-classes only, and decline without a class. Hardware rules search the whole cmdb_ci_hardware tree and keep the OS class as a preference.</a:t>
            </a:r>
            <a:endParaRPr lang="en-US" sz="1400" dirty="0"/>
          </a:p>
        </p:txBody>
      </p:sp>
      <p:sp>
        <p:nvSpPr>
          <p:cNvPr id="10" name="Text 8"/>
          <p:cNvSpPr txBox="1"/>
          <p:nvPr/>
        </p:nvSpPr>
        <p:spPr>
          <a:xfrm>
            <a:off x="6277356" y="1764792"/>
            <a:ext cx="5088636" cy="3718560"/>
          </a:xfrm>
          <a:prstGeom prst="rect">
            <a:avLst/>
          </a:prstGeom>
          <a:noFill/>
          <a:ln/>
        </p:spPr>
        <p:txBody>
          <a:bodyPr wrap="square" lIns="0" tIns="0" rIns="0" bIns="0" rtlCol="0" anchor="t"/>
          <a:lstStyle/>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Class agreement.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agrees(cls): the CI class equals the OS class, sits beneath it or above it (parentsOf through sys_db_object.super_class). A Cisco IOS router therefore never lands on a Computer.</a:t>
            </a:r>
            <a:endParaRPr lang="en-US" sz="1400" dirty="0"/>
          </a:p>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Appliances.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In Layered DNS Match and Hostname Hardware Match a Linux fingerprint also agrees with Network Gear, Load Balancer and Storage Server records, because appliances answer scans as Linux.</a:t>
            </a:r>
            <a:endParaRPr lang="en-US" sz="1400" dirty="0"/>
          </a:p>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Load balancer devices.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A cmdb_ci_lb record is never accepted as the host behind a name or an address; the virtual server rules handle those addresses instead.</a:t>
            </a:r>
            <a:endParaRPr lang="en-US" sz="1400" dirty="0"/>
          </a:p>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Host name agreement.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The IP rules also require the CI's first name label to equal the scanned label, or to differ from it only by a hyphenated suffix such as -mgmt.</a:t>
            </a:r>
            <a:endParaRPr lang="en-US" sz="14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KEY CONCEPTS  ·  THE SIGNS THE SCRIPTS LOOK FOR</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Serials, phones, controllers</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1 of 2  ·  The signs the scripts look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693920"/>
          </a:xfrm>
          <a:prstGeom prst="roundRect">
            <a:avLst>
              <a:gd name="adj" fmla="val 1169"/>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64792"/>
            <a:ext cx="5088636" cy="4145280"/>
          </a:xfrm>
          <a:prstGeom prst="rect">
            <a:avLst/>
          </a:prstGeom>
          <a:noFill/>
          <a:ln/>
        </p:spPr>
        <p:txBody>
          <a:bodyPr wrap="square" lIns="0" tIns="0" rIns="0" bIns="0" rtlCol="0" anchor="t"/>
          <a:lstStyle/>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Placeholder serials.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Refused when shorter than four characters or one of: 0, none, n/a, na, unknown, empty, not specified, not available, no serial, default string, to be filled by o.e.m., system serial number, chassis serial number, 0123456789, 1234567890.</a:t>
            </a:r>
            <a:endParaRPr lang="en-US" sz="1400" dirty="0"/>
          </a:p>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Cisco phones.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DNS label ^sep([0-9a-f]{12})$: the twelve hex characters are the MAC, rebuilt in four spellings (64:F6:9D:D5:C9:B0, lower case, 64F69DD5C9B0, lower case). Search: a network adapter with that MAC owned by an IP Phone, then the phone's own mac_address, then the Unified CM device name SEP... in upper case.</a:t>
            </a:r>
            <a:endParaRPr lang="en-US" sz="1400" dirty="0"/>
          </a:p>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Other phones and scanners.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No MAC in the name (Avaya avx... stations, scanners). The host label is searched by name in IP Phone and Imaging Hardware only, outside the hardware tree. Declined when the OS gives a server or desktop class (Linux excepted) unless the OS text says phone; several hits: the one on the scanned address.</a:t>
            </a:r>
            <a:endParaRPr lang="en-US" sz="1400" dirty="0"/>
          </a:p>
        </p:txBody>
      </p:sp>
      <p:sp>
        <p:nvSpPr>
          <p:cNvPr id="10" name="Text 8"/>
          <p:cNvSpPr txBox="1"/>
          <p:nvPr/>
        </p:nvSpPr>
        <p:spPr>
          <a:xfrm>
            <a:off x="6277356" y="1764792"/>
            <a:ext cx="5088636" cy="4145280"/>
          </a:xfrm>
          <a:prstGeom prst="rect">
            <a:avLst/>
          </a:prstGeom>
          <a:noFill/>
          <a:ln/>
        </p:spPr>
        <p:txBody>
          <a:bodyPr wrap="square" lIns="0" tIns="0" rIns="0" bIns="0" rtlCol="0" anchor="t"/>
          <a:lstStyle/>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Management controllers.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Label tail after the last hyphen in ilo, ilom, idrac, drac, ipmi, bmc, oob, mgmt, imm, cimc, rmm, con, or OS text with ilo, ilom, idrac, drac, remote access controller, imm, cimc, bmc, ipmi, lights out. The label before the hyphen is the server name, searched hardware-wide; a load balancer device is refused.</a:t>
            </a:r>
            <a:endParaRPr lang="en-US" sz="1400" dirty="0"/>
          </a:p>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Network interfaces.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DNS in a .network. domain, or a hyphen segment that is an interface marker: vlan, v, hsrp, vrrp, po, eth, gi, te, lo, mgmt, aom, vs, fab, whole or followed by digits. Prefixes are tried longest first on Network Gear and Load Balancer devices; two hits decline.</a:t>
            </a:r>
            <a:endParaRPr lang="en-US" sz="14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KEY CONCEPTS  ·  THE SIGNS THE SCRIPTS LOOK FOR</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Virtual servers, names, addresses</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2 of 2  ·  The signs the scripts look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729480"/>
          </a:xfrm>
          <a:prstGeom prst="roundRect">
            <a:avLst>
              <a:gd name="adj" fmla="val 116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64792"/>
            <a:ext cx="5088636" cy="4180840"/>
          </a:xfrm>
          <a:prstGeom prst="rect">
            <a:avLst/>
          </a:prstGeom>
          <a:noFill/>
          <a:ln/>
        </p:spPr>
        <p:txBody>
          <a:bodyPr wrap="square" lIns="0" tIns="0" rIns="0" bIns="0" rtlCol="0" anchor="t"/>
          <a:lstStyle/>
          <a:p>
            <a:pPr marL="177800" indent="-177800">
              <a:lnSpc>
                <a:spcPct val="100000"/>
              </a:lnSpc>
              <a:buSzPct val="100000"/>
              <a:buChar char="•"/>
            </a:pPr>
            <a:r>
              <a:rPr lang="en-US" sz="1450" b="1" dirty="0">
                <a:solidFill>
                  <a:srgbClr val="012169"/>
                </a:solidFill>
                <a:latin typeface="Arial" pitchFamily="34" charset="0"/>
                <a:ea typeface="Arial" pitchFamily="34" charset="-122"/>
                <a:cs typeface="Arial" pitchFamily="34" charset="-120"/>
              </a:rPr>
              <a:t>Virtual server sign.  </a:t>
            </a:r>
            <a:pPr indent="0" marL="0">
              <a:lnSpc>
                <a:spcPct val="100000"/>
              </a:lnSpc>
              <a:spcAft>
                <a:spcPts val="1000"/>
              </a:spcAft>
              <a:buNone/>
            </a:pPr>
            <a:r>
              <a:rPr lang="en-US" sz="1450" dirty="0">
                <a:solidFill>
                  <a:srgbClr val="4D4F53"/>
                </a:solidFill>
                <a:latin typeface="Arial" pitchFamily="34" charset="0"/>
                <a:ea typeface="Arial" pitchFamily="34" charset="-122"/>
                <a:cs typeface="Arial" pitchFamily="34" charset="-120"/>
              </a:rPr>
              <a:t>OS text with f5, big-ip, big ip or netscaler, or a label segment vip or vs (vip, vip2, ...-vip, vs1). Load Balancer Service searched on fqdn, then name, then the label, then ip_address.</a:t>
            </a:r>
            <a:endParaRPr lang="en-US" sz="1450" dirty="0"/>
          </a:p>
          <a:p>
            <a:pPr marL="177800" indent="-177800">
              <a:lnSpc>
                <a:spcPct val="100000"/>
              </a:lnSpc>
              <a:buSzPct val="100000"/>
              <a:buChar char="•"/>
            </a:pPr>
            <a:r>
              <a:rPr lang="en-US" sz="1450" b="1" dirty="0">
                <a:solidFill>
                  <a:srgbClr val="012169"/>
                </a:solidFill>
                <a:latin typeface="Arial" pitchFamily="34" charset="0"/>
                <a:ea typeface="Arial" pitchFamily="34" charset="-122"/>
                <a:cs typeface="Arial" pitchFamily="34" charset="-120"/>
              </a:rPr>
              <a:t>Twins.  </a:t>
            </a:r>
            <a:pPr indent="0" marL="0">
              <a:lnSpc>
                <a:spcPct val="100000"/>
              </a:lnSpc>
              <a:spcAft>
                <a:spcPts val="1000"/>
              </a:spcAft>
              <a:buNone/>
            </a:pPr>
            <a:r>
              <a:rPr lang="en-US" sz="1450" dirty="0">
                <a:solidFill>
                  <a:srgbClr val="4D4F53"/>
                </a:solidFill>
                <a:latin typeface="Arial" pitchFamily="34" charset="0"/>
                <a:ea typeface="Arial" pitchFamily="34" charset="-122"/>
                <a:cs typeface="Arial" pitchFamily="34" charset="-120"/>
              </a:rPr>
              <a:t>Several service records of one name are one virtual server recorded more than once (HA pair, test copy): kept to the one on the scanned address, then the live one. Two different names decline.</a:t>
            </a:r>
            <a:endParaRPr lang="en-US" sz="1450" dirty="0"/>
          </a:p>
          <a:p>
            <a:pPr marL="177800" indent="-177800">
              <a:lnSpc>
                <a:spcPct val="100000"/>
              </a:lnSpc>
              <a:buSzPct val="100000"/>
              <a:buChar char="•"/>
            </a:pPr>
            <a:r>
              <a:rPr lang="en-US" sz="1450" b="1" dirty="0">
                <a:solidFill>
                  <a:srgbClr val="012169"/>
                </a:solidFill>
                <a:latin typeface="Arial" pitchFamily="34" charset="0"/>
                <a:ea typeface="Arial" pitchFamily="34" charset="-122"/>
                <a:cs typeface="Arial" pitchFamily="34" charset="-120"/>
              </a:rPr>
              <a:t>Member rule.  </a:t>
            </a:r>
            <a:pPr indent="0" marL="0">
              <a:lnSpc>
                <a:spcPct val="100000"/>
              </a:lnSpc>
              <a:spcAft>
                <a:spcPts val="1000"/>
              </a:spcAft>
              <a:buNone/>
            </a:pPr>
            <a:r>
              <a:rPr lang="en-US" sz="1450" dirty="0">
                <a:solidFill>
                  <a:srgbClr val="4D4F53"/>
                </a:solidFill>
                <a:latin typeface="Arial" pitchFamily="34" charset="0"/>
                <a:ea typeface="Arial" pitchFamily="34" charset="-122"/>
                <a:cs typeface="Arial" pitchFamily="34" charset="-120"/>
              </a:rPr>
              <a:t>Service to pools to pool members through cmdb_rel_ci, each member to its server record (in cmdb_ci_hardware, not ignored, not a balancer). One machine behind every member returns the server; a member the CMDB cannot place, several machines or two live records of one machine decline.</a:t>
            </a:r>
            <a:endParaRPr lang="en-US" sz="1450" dirty="0"/>
          </a:p>
          <a:p>
            <a:pPr marL="177800" indent="-177800">
              <a:lnSpc>
                <a:spcPct val="100000"/>
              </a:lnSpc>
              <a:buSzPct val="100000"/>
              <a:buChar char="•"/>
            </a:pPr>
            <a:r>
              <a:rPr lang="en-US" sz="1450" b="1" dirty="0">
                <a:solidFill>
                  <a:srgbClr val="012169"/>
                </a:solidFill>
                <a:latin typeface="Arial" pitchFamily="34" charset="0"/>
                <a:ea typeface="Arial" pitchFamily="34" charset="-122"/>
                <a:cs typeface="Arial" pitchFamily="34" charset="-120"/>
              </a:rPr>
              <a:t>Service rule.  </a:t>
            </a:r>
            <a:pPr indent="0" marL="0">
              <a:lnSpc>
                <a:spcPct val="100000"/>
              </a:lnSpc>
              <a:spcAft>
                <a:spcPts val="1000"/>
              </a:spcAft>
              <a:buNone/>
            </a:pPr>
            <a:r>
              <a:rPr lang="en-US" sz="1450" dirty="0">
                <a:solidFill>
                  <a:srgbClr val="4D4F53"/>
                </a:solidFill>
                <a:latin typeface="Arial" pitchFamily="34" charset="0"/>
                <a:ea typeface="Arial" pitchFamily="34" charset="-122"/>
                <a:cs typeface="Arial" pitchFamily="34" charset="-120"/>
              </a:rPr>
              <a:t>Never reads the pool. Attaches the one live virtual server record; two live twins decline.</a:t>
            </a:r>
            <a:endParaRPr lang="en-US" sz="1450" dirty="0"/>
          </a:p>
        </p:txBody>
      </p:sp>
      <p:sp>
        <p:nvSpPr>
          <p:cNvPr id="10" name="Text 8"/>
          <p:cNvSpPr txBox="1"/>
          <p:nvPr/>
        </p:nvSpPr>
        <p:spPr>
          <a:xfrm>
            <a:off x="6277356" y="1764792"/>
            <a:ext cx="5088636" cy="4180840"/>
          </a:xfrm>
          <a:prstGeom prst="rect">
            <a:avLst/>
          </a:prstGeom>
          <a:noFill/>
          <a:ln/>
        </p:spPr>
        <p:txBody>
          <a:bodyPr wrap="square" lIns="0" tIns="0" rIns="0" bIns="0" rtlCol="0" anchor="t"/>
          <a:lstStyle/>
          <a:p>
            <a:pPr marL="177800" indent="-177800">
              <a:lnSpc>
                <a:spcPct val="100000"/>
              </a:lnSpc>
              <a:buSzPct val="100000"/>
              <a:buChar char="•"/>
            </a:pPr>
            <a:r>
              <a:rPr lang="en-US" sz="1450" b="1" dirty="0">
                <a:solidFill>
                  <a:srgbClr val="012169"/>
                </a:solidFill>
                <a:latin typeface="Arial" pitchFamily="34" charset="0"/>
                <a:ea typeface="Arial" pitchFamily="34" charset="-122"/>
                <a:cs typeface="Arial" pitchFamily="34" charset="-120"/>
              </a:rPr>
              <a:t>Names.  </a:t>
            </a:r>
            <a:pPr indent="0" marL="0">
              <a:lnSpc>
                <a:spcPct val="100000"/>
              </a:lnSpc>
              <a:spcAft>
                <a:spcPts val="1000"/>
              </a:spcAft>
              <a:buNone/>
            </a:pPr>
            <a:r>
              <a:rPr lang="en-US" sz="1450" dirty="0">
                <a:solidFill>
                  <a:srgbClr val="4D4F53"/>
                </a:solidFill>
                <a:latin typeface="Arial" pitchFamily="34" charset="0"/>
                <a:ea typeface="Arial" pitchFamily="34" charset="-122"/>
                <a:cs typeface="Arial" pitchFamily="34" charset="-120"/>
              </a:rPr>
              <a:t>FQDN rules: the whole dotted name on fqdn. FQDN Name rules: the whole dotted name on the name field. Host name rules: the first label on name. Domain rules: the first label on name and the rest on dns_domain. A bare label without a dot declines the FQDN rules.</a:t>
            </a:r>
            <a:endParaRPr lang="en-US" sz="1450" dirty="0"/>
          </a:p>
          <a:p>
            <a:pPr marL="177800" indent="-177800">
              <a:lnSpc>
                <a:spcPct val="100000"/>
              </a:lnSpc>
              <a:buSzPct val="100000"/>
              <a:buChar char="•"/>
            </a:pPr>
            <a:r>
              <a:rPr lang="en-US" sz="1450" b="1" dirty="0">
                <a:solidFill>
                  <a:srgbClr val="012169"/>
                </a:solidFill>
                <a:latin typeface="Arial" pitchFamily="34" charset="0"/>
                <a:ea typeface="Arial" pitchFamily="34" charset="-122"/>
                <a:cs typeface="Arial" pitchFamily="34" charset="-120"/>
              </a:rPr>
              <a:t>Addresses.  </a:t>
            </a:r>
            <a:pPr indent="0" marL="0">
              <a:lnSpc>
                <a:spcPct val="100000"/>
              </a:lnSpc>
              <a:spcAft>
                <a:spcPts val="1000"/>
              </a:spcAft>
              <a:buNone/>
            </a:pPr>
            <a:r>
              <a:rPr lang="en-US" sz="1450" dirty="0">
                <a:solidFill>
                  <a:srgbClr val="4D4F53"/>
                </a:solidFill>
                <a:latin typeface="Arial" pitchFamily="34" charset="0"/>
                <a:ea typeface="Arial" pitchFamily="34" charset="-122"/>
                <a:cs typeface="Arial" pitchFamily="34" charset="-120"/>
              </a:rPr>
              <a:t>ip_address on the OS class, then on the hardware tree; then the adapter walk (cmdb_ci_network_adapter.ip_address to cmdb_ci) and the IP Address record walk (cmdb_ci_ip_address to nic.cmdb_ci), distinct owners counted, class and host name agreement on the one owner.</a:t>
            </a:r>
            <a:endParaRPr lang="en-US" sz="1450" dirty="0"/>
          </a:p>
          <a:p>
            <a:pPr marL="177800" indent="-177800">
              <a:lnSpc>
                <a:spcPct val="100000"/>
              </a:lnSpc>
              <a:buSzPct val="100000"/>
              <a:buChar char="•"/>
            </a:pPr>
            <a:r>
              <a:rPr lang="en-US" sz="1450" b="1" dirty="0">
                <a:solidFill>
                  <a:srgbClr val="012169"/>
                </a:solidFill>
                <a:latin typeface="Arial" pitchFamily="34" charset="0"/>
                <a:ea typeface="Arial" pitchFamily="34" charset="-122"/>
                <a:cs typeface="Arial" pitchFamily="34" charset="-120"/>
              </a:rPr>
              <a:t>Last resort.  </a:t>
            </a:r>
            <a:pPr indent="0" marL="0">
              <a:lnSpc>
                <a:spcPct val="100000"/>
              </a:lnSpc>
              <a:spcAft>
                <a:spcPts val="1000"/>
              </a:spcAft>
              <a:buNone/>
            </a:pPr>
            <a:r>
              <a:rPr lang="en-US" sz="1450" dirty="0">
                <a:solidFill>
                  <a:srgbClr val="4D4F53"/>
                </a:solidFill>
                <a:latin typeface="Arial" pitchFamily="34" charset="0"/>
                <a:ea typeface="Arial" pitchFamily="34" charset="-122"/>
                <a:cs typeface="Arial" pitchFamily="34" charset="-120"/>
              </a:rPr>
              <a:t>FQDN Name Broad Match searches the whole cmdb_ci table by name when everything else declined, still one record only.</a:t>
            </a:r>
            <a:endParaRPr lang="en-US" sz="14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KEY CONCEPTS</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300" b="1" dirty="0">
                <a:solidFill>
                  <a:srgbClr val="1F2A44"/>
                </a:solidFill>
                <a:latin typeface="Arial" pitchFamily="34" charset="0"/>
                <a:ea typeface="Arial" pitchFamily="34" charset="-122"/>
                <a:cs typeface="Arial" pitchFamily="34" charset="-120"/>
              </a:rPr>
              <a:t>The chain at a glance: first rule to answer wins</a:t>
            </a:r>
            <a:endParaRPr lang="en-US" sz="23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11183112" cy="914400"/>
        </p:xfrm>
        <a:graphic>
          <a:graphicData uri="http://schemas.openxmlformats.org/drawingml/2006/table">
            <a:tbl>
              <a:tblPr/>
              <a:tblGrid>
                <a:gridCol w="640080"/>
                <a:gridCol w="2743200"/>
                <a:gridCol w="2103120"/>
                <a:gridCol w="5696712"/>
              </a:tblGrid>
              <a:tr h="224028">
                <a:tc>
                  <a:txBody>
                    <a:bodyPr/>
                    <a:lstStyle/>
                    <a:p>
                      <a:pPr indent="0" marL="0">
                        <a:buNone/>
                      </a:pPr>
                      <a:r>
                        <a:rPr lang="en-US" sz="1000" b="1" dirty="0">
                          <a:solidFill>
                            <a:srgbClr val="FFFFFF"/>
                          </a:solidFill>
                          <a:latin typeface="Arial" pitchFamily="34" charset="0"/>
                          <a:ea typeface="Arial" pitchFamily="34" charset="-122"/>
                          <a:cs typeface="Arial" pitchFamily="34" charset="-120"/>
                        </a:rPr>
                        <a:t>Order</a:t>
                      </a:r>
                      <a:endParaRPr lang="en-US" sz="10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012169"/>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Rule</a:t>
                      </a:r>
                      <a:endParaRPr lang="en-US" sz="10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012169"/>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Reads</a:t>
                      </a:r>
                      <a:endParaRPr lang="en-US" sz="10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012169"/>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Returns</a:t>
                      </a:r>
                      <a:endParaRPr lang="en-US" sz="10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012169"/>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175</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Serial Number Class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Serial, OS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CI of the OS class carrying the serial</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180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Serial Number Hardware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Serial</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hardware CI carrying the serial</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200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Cisco IP Phone MAC</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 label sep + MAC</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IP Phone owning that MAC</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250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FQDN Class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 OS, IP</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CI of the OS class whose fqdn is the name; IP breaks a tie</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260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FQDN Hardware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 IP</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hardware CI whose fqdn is the name; IP breaks a tie</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300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Hostname Domain Class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 OS, IP</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CI of the OS class named with the label and the domain</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310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Hostname Domain Hardware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 IP</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hardware CI named with the label and the domain</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350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Layered DNS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 OS, IP</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CI reached through DNS Name, IP Address and adapter records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400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Hostname Class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 OS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CI of the OS class named with the label</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410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Hostname Hardware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 OS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hardware CI named with the label whose class agrees with the OS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415</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Device Name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 OS, IP</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IP Phone or Imaging Hardware CI named with the label</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420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Management Interface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 OS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hardware CI named with the label minus its controller suffix</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430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Network Interface Name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Network Gear or Load Balancer named with the longest prefix</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450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FQDN Name Hardware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hardware CI named with the whole fqdn</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455</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Load Balancer Member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IP, DNS, OS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real server behind every member of the virtual server</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460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Load Balancer Service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IP, DNS, OS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live Load Balancer Service record of the virtual server</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700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IP Class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IP, OS, DNS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CI of the OS class carrying the address, name agreeing</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705</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IP Hardware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IP, OS, DNS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hardware CI carrying the address, class and name agreeing</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730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IP Adapter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IP, OS, DNS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CI owning an adapter on the address, class and name agreeing</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740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IP Layered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IP, OS, DNS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CI behind an IP Address record on the address, class and name agreeing</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850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FQDN Name Broad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CI of any class named with the whole fqdn</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502920" y="6217920"/>
            <a:ext cx="11183112" cy="219456"/>
          </a:xfrm>
          <a:prstGeom prst="rect">
            <a:avLst/>
          </a:prstGeom>
          <a:noFill/>
          <a:ln/>
        </p:spPr>
        <p:txBody>
          <a:bodyPr wrap="square" lIns="0" tIns="0" rIns="0" bIns="0" rtlCol="0" anchor="ctr"/>
          <a:lstStyle/>
          <a:p>
            <a:pPr indent="0" marL="0">
              <a:buNone/>
            </a:pPr>
            <a:r>
              <a:rPr lang="en-US" sz="950" dirty="0">
                <a:solidFill>
                  <a:srgbClr val="6E7279"/>
                </a:solidFill>
                <a:latin typeface="Arial" pitchFamily="34" charset="0"/>
                <a:ea typeface="Arial" pitchFamily="34" charset="-122"/>
                <a:cs typeface="Arial" pitchFamily="34" charset="-120"/>
              </a:rPr>
              <a:t>After the USEM rules the platform's own rules run (FQDN, NetBIOS, DNS). A rule that returns nothing hands the host to the next one.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175  ·  SERIAL NUMBER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Serial Number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935480"/>
          </a:xfrm>
          <a:prstGeom prst="roundRect">
            <a:avLst>
              <a:gd name="adj" fmla="val 28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6062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2954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Qualys SERIAL_NUMBER, the one identifier that stays with a machine while names and addresses get reused, but only inside the CMDB class the scanned OS text points at, so a Red Hat host can land only on a Linux Server and a Windows Server carrying the same serial is never seen.</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opens the chain because a unique serial inside the right class is the strongest identifier the feed offers.</a:t>
            </a:r>
            <a:endParaRPr lang="en-US" sz="1500" dirty="0"/>
          </a:p>
        </p:txBody>
      </p:sp>
      <p:sp>
        <p:nvSpPr>
          <p:cNvPr id="13" name="Shape 11"/>
          <p:cNvSpPr/>
          <p:nvPr/>
        </p:nvSpPr>
        <p:spPr>
          <a:xfrm>
            <a:off x="502920" y="3608832"/>
            <a:ext cx="6933529" cy="2286000"/>
          </a:xfrm>
          <a:prstGeom prst="roundRect">
            <a:avLst>
              <a:gd name="adj" fmla="val 24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7917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066032"/>
            <a:ext cx="457200" cy="0"/>
          </a:xfrm>
          <a:prstGeom prst="line">
            <a:avLst/>
          </a:prstGeom>
          <a:noFill/>
          <a:ln w="19050">
            <a:solidFill>
              <a:srgbClr val="E31837"/>
            </a:solidFill>
            <a:prstDash val="solid"/>
          </a:ln>
        </p:spPr>
      </p:sp>
      <p:sp>
        <p:nvSpPr>
          <p:cNvPr id="16" name="Text 14"/>
          <p:cNvSpPr txBox="1"/>
          <p:nvPr/>
        </p:nvSpPr>
        <p:spPr>
          <a:xfrm>
            <a:off x="822960" y="4157472"/>
            <a:ext cx="6293449" cy="15544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SERIAL_NUMBER (sourceValue) plus sourcePayload.OS; the IP and DNS fields are not read.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CI in the OS-implied class (sub-classes included, ignored classes excluded) whose serial_number equals the trimmed serial; null in every other case.</a:t>
            </a:r>
            <a:endParaRPr lang="en-US" sz="1400" dirty="0"/>
          </a:p>
        </p:txBody>
      </p:sp>
      <p:sp>
        <p:nvSpPr>
          <p:cNvPr id="17" name="Shape 15"/>
          <p:cNvSpPr/>
          <p:nvPr/>
        </p:nvSpPr>
        <p:spPr>
          <a:xfrm>
            <a:off x="7665049" y="3608832"/>
            <a:ext cx="4020983" cy="2286000"/>
          </a:xfrm>
          <a:prstGeom prst="roundRect">
            <a:avLst>
              <a:gd name="adj" fmla="val 240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7917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066032"/>
            <a:ext cx="457200" cy="0"/>
          </a:xfrm>
          <a:prstGeom prst="line">
            <a:avLst/>
          </a:prstGeom>
          <a:noFill/>
          <a:ln w="19050">
            <a:solidFill>
              <a:srgbClr val="E31837"/>
            </a:solidFill>
            <a:prstDash val="solid"/>
          </a:ln>
        </p:spPr>
      </p:sp>
      <p:sp>
        <p:nvSpPr>
          <p:cNvPr id="20" name="Text 18"/>
          <p:cNvSpPr txBox="1"/>
          <p:nvPr/>
        </p:nvSpPr>
        <p:spPr>
          <a:xfrm>
            <a:off x="7985089" y="4157472"/>
            <a:ext cx="3380903" cy="54864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100" dirty="0">
                <a:solidFill>
                  <a:srgbClr val="4D4F53"/>
                </a:solidFill>
                <a:latin typeface="Arial" pitchFamily="34" charset="0"/>
                <a:ea typeface="Arial" pitchFamily="34" charset="-122"/>
                <a:cs typeface="Arial" pitchFamily="34" charset="-120"/>
              </a:rPr>
              <a:t>none, it opens the chain</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100" dirty="0">
                <a:solidFill>
                  <a:srgbClr val="4D4F53"/>
                </a:solidFill>
                <a:latin typeface="Arial" pitchFamily="34" charset="0"/>
                <a:ea typeface="Arial" pitchFamily="34" charset="-122"/>
                <a:cs typeface="Arial" pitchFamily="34" charset="-120"/>
              </a:rPr>
              <a:t>Serial Number Hardware Match</a:t>
            </a:r>
            <a:endParaRPr lang="en-US" sz="1100" dirty="0"/>
          </a:p>
        </p:txBody>
      </p:sp>
      <p:sp>
        <p:nvSpPr>
          <p:cNvPr id="21" name="Text 19"/>
          <p:cNvSpPr txBox="1"/>
          <p:nvPr/>
        </p:nvSpPr>
        <p:spPr>
          <a:xfrm>
            <a:off x="7985089" y="47975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25,257</a:t>
            </a:r>
            <a:endParaRPr lang="en-US" sz="2800" dirty="0"/>
          </a:p>
        </p:txBody>
      </p:sp>
      <p:sp>
        <p:nvSpPr>
          <p:cNvPr id="22" name="Text 20"/>
          <p:cNvSpPr txBox="1"/>
          <p:nvPr/>
        </p:nvSpPr>
        <p:spPr>
          <a:xfrm>
            <a:off x="7985089" y="53644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175  ·  SERIAL NUMBER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Serial Number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886960"/>
          </a:xfrm>
          <a:prstGeom prst="roundRect">
            <a:avLst>
              <a:gd name="adj" fmla="val 1123"/>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33832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1   Empty serial guard.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If sourceValue is empty (null, undefined or an empty string) the script returns null at once; nothing else in the payload is read.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2   Trim the serial.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sourceValue is coerced to a string and trimmed; that trimmed value, with its case unchanged, is the value the search uses. Sample: 'VMware-42 1a 9c 3f 7d 2e 61 b8-55 04 e2 91 6a 27 c3 08' passes through untouched.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3   Placeholder and length guard.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A serial shorter than four characters is refused, and so is one whose lower-cased form, wrapped in commas, is found in the placeholder list quoted in full under literals, because such vendor values sit on dozens of CIs.</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4   Resolve the ignored classes.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If the framework defined a non-empty _ignoreClass variable its string value is used; otherwise the script reads gs.getProperty('sn_sec_cmn.ignoreCIClass', ''). An empty result means no class filter is added to the query.</a:t>
            </a:r>
            <a:endParaRPr lang="en-US" sz="1400" dirty="0"/>
          </a:p>
        </p:txBody>
      </p:sp>
      <p:sp>
        <p:nvSpPr>
          <p:cNvPr id="10" name="Text 8"/>
          <p:cNvSpPr txBox="1"/>
          <p:nvPr/>
        </p:nvSpPr>
        <p:spPr>
          <a:xfrm>
            <a:off x="6277356" y="1746504"/>
            <a:ext cx="5088636" cy="433832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5   Class from the OS.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classFor(sourcePayload.OS) casts the OS to a lower-cased string; more than two '/'-separated parts gives no class; else the first keyword hit in order (esx, windows, aix, solaris, hp-ux, netapp, printer, linux, cisco) names the class. No class: null.</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6   Open the class table.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A GlideRecord is opened on the class chosen; its sub-classes come along by table inheritance. If gr.isValid() is false the class is not installed on the instance and the rule returns null.</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7   Query the serial inside the class.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addQuery('serial_number', serial) as an exact match, plus addQuery('sys_class_name', 'NOT IN', ignore) when the ignore list is non-empty; then query() with no setLimit.</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8   Exactly one row.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If next() is false the rule returns null. The first row's getUniqueValue() is held; if hasNext() is true a second CI in the class carries the same serial (cloned VM, serial typed on the wrong record) and the rule returns null; else the held sys_id is returned.</a:t>
            </a:r>
            <a:endParaRPr lang="en-US" sz="14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175  ·  SERIAL NUMBER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Serial Number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177540"/>
          </a:xfrm>
          <a:prstGeom prst="roundRect">
            <a:avLst>
              <a:gd name="adj" fmla="val 172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8483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5374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trimmed serial is shorter than four characters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lower-cased serial is one of the placeholder tokens in the junk list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SourcePayload.OS is empty or contains none of the classFor keywords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OS text holds three or more '/'-separated guesses (split('/').length &gt; 2)</a:t>
            </a:r>
            <a:endParaRPr lang="en-US" sz="1500" dirty="0"/>
          </a:p>
        </p:txBody>
      </p:sp>
      <p:sp>
        <p:nvSpPr>
          <p:cNvPr id="13" name="Text 11"/>
          <p:cNvSpPr txBox="1"/>
          <p:nvPr/>
        </p:nvSpPr>
        <p:spPr>
          <a:xfrm>
            <a:off x="6277356" y="1975104"/>
            <a:ext cx="5088636" cy="25374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class table named by classFor is not valid on the instance (gr.isValid() false)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CI in that class (sub-classes included, ignored classes excluded) carries the serial</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CIs in that class carry the serial (hasNext() true), whatever their state, class depth or address</a:t>
            </a:r>
            <a:endParaRPr lang="en-US" sz="1500" dirty="0"/>
          </a:p>
        </p:txBody>
      </p:sp>
      <p:sp>
        <p:nvSpPr>
          <p:cNvPr id="14" name="Shape 12"/>
          <p:cNvSpPr/>
          <p:nvPr/>
        </p:nvSpPr>
        <p:spPr>
          <a:xfrm>
            <a:off x="502920" y="48508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8508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Serial Number Hardware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175  ·  SERIAL NUMBER CLASS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usvmapcftmrc15.ssc.ext.bankofamerica.com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win_server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821944"/>
          </a:xfrm>
          <a:prstGeom prst="roundRect">
            <a:avLst>
              <a:gd name="adj" fmla="val 667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309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First rule of the chain: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the serial is searched inside the OS class before any name or address is read</a:t>
            </a:r>
            <a:endParaRPr lang="en-US" sz="1100" dirty="0"/>
          </a:p>
        </p:txBody>
      </p:sp>
      <p:sp>
        <p:nvSpPr>
          <p:cNvPr id="12" name="Shape 10"/>
          <p:cNvSpPr/>
          <p:nvPr/>
        </p:nvSpPr>
        <p:spPr>
          <a:xfrm>
            <a:off x="502920" y="2413000"/>
            <a:ext cx="2788920" cy="3987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568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2842768"/>
            <a:ext cx="457200" cy="0"/>
          </a:xfrm>
          <a:prstGeom prst="line">
            <a:avLst/>
          </a:prstGeom>
          <a:noFill/>
          <a:ln w="19050">
            <a:solidFill>
              <a:srgbClr val="E31837"/>
            </a:solidFill>
            <a:prstDash val="solid"/>
          </a:ln>
        </p:spPr>
      </p:sp>
      <p:sp>
        <p:nvSpPr>
          <p:cNvPr id="15" name="Text 13"/>
          <p:cNvSpPr txBox="1"/>
          <p:nvPr/>
        </p:nvSpPr>
        <p:spPr>
          <a:xfrm>
            <a:off x="740664" y="2888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SDI000002148411</a:t>
            </a:r>
            <a:endParaRPr lang="en-US" sz="1500" dirty="0"/>
          </a:p>
        </p:txBody>
      </p:sp>
      <p:sp>
        <p:nvSpPr>
          <p:cNvPr id="16" name="Text 14"/>
          <p:cNvSpPr txBox="1"/>
          <p:nvPr/>
        </p:nvSpPr>
        <p:spPr>
          <a:xfrm>
            <a:off x="740664" y="3254248"/>
            <a:ext cx="2313432" cy="2433320"/>
          </a:xfrm>
          <a:prstGeom prst="rect">
            <a:avLst/>
          </a:prstGeom>
          <a:noFill/>
          <a:ln/>
        </p:spPr>
        <p:txBody>
          <a:bodyPr wrap="square" lIns="0" tIns="0" rIns="0" bIns="0" rtlCol="0" anchor="t"/>
          <a:lstStyle/>
          <a:p>
            <a:pPr indent="0" marL="0">
              <a:buNone/>
            </a:pPr>
            <a:r>
              <a:rPr lang="en-US" sz="105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50" dirty="0">
                <a:solidFill>
                  <a:srgbClr val="4D4F53"/>
                </a:solidFill>
                <a:latin typeface="Arial" pitchFamily="34" charset="0"/>
                <a:ea typeface="Arial" pitchFamily="34" charset="-122"/>
                <a:cs typeface="Arial" pitchFamily="34" charset="-120"/>
              </a:rPr>
              <a:t>usvmapcftmrc15.ssc.ext.bankofamerica.com</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50" dirty="0">
                <a:solidFill>
                  <a:srgbClr val="4D4F53"/>
                </a:solidFill>
                <a:latin typeface="Arial" pitchFamily="34" charset="0"/>
                <a:ea typeface="Arial" pitchFamily="34" charset="-122"/>
                <a:cs typeface="Arial" pitchFamily="34" charset="-120"/>
              </a:rPr>
              <a:t>30.122.224.209</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50" dirty="0">
                <a:solidFill>
                  <a:srgbClr val="4D4F53"/>
                </a:solidFill>
                <a:latin typeface="Arial" pitchFamily="34" charset="0"/>
                <a:ea typeface="Arial" pitchFamily="34" charset="-122"/>
                <a:cs typeface="Arial" pitchFamily="34" charset="-120"/>
              </a:rPr>
              <a:t>Windows Server 2016 Standard 64 bit Edition Version 1607</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050" dirty="0">
                <a:solidFill>
                  <a:srgbClr val="4D4F53"/>
                </a:solidFill>
                <a:latin typeface="Arial" pitchFamily="34" charset="0"/>
                <a:ea typeface="Arial" pitchFamily="34" charset="-122"/>
                <a:cs typeface="Arial" pitchFamily="34" charset="-120"/>
              </a:rPr>
              <a:t>VMware-42 0c 39 43 40 ea 20 22-2b 99 7d 0f 4e e1 9e 59</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1050" dirty="0">
                <a:solidFill>
                  <a:srgbClr val="4D4F53"/>
                </a:solidFill>
                <a:latin typeface="Arial" pitchFamily="34" charset="0"/>
                <a:ea typeface="Arial" pitchFamily="34" charset="-122"/>
                <a:cs typeface="Arial" pitchFamily="34" charset="-120"/>
              </a:rPr>
              <a:t>USVMAPCFTMRC15</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50" dirty="0">
                <a:solidFill>
                  <a:srgbClr val="4D4F53"/>
                </a:solidFill>
                <a:latin typeface="Arial" pitchFamily="34" charset="0"/>
                <a:ea typeface="Arial" pitchFamily="34" charset="-122"/>
                <a:cs typeface="Arial" pitchFamily="34" charset="-120"/>
              </a:rPr>
              <a:t>Cloud Agent</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50" dirty="0">
                <a:solidFill>
                  <a:srgbClr val="4D4F53"/>
                </a:solidFill>
                <a:latin typeface="Arial" pitchFamily="34" charset="0"/>
                <a:ea typeface="Arial" pitchFamily="34" charset="-122"/>
                <a:cs typeface="Arial" pitchFamily="34" charset="-120"/>
              </a:rPr>
              <a:t>2026-09-21 06:05:16</a:t>
            </a:r>
            <a:endParaRPr lang="en-US" sz="1050" dirty="0"/>
          </a:p>
        </p:txBody>
      </p:sp>
      <p:sp>
        <p:nvSpPr>
          <p:cNvPr id="17" name="Text 15">
            <a:hlinkClick r:id="rId1" tooltip="https://bofasecopsdev.service-now.com/sn_sec_cmn_src_ci_list.do?sysparm_query=number=SDI000002148411"/>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14841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413000"/>
            <a:ext cx="4745736" cy="3987800"/>
          </a:xfrm>
          <a:prstGeom prst="roundRect">
            <a:avLst>
              <a:gd name="adj" fmla="val 137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568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2842768"/>
            <a:ext cx="457200" cy="0"/>
          </a:xfrm>
          <a:prstGeom prst="line">
            <a:avLst/>
          </a:prstGeom>
          <a:noFill/>
          <a:ln w="19050">
            <a:solidFill>
              <a:srgbClr val="E31837"/>
            </a:solidFill>
            <a:prstDash val="solid"/>
          </a:ln>
        </p:spPr>
      </p:sp>
      <p:sp>
        <p:nvSpPr>
          <p:cNvPr id="21" name="Text 19"/>
          <p:cNvSpPr txBox="1"/>
          <p:nvPr/>
        </p:nvSpPr>
        <p:spPr>
          <a:xfrm>
            <a:off x="3749040" y="2915920"/>
            <a:ext cx="4233672" cy="33294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Serial read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"VMware-42 0c 39 43 40 ea 20 22-2b 99 7d 0f 4e e1 9e 59"</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Class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OS "Windows Server 2016 Standard 64 bit Edition Version 1607" gives the class win_server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Records carrying the serial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usvmapcftmrc15 [win_server] ip 30.122.224.209 -&gt; exactly one, accepted</a:t>
            </a:r>
            <a:endParaRPr lang="en-US" sz="1300" dirty="0"/>
          </a:p>
        </p:txBody>
      </p:sp>
      <p:sp>
        <p:nvSpPr>
          <p:cNvPr id="22" name="Shape 20"/>
          <p:cNvSpPr/>
          <p:nvPr/>
        </p:nvSpPr>
        <p:spPr>
          <a:xfrm>
            <a:off x="8439912" y="2413000"/>
            <a:ext cx="3246120" cy="398780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577592"/>
            <a:ext cx="64008" cy="3658616"/>
          </a:xfrm>
          <a:prstGeom prst="rect">
            <a:avLst/>
          </a:prstGeom>
          <a:solidFill>
            <a:srgbClr val="E31837"/>
          </a:solidFill>
          <a:ln w="12700">
            <a:solidFill>
              <a:srgbClr val="333333"/>
            </a:solidFill>
            <a:prstDash val="solid"/>
          </a:ln>
        </p:spPr>
      </p:sp>
      <p:sp>
        <p:nvSpPr>
          <p:cNvPr id="24" name="Text 22"/>
          <p:cNvSpPr txBox="1"/>
          <p:nvPr/>
        </p:nvSpPr>
        <p:spPr>
          <a:xfrm>
            <a:off x="8714232" y="2568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2842768"/>
            <a:ext cx="457200" cy="0"/>
          </a:xfrm>
          <a:prstGeom prst="line">
            <a:avLst/>
          </a:prstGeom>
          <a:noFill/>
          <a:ln w="19050">
            <a:solidFill>
              <a:srgbClr val="E31837"/>
            </a:solidFill>
            <a:prstDash val="solid"/>
          </a:ln>
        </p:spPr>
      </p:sp>
      <p:sp>
        <p:nvSpPr>
          <p:cNvPr id="26" name="Text 24"/>
          <p:cNvSpPr txBox="1"/>
          <p:nvPr/>
        </p:nvSpPr>
        <p:spPr>
          <a:xfrm>
            <a:off x="8714232" y="28884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usvmapcftmrc15</a:t>
            </a:r>
            <a:endParaRPr lang="en-US" sz="1500" dirty="0"/>
          </a:p>
        </p:txBody>
      </p:sp>
      <p:sp>
        <p:nvSpPr>
          <p:cNvPr id="27" name="Text 25"/>
          <p:cNvSpPr txBox="1"/>
          <p:nvPr/>
        </p:nvSpPr>
        <p:spPr>
          <a:xfrm>
            <a:off x="8714232" y="3208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Windows Server</a:t>
            </a:r>
            <a:endParaRPr lang="en-US" sz="1100" dirty="0"/>
          </a:p>
        </p:txBody>
      </p:sp>
      <p:sp>
        <p:nvSpPr>
          <p:cNvPr id="28" name="Text 26"/>
          <p:cNvSpPr txBox="1"/>
          <p:nvPr/>
        </p:nvSpPr>
        <p:spPr>
          <a:xfrm>
            <a:off x="8714232" y="3528568"/>
            <a:ext cx="2715768" cy="2159000"/>
          </a:xfrm>
          <a:prstGeom prst="rect">
            <a:avLst/>
          </a:prstGeom>
          <a:noFill/>
          <a:ln/>
        </p:spPr>
        <p:txBody>
          <a:bodyPr wrap="square" lIns="0" tIns="0" rIns="0" bIns="0" rtlCol="0" anchor="t"/>
          <a:lstStyle/>
          <a:p>
            <a:pPr indent="0" marL="0">
              <a:buNone/>
            </a:pPr>
            <a:r>
              <a:rPr lang="en-US" sz="11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1150" dirty="0">
                <a:solidFill>
                  <a:srgbClr val="4D4F53"/>
                </a:solidFill>
                <a:latin typeface="Arial" pitchFamily="34" charset="0"/>
                <a:ea typeface="Arial" pitchFamily="34" charset="-122"/>
                <a:cs typeface="Arial" pitchFamily="34" charset="-120"/>
              </a:rPr>
              <a:t>usvmapcftmrc15.ssc.ext.bankofamerica.com</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150" dirty="0">
                <a:solidFill>
                  <a:srgbClr val="4D4F53"/>
                </a:solidFill>
                <a:latin typeface="Arial" pitchFamily="34" charset="0"/>
                <a:ea typeface="Arial" pitchFamily="34" charset="-122"/>
                <a:cs typeface="Arial" pitchFamily="34" charset="-120"/>
              </a:rPr>
              <a:t>ssc.ext.bankofamerica.com</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30.122.224.209</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150" dirty="0">
                <a:solidFill>
                  <a:srgbClr val="4D4F53"/>
                </a:solidFill>
                <a:latin typeface="Arial" pitchFamily="34" charset="0"/>
                <a:ea typeface="Arial" pitchFamily="34" charset="-122"/>
                <a:cs typeface="Arial" pitchFamily="34" charset="-120"/>
              </a:rPr>
              <a:t>VMware-42 0c 39 43 40 ea 20 22-2b 99 7d 0f 4e e1 9e 59</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150" dirty="0">
                <a:solidFill>
                  <a:srgbClr val="4D4F53"/>
                </a:solidFill>
                <a:latin typeface="Arial" pitchFamily="34" charset="0"/>
                <a:ea typeface="Arial" pitchFamily="34" charset="-122"/>
                <a:cs typeface="Arial" pitchFamily="34" charset="-120"/>
              </a:rPr>
              <a:t>VMware, Inc. VMware Virtual Platform</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Installed</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Operational</a:t>
            </a:r>
            <a:endParaRPr lang="en-US" sz="1150" dirty="0"/>
          </a:p>
        </p:txBody>
      </p:sp>
      <p:sp>
        <p:nvSpPr>
          <p:cNvPr id="29" name="Text 27">
            <a:hlinkClick r:id="rId2" tooltip="https://bofasecopsdev.service-now.com/cmdb_ci_win_server.do?sys_id=7e63ec2a3b84e250d5062b64c3e45a11"/>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7e63ec2a3b84e250d5062b64c3e45a11"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175  ·  SERIAL NUMBER CLASS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usvmapcftmrc15.ssc.ext.bankofamerica.com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fdf0ab42ebb6c714017ff4d7cad0cd9f" history="1" highlightClick="0" endSnd="0">
                  <a:extLst>
                    <a:ext uri="{A12FA001-AC4F-418D-AE19-62706E023703}">
                      <ahyp:hlinkClr xmlns:ahyp="http://schemas.microsoft.com/office/drawing/2018/hyperlinkcolor" val="tx"/>
                    </a:ext>
                  </a:extLst>
                </a:hlinkClick>
              </a:rPr>
              <a:t>SDI000002148411</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8aae840f47224710a1a9295b416d43f9" history="1" highlightClick="0" endSnd="0">
                  <a:extLst>
                    <a:ext uri="{A12FA001-AC4F-418D-AE19-62706E023703}">
                      <ahyp:hlinkClr xmlns:ahyp="http://schemas.microsoft.com/office/drawing/2018/hyperlinkcolor" val="tx"/>
                    </a:ext>
                  </a:extLst>
                </a:hlinkClick>
              </a:rPr>
              <a:t>BOFA Serial Number Class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win_server.do?sys_id=7e63ec2a3b84e250d5062b64c3e45a11" history="1" highlightClick="0" endSnd="0">
                  <a:extLst>
                    <a:ext uri="{A12FA001-AC4F-418D-AE19-62706E023703}">
                      <ahyp:hlinkClr xmlns:ahyp="http://schemas.microsoft.com/office/drawing/2018/hyperlinkcolor" val="tx"/>
                    </a:ext>
                  </a:extLst>
                </a:hlinkClick>
              </a:rPr>
              <a:t>usvmapcftmrc15</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Serial read</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Reads the scanned serial (sourceValue), trims it, and refuses an empty value, one shorter than four characters or a vendor placeholder from the list in the script.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"VMware-42 0c 39 43 40 ea 20 22-2b 99 7d 0f 4e e1 9e 59"</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Class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classFor(sourcePayload.OS) turns the OS text "Windows Server 2016 Standard 64 bit Edition Version 1607" into the CMDB class the search is limited to, sub-classes included; no class means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OS "Windows Server 2016 Standard 64 bit Edition Version 1607" gives the class win_server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serial</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serial_number equal to the serial, the ignored classes (property sn_sec_cmn.ignoreCIClass) left out. next() then hasNext(): exactly one row is returned; none, or two or more, give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usvmapcftmrc15 [win_server] ip 30.122.224.209 -&gt;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win_server_list.do?sysparm_query=serial_number%3DVMware-42%200c%2039%2043%2040%20ea%2020%2022-2b%2099%207d%200f%204e%20e1%209e%2059" history="1" highlightClick="0" endSnd="0">
                            <a:extLst>
                              <a:ext uri="{A12FA001-AC4F-418D-AE19-62706E023703}">
                                <ahyp:hlinkClr xmlns:ahyp="http://schemas.microsoft.com/office/drawing/2018/hyperlinkcolor" val="tx"/>
                              </a:ext>
                            </a:extLst>
                          </a:hlinkClick>
                        </a:rPr>
                        <a:t>win server: serial_number=VMware-42 0c 39 43 40 ea 20 22-2b 99 7d 0f 4e e1 9e 59</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win_server.do?sys_id=7e63ec2a3b84e250d5062b64c3e45a11" history="1" highlightClick="0" endSnd="0">
                            <a:extLst>
                              <a:ext uri="{A12FA001-AC4F-418D-AE19-62706E023703}">
                                <ahyp:hlinkClr xmlns:ahyp="http://schemas.microsoft.com/office/drawing/2018/hyperlinkcolor" val="tx"/>
                              </a:ext>
                            </a:extLst>
                          </a:hlinkClick>
                        </a:rPr>
                        <a:t>usvmapcftmrc15</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175  ·  SERIAL NUMBER CLASS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usvmapcftmrc19.ssc.ext.bankofamerica.com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win_server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821944"/>
          </a:xfrm>
          <a:prstGeom prst="roundRect">
            <a:avLst>
              <a:gd name="adj" fmla="val 667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309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First rule of the chain: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the serial is searched inside the OS class before any name or address is read</a:t>
            </a:r>
            <a:endParaRPr lang="en-US" sz="1100" dirty="0"/>
          </a:p>
        </p:txBody>
      </p:sp>
      <p:sp>
        <p:nvSpPr>
          <p:cNvPr id="12" name="Shape 10"/>
          <p:cNvSpPr/>
          <p:nvPr/>
        </p:nvSpPr>
        <p:spPr>
          <a:xfrm>
            <a:off x="502920" y="2413000"/>
            <a:ext cx="2788920" cy="3987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568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2842768"/>
            <a:ext cx="457200" cy="0"/>
          </a:xfrm>
          <a:prstGeom prst="line">
            <a:avLst/>
          </a:prstGeom>
          <a:noFill/>
          <a:ln w="19050">
            <a:solidFill>
              <a:srgbClr val="E31837"/>
            </a:solidFill>
            <a:prstDash val="solid"/>
          </a:ln>
        </p:spPr>
      </p:sp>
      <p:sp>
        <p:nvSpPr>
          <p:cNvPr id="15" name="Text 13"/>
          <p:cNvSpPr txBox="1"/>
          <p:nvPr/>
        </p:nvSpPr>
        <p:spPr>
          <a:xfrm>
            <a:off x="740664" y="2888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SDI000002148409</a:t>
            </a:r>
            <a:endParaRPr lang="en-US" sz="1500" dirty="0"/>
          </a:p>
        </p:txBody>
      </p:sp>
      <p:sp>
        <p:nvSpPr>
          <p:cNvPr id="16" name="Text 14"/>
          <p:cNvSpPr txBox="1"/>
          <p:nvPr/>
        </p:nvSpPr>
        <p:spPr>
          <a:xfrm>
            <a:off x="740664" y="3254248"/>
            <a:ext cx="2313432" cy="2433320"/>
          </a:xfrm>
          <a:prstGeom prst="rect">
            <a:avLst/>
          </a:prstGeom>
          <a:noFill/>
          <a:ln/>
        </p:spPr>
        <p:txBody>
          <a:bodyPr wrap="square" lIns="0" tIns="0" rIns="0" bIns="0" rtlCol="0" anchor="t"/>
          <a:lstStyle/>
          <a:p>
            <a:pPr indent="0" marL="0">
              <a:buNone/>
            </a:pPr>
            <a:r>
              <a:rPr lang="en-US" sz="105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50" dirty="0">
                <a:solidFill>
                  <a:srgbClr val="4D4F53"/>
                </a:solidFill>
                <a:latin typeface="Arial" pitchFamily="34" charset="0"/>
                <a:ea typeface="Arial" pitchFamily="34" charset="-122"/>
                <a:cs typeface="Arial" pitchFamily="34" charset="-120"/>
              </a:rPr>
              <a:t>usvmapcftmrc19.ssc.ext.bankofamerica.com</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50" dirty="0">
                <a:solidFill>
                  <a:srgbClr val="4D4F53"/>
                </a:solidFill>
                <a:latin typeface="Arial" pitchFamily="34" charset="0"/>
                <a:ea typeface="Arial" pitchFamily="34" charset="-122"/>
                <a:cs typeface="Arial" pitchFamily="34" charset="-120"/>
              </a:rPr>
              <a:t>30.122.225.90</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50" dirty="0">
                <a:solidFill>
                  <a:srgbClr val="4D4F53"/>
                </a:solidFill>
                <a:latin typeface="Arial" pitchFamily="34" charset="0"/>
                <a:ea typeface="Arial" pitchFamily="34" charset="-122"/>
                <a:cs typeface="Arial" pitchFamily="34" charset="-120"/>
              </a:rPr>
              <a:t>Windows Server 2016 Standard 64 bit Edition Version 1607</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050" dirty="0">
                <a:solidFill>
                  <a:srgbClr val="4D4F53"/>
                </a:solidFill>
                <a:latin typeface="Arial" pitchFamily="34" charset="0"/>
                <a:ea typeface="Arial" pitchFamily="34" charset="-122"/>
                <a:cs typeface="Arial" pitchFamily="34" charset="-120"/>
              </a:rPr>
              <a:t>VMware-42 0c a4 1f 8c fb 62 d6-3c 2e 16 0e 2d ed 1d 56</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1050" dirty="0">
                <a:solidFill>
                  <a:srgbClr val="4D4F53"/>
                </a:solidFill>
                <a:latin typeface="Arial" pitchFamily="34" charset="0"/>
                <a:ea typeface="Arial" pitchFamily="34" charset="-122"/>
                <a:cs typeface="Arial" pitchFamily="34" charset="-120"/>
              </a:rPr>
              <a:t>USVMAPCFTMRC19</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50" dirty="0">
                <a:solidFill>
                  <a:srgbClr val="4D4F53"/>
                </a:solidFill>
                <a:latin typeface="Arial" pitchFamily="34" charset="0"/>
                <a:ea typeface="Arial" pitchFamily="34" charset="-122"/>
                <a:cs typeface="Arial" pitchFamily="34" charset="-120"/>
              </a:rPr>
              <a:t>Cloud Agent</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50" dirty="0">
                <a:solidFill>
                  <a:srgbClr val="4D4F53"/>
                </a:solidFill>
                <a:latin typeface="Arial" pitchFamily="34" charset="0"/>
                <a:ea typeface="Arial" pitchFamily="34" charset="-122"/>
                <a:cs typeface="Arial" pitchFamily="34" charset="-120"/>
              </a:rPr>
              <a:t>2026-09-21 06:05:15</a:t>
            </a:r>
            <a:endParaRPr lang="en-US" sz="1050" dirty="0"/>
          </a:p>
        </p:txBody>
      </p:sp>
      <p:sp>
        <p:nvSpPr>
          <p:cNvPr id="17" name="Text 15">
            <a:hlinkClick r:id="rId1" tooltip="https://bofasecopsdev.service-now.com/sn_sec_cmn_src_ci_list.do?sysparm_query=number=SDI000002148409"/>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14840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413000"/>
            <a:ext cx="4745736" cy="3987800"/>
          </a:xfrm>
          <a:prstGeom prst="roundRect">
            <a:avLst>
              <a:gd name="adj" fmla="val 137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568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2842768"/>
            <a:ext cx="457200" cy="0"/>
          </a:xfrm>
          <a:prstGeom prst="line">
            <a:avLst/>
          </a:prstGeom>
          <a:noFill/>
          <a:ln w="19050">
            <a:solidFill>
              <a:srgbClr val="E31837"/>
            </a:solidFill>
            <a:prstDash val="solid"/>
          </a:ln>
        </p:spPr>
      </p:sp>
      <p:sp>
        <p:nvSpPr>
          <p:cNvPr id="21" name="Text 19"/>
          <p:cNvSpPr txBox="1"/>
          <p:nvPr/>
        </p:nvSpPr>
        <p:spPr>
          <a:xfrm>
            <a:off x="3749040" y="2915920"/>
            <a:ext cx="4233672" cy="33294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Serial read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"VMware-42 0c a4 1f 8c fb 62 d6-3c 2e 16 0e 2d ed 1d 56"</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Class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OS "Windows Server 2016 Standard 64 bit Edition Version 1607" gives the class win_server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Records carrying the serial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usvmapcftmrc19 [win_server] ip 30.122.225.90 -&gt; exactly one, accepted</a:t>
            </a:r>
            <a:endParaRPr lang="en-US" sz="1300" dirty="0"/>
          </a:p>
        </p:txBody>
      </p:sp>
      <p:sp>
        <p:nvSpPr>
          <p:cNvPr id="22" name="Shape 20"/>
          <p:cNvSpPr/>
          <p:nvPr/>
        </p:nvSpPr>
        <p:spPr>
          <a:xfrm>
            <a:off x="8439912" y="2413000"/>
            <a:ext cx="3246120" cy="398780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577592"/>
            <a:ext cx="64008" cy="3658616"/>
          </a:xfrm>
          <a:prstGeom prst="rect">
            <a:avLst/>
          </a:prstGeom>
          <a:solidFill>
            <a:srgbClr val="E31837"/>
          </a:solidFill>
          <a:ln w="12700">
            <a:solidFill>
              <a:srgbClr val="333333"/>
            </a:solidFill>
            <a:prstDash val="solid"/>
          </a:ln>
        </p:spPr>
      </p:sp>
      <p:sp>
        <p:nvSpPr>
          <p:cNvPr id="24" name="Text 22"/>
          <p:cNvSpPr txBox="1"/>
          <p:nvPr/>
        </p:nvSpPr>
        <p:spPr>
          <a:xfrm>
            <a:off x="8714232" y="2568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2842768"/>
            <a:ext cx="457200" cy="0"/>
          </a:xfrm>
          <a:prstGeom prst="line">
            <a:avLst/>
          </a:prstGeom>
          <a:noFill/>
          <a:ln w="19050">
            <a:solidFill>
              <a:srgbClr val="E31837"/>
            </a:solidFill>
            <a:prstDash val="solid"/>
          </a:ln>
        </p:spPr>
      </p:sp>
      <p:sp>
        <p:nvSpPr>
          <p:cNvPr id="26" name="Text 24"/>
          <p:cNvSpPr txBox="1"/>
          <p:nvPr/>
        </p:nvSpPr>
        <p:spPr>
          <a:xfrm>
            <a:off x="8714232" y="28884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usvmapcftmrc19</a:t>
            </a:r>
            <a:endParaRPr lang="en-US" sz="1500" dirty="0"/>
          </a:p>
        </p:txBody>
      </p:sp>
      <p:sp>
        <p:nvSpPr>
          <p:cNvPr id="27" name="Text 25"/>
          <p:cNvSpPr txBox="1"/>
          <p:nvPr/>
        </p:nvSpPr>
        <p:spPr>
          <a:xfrm>
            <a:off x="8714232" y="3208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Windows Server</a:t>
            </a:r>
            <a:endParaRPr lang="en-US" sz="1100" dirty="0"/>
          </a:p>
        </p:txBody>
      </p:sp>
      <p:sp>
        <p:nvSpPr>
          <p:cNvPr id="28" name="Text 26"/>
          <p:cNvSpPr txBox="1"/>
          <p:nvPr/>
        </p:nvSpPr>
        <p:spPr>
          <a:xfrm>
            <a:off x="8714232" y="3528568"/>
            <a:ext cx="2715768" cy="2159000"/>
          </a:xfrm>
          <a:prstGeom prst="rect">
            <a:avLst/>
          </a:prstGeom>
          <a:noFill/>
          <a:ln/>
        </p:spPr>
        <p:txBody>
          <a:bodyPr wrap="square" lIns="0" tIns="0" rIns="0" bIns="0" rtlCol="0" anchor="t"/>
          <a:lstStyle/>
          <a:p>
            <a:pPr indent="0" marL="0">
              <a:buNone/>
            </a:pPr>
            <a:r>
              <a:rPr lang="en-US" sz="11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1150" dirty="0">
                <a:solidFill>
                  <a:srgbClr val="4D4F53"/>
                </a:solidFill>
                <a:latin typeface="Arial" pitchFamily="34" charset="0"/>
                <a:ea typeface="Arial" pitchFamily="34" charset="-122"/>
                <a:cs typeface="Arial" pitchFamily="34" charset="-120"/>
              </a:rPr>
              <a:t>usvmapcftmrc19.ssc.ext.bankofamerica.com</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150" dirty="0">
                <a:solidFill>
                  <a:srgbClr val="4D4F53"/>
                </a:solidFill>
                <a:latin typeface="Arial" pitchFamily="34" charset="0"/>
                <a:ea typeface="Arial" pitchFamily="34" charset="-122"/>
                <a:cs typeface="Arial" pitchFamily="34" charset="-120"/>
              </a:rPr>
              <a:t>ssc.ext.bankofamerica.com</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30.122.225.90</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150" dirty="0">
                <a:solidFill>
                  <a:srgbClr val="4D4F53"/>
                </a:solidFill>
                <a:latin typeface="Arial" pitchFamily="34" charset="0"/>
                <a:ea typeface="Arial" pitchFamily="34" charset="-122"/>
                <a:cs typeface="Arial" pitchFamily="34" charset="-120"/>
              </a:rPr>
              <a:t>VMware-42 0c a4 1f 8c fb 62 d6-3c 2e 16 0e 2d ed 1d 56</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150" dirty="0">
                <a:solidFill>
                  <a:srgbClr val="4D4F53"/>
                </a:solidFill>
                <a:latin typeface="Arial" pitchFamily="34" charset="0"/>
                <a:ea typeface="Arial" pitchFamily="34" charset="-122"/>
                <a:cs typeface="Arial" pitchFamily="34" charset="-120"/>
              </a:rPr>
              <a:t>VMware, Inc. VMware Virtual Platform</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Installed</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Operational</a:t>
            </a:r>
            <a:endParaRPr lang="en-US" sz="1150" dirty="0"/>
          </a:p>
        </p:txBody>
      </p:sp>
      <p:sp>
        <p:nvSpPr>
          <p:cNvPr id="29" name="Text 27">
            <a:hlinkClick r:id="rId2" tooltip="https://bofasecopsdev.service-now.com/cmdb_ci_win_server.do?sys_id=b663ec2a3b84e250d5062b64c3e45a0e"/>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b663ec2a3b84e250d5062b64c3e45a0e"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175  ·  SERIAL NUMBER CLASS MATCH  ·  EXAMPLE 2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usvmapcftmrc19.ssc.ext.bankofamerica.com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b5f0ab42ebb6c714017ff4d7cad0cd9e" history="1" highlightClick="0" endSnd="0">
                  <a:extLst>
                    <a:ext uri="{A12FA001-AC4F-418D-AE19-62706E023703}">
                      <ahyp:hlinkClr xmlns:ahyp="http://schemas.microsoft.com/office/drawing/2018/hyperlinkcolor" val="tx"/>
                    </a:ext>
                  </a:extLst>
                </a:hlinkClick>
              </a:rPr>
              <a:t>SDI000002148409</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8aae840f47224710a1a9295b416d43f9" history="1" highlightClick="0" endSnd="0">
                  <a:extLst>
                    <a:ext uri="{A12FA001-AC4F-418D-AE19-62706E023703}">
                      <ahyp:hlinkClr xmlns:ahyp="http://schemas.microsoft.com/office/drawing/2018/hyperlinkcolor" val="tx"/>
                    </a:ext>
                  </a:extLst>
                </a:hlinkClick>
              </a:rPr>
              <a:t>BOFA Serial Number Class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win_server.do?sys_id=b663ec2a3b84e250d5062b64c3e45a0e" history="1" highlightClick="0" endSnd="0">
                  <a:extLst>
                    <a:ext uri="{A12FA001-AC4F-418D-AE19-62706E023703}">
                      <ahyp:hlinkClr xmlns:ahyp="http://schemas.microsoft.com/office/drawing/2018/hyperlinkcolor" val="tx"/>
                    </a:ext>
                  </a:extLst>
                </a:hlinkClick>
              </a:rPr>
              <a:t>usvmapcftmrc19</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Serial read</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Reads the scanned serial (sourceValue), trims it, and refuses an empty value, one shorter than four characters or a vendor placeholder from the list in the script.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"VMware-42 0c a4 1f 8c fb 62 d6-3c 2e 16 0e 2d ed 1d 56"</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Class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classFor(sourcePayload.OS) turns the OS text "Windows Server 2016 Standard 64 bit Edition Version 1607" into the CMDB class the search is limited to, sub-classes included; no class means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OS "Windows Server 2016 Standard 64 bit Edition Version 1607" gives the class win_server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serial</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serial_number equal to the serial, the ignored classes (property sn_sec_cmn.ignoreCIClass) left out. next() then hasNext(): exactly one row is returned; none, or two or more, give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usvmapcftmrc19 [win_server] ip 30.122.225.90 -&gt;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win_server_list.do?sysparm_query=serial_number%3DVMware-42%200c%20a4%201f%208c%20fb%2062%20d6-3c%202e%2016%200e%202d%20ed%201d%2056" history="1" highlightClick="0" endSnd="0">
                            <a:extLst>
                              <a:ext uri="{A12FA001-AC4F-418D-AE19-62706E023703}">
                                <ahyp:hlinkClr xmlns:ahyp="http://schemas.microsoft.com/office/drawing/2018/hyperlinkcolor" val="tx"/>
                              </a:ext>
                            </a:extLst>
                          </a:hlinkClick>
                        </a:rPr>
                        <a:t>win server: serial_number=VMware-42 0c a4 1f 8c fb 62 d6-3c 2e 16 0e 2d ed 1d 56</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win_server.do?sys_id=b663ec2a3b84e250d5062b64c3e45a0e" history="1" highlightClick="0" endSnd="0">
                            <a:extLst>
                              <a:ext uri="{A12FA001-AC4F-418D-AE19-62706E023703}">
                                <ahyp:hlinkClr xmlns:ahyp="http://schemas.microsoft.com/office/drawing/2018/hyperlinkcolor" val="tx"/>
                              </a:ext>
                            </a:extLst>
                          </a:hlinkClick>
                        </a:rPr>
                        <a:t>usvmapcftmrc19</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175  ·  SERIAL NUMBER CLASS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usvmapcftmrc16.ssc.ext.bankofamerica.com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win_server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821944"/>
          </a:xfrm>
          <a:prstGeom prst="roundRect">
            <a:avLst>
              <a:gd name="adj" fmla="val 667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309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First rule of the chain: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the serial is searched inside the OS class before any name or address is read</a:t>
            </a:r>
            <a:endParaRPr lang="en-US" sz="1100" dirty="0"/>
          </a:p>
        </p:txBody>
      </p:sp>
      <p:sp>
        <p:nvSpPr>
          <p:cNvPr id="12" name="Shape 10"/>
          <p:cNvSpPr/>
          <p:nvPr/>
        </p:nvSpPr>
        <p:spPr>
          <a:xfrm>
            <a:off x="502920" y="2413000"/>
            <a:ext cx="2788920" cy="3987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568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2842768"/>
            <a:ext cx="457200" cy="0"/>
          </a:xfrm>
          <a:prstGeom prst="line">
            <a:avLst/>
          </a:prstGeom>
          <a:noFill/>
          <a:ln w="19050">
            <a:solidFill>
              <a:srgbClr val="E31837"/>
            </a:solidFill>
            <a:prstDash val="solid"/>
          </a:ln>
        </p:spPr>
      </p:sp>
      <p:sp>
        <p:nvSpPr>
          <p:cNvPr id="15" name="Text 13"/>
          <p:cNvSpPr txBox="1"/>
          <p:nvPr/>
        </p:nvSpPr>
        <p:spPr>
          <a:xfrm>
            <a:off x="740664" y="2888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SDI000002148406</a:t>
            </a:r>
            <a:endParaRPr lang="en-US" sz="1500" dirty="0"/>
          </a:p>
        </p:txBody>
      </p:sp>
      <p:sp>
        <p:nvSpPr>
          <p:cNvPr id="16" name="Text 14"/>
          <p:cNvSpPr txBox="1"/>
          <p:nvPr/>
        </p:nvSpPr>
        <p:spPr>
          <a:xfrm>
            <a:off x="740664" y="3254248"/>
            <a:ext cx="2313432" cy="2433320"/>
          </a:xfrm>
          <a:prstGeom prst="rect">
            <a:avLst/>
          </a:prstGeom>
          <a:noFill/>
          <a:ln/>
        </p:spPr>
        <p:txBody>
          <a:bodyPr wrap="square" lIns="0" tIns="0" rIns="0" bIns="0" rtlCol="0" anchor="t"/>
          <a:lstStyle/>
          <a:p>
            <a:pPr indent="0" marL="0">
              <a:buNone/>
            </a:pPr>
            <a:r>
              <a:rPr lang="en-US" sz="105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50" dirty="0">
                <a:solidFill>
                  <a:srgbClr val="4D4F53"/>
                </a:solidFill>
                <a:latin typeface="Arial" pitchFamily="34" charset="0"/>
                <a:ea typeface="Arial" pitchFamily="34" charset="-122"/>
                <a:cs typeface="Arial" pitchFamily="34" charset="-120"/>
              </a:rPr>
              <a:t>usvmapcftmrc16.ssc.ext.bankofamerica.com</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50" dirty="0">
                <a:solidFill>
                  <a:srgbClr val="4D4F53"/>
                </a:solidFill>
                <a:latin typeface="Arial" pitchFamily="34" charset="0"/>
                <a:ea typeface="Arial" pitchFamily="34" charset="-122"/>
                <a:cs typeface="Arial" pitchFamily="34" charset="-120"/>
              </a:rPr>
              <a:t>30.122.227.184</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50" dirty="0">
                <a:solidFill>
                  <a:srgbClr val="4D4F53"/>
                </a:solidFill>
                <a:latin typeface="Arial" pitchFamily="34" charset="0"/>
                <a:ea typeface="Arial" pitchFamily="34" charset="-122"/>
                <a:cs typeface="Arial" pitchFamily="34" charset="-120"/>
              </a:rPr>
              <a:t>Windows Server 2016 Standard 64 bit Edition Version 1607</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050" dirty="0">
                <a:solidFill>
                  <a:srgbClr val="4D4F53"/>
                </a:solidFill>
                <a:latin typeface="Arial" pitchFamily="34" charset="0"/>
                <a:ea typeface="Arial" pitchFamily="34" charset="-122"/>
                <a:cs typeface="Arial" pitchFamily="34" charset="-120"/>
              </a:rPr>
              <a:t>VMware-42 0c 68 79 99 0f 5a 53-34 17 7f 27 62 10 6e de</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1050" dirty="0">
                <a:solidFill>
                  <a:srgbClr val="4D4F53"/>
                </a:solidFill>
                <a:latin typeface="Arial" pitchFamily="34" charset="0"/>
                <a:ea typeface="Arial" pitchFamily="34" charset="-122"/>
                <a:cs typeface="Arial" pitchFamily="34" charset="-120"/>
              </a:rPr>
              <a:t>USVMAPCFTMRC16</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50" dirty="0">
                <a:solidFill>
                  <a:srgbClr val="4D4F53"/>
                </a:solidFill>
                <a:latin typeface="Arial" pitchFamily="34" charset="0"/>
                <a:ea typeface="Arial" pitchFamily="34" charset="-122"/>
                <a:cs typeface="Arial" pitchFamily="34" charset="-120"/>
              </a:rPr>
              <a:t>Cloud Agent</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50" dirty="0">
                <a:solidFill>
                  <a:srgbClr val="4D4F53"/>
                </a:solidFill>
                <a:latin typeface="Arial" pitchFamily="34" charset="0"/>
                <a:ea typeface="Arial" pitchFamily="34" charset="-122"/>
                <a:cs typeface="Arial" pitchFamily="34" charset="-120"/>
              </a:rPr>
              <a:t>2026-09-21 06:05:14</a:t>
            </a:r>
            <a:endParaRPr lang="en-US" sz="1050" dirty="0"/>
          </a:p>
        </p:txBody>
      </p:sp>
      <p:sp>
        <p:nvSpPr>
          <p:cNvPr id="17" name="Text 15">
            <a:hlinkClick r:id="rId1" tooltip="https://bofasecopsdev.service-now.com/sn_sec_cmn_src_ci_list.do?sysparm_query=number=SDI000002148406"/>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14840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413000"/>
            <a:ext cx="4745736" cy="3987800"/>
          </a:xfrm>
          <a:prstGeom prst="roundRect">
            <a:avLst>
              <a:gd name="adj" fmla="val 137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568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2842768"/>
            <a:ext cx="457200" cy="0"/>
          </a:xfrm>
          <a:prstGeom prst="line">
            <a:avLst/>
          </a:prstGeom>
          <a:noFill/>
          <a:ln w="19050">
            <a:solidFill>
              <a:srgbClr val="E31837"/>
            </a:solidFill>
            <a:prstDash val="solid"/>
          </a:ln>
        </p:spPr>
      </p:sp>
      <p:sp>
        <p:nvSpPr>
          <p:cNvPr id="21" name="Text 19"/>
          <p:cNvSpPr txBox="1"/>
          <p:nvPr/>
        </p:nvSpPr>
        <p:spPr>
          <a:xfrm>
            <a:off x="3749040" y="2915920"/>
            <a:ext cx="4233672" cy="33294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Serial read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"VMware-42 0c 68 79 99 0f 5a 53-34 17 7f 27 62 10 6e de"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Class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OS "Windows Server 2016 Standard 64 bit Edition Version 1607" gives the class win_server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Records carrying the serial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usvmapcftmrc16 [win_server] ip 30.122.227.184 -&gt; exactly one, accepted</a:t>
            </a:r>
            <a:endParaRPr lang="en-US" sz="1300" dirty="0"/>
          </a:p>
        </p:txBody>
      </p:sp>
      <p:sp>
        <p:nvSpPr>
          <p:cNvPr id="22" name="Shape 20"/>
          <p:cNvSpPr/>
          <p:nvPr/>
        </p:nvSpPr>
        <p:spPr>
          <a:xfrm>
            <a:off x="8439912" y="2413000"/>
            <a:ext cx="3246120" cy="398780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577592"/>
            <a:ext cx="64008" cy="3658616"/>
          </a:xfrm>
          <a:prstGeom prst="rect">
            <a:avLst/>
          </a:prstGeom>
          <a:solidFill>
            <a:srgbClr val="E31837"/>
          </a:solidFill>
          <a:ln w="12700">
            <a:solidFill>
              <a:srgbClr val="333333"/>
            </a:solidFill>
            <a:prstDash val="solid"/>
          </a:ln>
        </p:spPr>
      </p:sp>
      <p:sp>
        <p:nvSpPr>
          <p:cNvPr id="24" name="Text 22"/>
          <p:cNvSpPr txBox="1"/>
          <p:nvPr/>
        </p:nvSpPr>
        <p:spPr>
          <a:xfrm>
            <a:off x="8714232" y="2568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2842768"/>
            <a:ext cx="457200" cy="0"/>
          </a:xfrm>
          <a:prstGeom prst="line">
            <a:avLst/>
          </a:prstGeom>
          <a:noFill/>
          <a:ln w="19050">
            <a:solidFill>
              <a:srgbClr val="E31837"/>
            </a:solidFill>
            <a:prstDash val="solid"/>
          </a:ln>
        </p:spPr>
      </p:sp>
      <p:sp>
        <p:nvSpPr>
          <p:cNvPr id="26" name="Text 24"/>
          <p:cNvSpPr txBox="1"/>
          <p:nvPr/>
        </p:nvSpPr>
        <p:spPr>
          <a:xfrm>
            <a:off x="8714232" y="28884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usvmapcftmrc16</a:t>
            </a:r>
            <a:endParaRPr lang="en-US" sz="1500" dirty="0"/>
          </a:p>
        </p:txBody>
      </p:sp>
      <p:sp>
        <p:nvSpPr>
          <p:cNvPr id="27" name="Text 25"/>
          <p:cNvSpPr txBox="1"/>
          <p:nvPr/>
        </p:nvSpPr>
        <p:spPr>
          <a:xfrm>
            <a:off x="8714232" y="3208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Windows Server</a:t>
            </a:r>
            <a:endParaRPr lang="en-US" sz="1100" dirty="0"/>
          </a:p>
        </p:txBody>
      </p:sp>
      <p:sp>
        <p:nvSpPr>
          <p:cNvPr id="28" name="Text 26"/>
          <p:cNvSpPr txBox="1"/>
          <p:nvPr/>
        </p:nvSpPr>
        <p:spPr>
          <a:xfrm>
            <a:off x="8714232" y="3528568"/>
            <a:ext cx="2715768" cy="2159000"/>
          </a:xfrm>
          <a:prstGeom prst="rect">
            <a:avLst/>
          </a:prstGeom>
          <a:noFill/>
          <a:ln/>
        </p:spPr>
        <p:txBody>
          <a:bodyPr wrap="square" lIns="0" tIns="0" rIns="0" bIns="0" rtlCol="0" anchor="t"/>
          <a:lstStyle/>
          <a:p>
            <a:pPr indent="0" marL="0">
              <a:buNone/>
            </a:pPr>
            <a:r>
              <a:rPr lang="en-US" sz="11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1150" dirty="0">
                <a:solidFill>
                  <a:srgbClr val="4D4F53"/>
                </a:solidFill>
                <a:latin typeface="Arial" pitchFamily="34" charset="0"/>
                <a:ea typeface="Arial" pitchFamily="34" charset="-122"/>
                <a:cs typeface="Arial" pitchFamily="34" charset="-120"/>
              </a:rPr>
              <a:t>usvmapcftmrc16.ssc.ext.bankofamerica.com</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150" dirty="0">
                <a:solidFill>
                  <a:srgbClr val="4D4F53"/>
                </a:solidFill>
                <a:latin typeface="Arial" pitchFamily="34" charset="0"/>
                <a:ea typeface="Arial" pitchFamily="34" charset="-122"/>
                <a:cs typeface="Arial" pitchFamily="34" charset="-120"/>
              </a:rPr>
              <a:t>ssc.ext.bankofamerica.com</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30.122.227.184</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150" dirty="0">
                <a:solidFill>
                  <a:srgbClr val="4D4F53"/>
                </a:solidFill>
                <a:latin typeface="Arial" pitchFamily="34" charset="0"/>
                <a:ea typeface="Arial" pitchFamily="34" charset="-122"/>
                <a:cs typeface="Arial" pitchFamily="34" charset="-120"/>
              </a:rPr>
              <a:t>VMware-42 0c 68 79 99 0f 5a 53-34 17 7f 27 62 10 6e de</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150" dirty="0">
                <a:solidFill>
                  <a:srgbClr val="4D4F53"/>
                </a:solidFill>
                <a:latin typeface="Arial" pitchFamily="34" charset="0"/>
                <a:ea typeface="Arial" pitchFamily="34" charset="-122"/>
                <a:cs typeface="Arial" pitchFamily="34" charset="-120"/>
              </a:rPr>
              <a:t>VMware, Inc. VMware Virtual Platform</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Installed</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Operational</a:t>
            </a:r>
            <a:endParaRPr lang="en-US" sz="1150" dirty="0"/>
          </a:p>
        </p:txBody>
      </p:sp>
      <p:sp>
        <p:nvSpPr>
          <p:cNvPr id="29" name="Text 27">
            <a:hlinkClick r:id="rId2" tooltip="https://bofasecopsdev.service-now.com/cmdb_ci_win_server.do?sys_id=f663ec2a3b84e250d5062b64c3e45a04"/>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f663ec2a3b84e250d5062b64c3e45a04"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175  ·  SERIAL NUMBER CLASS MATCH  ·  EXAMPLE 3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usvmapcftmrc16.ssc.ext.bankofamerica.com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6df0ab42ebb6c714017ff4d7cad0cd9c" history="1" highlightClick="0" endSnd="0">
                  <a:extLst>
                    <a:ext uri="{A12FA001-AC4F-418D-AE19-62706E023703}">
                      <ahyp:hlinkClr xmlns:ahyp="http://schemas.microsoft.com/office/drawing/2018/hyperlinkcolor" val="tx"/>
                    </a:ext>
                  </a:extLst>
                </a:hlinkClick>
              </a:rPr>
              <a:t>SDI000002148406</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8aae840f47224710a1a9295b416d43f9" history="1" highlightClick="0" endSnd="0">
                  <a:extLst>
                    <a:ext uri="{A12FA001-AC4F-418D-AE19-62706E023703}">
                      <ahyp:hlinkClr xmlns:ahyp="http://schemas.microsoft.com/office/drawing/2018/hyperlinkcolor" val="tx"/>
                    </a:ext>
                  </a:extLst>
                </a:hlinkClick>
              </a:rPr>
              <a:t>BOFA Serial Number Class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win_server.do?sys_id=f663ec2a3b84e250d5062b64c3e45a04" history="1" highlightClick="0" endSnd="0">
                  <a:extLst>
                    <a:ext uri="{A12FA001-AC4F-418D-AE19-62706E023703}">
                      <ahyp:hlinkClr xmlns:ahyp="http://schemas.microsoft.com/office/drawing/2018/hyperlinkcolor" val="tx"/>
                    </a:ext>
                  </a:extLst>
                </a:hlinkClick>
              </a:rPr>
              <a:t>usvmapcftmrc16</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Serial read</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Reads the scanned serial (sourceValue), trims it, and refuses an empty value, one shorter than four characters or a vendor placeholder from the list in the script.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"VMware-42 0c 68 79 99 0f 5a 53-34 17 7f 27 62 10 6e de"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Class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classFor(sourcePayload.OS) turns the OS text "Windows Server 2016 Standard 64 bit Edition Version 1607" into the CMDB class the search is limited to, sub-classes included; no class means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OS "Windows Server 2016 Standard 64 bit Edition Version 1607" gives the class win_server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serial</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serial_number equal to the serial, the ignored classes (property sn_sec_cmn.ignoreCIClass) left out. next() then hasNext(): exactly one row is returned; none, or two or more, give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usvmapcftmrc16 [win_server] ip 30.122.227.184 -&gt;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win_server_list.do?sysparm_query=serial_number%3DVMware-42%200c%2068%2079%2099%200f%205a%2053-34%2017%207f%2027%2062%2010%206e%20de" history="1" highlightClick="0" endSnd="0">
                            <a:extLst>
                              <a:ext uri="{A12FA001-AC4F-418D-AE19-62706E023703}">
                                <ahyp:hlinkClr xmlns:ahyp="http://schemas.microsoft.com/office/drawing/2018/hyperlinkcolor" val="tx"/>
                              </a:ext>
                            </a:extLst>
                          </a:hlinkClick>
                        </a:rPr>
                        <a:t>win server: serial_number=VMware-42 0c 68 79 99 0f 5a 53-34 17 7f 27 62 10 6e de</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win_server.do?sys_id=f663ec2a3b84e250d5062b64c3e45a04" history="1" highlightClick="0" endSnd="0">
                            <a:extLst>
                              <a:ext uri="{A12FA001-AC4F-418D-AE19-62706E023703}">
                                <ahyp:hlinkClr xmlns:ahyp="http://schemas.microsoft.com/office/drawing/2018/hyperlinkcolor" val="tx"/>
                              </a:ext>
                            </a:extLst>
                          </a:hlinkClick>
                        </a:rPr>
                        <a:t>usvmapcftmrc16</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180  ·  SERIAL NUMBER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Serial Number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935480"/>
          </a:xfrm>
          <a:prstGeom prst="roundRect">
            <a:avLst>
              <a:gd name="adj" fmla="val 28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6062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2954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Second and last serial rule: the same serial search, but across the whole hardware tree (cmdb_ci_hardware and every class beneath it: servers, computers, network gear, storage, printers).</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exists for hosts whose OS gives no usable class (unauthenticated scans listing several guesses) and for CIs that sit in a different class than the OS suggests; its only safety is that the serial must belong to exactly one CI in the whole tree.</a:t>
            </a:r>
            <a:endParaRPr lang="en-US" sz="1500" dirty="0"/>
          </a:p>
        </p:txBody>
      </p:sp>
      <p:sp>
        <p:nvSpPr>
          <p:cNvPr id="13" name="Shape 11"/>
          <p:cNvSpPr/>
          <p:nvPr/>
        </p:nvSpPr>
        <p:spPr>
          <a:xfrm>
            <a:off x="502920" y="3608832"/>
            <a:ext cx="6933529" cy="2286000"/>
          </a:xfrm>
          <a:prstGeom prst="roundRect">
            <a:avLst>
              <a:gd name="adj" fmla="val 24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7917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066032"/>
            <a:ext cx="457200" cy="0"/>
          </a:xfrm>
          <a:prstGeom prst="line">
            <a:avLst/>
          </a:prstGeom>
          <a:noFill/>
          <a:ln w="19050">
            <a:solidFill>
              <a:srgbClr val="E31837"/>
            </a:solidFill>
            <a:prstDash val="solid"/>
          </a:ln>
        </p:spPr>
      </p:sp>
      <p:sp>
        <p:nvSpPr>
          <p:cNvPr id="16" name="Text 14"/>
          <p:cNvSpPr txBox="1"/>
          <p:nvPr/>
        </p:nvSpPr>
        <p:spPr>
          <a:xfrm>
            <a:off x="822960" y="4157472"/>
            <a:ext cx="6293449" cy="15544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SERIAL_NUMBER (sourceValue) only; the OS, IP and DNS fields of the payload are never read.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CI under cmdb_ci_hardware (any class beneath it, ignored classes excluded) whose serial_number equals the trimmed serial; null in every other case.</a:t>
            </a:r>
            <a:endParaRPr lang="en-US" sz="1400" dirty="0"/>
          </a:p>
        </p:txBody>
      </p:sp>
      <p:sp>
        <p:nvSpPr>
          <p:cNvPr id="17" name="Shape 15"/>
          <p:cNvSpPr/>
          <p:nvPr/>
        </p:nvSpPr>
        <p:spPr>
          <a:xfrm>
            <a:off x="7665049" y="3608832"/>
            <a:ext cx="4020983" cy="2286000"/>
          </a:xfrm>
          <a:prstGeom prst="roundRect">
            <a:avLst>
              <a:gd name="adj" fmla="val 240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7917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066032"/>
            <a:ext cx="457200" cy="0"/>
          </a:xfrm>
          <a:prstGeom prst="line">
            <a:avLst/>
          </a:prstGeom>
          <a:noFill/>
          <a:ln w="19050">
            <a:solidFill>
              <a:srgbClr val="E31837"/>
            </a:solidFill>
            <a:prstDash val="solid"/>
          </a:ln>
        </p:spPr>
      </p:sp>
      <p:sp>
        <p:nvSpPr>
          <p:cNvPr id="20" name="Text 18"/>
          <p:cNvSpPr txBox="1"/>
          <p:nvPr/>
        </p:nvSpPr>
        <p:spPr>
          <a:xfrm>
            <a:off x="7985089" y="4157472"/>
            <a:ext cx="3380903" cy="54864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100" dirty="0">
                <a:solidFill>
                  <a:srgbClr val="4D4F53"/>
                </a:solidFill>
                <a:latin typeface="Arial" pitchFamily="34" charset="0"/>
                <a:ea typeface="Arial" pitchFamily="34" charset="-122"/>
                <a:cs typeface="Arial" pitchFamily="34" charset="-120"/>
              </a:rPr>
              <a:t>Serial Number Class Match</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100" dirty="0">
                <a:solidFill>
                  <a:srgbClr val="4D4F53"/>
                </a:solidFill>
                <a:latin typeface="Arial" pitchFamily="34" charset="0"/>
                <a:ea typeface="Arial" pitchFamily="34" charset="-122"/>
                <a:cs typeface="Arial" pitchFamily="34" charset="-120"/>
              </a:rPr>
              <a:t>Cisco IP Phone MAC</a:t>
            </a:r>
            <a:endParaRPr lang="en-US" sz="1100" dirty="0"/>
          </a:p>
        </p:txBody>
      </p:sp>
      <p:sp>
        <p:nvSpPr>
          <p:cNvPr id="21" name="Text 19"/>
          <p:cNvSpPr txBox="1"/>
          <p:nvPr/>
        </p:nvSpPr>
        <p:spPr>
          <a:xfrm>
            <a:off x="7985089" y="47975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574</a:t>
            </a:r>
            <a:endParaRPr lang="en-US" sz="2800" dirty="0"/>
          </a:p>
        </p:txBody>
      </p:sp>
      <p:sp>
        <p:nvSpPr>
          <p:cNvPr id="22" name="Text 20"/>
          <p:cNvSpPr txBox="1"/>
          <p:nvPr/>
        </p:nvSpPr>
        <p:spPr>
          <a:xfrm>
            <a:off x="7985089" y="53644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180  ·  SERIAL NUMBER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Serial Number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32680"/>
          </a:xfrm>
          <a:prstGeom prst="roundRect">
            <a:avLst>
              <a:gd name="adj" fmla="val 111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3840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1   Empty serial guard.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If sourceValue is empty (null, undefined or an empty string) the script returns null at once; nothing else in the payload is read.</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2   Trim the serial.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sourceValue is coerced to a string and trimmed; that trimmed value, with its case unchanged, is the value the search uses. Sample: 'MXQ13005TC'.</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3   Placeholder and length guard.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A serial shorter than four characters is refused, and so is one whose lower-cased form, wrapped in commas, is found in the placeholder list quoted in full under literals, because such vendor values sit on dozens of CIs.</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4   Resolve the ignored classes.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If the framework defined a non-empty _ignoreClass variable its string value is used; otherwise the script reads gs.getProperty('sn_sec_cmn.ignoreCIClass', ''). An empty result means no class filter is added to the query.</a:t>
            </a:r>
            <a:endParaRPr lang="en-US" sz="1500" dirty="0"/>
          </a:p>
        </p:txBody>
      </p:sp>
      <p:sp>
        <p:nvSpPr>
          <p:cNvPr id="10" name="Text 8"/>
          <p:cNvSpPr txBox="1"/>
          <p:nvPr/>
        </p:nvSpPr>
        <p:spPr>
          <a:xfrm>
            <a:off x="6277356" y="1746504"/>
            <a:ext cx="5088636" cy="43840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5   Query the serial across the hardware tree.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A GlideRecord on cmdb_ci_hardware (no isValid check, no class restriction, the OS never consulted): addQuery('serial_number', serial) exact match, addQuery('sys_class_name', 'NOT IN', ignore) when the list is non-empty, then query(), no setLimit.</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6   Exactly one row.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If next() is false the rule returns null. The first row's getUniqueValue() is held; if hasNext() is true a second hardware CI of any class carries the serial (say a Storage Server with that value) and the rule returns null; else the held sys_id is returned.</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180  ·  SERIAL NUMBER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Serial Number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606040"/>
          </a:xfrm>
          <a:prstGeom prst="roundRect">
            <a:avLst>
              <a:gd name="adj" fmla="val 210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2768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19659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trimmed serial is shorter than four characters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lower-cased serial is one of the placeholder tokens in the junk list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CI under cmdb_ci_hardware (ignored classes excluded) carries the serial</a:t>
            </a:r>
            <a:endParaRPr lang="en-US" sz="1500" dirty="0"/>
          </a:p>
        </p:txBody>
      </p:sp>
      <p:sp>
        <p:nvSpPr>
          <p:cNvPr id="13" name="Text 11"/>
          <p:cNvSpPr txBox="1"/>
          <p:nvPr/>
        </p:nvSpPr>
        <p:spPr>
          <a:xfrm>
            <a:off x="6277356" y="1975104"/>
            <a:ext cx="5088636" cy="19659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CIs under cmdb_ci_hardware carry the serial, in the same or different classes, whatever their state or address</a:t>
            </a:r>
            <a:endParaRPr lang="en-US" sz="1500" dirty="0"/>
          </a:p>
        </p:txBody>
      </p:sp>
      <p:sp>
        <p:nvSpPr>
          <p:cNvPr id="14" name="Shape 12"/>
          <p:cNvSpPr/>
          <p:nvPr/>
        </p:nvSpPr>
        <p:spPr>
          <a:xfrm>
            <a:off x="502920" y="42793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2793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Cisco IP Phone MAC</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180  ·  SERIAL NUMBER HARDWARE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wb9492p203.gwm.bankofamerica.com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printer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821944"/>
          </a:xfrm>
          <a:prstGeom prst="roundRect">
            <a:avLst>
              <a:gd name="adj" fmla="val 667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309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record in linux_server carries the serial)</a:t>
            </a:r>
            <a:endParaRPr lang="en-US" sz="1100" dirty="0"/>
          </a:p>
        </p:txBody>
      </p:sp>
      <p:sp>
        <p:nvSpPr>
          <p:cNvPr id="12" name="Shape 10"/>
          <p:cNvSpPr/>
          <p:nvPr/>
        </p:nvSpPr>
        <p:spPr>
          <a:xfrm>
            <a:off x="502920" y="2413000"/>
            <a:ext cx="2788920" cy="3987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568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2842768"/>
            <a:ext cx="457200" cy="0"/>
          </a:xfrm>
          <a:prstGeom prst="line">
            <a:avLst/>
          </a:prstGeom>
          <a:noFill/>
          <a:ln w="19050">
            <a:solidFill>
              <a:srgbClr val="E31837"/>
            </a:solidFill>
            <a:prstDash val="solid"/>
          </a:ln>
        </p:spPr>
      </p:sp>
      <p:sp>
        <p:nvSpPr>
          <p:cNvPr id="15" name="Text 13"/>
          <p:cNvSpPr txBox="1"/>
          <p:nvPr/>
        </p:nvSpPr>
        <p:spPr>
          <a:xfrm>
            <a:off x="740664" y="2888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SDI000002368092</a:t>
            </a:r>
            <a:endParaRPr lang="en-US" sz="1500" dirty="0"/>
          </a:p>
        </p:txBody>
      </p:sp>
      <p:sp>
        <p:nvSpPr>
          <p:cNvPr id="16" name="Text 14"/>
          <p:cNvSpPr txBox="1"/>
          <p:nvPr/>
        </p:nvSpPr>
        <p:spPr>
          <a:xfrm>
            <a:off x="740664" y="3254248"/>
            <a:ext cx="2313432" cy="243332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wb9492p203.gwm.bankofamerica.com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30.218.145.248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Ubuntu/Linux</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MXBCS730XY</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02:19:45</a:t>
            </a:r>
            <a:endParaRPr lang="en-US" sz="1200" dirty="0"/>
          </a:p>
        </p:txBody>
      </p:sp>
      <p:sp>
        <p:nvSpPr>
          <p:cNvPr id="17" name="Text 15">
            <a:hlinkClick r:id="rId1" tooltip="https://bofasecopsdev.service-now.com/sn_sec_cmn_src_ci_list.do?sysparm_query=number=SDI000002368092"/>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6809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413000"/>
            <a:ext cx="4745736" cy="3987800"/>
          </a:xfrm>
          <a:prstGeom prst="roundRect">
            <a:avLst>
              <a:gd name="adj" fmla="val 137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568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2842768"/>
            <a:ext cx="457200" cy="0"/>
          </a:xfrm>
          <a:prstGeom prst="line">
            <a:avLst/>
          </a:prstGeom>
          <a:noFill/>
          <a:ln w="19050">
            <a:solidFill>
              <a:srgbClr val="E31837"/>
            </a:solidFill>
            <a:prstDash val="solid"/>
          </a:ln>
        </p:spPr>
      </p:sp>
      <p:sp>
        <p:nvSpPr>
          <p:cNvPr id="21" name="Text 19"/>
          <p:cNvSpPr txBox="1"/>
          <p:nvPr/>
        </p:nvSpPr>
        <p:spPr>
          <a:xfrm>
            <a:off x="3749040" y="2915920"/>
            <a:ext cx="4233672" cy="33294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Serial read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"MXBCS730XY"</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Class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the whole hardware tree, the OS is not read</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Records carrying the serial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npifdcd73 [printer] ip 30.218.145.248 -&gt; exactly one, accepted</a:t>
            </a:r>
            <a:endParaRPr lang="en-US" sz="1300" dirty="0"/>
          </a:p>
        </p:txBody>
      </p:sp>
      <p:sp>
        <p:nvSpPr>
          <p:cNvPr id="22" name="Shape 20"/>
          <p:cNvSpPr/>
          <p:nvPr/>
        </p:nvSpPr>
        <p:spPr>
          <a:xfrm>
            <a:off x="8439912" y="2413000"/>
            <a:ext cx="3246120" cy="398780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577592"/>
            <a:ext cx="64008" cy="3658616"/>
          </a:xfrm>
          <a:prstGeom prst="rect">
            <a:avLst/>
          </a:prstGeom>
          <a:solidFill>
            <a:srgbClr val="E31837"/>
          </a:solidFill>
          <a:ln w="12700">
            <a:solidFill>
              <a:srgbClr val="333333"/>
            </a:solidFill>
            <a:prstDash val="solid"/>
          </a:ln>
        </p:spPr>
      </p:sp>
      <p:sp>
        <p:nvSpPr>
          <p:cNvPr id="24" name="Text 22"/>
          <p:cNvSpPr txBox="1"/>
          <p:nvPr/>
        </p:nvSpPr>
        <p:spPr>
          <a:xfrm>
            <a:off x="8714232" y="2568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2842768"/>
            <a:ext cx="457200" cy="0"/>
          </a:xfrm>
          <a:prstGeom prst="line">
            <a:avLst/>
          </a:prstGeom>
          <a:noFill/>
          <a:ln w="19050">
            <a:solidFill>
              <a:srgbClr val="E31837"/>
            </a:solidFill>
            <a:prstDash val="solid"/>
          </a:ln>
        </p:spPr>
      </p:sp>
      <p:sp>
        <p:nvSpPr>
          <p:cNvPr id="26" name="Text 24"/>
          <p:cNvSpPr txBox="1"/>
          <p:nvPr/>
        </p:nvSpPr>
        <p:spPr>
          <a:xfrm>
            <a:off x="8714232" y="28884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npifdcd73</a:t>
            </a:r>
            <a:endParaRPr lang="en-US" sz="1500" dirty="0"/>
          </a:p>
        </p:txBody>
      </p:sp>
      <p:sp>
        <p:nvSpPr>
          <p:cNvPr id="27" name="Text 25"/>
          <p:cNvSpPr txBox="1"/>
          <p:nvPr/>
        </p:nvSpPr>
        <p:spPr>
          <a:xfrm>
            <a:off x="8714232" y="3208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Printer</a:t>
            </a:r>
            <a:endParaRPr lang="en-US" sz="1100" dirty="0"/>
          </a:p>
        </p:txBody>
      </p:sp>
      <p:sp>
        <p:nvSpPr>
          <p:cNvPr id="28" name="Text 26"/>
          <p:cNvSpPr txBox="1"/>
          <p:nvPr/>
        </p:nvSpPr>
        <p:spPr>
          <a:xfrm>
            <a:off x="8714232" y="3528568"/>
            <a:ext cx="2715768" cy="21590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30.218.145.248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MXBCS730XY</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Hewlett-Packard HP Color LaserJet MFP X57945</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printer.do?sys_id=694be8342bc6ae54d50dffbdbe91bf87"/>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694be8342bc6ae54d50dffbdbe91bf87"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180  ·  SERIAL NUMBER HARDWARE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wb9492p203.gwm.bankofamerica.com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1de8581e93fa4b549110fe584dba10f7" history="1" highlightClick="0" endSnd="0">
                  <a:extLst>
                    <a:ext uri="{A12FA001-AC4F-418D-AE19-62706E023703}">
                      <ahyp:hlinkClr xmlns:ahyp="http://schemas.microsoft.com/office/drawing/2018/hyperlinkcolor" val="tx"/>
                    </a:ext>
                  </a:extLst>
                </a:hlinkClick>
              </a:rPr>
              <a:t>SDI000002368092</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7bb3ac4b47624710a1a9295b416d4304" history="1" highlightClick="0" endSnd="0">
                  <a:extLst>
                    <a:ext uri="{A12FA001-AC4F-418D-AE19-62706E023703}">
                      <ahyp:hlinkClr xmlns:ahyp="http://schemas.microsoft.com/office/drawing/2018/hyperlinkcolor" val="tx"/>
                    </a:ext>
                  </a:extLst>
                </a:hlinkClick>
              </a:rPr>
              <a:t>BOFA Serial Number Hardware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printer.do?sys_id=694be8342bc6ae54d50dffbdbe91bf87" history="1" highlightClick="0" endSnd="0">
                  <a:extLst>
                    <a:ext uri="{A12FA001-AC4F-418D-AE19-62706E023703}">
                      <ahyp:hlinkClr xmlns:ahyp="http://schemas.microsoft.com/office/drawing/2018/hyperlinkcolor" val="tx"/>
                    </a:ext>
                  </a:extLst>
                </a:hlinkClick>
              </a:rPr>
              <a:t>npifdcd73</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Serial read</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Reads the scanned serial (sourceValue), trims it, and refuses an empty value, one shorter than four characters or a vendor placeholder from the list in the script.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"MXBCS730XY"</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Class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The search covers the whole Hardware tree (cmdb_ci_hardware and every sub-class).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whole hardware tree, the OS is not read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serial</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serial_number equal to the serial, the ignored classes (property sn_sec_cmn.ignoreCIClass) left out. next() then hasNext(): exactly one row is returned; none, or two or more, give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npifdcd73 [printer] ip 30.218.145.248 -&gt;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hardware_list.do?sysparm_query=serial_number%3DMXBCS730XY" history="1" highlightClick="0" endSnd="0">
                            <a:extLst>
                              <a:ext uri="{A12FA001-AC4F-418D-AE19-62706E023703}">
                                <ahyp:hlinkClr xmlns:ahyp="http://schemas.microsoft.com/office/drawing/2018/hyperlinkcolor" val="tx"/>
                              </a:ext>
                            </a:extLst>
                          </a:hlinkClick>
                        </a:rPr>
                        <a:t>Hardware: serial_number=MXBCS730XY</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printer.do?sys_id=694be8342bc6ae54d50dffbdbe91bf87" history="1" highlightClick="0" endSnd="0">
                            <a:extLst>
                              <a:ext uri="{A12FA001-AC4F-418D-AE19-62706E023703}">
                                <ahyp:hlinkClr xmlns:ahyp="http://schemas.microsoft.com/office/drawing/2018/hyperlinkcolor" val="tx"/>
                              </a:ext>
                            </a:extLst>
                          </a:hlinkClick>
                        </a:rPr>
                        <a:t>npifdcd73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180  ·  SERIAL NUMBER HARDWARE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azgndgd01p02.bankofamerica.com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hardware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821944"/>
          </a:xfrm>
          <a:prstGeom prst="roundRect">
            <a:avLst>
              <a:gd name="adj" fmla="val 667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309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record in printer carries the serial)</a:t>
            </a:r>
            <a:endParaRPr lang="en-US" sz="1100" dirty="0"/>
          </a:p>
        </p:txBody>
      </p:sp>
      <p:sp>
        <p:nvSpPr>
          <p:cNvPr id="12" name="Shape 10"/>
          <p:cNvSpPr/>
          <p:nvPr/>
        </p:nvSpPr>
        <p:spPr>
          <a:xfrm>
            <a:off x="502920" y="2413000"/>
            <a:ext cx="2788920" cy="3987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568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2842768"/>
            <a:ext cx="457200" cy="0"/>
          </a:xfrm>
          <a:prstGeom prst="line">
            <a:avLst/>
          </a:prstGeom>
          <a:noFill/>
          <a:ln w="19050">
            <a:solidFill>
              <a:srgbClr val="E31837"/>
            </a:solidFill>
            <a:prstDash val="solid"/>
          </a:ln>
        </p:spPr>
      </p:sp>
      <p:sp>
        <p:nvSpPr>
          <p:cNvPr id="15" name="Text 13"/>
          <p:cNvSpPr txBox="1"/>
          <p:nvPr/>
        </p:nvSpPr>
        <p:spPr>
          <a:xfrm>
            <a:off x="740664" y="2888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SDI000002326199</a:t>
            </a:r>
            <a:endParaRPr lang="en-US" sz="1500" dirty="0"/>
          </a:p>
        </p:txBody>
      </p:sp>
      <p:sp>
        <p:nvSpPr>
          <p:cNvPr id="16" name="Text 14"/>
          <p:cNvSpPr txBox="1"/>
          <p:nvPr/>
        </p:nvSpPr>
        <p:spPr>
          <a:xfrm>
            <a:off x="740664" y="3254248"/>
            <a:ext cx="2313432" cy="243332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azgndgd01p02.bankofamerica.com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10.136.88.137</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HP LaserJet Printer</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VNCCSB20Y7</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02:18:50</a:t>
            </a:r>
            <a:endParaRPr lang="en-US" sz="1200" dirty="0"/>
          </a:p>
        </p:txBody>
      </p:sp>
      <p:sp>
        <p:nvSpPr>
          <p:cNvPr id="17" name="Text 15">
            <a:hlinkClick r:id="rId1" tooltip="https://bofasecopsdev.service-now.com/sn_sec_cmn_src_ci_list.do?sysparm_query=number=SDI000002326199"/>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2619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413000"/>
            <a:ext cx="4745736" cy="3987800"/>
          </a:xfrm>
          <a:prstGeom prst="roundRect">
            <a:avLst>
              <a:gd name="adj" fmla="val 137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568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2842768"/>
            <a:ext cx="457200" cy="0"/>
          </a:xfrm>
          <a:prstGeom prst="line">
            <a:avLst/>
          </a:prstGeom>
          <a:noFill/>
          <a:ln w="19050">
            <a:solidFill>
              <a:srgbClr val="E31837"/>
            </a:solidFill>
            <a:prstDash val="solid"/>
          </a:ln>
        </p:spPr>
      </p:sp>
      <p:sp>
        <p:nvSpPr>
          <p:cNvPr id="21" name="Text 19"/>
          <p:cNvSpPr txBox="1"/>
          <p:nvPr/>
        </p:nvSpPr>
        <p:spPr>
          <a:xfrm>
            <a:off x="3749040" y="2915920"/>
            <a:ext cx="4233672" cy="33294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Serial read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"VNCCSB20Y7"</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Class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the whole hardware tree, the OS is not read</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Records carrying the serial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VNCCSB20Y7 - LASERJET ENT M507DN [hardware] -&gt; exactly one, accepted</a:t>
            </a:r>
            <a:endParaRPr lang="en-US" sz="1300" dirty="0"/>
          </a:p>
        </p:txBody>
      </p:sp>
      <p:sp>
        <p:nvSpPr>
          <p:cNvPr id="22" name="Shape 20"/>
          <p:cNvSpPr/>
          <p:nvPr/>
        </p:nvSpPr>
        <p:spPr>
          <a:xfrm>
            <a:off x="8439912" y="2413000"/>
            <a:ext cx="3246120" cy="398780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577592"/>
            <a:ext cx="64008" cy="3658616"/>
          </a:xfrm>
          <a:prstGeom prst="rect">
            <a:avLst/>
          </a:prstGeom>
          <a:solidFill>
            <a:srgbClr val="E31837"/>
          </a:solidFill>
          <a:ln w="12700">
            <a:solidFill>
              <a:srgbClr val="333333"/>
            </a:solidFill>
            <a:prstDash val="solid"/>
          </a:ln>
        </p:spPr>
      </p:sp>
      <p:sp>
        <p:nvSpPr>
          <p:cNvPr id="24" name="Text 22"/>
          <p:cNvSpPr txBox="1"/>
          <p:nvPr/>
        </p:nvSpPr>
        <p:spPr>
          <a:xfrm>
            <a:off x="8714232" y="2568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2842768"/>
            <a:ext cx="457200" cy="0"/>
          </a:xfrm>
          <a:prstGeom prst="line">
            <a:avLst/>
          </a:prstGeom>
          <a:noFill/>
          <a:ln w="19050">
            <a:solidFill>
              <a:srgbClr val="E31837"/>
            </a:solidFill>
            <a:prstDash val="solid"/>
          </a:ln>
        </p:spPr>
      </p:sp>
      <p:sp>
        <p:nvSpPr>
          <p:cNvPr id="26" name="Text 24"/>
          <p:cNvSpPr txBox="1"/>
          <p:nvPr/>
        </p:nvSpPr>
        <p:spPr>
          <a:xfrm>
            <a:off x="8714232" y="2888488"/>
            <a:ext cx="2715768" cy="292608"/>
          </a:xfrm>
          <a:prstGeom prst="rect">
            <a:avLst/>
          </a:prstGeom>
          <a:noFill/>
          <a:ln/>
        </p:spPr>
        <p:txBody>
          <a:bodyPr wrap="square" lIns="0" tIns="0" rIns="0" bIns="0" rtlCol="0" anchor="t"/>
          <a:lstStyle/>
          <a:p>
            <a:pPr indent="0" marL="0">
              <a:buNone/>
            </a:pPr>
            <a:r>
              <a:rPr lang="en-US" sz="1200" b="1" dirty="0">
                <a:solidFill>
                  <a:srgbClr val="012169"/>
                </a:solidFill>
                <a:latin typeface="Arial" pitchFamily="34" charset="0"/>
                <a:ea typeface="Arial" pitchFamily="34" charset="-122"/>
                <a:cs typeface="Arial" pitchFamily="34" charset="-120"/>
              </a:rPr>
              <a:t>VNCCSB20Y7 - LASERJET ENT M507DN</a:t>
            </a:r>
            <a:endParaRPr lang="en-US" sz="1200" dirty="0"/>
          </a:p>
        </p:txBody>
      </p:sp>
      <p:sp>
        <p:nvSpPr>
          <p:cNvPr id="27" name="Text 25"/>
          <p:cNvSpPr txBox="1"/>
          <p:nvPr/>
        </p:nvSpPr>
        <p:spPr>
          <a:xfrm>
            <a:off x="8714232" y="3208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Hardware</a:t>
            </a:r>
            <a:endParaRPr lang="en-US" sz="1100" dirty="0"/>
          </a:p>
        </p:txBody>
      </p:sp>
      <p:sp>
        <p:nvSpPr>
          <p:cNvPr id="28" name="Text 26"/>
          <p:cNvSpPr txBox="1"/>
          <p:nvPr/>
        </p:nvSpPr>
        <p:spPr>
          <a:xfrm>
            <a:off x="8714232" y="3528568"/>
            <a:ext cx="2715768" cy="21590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VNCCSB20Y7</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 Packard LASERJET ENT M507DN</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hardware.do?sys_id=9a3819182ba72e54d28af8a4ce91bfa1"/>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hardware.do?sys_id=9a3819182ba72e54d28af8a4ce91bfa1"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180  ·  SERIAL NUMBER HARDWARE MATCH  ·  EXAMPLE 2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azgndgd01p02.bankofamerica.com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6d5c8c16eb3ec710577bf284dad0cde0" history="1" highlightClick="0" endSnd="0">
                  <a:extLst>
                    <a:ext uri="{A12FA001-AC4F-418D-AE19-62706E023703}">
                      <ahyp:hlinkClr xmlns:ahyp="http://schemas.microsoft.com/office/drawing/2018/hyperlinkcolor" val="tx"/>
                    </a:ext>
                  </a:extLst>
                </a:hlinkClick>
              </a:rPr>
              <a:t>SDI000002326199</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7bb3ac4b47624710a1a9295b416d4304" history="1" highlightClick="0" endSnd="0">
                  <a:extLst>
                    <a:ext uri="{A12FA001-AC4F-418D-AE19-62706E023703}">
                      <ahyp:hlinkClr xmlns:ahyp="http://schemas.microsoft.com/office/drawing/2018/hyperlinkcolor" val="tx"/>
                    </a:ext>
                  </a:extLst>
                </a:hlinkClick>
              </a:rPr>
              <a:t>BOFA Serial Number Hardware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hardware.do?sys_id=9a3819182ba72e54d28af8a4ce91bfa1" history="1" highlightClick="0" endSnd="0">
                  <a:extLst>
                    <a:ext uri="{A12FA001-AC4F-418D-AE19-62706E023703}">
                      <ahyp:hlinkClr xmlns:ahyp="http://schemas.microsoft.com/office/drawing/2018/hyperlinkcolor" val="tx"/>
                    </a:ext>
                  </a:extLst>
                </a:hlinkClick>
              </a:rPr>
              <a:t>VNCCSB20Y7 - LASERJET ENT M507DN</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Serial read</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Reads the scanned serial (sourceValue), trims it, and refuses an empty value, one shorter than four characters or a vendor placeholder from the list in the script.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"VNCCSB20Y7"</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Class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The search covers the whole Hardware tree (cmdb_ci_hardware and every sub-class).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whole hardware tree, the OS is not read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serial</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serial_number equal to the serial, the ignored classes (property sn_sec_cmn.ignoreCIClass) left out. next() then hasNext(): exactly one row is returned; none, or two or more, give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VNCCSB20Y7 - LASERJET ENT M507DN [hardware]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hardware_list.do?sysparm_query=serial_number%3DVNCCSB20Y7" history="1" highlightClick="0" endSnd="0">
                            <a:extLst>
                              <a:ext uri="{A12FA001-AC4F-418D-AE19-62706E023703}">
                                <ahyp:hlinkClr xmlns:ahyp="http://schemas.microsoft.com/office/drawing/2018/hyperlinkcolor" val="tx"/>
                              </a:ext>
                            </a:extLst>
                          </a:hlinkClick>
                        </a:rPr>
                        <a:t>Hardware: serial_number=VNCCSB20Y7</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hardware.do?sys_id=9a3819182ba72e54d28af8a4ce91bfa1" history="1" highlightClick="0" endSnd="0">
                            <a:extLst>
                              <a:ext uri="{A12FA001-AC4F-418D-AE19-62706E023703}">
                                <ahyp:hlinkClr xmlns:ahyp="http://schemas.microsoft.com/office/drawing/2018/hyperlinkcolor" val="tx"/>
                              </a:ext>
                            </a:extLst>
                          </a:hlinkClick>
                        </a:rPr>
                        <a:t>VNCCSB20Y7 - LASERJET ENT M507DN</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180  ·  SERIAL NUMBER HARDWARE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ny1-100-33-p103.bankofamerica.com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printer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821944"/>
          </a:xfrm>
          <a:prstGeom prst="roundRect">
            <a:avLst>
              <a:gd name="adj" fmla="val 667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309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record in linux_server carries the serial)</a:t>
            </a:r>
            <a:endParaRPr lang="en-US" sz="1100" dirty="0"/>
          </a:p>
        </p:txBody>
      </p:sp>
      <p:sp>
        <p:nvSpPr>
          <p:cNvPr id="12" name="Shape 10"/>
          <p:cNvSpPr/>
          <p:nvPr/>
        </p:nvSpPr>
        <p:spPr>
          <a:xfrm>
            <a:off x="502920" y="2413000"/>
            <a:ext cx="2788920" cy="3987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568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2842768"/>
            <a:ext cx="457200" cy="0"/>
          </a:xfrm>
          <a:prstGeom prst="line">
            <a:avLst/>
          </a:prstGeom>
          <a:noFill/>
          <a:ln w="19050">
            <a:solidFill>
              <a:srgbClr val="E31837"/>
            </a:solidFill>
            <a:prstDash val="solid"/>
          </a:ln>
        </p:spPr>
      </p:sp>
      <p:sp>
        <p:nvSpPr>
          <p:cNvPr id="15" name="Text 13"/>
          <p:cNvSpPr txBox="1"/>
          <p:nvPr/>
        </p:nvSpPr>
        <p:spPr>
          <a:xfrm>
            <a:off x="740664" y="2888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SDI000002390879</a:t>
            </a:r>
            <a:endParaRPr lang="en-US" sz="1500" dirty="0"/>
          </a:p>
        </p:txBody>
      </p:sp>
      <p:sp>
        <p:nvSpPr>
          <p:cNvPr id="16" name="Text 14"/>
          <p:cNvSpPr txBox="1"/>
          <p:nvPr/>
        </p:nvSpPr>
        <p:spPr>
          <a:xfrm>
            <a:off x="740664" y="3254248"/>
            <a:ext cx="2313432" cy="243332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ny1-100-33-p103.bankofamerica.com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171.199.58.251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Ubuntu/Linux</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MXBCS6D1LS</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02:18:29</a:t>
            </a:r>
            <a:endParaRPr lang="en-US" sz="1200" dirty="0"/>
          </a:p>
        </p:txBody>
      </p:sp>
      <p:sp>
        <p:nvSpPr>
          <p:cNvPr id="17" name="Text 15">
            <a:hlinkClick r:id="rId1" tooltip="https://bofasecopsdev.service-now.com/sn_sec_cmn_src_ci_list.do?sysparm_query=number=SDI000002390879"/>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9087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413000"/>
            <a:ext cx="4745736" cy="3987800"/>
          </a:xfrm>
          <a:prstGeom prst="roundRect">
            <a:avLst>
              <a:gd name="adj" fmla="val 137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568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2842768"/>
            <a:ext cx="457200" cy="0"/>
          </a:xfrm>
          <a:prstGeom prst="line">
            <a:avLst/>
          </a:prstGeom>
          <a:noFill/>
          <a:ln w="19050">
            <a:solidFill>
              <a:srgbClr val="E31837"/>
            </a:solidFill>
            <a:prstDash val="solid"/>
          </a:ln>
        </p:spPr>
      </p:sp>
      <p:sp>
        <p:nvSpPr>
          <p:cNvPr id="21" name="Text 19"/>
          <p:cNvSpPr txBox="1"/>
          <p:nvPr/>
        </p:nvSpPr>
        <p:spPr>
          <a:xfrm>
            <a:off x="3749040" y="2915920"/>
            <a:ext cx="4233672" cy="33294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Serial read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"MXBCS6D1LS"</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Class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the whole hardware tree, the OS is not read</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Records carrying the serial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ny1-100-33-p103 [printer] ip 171.199.58.251 -&gt; exactly one, accepted</a:t>
            </a:r>
            <a:endParaRPr lang="en-US" sz="1300" dirty="0"/>
          </a:p>
        </p:txBody>
      </p:sp>
      <p:sp>
        <p:nvSpPr>
          <p:cNvPr id="22" name="Shape 20"/>
          <p:cNvSpPr/>
          <p:nvPr/>
        </p:nvSpPr>
        <p:spPr>
          <a:xfrm>
            <a:off x="8439912" y="2413000"/>
            <a:ext cx="3246120" cy="398780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577592"/>
            <a:ext cx="64008" cy="3658616"/>
          </a:xfrm>
          <a:prstGeom prst="rect">
            <a:avLst/>
          </a:prstGeom>
          <a:solidFill>
            <a:srgbClr val="E31837"/>
          </a:solidFill>
          <a:ln w="12700">
            <a:solidFill>
              <a:srgbClr val="333333"/>
            </a:solidFill>
            <a:prstDash val="solid"/>
          </a:ln>
        </p:spPr>
      </p:sp>
      <p:sp>
        <p:nvSpPr>
          <p:cNvPr id="24" name="Text 22"/>
          <p:cNvSpPr txBox="1"/>
          <p:nvPr/>
        </p:nvSpPr>
        <p:spPr>
          <a:xfrm>
            <a:off x="8714232" y="2568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2842768"/>
            <a:ext cx="457200" cy="0"/>
          </a:xfrm>
          <a:prstGeom prst="line">
            <a:avLst/>
          </a:prstGeom>
          <a:noFill/>
          <a:ln w="19050">
            <a:solidFill>
              <a:srgbClr val="E31837"/>
            </a:solidFill>
            <a:prstDash val="solid"/>
          </a:ln>
        </p:spPr>
      </p:sp>
      <p:sp>
        <p:nvSpPr>
          <p:cNvPr id="26" name="Text 24"/>
          <p:cNvSpPr txBox="1"/>
          <p:nvPr/>
        </p:nvSpPr>
        <p:spPr>
          <a:xfrm>
            <a:off x="8714232" y="28884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ny1-100-33-p103</a:t>
            </a:r>
            <a:endParaRPr lang="en-US" sz="1500" dirty="0"/>
          </a:p>
        </p:txBody>
      </p:sp>
      <p:sp>
        <p:nvSpPr>
          <p:cNvPr id="27" name="Text 25"/>
          <p:cNvSpPr txBox="1"/>
          <p:nvPr/>
        </p:nvSpPr>
        <p:spPr>
          <a:xfrm>
            <a:off x="8714232" y="3208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Printer</a:t>
            </a:r>
            <a:endParaRPr lang="en-US" sz="1100" dirty="0"/>
          </a:p>
        </p:txBody>
      </p:sp>
      <p:sp>
        <p:nvSpPr>
          <p:cNvPr id="28" name="Text 26"/>
          <p:cNvSpPr txBox="1"/>
          <p:nvPr/>
        </p:nvSpPr>
        <p:spPr>
          <a:xfrm>
            <a:off x="8714232" y="3528568"/>
            <a:ext cx="2715768" cy="21590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171.199.58.251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MXBCS6D1LS</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Hewlett-Packard HP Color LaserJet MFP X57945</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printer.do?sys_id=084b28342bc6ae54d50dffbdbe91bfc9"/>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084b28342bc6ae54d50dffbdbe91bfc9"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180  ·  SERIAL NUMBER HARDWARE MATCH  ·  EXAMPLE 3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ny1-100-33-p103.bankofamerica.com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a41d909a3b760f942fcecefe23e45a2d" history="1" highlightClick="0" endSnd="0">
                  <a:extLst>
                    <a:ext uri="{A12FA001-AC4F-418D-AE19-62706E023703}">
                      <ahyp:hlinkClr xmlns:ahyp="http://schemas.microsoft.com/office/drawing/2018/hyperlinkcolor" val="tx"/>
                    </a:ext>
                  </a:extLst>
                </a:hlinkClick>
              </a:rPr>
              <a:t>SDI000002390879</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7bb3ac4b47624710a1a9295b416d4304" history="1" highlightClick="0" endSnd="0">
                  <a:extLst>
                    <a:ext uri="{A12FA001-AC4F-418D-AE19-62706E023703}">
                      <ahyp:hlinkClr xmlns:ahyp="http://schemas.microsoft.com/office/drawing/2018/hyperlinkcolor" val="tx"/>
                    </a:ext>
                  </a:extLst>
                </a:hlinkClick>
              </a:rPr>
              <a:t>BOFA Serial Number Hardware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printer.do?sys_id=084b28342bc6ae54d50dffbdbe91bfc9" history="1" highlightClick="0" endSnd="0">
                  <a:extLst>
                    <a:ext uri="{A12FA001-AC4F-418D-AE19-62706E023703}">
                      <ahyp:hlinkClr xmlns:ahyp="http://schemas.microsoft.com/office/drawing/2018/hyperlinkcolor" val="tx"/>
                    </a:ext>
                  </a:extLst>
                </a:hlinkClick>
              </a:rPr>
              <a:t>ny1-100-33-p103</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Serial read</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Reads the scanned serial (sourceValue), trims it, and refuses an empty value, one shorter than four characters or a vendor placeholder from the list in the script.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"MXBCS6D1LS"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Class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The search covers the whole Hardware tree (cmdb_ci_hardware and every sub-class).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whole hardware tree, the OS is not read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serial</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serial_number equal to the serial, the ignored classes (property sn_sec_cmn.ignoreCIClass) left out. next() then hasNext(): exactly one row is returned; none, or two or more, give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ny1-100-33-p103 [printer] ip 171.199.58.251 -&gt;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hardware_list.do?sysparm_query=serial_number%3DMXBCS6D1LS" history="1" highlightClick="0" endSnd="0">
                            <a:extLst>
                              <a:ext uri="{A12FA001-AC4F-418D-AE19-62706E023703}">
                                <ahyp:hlinkClr xmlns:ahyp="http://schemas.microsoft.com/office/drawing/2018/hyperlinkcolor" val="tx"/>
                              </a:ext>
                            </a:extLst>
                          </a:hlinkClick>
                        </a:rPr>
                        <a:t>Hardware: serial_number=MXBCS6D1LS</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printer.do?sys_id=084b28342bc6ae54d50dffbdbe91bfc9" history="1" highlightClick="0" endSnd="0">
                            <a:extLst>
                              <a:ext uri="{A12FA001-AC4F-418D-AE19-62706E023703}">
                                <ahyp:hlinkClr xmlns:ahyp="http://schemas.microsoft.com/office/drawing/2018/hyperlinkcolor" val="tx"/>
                              </a:ext>
                            </a:extLst>
                          </a:hlinkClick>
                        </a:rPr>
                        <a:t>ny1-100-33-p103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200  ·  PHONE  ·  1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Cisco IP Phone MAC</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935480"/>
          </a:xfrm>
          <a:prstGeom prst="roundRect">
            <a:avLst>
              <a:gd name="adj" fmla="val 28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6062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2954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Cisco Unified CM device-name convention: the first DNS label is SEP followed by the phone's MAC address.</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after the serial number rules (phones report no serial) and before the FQDN and hostname rules so a phone label is never tried as a server name; it searches only IP Phone CIs, so a MAC clash can never pull in a switch or a server.</a:t>
            </a:r>
            <a:endParaRPr lang="en-US" sz="1500" dirty="0"/>
          </a:p>
        </p:txBody>
      </p:sp>
      <p:sp>
        <p:nvSpPr>
          <p:cNvPr id="13" name="Shape 11"/>
          <p:cNvSpPr/>
          <p:nvPr/>
        </p:nvSpPr>
        <p:spPr>
          <a:xfrm>
            <a:off x="502920" y="3608832"/>
            <a:ext cx="6933529" cy="2778760"/>
          </a:xfrm>
          <a:prstGeom prst="roundRect">
            <a:avLst>
              <a:gd name="adj" fmla="val 197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7917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066032"/>
            <a:ext cx="457200" cy="0"/>
          </a:xfrm>
          <a:prstGeom prst="line">
            <a:avLst/>
          </a:prstGeom>
          <a:noFill/>
          <a:ln w="19050">
            <a:solidFill>
              <a:srgbClr val="E31837"/>
            </a:solidFill>
            <a:prstDash val="solid"/>
          </a:ln>
        </p:spPr>
      </p:sp>
      <p:sp>
        <p:nvSpPr>
          <p:cNvPr id="16" name="Text 14"/>
          <p:cNvSpPr txBox="1"/>
          <p:nvPr/>
        </p:nvSpPr>
        <p:spPr>
          <a:xfrm>
            <a:off x="822960" y="4157472"/>
            <a:ext cx="6293449" cy="204724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DNS field as sourceValue (sample sep64f69dd5c9b0.voip.bankofamerica.com). No payload field is read: sourcePayload is received but never used. Also reads the framework variable _ignoreClass or, failing that, the property sn_sec_cmn.ignoreCIClass.</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exactly one cmdb_ci_ip_phone record (sub-classes included): the owner of a network adapter carrying the MAC, else the phone whose mac_address holds it, else the phone named with the device name upper-cased (SEP64F69DD5C9B0). null in every other case.</a:t>
            </a:r>
            <a:endParaRPr lang="en-US" sz="1400" dirty="0"/>
          </a:p>
        </p:txBody>
      </p:sp>
      <p:sp>
        <p:nvSpPr>
          <p:cNvPr id="17" name="Shape 15"/>
          <p:cNvSpPr/>
          <p:nvPr/>
        </p:nvSpPr>
        <p:spPr>
          <a:xfrm>
            <a:off x="7665049" y="3608832"/>
            <a:ext cx="4020983" cy="2778760"/>
          </a:xfrm>
          <a:prstGeom prst="roundRect">
            <a:avLst>
              <a:gd name="adj" fmla="val 197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7917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066032"/>
            <a:ext cx="457200" cy="0"/>
          </a:xfrm>
          <a:prstGeom prst="line">
            <a:avLst/>
          </a:prstGeom>
          <a:noFill/>
          <a:ln w="19050">
            <a:solidFill>
              <a:srgbClr val="E31837"/>
            </a:solidFill>
            <a:prstDash val="solid"/>
          </a:ln>
        </p:spPr>
      </p:sp>
      <p:sp>
        <p:nvSpPr>
          <p:cNvPr id="20" name="Text 18"/>
          <p:cNvSpPr txBox="1"/>
          <p:nvPr/>
        </p:nvSpPr>
        <p:spPr>
          <a:xfrm>
            <a:off x="7985089" y="4157472"/>
            <a:ext cx="3380903" cy="104140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Serial Number Hardware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FQDN Class Match</a:t>
            </a:r>
            <a:endParaRPr lang="en-US" sz="1300" dirty="0"/>
          </a:p>
        </p:txBody>
      </p:sp>
      <p:sp>
        <p:nvSpPr>
          <p:cNvPr id="21" name="Text 19"/>
          <p:cNvSpPr txBox="1"/>
          <p:nvPr/>
        </p:nvSpPr>
        <p:spPr>
          <a:xfrm>
            <a:off x="7985089" y="529031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196,849</a:t>
            </a:r>
            <a:endParaRPr lang="en-US" sz="2800" dirty="0"/>
          </a:p>
        </p:txBody>
      </p:sp>
      <p:sp>
        <p:nvSpPr>
          <p:cNvPr id="22" name="Text 20"/>
          <p:cNvSpPr txBox="1"/>
          <p:nvPr/>
        </p:nvSpPr>
        <p:spPr>
          <a:xfrm>
            <a:off x="7985089" y="585724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200  ·  PHONE  ·  2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Cisco IP Phone MAC</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  ·  steps 1 to 4</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602480"/>
          </a:xfrm>
          <a:prstGeom prst="roundRect">
            <a:avLst>
              <a:gd name="adj" fmla="val 119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0538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1   Empty guard.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Returns null at once when sourceValue (the DNS field) is empty. sourcePayload is never read: the rule works from the DNS name alone, so OS and IP play no part.</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2   Phone label test.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String-coerces the DNS value (no trim), takes the first label before the first dot and lower-cases it. The label must match ^sep([0-9a-f]{12})$ exactly: literal sep plus twelve hex characters; anything else (a server named sepulveda01) returns null.</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3   MAC rebuilt in four spellings.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The twelve hex characters are cut into six two-character pairs joined with colons. Four candidates are built in this order: colon form upper case, colon form lower case, plain hex upper case, plain hex lower case (64:F6:9D:D5:C9:B0 to 64f69dd5c9b0).</a:t>
            </a:r>
            <a:endParaRPr lang="en-US" sz="1500" dirty="0"/>
          </a:p>
        </p:txBody>
      </p:sp>
      <p:sp>
        <p:nvSpPr>
          <p:cNvPr id="10" name="Text 8"/>
          <p:cNvSpPr txBox="1"/>
          <p:nvPr/>
        </p:nvSpPr>
        <p:spPr>
          <a:xfrm>
            <a:off x="6277356" y="1746504"/>
            <a:ext cx="5088636" cy="40538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4   Ignore list.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Reads the ignored classes from the framework variable _ignoreClass when defined and non-empty, otherwise from gs.getProperty sn_sec_cmn.ignoreCIClass with an empty default. Applied to the second and third attempts only, not to the adapter attempt.</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200  ·  PHONE  ·  3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Cisco IP Phone MAC</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  ·  steps 5 to 8</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586480"/>
          </a:xfrm>
          <a:prstGeom prst="roundRect">
            <a:avLst>
              <a:gd name="adj" fmla="val 153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30378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5   Attempt 1: adapter owned by an IP phone.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Queries cmdb_ci_network_adapter where mac_address IN the four candidates and cmdb_ci is not empty. Each adapter's owner sys_id is tested with a GlideRecord get on cmdb_ci_ip_phone; distinct IP Phone owners are counted once each in a map.</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6   Attempt 1 decision.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Exactly one distinct IP Phone owner returns that owner's sys_id. Zero owners, or two or more phones sharing the MAC on adapters, fall through to the next attempt. An adapter owned by a switch or server is skipped because the get on cmdb_ci_ip_phone fails.</a:t>
            </a:r>
            <a:endParaRPr lang="en-US" sz="1500" dirty="0"/>
          </a:p>
        </p:txBody>
      </p:sp>
      <p:sp>
        <p:nvSpPr>
          <p:cNvPr id="10" name="Text 8"/>
          <p:cNvSpPr txBox="1"/>
          <p:nvPr/>
        </p:nvSpPr>
        <p:spPr>
          <a:xfrm>
            <a:off x="6277356" y="1746504"/>
            <a:ext cx="5088636" cy="30378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7   Attempt 2: MAC on the phone record.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Queries cmdb_ci_ip_phone (sub-classes included) where mac_address IN the four candidates, with sys_class_name NOT IN the ignore list when it is non-empty. next() then hasNext(): one row returns its sys_id; none or several rows fall through to the name attempt.</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8   Attempt 3: Unified CM device name.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Queries cmdb_ci_ip_phone where name equals the label upper-cased (SEP64F69DD5C9B0), sys_class_name NOT IN the ignore list when non-empty. No row returns null; next() then hasNext() true returns null; one row returns its sys_id. No setLimit anywhere.</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200  ·  PHONE  ·  4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Cisco IP Phone MAC</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491740"/>
          </a:xfrm>
          <a:prstGeom prst="roundRect">
            <a:avLst>
              <a:gd name="adj" fmla="val 220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1625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18516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(DNS)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lower-cased first DNS label does not match ^sep([0-9a-f]{12})$: not a Cisco Unified CM phone label; the host passes to the next rule untouched.</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IP Phone is found by adapter MAC, by the mac_address field or by the device name.</a:t>
            </a:r>
            <a:endParaRPr lang="en-US" sz="1500" dirty="0"/>
          </a:p>
        </p:txBody>
      </p:sp>
      <p:sp>
        <p:nvSpPr>
          <p:cNvPr id="13" name="Text 11"/>
          <p:cNvSpPr txBox="1"/>
          <p:nvPr/>
        </p:nvSpPr>
        <p:spPr>
          <a:xfrm>
            <a:off x="6277356" y="1975104"/>
            <a:ext cx="5088636" cy="18516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name attempt finds two or more cmdb_ci_ip_phone records named with the device name (hasNext true).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phones share the MAC on adapters or on mac_address and the name attempt then finds none or several: a shared MAC never declines by itself.</a:t>
            </a:r>
            <a:endParaRPr lang="en-US" sz="1500" dirty="0"/>
          </a:p>
        </p:txBody>
      </p:sp>
      <p:sp>
        <p:nvSpPr>
          <p:cNvPr id="14" name="Shape 12"/>
          <p:cNvSpPr/>
          <p:nvPr/>
        </p:nvSpPr>
        <p:spPr>
          <a:xfrm>
            <a:off x="502920" y="41650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1650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FQDN Class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200  ·  CISCO IP PHONE MAC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sep6c710d8adc3b.ipt.bofa.com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phone mac</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821944"/>
          </a:xfrm>
          <a:prstGeom prst="roundRect">
            <a:avLst>
              <a:gd name="adj" fmla="val 667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309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a:t>
            </a:r>
            <a:endParaRPr lang="en-US" sz="1100" dirty="0"/>
          </a:p>
        </p:txBody>
      </p:sp>
      <p:sp>
        <p:nvSpPr>
          <p:cNvPr id="12" name="Shape 10"/>
          <p:cNvSpPr/>
          <p:nvPr/>
        </p:nvSpPr>
        <p:spPr>
          <a:xfrm>
            <a:off x="502920" y="2413000"/>
            <a:ext cx="2788920" cy="3987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568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2842768"/>
            <a:ext cx="457200" cy="0"/>
          </a:xfrm>
          <a:prstGeom prst="line">
            <a:avLst/>
          </a:prstGeom>
          <a:noFill/>
          <a:ln w="19050">
            <a:solidFill>
              <a:srgbClr val="E31837"/>
            </a:solidFill>
            <a:prstDash val="solid"/>
          </a:ln>
        </p:spPr>
      </p:sp>
      <p:sp>
        <p:nvSpPr>
          <p:cNvPr id="15" name="Text 13"/>
          <p:cNvSpPr txBox="1"/>
          <p:nvPr/>
        </p:nvSpPr>
        <p:spPr>
          <a:xfrm>
            <a:off x="740664" y="2888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SDI000002627752</a:t>
            </a:r>
            <a:endParaRPr lang="en-US" sz="1500" dirty="0"/>
          </a:p>
        </p:txBody>
      </p:sp>
      <p:sp>
        <p:nvSpPr>
          <p:cNvPr id="16" name="Text 14"/>
          <p:cNvSpPr txBox="1"/>
          <p:nvPr/>
        </p:nvSpPr>
        <p:spPr>
          <a:xfrm>
            <a:off x="740664" y="3254248"/>
            <a:ext cx="2313432" cy="243332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sep6c710d8adc3b.ipt.bofa.com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10.188.95.168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Cisco IP Phone CP-8861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03:28:09</a:t>
            </a:r>
            <a:endParaRPr lang="en-US" sz="1200" dirty="0"/>
          </a:p>
        </p:txBody>
      </p:sp>
      <p:sp>
        <p:nvSpPr>
          <p:cNvPr id="17" name="Text 15">
            <a:hlinkClick r:id="rId1" tooltip="https://bofasecopsdev.service-now.com/sn_sec_cmn_src_ci_list.do?sysparm_query=number=SDI000002627752"/>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62775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413000"/>
            <a:ext cx="4745736" cy="3987800"/>
          </a:xfrm>
          <a:prstGeom prst="roundRect">
            <a:avLst>
              <a:gd name="adj" fmla="val 137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568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2842768"/>
            <a:ext cx="457200" cy="0"/>
          </a:xfrm>
          <a:prstGeom prst="line">
            <a:avLst/>
          </a:prstGeom>
          <a:noFill/>
          <a:ln w="19050">
            <a:solidFill>
              <a:srgbClr val="E31837"/>
            </a:solidFill>
            <a:prstDash val="solid"/>
          </a:ln>
        </p:spPr>
      </p:sp>
      <p:sp>
        <p:nvSpPr>
          <p:cNvPr id="21" name="Text 19"/>
          <p:cNvSpPr txBox="1"/>
          <p:nvPr/>
        </p:nvSpPr>
        <p:spPr>
          <a:xfrm>
            <a:off x="3749040" y="2915920"/>
            <a:ext cx="4233672" cy="33294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Phone label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"sep6c710d8adc3b" matches sep plus twelve hex characters</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MAC rebuilt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6C:71:0D:8A:DC:3B, 6c:71:0d:8a:dc:3b, 6C710D8ADC3B, 6c710d8adc3b</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Attempt 1: adapter with the MAC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0 adapters -&gt; 0 phone owners, next attempt</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4   Attempt 2: phone record with the MAC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SEP6C710D8ADC3B [ip_phone] ip 10.188.95.168 -&gt; exactly one, accepted</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5   Attempt 3: Unified CM device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SEP6C710D8ADC3B [ip_phone] ip 10.188.95.168 -&gt; exactly one, accepted</a:t>
            </a:r>
            <a:endParaRPr lang="en-US" sz="1300" dirty="0"/>
          </a:p>
        </p:txBody>
      </p:sp>
      <p:sp>
        <p:nvSpPr>
          <p:cNvPr id="22" name="Shape 20"/>
          <p:cNvSpPr/>
          <p:nvPr/>
        </p:nvSpPr>
        <p:spPr>
          <a:xfrm>
            <a:off x="8439912" y="2413000"/>
            <a:ext cx="3246120" cy="398780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577592"/>
            <a:ext cx="64008" cy="3658616"/>
          </a:xfrm>
          <a:prstGeom prst="rect">
            <a:avLst/>
          </a:prstGeom>
          <a:solidFill>
            <a:srgbClr val="E31837"/>
          </a:solidFill>
          <a:ln w="12700">
            <a:solidFill>
              <a:srgbClr val="333333"/>
            </a:solidFill>
            <a:prstDash val="solid"/>
          </a:ln>
        </p:spPr>
      </p:sp>
      <p:sp>
        <p:nvSpPr>
          <p:cNvPr id="24" name="Text 22"/>
          <p:cNvSpPr txBox="1"/>
          <p:nvPr/>
        </p:nvSpPr>
        <p:spPr>
          <a:xfrm>
            <a:off x="8714232" y="2568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2842768"/>
            <a:ext cx="457200" cy="0"/>
          </a:xfrm>
          <a:prstGeom prst="line">
            <a:avLst/>
          </a:prstGeom>
          <a:noFill/>
          <a:ln w="19050">
            <a:solidFill>
              <a:srgbClr val="E31837"/>
            </a:solidFill>
            <a:prstDash val="solid"/>
          </a:ln>
        </p:spPr>
      </p:sp>
      <p:sp>
        <p:nvSpPr>
          <p:cNvPr id="26" name="Text 24"/>
          <p:cNvSpPr txBox="1"/>
          <p:nvPr/>
        </p:nvSpPr>
        <p:spPr>
          <a:xfrm>
            <a:off x="8714232" y="28884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SEP6C710D8ADC3B</a:t>
            </a:r>
            <a:endParaRPr lang="en-US" sz="1500" dirty="0"/>
          </a:p>
        </p:txBody>
      </p:sp>
      <p:sp>
        <p:nvSpPr>
          <p:cNvPr id="27" name="Text 25"/>
          <p:cNvSpPr txBox="1"/>
          <p:nvPr/>
        </p:nvSpPr>
        <p:spPr>
          <a:xfrm>
            <a:off x="8714232" y="3208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IP Phone</a:t>
            </a:r>
            <a:endParaRPr lang="en-US" sz="1100" dirty="0"/>
          </a:p>
        </p:txBody>
      </p:sp>
      <p:sp>
        <p:nvSpPr>
          <p:cNvPr id="28" name="Text 26"/>
          <p:cNvSpPr txBox="1"/>
          <p:nvPr/>
        </p:nvSpPr>
        <p:spPr>
          <a:xfrm>
            <a:off x="8714232" y="3528568"/>
            <a:ext cx="2715768" cy="21590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10.188.95.168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FCH2346EAUJ</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MAC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6c:71:0d:8a:dc:3b</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Cisco Systems, Inc. IP Phone 8800 Series 8861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ip_phone.do?sys_id=df221eb33be96210df0f0c54c3e45adf"/>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df221eb33be96210df0f0c54c3e45adf"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200  ·  CISCO IP PHONE MAC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sep6c710d8adc3b.ipt.bofa.com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b2998da6eb7ecb14017ff4d7cad0cd60" history="1" highlightClick="0" endSnd="0">
                  <a:extLst>
                    <a:ext uri="{A12FA001-AC4F-418D-AE19-62706E023703}">
                      <ahyp:hlinkClr xmlns:ahyp="http://schemas.microsoft.com/office/drawing/2018/hyperlinkcolor" val="tx"/>
                    </a:ext>
                  </a:extLst>
                </a:hlinkClick>
              </a:rPr>
              <a:t>SDI000002627752</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715e000f47224710a1a9295b416d4302" history="1" highlightClick="0" endSnd="0">
                  <a:extLst>
                    <a:ext uri="{A12FA001-AC4F-418D-AE19-62706E023703}">
                      <ahyp:hlinkClr xmlns:ahyp="http://schemas.microsoft.com/office/drawing/2018/hyperlinkcolor" val="tx"/>
                    </a:ext>
                  </a:extLst>
                </a:hlinkClick>
              </a:rPr>
              <a:t>BOFA Cisco IP Phone MAC</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ip_phone.do?sys_id=df221eb33be96210df0f0c54c3e45adf" history="1" highlightClick="0" endSnd="0">
                  <a:extLst>
                    <a:ext uri="{A12FA001-AC4F-418D-AE19-62706E023703}">
                      <ahyp:hlinkClr xmlns:ahyp="http://schemas.microsoft.com/office/drawing/2018/hyperlinkcolor" val="tx"/>
                    </a:ext>
                  </a:extLst>
                </a:hlinkClick>
              </a:rPr>
              <a:t>SEP6C710D8ADC3B</a:t>
            </a:r>
            <a:endParaRPr lang="en-US" sz="1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Phone label</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Lower-cases the DNS label before the first dot and tests it against "sep" plus twelve hex characters; any other shape returns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"sep6c710d8adc3b" matches sep plus twelve hex characters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MAC rebuilt</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Rebuilds the MAC address from the twelve hex characters in the four spellings the CMDB uses: colon-separated and plain, upper and lower case.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6C:71:0D:8A:DC:3B, 6c:71:0d:8a:dc:3b, 6C710D8ADC3B, 6c710d8adc3b</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Attempt 1: adapter with the MAC</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Network Adapter records whose mac_address is one of the four spellings and that belong to a CI; the rule accepts when exactly one owning CI is an IP Phone record.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0 adapters -&gt; 0 phone owners, next attempt</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network_adapter_list.do?sysparm_query=mac_addressIN6C:71:0D:8A:DC:3B,6c:71:0d:8a:dc:3b,6C710D8ADC3B,6c710d8adc3b" history="1" highlightClick="0" endSnd="0">
                            <a:extLst>
                              <a:ext uri="{A12FA001-AC4F-418D-AE19-62706E023703}">
                                <ahyp:hlinkClr xmlns:ahyp="http://schemas.microsoft.com/office/drawing/2018/hyperlinkcolor" val="tx"/>
                              </a:ext>
                            </a:extLst>
                          </a:hlinkClick>
                        </a:rPr>
                        <a:t>Network Adapter: mac_addressIN6C:71:0D:8A:DC:3B,6c:71:0d:8a:dc:3b,6C710D8ADC3B,6c710d8adc3b</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Attempt 2: phone record with the MAC</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IP Phone records whose own mac_address is one of the four spellings, ignored classes left out; exactly one is returned.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SEP6C710D8ADC3B [ip_phone] ip 10.188.95.168 -&gt;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ip_phone_list.do?sysparm_query=mac_addressIN6C:71:0D:8A:DC:3B,6c:71:0d:8a:dc:3b,6C710D8ADC3B,6c710d8adc3b" history="1" highlightClick="0" endSnd="0">
                            <a:extLst>
                              <a:ext uri="{A12FA001-AC4F-418D-AE19-62706E023703}">
                                <ahyp:hlinkClr xmlns:ahyp="http://schemas.microsoft.com/office/drawing/2018/hyperlinkcolor" val="tx"/>
                              </a:ext>
                            </a:extLst>
                          </a:hlinkClick>
                        </a:rPr>
                        <a:t>IP Phone: mac_addressIN6C:71:0D:8A:DC:3B,6c:71:0d:8a:dc:3b,6C710D8ADC3B,6c710d8adc3b</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ip_phone.do?sys_id=df221eb33be96210df0f0c54c3e45adf" history="1" highlightClick="0" endSnd="0">
                            <a:extLst>
                              <a:ext uri="{A12FA001-AC4F-418D-AE19-62706E023703}">
                                <ahyp:hlinkClr xmlns:ahyp="http://schemas.microsoft.com/office/drawing/2018/hyperlinkcolor" val="tx"/>
                              </a:ext>
                            </a:extLst>
                          </a:hlinkClick>
                        </a:rPr>
                        <a:t>SEP6C710D8ADC3B</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Attempt 3: Unified CM device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IP Phone records named with the label in upper case, the Unified CM device name; exactly one is returned.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SEP6C710D8ADC3B [ip_phone] ip 10.188.95.168 -&gt;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8" invalidUrl="" action="" tgtFrame="" tooltip="https://bofasecopsdev.service-now.com/cmdb_ci_ip_phone_list.do?sysparm_query=name%3DSEP6C710D8ADC3B" history="1" highlightClick="0" endSnd="0">
                            <a:extLst>
                              <a:ext uri="{A12FA001-AC4F-418D-AE19-62706E023703}">
                                <ahyp:hlinkClr xmlns:ahyp="http://schemas.microsoft.com/office/drawing/2018/hyperlinkcolor" val="tx"/>
                              </a:ext>
                            </a:extLst>
                          </a:hlinkClick>
                        </a:rPr>
                        <a:t>IP Phone: name=SEP6C710D8ADC3B</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9" invalidUrl="" action="" tgtFrame="" tooltip="https://bofasecopsdev.service-now.com/cmdb_ci_ip_phone.do?sys_id=df221eb33be96210df0f0c54c3e45adf" history="1" highlightClick="0" endSnd="0">
                            <a:extLst>
                              <a:ext uri="{A12FA001-AC4F-418D-AE19-62706E023703}">
                                <ahyp:hlinkClr xmlns:ahyp="http://schemas.microsoft.com/office/drawing/2018/hyperlinkcolor" val="tx"/>
                              </a:ext>
                            </a:extLst>
                          </a:hlinkClick>
                        </a:rPr>
                        <a:t>SEP6C710D8ADC3B</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200  ·  CISCO IP PHONE MAC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sep6026aa8f08cd.ipt.bofa.com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phone mac</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821944"/>
          </a:xfrm>
          <a:prstGeom prst="roundRect">
            <a:avLst>
              <a:gd name="adj" fmla="val 667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309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a:t>
            </a:r>
            <a:endParaRPr lang="en-US" sz="1100" dirty="0"/>
          </a:p>
        </p:txBody>
      </p:sp>
      <p:sp>
        <p:nvSpPr>
          <p:cNvPr id="12" name="Shape 10"/>
          <p:cNvSpPr/>
          <p:nvPr/>
        </p:nvSpPr>
        <p:spPr>
          <a:xfrm>
            <a:off x="502920" y="2413000"/>
            <a:ext cx="2788920" cy="3987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568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2842768"/>
            <a:ext cx="457200" cy="0"/>
          </a:xfrm>
          <a:prstGeom prst="line">
            <a:avLst/>
          </a:prstGeom>
          <a:noFill/>
          <a:ln w="19050">
            <a:solidFill>
              <a:srgbClr val="E31837"/>
            </a:solidFill>
            <a:prstDash val="solid"/>
          </a:ln>
        </p:spPr>
      </p:sp>
      <p:sp>
        <p:nvSpPr>
          <p:cNvPr id="15" name="Text 13"/>
          <p:cNvSpPr txBox="1"/>
          <p:nvPr/>
        </p:nvSpPr>
        <p:spPr>
          <a:xfrm>
            <a:off x="740664" y="2888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SDI000002617321</a:t>
            </a:r>
            <a:endParaRPr lang="en-US" sz="1500" dirty="0"/>
          </a:p>
        </p:txBody>
      </p:sp>
      <p:sp>
        <p:nvSpPr>
          <p:cNvPr id="16" name="Text 14"/>
          <p:cNvSpPr txBox="1"/>
          <p:nvPr/>
        </p:nvSpPr>
        <p:spPr>
          <a:xfrm>
            <a:off x="740664" y="3254248"/>
            <a:ext cx="2313432" cy="243332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sep6026aa8f08cd.ipt.bofa.com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10.188.41.140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Cisco IP Phone CP-8861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03:28:02</a:t>
            </a:r>
            <a:endParaRPr lang="en-US" sz="1200" dirty="0"/>
          </a:p>
        </p:txBody>
      </p:sp>
      <p:sp>
        <p:nvSpPr>
          <p:cNvPr id="17" name="Text 15">
            <a:hlinkClick r:id="rId1" tooltip="https://bofasecopsdev.service-now.com/sn_sec_cmn_src_ci_list.do?sysparm_query=number=SDI000002617321"/>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61732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413000"/>
            <a:ext cx="4745736" cy="3987800"/>
          </a:xfrm>
          <a:prstGeom prst="roundRect">
            <a:avLst>
              <a:gd name="adj" fmla="val 137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568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2842768"/>
            <a:ext cx="457200" cy="0"/>
          </a:xfrm>
          <a:prstGeom prst="line">
            <a:avLst/>
          </a:prstGeom>
          <a:noFill/>
          <a:ln w="19050">
            <a:solidFill>
              <a:srgbClr val="E31837"/>
            </a:solidFill>
            <a:prstDash val="solid"/>
          </a:ln>
        </p:spPr>
      </p:sp>
      <p:sp>
        <p:nvSpPr>
          <p:cNvPr id="21" name="Text 19"/>
          <p:cNvSpPr txBox="1"/>
          <p:nvPr/>
        </p:nvSpPr>
        <p:spPr>
          <a:xfrm>
            <a:off x="3749040" y="2915920"/>
            <a:ext cx="4233672" cy="33294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Phone label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"sep6026aa8f08cd" matches sep plus twelve hex characters</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MAC rebuilt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60:26:AA:8F:08:CD, 60:26:aa:8f:08:cd, 6026AA8F08CD, 6026aa8f08cd</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Attempt 1: adapter with the MAC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0 adapters -&gt; 0 phone owners, next attempt</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4   Attempt 2: phone record with the MAC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SEP6026AA8F08CD [ip_phone] ip 10.188.41.140 -&gt; exactly one, accepted</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5   Attempt 3: Unified CM device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SEP6026AA8F08CD [ip_phone] ip 10.188.41.140 -&gt; exactly one, accepted</a:t>
            </a:r>
            <a:endParaRPr lang="en-US" sz="1300" dirty="0"/>
          </a:p>
        </p:txBody>
      </p:sp>
      <p:sp>
        <p:nvSpPr>
          <p:cNvPr id="22" name="Shape 20"/>
          <p:cNvSpPr/>
          <p:nvPr/>
        </p:nvSpPr>
        <p:spPr>
          <a:xfrm>
            <a:off x="8439912" y="2413000"/>
            <a:ext cx="3246120" cy="398780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577592"/>
            <a:ext cx="64008" cy="3658616"/>
          </a:xfrm>
          <a:prstGeom prst="rect">
            <a:avLst/>
          </a:prstGeom>
          <a:solidFill>
            <a:srgbClr val="E31837"/>
          </a:solidFill>
          <a:ln w="12700">
            <a:solidFill>
              <a:srgbClr val="333333"/>
            </a:solidFill>
            <a:prstDash val="solid"/>
          </a:ln>
        </p:spPr>
      </p:sp>
      <p:sp>
        <p:nvSpPr>
          <p:cNvPr id="24" name="Text 22"/>
          <p:cNvSpPr txBox="1"/>
          <p:nvPr/>
        </p:nvSpPr>
        <p:spPr>
          <a:xfrm>
            <a:off x="8714232" y="2568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2842768"/>
            <a:ext cx="457200" cy="0"/>
          </a:xfrm>
          <a:prstGeom prst="line">
            <a:avLst/>
          </a:prstGeom>
          <a:noFill/>
          <a:ln w="19050">
            <a:solidFill>
              <a:srgbClr val="E31837"/>
            </a:solidFill>
            <a:prstDash val="solid"/>
          </a:ln>
        </p:spPr>
      </p:sp>
      <p:sp>
        <p:nvSpPr>
          <p:cNvPr id="26" name="Text 24"/>
          <p:cNvSpPr txBox="1"/>
          <p:nvPr/>
        </p:nvSpPr>
        <p:spPr>
          <a:xfrm>
            <a:off x="8714232" y="28884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SEP6026AA8F08CD</a:t>
            </a:r>
            <a:endParaRPr lang="en-US" sz="1500" dirty="0"/>
          </a:p>
        </p:txBody>
      </p:sp>
      <p:sp>
        <p:nvSpPr>
          <p:cNvPr id="27" name="Text 25"/>
          <p:cNvSpPr txBox="1"/>
          <p:nvPr/>
        </p:nvSpPr>
        <p:spPr>
          <a:xfrm>
            <a:off x="8714232" y="3208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IP Phone</a:t>
            </a:r>
            <a:endParaRPr lang="en-US" sz="1100" dirty="0"/>
          </a:p>
        </p:txBody>
      </p:sp>
      <p:sp>
        <p:nvSpPr>
          <p:cNvPr id="28" name="Text 26"/>
          <p:cNvSpPr txBox="1"/>
          <p:nvPr/>
        </p:nvSpPr>
        <p:spPr>
          <a:xfrm>
            <a:off x="8714232" y="3528568"/>
            <a:ext cx="2715768" cy="21590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10.188.41.140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FCH26223JSR</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MAC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60:26:aa:8f:08:cd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Cisco Systems, Inc. IP Phone 8800 Series 8861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ip_phone.do?sys_id=3e7fc2bf3b696210df0f0c54c3e45abd"/>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3e7fc2bf3b696210df0f0c54c3e45abd"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200  ·  CISCO IP PHONE MAC  ·  EXAMPLE 2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sep6026aa8f08cd.ipt.bofa.com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59c04526ebfe8b10577bf284dad0cdda" history="1" highlightClick="0" endSnd="0">
                  <a:extLst>
                    <a:ext uri="{A12FA001-AC4F-418D-AE19-62706E023703}">
                      <ahyp:hlinkClr xmlns:ahyp="http://schemas.microsoft.com/office/drawing/2018/hyperlinkcolor" val="tx"/>
                    </a:ext>
                  </a:extLst>
                </a:hlinkClick>
              </a:rPr>
              <a:t>SDI000002617321</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715e000f47224710a1a9295b416d4302" history="1" highlightClick="0" endSnd="0">
                  <a:extLst>
                    <a:ext uri="{A12FA001-AC4F-418D-AE19-62706E023703}">
                      <ahyp:hlinkClr xmlns:ahyp="http://schemas.microsoft.com/office/drawing/2018/hyperlinkcolor" val="tx"/>
                    </a:ext>
                  </a:extLst>
                </a:hlinkClick>
              </a:rPr>
              <a:t>BOFA Cisco IP Phone MAC</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ip_phone.do?sys_id=3e7fc2bf3b696210df0f0c54c3e45abd" history="1" highlightClick="0" endSnd="0">
                  <a:extLst>
                    <a:ext uri="{A12FA001-AC4F-418D-AE19-62706E023703}">
                      <ahyp:hlinkClr xmlns:ahyp="http://schemas.microsoft.com/office/drawing/2018/hyperlinkcolor" val="tx"/>
                    </a:ext>
                  </a:extLst>
                </a:hlinkClick>
              </a:rPr>
              <a:t>SEP6026AA8F08CD</a:t>
            </a:r>
            <a:endParaRPr lang="en-US" sz="1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Phone label</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Lower-cases the DNS label before the first dot and tests it against "sep" plus twelve hex characters; any other shape returns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"sep6026aa8f08cd" matches sep plus twelve hex characters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MAC rebuilt</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Rebuilds the MAC address from the twelve hex characters in the four spellings the CMDB uses: colon-separated and plain, upper and lower case.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60:26:AA:8F:08:CD, 60:26:aa:8f:08:cd, 6026AA8F08CD, 6026aa8f08cd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Attempt 1: adapter with the MAC</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Network Adapter records whose mac_address is one of the four spellings and that belong to a CI; the rule accepts when exactly one owning CI is an IP Phone record.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0 adapters -&gt; 0 phone owners, next attempt</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network_adapter_list.do?sysparm_query=mac_addressIN60:26:AA:8F:08:CD,60:26:aa:8f:08:cd,6026AA8F08CD,6026aa8f08cd" history="1" highlightClick="0" endSnd="0">
                            <a:extLst>
                              <a:ext uri="{A12FA001-AC4F-418D-AE19-62706E023703}">
                                <ahyp:hlinkClr xmlns:ahyp="http://schemas.microsoft.com/office/drawing/2018/hyperlinkcolor" val="tx"/>
                              </a:ext>
                            </a:extLst>
                          </a:hlinkClick>
                        </a:rPr>
                        <a:t>Network Adapter: mac_addressIN60:26:AA:8F:08:CD,60:26:aa:8f:08:cd,6026AA8F08CD,6026aa8f08cd</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Attempt 2: phone record with the MAC</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IP Phone records whose own mac_address is one of the four spellings, ignored classes left out; exactly one is returned.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SEP6026AA8F08CD [ip_phone] ip 10.188.41.140 -&gt;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ip_phone_list.do?sysparm_query=mac_addressIN60:26:AA:8F:08:CD,60:26:aa:8f:08:cd,6026AA8F08CD,6026aa8f08cd" history="1" highlightClick="0" endSnd="0">
                            <a:extLst>
                              <a:ext uri="{A12FA001-AC4F-418D-AE19-62706E023703}">
                                <ahyp:hlinkClr xmlns:ahyp="http://schemas.microsoft.com/office/drawing/2018/hyperlinkcolor" val="tx"/>
                              </a:ext>
                            </a:extLst>
                          </a:hlinkClick>
                        </a:rPr>
                        <a:t>IP Phone: mac_addressIN60:26:AA:8F:08:CD,60:26:aa:8f:08:cd,6026AA8F08CD,6026aa8f08cd</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ip_phone.do?sys_id=3e7fc2bf3b696210df0f0c54c3e45abd" history="1" highlightClick="0" endSnd="0">
                            <a:extLst>
                              <a:ext uri="{A12FA001-AC4F-418D-AE19-62706E023703}">
                                <ahyp:hlinkClr xmlns:ahyp="http://schemas.microsoft.com/office/drawing/2018/hyperlinkcolor" val="tx"/>
                              </a:ext>
                            </a:extLst>
                          </a:hlinkClick>
                        </a:rPr>
                        <a:t>SEP6026AA8F08CD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Attempt 3: Unified CM device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IP Phone records named with the label in upper case, the Unified CM device name; exactly one is returned.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SEP6026AA8F08CD [ip_phone] ip 10.188.41.140 -&gt;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8" invalidUrl="" action="" tgtFrame="" tooltip="https://bofasecopsdev.service-now.com/cmdb_ci_ip_phone_list.do?sysparm_query=name%3DSEP6026AA8F08CD" history="1" highlightClick="0" endSnd="0">
                            <a:extLst>
                              <a:ext uri="{A12FA001-AC4F-418D-AE19-62706E023703}">
                                <ahyp:hlinkClr xmlns:ahyp="http://schemas.microsoft.com/office/drawing/2018/hyperlinkcolor" val="tx"/>
                              </a:ext>
                            </a:extLst>
                          </a:hlinkClick>
                        </a:rPr>
                        <a:t>IP Phone: name=SEP6026AA8F08CD</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9" invalidUrl="" action="" tgtFrame="" tooltip="https://bofasecopsdev.service-now.com/cmdb_ci_ip_phone.do?sys_id=3e7fc2bf3b696210df0f0c54c3e45abd" history="1" highlightClick="0" endSnd="0">
                            <a:extLst>
                              <a:ext uri="{A12FA001-AC4F-418D-AE19-62706E023703}">
                                <ahyp:hlinkClr xmlns:ahyp="http://schemas.microsoft.com/office/drawing/2018/hyperlinkcolor" val="tx"/>
                              </a:ext>
                            </a:extLst>
                          </a:hlinkClick>
                        </a:rPr>
                        <a:t>SEP6026AA8F08CD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200  ·  CISCO IP PHONE MAC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sep3c26e4a7cb09.ipt.bofa.com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phone mac</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821944"/>
          </a:xfrm>
          <a:prstGeom prst="roundRect">
            <a:avLst>
              <a:gd name="adj" fmla="val 667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309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a:t>
            </a:r>
            <a:endParaRPr lang="en-US" sz="1100" dirty="0"/>
          </a:p>
        </p:txBody>
      </p:sp>
      <p:sp>
        <p:nvSpPr>
          <p:cNvPr id="12" name="Shape 10"/>
          <p:cNvSpPr/>
          <p:nvPr/>
        </p:nvSpPr>
        <p:spPr>
          <a:xfrm>
            <a:off x="502920" y="2413000"/>
            <a:ext cx="2788920" cy="3987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568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2842768"/>
            <a:ext cx="457200" cy="0"/>
          </a:xfrm>
          <a:prstGeom prst="line">
            <a:avLst/>
          </a:prstGeom>
          <a:noFill/>
          <a:ln w="19050">
            <a:solidFill>
              <a:srgbClr val="E31837"/>
            </a:solidFill>
            <a:prstDash val="solid"/>
          </a:ln>
        </p:spPr>
      </p:sp>
      <p:sp>
        <p:nvSpPr>
          <p:cNvPr id="15" name="Text 13"/>
          <p:cNvSpPr txBox="1"/>
          <p:nvPr/>
        </p:nvSpPr>
        <p:spPr>
          <a:xfrm>
            <a:off x="740664" y="2888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SDI000002619434</a:t>
            </a:r>
            <a:endParaRPr lang="en-US" sz="1500" dirty="0"/>
          </a:p>
        </p:txBody>
      </p:sp>
      <p:sp>
        <p:nvSpPr>
          <p:cNvPr id="16" name="Text 14"/>
          <p:cNvSpPr txBox="1"/>
          <p:nvPr/>
        </p:nvSpPr>
        <p:spPr>
          <a:xfrm>
            <a:off x="740664" y="3254248"/>
            <a:ext cx="2313432" cy="243332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sep3c26e4a7cb09.ipt.bofa.com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10.188.95.137</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Cisco IP Phone CP-8861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03:27:03</a:t>
            </a:r>
            <a:endParaRPr lang="en-US" sz="1200" dirty="0"/>
          </a:p>
        </p:txBody>
      </p:sp>
      <p:sp>
        <p:nvSpPr>
          <p:cNvPr id="17" name="Text 15">
            <a:hlinkClick r:id="rId1" tooltip="https://bofasecopsdev.service-now.com/sn_sec_cmn_src_ci_list.do?sysparm_query=number=SDI000002619434"/>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619434"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413000"/>
            <a:ext cx="4745736" cy="3987800"/>
          </a:xfrm>
          <a:prstGeom prst="roundRect">
            <a:avLst>
              <a:gd name="adj" fmla="val 137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568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2842768"/>
            <a:ext cx="457200" cy="0"/>
          </a:xfrm>
          <a:prstGeom prst="line">
            <a:avLst/>
          </a:prstGeom>
          <a:noFill/>
          <a:ln w="19050">
            <a:solidFill>
              <a:srgbClr val="E31837"/>
            </a:solidFill>
            <a:prstDash val="solid"/>
          </a:ln>
        </p:spPr>
      </p:sp>
      <p:sp>
        <p:nvSpPr>
          <p:cNvPr id="21" name="Text 19"/>
          <p:cNvSpPr txBox="1"/>
          <p:nvPr/>
        </p:nvSpPr>
        <p:spPr>
          <a:xfrm>
            <a:off x="3749040" y="2915920"/>
            <a:ext cx="4233672" cy="33294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Phone label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"sep3c26e4a7cb09" matches sep plus twelve hex characters</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MAC rebuilt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3C:26:E4:A7:CB:09, 3c:26:e4:a7:cb:09, 3C26E4A7CB09, 3c26e4a7cb09</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Attempt 1: adapter with the MAC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0 adapters -&gt; 0 phone owners, next attempt</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4   Attempt 2: phone record with the MAC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SEP3C26E4A7CB09 [ip_phone] ip 10.188.95.137 -&gt; exactly one, accepted</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5   Attempt 3: Unified CM device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SEP3C26E4A7CB09 [ip_phone] ip 10.188.95.137 -&gt; exactly one, accepted</a:t>
            </a:r>
            <a:endParaRPr lang="en-US" sz="1300" dirty="0"/>
          </a:p>
        </p:txBody>
      </p:sp>
      <p:sp>
        <p:nvSpPr>
          <p:cNvPr id="22" name="Shape 20"/>
          <p:cNvSpPr/>
          <p:nvPr/>
        </p:nvSpPr>
        <p:spPr>
          <a:xfrm>
            <a:off x="8439912" y="2413000"/>
            <a:ext cx="3246120" cy="398780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577592"/>
            <a:ext cx="64008" cy="3658616"/>
          </a:xfrm>
          <a:prstGeom prst="rect">
            <a:avLst/>
          </a:prstGeom>
          <a:solidFill>
            <a:srgbClr val="E31837"/>
          </a:solidFill>
          <a:ln w="12700">
            <a:solidFill>
              <a:srgbClr val="333333"/>
            </a:solidFill>
            <a:prstDash val="solid"/>
          </a:ln>
        </p:spPr>
      </p:sp>
      <p:sp>
        <p:nvSpPr>
          <p:cNvPr id="24" name="Text 22"/>
          <p:cNvSpPr txBox="1"/>
          <p:nvPr/>
        </p:nvSpPr>
        <p:spPr>
          <a:xfrm>
            <a:off x="8714232" y="2568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2842768"/>
            <a:ext cx="457200" cy="0"/>
          </a:xfrm>
          <a:prstGeom prst="line">
            <a:avLst/>
          </a:prstGeom>
          <a:noFill/>
          <a:ln w="19050">
            <a:solidFill>
              <a:srgbClr val="E31837"/>
            </a:solidFill>
            <a:prstDash val="solid"/>
          </a:ln>
        </p:spPr>
      </p:sp>
      <p:sp>
        <p:nvSpPr>
          <p:cNvPr id="26" name="Text 24"/>
          <p:cNvSpPr txBox="1"/>
          <p:nvPr/>
        </p:nvSpPr>
        <p:spPr>
          <a:xfrm>
            <a:off x="8714232" y="28884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SEP3C26E4A7CB09</a:t>
            </a:r>
            <a:endParaRPr lang="en-US" sz="1500" dirty="0"/>
          </a:p>
        </p:txBody>
      </p:sp>
      <p:sp>
        <p:nvSpPr>
          <p:cNvPr id="27" name="Text 25"/>
          <p:cNvSpPr txBox="1"/>
          <p:nvPr/>
        </p:nvSpPr>
        <p:spPr>
          <a:xfrm>
            <a:off x="8714232" y="3208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IP Phone</a:t>
            </a:r>
            <a:endParaRPr lang="en-US" sz="1100" dirty="0"/>
          </a:p>
        </p:txBody>
      </p:sp>
      <p:sp>
        <p:nvSpPr>
          <p:cNvPr id="28" name="Text 26"/>
          <p:cNvSpPr txBox="1"/>
          <p:nvPr/>
        </p:nvSpPr>
        <p:spPr>
          <a:xfrm>
            <a:off x="8714232" y="3528568"/>
            <a:ext cx="2715768" cy="21590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10.188.95.137</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FCH263122ZJ</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MAC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3c:26:e4:a7:cb:09</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Cisco Systems, Inc. IP Phone 8800 Series 8861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ip_phone.do?sys_id=57a9c2b33be56210df0f0c54c3e45a65"/>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57a9c2b33be56210df0f0c54c3e45a65"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200  ·  CISCO IP PHONE MAC  ·  EXAMPLE 3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sep3c26e4a7cb09.ipt.bofa.com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75520da63bbe43180e435c8a04e45a2d" history="1" highlightClick="0" endSnd="0">
                  <a:extLst>
                    <a:ext uri="{A12FA001-AC4F-418D-AE19-62706E023703}">
                      <ahyp:hlinkClr xmlns:ahyp="http://schemas.microsoft.com/office/drawing/2018/hyperlinkcolor" val="tx"/>
                    </a:ext>
                  </a:extLst>
                </a:hlinkClick>
              </a:rPr>
              <a:t>SDI000002619434</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715e000f47224710a1a9295b416d4302" history="1" highlightClick="0" endSnd="0">
                  <a:extLst>
                    <a:ext uri="{A12FA001-AC4F-418D-AE19-62706E023703}">
                      <ahyp:hlinkClr xmlns:ahyp="http://schemas.microsoft.com/office/drawing/2018/hyperlinkcolor" val="tx"/>
                    </a:ext>
                  </a:extLst>
                </a:hlinkClick>
              </a:rPr>
              <a:t>BOFA Cisco IP Phone MAC</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ip_phone.do?sys_id=57a9c2b33be56210df0f0c54c3e45a65" history="1" highlightClick="0" endSnd="0">
                  <a:extLst>
                    <a:ext uri="{A12FA001-AC4F-418D-AE19-62706E023703}">
                      <ahyp:hlinkClr xmlns:ahyp="http://schemas.microsoft.com/office/drawing/2018/hyperlinkcolor" val="tx"/>
                    </a:ext>
                  </a:extLst>
                </a:hlinkClick>
              </a:rPr>
              <a:t>SEP3C26E4A7CB09</a:t>
            </a:r>
            <a:endParaRPr lang="en-US" sz="1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Phone label</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Lower-cases the DNS label before the first dot and tests it against "sep" plus twelve hex characters; any other shape returns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"sep3c26e4a7cb09" matches sep plus twelve hex characters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MAC rebuilt</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Rebuilds the MAC address from the twelve hex characters in the four spellings the CMDB uses: colon-separated and plain, upper and lower case.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3C:26:E4:A7:CB:09, 3c:26:e4:a7:cb:09, 3C26E4A7CB09, 3c26e4a7cb09</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Attempt 1: adapter with the MAC</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Network Adapter records whose mac_address is one of the four spellings and that belong to a CI; the rule accepts when exactly one owning CI is an IP Phone record.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0 adapters -&gt; 0 phone owners, next attempt</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network_adapter_list.do?sysparm_query=mac_addressIN3C:26:E4:A7:CB:09,3c:26:e4:a7:cb:09,3C26E4A7CB09,3c26e4a7cb09" history="1" highlightClick="0" endSnd="0">
                            <a:extLst>
                              <a:ext uri="{A12FA001-AC4F-418D-AE19-62706E023703}">
                                <ahyp:hlinkClr xmlns:ahyp="http://schemas.microsoft.com/office/drawing/2018/hyperlinkcolor" val="tx"/>
                              </a:ext>
                            </a:extLst>
                          </a:hlinkClick>
                        </a:rPr>
                        <a:t>Network Adapter: mac_addressIN3C:26:E4:A7:CB:09,3c:26:e4:a7:cb:09,3C26E4A7CB09,3c26e4a7cb09</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Attempt 2: phone record with the MAC</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IP Phone records whose own mac_address is one of the four spellings, ignored classes left out; exactly one is returned.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SEP3C26E4A7CB09 [ip_phone] ip 10.188.95.137 -&gt;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ip_phone_list.do?sysparm_query=mac_addressIN3C:26:E4:A7:CB:09,3c:26:e4:a7:cb:09,3C26E4A7CB09,3c26e4a7cb09" history="1" highlightClick="0" endSnd="0">
                            <a:extLst>
                              <a:ext uri="{A12FA001-AC4F-418D-AE19-62706E023703}">
                                <ahyp:hlinkClr xmlns:ahyp="http://schemas.microsoft.com/office/drawing/2018/hyperlinkcolor" val="tx"/>
                              </a:ext>
                            </a:extLst>
                          </a:hlinkClick>
                        </a:rPr>
                        <a:t>IP Phone: mac_addressIN3C:26:E4:A7:CB:09,3c:26:e4:a7:cb:09,3C26E4A7CB09,3c26e4a7cb09</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ip_phone.do?sys_id=57a9c2b33be56210df0f0c54c3e45a65" history="1" highlightClick="0" endSnd="0">
                            <a:extLst>
                              <a:ext uri="{A12FA001-AC4F-418D-AE19-62706E023703}">
                                <ahyp:hlinkClr xmlns:ahyp="http://schemas.microsoft.com/office/drawing/2018/hyperlinkcolor" val="tx"/>
                              </a:ext>
                            </a:extLst>
                          </a:hlinkClick>
                        </a:rPr>
                        <a:t>SEP3C26E4A7CB09</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Attempt 3: Unified CM device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IP Phone records named with the label in upper case, the Unified CM device name; exactly one is returned.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SEP3C26E4A7CB09 [ip_phone] ip 10.188.95.137 -&gt;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8" invalidUrl="" action="" tgtFrame="" tooltip="https://bofasecopsdev.service-now.com/cmdb_ci_ip_phone_list.do?sysparm_query=name%3DSEP3C26E4A7CB09" history="1" highlightClick="0" endSnd="0">
                            <a:extLst>
                              <a:ext uri="{A12FA001-AC4F-418D-AE19-62706E023703}">
                                <ahyp:hlinkClr xmlns:ahyp="http://schemas.microsoft.com/office/drawing/2018/hyperlinkcolor" val="tx"/>
                              </a:ext>
                            </a:extLst>
                          </a:hlinkClick>
                        </a:rPr>
                        <a:t>IP Phone: name=SEP3C26E4A7CB09</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9" invalidUrl="" action="" tgtFrame="" tooltip="https://bofasecopsdev.service-now.com/cmdb_ci_ip_phone.do?sys_id=57a9c2b33be56210df0f0c54c3e45a65" history="1" highlightClick="0" endSnd="0">
                            <a:extLst>
                              <a:ext uri="{A12FA001-AC4F-418D-AE19-62706E023703}">
                                <ahyp:hlinkClr xmlns:ahyp="http://schemas.microsoft.com/office/drawing/2018/hyperlinkcolor" val="tx"/>
                              </a:ext>
                            </a:extLst>
                          </a:hlinkClick>
                        </a:rPr>
                        <a:t>SEP3C26E4A7CB09</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250  ·  NAME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706880"/>
          </a:xfrm>
          <a:prstGeom prst="roundRect">
            <a:avLst>
              <a:gd name="adj" fmla="val 321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3776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0668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an exact fqdn value on a CI, but only inside the CMDB class the scanned OS text implies (sub-classes included), so a Red Hat host can never land on a Windows Server that carries the same fqdn.</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is the first name rule because an exact fqdn is the most precise name identifier available once the serial number and Cisco phone rules have declined.</a:t>
            </a:r>
            <a:endParaRPr lang="en-US" sz="1500" dirty="0"/>
          </a:p>
        </p:txBody>
      </p:sp>
      <p:sp>
        <p:nvSpPr>
          <p:cNvPr id="13" name="Shape 11"/>
          <p:cNvSpPr/>
          <p:nvPr/>
        </p:nvSpPr>
        <p:spPr>
          <a:xfrm>
            <a:off x="502920" y="3380232"/>
            <a:ext cx="6933529" cy="2352040"/>
          </a:xfrm>
          <a:prstGeom prst="roundRect">
            <a:avLst>
              <a:gd name="adj" fmla="val 2333"/>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5631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3837432"/>
            <a:ext cx="457200" cy="0"/>
          </a:xfrm>
          <a:prstGeom prst="line">
            <a:avLst/>
          </a:prstGeom>
          <a:noFill/>
          <a:ln w="19050">
            <a:solidFill>
              <a:srgbClr val="E31837"/>
            </a:solidFill>
            <a:prstDash val="solid"/>
          </a:ln>
        </p:spPr>
      </p:sp>
      <p:sp>
        <p:nvSpPr>
          <p:cNvPr id="16" name="Text 14"/>
          <p:cNvSpPr txBox="1"/>
          <p:nvPr/>
        </p:nvSpPr>
        <p:spPr>
          <a:xfrm>
            <a:off x="822960" y="3928872"/>
            <a:ext cx="6293449" cy="162052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DNS (sourceValue). Payload fields: OS (through classFor, decides the search table) and IP (tie-break between duplicate fqdn rows only).</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CI of the OS class whose fqdn equals the scanned name; when several carry it, the one whose ip_address equals the scanned IP; null in every other case.</a:t>
            </a:r>
            <a:endParaRPr lang="en-US" sz="1400" dirty="0"/>
          </a:p>
        </p:txBody>
      </p:sp>
      <p:sp>
        <p:nvSpPr>
          <p:cNvPr id="17" name="Shape 15"/>
          <p:cNvSpPr/>
          <p:nvPr/>
        </p:nvSpPr>
        <p:spPr>
          <a:xfrm>
            <a:off x="7665049" y="3380232"/>
            <a:ext cx="4020983" cy="2352040"/>
          </a:xfrm>
          <a:prstGeom prst="roundRect">
            <a:avLst>
              <a:gd name="adj" fmla="val 2333"/>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5631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3837432"/>
            <a:ext cx="457200" cy="0"/>
          </a:xfrm>
          <a:prstGeom prst="line">
            <a:avLst/>
          </a:prstGeom>
          <a:noFill/>
          <a:ln w="19050">
            <a:solidFill>
              <a:srgbClr val="E31837"/>
            </a:solidFill>
            <a:prstDash val="solid"/>
          </a:ln>
        </p:spPr>
      </p:sp>
      <p:sp>
        <p:nvSpPr>
          <p:cNvPr id="20" name="Text 18"/>
          <p:cNvSpPr txBox="1"/>
          <p:nvPr/>
        </p:nvSpPr>
        <p:spPr>
          <a:xfrm>
            <a:off x="7985089" y="3928872"/>
            <a:ext cx="3380903" cy="61468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Cisco IP Phone MAC</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FQDN Hardware Match</a:t>
            </a:r>
            <a:endParaRPr lang="en-US" sz="1300" dirty="0"/>
          </a:p>
        </p:txBody>
      </p:sp>
      <p:sp>
        <p:nvSpPr>
          <p:cNvPr id="21" name="Text 19"/>
          <p:cNvSpPr txBox="1"/>
          <p:nvPr/>
        </p:nvSpPr>
        <p:spPr>
          <a:xfrm>
            <a:off x="7985089" y="463499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298,764</a:t>
            </a:r>
            <a:endParaRPr lang="en-US" sz="2800" dirty="0"/>
          </a:p>
        </p:txBody>
      </p:sp>
      <p:sp>
        <p:nvSpPr>
          <p:cNvPr id="22" name="Text 20"/>
          <p:cNvSpPr txBox="1"/>
          <p:nvPr/>
        </p:nvSpPr>
        <p:spPr>
          <a:xfrm>
            <a:off x="7985089" y="520192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250  ·  NAME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6048"/>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7408"/>
          </a:xfrm>
          <a:prstGeom prst="rect">
            <a:avLst/>
          </a:prstGeom>
          <a:noFill/>
          <a:ln/>
        </p:spPr>
        <p:txBody>
          <a:bodyPr wrap="square" lIns="0" tIns="0" rIns="0" bIns="0" rtlCol="0" anchor="t"/>
          <a:lstStyle/>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1   Guard and normalise the DNS value.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2   Require a dotted name.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3   Read the scanned IP for the tie-break only.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ip is '' + sourcePayload.IP when the payload carries a non-empty IP, otherwise ''. It is never a search key; it only separates duplicate fqdn rows later.</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4   Build the ignored-class list.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5   Derive the class from the scanned OS.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classFor(sourcePayload.OS) returns '' for an absent OS; else it lower-cases the string, returns '' when splitting on '/' yields more than two parts, then tests fixed substrings in order (esx, windows, aix, ...). An empty result returns null before any query.</a:t>
            </a:r>
            <a:endParaRPr lang="en-US" sz="1250" dirty="0"/>
          </a:p>
        </p:txBody>
      </p:sp>
      <p:sp>
        <p:nvSpPr>
          <p:cNvPr id="10" name="Text 8"/>
          <p:cNvSpPr txBox="1"/>
          <p:nvPr/>
        </p:nvSpPr>
        <p:spPr>
          <a:xfrm>
            <a:off x="6277356" y="1746504"/>
            <a:ext cx="5088636" cy="4407408"/>
          </a:xfrm>
          <a:prstGeom prst="rect">
            <a:avLst/>
          </a:prstGeom>
          <a:noFill/>
          <a:ln/>
        </p:spPr>
        <p:txBody>
          <a:bodyPr wrap="square" lIns="0" tIns="0" rIns="0" bIns="0" rtlCol="0" anchor="t"/>
          <a:lstStyle/>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6   Query the OS class for the exact fqdn.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GlideRecord on the class table classFor returned (null when isValid() is false), addQuery('fqdn', normalised name), the NOT IN ignore condition when set, then query(). Sub-classes come in through the table hierarchy; no setLimit.</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7   Collect every hit and every IP-confirmed hit.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while (gr.next()): each sys_id (getUniqueValue) is pushed to ids; when ip is non-empty and gr.getValue('ip_address') equals ip as a plain string, with no normalisation of the CI value, the sys_id is also pushed to ipHits. All rows are read.</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8   Decide exactly one.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ids.length 1 returns that sys_id. ids.length above 1 with ipHits.length exactly 1 returns the IP-confirmed sys_id. Every other outcome (no row; duplicates where none or several carry the scanned IP) returns null rather than guessing.</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9   No retired, twin or agreement handling.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The script tests neither install_status nor operational_status and never compares the CI's sys_class_name with the OS class after the query: a retired CI with the same fqdn is an ordinary duplicate that only the IP can separate.</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250  ·  NAME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063240"/>
          </a:xfrm>
          <a:prstGeom prst="roundRect">
            <a:avLst>
              <a:gd name="adj" fmla="val 1791"/>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7340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4231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 or absent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normalised DNS value contains no '.' (a bare hostname)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ClassFor(OS) returns '': OS absent, OS with more than two '/'-separated parts, or no keyword found in the OS text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class table classFor named is not a valid table (gr.isValid() is false)</a:t>
            </a:r>
            <a:endParaRPr lang="en-US" sz="1500" dirty="0"/>
          </a:p>
        </p:txBody>
      </p:sp>
      <p:sp>
        <p:nvSpPr>
          <p:cNvPr id="13" name="Text 11"/>
          <p:cNvSpPr txBox="1"/>
          <p:nvPr/>
        </p:nvSpPr>
        <p:spPr>
          <a:xfrm>
            <a:off x="6277356" y="1975104"/>
            <a:ext cx="5088636" cy="24231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CI of that class outside the ignored classes carries the scanned name in fqdn</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CIs carry the fqdn and the payload has no IP</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CIs carry the fqdn and none of them has ip_address equal to the scanned IP</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CIs carry the fqdn and two or more of them have ip_address equal to the scanned IP</a:t>
            </a:r>
            <a:endParaRPr lang="en-US" sz="1500" dirty="0"/>
          </a:p>
        </p:txBody>
      </p:sp>
      <p:sp>
        <p:nvSpPr>
          <p:cNvPr id="14" name="Shape 12"/>
          <p:cNvSpPr/>
          <p:nvPr/>
        </p:nvSpPr>
        <p:spPr>
          <a:xfrm>
            <a:off x="502920" y="47365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7365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FQDN Hardware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250  ·  FQDN CLASS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wrdne67svtsrv.bankofamerica.com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win_server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821944"/>
          </a:xfrm>
          <a:prstGeom prst="roundRect">
            <a:avLst>
              <a:gd name="adj" fmla="val 667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309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"wrdne67svtsrv" is not sep + 12 hex)</a:t>
            </a:r>
            <a:endParaRPr lang="en-US" sz="1100" dirty="0"/>
          </a:p>
        </p:txBody>
      </p:sp>
      <p:sp>
        <p:nvSpPr>
          <p:cNvPr id="12" name="Shape 10"/>
          <p:cNvSpPr/>
          <p:nvPr/>
        </p:nvSpPr>
        <p:spPr>
          <a:xfrm>
            <a:off x="502920" y="2413000"/>
            <a:ext cx="2788920" cy="3987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568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2842768"/>
            <a:ext cx="457200" cy="0"/>
          </a:xfrm>
          <a:prstGeom prst="line">
            <a:avLst/>
          </a:prstGeom>
          <a:noFill/>
          <a:ln w="19050">
            <a:solidFill>
              <a:srgbClr val="E31837"/>
            </a:solidFill>
            <a:prstDash val="solid"/>
          </a:ln>
        </p:spPr>
      </p:sp>
      <p:sp>
        <p:nvSpPr>
          <p:cNvPr id="15" name="Text 13"/>
          <p:cNvSpPr txBox="1"/>
          <p:nvPr/>
        </p:nvSpPr>
        <p:spPr>
          <a:xfrm>
            <a:off x="740664" y="2888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SDI000002151366</a:t>
            </a:r>
            <a:endParaRPr lang="en-US" sz="1500" dirty="0"/>
          </a:p>
        </p:txBody>
      </p:sp>
      <p:sp>
        <p:nvSpPr>
          <p:cNvPr id="16" name="Text 14"/>
          <p:cNvSpPr txBox="1"/>
          <p:nvPr/>
        </p:nvSpPr>
        <p:spPr>
          <a:xfrm>
            <a:off x="740664" y="3254248"/>
            <a:ext cx="2313432" cy="243332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wrdne67svtsrv.bankofamerica.com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171.206.171.82</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Windows Server 2016 Standard 64 bit Edition Version 1607</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WRDNE67SVTSRV</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06:07:36</a:t>
            </a:r>
            <a:endParaRPr lang="en-US" sz="1200" dirty="0"/>
          </a:p>
        </p:txBody>
      </p:sp>
      <p:sp>
        <p:nvSpPr>
          <p:cNvPr id="17" name="Text 15">
            <a:hlinkClick r:id="rId1" tooltip="https://bofasecopsdev.service-now.com/sn_sec_cmn_src_ci_list.do?sysparm_query=number=SDI000002151366"/>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15136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413000"/>
            <a:ext cx="4745736" cy="3987800"/>
          </a:xfrm>
          <a:prstGeom prst="roundRect">
            <a:avLst>
              <a:gd name="adj" fmla="val 137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568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2842768"/>
            <a:ext cx="457200" cy="0"/>
          </a:xfrm>
          <a:prstGeom prst="line">
            <a:avLst/>
          </a:prstGeom>
          <a:noFill/>
          <a:ln w="19050">
            <a:solidFill>
              <a:srgbClr val="E31837"/>
            </a:solidFill>
            <a:prstDash val="solid"/>
          </a:ln>
        </p:spPr>
      </p:sp>
      <p:sp>
        <p:nvSpPr>
          <p:cNvPr id="21" name="Text 19"/>
          <p:cNvSpPr txBox="1"/>
          <p:nvPr/>
        </p:nvSpPr>
        <p:spPr>
          <a:xfrm>
            <a:off x="3749040" y="2915920"/>
            <a:ext cx="4233672" cy="33294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"wrdne67svtsrv.bankofamerica.com"; OS "Windows Server 2016 Standard 64 bit Edition Version 1607" gives the class win_server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fqdn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wrdne67svtsrv [win_server] ip 171.206.171.82 -&gt; exactly one, accepted</a:t>
            </a:r>
            <a:endParaRPr lang="en-US" sz="1300" dirty="0"/>
          </a:p>
        </p:txBody>
      </p:sp>
      <p:sp>
        <p:nvSpPr>
          <p:cNvPr id="22" name="Shape 20"/>
          <p:cNvSpPr/>
          <p:nvPr/>
        </p:nvSpPr>
        <p:spPr>
          <a:xfrm>
            <a:off x="8439912" y="2413000"/>
            <a:ext cx="3246120" cy="398780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577592"/>
            <a:ext cx="64008" cy="3658616"/>
          </a:xfrm>
          <a:prstGeom prst="rect">
            <a:avLst/>
          </a:prstGeom>
          <a:solidFill>
            <a:srgbClr val="E31837"/>
          </a:solidFill>
          <a:ln w="12700">
            <a:solidFill>
              <a:srgbClr val="333333"/>
            </a:solidFill>
            <a:prstDash val="solid"/>
          </a:ln>
        </p:spPr>
      </p:sp>
      <p:sp>
        <p:nvSpPr>
          <p:cNvPr id="24" name="Text 22"/>
          <p:cNvSpPr txBox="1"/>
          <p:nvPr/>
        </p:nvSpPr>
        <p:spPr>
          <a:xfrm>
            <a:off x="8714232" y="2568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2842768"/>
            <a:ext cx="457200" cy="0"/>
          </a:xfrm>
          <a:prstGeom prst="line">
            <a:avLst/>
          </a:prstGeom>
          <a:noFill/>
          <a:ln w="19050">
            <a:solidFill>
              <a:srgbClr val="E31837"/>
            </a:solidFill>
            <a:prstDash val="solid"/>
          </a:ln>
        </p:spPr>
      </p:sp>
      <p:sp>
        <p:nvSpPr>
          <p:cNvPr id="26" name="Text 24"/>
          <p:cNvSpPr txBox="1"/>
          <p:nvPr/>
        </p:nvSpPr>
        <p:spPr>
          <a:xfrm>
            <a:off x="8714232" y="28884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wrdne67svtsrv</a:t>
            </a:r>
            <a:endParaRPr lang="en-US" sz="1500" dirty="0"/>
          </a:p>
        </p:txBody>
      </p:sp>
      <p:sp>
        <p:nvSpPr>
          <p:cNvPr id="27" name="Text 25"/>
          <p:cNvSpPr txBox="1"/>
          <p:nvPr/>
        </p:nvSpPr>
        <p:spPr>
          <a:xfrm>
            <a:off x="8714232" y="3208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Windows Server</a:t>
            </a:r>
            <a:endParaRPr lang="en-US" sz="1100" dirty="0"/>
          </a:p>
        </p:txBody>
      </p:sp>
      <p:sp>
        <p:nvSpPr>
          <p:cNvPr id="28" name="Text 26"/>
          <p:cNvSpPr txBox="1"/>
          <p:nvPr/>
        </p:nvSpPr>
        <p:spPr>
          <a:xfrm>
            <a:off x="8714232" y="3528568"/>
            <a:ext cx="2715768" cy="21590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wrdne67svtsrv.bankofamerica.com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171.206.171.82</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VMware-42 06 ac f5 2d c4 52 26-24 14 b8 b2 8c 6d ee 91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VMware, Inc. VMware Virtual Platform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win_server.do?sys_id=2127d1bb3bd8ea90d5062b64c3e45ab9"/>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2127d1bb3bd8ea90d5062b64c3e45ab9"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250  ·  FQDN CLASS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wrdne67svtsrv.bankofamerica.com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3251e706ebb6c714017ff4d7cad0cd1c" history="1" highlightClick="0" endSnd="0">
                  <a:extLst>
                    <a:ext uri="{A12FA001-AC4F-418D-AE19-62706E023703}">
                      <ahyp:hlinkClr xmlns:ahyp="http://schemas.microsoft.com/office/drawing/2018/hyperlinkcolor" val="tx"/>
                    </a:ext>
                  </a:extLst>
                </a:hlinkClick>
              </a:rPr>
              <a:t>SDI000002151366</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3804208b47624710a1a9295b416d437e" history="1" highlightClick="0" endSnd="0">
                  <a:extLst>
                    <a:ext uri="{A12FA001-AC4F-418D-AE19-62706E023703}">
                      <ahyp:hlinkClr xmlns:ahyp="http://schemas.microsoft.com/office/drawing/2018/hyperlinkcolor" val="tx"/>
                    </a:ext>
                  </a:extLst>
                </a:hlinkClick>
              </a:rPr>
              <a:t>BOFA FQDN Class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win_server.do?sys_id=2127d1bb3bd8ea90d5062b64c3e45ab9" history="1" highlightClick="0" endSnd="0">
                  <a:extLst>
                    <a:ext uri="{A12FA001-AC4F-418D-AE19-62706E023703}">
                      <ahyp:hlinkClr xmlns:ahyp="http://schemas.microsoft.com/office/drawing/2018/hyperlinkcolor" val="tx"/>
                    </a:ext>
                  </a:extLst>
                </a:hlinkClick>
              </a:rPr>
              <a:t>wrdne67svtsrv</a:t>
            </a:r>
            <a:endParaRPr lang="en-US" sz="1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Lower-cases and trims the DNS name; a name without a dot is refused. classFor(sourcePayload.OS) turns the OS text "Windows Server 2016 Standard 64 bit Edition Version 1607" into the CMDB class the search is limited to, sub-classes included; no class means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"wrdne67svtsrv.bankofamerica.com"; OS "Windows Server 2016 Standard 64 bit Edition Version 1607" gives the class win_server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fqdn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fqdn equal to the DNS name, ignored classes left out. One row is returned; among several rows the one whose ip_address equals the scanned IP is taken when exactly one does, else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wrdne67svtsrv [win_server] ip 171.206.171.82 -&gt;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win_server_list.do?sysparm_query=fqdn%3Dwrdne67svtsrv.bankofamerica.com" history="1" highlightClick="0" endSnd="0">
                            <a:extLst>
                              <a:ext uri="{A12FA001-AC4F-418D-AE19-62706E023703}">
                                <ahyp:hlinkClr xmlns:ahyp="http://schemas.microsoft.com/office/drawing/2018/hyperlinkcolor" val="tx"/>
                              </a:ext>
                            </a:extLst>
                          </a:hlinkClick>
                        </a:rPr>
                        <a:t>win server: fqdn=wrdne67svtsrv.bankofamerica.com</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win_server.do?sys_id=2127d1bb3bd8ea90d5062b64c3e45ab9" history="1" highlightClick="0" endSnd="0">
                            <a:extLst>
                              <a:ext uri="{A12FA001-AC4F-418D-AE19-62706E023703}">
                                <ahyp:hlinkClr xmlns:ahyp="http://schemas.microsoft.com/office/drawing/2018/hyperlinkcolor" val="tx"/>
                              </a:ext>
                            </a:extLst>
                          </a:hlinkClick>
                        </a:rPr>
                        <a:t>wrdne67svtsrv</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250  ·  FQDN CLASS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lrdnab68xsdi008.sdi.corp.bankofamerica.com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linux_server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821944"/>
          </a:xfrm>
          <a:prstGeom prst="roundRect">
            <a:avLst>
              <a:gd name="adj" fmla="val 667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309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"lrdnab68xsdi008" is not sep + 12 hex)</a:t>
            </a:r>
            <a:endParaRPr lang="en-US" sz="1100" dirty="0"/>
          </a:p>
        </p:txBody>
      </p:sp>
      <p:sp>
        <p:nvSpPr>
          <p:cNvPr id="12" name="Shape 10"/>
          <p:cNvSpPr/>
          <p:nvPr/>
        </p:nvSpPr>
        <p:spPr>
          <a:xfrm>
            <a:off x="502920" y="2413000"/>
            <a:ext cx="2788920" cy="3987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568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2842768"/>
            <a:ext cx="457200" cy="0"/>
          </a:xfrm>
          <a:prstGeom prst="line">
            <a:avLst/>
          </a:prstGeom>
          <a:noFill/>
          <a:ln w="19050">
            <a:solidFill>
              <a:srgbClr val="E31837"/>
            </a:solidFill>
            <a:prstDash val="solid"/>
          </a:ln>
        </p:spPr>
      </p:sp>
      <p:sp>
        <p:nvSpPr>
          <p:cNvPr id="15" name="Text 13"/>
          <p:cNvSpPr txBox="1"/>
          <p:nvPr/>
        </p:nvSpPr>
        <p:spPr>
          <a:xfrm>
            <a:off x="740664" y="2888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SDI000003676655</a:t>
            </a:r>
            <a:endParaRPr lang="en-US" sz="1500" dirty="0"/>
          </a:p>
        </p:txBody>
      </p:sp>
      <p:sp>
        <p:nvSpPr>
          <p:cNvPr id="16" name="Text 14"/>
          <p:cNvSpPr txBox="1"/>
          <p:nvPr/>
        </p:nvSpPr>
        <p:spPr>
          <a:xfrm>
            <a:off x="740664" y="3254248"/>
            <a:ext cx="2313432" cy="243332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lrdnab68xsdi008.sdi.corp.bankofamerica.com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30.164.8.51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Red Hat Enterprise Linux CoreOS 4.18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06:07:36</a:t>
            </a:r>
            <a:endParaRPr lang="en-US" sz="1200" dirty="0"/>
          </a:p>
        </p:txBody>
      </p:sp>
      <p:sp>
        <p:nvSpPr>
          <p:cNvPr id="17" name="Text 15">
            <a:hlinkClick r:id="rId1" tooltip="https://bofasecopsdev.service-now.com/sn_sec_cmn_src_ci_list.do?sysparm_query=number=SDI000003676655"/>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7665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413000"/>
            <a:ext cx="4745736" cy="3987800"/>
          </a:xfrm>
          <a:prstGeom prst="roundRect">
            <a:avLst>
              <a:gd name="adj" fmla="val 137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568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2842768"/>
            <a:ext cx="457200" cy="0"/>
          </a:xfrm>
          <a:prstGeom prst="line">
            <a:avLst/>
          </a:prstGeom>
          <a:noFill/>
          <a:ln w="19050">
            <a:solidFill>
              <a:srgbClr val="E31837"/>
            </a:solidFill>
            <a:prstDash val="solid"/>
          </a:ln>
        </p:spPr>
      </p:sp>
      <p:sp>
        <p:nvSpPr>
          <p:cNvPr id="21" name="Text 19"/>
          <p:cNvSpPr txBox="1"/>
          <p:nvPr/>
        </p:nvSpPr>
        <p:spPr>
          <a:xfrm>
            <a:off x="3749040" y="2915920"/>
            <a:ext cx="4233672" cy="33294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"lrdnab68xsdi008.sdi.corp.bankofamerica.com"; OS "Red Hat Enterprise Linux CoreOS 4.18" gives the class linux_server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fqdn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lrdnab68xsdi008 [linux_server] ip 30.164.8.51 -&gt; exactly one, accepted</a:t>
            </a:r>
            <a:endParaRPr lang="en-US" sz="1300" dirty="0"/>
          </a:p>
        </p:txBody>
      </p:sp>
      <p:sp>
        <p:nvSpPr>
          <p:cNvPr id="22" name="Shape 20"/>
          <p:cNvSpPr/>
          <p:nvPr/>
        </p:nvSpPr>
        <p:spPr>
          <a:xfrm>
            <a:off x="8439912" y="2413000"/>
            <a:ext cx="3246120" cy="398780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577592"/>
            <a:ext cx="64008" cy="3658616"/>
          </a:xfrm>
          <a:prstGeom prst="rect">
            <a:avLst/>
          </a:prstGeom>
          <a:solidFill>
            <a:srgbClr val="E31837"/>
          </a:solidFill>
          <a:ln w="12700">
            <a:solidFill>
              <a:srgbClr val="333333"/>
            </a:solidFill>
            <a:prstDash val="solid"/>
          </a:ln>
        </p:spPr>
      </p:sp>
      <p:sp>
        <p:nvSpPr>
          <p:cNvPr id="24" name="Text 22"/>
          <p:cNvSpPr txBox="1"/>
          <p:nvPr/>
        </p:nvSpPr>
        <p:spPr>
          <a:xfrm>
            <a:off x="8714232" y="2568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2842768"/>
            <a:ext cx="457200" cy="0"/>
          </a:xfrm>
          <a:prstGeom prst="line">
            <a:avLst/>
          </a:prstGeom>
          <a:noFill/>
          <a:ln w="19050">
            <a:solidFill>
              <a:srgbClr val="E31837"/>
            </a:solidFill>
            <a:prstDash val="solid"/>
          </a:ln>
        </p:spPr>
      </p:sp>
      <p:sp>
        <p:nvSpPr>
          <p:cNvPr id="26" name="Text 24"/>
          <p:cNvSpPr txBox="1"/>
          <p:nvPr/>
        </p:nvSpPr>
        <p:spPr>
          <a:xfrm>
            <a:off x="8714232" y="28884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lrdnab68xsdi008</a:t>
            </a:r>
            <a:endParaRPr lang="en-US" sz="1500" dirty="0"/>
          </a:p>
        </p:txBody>
      </p:sp>
      <p:sp>
        <p:nvSpPr>
          <p:cNvPr id="27" name="Text 25"/>
          <p:cNvSpPr txBox="1"/>
          <p:nvPr/>
        </p:nvSpPr>
        <p:spPr>
          <a:xfrm>
            <a:off x="8714232" y="3208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Linux Server</a:t>
            </a:r>
            <a:endParaRPr lang="en-US" sz="1100" dirty="0"/>
          </a:p>
        </p:txBody>
      </p:sp>
      <p:sp>
        <p:nvSpPr>
          <p:cNvPr id="28" name="Text 26"/>
          <p:cNvSpPr txBox="1"/>
          <p:nvPr/>
        </p:nvSpPr>
        <p:spPr>
          <a:xfrm>
            <a:off x="8714232" y="3528568"/>
            <a:ext cx="2715768" cy="21590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lrdnab68xsdi008.sdi.corp.bankofamerica.com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30.164.8.51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1VBSVM3</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Dell Inc. POWEREDGE R640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linux_server.do?sys_id=0873ca94fbf0ee502fe7f7ad5eefdc48"/>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0873ca94fbf0ee502fe7f7ad5eefdc48"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250  ·  FQDN CLASS MATCH  ·  EXAMPLE 2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lrdnab68xsdi008.sdi.corp.bankofamerica.com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c2ece9493b1307d02fcecefe23e45aa6" history="1" highlightClick="0" endSnd="0">
                  <a:extLst>
                    <a:ext uri="{A12FA001-AC4F-418D-AE19-62706E023703}">
                      <ahyp:hlinkClr xmlns:ahyp="http://schemas.microsoft.com/office/drawing/2018/hyperlinkcolor" val="tx"/>
                    </a:ext>
                  </a:extLst>
                </a:hlinkClick>
              </a:rPr>
              <a:t>SDI000003676655</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3804208b47624710a1a9295b416d437e" history="1" highlightClick="0" endSnd="0">
                  <a:extLst>
                    <a:ext uri="{A12FA001-AC4F-418D-AE19-62706E023703}">
                      <ahyp:hlinkClr xmlns:ahyp="http://schemas.microsoft.com/office/drawing/2018/hyperlinkcolor" val="tx"/>
                    </a:ext>
                  </a:extLst>
                </a:hlinkClick>
              </a:rPr>
              <a:t>BOFA FQDN Class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linux_server.do?sys_id=0873ca94fbf0ee502fe7f7ad5eefdc48" history="1" highlightClick="0" endSnd="0">
                  <a:extLst>
                    <a:ext uri="{A12FA001-AC4F-418D-AE19-62706E023703}">
                      <ahyp:hlinkClr xmlns:ahyp="http://schemas.microsoft.com/office/drawing/2018/hyperlinkcolor" val="tx"/>
                    </a:ext>
                  </a:extLst>
                </a:hlinkClick>
              </a:rPr>
              <a:t>lrdnab68xsdi008</a:t>
            </a:r>
            <a:endParaRPr lang="en-US" sz="1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Lower-cases and trims the DNS name; a name without a dot is refused. classFor(sourcePayload.OS) turns the OS text "Red Hat Enterprise Linux CoreOS 4.18" into the CMDB class the search is limited to, sub-classes included; no class means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"lrdnab68xsdi008.sdi.corp.bankofamerica.com"; OS "Red Hat Enterprise Linux CoreOS 4.18" gives the class linux_server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fqdn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fqdn equal to the DNS name, ignored classes left out. One row is returned; among several rows the one whose ip_address equals the scanned IP is taken when exactly one does, else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lrdnab68xsdi008 [linux_server] ip 30.164.8.51 -&gt;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linux_server_list.do?sysparm_query=fqdn%3Dlrdnab68xsdi008.sdi.corp.bankofamerica.com" history="1" highlightClick="0" endSnd="0">
                            <a:extLst>
                              <a:ext uri="{A12FA001-AC4F-418D-AE19-62706E023703}">
                                <ahyp:hlinkClr xmlns:ahyp="http://schemas.microsoft.com/office/drawing/2018/hyperlinkcolor" val="tx"/>
                              </a:ext>
                            </a:extLst>
                          </a:hlinkClick>
                        </a:rPr>
                        <a:t>linux server: fqdn=lrdnab68xsdi008.sdi.corp.bankofamerica.com</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linux_server.do?sys_id=0873ca94fbf0ee502fe7f7ad5eefdc48" history="1" highlightClick="0" endSnd="0">
                            <a:extLst>
                              <a:ext uri="{A12FA001-AC4F-418D-AE19-62706E023703}">
                                <ahyp:hlinkClr xmlns:ahyp="http://schemas.microsoft.com/office/drawing/2018/hyperlinkcolor" val="tx"/>
                              </a:ext>
                            </a:extLst>
                          </a:hlinkClick>
                        </a:rPr>
                        <a:t>lrdnab68xsdi008</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250  ·  FQDN CLASS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usvmsqhalc01.corp.bankofamerica.com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win_server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821944"/>
          </a:xfrm>
          <a:prstGeom prst="roundRect">
            <a:avLst>
              <a:gd name="adj" fmla="val 667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309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"usvmsqhalc01" is not sep + 12 hex)</a:t>
            </a:r>
            <a:endParaRPr lang="en-US" sz="1100" dirty="0"/>
          </a:p>
        </p:txBody>
      </p:sp>
      <p:sp>
        <p:nvSpPr>
          <p:cNvPr id="12" name="Shape 10"/>
          <p:cNvSpPr/>
          <p:nvPr/>
        </p:nvSpPr>
        <p:spPr>
          <a:xfrm>
            <a:off x="502920" y="2413000"/>
            <a:ext cx="2788920" cy="3987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568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2842768"/>
            <a:ext cx="457200" cy="0"/>
          </a:xfrm>
          <a:prstGeom prst="line">
            <a:avLst/>
          </a:prstGeom>
          <a:noFill/>
          <a:ln w="19050">
            <a:solidFill>
              <a:srgbClr val="E31837"/>
            </a:solidFill>
            <a:prstDash val="solid"/>
          </a:ln>
        </p:spPr>
      </p:sp>
      <p:sp>
        <p:nvSpPr>
          <p:cNvPr id="15" name="Text 13"/>
          <p:cNvSpPr txBox="1"/>
          <p:nvPr/>
        </p:nvSpPr>
        <p:spPr>
          <a:xfrm>
            <a:off x="740664" y="2888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SDI000003129659</a:t>
            </a:r>
            <a:endParaRPr lang="en-US" sz="1500" dirty="0"/>
          </a:p>
        </p:txBody>
      </p:sp>
      <p:sp>
        <p:nvSpPr>
          <p:cNvPr id="16" name="Text 14"/>
          <p:cNvSpPr txBox="1"/>
          <p:nvPr/>
        </p:nvSpPr>
        <p:spPr>
          <a:xfrm>
            <a:off x="740664" y="3254248"/>
            <a:ext cx="2313432" cy="243332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usvmsqhalc01.corp.bankofamerica.com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30.57.56.14</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Windows Server 2019 Standard 64 bit Edition Version 1809 Build 17763</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USVMSQHALC01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06:07:36</a:t>
            </a:r>
            <a:endParaRPr lang="en-US" sz="1200" dirty="0"/>
          </a:p>
        </p:txBody>
      </p:sp>
      <p:sp>
        <p:nvSpPr>
          <p:cNvPr id="17" name="Text 15">
            <a:hlinkClick r:id="rId1" tooltip="https://bofasecopsdev.service-now.com/sn_sec_cmn_src_ci_list.do?sysparm_query=number=SDI000003129659"/>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12965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413000"/>
            <a:ext cx="4745736" cy="3987800"/>
          </a:xfrm>
          <a:prstGeom prst="roundRect">
            <a:avLst>
              <a:gd name="adj" fmla="val 137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568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2842768"/>
            <a:ext cx="457200" cy="0"/>
          </a:xfrm>
          <a:prstGeom prst="line">
            <a:avLst/>
          </a:prstGeom>
          <a:noFill/>
          <a:ln w="19050">
            <a:solidFill>
              <a:srgbClr val="E31837"/>
            </a:solidFill>
            <a:prstDash val="solid"/>
          </a:ln>
        </p:spPr>
      </p:sp>
      <p:sp>
        <p:nvSpPr>
          <p:cNvPr id="21" name="Text 19"/>
          <p:cNvSpPr txBox="1"/>
          <p:nvPr/>
        </p:nvSpPr>
        <p:spPr>
          <a:xfrm>
            <a:off x="3749040" y="2915920"/>
            <a:ext cx="4233672" cy="33294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"usvmsqhalc01.corp.bankofamerica.com"; OS "Windows Server 2019 Standard 64 bit Edition Version 1809 Build 17763" gives the class win_server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fqdn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usvmsqhalc01 [win_server] ip 30.57.56.14 -&gt; exactly one, accepted</a:t>
            </a:r>
            <a:endParaRPr lang="en-US" sz="1300" dirty="0"/>
          </a:p>
        </p:txBody>
      </p:sp>
      <p:sp>
        <p:nvSpPr>
          <p:cNvPr id="22" name="Shape 20"/>
          <p:cNvSpPr/>
          <p:nvPr/>
        </p:nvSpPr>
        <p:spPr>
          <a:xfrm>
            <a:off x="8439912" y="2413000"/>
            <a:ext cx="3246120" cy="398780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577592"/>
            <a:ext cx="64008" cy="3658616"/>
          </a:xfrm>
          <a:prstGeom prst="rect">
            <a:avLst/>
          </a:prstGeom>
          <a:solidFill>
            <a:srgbClr val="E31837"/>
          </a:solidFill>
          <a:ln w="12700">
            <a:solidFill>
              <a:srgbClr val="333333"/>
            </a:solidFill>
            <a:prstDash val="solid"/>
          </a:ln>
        </p:spPr>
      </p:sp>
      <p:sp>
        <p:nvSpPr>
          <p:cNvPr id="24" name="Text 22"/>
          <p:cNvSpPr txBox="1"/>
          <p:nvPr/>
        </p:nvSpPr>
        <p:spPr>
          <a:xfrm>
            <a:off x="8714232" y="2568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2842768"/>
            <a:ext cx="457200" cy="0"/>
          </a:xfrm>
          <a:prstGeom prst="line">
            <a:avLst/>
          </a:prstGeom>
          <a:noFill/>
          <a:ln w="19050">
            <a:solidFill>
              <a:srgbClr val="E31837"/>
            </a:solidFill>
            <a:prstDash val="solid"/>
          </a:ln>
        </p:spPr>
      </p:sp>
      <p:sp>
        <p:nvSpPr>
          <p:cNvPr id="26" name="Text 24"/>
          <p:cNvSpPr txBox="1"/>
          <p:nvPr/>
        </p:nvSpPr>
        <p:spPr>
          <a:xfrm>
            <a:off x="8714232" y="28884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usvmsqhalc01</a:t>
            </a:r>
            <a:endParaRPr lang="en-US" sz="1500" dirty="0"/>
          </a:p>
        </p:txBody>
      </p:sp>
      <p:sp>
        <p:nvSpPr>
          <p:cNvPr id="27" name="Text 25"/>
          <p:cNvSpPr txBox="1"/>
          <p:nvPr/>
        </p:nvSpPr>
        <p:spPr>
          <a:xfrm>
            <a:off x="8714232" y="3208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Windows Server</a:t>
            </a:r>
            <a:endParaRPr lang="en-US" sz="1100" dirty="0"/>
          </a:p>
        </p:txBody>
      </p:sp>
      <p:sp>
        <p:nvSpPr>
          <p:cNvPr id="28" name="Text 26"/>
          <p:cNvSpPr txBox="1"/>
          <p:nvPr/>
        </p:nvSpPr>
        <p:spPr>
          <a:xfrm>
            <a:off x="8714232" y="3528568"/>
            <a:ext cx="2715768" cy="2159000"/>
          </a:xfrm>
          <a:prstGeom prst="rect">
            <a:avLst/>
          </a:prstGeom>
          <a:noFill/>
          <a:ln/>
        </p:spPr>
        <p:txBody>
          <a:bodyPr wrap="square" lIns="0" tIns="0" rIns="0" bIns="0" rtlCol="0" anchor="t"/>
          <a:lstStyle/>
          <a:p>
            <a:pPr indent="0" marL="0">
              <a:buNone/>
            </a:pPr>
            <a:r>
              <a:rPr lang="en-US" sz="110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1100" dirty="0">
                <a:solidFill>
                  <a:srgbClr val="4D4F53"/>
                </a:solidFill>
                <a:latin typeface="Arial" pitchFamily="34" charset="0"/>
                <a:ea typeface="Arial" pitchFamily="34" charset="-122"/>
                <a:cs typeface="Arial" pitchFamily="34" charset="-120"/>
              </a:rPr>
              <a:t>usvmsqhalc01.corp.bankofamerica.com</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100" dirty="0">
                <a:solidFill>
                  <a:srgbClr val="4D4F53"/>
                </a:solidFill>
                <a:latin typeface="Arial" pitchFamily="34" charset="0"/>
                <a:ea typeface="Arial" pitchFamily="34" charset="-122"/>
                <a:cs typeface="Arial" pitchFamily="34" charset="-120"/>
              </a:rPr>
              <a:t>SDI.CORP.BANKOFAMERICA.COM</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100" dirty="0">
                <a:solidFill>
                  <a:srgbClr val="4D4F53"/>
                </a:solidFill>
                <a:latin typeface="Arial" pitchFamily="34" charset="0"/>
                <a:ea typeface="Arial" pitchFamily="34" charset="-122"/>
                <a:cs typeface="Arial" pitchFamily="34" charset="-120"/>
              </a:rPr>
              <a:t>30.57.56.14</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100" dirty="0">
                <a:solidFill>
                  <a:srgbClr val="4D4F53"/>
                </a:solidFill>
                <a:latin typeface="Arial" pitchFamily="34" charset="0"/>
                <a:ea typeface="Arial" pitchFamily="34" charset="-122"/>
                <a:cs typeface="Arial" pitchFamily="34" charset="-120"/>
              </a:rPr>
              <a:t>VMware-42 1f c2 f2 64 7c 62 54-97 5f 7a e1 cb 6d 08 42</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100" dirty="0">
                <a:solidFill>
                  <a:srgbClr val="4D4F53"/>
                </a:solidFill>
                <a:latin typeface="Arial" pitchFamily="34" charset="0"/>
                <a:ea typeface="Arial" pitchFamily="34" charset="-122"/>
                <a:cs typeface="Arial" pitchFamily="34" charset="-120"/>
              </a:rPr>
              <a:t>VMware, Inc. VMware Virtual Platform</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100" dirty="0">
                <a:solidFill>
                  <a:srgbClr val="4D4F53"/>
                </a:solidFill>
                <a:latin typeface="Arial" pitchFamily="34" charset="0"/>
                <a:ea typeface="Arial" pitchFamily="34" charset="-122"/>
                <a:cs typeface="Arial" pitchFamily="34" charset="-120"/>
              </a:rPr>
              <a:t>Installed</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100" dirty="0">
                <a:solidFill>
                  <a:srgbClr val="4D4F53"/>
                </a:solidFill>
                <a:latin typeface="Arial" pitchFamily="34" charset="0"/>
                <a:ea typeface="Arial" pitchFamily="34" charset="-122"/>
                <a:cs typeface="Arial" pitchFamily="34" charset="-120"/>
              </a:rPr>
              <a:t>Operational</a:t>
            </a:r>
            <a:endParaRPr lang="en-US" sz="1100" dirty="0"/>
          </a:p>
        </p:txBody>
      </p:sp>
      <p:sp>
        <p:nvSpPr>
          <p:cNvPr id="29" name="Text 27">
            <a:hlinkClick r:id="rId2" tooltip="https://bofasecopsdev.service-now.com/cmdb_ci_win_server.do?sys_id=b3cab1bb93d8ee5007a4f84958373cba"/>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b3cab1bb93d8ee5007a4f84958373cba"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250  ·  FQDN CLASS MATCH  ·  EXAMPLE 3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usvmsqhalc01.corp.bankofamerica.com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b1eccbb22b7a4758a277fab2f291bf76" history="1" highlightClick="0" endSnd="0">
                  <a:extLst>
                    <a:ext uri="{A12FA001-AC4F-418D-AE19-62706E023703}">
                      <ahyp:hlinkClr xmlns:ahyp="http://schemas.microsoft.com/office/drawing/2018/hyperlinkcolor" val="tx"/>
                    </a:ext>
                  </a:extLst>
                </a:hlinkClick>
              </a:rPr>
              <a:t>SDI000003129659</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3804208b47624710a1a9295b416d437e" history="1" highlightClick="0" endSnd="0">
                  <a:extLst>
                    <a:ext uri="{A12FA001-AC4F-418D-AE19-62706E023703}">
                      <ahyp:hlinkClr xmlns:ahyp="http://schemas.microsoft.com/office/drawing/2018/hyperlinkcolor" val="tx"/>
                    </a:ext>
                  </a:extLst>
                </a:hlinkClick>
              </a:rPr>
              <a:t>BOFA FQDN Class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win_server.do?sys_id=b3cab1bb93d8ee5007a4f84958373cba" history="1" highlightClick="0" endSnd="0">
                  <a:extLst>
                    <a:ext uri="{A12FA001-AC4F-418D-AE19-62706E023703}">
                      <ahyp:hlinkClr xmlns:ahyp="http://schemas.microsoft.com/office/drawing/2018/hyperlinkcolor" val="tx"/>
                    </a:ext>
                  </a:extLst>
                </a:hlinkClick>
              </a:rPr>
              <a:t>usvmsqhalc01</a:t>
            </a:r>
            <a:endParaRPr lang="en-US" sz="1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Lower-cases and trims the DNS name; a name without a dot is refused. classFor(sourcePayload.OS) turns the OS text "Windows Server 2019 Standard 64 bit Edition Version 1809 Build 17763" into the CMDB class the search is limited to, sub-classes included; no class means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"usvmsqhalc01.corp.bankofamerica.com"; OS "Windows Server 2019 Standard 64 bit Edition Version 1809 Build 17763" gives the class win_server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fqdn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fqdn equal to the DNS name, ignored classes left out. One row is returned; among several rows the one whose ip_address equals the scanned IP is taken when exactly one does, else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usvmsqhalc01 [win_server] ip 30.57.56.14 -&gt;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win_server_list.do?sysparm_query=fqdn%3Dusvmsqhalc01.corp.bankofamerica.com" history="1" highlightClick="0" endSnd="0">
                            <a:extLst>
                              <a:ext uri="{A12FA001-AC4F-418D-AE19-62706E023703}">
                                <ahyp:hlinkClr xmlns:ahyp="http://schemas.microsoft.com/office/drawing/2018/hyperlinkcolor" val="tx"/>
                              </a:ext>
                            </a:extLst>
                          </a:hlinkClick>
                        </a:rPr>
                        <a:t>win server: fqdn=usvmsqhalc01.corp.bankofamerica.com</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win_server.do?sys_id=b3cab1bb93d8ee5007a4f84958373cba" history="1" highlightClick="0" endSnd="0">
                            <a:extLst>
                              <a:ext uri="{A12FA001-AC4F-418D-AE19-62706E023703}">
                                <ahyp:hlinkClr xmlns:ahyp="http://schemas.microsoft.com/office/drawing/2018/hyperlinkcolor" val="tx"/>
                              </a:ext>
                            </a:extLst>
                          </a:hlinkClick>
                        </a:rPr>
                        <a:t>usvmsqhalc01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260  ·  NAME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706880"/>
          </a:xfrm>
          <a:prstGeom prst="roundRect">
            <a:avLst>
              <a:gd name="adj" fmla="val 321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3776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0668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an exact fqdn value on any CI under cmdb_ci_hardware without consulting the OS, so hosts whose OS gives no class (multi-guess fingerprints) or whose CI is kept in a generic or different class still match on the fqdn field.</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follows USEM FQDN Class Match because the class-restricted search is the more precise of the two.</a:t>
            </a:r>
            <a:endParaRPr lang="en-US" sz="1500" dirty="0"/>
          </a:p>
        </p:txBody>
      </p:sp>
      <p:sp>
        <p:nvSpPr>
          <p:cNvPr id="13" name="Shape 11"/>
          <p:cNvSpPr/>
          <p:nvPr/>
        </p:nvSpPr>
        <p:spPr>
          <a:xfrm>
            <a:off x="502920" y="3380232"/>
            <a:ext cx="6933529" cy="2286000"/>
          </a:xfrm>
          <a:prstGeom prst="roundRect">
            <a:avLst>
              <a:gd name="adj" fmla="val 24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5631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3837432"/>
            <a:ext cx="457200" cy="0"/>
          </a:xfrm>
          <a:prstGeom prst="line">
            <a:avLst/>
          </a:prstGeom>
          <a:noFill/>
          <a:ln w="19050">
            <a:solidFill>
              <a:srgbClr val="E31837"/>
            </a:solidFill>
            <a:prstDash val="solid"/>
          </a:ln>
        </p:spPr>
      </p:sp>
      <p:sp>
        <p:nvSpPr>
          <p:cNvPr id="16" name="Text 14"/>
          <p:cNvSpPr txBox="1"/>
          <p:nvPr/>
        </p:nvSpPr>
        <p:spPr>
          <a:xfrm>
            <a:off x="822960" y="3928872"/>
            <a:ext cx="6293449" cy="15544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DNS (sourceValue). Payload field: IP (tie-break between duplicate fqdn rows only). OS is not read.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hardware CI whose fqdn equals the scanned name; when several carry it, the one whose ip_address equals the scanned IP; null in every other case.</a:t>
            </a:r>
            <a:endParaRPr lang="en-US" sz="1400" dirty="0"/>
          </a:p>
        </p:txBody>
      </p:sp>
      <p:sp>
        <p:nvSpPr>
          <p:cNvPr id="17" name="Shape 15"/>
          <p:cNvSpPr/>
          <p:nvPr/>
        </p:nvSpPr>
        <p:spPr>
          <a:xfrm>
            <a:off x="7665049" y="3380232"/>
            <a:ext cx="4020983" cy="2286000"/>
          </a:xfrm>
          <a:prstGeom prst="roundRect">
            <a:avLst>
              <a:gd name="adj" fmla="val 240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5631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3837432"/>
            <a:ext cx="457200" cy="0"/>
          </a:xfrm>
          <a:prstGeom prst="line">
            <a:avLst/>
          </a:prstGeom>
          <a:noFill/>
          <a:ln w="19050">
            <a:solidFill>
              <a:srgbClr val="E31837"/>
            </a:solidFill>
            <a:prstDash val="solid"/>
          </a:ln>
        </p:spPr>
      </p:sp>
      <p:sp>
        <p:nvSpPr>
          <p:cNvPr id="20" name="Text 18"/>
          <p:cNvSpPr txBox="1"/>
          <p:nvPr/>
        </p:nvSpPr>
        <p:spPr>
          <a:xfrm>
            <a:off x="7985089" y="3928872"/>
            <a:ext cx="3380903" cy="54864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100" dirty="0">
                <a:solidFill>
                  <a:srgbClr val="4D4F53"/>
                </a:solidFill>
                <a:latin typeface="Arial" pitchFamily="34" charset="0"/>
                <a:ea typeface="Arial" pitchFamily="34" charset="-122"/>
                <a:cs typeface="Arial" pitchFamily="34" charset="-120"/>
              </a:rPr>
              <a:t>FQDN Class Match</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100" dirty="0">
                <a:solidFill>
                  <a:srgbClr val="4D4F53"/>
                </a:solidFill>
                <a:latin typeface="Arial" pitchFamily="34" charset="0"/>
                <a:ea typeface="Arial" pitchFamily="34" charset="-122"/>
                <a:cs typeface="Arial" pitchFamily="34" charset="-120"/>
              </a:rPr>
              <a:t>Hostname Domain Class Match</a:t>
            </a:r>
            <a:endParaRPr lang="en-US" sz="1100" dirty="0"/>
          </a:p>
        </p:txBody>
      </p:sp>
      <p:sp>
        <p:nvSpPr>
          <p:cNvPr id="21" name="Text 19"/>
          <p:cNvSpPr txBox="1"/>
          <p:nvPr/>
        </p:nvSpPr>
        <p:spPr>
          <a:xfrm>
            <a:off x="7985089" y="45689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82,224</a:t>
            </a:r>
            <a:endParaRPr lang="en-US" sz="2800" dirty="0"/>
          </a:p>
        </p:txBody>
      </p:sp>
      <p:sp>
        <p:nvSpPr>
          <p:cNvPr id="22" name="Text 20"/>
          <p:cNvSpPr txBox="1"/>
          <p:nvPr/>
        </p:nvSpPr>
        <p:spPr>
          <a:xfrm>
            <a:off x="7985089" y="51358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260  ·  NAME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6048"/>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7408"/>
          </a:xfrm>
          <a:prstGeom prst="rect">
            <a:avLst/>
          </a:prstGeom>
          <a:noFill/>
          <a:ln/>
        </p:spPr>
        <p:txBody>
          <a:bodyPr wrap="square" lIns="0" tIns="0" rIns="0" bIns="0" rtlCol="0" anchor="t"/>
          <a:lstStyle/>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1   Guard and normalise the DNS value.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2   Require a dotted name.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3   Read the scanned IP for the tie-break only.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ip is '' + sourcePayload.IP when the payload carries a non-empty IP, otherwise ''. It is never a search key; it only separates duplicate fqdn rows later.</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4   Build the ignored-class list.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5   Query cmdb_ci_hardware for the exact fqdn.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GlideRecord('cmdb_ci_hardware') (null when isValid() is false), addQuery('fqdn', normalised name), the NOT IN ignore condition when set, then query(). Hardware and every class beneath it are searched; the OS is not consulted; no setLimit.</a:t>
            </a:r>
            <a:endParaRPr lang="en-US" sz="1250" dirty="0"/>
          </a:p>
        </p:txBody>
      </p:sp>
      <p:sp>
        <p:nvSpPr>
          <p:cNvPr id="10" name="Text 8"/>
          <p:cNvSpPr txBox="1"/>
          <p:nvPr/>
        </p:nvSpPr>
        <p:spPr>
          <a:xfrm>
            <a:off x="6277356" y="1746504"/>
            <a:ext cx="5088636" cy="4407408"/>
          </a:xfrm>
          <a:prstGeom prst="rect">
            <a:avLst/>
          </a:prstGeom>
          <a:noFill/>
          <a:ln/>
        </p:spPr>
        <p:txBody>
          <a:bodyPr wrap="square" lIns="0" tIns="0" rIns="0" bIns="0" rtlCol="0" anchor="t"/>
          <a:lstStyle/>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6   Collect every hit and every IP-confirmed hit.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while (gr.next()): each sys_id (getUniqueValue) is pushed to ids; when ip is non-empty and gr.getValue('ip_address') equals ip as a plain string, with no normalisation of the CI value, the sys_id is also pushed to ipHits. All rows are read.</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7   Decide exactly one.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ids.length 1 returns that sys_id. ids.length above 1 with ipHits.length exactly 1 returns the IP-confirmed sys_id. Every other outcome (no row; duplicates where none or several carry the scanned IP) returns null rather than guessing.</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8   No retired, twin or agreement handling.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No status test and no class agreement: a Windows Server, a Linux Server and a retired duplicate all carrying the fqdn are equal duplicates that only the scanned IP can separate.</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260  ·  NAME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177540"/>
          </a:xfrm>
          <a:prstGeom prst="roundRect">
            <a:avLst>
              <a:gd name="adj" fmla="val 172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8483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5374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 or absent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normalised DNS value contains no '.' (a bare hostname)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GlideRecord('cmdb_ci_hardware').isValid() is false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CI under cmdb_ci_hardware outside the ignored classes carries the scanned name in fqdn</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hardware CIs carry the fqdn and the payload has no IP</a:t>
            </a:r>
            <a:endParaRPr lang="en-US" sz="1500" dirty="0"/>
          </a:p>
        </p:txBody>
      </p:sp>
      <p:sp>
        <p:nvSpPr>
          <p:cNvPr id="13" name="Text 11"/>
          <p:cNvSpPr txBox="1"/>
          <p:nvPr/>
        </p:nvSpPr>
        <p:spPr>
          <a:xfrm>
            <a:off x="6277356" y="1975104"/>
            <a:ext cx="5088636" cy="25374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hardware CIs carry the fqdn and none of them has ip_address equal to the scanned IP</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hardware CIs carry the fqdn and two or more of them have ip_address equal to the scanned IP</a:t>
            </a:r>
            <a:endParaRPr lang="en-US" sz="1500" dirty="0"/>
          </a:p>
        </p:txBody>
      </p:sp>
      <p:sp>
        <p:nvSpPr>
          <p:cNvPr id="14" name="Shape 12"/>
          <p:cNvSpPr/>
          <p:nvPr/>
        </p:nvSpPr>
        <p:spPr>
          <a:xfrm>
            <a:off x="502920" y="48508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8508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Hostname Domain Class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260  ·  FQDN HARDWARE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lclte0ln.bankofamerica.com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linux_server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989584"/>
          </a:xfrm>
          <a:prstGeom prst="roundRect">
            <a:avLst>
              <a:gd name="adj" fmla="val 554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4775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"lclte0ln" is not sep + 12 hex)  ·  FQDN (OS "EulerOS / Ubuntu / Fedora / Tiny Core Linux / Linux 3.x / IBM / FortiSOAR / F5 Networks Big-IP / Paloalto networks Global Protect PAN-OS" gives no class)</a:t>
            </a:r>
            <a:endParaRPr lang="en-US" sz="1100" dirty="0"/>
          </a:p>
        </p:txBody>
      </p:sp>
      <p:sp>
        <p:nvSpPr>
          <p:cNvPr id="12" name="Shape 10"/>
          <p:cNvSpPr/>
          <p:nvPr/>
        </p:nvSpPr>
        <p:spPr>
          <a:xfrm>
            <a:off x="502920" y="2580640"/>
            <a:ext cx="2788920" cy="38201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7360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010408"/>
            <a:ext cx="457200" cy="0"/>
          </a:xfrm>
          <a:prstGeom prst="line">
            <a:avLst/>
          </a:prstGeom>
          <a:noFill/>
          <a:ln w="19050">
            <a:solidFill>
              <a:srgbClr val="E31837"/>
            </a:solidFill>
            <a:prstDash val="solid"/>
          </a:ln>
        </p:spPr>
      </p:sp>
      <p:sp>
        <p:nvSpPr>
          <p:cNvPr id="15" name="Text 13"/>
          <p:cNvSpPr txBox="1"/>
          <p:nvPr/>
        </p:nvSpPr>
        <p:spPr>
          <a:xfrm>
            <a:off x="740664" y="30561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SDI000003651953</a:t>
            </a:r>
            <a:endParaRPr lang="en-US" sz="1500" dirty="0"/>
          </a:p>
        </p:txBody>
      </p:sp>
      <p:sp>
        <p:nvSpPr>
          <p:cNvPr id="16" name="Text 14"/>
          <p:cNvSpPr txBox="1"/>
          <p:nvPr/>
        </p:nvSpPr>
        <p:spPr>
          <a:xfrm>
            <a:off x="740664" y="3421888"/>
            <a:ext cx="2313432" cy="2265680"/>
          </a:xfrm>
          <a:prstGeom prst="rect">
            <a:avLst/>
          </a:prstGeom>
          <a:noFill/>
          <a:ln/>
        </p:spPr>
        <p:txBody>
          <a:bodyPr wrap="square" lIns="0" tIns="0" rIns="0" bIns="0" rtlCol="0" anchor="t"/>
          <a:lstStyle/>
          <a:p>
            <a:pPr indent="0" marL="0">
              <a:buNone/>
            </a:pPr>
            <a:r>
              <a:rPr lang="en-US" sz="115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150" dirty="0">
                <a:solidFill>
                  <a:srgbClr val="4D4F53"/>
                </a:solidFill>
                <a:latin typeface="Arial" pitchFamily="34" charset="0"/>
                <a:ea typeface="Arial" pitchFamily="34" charset="-122"/>
                <a:cs typeface="Arial" pitchFamily="34" charset="-120"/>
              </a:rPr>
              <a:t>lclte0ln.bankofamerica.com</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171.206.171.75</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150" dirty="0">
                <a:solidFill>
                  <a:srgbClr val="4D4F53"/>
                </a:solidFill>
                <a:latin typeface="Arial" pitchFamily="34" charset="0"/>
                <a:ea typeface="Arial" pitchFamily="34" charset="-122"/>
                <a:cs typeface="Arial" pitchFamily="34" charset="-120"/>
              </a:rPr>
              <a:t>EulerOS / Ubuntu / Fedora / Tiny Core Linux / Linux 3.x / IBM / FortiSOAR / F5 Networks Big-IP / Paloalto networks Global Protect PAN-OS</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150" dirty="0">
                <a:solidFill>
                  <a:srgbClr val="4D4F53"/>
                </a:solidFill>
                <a:latin typeface="Arial" pitchFamily="34" charset="0"/>
                <a:ea typeface="Arial" pitchFamily="34" charset="-122"/>
                <a:cs typeface="Arial" pitchFamily="34" charset="-120"/>
              </a:rPr>
              <a:t>IP</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150" dirty="0">
                <a:solidFill>
                  <a:srgbClr val="4D4F53"/>
                </a:solidFill>
                <a:latin typeface="Arial" pitchFamily="34" charset="0"/>
                <a:ea typeface="Arial" pitchFamily="34" charset="-122"/>
                <a:cs typeface="Arial" pitchFamily="34" charset="-120"/>
              </a:rPr>
              <a:t>2026-09-21 05:58:21</a:t>
            </a:r>
            <a:endParaRPr lang="en-US" sz="1150" dirty="0"/>
          </a:p>
        </p:txBody>
      </p:sp>
      <p:sp>
        <p:nvSpPr>
          <p:cNvPr id="17" name="Text 15">
            <a:hlinkClick r:id="rId1" tooltip="https://bofasecopsdev.service-now.com/sn_sec_cmn_src_ci_list.do?sysparm_query=number=SDI000003651953"/>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5195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580640"/>
            <a:ext cx="4745736" cy="3820160"/>
          </a:xfrm>
          <a:prstGeom prst="roundRect">
            <a:avLst>
              <a:gd name="adj" fmla="val 143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7360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010408"/>
            <a:ext cx="457200" cy="0"/>
          </a:xfrm>
          <a:prstGeom prst="line">
            <a:avLst/>
          </a:prstGeom>
          <a:noFill/>
          <a:ln w="19050">
            <a:solidFill>
              <a:srgbClr val="E31837"/>
            </a:solidFill>
            <a:prstDash val="solid"/>
          </a:ln>
        </p:spPr>
      </p:sp>
      <p:sp>
        <p:nvSpPr>
          <p:cNvPr id="21" name="Text 19"/>
          <p:cNvSpPr txBox="1"/>
          <p:nvPr/>
        </p:nvSpPr>
        <p:spPr>
          <a:xfrm>
            <a:off x="3749040" y="3083560"/>
            <a:ext cx="4233672" cy="31617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"lclte0ln.bankofamerica.com"; the whole hardware tree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fqdn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lclte0ln [linux_server] ip 171.206.171.75 -&gt; exactly one, accepted</a:t>
            </a:r>
            <a:endParaRPr lang="en-US" sz="1300" dirty="0"/>
          </a:p>
        </p:txBody>
      </p:sp>
      <p:sp>
        <p:nvSpPr>
          <p:cNvPr id="22" name="Shape 20"/>
          <p:cNvSpPr/>
          <p:nvPr/>
        </p:nvSpPr>
        <p:spPr>
          <a:xfrm>
            <a:off x="8439912" y="2580640"/>
            <a:ext cx="3246120" cy="382016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745232"/>
            <a:ext cx="64008" cy="3490976"/>
          </a:xfrm>
          <a:prstGeom prst="rect">
            <a:avLst/>
          </a:prstGeom>
          <a:solidFill>
            <a:srgbClr val="E31837"/>
          </a:solidFill>
          <a:ln w="12700">
            <a:solidFill>
              <a:srgbClr val="333333"/>
            </a:solidFill>
            <a:prstDash val="solid"/>
          </a:ln>
        </p:spPr>
      </p:sp>
      <p:sp>
        <p:nvSpPr>
          <p:cNvPr id="24" name="Text 22"/>
          <p:cNvSpPr txBox="1"/>
          <p:nvPr/>
        </p:nvSpPr>
        <p:spPr>
          <a:xfrm>
            <a:off x="8714232" y="27360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010408"/>
            <a:ext cx="457200" cy="0"/>
          </a:xfrm>
          <a:prstGeom prst="line">
            <a:avLst/>
          </a:prstGeom>
          <a:noFill/>
          <a:ln w="19050">
            <a:solidFill>
              <a:srgbClr val="E31837"/>
            </a:solidFill>
            <a:prstDash val="solid"/>
          </a:ln>
        </p:spPr>
      </p:sp>
      <p:sp>
        <p:nvSpPr>
          <p:cNvPr id="26" name="Text 24"/>
          <p:cNvSpPr txBox="1"/>
          <p:nvPr/>
        </p:nvSpPr>
        <p:spPr>
          <a:xfrm>
            <a:off x="8714232" y="30561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lclte0ln</a:t>
            </a:r>
            <a:endParaRPr lang="en-US" sz="1500" dirty="0"/>
          </a:p>
        </p:txBody>
      </p:sp>
      <p:sp>
        <p:nvSpPr>
          <p:cNvPr id="27" name="Text 25"/>
          <p:cNvSpPr txBox="1"/>
          <p:nvPr/>
        </p:nvSpPr>
        <p:spPr>
          <a:xfrm>
            <a:off x="8714232" y="33761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Linux Server</a:t>
            </a:r>
            <a:endParaRPr lang="en-US" sz="1100" dirty="0"/>
          </a:p>
        </p:txBody>
      </p:sp>
      <p:sp>
        <p:nvSpPr>
          <p:cNvPr id="28" name="Text 26"/>
          <p:cNvSpPr txBox="1"/>
          <p:nvPr/>
        </p:nvSpPr>
        <p:spPr>
          <a:xfrm>
            <a:off x="8714232" y="3696208"/>
            <a:ext cx="2715768" cy="199136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lclte0ln.bankofamerica.com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171.206.171.75</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VMware-42 06 87 31 94 93 a6 2d-b6 4d 9a dc 9e ef a3 6c</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VMware, Inc. VMware Virtual Platform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linux_server.do?sys_id=e43c52133b146a90d5062b64c3e45a25"/>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e43c52133b146a90d5062b64c3e45a25"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260  ·  FQDN HARDWARE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lclte0ln.bankofamerica.com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f4137e33930fcb909110fe584dba108f" history="1" highlightClick="0" endSnd="0">
                  <a:extLst>
                    <a:ext uri="{A12FA001-AC4F-418D-AE19-62706E023703}">
                      <ahyp:hlinkClr xmlns:ahyp="http://schemas.microsoft.com/office/drawing/2018/hyperlinkcolor" val="tx"/>
                    </a:ext>
                  </a:extLst>
                </a:hlinkClick>
              </a:rPr>
              <a:t>SDI000003651953</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db54248b47624710a1a9295b416d4362" history="1" highlightClick="0" endSnd="0">
                  <a:extLst>
                    <a:ext uri="{A12FA001-AC4F-418D-AE19-62706E023703}">
                      <ahyp:hlinkClr xmlns:ahyp="http://schemas.microsoft.com/office/drawing/2018/hyperlinkcolor" val="tx"/>
                    </a:ext>
                  </a:extLst>
                </a:hlinkClick>
              </a:rPr>
              <a:t>BOFA FQDN Hardware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linux_server.do?sys_id=e43c52133b146a90d5062b64c3e45a25" history="1" highlightClick="0" endSnd="0">
                  <a:extLst>
                    <a:ext uri="{A12FA001-AC4F-418D-AE19-62706E023703}">
                      <ahyp:hlinkClr xmlns:ahyp="http://schemas.microsoft.com/office/drawing/2018/hyperlinkcolor" val="tx"/>
                    </a:ext>
                  </a:extLst>
                </a:hlinkClick>
              </a:rPr>
              <a:t>lclte0ln</a:t>
            </a:r>
            <a:endParaRPr lang="en-US" sz="10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Lower-cases and trims the DNS name; a name without a dot is refused. The search covers the whole Hardware tree (cmdb_ci_hardware and every sub-class).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"lclte0ln.bankofamerica.com"; the whole hardware tree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fqdn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fqdn equal to the DNS name, ignored classes left out. One row is returned; among several rows the one whose ip_address equals the scanned IP is taken when exactly one does, else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lclte0ln [linux_server] ip 171.206.171.75 -&gt;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hardware_list.do?sysparm_query=fqdn%3Dlclte0ln.bankofamerica.com" history="1" highlightClick="0" endSnd="0">
                            <a:extLst>
                              <a:ext uri="{A12FA001-AC4F-418D-AE19-62706E023703}">
                                <ahyp:hlinkClr xmlns:ahyp="http://schemas.microsoft.com/office/drawing/2018/hyperlinkcolor" val="tx"/>
                              </a:ext>
                            </a:extLst>
                          </a:hlinkClick>
                        </a:rPr>
                        <a:t>Hardware: fqdn=lclte0ln.bankofamerica.com</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linux_server.do?sys_id=e43c52133b146a90d5062b64c3e45a25" history="1" highlightClick="0" endSnd="0">
                            <a:extLst>
                              <a:ext uri="{A12FA001-AC4F-418D-AE19-62706E023703}">
                                <ahyp:hlinkClr xmlns:ahyp="http://schemas.microsoft.com/office/drawing/2018/hyperlinkcolor" val="tx"/>
                              </a:ext>
                            </a:extLst>
                          </a:hlinkClick>
                        </a:rPr>
                        <a:t>lclte0ln</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260  ·  FQDN HARDWARE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hpuwrsubsql02.corp.bankofamerica.com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win_server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989584"/>
          </a:xfrm>
          <a:prstGeom prst="roundRect">
            <a:avLst>
              <a:gd name="adj" fmla="val 554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4775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"hpuwrsubsql02" is not sep + 12 hex)  ·  FQDN (OS "not reported" gives no class)</a:t>
            </a:r>
            <a:endParaRPr lang="en-US" sz="1100" dirty="0"/>
          </a:p>
        </p:txBody>
      </p:sp>
      <p:sp>
        <p:nvSpPr>
          <p:cNvPr id="12" name="Shape 10"/>
          <p:cNvSpPr/>
          <p:nvPr/>
        </p:nvSpPr>
        <p:spPr>
          <a:xfrm>
            <a:off x="502920" y="2580640"/>
            <a:ext cx="2788920" cy="38201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7360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010408"/>
            <a:ext cx="457200" cy="0"/>
          </a:xfrm>
          <a:prstGeom prst="line">
            <a:avLst/>
          </a:prstGeom>
          <a:noFill/>
          <a:ln w="19050">
            <a:solidFill>
              <a:srgbClr val="E31837"/>
            </a:solidFill>
            <a:prstDash val="solid"/>
          </a:ln>
        </p:spPr>
      </p:sp>
      <p:sp>
        <p:nvSpPr>
          <p:cNvPr id="15" name="Text 13"/>
          <p:cNvSpPr txBox="1"/>
          <p:nvPr/>
        </p:nvSpPr>
        <p:spPr>
          <a:xfrm>
            <a:off x="740664" y="30561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SDI000003438418</a:t>
            </a:r>
            <a:endParaRPr lang="en-US" sz="1500" dirty="0"/>
          </a:p>
        </p:txBody>
      </p:sp>
      <p:sp>
        <p:nvSpPr>
          <p:cNvPr id="16" name="Text 14"/>
          <p:cNvSpPr txBox="1"/>
          <p:nvPr/>
        </p:nvSpPr>
        <p:spPr>
          <a:xfrm>
            <a:off x="740664" y="3421888"/>
            <a:ext cx="2313432" cy="22656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hpuwrsubsql02.corp.bankofamerica.com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30.51.208.52</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(not reported)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HPUWRSUBSQL02</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05:56:42</a:t>
            </a:r>
            <a:endParaRPr lang="en-US" sz="1200" dirty="0"/>
          </a:p>
        </p:txBody>
      </p:sp>
      <p:sp>
        <p:nvSpPr>
          <p:cNvPr id="17" name="Text 15">
            <a:hlinkClick r:id="rId1" tooltip="https://bofasecopsdev.service-now.com/sn_sec_cmn_src_ci_list.do?sysparm_query=number=SDI000003438418"/>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438418"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580640"/>
            <a:ext cx="4745736" cy="3820160"/>
          </a:xfrm>
          <a:prstGeom prst="roundRect">
            <a:avLst>
              <a:gd name="adj" fmla="val 143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7360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010408"/>
            <a:ext cx="457200" cy="0"/>
          </a:xfrm>
          <a:prstGeom prst="line">
            <a:avLst/>
          </a:prstGeom>
          <a:noFill/>
          <a:ln w="19050">
            <a:solidFill>
              <a:srgbClr val="E31837"/>
            </a:solidFill>
            <a:prstDash val="solid"/>
          </a:ln>
        </p:spPr>
      </p:sp>
      <p:sp>
        <p:nvSpPr>
          <p:cNvPr id="21" name="Text 19"/>
          <p:cNvSpPr txBox="1"/>
          <p:nvPr/>
        </p:nvSpPr>
        <p:spPr>
          <a:xfrm>
            <a:off x="3749040" y="3083560"/>
            <a:ext cx="4233672" cy="31617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"hpuwrsubsql02.corp.bankofamerica.com"; the whole hardware tree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fqdn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hpuwrsubsql02 [win_server] ip 30.51.208.52 -&gt; exactly one, accepted</a:t>
            </a:r>
            <a:endParaRPr lang="en-US" sz="1300" dirty="0"/>
          </a:p>
        </p:txBody>
      </p:sp>
      <p:sp>
        <p:nvSpPr>
          <p:cNvPr id="22" name="Shape 20"/>
          <p:cNvSpPr/>
          <p:nvPr/>
        </p:nvSpPr>
        <p:spPr>
          <a:xfrm>
            <a:off x="8439912" y="2580640"/>
            <a:ext cx="3246120" cy="382016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745232"/>
            <a:ext cx="64008" cy="3490976"/>
          </a:xfrm>
          <a:prstGeom prst="rect">
            <a:avLst/>
          </a:prstGeom>
          <a:solidFill>
            <a:srgbClr val="E31837"/>
          </a:solidFill>
          <a:ln w="12700">
            <a:solidFill>
              <a:srgbClr val="333333"/>
            </a:solidFill>
            <a:prstDash val="solid"/>
          </a:ln>
        </p:spPr>
      </p:sp>
      <p:sp>
        <p:nvSpPr>
          <p:cNvPr id="24" name="Text 22"/>
          <p:cNvSpPr txBox="1"/>
          <p:nvPr/>
        </p:nvSpPr>
        <p:spPr>
          <a:xfrm>
            <a:off x="8714232" y="27360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010408"/>
            <a:ext cx="457200" cy="0"/>
          </a:xfrm>
          <a:prstGeom prst="line">
            <a:avLst/>
          </a:prstGeom>
          <a:noFill/>
          <a:ln w="19050">
            <a:solidFill>
              <a:srgbClr val="E31837"/>
            </a:solidFill>
            <a:prstDash val="solid"/>
          </a:ln>
        </p:spPr>
      </p:sp>
      <p:sp>
        <p:nvSpPr>
          <p:cNvPr id="26" name="Text 24"/>
          <p:cNvSpPr txBox="1"/>
          <p:nvPr/>
        </p:nvSpPr>
        <p:spPr>
          <a:xfrm>
            <a:off x="8714232" y="30561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hpuwrsubsql02</a:t>
            </a:r>
            <a:endParaRPr lang="en-US" sz="1500" dirty="0"/>
          </a:p>
        </p:txBody>
      </p:sp>
      <p:sp>
        <p:nvSpPr>
          <p:cNvPr id="27" name="Text 25"/>
          <p:cNvSpPr txBox="1"/>
          <p:nvPr/>
        </p:nvSpPr>
        <p:spPr>
          <a:xfrm>
            <a:off x="8714232" y="33761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Windows Server</a:t>
            </a:r>
            <a:endParaRPr lang="en-US" sz="1100" dirty="0"/>
          </a:p>
        </p:txBody>
      </p:sp>
      <p:sp>
        <p:nvSpPr>
          <p:cNvPr id="28" name="Text 26"/>
          <p:cNvSpPr txBox="1"/>
          <p:nvPr/>
        </p:nvSpPr>
        <p:spPr>
          <a:xfrm>
            <a:off x="8714232" y="3696208"/>
            <a:ext cx="2715768" cy="1991360"/>
          </a:xfrm>
          <a:prstGeom prst="rect">
            <a:avLst/>
          </a:prstGeom>
          <a:noFill/>
          <a:ln/>
        </p:spPr>
        <p:txBody>
          <a:bodyPr wrap="square" lIns="0" tIns="0" rIns="0" bIns="0" rtlCol="0" anchor="t"/>
          <a:lstStyle/>
          <a:p>
            <a:pPr indent="0" marL="0">
              <a:buNone/>
            </a:pPr>
            <a:r>
              <a:rPr lang="en-US" sz="110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1100" dirty="0">
                <a:solidFill>
                  <a:srgbClr val="4D4F53"/>
                </a:solidFill>
                <a:latin typeface="Arial" pitchFamily="34" charset="0"/>
                <a:ea typeface="Arial" pitchFamily="34" charset="-122"/>
                <a:cs typeface="Arial" pitchFamily="34" charset="-120"/>
              </a:rPr>
              <a:t>hpuwrsubsql02.corp.bankofamerica.com</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100" dirty="0">
                <a:solidFill>
                  <a:srgbClr val="4D4F53"/>
                </a:solidFill>
                <a:latin typeface="Arial" pitchFamily="34" charset="0"/>
                <a:ea typeface="Arial" pitchFamily="34" charset="-122"/>
                <a:cs typeface="Arial" pitchFamily="34" charset="-120"/>
              </a:rPr>
              <a:t>corp.bankofamerica.com</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100" dirty="0">
                <a:solidFill>
                  <a:srgbClr val="4D4F53"/>
                </a:solidFill>
                <a:latin typeface="Arial" pitchFamily="34" charset="0"/>
                <a:ea typeface="Arial" pitchFamily="34" charset="-122"/>
                <a:cs typeface="Arial" pitchFamily="34" charset="-120"/>
              </a:rPr>
              <a:t>30.51.208.52</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100" dirty="0">
                <a:solidFill>
                  <a:srgbClr val="4D4F53"/>
                </a:solidFill>
                <a:latin typeface="Arial" pitchFamily="34" charset="0"/>
                <a:ea typeface="Arial" pitchFamily="34" charset="-122"/>
                <a:cs typeface="Arial" pitchFamily="34" charset="-120"/>
              </a:rPr>
              <a:t>7647-2393-1030-8839-4672-4447-06</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100" dirty="0">
                <a:solidFill>
                  <a:srgbClr val="4D4F53"/>
                </a:solidFill>
                <a:latin typeface="Arial" pitchFamily="34" charset="0"/>
                <a:ea typeface="Arial" pitchFamily="34" charset="-122"/>
                <a:cs typeface="Arial" pitchFamily="34" charset="-120"/>
              </a:rPr>
              <a:t>Microsoft Corporation Virtual Machine</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100" dirty="0">
                <a:solidFill>
                  <a:srgbClr val="4D4F53"/>
                </a:solidFill>
                <a:latin typeface="Arial" pitchFamily="34" charset="0"/>
                <a:ea typeface="Arial" pitchFamily="34" charset="-122"/>
                <a:cs typeface="Arial" pitchFamily="34" charset="-120"/>
              </a:rPr>
              <a:t>Installed</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100" dirty="0">
                <a:solidFill>
                  <a:srgbClr val="4D4F53"/>
                </a:solidFill>
                <a:latin typeface="Arial" pitchFamily="34" charset="0"/>
                <a:ea typeface="Arial" pitchFamily="34" charset="-122"/>
                <a:cs typeface="Arial" pitchFamily="34" charset="-120"/>
              </a:rPr>
              <a:t>Operational</a:t>
            </a:r>
            <a:endParaRPr lang="en-US" sz="1100" dirty="0"/>
          </a:p>
        </p:txBody>
      </p:sp>
      <p:sp>
        <p:nvSpPr>
          <p:cNvPr id="29" name="Text 27">
            <a:hlinkClick r:id="rId2" tooltip="https://bofasecopsdev.service-now.com/cmdb_ci_win_server.do?sys_id=7e20daa72bac22546d55ff5fe291bf63"/>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7e20daa72bac22546d55ff5fe291bf63"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260  ·  FQDN HARDWARE MATCH  ·  EXAMPLE 2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hpuwrsubsql02.corp.bankofamerica.com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f9548099eb8303d0577bf284dad0cd24" history="1" highlightClick="0" endSnd="0">
                  <a:extLst>
                    <a:ext uri="{A12FA001-AC4F-418D-AE19-62706E023703}">
                      <ahyp:hlinkClr xmlns:ahyp="http://schemas.microsoft.com/office/drawing/2018/hyperlinkcolor" val="tx"/>
                    </a:ext>
                  </a:extLst>
                </a:hlinkClick>
              </a:rPr>
              <a:t>SDI000003438418</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db54248b47624710a1a9295b416d4362" history="1" highlightClick="0" endSnd="0">
                  <a:extLst>
                    <a:ext uri="{A12FA001-AC4F-418D-AE19-62706E023703}">
                      <ahyp:hlinkClr xmlns:ahyp="http://schemas.microsoft.com/office/drawing/2018/hyperlinkcolor" val="tx"/>
                    </a:ext>
                  </a:extLst>
                </a:hlinkClick>
              </a:rPr>
              <a:t>BOFA FQDN Hardware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win_server.do?sys_id=7e20daa72bac22546d55ff5fe291bf63" history="1" highlightClick="0" endSnd="0">
                  <a:extLst>
                    <a:ext uri="{A12FA001-AC4F-418D-AE19-62706E023703}">
                      <ahyp:hlinkClr xmlns:ahyp="http://schemas.microsoft.com/office/drawing/2018/hyperlinkcolor" val="tx"/>
                    </a:ext>
                  </a:extLst>
                </a:hlinkClick>
              </a:rPr>
              <a:t>hpuwrsubsql02</a:t>
            </a:r>
            <a:endParaRPr lang="en-US" sz="10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Lower-cases and trims the DNS name; a name without a dot is refused. The search covers the whole Hardware tree (cmdb_ci_hardware and every sub-class).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"hpuwrsubsql02.corp.bankofamerica.com"; the whole hardware tree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fqdn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fqdn equal to the DNS name, ignored classes left out. One row is returned; among several rows the one whose ip_address equals the scanned IP is taken when exactly one does, else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hpuwrsubsql02 [win_server] ip 30.51.208.52 -&gt;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hardware_list.do?sysparm_query=fqdn%3Dhpuwrsubsql02.corp.bankofamerica.com" history="1" highlightClick="0" endSnd="0">
                            <a:extLst>
                              <a:ext uri="{A12FA001-AC4F-418D-AE19-62706E023703}">
                                <ahyp:hlinkClr xmlns:ahyp="http://schemas.microsoft.com/office/drawing/2018/hyperlinkcolor" val="tx"/>
                              </a:ext>
                            </a:extLst>
                          </a:hlinkClick>
                        </a:rPr>
                        <a:t>Hardware: fqdn=hpuwrsubsql02.corp.bankofamerica.com</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win_server.do?sys_id=7e20daa72bac22546d55ff5fe291bf63" history="1" highlightClick="0" endSnd="0">
                            <a:extLst>
                              <a:ext uri="{A12FA001-AC4F-418D-AE19-62706E023703}">
                                <ahyp:hlinkClr xmlns:ahyp="http://schemas.microsoft.com/office/drawing/2018/hyperlinkcolor" val="tx"/>
                              </a:ext>
                            </a:extLst>
                          </a:hlinkClick>
                        </a:rPr>
                        <a:t>hpuwrsubsql02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260  ·  FQDN HARDWARE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usvmsrelecp20.corp.bankofamerica.com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win_server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989584"/>
          </a:xfrm>
          <a:prstGeom prst="roundRect">
            <a:avLst>
              <a:gd name="adj" fmla="val 554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4775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"usvmsrelecp20" is not sep + 12 hex)  ·  FQDN (OS "not reported" gives no class)</a:t>
            </a:r>
            <a:endParaRPr lang="en-US" sz="1100" dirty="0"/>
          </a:p>
        </p:txBody>
      </p:sp>
      <p:sp>
        <p:nvSpPr>
          <p:cNvPr id="12" name="Shape 10"/>
          <p:cNvSpPr/>
          <p:nvPr/>
        </p:nvSpPr>
        <p:spPr>
          <a:xfrm>
            <a:off x="502920" y="2580640"/>
            <a:ext cx="2788920" cy="38201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7360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010408"/>
            <a:ext cx="457200" cy="0"/>
          </a:xfrm>
          <a:prstGeom prst="line">
            <a:avLst/>
          </a:prstGeom>
          <a:noFill/>
          <a:ln w="19050">
            <a:solidFill>
              <a:srgbClr val="E31837"/>
            </a:solidFill>
            <a:prstDash val="solid"/>
          </a:ln>
        </p:spPr>
      </p:sp>
      <p:sp>
        <p:nvSpPr>
          <p:cNvPr id="15" name="Text 13"/>
          <p:cNvSpPr txBox="1"/>
          <p:nvPr/>
        </p:nvSpPr>
        <p:spPr>
          <a:xfrm>
            <a:off x="740664" y="30561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SDI000003444611</a:t>
            </a:r>
            <a:endParaRPr lang="en-US" sz="1500" dirty="0"/>
          </a:p>
        </p:txBody>
      </p:sp>
      <p:sp>
        <p:nvSpPr>
          <p:cNvPr id="16" name="Text 14"/>
          <p:cNvSpPr txBox="1"/>
          <p:nvPr/>
        </p:nvSpPr>
        <p:spPr>
          <a:xfrm>
            <a:off x="740664" y="3421888"/>
            <a:ext cx="2313432" cy="22656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usvmsrelecp20.corp.bankofamerica.com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30.52.240.133</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(not reported)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USVMSRELECP20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05:56:30</a:t>
            </a:r>
            <a:endParaRPr lang="en-US" sz="1200" dirty="0"/>
          </a:p>
        </p:txBody>
      </p:sp>
      <p:sp>
        <p:nvSpPr>
          <p:cNvPr id="17" name="Text 15">
            <a:hlinkClick r:id="rId1" tooltip="https://bofasecopsdev.service-now.com/sn_sec_cmn_src_ci_list.do?sysparm_query=number=SDI000003444611"/>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44461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580640"/>
            <a:ext cx="4745736" cy="3820160"/>
          </a:xfrm>
          <a:prstGeom prst="roundRect">
            <a:avLst>
              <a:gd name="adj" fmla="val 143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7360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010408"/>
            <a:ext cx="457200" cy="0"/>
          </a:xfrm>
          <a:prstGeom prst="line">
            <a:avLst/>
          </a:prstGeom>
          <a:noFill/>
          <a:ln w="19050">
            <a:solidFill>
              <a:srgbClr val="E31837"/>
            </a:solidFill>
            <a:prstDash val="solid"/>
          </a:ln>
        </p:spPr>
      </p:sp>
      <p:sp>
        <p:nvSpPr>
          <p:cNvPr id="21" name="Text 19"/>
          <p:cNvSpPr txBox="1"/>
          <p:nvPr/>
        </p:nvSpPr>
        <p:spPr>
          <a:xfrm>
            <a:off x="3749040" y="3083560"/>
            <a:ext cx="4233672" cy="31617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"usvmsrelecp20.corp.bankofamerica.com"; the whole hardware tree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fqdn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usvmsrelecp20 [win_server] ip 30.52.240.133 -&gt; exactly one, accepted</a:t>
            </a:r>
            <a:endParaRPr lang="en-US" sz="1300" dirty="0"/>
          </a:p>
        </p:txBody>
      </p:sp>
      <p:sp>
        <p:nvSpPr>
          <p:cNvPr id="22" name="Shape 20"/>
          <p:cNvSpPr/>
          <p:nvPr/>
        </p:nvSpPr>
        <p:spPr>
          <a:xfrm>
            <a:off x="8439912" y="2580640"/>
            <a:ext cx="3246120" cy="382016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745232"/>
            <a:ext cx="64008" cy="3490976"/>
          </a:xfrm>
          <a:prstGeom prst="rect">
            <a:avLst/>
          </a:prstGeom>
          <a:solidFill>
            <a:srgbClr val="E31837"/>
          </a:solidFill>
          <a:ln w="12700">
            <a:solidFill>
              <a:srgbClr val="333333"/>
            </a:solidFill>
            <a:prstDash val="solid"/>
          </a:ln>
        </p:spPr>
      </p:sp>
      <p:sp>
        <p:nvSpPr>
          <p:cNvPr id="24" name="Text 22"/>
          <p:cNvSpPr txBox="1"/>
          <p:nvPr/>
        </p:nvSpPr>
        <p:spPr>
          <a:xfrm>
            <a:off x="8714232" y="27360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010408"/>
            <a:ext cx="457200" cy="0"/>
          </a:xfrm>
          <a:prstGeom prst="line">
            <a:avLst/>
          </a:prstGeom>
          <a:noFill/>
          <a:ln w="19050">
            <a:solidFill>
              <a:srgbClr val="E31837"/>
            </a:solidFill>
            <a:prstDash val="solid"/>
          </a:ln>
        </p:spPr>
      </p:sp>
      <p:sp>
        <p:nvSpPr>
          <p:cNvPr id="26" name="Text 24"/>
          <p:cNvSpPr txBox="1"/>
          <p:nvPr/>
        </p:nvSpPr>
        <p:spPr>
          <a:xfrm>
            <a:off x="8714232" y="30561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usvmsrelecp20</a:t>
            </a:r>
            <a:endParaRPr lang="en-US" sz="1500" dirty="0"/>
          </a:p>
        </p:txBody>
      </p:sp>
      <p:sp>
        <p:nvSpPr>
          <p:cNvPr id="27" name="Text 25"/>
          <p:cNvSpPr txBox="1"/>
          <p:nvPr/>
        </p:nvSpPr>
        <p:spPr>
          <a:xfrm>
            <a:off x="8714232" y="33761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Windows Server</a:t>
            </a:r>
            <a:endParaRPr lang="en-US" sz="1100" dirty="0"/>
          </a:p>
        </p:txBody>
      </p:sp>
      <p:sp>
        <p:nvSpPr>
          <p:cNvPr id="28" name="Text 26"/>
          <p:cNvSpPr txBox="1"/>
          <p:nvPr/>
        </p:nvSpPr>
        <p:spPr>
          <a:xfrm>
            <a:off x="8714232" y="3696208"/>
            <a:ext cx="2715768" cy="1991360"/>
          </a:xfrm>
          <a:prstGeom prst="rect">
            <a:avLst/>
          </a:prstGeom>
          <a:noFill/>
          <a:ln/>
        </p:spPr>
        <p:txBody>
          <a:bodyPr wrap="square" lIns="0" tIns="0" rIns="0" bIns="0" rtlCol="0" anchor="t"/>
          <a:lstStyle/>
          <a:p>
            <a:pPr indent="0" marL="0">
              <a:buNone/>
            </a:pPr>
            <a:r>
              <a:rPr lang="en-US" sz="110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1100" dirty="0">
                <a:solidFill>
                  <a:srgbClr val="4D4F53"/>
                </a:solidFill>
                <a:latin typeface="Arial" pitchFamily="34" charset="0"/>
                <a:ea typeface="Arial" pitchFamily="34" charset="-122"/>
                <a:cs typeface="Arial" pitchFamily="34" charset="-120"/>
              </a:rPr>
              <a:t>usvmsrelecp20.corp.bankofamerica.com</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100" dirty="0">
                <a:solidFill>
                  <a:srgbClr val="4D4F53"/>
                </a:solidFill>
                <a:latin typeface="Arial" pitchFamily="34" charset="0"/>
                <a:ea typeface="Arial" pitchFamily="34" charset="-122"/>
                <a:cs typeface="Arial" pitchFamily="34" charset="-120"/>
              </a:rPr>
              <a:t>sdi.corp.bankofamerica.com</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100" dirty="0">
                <a:solidFill>
                  <a:srgbClr val="4D4F53"/>
                </a:solidFill>
                <a:latin typeface="Arial" pitchFamily="34" charset="0"/>
                <a:ea typeface="Arial" pitchFamily="34" charset="-122"/>
                <a:cs typeface="Arial" pitchFamily="34" charset="-120"/>
              </a:rPr>
              <a:t>30.52.240.133</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100" dirty="0">
                <a:solidFill>
                  <a:srgbClr val="4D4F53"/>
                </a:solidFill>
                <a:latin typeface="Arial" pitchFamily="34" charset="0"/>
                <a:ea typeface="Arial" pitchFamily="34" charset="-122"/>
                <a:cs typeface="Arial" pitchFamily="34" charset="-120"/>
              </a:rPr>
              <a:t>VMware-42 1b fa f5 9d 26 24 ef-5d 1f a7 59 51 ef 95 b9</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100" dirty="0">
                <a:solidFill>
                  <a:srgbClr val="4D4F53"/>
                </a:solidFill>
                <a:latin typeface="Arial" pitchFamily="34" charset="0"/>
                <a:ea typeface="Arial" pitchFamily="34" charset="-122"/>
                <a:cs typeface="Arial" pitchFamily="34" charset="-120"/>
              </a:rPr>
              <a:t>VMware, Inc. VMware Virtual Platform</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100" dirty="0">
                <a:solidFill>
                  <a:srgbClr val="4D4F53"/>
                </a:solidFill>
                <a:latin typeface="Arial" pitchFamily="34" charset="0"/>
                <a:ea typeface="Arial" pitchFamily="34" charset="-122"/>
                <a:cs typeface="Arial" pitchFamily="34" charset="-120"/>
              </a:rPr>
              <a:t>Installed</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100" dirty="0">
                <a:solidFill>
                  <a:srgbClr val="4D4F53"/>
                </a:solidFill>
                <a:latin typeface="Arial" pitchFamily="34" charset="0"/>
                <a:ea typeface="Arial" pitchFamily="34" charset="-122"/>
                <a:cs typeface="Arial" pitchFamily="34" charset="-120"/>
              </a:rPr>
              <a:t>Operational</a:t>
            </a:r>
            <a:endParaRPr lang="en-US" sz="1100" dirty="0"/>
          </a:p>
        </p:txBody>
      </p:sp>
      <p:sp>
        <p:nvSpPr>
          <p:cNvPr id="29" name="Text 27">
            <a:hlinkClick r:id="rId2" tooltip="https://bofasecopsdev.service-now.com/cmdb_ci_win_server.do?sys_id=f3e5f0f09782f29834bfb65de053af5e"/>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f3e5f0f09782f29834bfb65de053af5e"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260  ·  FQDN HARDWARE MATCH  ·  EXAMPLE 3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usvmsrelecp20.corp.bankofamerica.com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874c945d3b8747102fcecefe23e45a11" history="1" highlightClick="0" endSnd="0">
                  <a:extLst>
                    <a:ext uri="{A12FA001-AC4F-418D-AE19-62706E023703}">
                      <ahyp:hlinkClr xmlns:ahyp="http://schemas.microsoft.com/office/drawing/2018/hyperlinkcolor" val="tx"/>
                    </a:ext>
                  </a:extLst>
                </a:hlinkClick>
              </a:rPr>
              <a:t>SDI000003444611</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db54248b47624710a1a9295b416d4362" history="1" highlightClick="0" endSnd="0">
                  <a:extLst>
                    <a:ext uri="{A12FA001-AC4F-418D-AE19-62706E023703}">
                      <ahyp:hlinkClr xmlns:ahyp="http://schemas.microsoft.com/office/drawing/2018/hyperlinkcolor" val="tx"/>
                    </a:ext>
                  </a:extLst>
                </a:hlinkClick>
              </a:rPr>
              <a:t>BOFA FQDN Hardware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win_server.do?sys_id=f3e5f0f09782f29834bfb65de053af5e" history="1" highlightClick="0" endSnd="0">
                  <a:extLst>
                    <a:ext uri="{A12FA001-AC4F-418D-AE19-62706E023703}">
                      <ahyp:hlinkClr xmlns:ahyp="http://schemas.microsoft.com/office/drawing/2018/hyperlinkcolor" val="tx"/>
                    </a:ext>
                  </a:extLst>
                </a:hlinkClick>
              </a:rPr>
              <a:t>usvmsrelecp20</a:t>
            </a:r>
            <a:endParaRPr lang="en-US" sz="10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Lower-cases and trims the DNS name; a name without a dot is refused. The search covers the whole Hardware tree (cmdb_ci_hardware and every sub-class).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"usvmsrelecp20.corp.bankofamerica.com"; the whole hardware tree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fqdn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fqdn equal to the DNS name, ignored classes left out. One row is returned; among several rows the one whose ip_address equals the scanned IP is taken when exactly one does, else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usvmsrelecp20 [win_server] ip 30.52.240.133 -&gt;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hardware_list.do?sysparm_query=fqdn%3Dusvmsrelecp20.corp.bankofamerica.com" history="1" highlightClick="0" endSnd="0">
                            <a:extLst>
                              <a:ext uri="{A12FA001-AC4F-418D-AE19-62706E023703}">
                                <ahyp:hlinkClr xmlns:ahyp="http://schemas.microsoft.com/office/drawing/2018/hyperlinkcolor" val="tx"/>
                              </a:ext>
                            </a:extLst>
                          </a:hlinkClick>
                        </a:rPr>
                        <a:t>Hardware: fqdn=usvmsrelecp20.corp.bankofamerica.com</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win_server.do?sys_id=f3e5f0f09782f29834bfb65de053af5e" history="1" highlightClick="0" endSnd="0">
                            <a:extLst>
                              <a:ext uri="{A12FA001-AC4F-418D-AE19-62706E023703}">
                                <ahyp:hlinkClr xmlns:ahyp="http://schemas.microsoft.com/office/drawing/2018/hyperlinkcolor" val="tx"/>
                              </a:ext>
                            </a:extLst>
                          </a:hlinkClick>
                        </a:rPr>
                        <a:t>usvmsrelecp20</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300  ·  NAME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Domain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935480"/>
          </a:xfrm>
          <a:prstGeom prst="roundRect">
            <a:avLst>
              <a:gd name="adj" fmla="val 28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6062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2954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scanned DNS name split into a short hostname and a domain, and requires the CI's own fqdn or dns_domain to agree with that domain, searching only the CMDB class the scanned OS text implies so a namesake in another domain or class is never taken.</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right after the exact-fqdn rules because it is the strictest name-based search that still tolerates a CI that never had the fqdn copied into its name.</a:t>
            </a:r>
            <a:endParaRPr lang="en-US" sz="1500" dirty="0"/>
          </a:p>
        </p:txBody>
      </p:sp>
      <p:sp>
        <p:nvSpPr>
          <p:cNvPr id="13" name="Shape 11"/>
          <p:cNvSpPr/>
          <p:nvPr/>
        </p:nvSpPr>
        <p:spPr>
          <a:xfrm>
            <a:off x="502920" y="3608832"/>
            <a:ext cx="6933529" cy="2778760"/>
          </a:xfrm>
          <a:prstGeom prst="roundRect">
            <a:avLst>
              <a:gd name="adj" fmla="val 197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7917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066032"/>
            <a:ext cx="457200" cy="0"/>
          </a:xfrm>
          <a:prstGeom prst="line">
            <a:avLst/>
          </a:prstGeom>
          <a:noFill/>
          <a:ln w="19050">
            <a:solidFill>
              <a:srgbClr val="E31837"/>
            </a:solidFill>
            <a:prstDash val="solid"/>
          </a:ln>
        </p:spPr>
      </p:sp>
      <p:sp>
        <p:nvSpPr>
          <p:cNvPr id="16" name="Text 14"/>
          <p:cNvSpPr txBox="1"/>
          <p:nvPr/>
        </p:nvSpPr>
        <p:spPr>
          <a:xfrm>
            <a:off x="822960" y="4157472"/>
            <a:ext cx="6293449" cy="204724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DNS (sourceValue); payload OS (for the class) and payload IP (tie-break only); the framework variable _ignoreClass when supplied, otherwise the property sn_sec_cmn.ignoreCIClass. The rule argument is not used.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one CI of the OS-implied class (subclasses included) named with the short hostname whose fqdn or dns_domain agrees with the scanned domain, or the single agreeing CI carrying the scanned IP when several agree; null otherwise.</a:t>
            </a:r>
            <a:endParaRPr lang="en-US" sz="1400" dirty="0"/>
          </a:p>
        </p:txBody>
      </p:sp>
      <p:sp>
        <p:nvSpPr>
          <p:cNvPr id="17" name="Shape 15"/>
          <p:cNvSpPr/>
          <p:nvPr/>
        </p:nvSpPr>
        <p:spPr>
          <a:xfrm>
            <a:off x="7665049" y="3608832"/>
            <a:ext cx="4020983" cy="2778760"/>
          </a:xfrm>
          <a:prstGeom prst="roundRect">
            <a:avLst>
              <a:gd name="adj" fmla="val 197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7917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066032"/>
            <a:ext cx="457200" cy="0"/>
          </a:xfrm>
          <a:prstGeom prst="line">
            <a:avLst/>
          </a:prstGeom>
          <a:noFill/>
          <a:ln w="19050">
            <a:solidFill>
              <a:srgbClr val="E31837"/>
            </a:solidFill>
            <a:prstDash val="solid"/>
          </a:ln>
        </p:spPr>
      </p:sp>
      <p:sp>
        <p:nvSpPr>
          <p:cNvPr id="20" name="Text 18"/>
          <p:cNvSpPr txBox="1"/>
          <p:nvPr/>
        </p:nvSpPr>
        <p:spPr>
          <a:xfrm>
            <a:off x="7985089" y="4157472"/>
            <a:ext cx="3380903" cy="104140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FQDN Hardware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Hostname Domain Hardware Match</a:t>
            </a:r>
            <a:endParaRPr lang="en-US" sz="1300" dirty="0"/>
          </a:p>
        </p:txBody>
      </p:sp>
      <p:sp>
        <p:nvSpPr>
          <p:cNvPr id="21" name="Text 19"/>
          <p:cNvSpPr txBox="1"/>
          <p:nvPr/>
        </p:nvSpPr>
        <p:spPr>
          <a:xfrm>
            <a:off x="7985089" y="529031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133,745</a:t>
            </a:r>
            <a:endParaRPr lang="en-US" sz="2800" dirty="0"/>
          </a:p>
        </p:txBody>
      </p:sp>
      <p:sp>
        <p:nvSpPr>
          <p:cNvPr id="22" name="Text 20"/>
          <p:cNvSpPr txBox="1"/>
          <p:nvPr/>
        </p:nvSpPr>
        <p:spPr>
          <a:xfrm>
            <a:off x="7985089" y="585724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300  ·  NAME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Domain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5540"/>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1   Source guard and normalisation.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Returns null when sourceValue (the DNS field) is empty. Otherwise coerces it to a string, trims it and lower-cases it; sample 'ah-1047132-001.sdi.corp.bankofamerica.com'.</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2   Split into short hostname and domain.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Finds the first dot. When there is none or it is the first character the rule returns null (a bare label is left to the hostname rules). host is the text before the first dot ('ah-1047132-001'), domain everything after it ('sdi.corp.bankofamerica.com').</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3   Read the IP and the ignore list.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ip is the payload IP as a string, or empty when absent. ignore is the framework variable _ignoreClass when defined and non-empty, otherwise the property sn_sec_cmn.ignoreCIClass, a comma list of exact class names.</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4   Class from the scanned OS.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classFor gives no class for an empty OS or three or more '/'-separated guesses; otherwise ordered keyword tests pick ESX, Windows Server or Computer, AIX, Solaris, HP-UX, Storage Server, Printer, Linux Server or Network Gear. No class returns null.</a:t>
            </a:r>
            <a:endParaRPr lang="en-US" sz="1350" dirty="0"/>
          </a:p>
        </p:txBody>
      </p:sp>
      <p:sp>
        <p:nvSpPr>
          <p:cNvPr id="10" name="Text 8"/>
          <p:cNvSpPr txBox="1"/>
          <p:nvPr/>
        </p:nvSpPr>
        <p:spPr>
          <a:xfrm>
            <a:off x="6277356"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5   Query the class table by short name.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GlideRecord on the chosen class table (its subclasses included by the table hierarchy); an invalid table returns null. Query: name equals host (case-insensitive), and sys_class_name NOT IN the ignore list when that list is non-empty. No setLimit.</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6   Walk every row and test domain agreement.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Each row's fqdn and dns_domain are read as lower-cased strings. A row agrees when fqdn equals the full scanned name, or dns_domain equals domain, or fqdn starts with host plus a dot and contains domain after position 0; agreeing rows are kept in good.</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7   Collect IP hits in the same pass.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An agreeing row whose ip_address equals the payload IP exactly (plain string compare, no normalisation) is also added to ipHits; nothing is added when the payload carries no IP.</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8   Decide.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Exactly one entry in good: return its sys_id. Two or more in good and exactly one in ipHits: return that one. Anything else (no agreeing CI, or a tie the IP cannot break) returns null. The count comes from the collected arrays, not from next then hasNext.</a:t>
            </a:r>
            <a:endParaRPr lang="en-US" sz="13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300  ·  NAME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Domain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291840"/>
          </a:xfrm>
          <a:prstGeom prst="roundRect">
            <a:avLst>
              <a:gd name="adj" fmla="val 16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9626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6517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(the DNS field)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lower-cased name has no dot, or its first character is a dot (bare label left to the hostname rules)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ClassFor gives no class: OS empty, OS with three or more '/'-separated guesses, or OS text matching none of the keywords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GlideRecord for the OS-implied class table is not valid</a:t>
            </a:r>
            <a:endParaRPr lang="en-US" sz="1500" dirty="0"/>
          </a:p>
        </p:txBody>
      </p:sp>
      <p:sp>
        <p:nvSpPr>
          <p:cNvPr id="13" name="Text 11"/>
          <p:cNvSpPr txBox="1"/>
          <p:nvPr/>
        </p:nvSpPr>
        <p:spPr>
          <a:xfrm>
            <a:off x="6277356" y="1975104"/>
            <a:ext cx="5088636" cy="26517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CI of that class (ignore-listed classes excluded) named with the short hostname has fqdn or dns_domain agreeing with the scanned domain</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CIs agree and the scanned IP does not single out exactly one of them (no payload IP, no ip_address hit, or several hits)</a:t>
            </a:r>
            <a:endParaRPr lang="en-US" sz="1500" dirty="0"/>
          </a:p>
        </p:txBody>
      </p:sp>
      <p:sp>
        <p:nvSpPr>
          <p:cNvPr id="14" name="Shape 12"/>
          <p:cNvSpPr/>
          <p:nvPr/>
        </p:nvSpPr>
        <p:spPr>
          <a:xfrm>
            <a:off x="502920" y="49651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9651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Hostname Domain Hardware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300  ·  HOSTNAME DOMAIN CLASS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lsdnab00xsdi001.sdi.corp.bankofamerica.com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linux_server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040384"/>
          </a:xfrm>
          <a:prstGeom prst="roundRect">
            <a:avLst>
              <a:gd name="adj" fmla="val 5273"/>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5283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"lsdnab00xsdi001"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a:t>
            </a:r>
            <a:endParaRPr lang="en-US" sz="1100" dirty="0"/>
          </a:p>
        </p:txBody>
      </p:sp>
      <p:sp>
        <p:nvSpPr>
          <p:cNvPr id="12" name="Shape 10"/>
          <p:cNvSpPr/>
          <p:nvPr/>
        </p:nvSpPr>
        <p:spPr>
          <a:xfrm>
            <a:off x="502920" y="2631440"/>
            <a:ext cx="2788920" cy="37693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7868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061208"/>
            <a:ext cx="457200" cy="0"/>
          </a:xfrm>
          <a:prstGeom prst="line">
            <a:avLst/>
          </a:prstGeom>
          <a:noFill/>
          <a:ln w="19050">
            <a:solidFill>
              <a:srgbClr val="E31837"/>
            </a:solidFill>
            <a:prstDash val="solid"/>
          </a:ln>
        </p:spPr>
      </p:sp>
      <p:sp>
        <p:nvSpPr>
          <p:cNvPr id="15" name="Text 13"/>
          <p:cNvSpPr txBox="1"/>
          <p:nvPr/>
        </p:nvSpPr>
        <p:spPr>
          <a:xfrm>
            <a:off x="740664" y="31069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SDI000003576701</a:t>
            </a:r>
            <a:endParaRPr lang="en-US" sz="1500" dirty="0"/>
          </a:p>
        </p:txBody>
      </p:sp>
      <p:sp>
        <p:nvSpPr>
          <p:cNvPr id="16" name="Text 14"/>
          <p:cNvSpPr txBox="1"/>
          <p:nvPr/>
        </p:nvSpPr>
        <p:spPr>
          <a:xfrm>
            <a:off x="740664" y="3472688"/>
            <a:ext cx="2313432" cy="22148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lsdnab00xsdi001.sdi.corp.bankofamerica.com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30.39.246.10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Red Hat Enterprise Linux CoreOS 4.20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06:07:37</a:t>
            </a:r>
            <a:endParaRPr lang="en-US" sz="1200" dirty="0"/>
          </a:p>
        </p:txBody>
      </p:sp>
      <p:sp>
        <p:nvSpPr>
          <p:cNvPr id="17" name="Text 15">
            <a:hlinkClick r:id="rId1" tooltip="https://bofasecopsdev.service-now.com/sn_sec_cmn_src_ci_list.do?sysparm_query=number=SDI000003576701"/>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7670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631440"/>
            <a:ext cx="4745736" cy="3769360"/>
          </a:xfrm>
          <a:prstGeom prst="roundRect">
            <a:avLst>
              <a:gd name="adj" fmla="val 145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7868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061208"/>
            <a:ext cx="457200" cy="0"/>
          </a:xfrm>
          <a:prstGeom prst="line">
            <a:avLst/>
          </a:prstGeom>
          <a:noFill/>
          <a:ln w="19050">
            <a:solidFill>
              <a:srgbClr val="E31837"/>
            </a:solidFill>
            <a:prstDash val="solid"/>
          </a:ln>
        </p:spPr>
      </p:sp>
      <p:sp>
        <p:nvSpPr>
          <p:cNvPr id="21" name="Text 19"/>
          <p:cNvSpPr txBox="1"/>
          <p:nvPr/>
        </p:nvSpPr>
        <p:spPr>
          <a:xfrm>
            <a:off x="3749040" y="3134360"/>
            <a:ext cx="4233672" cy="31109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Split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host "lsdnab00xsdi001", domain "sdi.corp.bankofamerica.com"; OS "Red Hat Enterprise Linux CoreOS 4.20" gives the class linux_server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host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lsdnab00xsdi001 [linux_server] ip 30.39.246.10 domain "SDI.CORP.BANKOFAMERICA.COM" agrees -&gt; 1 agree on the domain</a:t>
            </a:r>
            <a:endParaRPr lang="en-US" sz="1300" dirty="0"/>
          </a:p>
        </p:txBody>
      </p:sp>
      <p:sp>
        <p:nvSpPr>
          <p:cNvPr id="22" name="Shape 20"/>
          <p:cNvSpPr/>
          <p:nvPr/>
        </p:nvSpPr>
        <p:spPr>
          <a:xfrm>
            <a:off x="8439912" y="2631440"/>
            <a:ext cx="3246120" cy="376936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796032"/>
            <a:ext cx="64008" cy="3440176"/>
          </a:xfrm>
          <a:prstGeom prst="rect">
            <a:avLst/>
          </a:prstGeom>
          <a:solidFill>
            <a:srgbClr val="E31837"/>
          </a:solidFill>
          <a:ln w="12700">
            <a:solidFill>
              <a:srgbClr val="333333"/>
            </a:solidFill>
            <a:prstDash val="solid"/>
          </a:ln>
        </p:spPr>
      </p:sp>
      <p:sp>
        <p:nvSpPr>
          <p:cNvPr id="24" name="Text 22"/>
          <p:cNvSpPr txBox="1"/>
          <p:nvPr/>
        </p:nvSpPr>
        <p:spPr>
          <a:xfrm>
            <a:off x="8714232" y="27868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061208"/>
            <a:ext cx="457200" cy="0"/>
          </a:xfrm>
          <a:prstGeom prst="line">
            <a:avLst/>
          </a:prstGeom>
          <a:noFill/>
          <a:ln w="19050">
            <a:solidFill>
              <a:srgbClr val="E31837"/>
            </a:solidFill>
            <a:prstDash val="solid"/>
          </a:ln>
        </p:spPr>
      </p:sp>
      <p:sp>
        <p:nvSpPr>
          <p:cNvPr id="26" name="Text 24"/>
          <p:cNvSpPr txBox="1"/>
          <p:nvPr/>
        </p:nvSpPr>
        <p:spPr>
          <a:xfrm>
            <a:off x="8714232" y="31069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lsdnab00xsdi001</a:t>
            </a:r>
            <a:endParaRPr lang="en-US" sz="1500" dirty="0"/>
          </a:p>
        </p:txBody>
      </p:sp>
      <p:sp>
        <p:nvSpPr>
          <p:cNvPr id="27" name="Text 25"/>
          <p:cNvSpPr txBox="1"/>
          <p:nvPr/>
        </p:nvSpPr>
        <p:spPr>
          <a:xfrm>
            <a:off x="8714232" y="34269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Linux Server</a:t>
            </a:r>
            <a:endParaRPr lang="en-US" sz="1100" dirty="0"/>
          </a:p>
        </p:txBody>
      </p:sp>
      <p:sp>
        <p:nvSpPr>
          <p:cNvPr id="28" name="Text 26"/>
          <p:cNvSpPr txBox="1"/>
          <p:nvPr/>
        </p:nvSpPr>
        <p:spPr>
          <a:xfrm>
            <a:off x="8714232" y="3747008"/>
            <a:ext cx="2715768" cy="194056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30.39.246.10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MXQ2500GNX</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Hewlett-Packard ProLiant DL360 Gen10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linux_server.do?sys_id=30c82e632b91aa14d50dffbdbe91bfa9"/>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30c82e632b91aa14d50dffbdbe91bfa9"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300  ·  HOSTNAME DOMAIN CLASS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lsdnab00xsdi001.sdi.corp.bankofamerica.com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9635d6563b47039c9289d164c3e45ad7" history="1" highlightClick="0" endSnd="0">
                  <a:extLst>
                    <a:ext uri="{A12FA001-AC4F-418D-AE19-62706E023703}">
                      <ahyp:hlinkClr xmlns:ahyp="http://schemas.microsoft.com/office/drawing/2018/hyperlinkcolor" val="tx"/>
                    </a:ext>
                  </a:extLst>
                </a:hlinkClick>
              </a:rPr>
              <a:t>SDI000003576701</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2194e48b47624710a1a9295b416d4327" history="1" highlightClick="0" endSnd="0">
                  <a:extLst>
                    <a:ext uri="{A12FA001-AC4F-418D-AE19-62706E023703}">
                      <ahyp:hlinkClr xmlns:ahyp="http://schemas.microsoft.com/office/drawing/2018/hyperlinkcolor" val="tx"/>
                    </a:ext>
                  </a:extLst>
                </a:hlinkClick>
              </a:rPr>
              <a:t>BOFA Hostname Domain Class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linux_server.do?sys_id=30c82e632b91aa14d50dffbdbe91bfa9" history="1" highlightClick="0" endSnd="0">
                  <a:extLst>
                    <a:ext uri="{A12FA001-AC4F-418D-AE19-62706E023703}">
                      <ahyp:hlinkClr xmlns:ahyp="http://schemas.microsoft.com/office/drawing/2018/hyperlinkcolor" val="tx"/>
                    </a:ext>
                  </a:extLst>
                </a:hlinkClick>
              </a:rPr>
              <a:t>lsdnab00xsdi001</a:t>
            </a:r>
            <a:endParaRPr lang="en-US" sz="10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Split</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Splits the DNS name at the first dot into the host label and the domain; no domain means null. classFor(sourcePayload.OS) turns the OS text "Red Hat Enterprise Linux CoreOS 4.20" into the CMDB class the search is limited to, sub-classes included; no class means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host "lsdnab00xsdi001", domain "sdi.corp.bankofamerica.com"; OS "Red Hat Enterprise Linux CoreOS 4.20" gives the class linux_server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host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name equal to the label, ignored classes left out. A row agrees when its fqdn equals the DNS name, its dns_domain equals the domain, or its fqdn starts with the label and holds the domain. One agreeing row is returned; among several the one on the scanned address; else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lsdnab00xsdi001 [linux_server] ip 30.39.246.10 domain "SDI.CORP.BANKOFAMERICA.COM" agrees -&gt; 1 agree on the domain</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linux_server_list.do?sysparm_query=name%3Dlsdnab00xsdi001" history="1" highlightClick="0" endSnd="0">
                            <a:extLst>
                              <a:ext uri="{A12FA001-AC4F-418D-AE19-62706E023703}">
                                <ahyp:hlinkClr xmlns:ahyp="http://schemas.microsoft.com/office/drawing/2018/hyperlinkcolor" val="tx"/>
                              </a:ext>
                            </a:extLst>
                          </a:hlinkClick>
                        </a:rPr>
                        <a:t>linux server: name=lsdnab00xsdi001</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linux_server.do?sys_id=30c82e632b91aa14d50dffbdbe91bfa9" history="1" highlightClick="0" endSnd="0">
                            <a:extLst>
                              <a:ext uri="{A12FA001-AC4F-418D-AE19-62706E023703}">
                                <ahyp:hlinkClr xmlns:ahyp="http://schemas.microsoft.com/office/drawing/2018/hyperlinkcolor" val="tx"/>
                              </a:ext>
                            </a:extLst>
                          </a:hlinkClick>
                        </a:rPr>
                        <a:t>lsdnab00xsdi001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300  ·  HOSTNAME DOMAIN CLASS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ltx14a31xsdi001.sdi.corp.bankofamerica.com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linux_server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040384"/>
          </a:xfrm>
          <a:prstGeom prst="roundRect">
            <a:avLst>
              <a:gd name="adj" fmla="val 5273"/>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5283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"ltx14a31xsdi001"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a:t>
            </a:r>
            <a:endParaRPr lang="en-US" sz="1100" dirty="0"/>
          </a:p>
        </p:txBody>
      </p:sp>
      <p:sp>
        <p:nvSpPr>
          <p:cNvPr id="12" name="Shape 10"/>
          <p:cNvSpPr/>
          <p:nvPr/>
        </p:nvSpPr>
        <p:spPr>
          <a:xfrm>
            <a:off x="502920" y="2631440"/>
            <a:ext cx="2788920" cy="37693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7868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061208"/>
            <a:ext cx="457200" cy="0"/>
          </a:xfrm>
          <a:prstGeom prst="line">
            <a:avLst/>
          </a:prstGeom>
          <a:noFill/>
          <a:ln w="19050">
            <a:solidFill>
              <a:srgbClr val="E31837"/>
            </a:solidFill>
            <a:prstDash val="solid"/>
          </a:ln>
        </p:spPr>
      </p:sp>
      <p:sp>
        <p:nvSpPr>
          <p:cNvPr id="15" name="Text 13"/>
          <p:cNvSpPr txBox="1"/>
          <p:nvPr/>
        </p:nvSpPr>
        <p:spPr>
          <a:xfrm>
            <a:off x="740664" y="31069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SDI000003576699</a:t>
            </a:r>
            <a:endParaRPr lang="en-US" sz="1500" dirty="0"/>
          </a:p>
        </p:txBody>
      </p:sp>
      <p:sp>
        <p:nvSpPr>
          <p:cNvPr id="16" name="Text 14"/>
          <p:cNvSpPr txBox="1"/>
          <p:nvPr/>
        </p:nvSpPr>
        <p:spPr>
          <a:xfrm>
            <a:off x="740664" y="3472688"/>
            <a:ext cx="2313432" cy="22148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ltx14a31xsdi001.sdi.corp.bankofamerica.com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30.25.18.11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Red Hat Enterprise Linux CoreOS 4.20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06:07:35</a:t>
            </a:r>
            <a:endParaRPr lang="en-US" sz="1200" dirty="0"/>
          </a:p>
        </p:txBody>
      </p:sp>
      <p:sp>
        <p:nvSpPr>
          <p:cNvPr id="17" name="Text 15">
            <a:hlinkClick r:id="rId1" tooltip="https://bofasecopsdev.service-now.com/sn_sec_cmn_src_ci_list.do?sysparm_query=number=SDI000003576699"/>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7669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631440"/>
            <a:ext cx="4745736" cy="3769360"/>
          </a:xfrm>
          <a:prstGeom prst="roundRect">
            <a:avLst>
              <a:gd name="adj" fmla="val 145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7868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061208"/>
            <a:ext cx="457200" cy="0"/>
          </a:xfrm>
          <a:prstGeom prst="line">
            <a:avLst/>
          </a:prstGeom>
          <a:noFill/>
          <a:ln w="19050">
            <a:solidFill>
              <a:srgbClr val="E31837"/>
            </a:solidFill>
            <a:prstDash val="solid"/>
          </a:ln>
        </p:spPr>
      </p:sp>
      <p:sp>
        <p:nvSpPr>
          <p:cNvPr id="21" name="Text 19"/>
          <p:cNvSpPr txBox="1"/>
          <p:nvPr/>
        </p:nvSpPr>
        <p:spPr>
          <a:xfrm>
            <a:off x="3749040" y="3134360"/>
            <a:ext cx="4233672" cy="31109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Split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host "ltx14a31xsdi001", domain "sdi.corp.bankofamerica.com"; OS "Red Hat Enterprise Linux CoreOS 4.20" gives the class linux_server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host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ltx14a31xsdi001 [linux_server] ip 30.25.18.11 domain "sdi.corp.bankofamerica.com" agrees -&gt; 1 agree on the domain</a:t>
            </a:r>
            <a:endParaRPr lang="en-US" sz="1300" dirty="0"/>
          </a:p>
        </p:txBody>
      </p:sp>
      <p:sp>
        <p:nvSpPr>
          <p:cNvPr id="22" name="Shape 20"/>
          <p:cNvSpPr/>
          <p:nvPr/>
        </p:nvSpPr>
        <p:spPr>
          <a:xfrm>
            <a:off x="8439912" y="2631440"/>
            <a:ext cx="3246120" cy="376936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796032"/>
            <a:ext cx="64008" cy="3440176"/>
          </a:xfrm>
          <a:prstGeom prst="rect">
            <a:avLst/>
          </a:prstGeom>
          <a:solidFill>
            <a:srgbClr val="E31837"/>
          </a:solidFill>
          <a:ln w="12700">
            <a:solidFill>
              <a:srgbClr val="333333"/>
            </a:solidFill>
            <a:prstDash val="solid"/>
          </a:ln>
        </p:spPr>
      </p:sp>
      <p:sp>
        <p:nvSpPr>
          <p:cNvPr id="24" name="Text 22"/>
          <p:cNvSpPr txBox="1"/>
          <p:nvPr/>
        </p:nvSpPr>
        <p:spPr>
          <a:xfrm>
            <a:off x="8714232" y="27868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061208"/>
            <a:ext cx="457200" cy="0"/>
          </a:xfrm>
          <a:prstGeom prst="line">
            <a:avLst/>
          </a:prstGeom>
          <a:noFill/>
          <a:ln w="19050">
            <a:solidFill>
              <a:srgbClr val="E31837"/>
            </a:solidFill>
            <a:prstDash val="solid"/>
          </a:ln>
        </p:spPr>
      </p:sp>
      <p:sp>
        <p:nvSpPr>
          <p:cNvPr id="26" name="Text 24"/>
          <p:cNvSpPr txBox="1"/>
          <p:nvPr/>
        </p:nvSpPr>
        <p:spPr>
          <a:xfrm>
            <a:off x="8714232" y="31069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ltx14a31xsdi001</a:t>
            </a:r>
            <a:endParaRPr lang="en-US" sz="1500" dirty="0"/>
          </a:p>
        </p:txBody>
      </p:sp>
      <p:sp>
        <p:nvSpPr>
          <p:cNvPr id="27" name="Text 25"/>
          <p:cNvSpPr txBox="1"/>
          <p:nvPr/>
        </p:nvSpPr>
        <p:spPr>
          <a:xfrm>
            <a:off x="8714232" y="34269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Linux Server</a:t>
            </a:r>
            <a:endParaRPr lang="en-US" sz="1100" dirty="0"/>
          </a:p>
        </p:txBody>
      </p:sp>
      <p:sp>
        <p:nvSpPr>
          <p:cNvPr id="28" name="Text 26"/>
          <p:cNvSpPr txBox="1"/>
          <p:nvPr/>
        </p:nvSpPr>
        <p:spPr>
          <a:xfrm>
            <a:off x="8714232" y="3747008"/>
            <a:ext cx="2715768" cy="194056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30.25.18.11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2M2D3900RB</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Hewlett-Packard ProLiant DL380 Gen11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linux_server.do?sys_id=44e8b6fd47cd3a90b5da45ac026d438f"/>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44e8b6fd47cd3a90b5da45ac026d438f"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300  ·  HOSTNAME DOMAIN CLASS MATCH  ·  EXAMPLE 2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ltx14a31xsdi001.sdi.corp.bankofamerica.com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9a35d6563b47039c9289d164c3e45ad0" history="1" highlightClick="0" endSnd="0">
                  <a:extLst>
                    <a:ext uri="{A12FA001-AC4F-418D-AE19-62706E023703}">
                      <ahyp:hlinkClr xmlns:ahyp="http://schemas.microsoft.com/office/drawing/2018/hyperlinkcolor" val="tx"/>
                    </a:ext>
                  </a:extLst>
                </a:hlinkClick>
              </a:rPr>
              <a:t>SDI000003576699</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2194e48b47624710a1a9295b416d4327" history="1" highlightClick="0" endSnd="0">
                  <a:extLst>
                    <a:ext uri="{A12FA001-AC4F-418D-AE19-62706E023703}">
                      <ahyp:hlinkClr xmlns:ahyp="http://schemas.microsoft.com/office/drawing/2018/hyperlinkcolor" val="tx"/>
                    </a:ext>
                  </a:extLst>
                </a:hlinkClick>
              </a:rPr>
              <a:t>BOFA Hostname Domain Class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linux_server.do?sys_id=44e8b6fd47cd3a90b5da45ac026d438f" history="1" highlightClick="0" endSnd="0">
                  <a:extLst>
                    <a:ext uri="{A12FA001-AC4F-418D-AE19-62706E023703}">
                      <ahyp:hlinkClr xmlns:ahyp="http://schemas.microsoft.com/office/drawing/2018/hyperlinkcolor" val="tx"/>
                    </a:ext>
                  </a:extLst>
                </a:hlinkClick>
              </a:rPr>
              <a:t>ltx14a31xsdi001</a:t>
            </a:r>
            <a:endParaRPr lang="en-US" sz="10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Split</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Splits the DNS name at the first dot into the host label and the domain; no domain means null. classFor(sourcePayload.OS) turns the OS text "Red Hat Enterprise Linux CoreOS 4.20" into the CMDB class the search is limited to, sub-classes included; no class means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host "ltx14a31xsdi001", domain "sdi.corp.bankofamerica.com"; OS "Red Hat Enterprise Linux CoreOS 4.20" gives the class linux_server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host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name equal to the label, ignored classes left out. A row agrees when its fqdn equals the DNS name, its dns_domain equals the domain, or its fqdn starts with the label and holds the domain. One agreeing row is returned; among several the one on the scanned address; else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ltx14a31xsdi001 [linux_server] ip 30.25.18.11 domain "sdi.corp.bankofamerica.com" agrees -&gt; 1 agree on the domain</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linux_server_list.do?sysparm_query=name%3Dltx14a31xsdi001" history="1" highlightClick="0" endSnd="0">
                            <a:extLst>
                              <a:ext uri="{A12FA001-AC4F-418D-AE19-62706E023703}">
                                <ahyp:hlinkClr xmlns:ahyp="http://schemas.microsoft.com/office/drawing/2018/hyperlinkcolor" val="tx"/>
                              </a:ext>
                            </a:extLst>
                          </a:hlinkClick>
                        </a:rPr>
                        <a:t>linux server: name=ltx14a31xsdi001</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linux_server.do?sys_id=44e8b6fd47cd3a90b5da45ac026d438f" history="1" highlightClick="0" endSnd="0">
                            <a:extLst>
                              <a:ext uri="{A12FA001-AC4F-418D-AE19-62706E023703}">
                                <ahyp:hlinkClr xmlns:ahyp="http://schemas.microsoft.com/office/drawing/2018/hyperlinkcolor" val="tx"/>
                              </a:ext>
                            </a:extLst>
                          </a:hlinkClick>
                        </a:rPr>
                        <a:t>ltx14a31xsdi001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300  ·  HOSTNAME DOMAIN CLASS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lrchac11xsdi001.sdi.corp.bankofamerica.com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linux_server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040384"/>
          </a:xfrm>
          <a:prstGeom prst="roundRect">
            <a:avLst>
              <a:gd name="adj" fmla="val 5273"/>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5283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"lrchac11xsdi001"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a:t>
            </a:r>
            <a:endParaRPr lang="en-US" sz="1100" dirty="0"/>
          </a:p>
        </p:txBody>
      </p:sp>
      <p:sp>
        <p:nvSpPr>
          <p:cNvPr id="12" name="Shape 10"/>
          <p:cNvSpPr/>
          <p:nvPr/>
        </p:nvSpPr>
        <p:spPr>
          <a:xfrm>
            <a:off x="502920" y="2631440"/>
            <a:ext cx="2788920" cy="37693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7868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061208"/>
            <a:ext cx="457200" cy="0"/>
          </a:xfrm>
          <a:prstGeom prst="line">
            <a:avLst/>
          </a:prstGeom>
          <a:noFill/>
          <a:ln w="19050">
            <a:solidFill>
              <a:srgbClr val="E31837"/>
            </a:solidFill>
            <a:prstDash val="solid"/>
          </a:ln>
        </p:spPr>
      </p:sp>
      <p:sp>
        <p:nvSpPr>
          <p:cNvPr id="15" name="Text 13"/>
          <p:cNvSpPr txBox="1"/>
          <p:nvPr/>
        </p:nvSpPr>
        <p:spPr>
          <a:xfrm>
            <a:off x="740664" y="31069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SDI000003576697</a:t>
            </a:r>
            <a:endParaRPr lang="en-US" sz="1500" dirty="0"/>
          </a:p>
        </p:txBody>
      </p:sp>
      <p:sp>
        <p:nvSpPr>
          <p:cNvPr id="16" name="Text 14"/>
          <p:cNvSpPr txBox="1"/>
          <p:nvPr/>
        </p:nvSpPr>
        <p:spPr>
          <a:xfrm>
            <a:off x="740664" y="3472688"/>
            <a:ext cx="2313432" cy="22148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lrchac11xsdi001.sdi.corp.bankofamerica.com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30.35.4.10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Red Hat Enterprise Linux CoreOS 4.20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06:07:34</a:t>
            </a:r>
            <a:endParaRPr lang="en-US" sz="1200" dirty="0"/>
          </a:p>
        </p:txBody>
      </p:sp>
      <p:sp>
        <p:nvSpPr>
          <p:cNvPr id="17" name="Text 15">
            <a:hlinkClick r:id="rId1" tooltip="https://bofasecopsdev.service-now.com/sn_sec_cmn_src_ci_list.do?sysparm_query=number=SDI000003576697"/>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7669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631440"/>
            <a:ext cx="4745736" cy="3769360"/>
          </a:xfrm>
          <a:prstGeom prst="roundRect">
            <a:avLst>
              <a:gd name="adj" fmla="val 145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7868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061208"/>
            <a:ext cx="457200" cy="0"/>
          </a:xfrm>
          <a:prstGeom prst="line">
            <a:avLst/>
          </a:prstGeom>
          <a:noFill/>
          <a:ln w="19050">
            <a:solidFill>
              <a:srgbClr val="E31837"/>
            </a:solidFill>
            <a:prstDash val="solid"/>
          </a:ln>
        </p:spPr>
      </p:sp>
      <p:sp>
        <p:nvSpPr>
          <p:cNvPr id="21" name="Text 19"/>
          <p:cNvSpPr txBox="1"/>
          <p:nvPr/>
        </p:nvSpPr>
        <p:spPr>
          <a:xfrm>
            <a:off x="3749040" y="3134360"/>
            <a:ext cx="4233672" cy="31109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Split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host "lrchac11xsdi001", domain "sdi.corp.bankofamerica.com"; OS "Red Hat Enterprise Linux CoreOS 4.20" gives the class linux_server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host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lrchac11xsdi001 [linux_server] ip 30.35.4.10 domain "SDI.CORP.BANKOFAMERICA.COM" agrees -&gt; 1 agree on the domain</a:t>
            </a:r>
            <a:endParaRPr lang="en-US" sz="1300" dirty="0"/>
          </a:p>
        </p:txBody>
      </p:sp>
      <p:sp>
        <p:nvSpPr>
          <p:cNvPr id="22" name="Shape 20"/>
          <p:cNvSpPr/>
          <p:nvPr/>
        </p:nvSpPr>
        <p:spPr>
          <a:xfrm>
            <a:off x="8439912" y="2631440"/>
            <a:ext cx="3246120" cy="376936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796032"/>
            <a:ext cx="64008" cy="3440176"/>
          </a:xfrm>
          <a:prstGeom prst="rect">
            <a:avLst/>
          </a:prstGeom>
          <a:solidFill>
            <a:srgbClr val="E31837"/>
          </a:solidFill>
          <a:ln w="12700">
            <a:solidFill>
              <a:srgbClr val="333333"/>
            </a:solidFill>
            <a:prstDash val="solid"/>
          </a:ln>
        </p:spPr>
      </p:sp>
      <p:sp>
        <p:nvSpPr>
          <p:cNvPr id="24" name="Text 22"/>
          <p:cNvSpPr txBox="1"/>
          <p:nvPr/>
        </p:nvSpPr>
        <p:spPr>
          <a:xfrm>
            <a:off x="8714232" y="27868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061208"/>
            <a:ext cx="457200" cy="0"/>
          </a:xfrm>
          <a:prstGeom prst="line">
            <a:avLst/>
          </a:prstGeom>
          <a:noFill/>
          <a:ln w="19050">
            <a:solidFill>
              <a:srgbClr val="E31837"/>
            </a:solidFill>
            <a:prstDash val="solid"/>
          </a:ln>
        </p:spPr>
      </p:sp>
      <p:sp>
        <p:nvSpPr>
          <p:cNvPr id="26" name="Text 24"/>
          <p:cNvSpPr txBox="1"/>
          <p:nvPr/>
        </p:nvSpPr>
        <p:spPr>
          <a:xfrm>
            <a:off x="8714232" y="31069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lrchac11xsdi001</a:t>
            </a:r>
            <a:endParaRPr lang="en-US" sz="1500" dirty="0"/>
          </a:p>
        </p:txBody>
      </p:sp>
      <p:sp>
        <p:nvSpPr>
          <p:cNvPr id="27" name="Text 25"/>
          <p:cNvSpPr txBox="1"/>
          <p:nvPr/>
        </p:nvSpPr>
        <p:spPr>
          <a:xfrm>
            <a:off x="8714232" y="34269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Linux Server</a:t>
            </a:r>
            <a:endParaRPr lang="en-US" sz="1100" dirty="0"/>
          </a:p>
        </p:txBody>
      </p:sp>
      <p:sp>
        <p:nvSpPr>
          <p:cNvPr id="28" name="Text 26"/>
          <p:cNvSpPr txBox="1"/>
          <p:nvPr/>
        </p:nvSpPr>
        <p:spPr>
          <a:xfrm>
            <a:off x="8714232" y="3747008"/>
            <a:ext cx="2715768" cy="194056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30.35.4.10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MXQ24923W9</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Hewlett-Packard ProLiant DL360 Gen10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linux_server.do?sys_id=15cec45c3b742e14055e3b64c3e45a73"/>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15cec45c3b742e14055e3b64c3e45a73"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300  ·  HOSTNAME DOMAIN CLASS MATCH  ·  EXAMPLE 3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lrchac11xsdi001.sdi.corp.bankofamerica.com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d635d6563b47039c9289d164c3e45abd" history="1" highlightClick="0" endSnd="0">
                  <a:extLst>
                    <a:ext uri="{A12FA001-AC4F-418D-AE19-62706E023703}">
                      <ahyp:hlinkClr xmlns:ahyp="http://schemas.microsoft.com/office/drawing/2018/hyperlinkcolor" val="tx"/>
                    </a:ext>
                  </a:extLst>
                </a:hlinkClick>
              </a:rPr>
              <a:t>SDI000003576697</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2194e48b47624710a1a9295b416d4327" history="1" highlightClick="0" endSnd="0">
                  <a:extLst>
                    <a:ext uri="{A12FA001-AC4F-418D-AE19-62706E023703}">
                      <ahyp:hlinkClr xmlns:ahyp="http://schemas.microsoft.com/office/drawing/2018/hyperlinkcolor" val="tx"/>
                    </a:ext>
                  </a:extLst>
                </a:hlinkClick>
              </a:rPr>
              <a:t>BOFA Hostname Domain Class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linux_server.do?sys_id=15cec45c3b742e14055e3b64c3e45a73" history="1" highlightClick="0" endSnd="0">
                  <a:extLst>
                    <a:ext uri="{A12FA001-AC4F-418D-AE19-62706E023703}">
                      <ahyp:hlinkClr xmlns:ahyp="http://schemas.microsoft.com/office/drawing/2018/hyperlinkcolor" val="tx"/>
                    </a:ext>
                  </a:extLst>
                </a:hlinkClick>
              </a:rPr>
              <a:t>lrchac11xsdi001</a:t>
            </a:r>
            <a:endParaRPr lang="en-US" sz="10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Split</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Splits the DNS name at the first dot into the host label and the domain; no domain means null. classFor(sourcePayload.OS) turns the OS text "Red Hat Enterprise Linux CoreOS 4.20" into the CMDB class the search is limited to, sub-classes included; no class means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host "lrchac11xsdi001", domain "sdi.corp.bankofamerica.com"; OS "Red Hat Enterprise Linux CoreOS 4.20" gives the class linux_server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host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name equal to the label, ignored classes left out. A row agrees when its fqdn equals the DNS name, its dns_domain equals the domain, or its fqdn starts with the label and holds the domain. One agreeing row is returned; among several the one on the scanned address; else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lrchac11xsdi001 [linux_server] ip 30.35.4.10 domain "SDI.CORP.BANKOFAMERICA.COM" agrees -&gt; 1 agree on the domain</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linux_server_list.do?sysparm_query=name%3Dlrchac11xsdi001" history="1" highlightClick="0" endSnd="0">
                            <a:extLst>
                              <a:ext uri="{A12FA001-AC4F-418D-AE19-62706E023703}">
                                <ahyp:hlinkClr xmlns:ahyp="http://schemas.microsoft.com/office/drawing/2018/hyperlinkcolor" val="tx"/>
                              </a:ext>
                            </a:extLst>
                          </a:hlinkClick>
                        </a:rPr>
                        <a:t>linux server: name=lrchac11xsdi001</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linux_server.do?sys_id=15cec45c3b742e14055e3b64c3e45a73" history="1" highlightClick="0" endSnd="0">
                            <a:extLst>
                              <a:ext uri="{A12FA001-AC4F-418D-AE19-62706E023703}">
                                <ahyp:hlinkClr xmlns:ahyp="http://schemas.microsoft.com/office/drawing/2018/hyperlinkcolor" val="tx"/>
                              </a:ext>
                            </a:extLst>
                          </a:hlinkClick>
                        </a:rPr>
                        <a:t>lrchac11xsdi001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310  ·  NAME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Domain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706880"/>
          </a:xfrm>
          <a:prstGeom prst="roundRect">
            <a:avLst>
              <a:gd name="adj" fmla="val 321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3776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0668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The same short-hostname-plus-domain agreement, but across all of cmdb_ci_hardware, for CIs classed generically (Server, Computer) or differently from what the scanned OS implies.</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follows the class-scoped variant so a class-consistent hit always wins first, and precedes the layered DNS and plain hostname rules, which need less.</a:t>
            </a:r>
            <a:endParaRPr lang="en-US" sz="1500" dirty="0"/>
          </a:p>
        </p:txBody>
      </p:sp>
      <p:sp>
        <p:nvSpPr>
          <p:cNvPr id="13" name="Shape 11"/>
          <p:cNvSpPr/>
          <p:nvPr/>
        </p:nvSpPr>
        <p:spPr>
          <a:xfrm>
            <a:off x="502920" y="3380232"/>
            <a:ext cx="6933529" cy="2565400"/>
          </a:xfrm>
          <a:prstGeom prst="roundRect">
            <a:avLst>
              <a:gd name="adj" fmla="val 2139"/>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5631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3837432"/>
            <a:ext cx="457200" cy="0"/>
          </a:xfrm>
          <a:prstGeom prst="line">
            <a:avLst/>
          </a:prstGeom>
          <a:noFill/>
          <a:ln w="19050">
            <a:solidFill>
              <a:srgbClr val="E31837"/>
            </a:solidFill>
            <a:prstDash val="solid"/>
          </a:ln>
        </p:spPr>
      </p:sp>
      <p:sp>
        <p:nvSpPr>
          <p:cNvPr id="16" name="Text 14"/>
          <p:cNvSpPr txBox="1"/>
          <p:nvPr/>
        </p:nvSpPr>
        <p:spPr>
          <a:xfrm>
            <a:off x="822960" y="3928872"/>
            <a:ext cx="6293449" cy="18338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DNS (sourceValue); payload IP (tie-break only); the framework variable _ignoreClass when supplied, otherwise the property sn_sec_cmn.ignoreCIClass. The OS is not read. The rule argument is not used.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one hardware CI (any class under cmdb_ci_hardware not on the ignore list) named with the short hostname whose fqdn or dns_domain agrees with the scanned domain, or the single agreeing CI carrying the scanned IP when several agree; null otherwise.</a:t>
            </a:r>
            <a:endParaRPr lang="en-US" sz="1400" dirty="0"/>
          </a:p>
        </p:txBody>
      </p:sp>
      <p:sp>
        <p:nvSpPr>
          <p:cNvPr id="17" name="Shape 15"/>
          <p:cNvSpPr/>
          <p:nvPr/>
        </p:nvSpPr>
        <p:spPr>
          <a:xfrm>
            <a:off x="7665049" y="3380232"/>
            <a:ext cx="4020983" cy="2565400"/>
          </a:xfrm>
          <a:prstGeom prst="roundRect">
            <a:avLst>
              <a:gd name="adj" fmla="val 2139"/>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5631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3837432"/>
            <a:ext cx="457200" cy="0"/>
          </a:xfrm>
          <a:prstGeom prst="line">
            <a:avLst/>
          </a:prstGeom>
          <a:noFill/>
          <a:ln w="19050">
            <a:solidFill>
              <a:srgbClr val="E31837"/>
            </a:solidFill>
            <a:prstDash val="solid"/>
          </a:ln>
        </p:spPr>
      </p:sp>
      <p:sp>
        <p:nvSpPr>
          <p:cNvPr id="20" name="Text 18"/>
          <p:cNvSpPr txBox="1"/>
          <p:nvPr/>
        </p:nvSpPr>
        <p:spPr>
          <a:xfrm>
            <a:off x="7985089" y="3928872"/>
            <a:ext cx="3380903" cy="82804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Hostname Domain Class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Layered DNS Match</a:t>
            </a:r>
            <a:endParaRPr lang="en-US" sz="1300" dirty="0"/>
          </a:p>
        </p:txBody>
      </p:sp>
      <p:sp>
        <p:nvSpPr>
          <p:cNvPr id="21" name="Text 19"/>
          <p:cNvSpPr txBox="1"/>
          <p:nvPr/>
        </p:nvSpPr>
        <p:spPr>
          <a:xfrm>
            <a:off x="7985089" y="48483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97,445</a:t>
            </a:r>
            <a:endParaRPr lang="en-US" sz="2800" dirty="0"/>
          </a:p>
        </p:txBody>
      </p:sp>
      <p:sp>
        <p:nvSpPr>
          <p:cNvPr id="22" name="Text 20"/>
          <p:cNvSpPr txBox="1"/>
          <p:nvPr/>
        </p:nvSpPr>
        <p:spPr>
          <a:xfrm>
            <a:off x="7985089" y="54152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310  ·  NAME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Domain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5540"/>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1   Source guard and normalisation.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Returns null when sourceValue (the DNS field) is empty. Otherwise coerces it to a string, trims it and lower-cases it; sample 'lrche01xtrapd01.sdi.corp.bankofamerica.com'.</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2   Split into short hostname and domain.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Finds the first dot. When there is none or it is the first character the rule returns null (a bare label is left to the hostname rules). host is the text before the first dot ('lrche01xtrapd01'), domain everything after it ('sdi.corp.bankofamerica.com').</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3   Read the IP and the ignore list.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ip is the payload IP as a string, or empty when absent. ignore is the framework variable _ignoreClass when defined and non-empty, otherwise the property sn_sec_cmn.ignoreCIClass, a comma list of exact class names. No class is derived; the OS is never read.</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4   Query cmdb_ci_hardware by short name.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GlideRecord on cmdb_ci_hardware (an invalid table returns null), so every hardware subclass is searched regardless of the scanned OS. Query: name equals host (case-insensitive); sys_class_name NOT IN ignore when non-empty. No setLimit.</a:t>
            </a:r>
            <a:endParaRPr lang="en-US" sz="1350" dirty="0"/>
          </a:p>
        </p:txBody>
      </p:sp>
      <p:sp>
        <p:nvSpPr>
          <p:cNvPr id="10" name="Text 8"/>
          <p:cNvSpPr txBox="1"/>
          <p:nvPr/>
        </p:nvSpPr>
        <p:spPr>
          <a:xfrm>
            <a:off x="6277356"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5   Walk every row and test domain agreement.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Each row's fqdn and dns_domain are read as lower-cased strings. A row agrees when fqdn equals the full scanned name, or dns_domain equals domain, or fqdn starts with host plus a dot and contains domain after position 0; agreeing rows are kept in good.</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6   Collect IP hits in the same pass.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An agreeing row whose ip_address equals the payload IP exactly (plain string compare, no normalisation) is also added to ipHits; nothing is added when the payload carries no IP.</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7   Decide.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Exactly one entry in good: return its sys_id. Two or more in good and exactly one in ipHits: return that one. Anything else (no agreeing CI, or a tie the IP cannot break) returns null. The count comes from the collected arrays, not from next then hasNext.</a:t>
            </a:r>
            <a:endParaRPr lang="en-US" sz="13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310  ·  NAME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Domain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063240"/>
          </a:xfrm>
          <a:prstGeom prst="roundRect">
            <a:avLst>
              <a:gd name="adj" fmla="val 1791"/>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7340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4231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(the DNS field)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lower-cased name has no dot, or its first character is a dot (bare label left to the hostname rules)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GlideRecord for cmdb_ci_hardware is not valid</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hardware CI (ignore-listed classes excluded) named with the short hostname has fqdn or dns_domain agreeing with the scanned domain</a:t>
            </a:r>
            <a:endParaRPr lang="en-US" sz="1500" dirty="0"/>
          </a:p>
        </p:txBody>
      </p:sp>
      <p:sp>
        <p:nvSpPr>
          <p:cNvPr id="13" name="Text 11"/>
          <p:cNvSpPr txBox="1"/>
          <p:nvPr/>
        </p:nvSpPr>
        <p:spPr>
          <a:xfrm>
            <a:off x="6277356" y="1975104"/>
            <a:ext cx="5088636" cy="24231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hardware CIs agree and the scanned IP does not single out exactly one of them (no payload IP, no ip_address hit, or several hits)</a:t>
            </a:r>
            <a:endParaRPr lang="en-US" sz="1500" dirty="0"/>
          </a:p>
        </p:txBody>
      </p:sp>
      <p:sp>
        <p:nvSpPr>
          <p:cNvPr id="14" name="Shape 12"/>
          <p:cNvSpPr/>
          <p:nvPr/>
        </p:nvSpPr>
        <p:spPr>
          <a:xfrm>
            <a:off x="502920" y="47365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7365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Layered DNS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310  ·  HOSTNAME DOMAIN HARDWARE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lsdnab03xsdi009.sdi.corp.bankofamerica.com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server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040384"/>
          </a:xfrm>
          <a:prstGeom prst="roundRect">
            <a:avLst>
              <a:gd name="adj" fmla="val 5273"/>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5283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"lsdnab03xsdi009"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name + domain (no record named "lsdnab03xsdi009")</a:t>
            </a:r>
            <a:endParaRPr lang="en-US" sz="1100" dirty="0"/>
          </a:p>
        </p:txBody>
      </p:sp>
      <p:sp>
        <p:nvSpPr>
          <p:cNvPr id="12" name="Shape 10"/>
          <p:cNvSpPr/>
          <p:nvPr/>
        </p:nvSpPr>
        <p:spPr>
          <a:xfrm>
            <a:off x="502920" y="2631440"/>
            <a:ext cx="2788920" cy="37693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7868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061208"/>
            <a:ext cx="457200" cy="0"/>
          </a:xfrm>
          <a:prstGeom prst="line">
            <a:avLst/>
          </a:prstGeom>
          <a:noFill/>
          <a:ln w="19050">
            <a:solidFill>
              <a:srgbClr val="E31837"/>
            </a:solidFill>
            <a:prstDash val="solid"/>
          </a:ln>
        </p:spPr>
      </p:sp>
      <p:sp>
        <p:nvSpPr>
          <p:cNvPr id="15" name="Text 13"/>
          <p:cNvSpPr txBox="1"/>
          <p:nvPr/>
        </p:nvSpPr>
        <p:spPr>
          <a:xfrm>
            <a:off x="740664" y="31069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SDI000003576283</a:t>
            </a:r>
            <a:endParaRPr lang="en-US" sz="1500" dirty="0"/>
          </a:p>
        </p:txBody>
      </p:sp>
      <p:sp>
        <p:nvSpPr>
          <p:cNvPr id="16" name="Text 14"/>
          <p:cNvSpPr txBox="1"/>
          <p:nvPr/>
        </p:nvSpPr>
        <p:spPr>
          <a:xfrm>
            <a:off x="740664" y="3472688"/>
            <a:ext cx="2313432" cy="22148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lsdnab03xsdi009.sdi.corp.bankofamerica.com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30.39.240.18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Red Hat Enterprise Linux CoreOS 4.20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06:06:29</a:t>
            </a:r>
            <a:endParaRPr lang="en-US" sz="1200" dirty="0"/>
          </a:p>
        </p:txBody>
      </p:sp>
      <p:sp>
        <p:nvSpPr>
          <p:cNvPr id="17" name="Text 15">
            <a:hlinkClick r:id="rId1" tooltip="https://bofasecopsdev.service-now.com/sn_sec_cmn_src_ci_list.do?sysparm_query=number=SDI000003576283"/>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7628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631440"/>
            <a:ext cx="4745736" cy="3769360"/>
          </a:xfrm>
          <a:prstGeom prst="roundRect">
            <a:avLst>
              <a:gd name="adj" fmla="val 145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7868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061208"/>
            <a:ext cx="457200" cy="0"/>
          </a:xfrm>
          <a:prstGeom prst="line">
            <a:avLst/>
          </a:prstGeom>
          <a:noFill/>
          <a:ln w="19050">
            <a:solidFill>
              <a:srgbClr val="E31837"/>
            </a:solidFill>
            <a:prstDash val="solid"/>
          </a:ln>
        </p:spPr>
      </p:sp>
      <p:sp>
        <p:nvSpPr>
          <p:cNvPr id="21" name="Text 19"/>
          <p:cNvSpPr txBox="1"/>
          <p:nvPr/>
        </p:nvSpPr>
        <p:spPr>
          <a:xfrm>
            <a:off x="3749040" y="3134360"/>
            <a:ext cx="4233672" cy="31109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Split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host "lsdnab03xsdi009", domain "sdi.corp.bankofamerica.com"; the whole hardware tree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host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lsdnab03xsdi009 [server] ip 30.39.240.18 domain "sdi.corp.bankofamerica.com" agrees -&gt; 1 agree on the domain</a:t>
            </a:r>
            <a:endParaRPr lang="en-US" sz="1300" dirty="0"/>
          </a:p>
        </p:txBody>
      </p:sp>
      <p:sp>
        <p:nvSpPr>
          <p:cNvPr id="22" name="Shape 20"/>
          <p:cNvSpPr/>
          <p:nvPr/>
        </p:nvSpPr>
        <p:spPr>
          <a:xfrm>
            <a:off x="8439912" y="2631440"/>
            <a:ext cx="3246120" cy="376936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796032"/>
            <a:ext cx="64008" cy="3440176"/>
          </a:xfrm>
          <a:prstGeom prst="rect">
            <a:avLst/>
          </a:prstGeom>
          <a:solidFill>
            <a:srgbClr val="E31837"/>
          </a:solidFill>
          <a:ln w="12700">
            <a:solidFill>
              <a:srgbClr val="333333"/>
            </a:solidFill>
            <a:prstDash val="solid"/>
          </a:ln>
        </p:spPr>
      </p:sp>
      <p:sp>
        <p:nvSpPr>
          <p:cNvPr id="24" name="Text 22"/>
          <p:cNvSpPr txBox="1"/>
          <p:nvPr/>
        </p:nvSpPr>
        <p:spPr>
          <a:xfrm>
            <a:off x="8714232" y="27868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061208"/>
            <a:ext cx="457200" cy="0"/>
          </a:xfrm>
          <a:prstGeom prst="line">
            <a:avLst/>
          </a:prstGeom>
          <a:noFill/>
          <a:ln w="19050">
            <a:solidFill>
              <a:srgbClr val="E31837"/>
            </a:solidFill>
            <a:prstDash val="solid"/>
          </a:ln>
        </p:spPr>
      </p:sp>
      <p:sp>
        <p:nvSpPr>
          <p:cNvPr id="26" name="Text 24"/>
          <p:cNvSpPr txBox="1"/>
          <p:nvPr/>
        </p:nvSpPr>
        <p:spPr>
          <a:xfrm>
            <a:off x="8714232" y="31069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lsdnab03xsdi009</a:t>
            </a:r>
            <a:endParaRPr lang="en-US" sz="1500" dirty="0"/>
          </a:p>
        </p:txBody>
      </p:sp>
      <p:sp>
        <p:nvSpPr>
          <p:cNvPr id="27" name="Text 25"/>
          <p:cNvSpPr txBox="1"/>
          <p:nvPr/>
        </p:nvSpPr>
        <p:spPr>
          <a:xfrm>
            <a:off x="8714232" y="34269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Server</a:t>
            </a:r>
            <a:endParaRPr lang="en-US" sz="1100" dirty="0"/>
          </a:p>
        </p:txBody>
      </p:sp>
      <p:sp>
        <p:nvSpPr>
          <p:cNvPr id="28" name="Text 26"/>
          <p:cNvSpPr txBox="1"/>
          <p:nvPr/>
        </p:nvSpPr>
        <p:spPr>
          <a:xfrm>
            <a:off x="8714232" y="3747008"/>
            <a:ext cx="2715768" cy="194056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30.39.240.18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2M2D2R024K</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HPE ProLiant DL380 Gen11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server.do?sys_id=35485a949310fe1026fbfbb4ed03d640"/>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35485a949310fe1026fbfbb4ed03d640"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310  ·  HOSTNAME DOMAIN HARDWARE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lsdnab03xsdi009.sdi.corp.bankofamerica.com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f8059a962bcf0350a277fab2f291bf8c" history="1" highlightClick="0" endSnd="0">
                  <a:extLst>
                    <a:ext uri="{A12FA001-AC4F-418D-AE19-62706E023703}">
                      <ahyp:hlinkClr xmlns:ahyp="http://schemas.microsoft.com/office/drawing/2018/hyperlinkcolor" val="tx"/>
                    </a:ext>
                  </a:extLst>
                </a:hlinkClick>
              </a:rPr>
              <a:t>SDI000003576283</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6d05a88b47624710a1a9295b416d43eb" history="1" highlightClick="0" endSnd="0">
                  <a:extLst>
                    <a:ext uri="{A12FA001-AC4F-418D-AE19-62706E023703}">
                      <ahyp:hlinkClr xmlns:ahyp="http://schemas.microsoft.com/office/drawing/2018/hyperlinkcolor" val="tx"/>
                    </a:ext>
                  </a:extLst>
                </a:hlinkClick>
              </a:rPr>
              <a:t>BOFA Hostname Domain Hardware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server.do?sys_id=35485a949310fe1026fbfbb4ed03d640" history="1" highlightClick="0" endSnd="0">
                  <a:extLst>
                    <a:ext uri="{A12FA001-AC4F-418D-AE19-62706E023703}">
                      <ahyp:hlinkClr xmlns:ahyp="http://schemas.microsoft.com/office/drawing/2018/hyperlinkcolor" val="tx"/>
                    </a:ext>
                  </a:extLst>
                </a:hlinkClick>
              </a:rPr>
              <a:t>lsdnab03xsdi009</a:t>
            </a:r>
            <a:endParaRPr lang="en-US" sz="10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Split</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Splits the DNS name at the first dot into the host label and the domain; no domain means null. The search covers the whole Hardware tree (cmdb_ci_hardware and every sub-class).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host "lsdnab03xsdi009", domain "sdi.corp.bankofamerica.com"; the whole hardware tree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host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name equal to the label, ignored classes left out. A row agrees when its fqdn equals the DNS name, its dns_domain equals the domain, or its fqdn starts with the label and holds the domain. One agreeing row is returned; among several the one on the scanned address; else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lsdnab03xsdi009 [server] ip 30.39.240.18 domain "sdi.corp.bankofamerica.com" agrees -&gt; 1 agree on the domain</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hardware_list.do?sysparm_query=name%3Dlsdnab03xsdi009" history="1" highlightClick="0" endSnd="0">
                            <a:extLst>
                              <a:ext uri="{A12FA001-AC4F-418D-AE19-62706E023703}">
                                <ahyp:hlinkClr xmlns:ahyp="http://schemas.microsoft.com/office/drawing/2018/hyperlinkcolor" val="tx"/>
                              </a:ext>
                            </a:extLst>
                          </a:hlinkClick>
                        </a:rPr>
                        <a:t>Hardware: name=lsdnab03xsdi009</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server.do?sys_id=35485a949310fe1026fbfbb4ed03d640" history="1" highlightClick="0" endSnd="0">
                            <a:extLst>
                              <a:ext uri="{A12FA001-AC4F-418D-AE19-62706E023703}">
                                <ahyp:hlinkClr xmlns:ahyp="http://schemas.microsoft.com/office/drawing/2018/hyperlinkcolor" val="tx"/>
                              </a:ext>
                            </a:extLst>
                          </a:hlinkClick>
                        </a:rPr>
                        <a:t>lsdnab03xsdi009</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310  ·  HOSTNAME DOMAIN HARDWARE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lsdnab05xsdi005.sdi.corp.bankofamerica.com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server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040384"/>
          </a:xfrm>
          <a:prstGeom prst="roundRect">
            <a:avLst>
              <a:gd name="adj" fmla="val 5273"/>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5283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"lsdnab05xsdi005"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name + domain (no record named "lsdnab05xsdi005")</a:t>
            </a:r>
            <a:endParaRPr lang="en-US" sz="1100" dirty="0"/>
          </a:p>
        </p:txBody>
      </p:sp>
      <p:sp>
        <p:nvSpPr>
          <p:cNvPr id="12" name="Shape 10"/>
          <p:cNvSpPr/>
          <p:nvPr/>
        </p:nvSpPr>
        <p:spPr>
          <a:xfrm>
            <a:off x="502920" y="2631440"/>
            <a:ext cx="2788920" cy="37693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7868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061208"/>
            <a:ext cx="457200" cy="0"/>
          </a:xfrm>
          <a:prstGeom prst="line">
            <a:avLst/>
          </a:prstGeom>
          <a:noFill/>
          <a:ln w="19050">
            <a:solidFill>
              <a:srgbClr val="E31837"/>
            </a:solidFill>
            <a:prstDash val="solid"/>
          </a:ln>
        </p:spPr>
      </p:sp>
      <p:sp>
        <p:nvSpPr>
          <p:cNvPr id="15" name="Text 13"/>
          <p:cNvSpPr txBox="1"/>
          <p:nvPr/>
        </p:nvSpPr>
        <p:spPr>
          <a:xfrm>
            <a:off x="740664" y="31069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SDI000003669773</a:t>
            </a:r>
            <a:endParaRPr lang="en-US" sz="1500" dirty="0"/>
          </a:p>
        </p:txBody>
      </p:sp>
      <p:sp>
        <p:nvSpPr>
          <p:cNvPr id="16" name="Text 14"/>
          <p:cNvSpPr txBox="1"/>
          <p:nvPr/>
        </p:nvSpPr>
        <p:spPr>
          <a:xfrm>
            <a:off x="740664" y="3472688"/>
            <a:ext cx="2313432" cy="22148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lsdnab05xsdi005.sdi.corp.bankofamerica.com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30.39.244.14</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Red Hat Enterprise Linux CoreOS 4.20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06:06:23</a:t>
            </a:r>
            <a:endParaRPr lang="en-US" sz="1200" dirty="0"/>
          </a:p>
        </p:txBody>
      </p:sp>
      <p:sp>
        <p:nvSpPr>
          <p:cNvPr id="17" name="Text 15">
            <a:hlinkClick r:id="rId1" tooltip="https://bofasecopsdev.service-now.com/sn_sec_cmn_src_ci_list.do?sysparm_query=number=SDI000003669773"/>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6977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631440"/>
            <a:ext cx="4745736" cy="3769360"/>
          </a:xfrm>
          <a:prstGeom prst="roundRect">
            <a:avLst>
              <a:gd name="adj" fmla="val 145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7868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061208"/>
            <a:ext cx="457200" cy="0"/>
          </a:xfrm>
          <a:prstGeom prst="line">
            <a:avLst/>
          </a:prstGeom>
          <a:noFill/>
          <a:ln w="19050">
            <a:solidFill>
              <a:srgbClr val="E31837"/>
            </a:solidFill>
            <a:prstDash val="solid"/>
          </a:ln>
        </p:spPr>
      </p:sp>
      <p:sp>
        <p:nvSpPr>
          <p:cNvPr id="21" name="Text 19"/>
          <p:cNvSpPr txBox="1"/>
          <p:nvPr/>
        </p:nvSpPr>
        <p:spPr>
          <a:xfrm>
            <a:off x="3749040" y="3134360"/>
            <a:ext cx="4233672" cy="31109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Split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host "lsdnab05xsdi005", domain "sdi.corp.bankofamerica.com"; the whole hardware tree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host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lsdnab05xsdi005 [server] ip 30.39.244.14 domain "sdi.corp.bankofamerica.com" agrees -&gt; 1 agree on the domain</a:t>
            </a:r>
            <a:endParaRPr lang="en-US" sz="1300" dirty="0"/>
          </a:p>
        </p:txBody>
      </p:sp>
      <p:sp>
        <p:nvSpPr>
          <p:cNvPr id="22" name="Shape 20"/>
          <p:cNvSpPr/>
          <p:nvPr/>
        </p:nvSpPr>
        <p:spPr>
          <a:xfrm>
            <a:off x="8439912" y="2631440"/>
            <a:ext cx="3246120" cy="376936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796032"/>
            <a:ext cx="64008" cy="3440176"/>
          </a:xfrm>
          <a:prstGeom prst="rect">
            <a:avLst/>
          </a:prstGeom>
          <a:solidFill>
            <a:srgbClr val="E31837"/>
          </a:solidFill>
          <a:ln w="12700">
            <a:solidFill>
              <a:srgbClr val="333333"/>
            </a:solidFill>
            <a:prstDash val="solid"/>
          </a:ln>
        </p:spPr>
      </p:sp>
      <p:sp>
        <p:nvSpPr>
          <p:cNvPr id="24" name="Text 22"/>
          <p:cNvSpPr txBox="1"/>
          <p:nvPr/>
        </p:nvSpPr>
        <p:spPr>
          <a:xfrm>
            <a:off x="8714232" y="27868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061208"/>
            <a:ext cx="457200" cy="0"/>
          </a:xfrm>
          <a:prstGeom prst="line">
            <a:avLst/>
          </a:prstGeom>
          <a:noFill/>
          <a:ln w="19050">
            <a:solidFill>
              <a:srgbClr val="E31837"/>
            </a:solidFill>
            <a:prstDash val="solid"/>
          </a:ln>
        </p:spPr>
      </p:sp>
      <p:sp>
        <p:nvSpPr>
          <p:cNvPr id="26" name="Text 24"/>
          <p:cNvSpPr txBox="1"/>
          <p:nvPr/>
        </p:nvSpPr>
        <p:spPr>
          <a:xfrm>
            <a:off x="8714232" y="31069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lsdnab05xsdi005</a:t>
            </a:r>
            <a:endParaRPr lang="en-US" sz="1500" dirty="0"/>
          </a:p>
        </p:txBody>
      </p:sp>
      <p:sp>
        <p:nvSpPr>
          <p:cNvPr id="27" name="Text 25"/>
          <p:cNvSpPr txBox="1"/>
          <p:nvPr/>
        </p:nvSpPr>
        <p:spPr>
          <a:xfrm>
            <a:off x="8714232" y="34269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Server</a:t>
            </a:r>
            <a:endParaRPr lang="en-US" sz="1100" dirty="0"/>
          </a:p>
        </p:txBody>
      </p:sp>
      <p:sp>
        <p:nvSpPr>
          <p:cNvPr id="28" name="Text 26"/>
          <p:cNvSpPr txBox="1"/>
          <p:nvPr/>
        </p:nvSpPr>
        <p:spPr>
          <a:xfrm>
            <a:off x="8714232" y="3747008"/>
            <a:ext cx="2715768" cy="194056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30.39.244.14</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2M2D2R025L</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HPE ProLiant DL380 Gen11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server.do?sys_id=502f97033b417ed04826a7ae53e45a4c"/>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502f97033b417ed04826a7ae53e45a4c"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310  ·  HOSTNAME DOMAIN HARDWARE MATCH  ·  EXAMPLE 2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lsdnab05xsdi005.sdi.corp.bankofamerica.com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76912eb8935b4798cfcebc5a7bba10ab" history="1" highlightClick="0" endSnd="0">
                  <a:extLst>
                    <a:ext uri="{A12FA001-AC4F-418D-AE19-62706E023703}">
                      <ahyp:hlinkClr xmlns:ahyp="http://schemas.microsoft.com/office/drawing/2018/hyperlinkcolor" val="tx"/>
                    </a:ext>
                  </a:extLst>
                </a:hlinkClick>
              </a:rPr>
              <a:t>SDI000003669773</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6d05a88b47624710a1a9295b416d43eb" history="1" highlightClick="0" endSnd="0">
                  <a:extLst>
                    <a:ext uri="{A12FA001-AC4F-418D-AE19-62706E023703}">
                      <ahyp:hlinkClr xmlns:ahyp="http://schemas.microsoft.com/office/drawing/2018/hyperlinkcolor" val="tx"/>
                    </a:ext>
                  </a:extLst>
                </a:hlinkClick>
              </a:rPr>
              <a:t>BOFA Hostname Domain Hardware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server.do?sys_id=502f97033b417ed04826a7ae53e45a4c" history="1" highlightClick="0" endSnd="0">
                  <a:extLst>
                    <a:ext uri="{A12FA001-AC4F-418D-AE19-62706E023703}">
                      <ahyp:hlinkClr xmlns:ahyp="http://schemas.microsoft.com/office/drawing/2018/hyperlinkcolor" val="tx"/>
                    </a:ext>
                  </a:extLst>
                </a:hlinkClick>
              </a:rPr>
              <a:t>lsdnab05xsdi005</a:t>
            </a:r>
            <a:endParaRPr lang="en-US" sz="10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Split</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Splits the DNS name at the first dot into the host label and the domain; no domain means null. The search covers the whole Hardware tree (cmdb_ci_hardware and every sub-class).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host "lsdnab05xsdi005", domain "sdi.corp.bankofamerica.com"; the whole hardware tree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host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name equal to the label, ignored classes left out. A row agrees when its fqdn equals the DNS name, its dns_domain equals the domain, or its fqdn starts with the label and holds the domain. One agreeing row is returned; among several the one on the scanned address; else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lsdnab05xsdi005 [server] ip 30.39.244.14 domain "sdi.corp.bankofamerica.com" agrees -&gt; 1 agree on the domain</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hardware_list.do?sysparm_query=name%3Dlsdnab05xsdi005" history="1" highlightClick="0" endSnd="0">
                            <a:extLst>
                              <a:ext uri="{A12FA001-AC4F-418D-AE19-62706E023703}">
                                <ahyp:hlinkClr xmlns:ahyp="http://schemas.microsoft.com/office/drawing/2018/hyperlinkcolor" val="tx"/>
                              </a:ext>
                            </a:extLst>
                          </a:hlinkClick>
                        </a:rPr>
                        <a:t>Hardware: name=lsdnab05xsdi005</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server.do?sys_id=502f97033b417ed04826a7ae53e45a4c" history="1" highlightClick="0" endSnd="0">
                            <a:extLst>
                              <a:ext uri="{A12FA001-AC4F-418D-AE19-62706E023703}">
                                <ahyp:hlinkClr xmlns:ahyp="http://schemas.microsoft.com/office/drawing/2018/hyperlinkcolor" val="tx"/>
                              </a:ext>
                            </a:extLst>
                          </a:hlinkClick>
                        </a:rPr>
                        <a:t>lsdnab05xsdi005</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310  ·  HOSTNAME DOMAIN HARDWARE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lsdnab03xsdi004.sdi.corp.bankofamerica.com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server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040384"/>
          </a:xfrm>
          <a:prstGeom prst="roundRect">
            <a:avLst>
              <a:gd name="adj" fmla="val 5273"/>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5283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"lsdnab03xsdi004"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name + domain (no record named "lsdnab03xsdi004")</a:t>
            </a:r>
            <a:endParaRPr lang="en-US" sz="1100" dirty="0"/>
          </a:p>
        </p:txBody>
      </p:sp>
      <p:sp>
        <p:nvSpPr>
          <p:cNvPr id="12" name="Shape 10"/>
          <p:cNvSpPr/>
          <p:nvPr/>
        </p:nvSpPr>
        <p:spPr>
          <a:xfrm>
            <a:off x="502920" y="2631440"/>
            <a:ext cx="2788920" cy="37693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7868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061208"/>
            <a:ext cx="457200" cy="0"/>
          </a:xfrm>
          <a:prstGeom prst="line">
            <a:avLst/>
          </a:prstGeom>
          <a:noFill/>
          <a:ln w="19050">
            <a:solidFill>
              <a:srgbClr val="E31837"/>
            </a:solidFill>
            <a:prstDash val="solid"/>
          </a:ln>
        </p:spPr>
      </p:sp>
      <p:sp>
        <p:nvSpPr>
          <p:cNvPr id="15" name="Text 13"/>
          <p:cNvSpPr txBox="1"/>
          <p:nvPr/>
        </p:nvSpPr>
        <p:spPr>
          <a:xfrm>
            <a:off x="740664" y="31069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SDI000003669770</a:t>
            </a:r>
            <a:endParaRPr lang="en-US" sz="1500" dirty="0"/>
          </a:p>
        </p:txBody>
      </p:sp>
      <p:sp>
        <p:nvSpPr>
          <p:cNvPr id="16" name="Text 14"/>
          <p:cNvSpPr txBox="1"/>
          <p:nvPr/>
        </p:nvSpPr>
        <p:spPr>
          <a:xfrm>
            <a:off x="740664" y="3472688"/>
            <a:ext cx="2313432" cy="22148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lsdnab03xsdi004.sdi.corp.bankofamerica.com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30.39.240.13</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Red Hat Enterprise Linux CoreOS 4.20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06:06:11</a:t>
            </a:r>
            <a:endParaRPr lang="en-US" sz="1200" dirty="0"/>
          </a:p>
        </p:txBody>
      </p:sp>
      <p:sp>
        <p:nvSpPr>
          <p:cNvPr id="17" name="Text 15">
            <a:hlinkClick r:id="rId1" tooltip="https://bofasecopsdev.service-now.com/sn_sec_cmn_src_ci_list.do?sysparm_query=number=SDI000003669770"/>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6977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631440"/>
            <a:ext cx="4745736" cy="3769360"/>
          </a:xfrm>
          <a:prstGeom prst="roundRect">
            <a:avLst>
              <a:gd name="adj" fmla="val 145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7868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061208"/>
            <a:ext cx="457200" cy="0"/>
          </a:xfrm>
          <a:prstGeom prst="line">
            <a:avLst/>
          </a:prstGeom>
          <a:noFill/>
          <a:ln w="19050">
            <a:solidFill>
              <a:srgbClr val="E31837"/>
            </a:solidFill>
            <a:prstDash val="solid"/>
          </a:ln>
        </p:spPr>
      </p:sp>
      <p:sp>
        <p:nvSpPr>
          <p:cNvPr id="21" name="Text 19"/>
          <p:cNvSpPr txBox="1"/>
          <p:nvPr/>
        </p:nvSpPr>
        <p:spPr>
          <a:xfrm>
            <a:off x="3749040" y="3134360"/>
            <a:ext cx="4233672" cy="31109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Split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host "lsdnab03xsdi004", domain "sdi.corp.bankofamerica.com"; the whole hardware tree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host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lsdnab03xsdi004 [server] ip 30.39.240.13 domain "sdi.corp.bankofamerica.com" agrees -&gt; 1 agree on the domain</a:t>
            </a:r>
            <a:endParaRPr lang="en-US" sz="1300" dirty="0"/>
          </a:p>
        </p:txBody>
      </p:sp>
      <p:sp>
        <p:nvSpPr>
          <p:cNvPr id="22" name="Shape 20"/>
          <p:cNvSpPr/>
          <p:nvPr/>
        </p:nvSpPr>
        <p:spPr>
          <a:xfrm>
            <a:off x="8439912" y="2631440"/>
            <a:ext cx="3246120" cy="376936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796032"/>
            <a:ext cx="64008" cy="3440176"/>
          </a:xfrm>
          <a:prstGeom prst="rect">
            <a:avLst/>
          </a:prstGeom>
          <a:solidFill>
            <a:srgbClr val="E31837"/>
          </a:solidFill>
          <a:ln w="12700">
            <a:solidFill>
              <a:srgbClr val="333333"/>
            </a:solidFill>
            <a:prstDash val="solid"/>
          </a:ln>
        </p:spPr>
      </p:sp>
      <p:sp>
        <p:nvSpPr>
          <p:cNvPr id="24" name="Text 22"/>
          <p:cNvSpPr txBox="1"/>
          <p:nvPr/>
        </p:nvSpPr>
        <p:spPr>
          <a:xfrm>
            <a:off x="8714232" y="27868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061208"/>
            <a:ext cx="457200" cy="0"/>
          </a:xfrm>
          <a:prstGeom prst="line">
            <a:avLst/>
          </a:prstGeom>
          <a:noFill/>
          <a:ln w="19050">
            <a:solidFill>
              <a:srgbClr val="E31837"/>
            </a:solidFill>
            <a:prstDash val="solid"/>
          </a:ln>
        </p:spPr>
      </p:sp>
      <p:sp>
        <p:nvSpPr>
          <p:cNvPr id="26" name="Text 24"/>
          <p:cNvSpPr txBox="1"/>
          <p:nvPr/>
        </p:nvSpPr>
        <p:spPr>
          <a:xfrm>
            <a:off x="8714232" y="31069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lsdnab03xsdi004</a:t>
            </a:r>
            <a:endParaRPr lang="en-US" sz="1500" dirty="0"/>
          </a:p>
        </p:txBody>
      </p:sp>
      <p:sp>
        <p:nvSpPr>
          <p:cNvPr id="27" name="Text 25"/>
          <p:cNvSpPr txBox="1"/>
          <p:nvPr/>
        </p:nvSpPr>
        <p:spPr>
          <a:xfrm>
            <a:off x="8714232" y="34269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Server</a:t>
            </a:r>
            <a:endParaRPr lang="en-US" sz="1100" dirty="0"/>
          </a:p>
        </p:txBody>
      </p:sp>
      <p:sp>
        <p:nvSpPr>
          <p:cNvPr id="28" name="Text 26"/>
          <p:cNvSpPr txBox="1"/>
          <p:nvPr/>
        </p:nvSpPr>
        <p:spPr>
          <a:xfrm>
            <a:off x="8714232" y="3747008"/>
            <a:ext cx="2715768" cy="194056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30.39.240.13</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2M2D2R0231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HPE ProLiant DL380 Gen11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server.do?sys_id=7a3896949310fe1026fbfbb4ed03d695"/>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7a3896949310fe1026fbfbb4ed03d695"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310  ·  HOSTNAME DOMAIN HARDWARE MATCH  ·  EXAMPLE 3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lsdnab03xsdi004.sdi.corp.bankofamerica.com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9a916ab8935b4798cfcebc5a7bba100a" history="1" highlightClick="0" endSnd="0">
                  <a:extLst>
                    <a:ext uri="{A12FA001-AC4F-418D-AE19-62706E023703}">
                      <ahyp:hlinkClr xmlns:ahyp="http://schemas.microsoft.com/office/drawing/2018/hyperlinkcolor" val="tx"/>
                    </a:ext>
                  </a:extLst>
                </a:hlinkClick>
              </a:rPr>
              <a:t>SDI000003669770</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6d05a88b47624710a1a9295b416d43eb" history="1" highlightClick="0" endSnd="0">
                  <a:extLst>
                    <a:ext uri="{A12FA001-AC4F-418D-AE19-62706E023703}">
                      <ahyp:hlinkClr xmlns:ahyp="http://schemas.microsoft.com/office/drawing/2018/hyperlinkcolor" val="tx"/>
                    </a:ext>
                  </a:extLst>
                </a:hlinkClick>
              </a:rPr>
              <a:t>BOFA Hostname Domain Hardware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server.do?sys_id=7a3896949310fe1026fbfbb4ed03d695" history="1" highlightClick="0" endSnd="0">
                  <a:extLst>
                    <a:ext uri="{A12FA001-AC4F-418D-AE19-62706E023703}">
                      <ahyp:hlinkClr xmlns:ahyp="http://schemas.microsoft.com/office/drawing/2018/hyperlinkcolor" val="tx"/>
                    </a:ext>
                  </a:extLst>
                </a:hlinkClick>
              </a:rPr>
              <a:t>lsdnab03xsdi004</a:t>
            </a:r>
            <a:endParaRPr lang="en-US" sz="10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Split</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Splits the DNS name at the first dot into the host label and the domain; no domain means null. The search covers the whole Hardware tree (cmdb_ci_hardware and every sub-class).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host "lsdnab03xsdi004", domain "sdi.corp.bankofamerica.com"; the whole hardware tree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host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name equal to the label, ignored classes left out. A row agrees when its fqdn equals the DNS name, its dns_domain equals the domain, or its fqdn starts with the label and holds the domain. One agreeing row is returned; among several the one on the scanned address; else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lsdnab03xsdi004 [server] ip 30.39.240.13 domain "sdi.corp.bankofamerica.com" agrees -&gt; 1 agree on the domain</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hardware_list.do?sysparm_query=name%3Dlsdnab03xsdi004" history="1" highlightClick="0" endSnd="0">
                            <a:extLst>
                              <a:ext uri="{A12FA001-AC4F-418D-AE19-62706E023703}">
                                <ahyp:hlinkClr xmlns:ahyp="http://schemas.microsoft.com/office/drawing/2018/hyperlinkcolor" val="tx"/>
                              </a:ext>
                            </a:extLst>
                          </a:hlinkClick>
                        </a:rPr>
                        <a:t>Hardware: name=lsdnab03xsdi004</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server.do?sys_id=7a3896949310fe1026fbfbb4ed03d695" history="1" highlightClick="0" endSnd="0">
                            <a:extLst>
                              <a:ext uri="{A12FA001-AC4F-418D-AE19-62706E023703}">
                                <ahyp:hlinkClr xmlns:ahyp="http://schemas.microsoft.com/office/drawing/2018/hyperlinkcolor" val="tx"/>
                              </a:ext>
                            </a:extLst>
                          </a:hlinkClick>
                        </a:rPr>
                        <a:t>lsdnab03xsdi004</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350  ·  NAME  ·  1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Layered DNS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164080"/>
          </a:xfrm>
          <a:prstGeom prst="roundRect">
            <a:avLst>
              <a:gd name="adj" fmla="val 25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8348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5240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scanned DNS name as it is kept in the discovery layered records (DNS Name -&gt; IP Address -&gt; Network Adapter -&gt; CI) rather than in a name field on the CI record, so it finds hosts whose name is not written on the CI at all and resolves an alias to the real machine.</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between the rules that read fqdn / hostname-plus-domain on the CI record itself and the plain hostname rules; the scanned OS is only a preference applied to the CI at the end of the chain, never a query filter.</a:t>
            </a:r>
            <a:endParaRPr lang="en-US" sz="1500" dirty="0"/>
          </a:p>
        </p:txBody>
      </p:sp>
      <p:sp>
        <p:nvSpPr>
          <p:cNvPr id="13" name="Shape 11"/>
          <p:cNvSpPr/>
          <p:nvPr/>
        </p:nvSpPr>
        <p:spPr>
          <a:xfrm>
            <a:off x="502920" y="3837432"/>
            <a:ext cx="6933529" cy="2563368"/>
          </a:xfrm>
          <a:prstGeom prst="roundRect">
            <a:avLst>
              <a:gd name="adj" fmla="val 214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40203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294632"/>
            <a:ext cx="457200" cy="0"/>
          </a:xfrm>
          <a:prstGeom prst="line">
            <a:avLst/>
          </a:prstGeom>
          <a:noFill/>
          <a:ln w="19050">
            <a:solidFill>
              <a:srgbClr val="E31837"/>
            </a:solidFill>
            <a:prstDash val="solid"/>
          </a:ln>
        </p:spPr>
      </p:sp>
      <p:sp>
        <p:nvSpPr>
          <p:cNvPr id="16" name="Text 14"/>
          <p:cNvSpPr txBox="1"/>
          <p:nvPr/>
        </p:nvSpPr>
        <p:spPr>
          <a:xfrm>
            <a:off x="822960" y="4386072"/>
            <a:ext cx="6293449" cy="1831848"/>
          </a:xfrm>
          <a:prstGeom prst="rect">
            <a:avLst/>
          </a:prstGeom>
          <a:noFill/>
          <a:ln/>
        </p:spPr>
        <p:txBody>
          <a:bodyPr wrap="square" lIns="0" tIns="0" rIns="0" bIns="0" rtlCol="0" anchor="t"/>
          <a:lstStyle/>
          <a:p>
            <a:pPr indent="0" marL="0">
              <a:lnSpc>
                <a:spcPct val="100000"/>
              </a:lnSpc>
              <a:buNone/>
            </a:pPr>
            <a:r>
              <a:rPr lang="en-US" sz="115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150" dirty="0">
                <a:solidFill>
                  <a:srgbClr val="4D4F53"/>
                </a:solidFill>
                <a:latin typeface="Arial" pitchFamily="34" charset="0"/>
                <a:ea typeface="Arial" pitchFamily="34" charset="-122"/>
                <a:cs typeface="Arial" pitchFamily="34" charset="-120"/>
              </a:rPr>
              <a:t>Source field DNS (sourceValue); from sourcePayload only OS (class preference through classFor) and IP (tie-break between several CIs). No other payload field is read.</a:t>
            </a:r>
            <a:endParaRPr lang="en-US" sz="1150" dirty="0"/>
          </a:p>
          <a:p>
            <a:pPr indent="0" marL="0">
              <a:lnSpc>
                <a:spcPct val="100000"/>
              </a:lnSpc>
              <a:buNone/>
            </a:pPr>
            <a:r>
              <a:rPr lang="en-US" sz="115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150" dirty="0">
                <a:solidFill>
                  <a:srgbClr val="4D4F53"/>
                </a:solidFill>
                <a:latin typeface="Arial" pitchFamily="34" charset="0"/>
                <a:ea typeface="Arial" pitchFamily="34" charset="-122"/>
                <a:cs typeface="Arial" pitchFamily="34" charset="-120"/>
              </a:rPr>
              <a:t>The sys_id of the CI at ip_address.nic.cmdb_ci of the cmdb_ip_address_dns_name row(s) whose dns_name.name equals the normalised DNS value, when exactly one such CI passes the ignore list and agrees() with the OS class; when several CIs answer to the name, the single one whose chain runs through ip_address.ip_address equal to the scanned IP; null in every other case, and null whenever the CI chosen exists on cmdb_ci_lb.</a:t>
            </a:r>
            <a:endParaRPr lang="en-US" sz="1150" dirty="0"/>
          </a:p>
        </p:txBody>
      </p:sp>
      <p:sp>
        <p:nvSpPr>
          <p:cNvPr id="17" name="Shape 15"/>
          <p:cNvSpPr/>
          <p:nvPr/>
        </p:nvSpPr>
        <p:spPr>
          <a:xfrm>
            <a:off x="7665049" y="3837432"/>
            <a:ext cx="4020983" cy="2563368"/>
          </a:xfrm>
          <a:prstGeom prst="roundRect">
            <a:avLst>
              <a:gd name="adj" fmla="val 214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40203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294632"/>
            <a:ext cx="457200" cy="0"/>
          </a:xfrm>
          <a:prstGeom prst="line">
            <a:avLst/>
          </a:prstGeom>
          <a:noFill/>
          <a:ln w="19050">
            <a:solidFill>
              <a:srgbClr val="E31837"/>
            </a:solidFill>
            <a:prstDash val="solid"/>
          </a:ln>
        </p:spPr>
      </p:sp>
      <p:sp>
        <p:nvSpPr>
          <p:cNvPr id="20" name="Text 18"/>
          <p:cNvSpPr txBox="1"/>
          <p:nvPr/>
        </p:nvSpPr>
        <p:spPr>
          <a:xfrm>
            <a:off x="7985089" y="4386072"/>
            <a:ext cx="3380903" cy="826008"/>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Hostname Domain Hardware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Hostname Class Match</a:t>
            </a:r>
            <a:endParaRPr lang="en-US" sz="1300" dirty="0"/>
          </a:p>
        </p:txBody>
      </p:sp>
      <p:sp>
        <p:nvSpPr>
          <p:cNvPr id="21" name="Text 19"/>
          <p:cNvSpPr txBox="1"/>
          <p:nvPr/>
        </p:nvSpPr>
        <p:spPr>
          <a:xfrm>
            <a:off x="7985089" y="5303520"/>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114,574</a:t>
            </a:r>
            <a:endParaRPr lang="en-US" sz="2800" dirty="0"/>
          </a:p>
        </p:txBody>
      </p:sp>
      <p:sp>
        <p:nvSpPr>
          <p:cNvPr id="22" name="Text 20"/>
          <p:cNvSpPr txBox="1"/>
          <p:nvPr/>
        </p:nvSpPr>
        <p:spPr>
          <a:xfrm>
            <a:off x="7985089" y="5870448"/>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350  ·  NAME  ·  2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Layered DNS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  ·  steps 1 to 5</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831080"/>
          </a:xfrm>
          <a:prstGeom prst="roundRect">
            <a:avLst>
              <a:gd name="adj" fmla="val 113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2824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1   Normalise the DNS value and guard bare labels.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Declines when sourceValue is empty or absent. Coerces the DNS field to a string, trims it and lower-cases it into fqdn. Declines when the result holds no '.', a bare label being left to the hostname rules. Nothing is stripped: the whole name is matched as is.</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2   Read the scanned IP for the tie-break only.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ip is sourcePayload.IP coerced to a string, or an empty string when the payload has none. The address is never a filter on the query; it only decides between several CIs that answer to the same name later in the walk.</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3   Load the ignored class list.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Uses _ignoreClass when the framework passes it non-empty, else gs.getProperty('sn_sec_cmn.ignoreCIClass', ''). When non-empty it is applied as a NOT IN on the class of the CI at the end of the chain, so placeholder and technical CIs are never reached.</a:t>
            </a:r>
            <a:endParaRPr lang="en-US" sz="1500" dirty="0"/>
          </a:p>
        </p:txBody>
      </p:sp>
      <p:sp>
        <p:nvSpPr>
          <p:cNvPr id="10" name="Text 8"/>
          <p:cNvSpPr txBox="1"/>
          <p:nvPr/>
        </p:nvSpPr>
        <p:spPr>
          <a:xfrm>
            <a:off x="6277356" y="1746504"/>
            <a:ext cx="5088636" cy="42824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4   Derive the preferred class from the OS.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pref = classFor(sourcePayload.OS): the lower-cased OS text matched on keywords gives a class (Red Hat Enterprise Linux Server 7.9 gives cmdb_ci_linux_server). An unknown OS or three or more '/'-separated guesses give '' and then nothing is refused on class.</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5   Query the DNS Name to IP Address link table.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Declines when cmdb_ip_address_dns_name is not a valid table. Else addQuery('dns_name.name', fqdn), addNotNullQuery('ip_address.nic.cmdb_ci') so the chain ends on a CI, and when ignore is non-empty ip_address.nic.cmdb_ci.sys_class_name NOT IN ignore; query().</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350  ·  NAME  ·  3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Layered DNS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  ·  steps 6 to 9</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586480"/>
          </a:xfrm>
          <a:prstGeom prst="roundRect">
            <a:avLst>
              <a:gd name="adj" fmla="val 153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30378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6   Walk every row and count distinct agreeing CIs.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All rows are read, no setLimit or hasNext. owner is ip_address.nic.cmdb_ci; a row failing agrees() is skipped, not counted or marked. Distinct owners count once, first kept. With ip set, a row whose ip_address.ip_address equals ip marks its owner in ipOwners.</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7   One CI: return it unless it is a load balancer.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When count is 1 the rule returns the first owner, but returns null when isLoadBalancer(first) finds that sys_id on cmdb_ci_lb: the name then belongs to a virtual address the balancer answers on, the host sits behind it and the load balancer rules take over.</a:t>
            </a:r>
            <a:endParaRPr lang="en-US" sz="1500" dirty="0"/>
          </a:p>
        </p:txBody>
      </p:sp>
      <p:sp>
        <p:nvSpPr>
          <p:cNvPr id="10" name="Text 8"/>
          <p:cNvSpPr txBox="1"/>
          <p:nvPr/>
        </p:nvSpPr>
        <p:spPr>
          <a:xfrm>
            <a:off x="6277356" y="1746504"/>
            <a:ext cx="5088636" cy="30378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8   Several CIs: the scanned IP breaks the tie.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When count is above 1, confirmed = Object.keys(ipOwners). Exactly one CI reached through the scanned address, and not on cmdb_ci_lb, is returned. None, two or more, or a load balancer as the one confirmed CI gives null; no fitness heuristic is applied.</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9   No CI: decline.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count 0 (no DNS Name row for the name, no CI at the end of any chain, every CI on the ignore list, or every CI of a class the OS rules out) returns null and the host goes on to the next rule.</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350  ·  NAME  ·  4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Layered DNS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863340"/>
          </a:xfrm>
          <a:prstGeom prst="roundRect">
            <a:avLst>
              <a:gd name="adj" fmla="val 142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35341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32232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 or absent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trimmed, lower-cased value holds no '.' (a bare label, left to the hostname rules)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Cmdb_ip_address_dns_name is not a valid table on the instance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cmdb_ip_address_dns_name row has dns_name.name equal to the value with a CI at ip_address.nic.cmdb_ci</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Every CI reached is of a class on sn_sec_cmn.ignoreCIClass (or _ignoreClass) or fails agrees() against the class the OS implies</a:t>
            </a:r>
            <a:endParaRPr lang="en-US" sz="1500" dirty="0"/>
          </a:p>
        </p:txBody>
      </p:sp>
      <p:sp>
        <p:nvSpPr>
          <p:cNvPr id="13" name="Text 11"/>
          <p:cNvSpPr txBox="1"/>
          <p:nvPr/>
        </p:nvSpPr>
        <p:spPr>
          <a:xfrm>
            <a:off x="6277356" y="1975104"/>
            <a:ext cx="5088636" cy="32232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Exactly one CI is reached but its sys_id exists on cmdb_ci_lb (load balancer device)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Several CIs answer to the name and the payload has no IP, or none of their chains runs through ip_address.ip_address equal to the scanned IP</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Several CIs answer to the name and two or more of them are reached through the scanned IP</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Several CIs answer to the name and the single one reached through the scanned IP exists on cmdb_ci_lb</a:t>
            </a:r>
            <a:endParaRPr lang="en-US" sz="1500" dirty="0"/>
          </a:p>
        </p:txBody>
      </p:sp>
      <p:sp>
        <p:nvSpPr>
          <p:cNvPr id="14" name="Shape 12"/>
          <p:cNvSpPr/>
          <p:nvPr/>
        </p:nvSpPr>
        <p:spPr>
          <a:xfrm>
            <a:off x="502920" y="55366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55366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Hostname Class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350  ·  LAYERED DNS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ca6-229-01-m01.bankofamerica.com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one owner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258824"/>
          </a:xfrm>
          <a:prstGeom prst="roundRect">
            <a:avLst>
              <a:gd name="adj" fmla="val 4358"/>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74676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"ca6-229-01-m01"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name + domain (1 named "ca6-229-01-m01", none with the domain "bankofamerica.com")</a:t>
            </a:r>
            <a:endParaRPr lang="en-US" sz="1100" dirty="0"/>
          </a:p>
        </p:txBody>
      </p:sp>
      <p:sp>
        <p:nvSpPr>
          <p:cNvPr id="12" name="Shape 10"/>
          <p:cNvSpPr/>
          <p:nvPr/>
        </p:nvSpPr>
        <p:spPr>
          <a:xfrm>
            <a:off x="502920" y="2849880"/>
            <a:ext cx="2788920" cy="355092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00532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279648"/>
            <a:ext cx="457200" cy="0"/>
          </a:xfrm>
          <a:prstGeom prst="line">
            <a:avLst/>
          </a:prstGeom>
          <a:noFill/>
          <a:ln w="19050">
            <a:solidFill>
              <a:srgbClr val="E31837"/>
            </a:solidFill>
            <a:prstDash val="solid"/>
          </a:ln>
        </p:spPr>
      </p:sp>
      <p:sp>
        <p:nvSpPr>
          <p:cNvPr id="15" name="Text 13"/>
          <p:cNvSpPr txBox="1"/>
          <p:nvPr/>
        </p:nvSpPr>
        <p:spPr>
          <a:xfrm>
            <a:off x="740664" y="332536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SDI000003582887</a:t>
            </a:r>
            <a:endParaRPr lang="en-US" sz="1500" dirty="0"/>
          </a:p>
        </p:txBody>
      </p:sp>
      <p:sp>
        <p:nvSpPr>
          <p:cNvPr id="16" name="Text 14"/>
          <p:cNvSpPr txBox="1"/>
          <p:nvPr/>
        </p:nvSpPr>
        <p:spPr>
          <a:xfrm>
            <a:off x="740664" y="3691128"/>
            <a:ext cx="2313432" cy="199644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ca6-229-01-m01.bankofamerica.com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10.166.185.8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HP JetDirect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05:57:10</a:t>
            </a:r>
            <a:endParaRPr lang="en-US" sz="1200" dirty="0"/>
          </a:p>
        </p:txBody>
      </p:sp>
      <p:sp>
        <p:nvSpPr>
          <p:cNvPr id="17" name="Text 15">
            <a:hlinkClick r:id="rId1" tooltip="https://bofasecopsdev.service-now.com/sn_sec_cmn_src_ci_list.do?sysparm_query=number=SDI000003582887"/>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8288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849880"/>
            <a:ext cx="4745736" cy="3550920"/>
          </a:xfrm>
          <a:prstGeom prst="roundRect">
            <a:avLst>
              <a:gd name="adj" fmla="val 154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00532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279648"/>
            <a:ext cx="457200" cy="0"/>
          </a:xfrm>
          <a:prstGeom prst="line">
            <a:avLst/>
          </a:prstGeom>
          <a:noFill/>
          <a:ln w="19050">
            <a:solidFill>
              <a:srgbClr val="E31837"/>
            </a:solidFill>
            <a:prstDash val="solid"/>
          </a:ln>
        </p:spPr>
      </p:sp>
      <p:sp>
        <p:nvSpPr>
          <p:cNvPr id="21" name="Text 19"/>
          <p:cNvSpPr txBox="1"/>
          <p:nvPr/>
        </p:nvSpPr>
        <p:spPr>
          <a:xfrm>
            <a:off x="3749040" y="3352800"/>
            <a:ext cx="4233672" cy="289255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"ca6-229-01-m01.bankofamerica.com"; OS "HP JetDirect" gives the class printer (agreement includes appliances for a Linux fingerprint)</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DNS Name -&gt; IP Address -&gt; adapter -&gt; CI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row: address 10.166.185.8 -&gt; adapter HP ETHERNET MULTI-ENVIRONMENT,ROM none,JETDIRECT,JD153,EEPROM JSI25080326 -&gt; ca6-229-01-m01 [printer]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agreeing CI</a:t>
            </a:r>
            <a:endParaRPr lang="en-US" sz="1300" dirty="0"/>
          </a:p>
        </p:txBody>
      </p:sp>
      <p:sp>
        <p:nvSpPr>
          <p:cNvPr id="22" name="Shape 20"/>
          <p:cNvSpPr/>
          <p:nvPr/>
        </p:nvSpPr>
        <p:spPr>
          <a:xfrm>
            <a:off x="8439912" y="2849880"/>
            <a:ext cx="3246120" cy="355092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014472"/>
            <a:ext cx="64008" cy="3221736"/>
          </a:xfrm>
          <a:prstGeom prst="rect">
            <a:avLst/>
          </a:prstGeom>
          <a:solidFill>
            <a:srgbClr val="E31837"/>
          </a:solidFill>
          <a:ln w="12700">
            <a:solidFill>
              <a:srgbClr val="333333"/>
            </a:solidFill>
            <a:prstDash val="solid"/>
          </a:ln>
        </p:spPr>
      </p:sp>
      <p:sp>
        <p:nvSpPr>
          <p:cNvPr id="24" name="Text 22"/>
          <p:cNvSpPr txBox="1"/>
          <p:nvPr/>
        </p:nvSpPr>
        <p:spPr>
          <a:xfrm>
            <a:off x="8714232" y="300532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279648"/>
            <a:ext cx="457200" cy="0"/>
          </a:xfrm>
          <a:prstGeom prst="line">
            <a:avLst/>
          </a:prstGeom>
          <a:noFill/>
          <a:ln w="19050">
            <a:solidFill>
              <a:srgbClr val="E31837"/>
            </a:solidFill>
            <a:prstDash val="solid"/>
          </a:ln>
        </p:spPr>
      </p:sp>
      <p:sp>
        <p:nvSpPr>
          <p:cNvPr id="26" name="Text 24"/>
          <p:cNvSpPr txBox="1"/>
          <p:nvPr/>
        </p:nvSpPr>
        <p:spPr>
          <a:xfrm>
            <a:off x="8714232" y="332536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ca6-229-01-m01</a:t>
            </a:r>
            <a:endParaRPr lang="en-US" sz="1500" dirty="0"/>
          </a:p>
        </p:txBody>
      </p:sp>
      <p:sp>
        <p:nvSpPr>
          <p:cNvPr id="27" name="Text 25"/>
          <p:cNvSpPr txBox="1"/>
          <p:nvPr/>
        </p:nvSpPr>
        <p:spPr>
          <a:xfrm>
            <a:off x="8714232" y="364540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Printer</a:t>
            </a:r>
            <a:endParaRPr lang="en-US" sz="1100" dirty="0"/>
          </a:p>
        </p:txBody>
      </p:sp>
      <p:sp>
        <p:nvSpPr>
          <p:cNvPr id="28" name="Text 26"/>
          <p:cNvSpPr txBox="1"/>
          <p:nvPr/>
        </p:nvSpPr>
        <p:spPr>
          <a:xfrm>
            <a:off x="8714232" y="3965448"/>
            <a:ext cx="2715768" cy="172212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10.166.185.8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MXBCR4L0F3</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Hewlett-Packard HP LaserJet Flow MFP E52645</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printer.do?sys_id=b38a64fc2b86ae54d50dffbdbe91bf08"/>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b38a64fc2b86ae54d50dffbdbe91bf08"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350  ·  LAYERED DNS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ca6-229-01-m01.bankofamerica.com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bc6c5e5a9303cb14cfcebc5a7bba10c0" history="1" highlightClick="0" endSnd="0">
                  <a:extLst>
                    <a:ext uri="{A12FA001-AC4F-418D-AE19-62706E023703}">
                      <ahyp:hlinkClr xmlns:ahyp="http://schemas.microsoft.com/office/drawing/2018/hyperlinkcolor" val="tx"/>
                    </a:ext>
                  </a:extLst>
                </a:hlinkClick>
              </a:rPr>
              <a:t>SDI000003582887</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bab564cb47624710a1a9295b416d43a4" history="1" highlightClick="0" endSnd="0">
                  <a:extLst>
                    <a:ext uri="{A12FA001-AC4F-418D-AE19-62706E023703}">
                      <ahyp:hlinkClr xmlns:ahyp="http://schemas.microsoft.com/office/drawing/2018/hyperlinkcolor" val="tx"/>
                    </a:ext>
                  </a:extLst>
                </a:hlinkClick>
              </a:rPr>
              <a:t>BOFA Layered DNS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printer.do?sys_id=b38a64fc2b86ae54d50dffbdbe91bf08" history="1" highlightClick="0" endSnd="0">
                  <a:extLst>
                    <a:ext uri="{A12FA001-AC4F-418D-AE19-62706E023703}">
                      <ahyp:hlinkClr xmlns:ahyp="http://schemas.microsoft.com/office/drawing/2018/hyperlinkcolor" val="tx"/>
                    </a:ext>
                  </a:extLst>
                </a:hlinkClick>
              </a:rPr>
              <a:t>ca6-229-01-m01</a:t>
            </a:r>
            <a:endParaRPr lang="en-US" sz="1000" dirty="0"/>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Lower-cases the DNS name. classFor(OS) is kept as a preference: the CI reached must sit in that class or a parent of it; a Linux fingerprint also accepts network gear, load balancers and storage.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"ca6-229-01-m01.bankofamerica.com"; OS "HP JetDirect" gives the class printer (agreement includes appliances for a Linux fingerprint)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DNS Name -&gt; IP Address -&gt; adapter -&gt; CI</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Reads the link table cmdb_ip_address_dns_name for the DNS Name record named like the host and follows IP Address -&gt; Network Adapter -&gt; CI, ignored classes left out; the owners whose class agrees with the OS are kept.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row: address 10.166.185.8 -&gt; adapter HP ETHERNET MULTI-ENVIRONMENT,ROM none,JETDIRECT,JD153,EEPROM JSI25080326 -&gt; ca6-229-01-m01 [printer]</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ip_address_dns_name_list.do?sysparm_query=dns_name.name%3Dca6-229-01-m01.bankofamerica.com" history="1" highlightClick="0" endSnd="0">
                            <a:extLst>
                              <a:ext uri="{A12FA001-AC4F-418D-AE19-62706E023703}">
                                <ahyp:hlinkClr xmlns:ahyp="http://schemas.microsoft.com/office/drawing/2018/hyperlinkcolor" val="tx"/>
                              </a:ext>
                            </a:extLst>
                          </a:hlinkClick>
                        </a:rPr>
                        <a:t>DNS Name link: dns_name.name=ca6-229-01-m01.bankofamerica.com</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ip_address_dns_name.do?sys_id=11926a8893373a1079dafd8ab903d6ce" history="1" highlightClick="0" endSnd="0">
                            <a:extLst>
                              <a:ext uri="{A12FA001-AC4F-418D-AE19-62706E023703}">
                                <ahyp:hlinkClr xmlns:ahyp="http://schemas.microsoft.com/office/drawing/2018/hyperlinkcolor" val="tx"/>
                              </a:ext>
                            </a:extLst>
                          </a:hlinkClick>
                        </a:rPr>
                        <a:t>ca6-229-01-m01.bankofamerica.com</a:t>
                      </a:r>
                      <a:pPr indent="0" marL="0">
                        <a:buNone/>
                      </a:pPr>
                      <a:r>
                        <a:rPr lang="en-US" sz="900" dirty="0">
                          <a:solidFill>
                            <a:srgbClr val="6E7279"/>
                          </a:solidFill>
                          <a:latin typeface="Arial" pitchFamily="34" charset="0"/>
                          <a:ea typeface="Arial" pitchFamily="34" charset="-122"/>
                          <a:cs typeface="Arial" pitchFamily="34" charset="-120"/>
                        </a:rPr>
                        <a:t> → adapter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network_adapter.do?sys_id=6ca25a883b3b7a146e084b9aa4e45afa" history="1" highlightClick="0" endSnd="0">
                            <a:extLst>
                              <a:ext uri="{A12FA001-AC4F-418D-AE19-62706E023703}">
                                <ahyp:hlinkClr xmlns:ahyp="http://schemas.microsoft.com/office/drawing/2018/hyperlinkcolor" val="tx"/>
                              </a:ext>
                            </a:extLst>
                          </a:hlinkClick>
                        </a:rPr>
                        <a:t>HP ETHERNET MULTI-ENVIRONMENT,ROM none,JETDIRECT,JD153,EEPROM JSI25080326</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8" invalidUrl="" action="" tgtFrame="" tooltip="https://bofasecopsdev.service-now.com/cmdb_ci_printer.do?sys_id=b38a64fc2b86ae54d50dffbdbe91bf08" history="1" highlightClick="0" endSnd="0">
                            <a:extLst>
                              <a:ext uri="{A12FA001-AC4F-418D-AE19-62706E023703}">
                                <ahyp:hlinkClr xmlns:ahyp="http://schemas.microsoft.com/office/drawing/2018/hyperlinkcolor" val="tx"/>
                              </a:ext>
                            </a:extLst>
                          </a:hlinkClick>
                        </a:rPr>
                        <a:t>ca6-229-01-m01</a:t>
                      </a:r>
                      <a:pPr indent="0" marL="0">
                        <a:buNone/>
                      </a:pPr>
                      <a:r>
                        <a:rPr lang="en-US" sz="900" dirty="0">
                          <a:solidFill>
                            <a:srgbClr val="6E7279"/>
                          </a:solidFill>
                          <a:latin typeface="Arial" pitchFamily="34" charset="0"/>
                          <a:ea typeface="Arial" pitchFamily="34" charset="-122"/>
                          <a:cs typeface="Arial" pitchFamily="34" charset="-120"/>
                        </a:rPr>
                        <a:t> [printer]</a:t>
                      </a:r>
                      <a:pPr indent="0" marL="0">
                        <a:buNone/>
                      </a:pPr>
                      <a:r>
                        <a:rPr lang="en-US" sz="900" dirty="0">
                          <a:solidFill>
                            <a:srgbClr val="6E7279"/>
                          </a:solidFill>
                          <a:latin typeface="Arial" pitchFamily="34" charset="0"/>
                          <a:ea typeface="Arial" pitchFamily="34" charset="-122"/>
                          <a:cs typeface="Arial" pitchFamily="34" charset="-120"/>
                        </a:rPr>
                        <a:t> (DNS Name </a:t>
                      </a:r>
                      <a:pPr indent="0" marL="0">
                        <a:buNone/>
                      </a:pPr>
                      <a:r>
                        <a:rPr lang="en-US" sz="900" u="sng" dirty="0">
                          <a:solidFill>
                            <a:srgbClr val="012169"/>
                          </a:solidFill>
                          <a:latin typeface="Arial" pitchFamily="34" charset="0"/>
                          <a:ea typeface="Arial" pitchFamily="34" charset="-122"/>
                          <a:cs typeface="Arial" pitchFamily="34" charset="-120"/>
                          <a:hlinkClick r:id="rId9" invalidUrl="" action="" tgtFrame="" tooltip="https://bofasecopsdev.service-now.com/cmdb_ci_dns_name.do?sys_id=d5926a8893373a1079dafd8ab903d6cd" history="1" highlightClick="0" endSnd="0">
                            <a:extLst>
                              <a:ext uri="{A12FA001-AC4F-418D-AE19-62706E023703}">
                                <ahyp:hlinkClr xmlns:ahyp="http://schemas.microsoft.com/office/drawing/2018/hyperlinkcolor" val="tx"/>
                              </a:ext>
                            </a:extLst>
                          </a:hlinkClick>
                        </a:rPr>
                        <a:t>ca6-229-01-m01.bankofamerica.com</a:t>
                      </a:r>
                      <a:pPr indent="0" marL="0">
                        <a:buNone/>
                      </a:pPr>
                      <a:r>
                        <a:rPr lang="en-US" sz="900" dirty="0">
                          <a:solidFill>
                            <a:srgbClr val="6E7279"/>
                          </a:solidFill>
                          <a:latin typeface="Arial" pitchFamily="34" charset="0"/>
                          <a:ea typeface="Arial" pitchFamily="34" charset="-122"/>
                          <a:cs typeface="Arial" pitchFamily="34" charset="-120"/>
                        </a:rPr>
                        <a:t>, IP Address </a:t>
                      </a:r>
                      <a:pPr indent="0" marL="0">
                        <a:buNone/>
                      </a:pPr>
                      <a:r>
                        <a:rPr lang="en-US" sz="900" u="sng" dirty="0">
                          <a:solidFill>
                            <a:srgbClr val="012169"/>
                          </a:solidFill>
                          <a:latin typeface="Arial" pitchFamily="34" charset="0"/>
                          <a:ea typeface="Arial" pitchFamily="34" charset="-122"/>
                          <a:cs typeface="Arial" pitchFamily="34" charset="-120"/>
                          <a:hlinkClick r:id="rId10" invalidUrl="" action="" tgtFrame="" tooltip="https://bofasecopsdev.service-now.com/cmdb_ci_ip_address.do?sys_id=d5a29a883b3b7a146e084b9aa4e45ae2" history="1" highlightClick="0" endSnd="0">
                            <a:extLst>
                              <a:ext uri="{A12FA001-AC4F-418D-AE19-62706E023703}">
                                <ahyp:hlinkClr xmlns:ahyp="http://schemas.microsoft.com/office/drawing/2018/hyperlinkcolor" val="tx"/>
                              </a:ext>
                            </a:extLst>
                          </a:hlinkClick>
                        </a:rPr>
                        <a:t>10.166.185.8</a:t>
                      </a:r>
                      <a:pPr indent="0" marL="0">
                        <a:buNone/>
                      </a:pPr>
                      <a:r>
                        <a:rPr lang="en-US" sz="900" dirty="0">
                          <a:solidFill>
                            <a:srgbClr val="6E7279"/>
                          </a:solidFill>
                          <a:latin typeface="Arial" pitchFamily="34" charset="0"/>
                          <a:ea typeface="Arial" pitchFamily="34" charset="-122"/>
                          <a:cs typeface="Arial" pitchFamily="34" charset="-120"/>
                        </a:rPr>
                        <a: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Decision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Exactly one agreeing CI is returned; several are narrowed to the ones reached through the scanned address; a load balancer device is refused.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agreeing CI</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350  ·  LAYERED DNS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ca3-166-01-m02-c.bankofamerica.com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one owner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040384"/>
          </a:xfrm>
          <a:prstGeom prst="roundRect">
            <a:avLst>
              <a:gd name="adj" fmla="val 5273"/>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5283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"ca3-166-01-m02-c"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name + domain (no record named "ca3-166-01-m02-c")</a:t>
            </a:r>
            <a:endParaRPr lang="en-US" sz="1100" dirty="0"/>
          </a:p>
        </p:txBody>
      </p:sp>
      <p:sp>
        <p:nvSpPr>
          <p:cNvPr id="12" name="Shape 10"/>
          <p:cNvSpPr/>
          <p:nvPr/>
        </p:nvSpPr>
        <p:spPr>
          <a:xfrm>
            <a:off x="502920" y="2631440"/>
            <a:ext cx="2788920" cy="37693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7868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061208"/>
            <a:ext cx="457200" cy="0"/>
          </a:xfrm>
          <a:prstGeom prst="line">
            <a:avLst/>
          </a:prstGeom>
          <a:noFill/>
          <a:ln w="19050">
            <a:solidFill>
              <a:srgbClr val="E31837"/>
            </a:solidFill>
            <a:prstDash val="solid"/>
          </a:ln>
        </p:spPr>
      </p:sp>
      <p:sp>
        <p:nvSpPr>
          <p:cNvPr id="15" name="Text 13"/>
          <p:cNvSpPr txBox="1"/>
          <p:nvPr/>
        </p:nvSpPr>
        <p:spPr>
          <a:xfrm>
            <a:off x="740664" y="31069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SDI000003052286</a:t>
            </a:r>
            <a:endParaRPr lang="en-US" sz="1500" dirty="0"/>
          </a:p>
        </p:txBody>
      </p:sp>
      <p:sp>
        <p:nvSpPr>
          <p:cNvPr id="16" name="Text 14"/>
          <p:cNvSpPr txBox="1"/>
          <p:nvPr/>
        </p:nvSpPr>
        <p:spPr>
          <a:xfrm>
            <a:off x="740664" y="3472688"/>
            <a:ext cx="2313432" cy="22148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ca3-166-01-m02-c.bankofamerica.com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10.169.205.12</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HP LaserJet Printer</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05:56:07</a:t>
            </a:r>
            <a:endParaRPr lang="en-US" sz="1200" dirty="0"/>
          </a:p>
        </p:txBody>
      </p:sp>
      <p:sp>
        <p:nvSpPr>
          <p:cNvPr id="17" name="Text 15">
            <a:hlinkClick r:id="rId1" tooltip="https://bofasecopsdev.service-now.com/sn_sec_cmn_src_ci_list.do?sysparm_query=number=SDI000003052286"/>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5228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631440"/>
            <a:ext cx="4745736" cy="3769360"/>
          </a:xfrm>
          <a:prstGeom prst="roundRect">
            <a:avLst>
              <a:gd name="adj" fmla="val 145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7868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061208"/>
            <a:ext cx="457200" cy="0"/>
          </a:xfrm>
          <a:prstGeom prst="line">
            <a:avLst/>
          </a:prstGeom>
          <a:noFill/>
          <a:ln w="19050">
            <a:solidFill>
              <a:srgbClr val="E31837"/>
            </a:solidFill>
            <a:prstDash val="solid"/>
          </a:ln>
        </p:spPr>
      </p:sp>
      <p:sp>
        <p:nvSpPr>
          <p:cNvPr id="21" name="Text 19"/>
          <p:cNvSpPr txBox="1"/>
          <p:nvPr/>
        </p:nvSpPr>
        <p:spPr>
          <a:xfrm>
            <a:off x="3749040" y="3134360"/>
            <a:ext cx="4233672" cy="31109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"ca3-166-01-m02-c.bankofamerica.com"; OS "HP LaserJet Printer" gives the class printer (agreement includes appliances for a Linux fingerprint)</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DNS Name -&gt; IP Address -&gt; adapter -&gt; CI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row: address 10.169.205.12 -&gt; adapter HP ETHERNET MULTI-ENVIRONMENT,ROM none,JETDIRECT,JD153,EEPROM JSI25080326 -&gt; npi443e42 [printer]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agreeing CI</a:t>
            </a:r>
            <a:endParaRPr lang="en-US" sz="1300" dirty="0"/>
          </a:p>
        </p:txBody>
      </p:sp>
      <p:sp>
        <p:nvSpPr>
          <p:cNvPr id="22" name="Shape 20"/>
          <p:cNvSpPr/>
          <p:nvPr/>
        </p:nvSpPr>
        <p:spPr>
          <a:xfrm>
            <a:off x="8439912" y="2631440"/>
            <a:ext cx="3246120" cy="376936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796032"/>
            <a:ext cx="64008" cy="3440176"/>
          </a:xfrm>
          <a:prstGeom prst="rect">
            <a:avLst/>
          </a:prstGeom>
          <a:solidFill>
            <a:srgbClr val="E31837"/>
          </a:solidFill>
          <a:ln w="12700">
            <a:solidFill>
              <a:srgbClr val="333333"/>
            </a:solidFill>
            <a:prstDash val="solid"/>
          </a:ln>
        </p:spPr>
      </p:sp>
      <p:sp>
        <p:nvSpPr>
          <p:cNvPr id="24" name="Text 22"/>
          <p:cNvSpPr txBox="1"/>
          <p:nvPr/>
        </p:nvSpPr>
        <p:spPr>
          <a:xfrm>
            <a:off x="8714232" y="27868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061208"/>
            <a:ext cx="457200" cy="0"/>
          </a:xfrm>
          <a:prstGeom prst="line">
            <a:avLst/>
          </a:prstGeom>
          <a:noFill/>
          <a:ln w="19050">
            <a:solidFill>
              <a:srgbClr val="E31837"/>
            </a:solidFill>
            <a:prstDash val="solid"/>
          </a:ln>
        </p:spPr>
      </p:sp>
      <p:sp>
        <p:nvSpPr>
          <p:cNvPr id="26" name="Text 24"/>
          <p:cNvSpPr txBox="1"/>
          <p:nvPr/>
        </p:nvSpPr>
        <p:spPr>
          <a:xfrm>
            <a:off x="8714232" y="31069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npi443e42</a:t>
            </a:r>
            <a:endParaRPr lang="en-US" sz="1500" dirty="0"/>
          </a:p>
        </p:txBody>
      </p:sp>
      <p:sp>
        <p:nvSpPr>
          <p:cNvPr id="27" name="Text 25"/>
          <p:cNvSpPr txBox="1"/>
          <p:nvPr/>
        </p:nvSpPr>
        <p:spPr>
          <a:xfrm>
            <a:off x="8714232" y="34269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Printer</a:t>
            </a:r>
            <a:endParaRPr lang="en-US" sz="1100" dirty="0"/>
          </a:p>
        </p:txBody>
      </p:sp>
      <p:sp>
        <p:nvSpPr>
          <p:cNvPr id="28" name="Text 26"/>
          <p:cNvSpPr txBox="1"/>
          <p:nvPr/>
        </p:nvSpPr>
        <p:spPr>
          <a:xfrm>
            <a:off x="8714232" y="3747008"/>
            <a:ext cx="2715768" cy="194056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10.169.205.12</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MXBCQ800NY</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Hewlett-Packard HP LaserJet Flow MFP E52645</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 Stock</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Non-Operational</a:t>
            </a:r>
            <a:endParaRPr lang="en-US" sz="1200" dirty="0"/>
          </a:p>
        </p:txBody>
      </p:sp>
      <p:sp>
        <p:nvSpPr>
          <p:cNvPr id="29" name="Text 27">
            <a:hlinkClick r:id="rId2" tooltip="https://bofasecopsdev.service-now.com/cmdb_ci_printer.do?sys_id=e4b9ac382b86ae54d50dffbdbe91bfe3"/>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e4b9ac382b86ae54d50dffbdbe91bfe3"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350  ·  LAYERED DNS MATCH  ·  EXAMPLE 2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ca3-166-01-m02-c.bankofamerica.com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f17bde363b3e4f180e435c8a04e45a33" history="1" highlightClick="0" endSnd="0">
                  <a:extLst>
                    <a:ext uri="{A12FA001-AC4F-418D-AE19-62706E023703}">
                      <ahyp:hlinkClr xmlns:ahyp="http://schemas.microsoft.com/office/drawing/2018/hyperlinkcolor" val="tx"/>
                    </a:ext>
                  </a:extLst>
                </a:hlinkClick>
              </a:rPr>
              <a:t>SDI000003052286</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bab564cb47624710a1a9295b416d43a4" history="1" highlightClick="0" endSnd="0">
                  <a:extLst>
                    <a:ext uri="{A12FA001-AC4F-418D-AE19-62706E023703}">
                      <ahyp:hlinkClr xmlns:ahyp="http://schemas.microsoft.com/office/drawing/2018/hyperlinkcolor" val="tx"/>
                    </a:ext>
                  </a:extLst>
                </a:hlinkClick>
              </a:rPr>
              <a:t>BOFA Layered DNS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printer.do?sys_id=e4b9ac382b86ae54d50dffbdbe91bfe3" history="1" highlightClick="0" endSnd="0">
                  <a:extLst>
                    <a:ext uri="{A12FA001-AC4F-418D-AE19-62706E023703}">
                      <ahyp:hlinkClr xmlns:ahyp="http://schemas.microsoft.com/office/drawing/2018/hyperlinkcolor" val="tx"/>
                    </a:ext>
                  </a:extLst>
                </a:hlinkClick>
              </a:rPr>
              <a:t>npi443e42</a:t>
            </a:r>
            <a:endParaRPr lang="en-US" sz="1000" dirty="0"/>
          </a:p>
        </p:txBody>
      </p:sp>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Lower-cases the DNS name. classFor(OS) is kept as a preference: the CI reached must sit in that class or a parent of it; a Linux fingerprint also accepts network gear, load balancers and storage.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"ca3-166-01-m02-c.bankofamerica.com"; OS "HP LaserJet Printer" gives the class printer (agreement includes appliances for a Linux fingerprint)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DNS Name -&gt; IP Address -&gt; adapter -&gt; CI</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Reads the link table cmdb_ip_address_dns_name for the DNS Name record named like the host and follows IP Address -&gt; Network Adapter -&gt; CI, ignored classes left out; the owners whose class agrees with the OS are kept.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row: address 10.169.205.12 -&gt; adapter HP ETHERNET MULTI-ENVIRONMENT,ROM none,JETDIRECT,JD153,EEPROM JSI25080326 -&gt; npi443e42 [printer]</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ip_address_dns_name_list.do?sysparm_query=dns_name.name%3Dca3-166-01-m02-c.bankofamerica.com" history="1" highlightClick="0" endSnd="0">
                            <a:extLst>
                              <a:ext uri="{A12FA001-AC4F-418D-AE19-62706E023703}">
                                <ahyp:hlinkClr xmlns:ahyp="http://schemas.microsoft.com/office/drawing/2018/hyperlinkcolor" val="tx"/>
                              </a:ext>
                            </a:extLst>
                          </a:hlinkClick>
                        </a:rPr>
                        <a:t>DNS Name link: dns_name.name=ca3-166-01-m02-c.bankofamerica.com</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ip_address_dns_name.do?sys_id=3abed2c02b7332545371f1f5d891bfad" history="1" highlightClick="0" endSnd="0">
                            <a:extLst>
                              <a:ext uri="{A12FA001-AC4F-418D-AE19-62706E023703}">
                                <ahyp:hlinkClr xmlns:ahyp="http://schemas.microsoft.com/office/drawing/2018/hyperlinkcolor" val="tx"/>
                              </a:ext>
                            </a:extLst>
                          </a:hlinkClick>
                        </a:rPr>
                        <a:t>ca3-166-01-m02-c.bankofamerica.com</a:t>
                      </a:r>
                      <a:pPr indent="0" marL="0">
                        <a:buNone/>
                      </a:pPr>
                      <a:r>
                        <a:rPr lang="en-US" sz="900" dirty="0">
                          <a:solidFill>
                            <a:srgbClr val="6E7279"/>
                          </a:solidFill>
                          <a:latin typeface="Arial" pitchFamily="34" charset="0"/>
                          <a:ea typeface="Arial" pitchFamily="34" charset="-122"/>
                          <a:cs typeface="Arial" pitchFamily="34" charset="-120"/>
                        </a:rPr>
                        <a:t> → adapter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network_adapter.do?sys_id=0aef8e000fb3be50f85854d530d1b2c7" history="1" highlightClick="0" endSnd="0">
                            <a:extLst>
                              <a:ext uri="{A12FA001-AC4F-418D-AE19-62706E023703}">
                                <ahyp:hlinkClr xmlns:ahyp="http://schemas.microsoft.com/office/drawing/2018/hyperlinkcolor" val="tx"/>
                              </a:ext>
                            </a:extLst>
                          </a:hlinkClick>
                        </a:rPr>
                        <a:t>HP ETHERNET MULTI-ENVIRONMENT,ROM none,JETDIRECT,JD153,EEPROM JSI25080326</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8" invalidUrl="" action="" tgtFrame="" tooltip="https://bofasecopsdev.service-now.com/cmdb_ci_printer.do?sys_id=e4b9ac382b86ae54d50dffbdbe91bfe3" history="1" highlightClick="0" endSnd="0">
                            <a:extLst>
                              <a:ext uri="{A12FA001-AC4F-418D-AE19-62706E023703}">
                                <ahyp:hlinkClr xmlns:ahyp="http://schemas.microsoft.com/office/drawing/2018/hyperlinkcolor" val="tx"/>
                              </a:ext>
                            </a:extLst>
                          </a:hlinkClick>
                        </a:rPr>
                        <a:t>npi443e42</a:t>
                      </a:r>
                      <a:pPr indent="0" marL="0">
                        <a:buNone/>
                      </a:pPr>
                      <a:r>
                        <a:rPr lang="en-US" sz="900" dirty="0">
                          <a:solidFill>
                            <a:srgbClr val="6E7279"/>
                          </a:solidFill>
                          <a:latin typeface="Arial" pitchFamily="34" charset="0"/>
                          <a:ea typeface="Arial" pitchFamily="34" charset="-122"/>
                          <a:cs typeface="Arial" pitchFamily="34" charset="-120"/>
                        </a:rPr>
                        <a:t> [printer]</a:t>
                      </a:r>
                      <a:pPr indent="0" marL="0">
                        <a:buNone/>
                      </a:pPr>
                      <a:r>
                        <a:rPr lang="en-US" sz="900" dirty="0">
                          <a:solidFill>
                            <a:srgbClr val="6E7279"/>
                          </a:solidFill>
                          <a:latin typeface="Arial" pitchFamily="34" charset="0"/>
                          <a:ea typeface="Arial" pitchFamily="34" charset="-122"/>
                          <a:cs typeface="Arial" pitchFamily="34" charset="-120"/>
                        </a:rPr>
                        <a:t> (DNS Name </a:t>
                      </a:r>
                      <a:pPr indent="0" marL="0">
                        <a:buNone/>
                      </a:pPr>
                      <a:r>
                        <a:rPr lang="en-US" sz="900" u="sng" dirty="0">
                          <a:solidFill>
                            <a:srgbClr val="012169"/>
                          </a:solidFill>
                          <a:latin typeface="Arial" pitchFamily="34" charset="0"/>
                          <a:ea typeface="Arial" pitchFamily="34" charset="-122"/>
                          <a:cs typeface="Arial" pitchFamily="34" charset="-120"/>
                          <a:hlinkClick r:id="rId9" invalidUrl="" action="" tgtFrame="" tooltip="https://bofasecopsdev.service-now.com/cmdb_ci_dns_name.do?sys_id=b2bed2c02b7332545371f1f5d891bfad" history="1" highlightClick="0" endSnd="0">
                            <a:extLst>
                              <a:ext uri="{A12FA001-AC4F-418D-AE19-62706E023703}">
                                <ahyp:hlinkClr xmlns:ahyp="http://schemas.microsoft.com/office/drawing/2018/hyperlinkcolor" val="tx"/>
                              </a:ext>
                            </a:extLst>
                          </a:hlinkClick>
                        </a:rPr>
                        <a:t>ca3-166-01-m02-c.bankofamerica.com</a:t>
                      </a:r>
                      <a:pPr indent="0" marL="0">
                        <a:buNone/>
                      </a:pPr>
                      <a:r>
                        <a:rPr lang="en-US" sz="900" dirty="0">
                          <a:solidFill>
                            <a:srgbClr val="6E7279"/>
                          </a:solidFill>
                          <a:latin typeface="Arial" pitchFamily="34" charset="0"/>
                          <a:ea typeface="Arial" pitchFamily="34" charset="-122"/>
                          <a:cs typeface="Arial" pitchFamily="34" charset="-120"/>
                        </a:rPr>
                        <a:t>, IP Address </a:t>
                      </a:r>
                      <a:pPr indent="0" marL="0">
                        <a:buNone/>
                      </a:pPr>
                      <a:r>
                        <a:rPr lang="en-US" sz="900" u="sng" dirty="0">
                          <a:solidFill>
                            <a:srgbClr val="012169"/>
                          </a:solidFill>
                          <a:latin typeface="Arial" pitchFamily="34" charset="0"/>
                          <a:ea typeface="Arial" pitchFamily="34" charset="-122"/>
                          <a:cs typeface="Arial" pitchFamily="34" charset="-120"/>
                          <a:hlinkClick r:id="rId10" invalidUrl="" action="" tgtFrame="" tooltip="https://bofasecopsdev.service-now.com/cmdb_ci_ip_address.do?sys_id=feefce000fb3be50f85854d530d1b2b7" history="1" highlightClick="0" endSnd="0">
                            <a:extLst>
                              <a:ext uri="{A12FA001-AC4F-418D-AE19-62706E023703}">
                                <ahyp:hlinkClr xmlns:ahyp="http://schemas.microsoft.com/office/drawing/2018/hyperlinkcolor" val="tx"/>
                              </a:ext>
                            </a:extLst>
                          </a:hlinkClick>
                        </a:rPr>
                        <a:t>10.169.205.12</a:t>
                      </a:r>
                      <a:pPr indent="0" marL="0">
                        <a:buNone/>
                      </a:pPr>
                      <a:r>
                        <a:rPr lang="en-US" sz="900" dirty="0">
                          <a:solidFill>
                            <a:srgbClr val="6E7279"/>
                          </a:solidFill>
                          <a:latin typeface="Arial" pitchFamily="34" charset="0"/>
                          <a:ea typeface="Arial" pitchFamily="34" charset="-122"/>
                          <a:cs typeface="Arial" pitchFamily="34" charset="-120"/>
                        </a:rPr>
                        <a: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Decision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Exactly one agreeing CI is returned; several are narrowed to the ones reached through the scanned address; a load balancer device is refused.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agreeing CI</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350  ·  LAYERED DNS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ca6-168-02-p200.bankofamerica.com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one owner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258824"/>
          </a:xfrm>
          <a:prstGeom prst="roundRect">
            <a:avLst>
              <a:gd name="adj" fmla="val 4358"/>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74676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"ca6-168-02-p200"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name + domain (1 named "ca6-168-02-p200", none with the domain "bankofamerica.com")</a:t>
            </a:r>
            <a:endParaRPr lang="en-US" sz="1100" dirty="0"/>
          </a:p>
        </p:txBody>
      </p:sp>
      <p:sp>
        <p:nvSpPr>
          <p:cNvPr id="12" name="Shape 10"/>
          <p:cNvSpPr/>
          <p:nvPr/>
        </p:nvSpPr>
        <p:spPr>
          <a:xfrm>
            <a:off x="502920" y="2849880"/>
            <a:ext cx="2788920" cy="355092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00532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279648"/>
            <a:ext cx="457200" cy="0"/>
          </a:xfrm>
          <a:prstGeom prst="line">
            <a:avLst/>
          </a:prstGeom>
          <a:noFill/>
          <a:ln w="19050">
            <a:solidFill>
              <a:srgbClr val="E31837"/>
            </a:solidFill>
            <a:prstDash val="solid"/>
          </a:ln>
        </p:spPr>
      </p:sp>
      <p:sp>
        <p:nvSpPr>
          <p:cNvPr id="15" name="Text 13"/>
          <p:cNvSpPr txBox="1"/>
          <p:nvPr/>
        </p:nvSpPr>
        <p:spPr>
          <a:xfrm>
            <a:off x="740664" y="332536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SDI000003085182</a:t>
            </a:r>
            <a:endParaRPr lang="en-US" sz="1500" dirty="0"/>
          </a:p>
        </p:txBody>
      </p:sp>
      <p:sp>
        <p:nvSpPr>
          <p:cNvPr id="16" name="Text 14"/>
          <p:cNvSpPr txBox="1"/>
          <p:nvPr/>
        </p:nvSpPr>
        <p:spPr>
          <a:xfrm>
            <a:off x="740664" y="3691128"/>
            <a:ext cx="2313432" cy="199644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ca6-168-02-p200.bankofamerica.com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10.166.40.10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HP LaserJet Printer</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05:56:06</a:t>
            </a:r>
            <a:endParaRPr lang="en-US" sz="1200" dirty="0"/>
          </a:p>
        </p:txBody>
      </p:sp>
      <p:sp>
        <p:nvSpPr>
          <p:cNvPr id="17" name="Text 15">
            <a:hlinkClick r:id="rId1" tooltip="https://bofasecopsdev.service-now.com/sn_sec_cmn_src_ci_list.do?sysparm_query=number=SDI000003085182"/>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8518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849880"/>
            <a:ext cx="4745736" cy="3550920"/>
          </a:xfrm>
          <a:prstGeom prst="roundRect">
            <a:avLst>
              <a:gd name="adj" fmla="val 154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00532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279648"/>
            <a:ext cx="457200" cy="0"/>
          </a:xfrm>
          <a:prstGeom prst="line">
            <a:avLst/>
          </a:prstGeom>
          <a:noFill/>
          <a:ln w="19050">
            <a:solidFill>
              <a:srgbClr val="E31837"/>
            </a:solidFill>
            <a:prstDash val="solid"/>
          </a:ln>
        </p:spPr>
      </p:sp>
      <p:sp>
        <p:nvSpPr>
          <p:cNvPr id="21" name="Text 19"/>
          <p:cNvSpPr txBox="1"/>
          <p:nvPr/>
        </p:nvSpPr>
        <p:spPr>
          <a:xfrm>
            <a:off x="3749040" y="3352800"/>
            <a:ext cx="4233672" cy="289255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"ca6-168-02-p200.bankofamerica.com"; OS "HP LaserJet Printer" gives the class printer (agreement includes appliances for a Linux fingerprint)</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DNS Name -&gt; IP Address -&gt; adapter -&gt; CI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row: address 10.166.40.10 -&gt; adapter HP ETHERNET MULTI-ENVIRONMENT,ROM none,JETDIRECT,JD153,EEPROM JSI25080326 -&gt; ca6-168-02-p200 [printer]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agreeing CI</a:t>
            </a:r>
            <a:endParaRPr lang="en-US" sz="1300" dirty="0"/>
          </a:p>
        </p:txBody>
      </p:sp>
      <p:sp>
        <p:nvSpPr>
          <p:cNvPr id="22" name="Shape 20"/>
          <p:cNvSpPr/>
          <p:nvPr/>
        </p:nvSpPr>
        <p:spPr>
          <a:xfrm>
            <a:off x="8439912" y="2849880"/>
            <a:ext cx="3246120" cy="355092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014472"/>
            <a:ext cx="64008" cy="3221736"/>
          </a:xfrm>
          <a:prstGeom prst="rect">
            <a:avLst/>
          </a:prstGeom>
          <a:solidFill>
            <a:srgbClr val="E31837"/>
          </a:solidFill>
          <a:ln w="12700">
            <a:solidFill>
              <a:srgbClr val="333333"/>
            </a:solidFill>
            <a:prstDash val="solid"/>
          </a:ln>
        </p:spPr>
      </p:sp>
      <p:sp>
        <p:nvSpPr>
          <p:cNvPr id="24" name="Text 22"/>
          <p:cNvSpPr txBox="1"/>
          <p:nvPr/>
        </p:nvSpPr>
        <p:spPr>
          <a:xfrm>
            <a:off x="8714232" y="300532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279648"/>
            <a:ext cx="457200" cy="0"/>
          </a:xfrm>
          <a:prstGeom prst="line">
            <a:avLst/>
          </a:prstGeom>
          <a:noFill/>
          <a:ln w="19050">
            <a:solidFill>
              <a:srgbClr val="E31837"/>
            </a:solidFill>
            <a:prstDash val="solid"/>
          </a:ln>
        </p:spPr>
      </p:sp>
      <p:sp>
        <p:nvSpPr>
          <p:cNvPr id="26" name="Text 24"/>
          <p:cNvSpPr txBox="1"/>
          <p:nvPr/>
        </p:nvSpPr>
        <p:spPr>
          <a:xfrm>
            <a:off x="8714232" y="332536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ca6-168-02-p200</a:t>
            </a:r>
            <a:endParaRPr lang="en-US" sz="1500" dirty="0"/>
          </a:p>
        </p:txBody>
      </p:sp>
      <p:sp>
        <p:nvSpPr>
          <p:cNvPr id="27" name="Text 25"/>
          <p:cNvSpPr txBox="1"/>
          <p:nvPr/>
        </p:nvSpPr>
        <p:spPr>
          <a:xfrm>
            <a:off x="8714232" y="364540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Printer</a:t>
            </a:r>
            <a:endParaRPr lang="en-US" sz="1100" dirty="0"/>
          </a:p>
        </p:txBody>
      </p:sp>
      <p:sp>
        <p:nvSpPr>
          <p:cNvPr id="28" name="Text 26"/>
          <p:cNvSpPr txBox="1"/>
          <p:nvPr/>
        </p:nvSpPr>
        <p:spPr>
          <a:xfrm>
            <a:off x="8714232" y="3965448"/>
            <a:ext cx="2715768" cy="172212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10.166.40.10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MXBCR3F187</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Hewlett-Packard HP LaserJet Flow MFP E52645</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printer.do?sys_id=a18a20fc2b86ae54d50dffbdbe91bf86"/>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a18a20fc2b86ae54d50dffbdbe91bf86"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350  ·  LAYERED DNS MATCH  ·  EXAMPLE 3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ca6-168-02-p200.bankofamerica.com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a48172b2eb7ecf14017ff4d7cad0cdf3" history="1" highlightClick="0" endSnd="0">
                  <a:extLst>
                    <a:ext uri="{A12FA001-AC4F-418D-AE19-62706E023703}">
                      <ahyp:hlinkClr xmlns:ahyp="http://schemas.microsoft.com/office/drawing/2018/hyperlinkcolor" val="tx"/>
                    </a:ext>
                  </a:extLst>
                </a:hlinkClick>
              </a:rPr>
              <a:t>SDI000003085182</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bab564cb47624710a1a9295b416d43a4" history="1" highlightClick="0" endSnd="0">
                  <a:extLst>
                    <a:ext uri="{A12FA001-AC4F-418D-AE19-62706E023703}">
                      <ahyp:hlinkClr xmlns:ahyp="http://schemas.microsoft.com/office/drawing/2018/hyperlinkcolor" val="tx"/>
                    </a:ext>
                  </a:extLst>
                </a:hlinkClick>
              </a:rPr>
              <a:t>BOFA Layered DNS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printer.do?sys_id=a18a20fc2b86ae54d50dffbdbe91bf86" history="1" highlightClick="0" endSnd="0">
                  <a:extLst>
                    <a:ext uri="{A12FA001-AC4F-418D-AE19-62706E023703}">
                      <ahyp:hlinkClr xmlns:ahyp="http://schemas.microsoft.com/office/drawing/2018/hyperlinkcolor" val="tx"/>
                    </a:ext>
                  </a:extLst>
                </a:hlinkClick>
              </a:rPr>
              <a:t>ca6-168-02-p200</a:t>
            </a:r>
            <a:endParaRPr lang="en-US" sz="1000" dirty="0"/>
          </a:p>
        </p:txBody>
      </p:sp>
      <p:graphicFrame>
        <p:nvGraphicFramePr>
          <p:cNvPr id="81"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Lower-cases the DNS name. classFor(OS) is kept as a preference: the CI reached must sit in that class or a parent of it; a Linux fingerprint also accepts network gear, load balancers and storage.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"ca6-168-02-p200.bankofamerica.com"; OS "HP LaserJet Printer" gives the class printer (agreement includes appliances for a Linux fingerprint)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DNS Name -&gt; IP Address -&gt; adapter -&gt; CI</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Reads the link table cmdb_ip_address_dns_name for the DNS Name record named like the host and follows IP Address -&gt; Network Adapter -&gt; CI, ignored classes left out; the owners whose class agrees with the OS are kept.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row: address 10.166.40.10 -&gt; adapter HP ETHERNET MULTI-ENVIRONMENT,ROM none,JETDIRECT,JD153,EEPROM JSI25080326 -&gt; ca6-168-02-p200 [printer]</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ip_address_dns_name_list.do?sysparm_query=dns_name.name%3Dca6-168-02-p200.bankofamerica.com" history="1" highlightClick="0" endSnd="0">
                            <a:extLst>
                              <a:ext uri="{A12FA001-AC4F-418D-AE19-62706E023703}">
                                <ahyp:hlinkClr xmlns:ahyp="http://schemas.microsoft.com/office/drawing/2018/hyperlinkcolor" val="tx"/>
                              </a:ext>
                            </a:extLst>
                          </a:hlinkClick>
                        </a:rPr>
                        <a:t>DNS Name link: dns_name.name=ca6-168-02-p200.bankofamerica.com</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ip_address_dns_name.do?sys_id=85079a8093f33a1079dafd8ab903d645" history="1" highlightClick="0" endSnd="0">
                            <a:extLst>
                              <a:ext uri="{A12FA001-AC4F-418D-AE19-62706E023703}">
                                <ahyp:hlinkClr xmlns:ahyp="http://schemas.microsoft.com/office/drawing/2018/hyperlinkcolor" val="tx"/>
                              </a:ext>
                            </a:extLst>
                          </a:hlinkClick>
                        </a:rPr>
                        <a:t>ca6-168-02-p200.bankofamerica.com</a:t>
                      </a:r>
                      <a:pPr indent="0" marL="0">
                        <a:buNone/>
                      </a:pPr>
                      <a:r>
                        <a:rPr lang="en-US" sz="900" dirty="0">
                          <a:solidFill>
                            <a:srgbClr val="6E7279"/>
                          </a:solidFill>
                          <a:latin typeface="Arial" pitchFamily="34" charset="0"/>
                          <a:ea typeface="Arial" pitchFamily="34" charset="-122"/>
                          <a:cs typeface="Arial" pitchFamily="34" charset="-120"/>
                        </a:rPr>
                        <a:t> → adapter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network_adapter.do?sys_id=543c0ac8eb7b3a10ea58f81dfdc0cdc2" history="1" highlightClick="0" endSnd="0">
                            <a:extLst>
                              <a:ext uri="{A12FA001-AC4F-418D-AE19-62706E023703}">
                                <ahyp:hlinkClr xmlns:ahyp="http://schemas.microsoft.com/office/drawing/2018/hyperlinkcolor" val="tx"/>
                              </a:ext>
                            </a:extLst>
                          </a:hlinkClick>
                        </a:rPr>
                        <a:t>HP ETHERNET MULTI-ENVIRONMENT,ROM none,JETDIRECT,JD153,EEPROM JSI25080326</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8" invalidUrl="" action="" tgtFrame="" tooltip="https://bofasecopsdev.service-now.com/cmdb_ci_printer.do?sys_id=a18a20fc2b86ae54d50dffbdbe91bf86" history="1" highlightClick="0" endSnd="0">
                            <a:extLst>
                              <a:ext uri="{A12FA001-AC4F-418D-AE19-62706E023703}">
                                <ahyp:hlinkClr xmlns:ahyp="http://schemas.microsoft.com/office/drawing/2018/hyperlinkcolor" val="tx"/>
                              </a:ext>
                            </a:extLst>
                          </a:hlinkClick>
                        </a:rPr>
                        <a:t>ca6-168-02-p200</a:t>
                      </a:r>
                      <a:pPr indent="0" marL="0">
                        <a:buNone/>
                      </a:pPr>
                      <a:r>
                        <a:rPr lang="en-US" sz="900" dirty="0">
                          <a:solidFill>
                            <a:srgbClr val="6E7279"/>
                          </a:solidFill>
                          <a:latin typeface="Arial" pitchFamily="34" charset="0"/>
                          <a:ea typeface="Arial" pitchFamily="34" charset="-122"/>
                          <a:cs typeface="Arial" pitchFamily="34" charset="-120"/>
                        </a:rPr>
                        <a:t> [printer]</a:t>
                      </a:r>
                      <a:pPr indent="0" marL="0">
                        <a:buNone/>
                      </a:pPr>
                      <a:r>
                        <a:rPr lang="en-US" sz="900" dirty="0">
                          <a:solidFill>
                            <a:srgbClr val="6E7279"/>
                          </a:solidFill>
                          <a:latin typeface="Arial" pitchFamily="34" charset="0"/>
                          <a:ea typeface="Arial" pitchFamily="34" charset="-122"/>
                          <a:cs typeface="Arial" pitchFamily="34" charset="-120"/>
                        </a:rPr>
                        <a:t> (DNS Name </a:t>
                      </a:r>
                      <a:pPr indent="0" marL="0">
                        <a:buNone/>
                      </a:pPr>
                      <a:r>
                        <a:rPr lang="en-US" sz="900" u="sng" dirty="0">
                          <a:solidFill>
                            <a:srgbClr val="012169"/>
                          </a:solidFill>
                          <a:latin typeface="Arial" pitchFamily="34" charset="0"/>
                          <a:ea typeface="Arial" pitchFamily="34" charset="-122"/>
                          <a:cs typeface="Arial" pitchFamily="34" charset="-120"/>
                          <a:hlinkClick r:id="rId9" invalidUrl="" action="" tgtFrame="" tooltip="https://bofasecopsdev.service-now.com/cmdb_ci_dns_name.do?sys_id=01079a8093f33a1079dafd8ab903d645" history="1" highlightClick="0" endSnd="0">
                            <a:extLst>
                              <a:ext uri="{A12FA001-AC4F-418D-AE19-62706E023703}">
                                <ahyp:hlinkClr xmlns:ahyp="http://schemas.microsoft.com/office/drawing/2018/hyperlinkcolor" val="tx"/>
                              </a:ext>
                            </a:extLst>
                          </a:hlinkClick>
                        </a:rPr>
                        <a:t>ca6-168-02-p200.bankofamerica.com</a:t>
                      </a:r>
                      <a:pPr indent="0" marL="0">
                        <a:buNone/>
                      </a:pPr>
                      <a:r>
                        <a:rPr lang="en-US" sz="900" dirty="0">
                          <a:solidFill>
                            <a:srgbClr val="6E7279"/>
                          </a:solidFill>
                          <a:latin typeface="Arial" pitchFamily="34" charset="0"/>
                          <a:ea typeface="Arial" pitchFamily="34" charset="-122"/>
                          <a:cs typeface="Arial" pitchFamily="34" charset="-120"/>
                        </a:rPr>
                        <a:t>, IP Address </a:t>
                      </a:r>
                      <a:pPr indent="0" marL="0">
                        <a:buNone/>
                      </a:pPr>
                      <a:r>
                        <a:rPr lang="en-US" sz="900" u="sng" dirty="0">
                          <a:solidFill>
                            <a:srgbClr val="012169"/>
                          </a:solidFill>
                          <a:latin typeface="Arial" pitchFamily="34" charset="0"/>
                          <a:ea typeface="Arial" pitchFamily="34" charset="-122"/>
                          <a:cs typeface="Arial" pitchFamily="34" charset="-120"/>
                          <a:hlinkClick r:id="rId10" invalidUrl="" action="" tgtFrame="" tooltip="https://bofasecopsdev.service-now.com/cmdb_ci_ip_address.do?sys_id=413c8ac8eb7b3a10ea58f81dfdc0cd9f" history="1" highlightClick="0" endSnd="0">
                            <a:extLst>
                              <a:ext uri="{A12FA001-AC4F-418D-AE19-62706E023703}">
                                <ahyp:hlinkClr xmlns:ahyp="http://schemas.microsoft.com/office/drawing/2018/hyperlinkcolor" val="tx"/>
                              </a:ext>
                            </a:extLst>
                          </a:hlinkClick>
                        </a:rPr>
                        <a:t>10.166.40.10</a:t>
                      </a:r>
                      <a:pPr indent="0" marL="0">
                        <a:buNone/>
                      </a:pPr>
                      <a:r>
                        <a:rPr lang="en-US" sz="900" dirty="0">
                          <a:solidFill>
                            <a:srgbClr val="6E7279"/>
                          </a:solidFill>
                          <a:latin typeface="Arial" pitchFamily="34" charset="0"/>
                          <a:ea typeface="Arial" pitchFamily="34" charset="-122"/>
                          <a:cs typeface="Arial" pitchFamily="34" charset="-120"/>
                        </a:rPr>
                        <a: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Decision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Exactly one agreeing CI is returned; several are narrowed to the ones reached through the scanned address; a load balancer device is refused.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agreeing CI</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400  ·  NAME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706880"/>
          </a:xfrm>
          <a:prstGeom prst="roundRect">
            <a:avLst>
              <a:gd name="adj" fmla="val 321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3776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0668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short hostname (first DNS label) only inside the CMDB class the scanned OS implies, so the OS-to-class agreement stands in for the domain agreement the CI lacks.</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right after the domain rules because it is the first rule that accepts a CI carrying only a short name.</a:t>
            </a:r>
            <a:endParaRPr lang="en-US" sz="1500" dirty="0"/>
          </a:p>
        </p:txBody>
      </p:sp>
      <p:sp>
        <p:nvSpPr>
          <p:cNvPr id="13" name="Shape 11"/>
          <p:cNvSpPr/>
          <p:nvPr/>
        </p:nvSpPr>
        <p:spPr>
          <a:xfrm>
            <a:off x="502920" y="3380232"/>
            <a:ext cx="6933529" cy="2352040"/>
          </a:xfrm>
          <a:prstGeom prst="roundRect">
            <a:avLst>
              <a:gd name="adj" fmla="val 2333"/>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5631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3837432"/>
            <a:ext cx="457200" cy="0"/>
          </a:xfrm>
          <a:prstGeom prst="line">
            <a:avLst/>
          </a:prstGeom>
          <a:noFill/>
          <a:ln w="19050">
            <a:solidFill>
              <a:srgbClr val="E31837"/>
            </a:solidFill>
            <a:prstDash val="solid"/>
          </a:ln>
        </p:spPr>
      </p:sp>
      <p:sp>
        <p:nvSpPr>
          <p:cNvPr id="16" name="Text 14"/>
          <p:cNvSpPr txBox="1"/>
          <p:nvPr/>
        </p:nvSpPr>
        <p:spPr>
          <a:xfrm>
            <a:off x="822960" y="3928872"/>
            <a:ext cx="6293449" cy="162052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DNS (sourceValue) plus payload field OS (sourcePayload.OS); no other payload field is read and the rule argument is never used.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CI of the OS-implied class (sub-classes included, ignored classes excluded) whose name equals the short hostname; null in every other case.</a:t>
            </a:r>
            <a:endParaRPr lang="en-US" sz="1400" dirty="0"/>
          </a:p>
        </p:txBody>
      </p:sp>
      <p:sp>
        <p:nvSpPr>
          <p:cNvPr id="17" name="Shape 15"/>
          <p:cNvSpPr/>
          <p:nvPr/>
        </p:nvSpPr>
        <p:spPr>
          <a:xfrm>
            <a:off x="7665049" y="3380232"/>
            <a:ext cx="4020983" cy="2352040"/>
          </a:xfrm>
          <a:prstGeom prst="roundRect">
            <a:avLst>
              <a:gd name="adj" fmla="val 2333"/>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5631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3837432"/>
            <a:ext cx="457200" cy="0"/>
          </a:xfrm>
          <a:prstGeom prst="line">
            <a:avLst/>
          </a:prstGeom>
          <a:noFill/>
          <a:ln w="19050">
            <a:solidFill>
              <a:srgbClr val="E31837"/>
            </a:solidFill>
            <a:prstDash val="solid"/>
          </a:ln>
        </p:spPr>
      </p:sp>
      <p:sp>
        <p:nvSpPr>
          <p:cNvPr id="20" name="Text 18"/>
          <p:cNvSpPr txBox="1"/>
          <p:nvPr/>
        </p:nvSpPr>
        <p:spPr>
          <a:xfrm>
            <a:off x="7985089" y="3928872"/>
            <a:ext cx="3380903" cy="61468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Layered DNS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Hostname Hardware Match</a:t>
            </a:r>
            <a:endParaRPr lang="en-US" sz="1300" dirty="0"/>
          </a:p>
        </p:txBody>
      </p:sp>
      <p:sp>
        <p:nvSpPr>
          <p:cNvPr id="21" name="Text 19"/>
          <p:cNvSpPr txBox="1"/>
          <p:nvPr/>
        </p:nvSpPr>
        <p:spPr>
          <a:xfrm>
            <a:off x="7985089" y="463499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144,102</a:t>
            </a:r>
            <a:endParaRPr lang="en-US" sz="2800" dirty="0"/>
          </a:p>
        </p:txBody>
      </p:sp>
      <p:sp>
        <p:nvSpPr>
          <p:cNvPr id="22" name="Text 20"/>
          <p:cNvSpPr txBox="1"/>
          <p:nvPr/>
        </p:nvSpPr>
        <p:spPr>
          <a:xfrm>
            <a:off x="7985089" y="520192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400  ·  NAME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5540"/>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1   Guard and normalise the DNS value.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Declines at once when sourceValue is empty. Otherwise coerces it to a string, trims it and lower-cases it (sample: wsaoi01zeapd1.sdi.corp.bankofamerica.com).</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2   Take the first label as the short host.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Splits the lowered value on '.' and keeps element 0 (wsaoi01zeapd1). Everything after the first dot is dropped; no suffix list is consulted. An empty first label (value starting with a dot) declines.</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3   Resolve the ignore list.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Uses the framework variable _ignoreClass when it is defined and non-empty (coerced to a string), otherwise reads system property sn_sec_cmn.ignoreCIClass with '' as default. Used later as an exact class-name NOT IN filter.</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4   Derive the class from the OS.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pref = classFor(sourcePayload.OS) (shared helper). Sample: 'Windows Server 2016 Standard 64 bit Edition Version 1607' gives cmdb_ci_win_server. An empty pref (empty OS, no keyword hit, or a multi-guess '/' fingerprint) declines the rule.</a:t>
            </a:r>
            <a:endParaRPr lang="en-US" sz="1350" dirty="0"/>
          </a:p>
        </p:txBody>
      </p:sp>
      <p:sp>
        <p:nvSpPr>
          <p:cNvPr id="10" name="Text 8"/>
          <p:cNvSpPr txBox="1"/>
          <p:nvPr/>
        </p:nvSpPr>
        <p:spPr>
          <a:xfrm>
            <a:off x="6277356"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5   Open the class table.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new GlideRecord(pref): the search stays inside that class and its sub-classes, so a Red Hat host can only land on a Linux Server and a Windows Server of the same name is never seen. If isValid() is false (class not installed) the rule declines.</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6   Filter by name and ignore list.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addQuery('name', host) with the lowered short host; the platform compares name case-insensitively, so the CI named WSAOI01ZEAPD1 matches. When the ignore list is non-empty, addQuery('sys_class_name', 'NOT IN', ignore) removes placeholder and technical classes.</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7   Decide exactly one.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query(); a false next() declines. The first row's sys_id is kept with getUniqueValue(); a true hasNext() (a second CI of that class with the same name) declines. No setLimit, no orderBy, no tie-break on the scanned address, no retired or twin handling.</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8   Return the sys_id.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Returns the kept sys_id. Class restriction plus uniqueness of the name inside the class are the only safeguards: the domain of the CI is never read here.</a:t>
            </a:r>
            <a:endParaRPr lang="en-US" sz="13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400  ·  NAME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491740"/>
          </a:xfrm>
          <a:prstGeom prst="roundRect">
            <a:avLst>
              <a:gd name="adj" fmla="val 220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1625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18516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first label of the trimmed, lowered DNS value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ClassFor(OS) returns '' (empty OS, no keyword hit, or an OS text split by '/' into three or more segments)</a:t>
            </a:r>
            <a:endParaRPr lang="en-US" sz="1500" dirty="0"/>
          </a:p>
        </p:txBody>
      </p:sp>
      <p:sp>
        <p:nvSpPr>
          <p:cNvPr id="13" name="Text 11"/>
          <p:cNvSpPr txBox="1"/>
          <p:nvPr/>
        </p:nvSpPr>
        <p:spPr>
          <a:xfrm>
            <a:off x="6277356" y="1975104"/>
            <a:ext cx="5088636" cy="18516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class table named by classFor is not valid on the instance (gr.isValid() false)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CI of that class or its sub-classes, outside the ignored classes, is named with the short host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A second CI of that class carries the same name (gr.hasNext() true)</a:t>
            </a:r>
            <a:endParaRPr lang="en-US" sz="1500" dirty="0"/>
          </a:p>
        </p:txBody>
      </p:sp>
      <p:sp>
        <p:nvSpPr>
          <p:cNvPr id="14" name="Shape 12"/>
          <p:cNvSpPr/>
          <p:nvPr/>
        </p:nvSpPr>
        <p:spPr>
          <a:xfrm>
            <a:off x="502920" y="41650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1650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Hostname Hardware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400  ·  HOSTNAME CLASS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wsina1cdreapp</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win_server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208024"/>
          </a:xfrm>
          <a:prstGeom prst="roundRect">
            <a:avLst>
              <a:gd name="adj" fmla="val 4542"/>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69596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"wsina1cdreapp" is not sep + 12 hex)  ·  FQDN (no dot in the name)  ·  name + domain (no domain in the name)</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layered DNS (no DNS Name record for "wsina1cdreapp")</a:t>
            </a:r>
            <a:endParaRPr lang="en-US" sz="1100" dirty="0"/>
          </a:p>
        </p:txBody>
      </p:sp>
      <p:sp>
        <p:nvSpPr>
          <p:cNvPr id="12" name="Shape 10"/>
          <p:cNvSpPr/>
          <p:nvPr/>
        </p:nvSpPr>
        <p:spPr>
          <a:xfrm>
            <a:off x="502920" y="2799080"/>
            <a:ext cx="2788920" cy="360172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95452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228848"/>
            <a:ext cx="457200" cy="0"/>
          </a:xfrm>
          <a:prstGeom prst="line">
            <a:avLst/>
          </a:prstGeom>
          <a:noFill/>
          <a:ln w="19050">
            <a:solidFill>
              <a:srgbClr val="E31837"/>
            </a:solidFill>
            <a:prstDash val="solid"/>
          </a:ln>
        </p:spPr>
      </p:sp>
      <p:sp>
        <p:nvSpPr>
          <p:cNvPr id="15" name="Text 13"/>
          <p:cNvSpPr txBox="1"/>
          <p:nvPr/>
        </p:nvSpPr>
        <p:spPr>
          <a:xfrm>
            <a:off x="740664" y="327456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SDI000003129664</a:t>
            </a:r>
            <a:endParaRPr lang="en-US" sz="1500" dirty="0"/>
          </a:p>
        </p:txBody>
      </p:sp>
      <p:sp>
        <p:nvSpPr>
          <p:cNvPr id="16" name="Text 14"/>
          <p:cNvSpPr txBox="1"/>
          <p:nvPr/>
        </p:nvSpPr>
        <p:spPr>
          <a:xfrm>
            <a:off x="740664" y="3640328"/>
            <a:ext cx="2313432" cy="204724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wsina1cdreapp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165.40.136.234</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Windows Server 2019 Standard 64 bit Edition Version 1809 Build 17763</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WSINA1CDREAPP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06:07:38</a:t>
            </a:r>
            <a:endParaRPr lang="en-US" sz="1200" dirty="0"/>
          </a:p>
        </p:txBody>
      </p:sp>
      <p:sp>
        <p:nvSpPr>
          <p:cNvPr id="17" name="Text 15">
            <a:hlinkClick r:id="rId1" tooltip="https://bofasecopsdev.service-now.com/sn_sec_cmn_src_ci_list.do?sysparm_query=number=SDI000003129664"/>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129664"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799080"/>
            <a:ext cx="4745736" cy="3601720"/>
          </a:xfrm>
          <a:prstGeom prst="roundRect">
            <a:avLst>
              <a:gd name="adj" fmla="val 1523"/>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95452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228848"/>
            <a:ext cx="457200" cy="0"/>
          </a:xfrm>
          <a:prstGeom prst="line">
            <a:avLst/>
          </a:prstGeom>
          <a:noFill/>
          <a:ln w="19050">
            <a:solidFill>
              <a:srgbClr val="E31837"/>
            </a:solidFill>
            <a:prstDash val="solid"/>
          </a:ln>
        </p:spPr>
      </p:sp>
      <p:sp>
        <p:nvSpPr>
          <p:cNvPr id="21" name="Text 19"/>
          <p:cNvSpPr txBox="1"/>
          <p:nvPr/>
        </p:nvSpPr>
        <p:spPr>
          <a:xfrm>
            <a:off x="3749040" y="3302000"/>
            <a:ext cx="4233672" cy="294335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Host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"wsina1cdreapp"; OS "Windows Server 2019 Standard 64 bit Edition Version 1809 Build 17763" gives the class win_server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wsina1cdreapp [win_server] ip 165.40.136.234 -&gt; exactly one, accepted</a:t>
            </a:r>
            <a:endParaRPr lang="en-US" sz="1300" dirty="0"/>
          </a:p>
        </p:txBody>
      </p:sp>
      <p:sp>
        <p:nvSpPr>
          <p:cNvPr id="22" name="Shape 20"/>
          <p:cNvSpPr/>
          <p:nvPr/>
        </p:nvSpPr>
        <p:spPr>
          <a:xfrm>
            <a:off x="8439912" y="2799080"/>
            <a:ext cx="3246120" cy="360172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963672"/>
            <a:ext cx="64008" cy="3272536"/>
          </a:xfrm>
          <a:prstGeom prst="rect">
            <a:avLst/>
          </a:prstGeom>
          <a:solidFill>
            <a:srgbClr val="E31837"/>
          </a:solidFill>
          <a:ln w="12700">
            <a:solidFill>
              <a:srgbClr val="333333"/>
            </a:solidFill>
            <a:prstDash val="solid"/>
          </a:ln>
        </p:spPr>
      </p:sp>
      <p:sp>
        <p:nvSpPr>
          <p:cNvPr id="24" name="Text 22"/>
          <p:cNvSpPr txBox="1"/>
          <p:nvPr/>
        </p:nvSpPr>
        <p:spPr>
          <a:xfrm>
            <a:off x="8714232" y="295452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228848"/>
            <a:ext cx="457200" cy="0"/>
          </a:xfrm>
          <a:prstGeom prst="line">
            <a:avLst/>
          </a:prstGeom>
          <a:noFill/>
          <a:ln w="19050">
            <a:solidFill>
              <a:srgbClr val="E31837"/>
            </a:solidFill>
            <a:prstDash val="solid"/>
          </a:ln>
        </p:spPr>
      </p:sp>
      <p:sp>
        <p:nvSpPr>
          <p:cNvPr id="26" name="Text 24"/>
          <p:cNvSpPr txBox="1"/>
          <p:nvPr/>
        </p:nvSpPr>
        <p:spPr>
          <a:xfrm>
            <a:off x="8714232" y="327456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wsina1cdreapp</a:t>
            </a:r>
            <a:endParaRPr lang="en-US" sz="1500" dirty="0"/>
          </a:p>
        </p:txBody>
      </p:sp>
      <p:sp>
        <p:nvSpPr>
          <p:cNvPr id="27" name="Text 25"/>
          <p:cNvSpPr txBox="1"/>
          <p:nvPr/>
        </p:nvSpPr>
        <p:spPr>
          <a:xfrm>
            <a:off x="8714232" y="359460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Windows Server</a:t>
            </a:r>
            <a:endParaRPr lang="en-US" sz="1100" dirty="0"/>
          </a:p>
        </p:txBody>
      </p:sp>
      <p:sp>
        <p:nvSpPr>
          <p:cNvPr id="28" name="Text 26"/>
          <p:cNvSpPr txBox="1"/>
          <p:nvPr/>
        </p:nvSpPr>
        <p:spPr>
          <a:xfrm>
            <a:off x="8714232" y="3914648"/>
            <a:ext cx="2715768" cy="1772920"/>
          </a:xfrm>
          <a:prstGeom prst="rect">
            <a:avLst/>
          </a:prstGeom>
          <a:noFill/>
          <a:ln/>
        </p:spPr>
        <p:txBody>
          <a:bodyPr wrap="square" lIns="0" tIns="0" rIns="0" bIns="0" rtlCol="0" anchor="t"/>
          <a:lstStyle/>
          <a:p>
            <a:pPr indent="0" marL="0">
              <a:buNone/>
            </a:pPr>
            <a:r>
              <a:rPr lang="en-US" sz="9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950" dirty="0">
                <a:solidFill>
                  <a:srgbClr val="4D4F53"/>
                </a:solidFill>
                <a:latin typeface="Arial" pitchFamily="34" charset="0"/>
                <a:ea typeface="Arial" pitchFamily="34" charset="-122"/>
                <a:cs typeface="Arial" pitchFamily="34" charset="-120"/>
              </a:rPr>
              <a:t>wsina1cdreapp.corp.bankofamerica.com</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950" dirty="0">
                <a:solidFill>
                  <a:srgbClr val="4D4F53"/>
                </a:solidFill>
                <a:latin typeface="Arial" pitchFamily="34" charset="0"/>
                <a:ea typeface="Arial" pitchFamily="34" charset="-122"/>
                <a:cs typeface="Arial" pitchFamily="34" charset="-120"/>
              </a:rPr>
              <a:t>APAC.SDI.CORP.BANKOFAMERICA.COM</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950" dirty="0">
                <a:solidFill>
                  <a:srgbClr val="4D4F53"/>
                </a:solidFill>
                <a:latin typeface="Arial" pitchFamily="34" charset="0"/>
                <a:ea typeface="Arial" pitchFamily="34" charset="-122"/>
                <a:cs typeface="Arial" pitchFamily="34" charset="-120"/>
              </a:rPr>
              <a:t>165.40.136.234</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950" dirty="0">
                <a:solidFill>
                  <a:srgbClr val="4D4F53"/>
                </a:solidFill>
                <a:latin typeface="Arial" pitchFamily="34" charset="0"/>
                <a:ea typeface="Arial" pitchFamily="34" charset="-122"/>
                <a:cs typeface="Arial" pitchFamily="34" charset="-120"/>
              </a:rPr>
              <a:t>VMware-42 17 39 9b 05 4e a1 dd-98 64 d1 69 bb e9 0f 2f</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950" dirty="0">
                <a:solidFill>
                  <a:srgbClr val="4D4F53"/>
                </a:solidFill>
                <a:latin typeface="Arial" pitchFamily="34" charset="0"/>
                <a:ea typeface="Arial" pitchFamily="34" charset="-122"/>
                <a:cs typeface="Arial" pitchFamily="34" charset="-120"/>
              </a:rPr>
              <a:t>VMware, Inc. VMware Virtual Platform</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950" dirty="0">
                <a:solidFill>
                  <a:srgbClr val="4D4F53"/>
                </a:solidFill>
                <a:latin typeface="Arial" pitchFamily="34" charset="0"/>
                <a:ea typeface="Arial" pitchFamily="34" charset="-122"/>
                <a:cs typeface="Arial" pitchFamily="34" charset="-120"/>
              </a:rPr>
              <a:t>Installed</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950" dirty="0">
                <a:solidFill>
                  <a:srgbClr val="4D4F53"/>
                </a:solidFill>
                <a:latin typeface="Arial" pitchFamily="34" charset="0"/>
                <a:ea typeface="Arial" pitchFamily="34" charset="-122"/>
                <a:cs typeface="Arial" pitchFamily="34" charset="-120"/>
              </a:rPr>
              <a:t>Operational</a:t>
            </a:r>
            <a:endParaRPr lang="en-US" sz="950" dirty="0"/>
          </a:p>
        </p:txBody>
      </p:sp>
      <p:sp>
        <p:nvSpPr>
          <p:cNvPr id="29" name="Text 27">
            <a:hlinkClick r:id="rId2" tooltip="https://bofasecopsdev.service-now.com/cmdb_ci_win_server.do?sys_id=27e62ee33b5022d0055e3b64c3e45ae1"/>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27e62ee33b5022d0055e3b64c3e45ae1"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400  ·  HOSTNAME CLASS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wsina1cdreapp</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d2eccbb22b7a4758a277fab2f291bfca" history="1" highlightClick="0" endSnd="0">
                  <a:extLst>
                    <a:ext uri="{A12FA001-AC4F-418D-AE19-62706E023703}">
                      <ahyp:hlinkClr xmlns:ahyp="http://schemas.microsoft.com/office/drawing/2018/hyperlinkcolor" val="tx"/>
                    </a:ext>
                  </a:extLst>
                </a:hlinkClick>
              </a:rPr>
              <a:t>SDI000003129664</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5b1628cb47624710a1a9295b416d438d" history="1" highlightClick="0" endSnd="0">
                  <a:extLst>
                    <a:ext uri="{A12FA001-AC4F-418D-AE19-62706E023703}">
                      <ahyp:hlinkClr xmlns:ahyp="http://schemas.microsoft.com/office/drawing/2018/hyperlinkcolor" val="tx"/>
                    </a:ext>
                  </a:extLst>
                </a:hlinkClick>
              </a:rPr>
              <a:t>BOFA Hostname Class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win_server.do?sys_id=27e62ee33b5022d0055e3b64c3e45ae1" history="1" highlightClick="0" endSnd="0">
                  <a:extLst>
                    <a:ext uri="{A12FA001-AC4F-418D-AE19-62706E023703}">
                      <ahyp:hlinkClr xmlns:ahyp="http://schemas.microsoft.com/office/drawing/2018/hyperlinkcolor" val="tx"/>
                    </a:ext>
                  </a:extLst>
                </a:hlinkClick>
              </a:rPr>
              <a:t>wsina1cdreapp</a:t>
            </a:r>
            <a:endParaRPr lang="en-US" sz="1000" dirty="0"/>
          </a:p>
        </p:txBody>
      </p:sp>
      <p:graphicFrame>
        <p:nvGraphicFramePr>
          <p:cNvPr id="86"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Host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Lower-cases the DNS name and takes the label before the first dot. classFor(sourcePayload.OS) turns the OS text "Windows Server 2019 Standard 64 bit Edition Version 1809 Build 17763" into the CMDB class the search is limited to, sub-classes included; no class means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"wsina1cdreapp"; OS "Windows Server 2019 Standard 64 bit Edition Version 1809 Build 17763" gives the class win_server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name equal to the label, ignored classes left out. Exactly one row is returned; none or several give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wsina1cdreapp [win_server] ip 165.40.136.234 -&gt;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win_server_list.do?sysparm_query=name%3Dwsina1cdreapp" history="1" highlightClick="0" endSnd="0">
                            <a:extLst>
                              <a:ext uri="{A12FA001-AC4F-418D-AE19-62706E023703}">
                                <ahyp:hlinkClr xmlns:ahyp="http://schemas.microsoft.com/office/drawing/2018/hyperlinkcolor" val="tx"/>
                              </a:ext>
                            </a:extLst>
                          </a:hlinkClick>
                        </a:rPr>
                        <a:t>win server: name=wsina1cdreapp</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win_server.do?sys_id=27e62ee33b5022d0055e3b64c3e45ae1" history="1" highlightClick="0" endSnd="0">
                            <a:extLst>
                              <a:ext uri="{A12FA001-AC4F-418D-AE19-62706E023703}">
                                <ahyp:hlinkClr xmlns:ahyp="http://schemas.microsoft.com/office/drawing/2018/hyperlinkcolor" val="tx"/>
                              </a:ext>
                            </a:extLst>
                          </a:hlinkClick>
                        </a:rPr>
                        <a:t>wsina1cdreapp</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400  ·  HOSTNAME CLASS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lrchab85xsdi015.sdi.corp.bankofamerica.com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linux_server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426464"/>
          </a:xfrm>
          <a:prstGeom prst="roundRect">
            <a:avLst>
              <a:gd name="adj" fmla="val 3846"/>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91440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"lrchab85xsdi015"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layered DNS (no DNS Name record for "lrchab85xsdi015.sdi.corp.bankofamerica.com")</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name + domain (1 named "lrchab85xsdi015", none with the domain "sdi.corp.bankofamerica.com")</a:t>
            </a:r>
            <a:endParaRPr lang="en-US" sz="1100" dirty="0"/>
          </a:p>
        </p:txBody>
      </p:sp>
      <p:sp>
        <p:nvSpPr>
          <p:cNvPr id="12" name="Shape 10"/>
          <p:cNvSpPr/>
          <p:nvPr/>
        </p:nvSpPr>
        <p:spPr>
          <a:xfrm>
            <a:off x="502920" y="3017520"/>
            <a:ext cx="2788920" cy="338328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17296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447288"/>
            <a:ext cx="457200" cy="0"/>
          </a:xfrm>
          <a:prstGeom prst="line">
            <a:avLst/>
          </a:prstGeom>
          <a:noFill/>
          <a:ln w="19050">
            <a:solidFill>
              <a:srgbClr val="E31837"/>
            </a:solidFill>
            <a:prstDash val="solid"/>
          </a:ln>
        </p:spPr>
      </p:sp>
      <p:sp>
        <p:nvSpPr>
          <p:cNvPr id="15" name="Text 13"/>
          <p:cNvSpPr txBox="1"/>
          <p:nvPr/>
        </p:nvSpPr>
        <p:spPr>
          <a:xfrm>
            <a:off x="740664" y="349300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SDI000003576309</a:t>
            </a:r>
            <a:endParaRPr lang="en-US" sz="1500" dirty="0"/>
          </a:p>
        </p:txBody>
      </p:sp>
      <p:sp>
        <p:nvSpPr>
          <p:cNvPr id="16" name="Text 14"/>
          <p:cNvSpPr txBox="1"/>
          <p:nvPr/>
        </p:nvSpPr>
        <p:spPr>
          <a:xfrm>
            <a:off x="740664" y="3858768"/>
            <a:ext cx="2313432" cy="18288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lrchab85xsdi015.sdi.corp.bankofamerica.com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30.93.134.24</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Red Hat Enterprise Linux CoreOS 4.20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06:07:38</a:t>
            </a:r>
            <a:endParaRPr lang="en-US" sz="1200" dirty="0"/>
          </a:p>
        </p:txBody>
      </p:sp>
      <p:sp>
        <p:nvSpPr>
          <p:cNvPr id="17" name="Text 15">
            <a:hlinkClick r:id="rId1" tooltip="https://bofasecopsdev.service-now.com/sn_sec_cmn_src_ci_list.do?sysparm_query=number=SDI000003576309"/>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7630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017520"/>
            <a:ext cx="4745736" cy="3383280"/>
          </a:xfrm>
          <a:prstGeom prst="roundRect">
            <a:avLst>
              <a:gd name="adj" fmla="val 162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17296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447288"/>
            <a:ext cx="457200" cy="0"/>
          </a:xfrm>
          <a:prstGeom prst="line">
            <a:avLst/>
          </a:prstGeom>
          <a:noFill/>
          <a:ln w="19050">
            <a:solidFill>
              <a:srgbClr val="E31837"/>
            </a:solidFill>
            <a:prstDash val="solid"/>
          </a:ln>
        </p:spPr>
      </p:sp>
      <p:sp>
        <p:nvSpPr>
          <p:cNvPr id="21" name="Text 19"/>
          <p:cNvSpPr txBox="1"/>
          <p:nvPr/>
        </p:nvSpPr>
        <p:spPr>
          <a:xfrm>
            <a:off x="3749040" y="3520440"/>
            <a:ext cx="4233672" cy="272491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Host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"lrchab85xsdi015"; OS "Red Hat Enterprise Linux CoreOS 4.20" gives the class linux_server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lrchab85xsdi015 [linux_server] ip 30.93.134.24 -&gt; exactly one, accepted</a:t>
            </a:r>
            <a:endParaRPr lang="en-US" sz="1300" dirty="0"/>
          </a:p>
        </p:txBody>
      </p:sp>
      <p:sp>
        <p:nvSpPr>
          <p:cNvPr id="22" name="Shape 20"/>
          <p:cNvSpPr/>
          <p:nvPr/>
        </p:nvSpPr>
        <p:spPr>
          <a:xfrm>
            <a:off x="8439912" y="3017520"/>
            <a:ext cx="3246120" cy="338328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182112"/>
            <a:ext cx="64008" cy="3054096"/>
          </a:xfrm>
          <a:prstGeom prst="rect">
            <a:avLst/>
          </a:prstGeom>
          <a:solidFill>
            <a:srgbClr val="E31837"/>
          </a:solidFill>
          <a:ln w="12700">
            <a:solidFill>
              <a:srgbClr val="333333"/>
            </a:solidFill>
            <a:prstDash val="solid"/>
          </a:ln>
        </p:spPr>
      </p:sp>
      <p:sp>
        <p:nvSpPr>
          <p:cNvPr id="24" name="Text 22"/>
          <p:cNvSpPr txBox="1"/>
          <p:nvPr/>
        </p:nvSpPr>
        <p:spPr>
          <a:xfrm>
            <a:off x="8714232" y="317296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447288"/>
            <a:ext cx="457200" cy="0"/>
          </a:xfrm>
          <a:prstGeom prst="line">
            <a:avLst/>
          </a:prstGeom>
          <a:noFill/>
          <a:ln w="19050">
            <a:solidFill>
              <a:srgbClr val="E31837"/>
            </a:solidFill>
            <a:prstDash val="solid"/>
          </a:ln>
        </p:spPr>
      </p:sp>
      <p:sp>
        <p:nvSpPr>
          <p:cNvPr id="26" name="Text 24"/>
          <p:cNvSpPr txBox="1"/>
          <p:nvPr/>
        </p:nvSpPr>
        <p:spPr>
          <a:xfrm>
            <a:off x="8714232" y="349300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lrchab85xsdi015</a:t>
            </a:r>
            <a:endParaRPr lang="en-US" sz="1500" dirty="0"/>
          </a:p>
        </p:txBody>
      </p:sp>
      <p:sp>
        <p:nvSpPr>
          <p:cNvPr id="27" name="Text 25"/>
          <p:cNvSpPr txBox="1"/>
          <p:nvPr/>
        </p:nvSpPr>
        <p:spPr>
          <a:xfrm>
            <a:off x="8714232" y="381304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Linux Server</a:t>
            </a:r>
            <a:endParaRPr lang="en-US" sz="1100" dirty="0"/>
          </a:p>
        </p:txBody>
      </p:sp>
      <p:sp>
        <p:nvSpPr>
          <p:cNvPr id="28" name="Text 26"/>
          <p:cNvSpPr txBox="1"/>
          <p:nvPr/>
        </p:nvSpPr>
        <p:spPr>
          <a:xfrm>
            <a:off x="8714232" y="4133088"/>
            <a:ext cx="2715768" cy="15544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30.93.134.24</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MXQ2430HMW</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Hewlett-Packard ProLiant DL360 Gen10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linux_server.do?sys_id=a1194c903bbc2614d5062b64c3e45a71"/>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a1194c903bbc2614d5062b64c3e45a71"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400  ·  HOSTNAME CLASS MATCH  ·  EXAMPLE 2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lrchab85xsdi015.sdi.corp.bankofamerica.com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0e05da962bcf0350a277fab2f291bf72" history="1" highlightClick="0" endSnd="0">
                  <a:extLst>
                    <a:ext uri="{A12FA001-AC4F-418D-AE19-62706E023703}">
                      <ahyp:hlinkClr xmlns:ahyp="http://schemas.microsoft.com/office/drawing/2018/hyperlinkcolor" val="tx"/>
                    </a:ext>
                  </a:extLst>
                </a:hlinkClick>
              </a:rPr>
              <a:t>SDI000003576309</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5b1628cb47624710a1a9295b416d438d" history="1" highlightClick="0" endSnd="0">
                  <a:extLst>
                    <a:ext uri="{A12FA001-AC4F-418D-AE19-62706E023703}">
                      <ahyp:hlinkClr xmlns:ahyp="http://schemas.microsoft.com/office/drawing/2018/hyperlinkcolor" val="tx"/>
                    </a:ext>
                  </a:extLst>
                </a:hlinkClick>
              </a:rPr>
              <a:t>BOFA Hostname Class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linux_server.do?sys_id=a1194c903bbc2614d5062b64c3e45a71" history="1" highlightClick="0" endSnd="0">
                  <a:extLst>
                    <a:ext uri="{A12FA001-AC4F-418D-AE19-62706E023703}">
                      <ahyp:hlinkClr xmlns:ahyp="http://schemas.microsoft.com/office/drawing/2018/hyperlinkcolor" val="tx"/>
                    </a:ext>
                  </a:extLst>
                </a:hlinkClick>
              </a:rPr>
              <a:t>lrchab85xsdi015</a:t>
            </a:r>
            <a:endParaRPr lang="en-US" sz="1000" dirty="0"/>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Host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Lower-cases the DNS name and takes the label before the first dot. classFor(sourcePayload.OS) turns the OS text "Red Hat Enterprise Linux CoreOS 4.20" into the CMDB class the search is limited to, sub-classes included; no class means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"lrchab85xsdi015"; OS "Red Hat Enterprise Linux CoreOS 4.20" gives the class linux_server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name equal to the label, ignored classes left out. Exactly one row is returned; none or several give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lrchab85xsdi015 [linux_server] ip 30.93.134.24 -&gt;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linux_server_list.do?sysparm_query=name%3Dlrchab85xsdi015" history="1" highlightClick="0" endSnd="0">
                            <a:extLst>
                              <a:ext uri="{A12FA001-AC4F-418D-AE19-62706E023703}">
                                <ahyp:hlinkClr xmlns:ahyp="http://schemas.microsoft.com/office/drawing/2018/hyperlinkcolor" val="tx"/>
                              </a:ext>
                            </a:extLst>
                          </a:hlinkClick>
                        </a:rPr>
                        <a:t>linux server: name=lrchab85xsdi015</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linux_server.do?sys_id=a1194c903bbc2614d5062b64c3e45a71" history="1" highlightClick="0" endSnd="0">
                            <a:extLst>
                              <a:ext uri="{A12FA001-AC4F-418D-AE19-62706E023703}">
                                <ahyp:hlinkClr xmlns:ahyp="http://schemas.microsoft.com/office/drawing/2018/hyperlinkcolor" val="tx"/>
                              </a:ext>
                            </a:extLst>
                          </a:hlinkClick>
                        </a:rPr>
                        <a:t>lrchab85xsdi015</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400  ·  HOSTNAME CLASS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wva20bmcvlfs21v</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win_server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208024"/>
          </a:xfrm>
          <a:prstGeom prst="roundRect">
            <a:avLst>
              <a:gd name="adj" fmla="val 4542"/>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69596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"wva20bmcvlfs21v" is not sep + 12 hex)  ·  FQDN (no dot in the name)  ·  name + domain (no domain in the name)</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layered DNS (no DNS Name record for "wva20bmcvlfs21v")</a:t>
            </a:r>
            <a:endParaRPr lang="en-US" sz="1100" dirty="0"/>
          </a:p>
        </p:txBody>
      </p:sp>
      <p:sp>
        <p:nvSpPr>
          <p:cNvPr id="12" name="Shape 10"/>
          <p:cNvSpPr/>
          <p:nvPr/>
        </p:nvSpPr>
        <p:spPr>
          <a:xfrm>
            <a:off x="502920" y="2799080"/>
            <a:ext cx="2788920" cy="360172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95452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228848"/>
            <a:ext cx="457200" cy="0"/>
          </a:xfrm>
          <a:prstGeom prst="line">
            <a:avLst/>
          </a:prstGeom>
          <a:noFill/>
          <a:ln w="19050">
            <a:solidFill>
              <a:srgbClr val="E31837"/>
            </a:solidFill>
            <a:prstDash val="solid"/>
          </a:ln>
        </p:spPr>
      </p:sp>
      <p:sp>
        <p:nvSpPr>
          <p:cNvPr id="15" name="Text 13"/>
          <p:cNvSpPr txBox="1"/>
          <p:nvPr/>
        </p:nvSpPr>
        <p:spPr>
          <a:xfrm>
            <a:off x="740664" y="327456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SDI000003129660</a:t>
            </a:r>
            <a:endParaRPr lang="en-US" sz="1500" dirty="0"/>
          </a:p>
        </p:txBody>
      </p:sp>
      <p:sp>
        <p:nvSpPr>
          <p:cNvPr id="16" name="Text 14"/>
          <p:cNvSpPr txBox="1"/>
          <p:nvPr/>
        </p:nvSpPr>
        <p:spPr>
          <a:xfrm>
            <a:off x="740664" y="3640328"/>
            <a:ext cx="2313432" cy="204724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wva20bmcvlfs21v</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30.244.24.249</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Windows Server 2019 Standard 64 bit Edition Version 1809 Build 17763</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WVA20BMCVLFS21V</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06:07:37</a:t>
            </a:r>
            <a:endParaRPr lang="en-US" sz="1200" dirty="0"/>
          </a:p>
        </p:txBody>
      </p:sp>
      <p:sp>
        <p:nvSpPr>
          <p:cNvPr id="17" name="Text 15">
            <a:hlinkClick r:id="rId1" tooltip="https://bofasecopsdev.service-now.com/sn_sec_cmn_src_ci_list.do?sysparm_query=number=SDI000003129660"/>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12966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799080"/>
            <a:ext cx="4745736" cy="3601720"/>
          </a:xfrm>
          <a:prstGeom prst="roundRect">
            <a:avLst>
              <a:gd name="adj" fmla="val 1523"/>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95452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228848"/>
            <a:ext cx="457200" cy="0"/>
          </a:xfrm>
          <a:prstGeom prst="line">
            <a:avLst/>
          </a:prstGeom>
          <a:noFill/>
          <a:ln w="19050">
            <a:solidFill>
              <a:srgbClr val="E31837"/>
            </a:solidFill>
            <a:prstDash val="solid"/>
          </a:ln>
        </p:spPr>
      </p:sp>
      <p:sp>
        <p:nvSpPr>
          <p:cNvPr id="21" name="Text 19"/>
          <p:cNvSpPr txBox="1"/>
          <p:nvPr/>
        </p:nvSpPr>
        <p:spPr>
          <a:xfrm>
            <a:off x="3749040" y="3302000"/>
            <a:ext cx="4233672" cy="294335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Host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"wva20bmcvlfs21v"; OS "Windows Server 2019 Standard 64 bit Edition Version 1809 Build 17763" gives the class win_server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wva20bmcvlfs21v [win_server] ip 30.244.24.249 -&gt; exactly one, accepted</a:t>
            </a:r>
            <a:endParaRPr lang="en-US" sz="1300" dirty="0"/>
          </a:p>
        </p:txBody>
      </p:sp>
      <p:sp>
        <p:nvSpPr>
          <p:cNvPr id="22" name="Shape 20"/>
          <p:cNvSpPr/>
          <p:nvPr/>
        </p:nvSpPr>
        <p:spPr>
          <a:xfrm>
            <a:off x="8439912" y="2799080"/>
            <a:ext cx="3246120" cy="360172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963672"/>
            <a:ext cx="64008" cy="3272536"/>
          </a:xfrm>
          <a:prstGeom prst="rect">
            <a:avLst/>
          </a:prstGeom>
          <a:solidFill>
            <a:srgbClr val="E31837"/>
          </a:solidFill>
          <a:ln w="12700">
            <a:solidFill>
              <a:srgbClr val="333333"/>
            </a:solidFill>
            <a:prstDash val="solid"/>
          </a:ln>
        </p:spPr>
      </p:sp>
      <p:sp>
        <p:nvSpPr>
          <p:cNvPr id="24" name="Text 22"/>
          <p:cNvSpPr txBox="1"/>
          <p:nvPr/>
        </p:nvSpPr>
        <p:spPr>
          <a:xfrm>
            <a:off x="8714232" y="295452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228848"/>
            <a:ext cx="457200" cy="0"/>
          </a:xfrm>
          <a:prstGeom prst="line">
            <a:avLst/>
          </a:prstGeom>
          <a:noFill/>
          <a:ln w="19050">
            <a:solidFill>
              <a:srgbClr val="E31837"/>
            </a:solidFill>
            <a:prstDash val="solid"/>
          </a:ln>
        </p:spPr>
      </p:sp>
      <p:sp>
        <p:nvSpPr>
          <p:cNvPr id="26" name="Text 24"/>
          <p:cNvSpPr txBox="1"/>
          <p:nvPr/>
        </p:nvSpPr>
        <p:spPr>
          <a:xfrm>
            <a:off x="8714232" y="327456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wva20bmcvlfs21v</a:t>
            </a:r>
            <a:endParaRPr lang="en-US" sz="1500" dirty="0"/>
          </a:p>
        </p:txBody>
      </p:sp>
      <p:sp>
        <p:nvSpPr>
          <p:cNvPr id="27" name="Text 25"/>
          <p:cNvSpPr txBox="1"/>
          <p:nvPr/>
        </p:nvSpPr>
        <p:spPr>
          <a:xfrm>
            <a:off x="8714232" y="359460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Windows Server</a:t>
            </a:r>
            <a:endParaRPr lang="en-US" sz="1100" dirty="0"/>
          </a:p>
        </p:txBody>
      </p:sp>
      <p:sp>
        <p:nvSpPr>
          <p:cNvPr id="28" name="Text 26"/>
          <p:cNvSpPr txBox="1"/>
          <p:nvPr/>
        </p:nvSpPr>
        <p:spPr>
          <a:xfrm>
            <a:off x="8714232" y="3914648"/>
            <a:ext cx="2715768" cy="1772920"/>
          </a:xfrm>
          <a:prstGeom prst="rect">
            <a:avLst/>
          </a:prstGeom>
          <a:noFill/>
          <a:ln/>
        </p:spPr>
        <p:txBody>
          <a:bodyPr wrap="square" lIns="0" tIns="0" rIns="0" bIns="0" rtlCol="0" anchor="t"/>
          <a:lstStyle/>
          <a:p>
            <a:pPr indent="0" marL="0">
              <a:buNone/>
            </a:pPr>
            <a:r>
              <a:rPr lang="en-US" sz="9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950" dirty="0">
                <a:solidFill>
                  <a:srgbClr val="4D4F53"/>
                </a:solidFill>
                <a:latin typeface="Arial" pitchFamily="34" charset="0"/>
                <a:ea typeface="Arial" pitchFamily="34" charset="-122"/>
                <a:cs typeface="Arial" pitchFamily="34" charset="-120"/>
              </a:rPr>
              <a:t>wva20bmcvlfs21v.corp.bankofamerica.com</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950" dirty="0">
                <a:solidFill>
                  <a:srgbClr val="4D4F53"/>
                </a:solidFill>
                <a:latin typeface="Arial" pitchFamily="34" charset="0"/>
                <a:ea typeface="Arial" pitchFamily="34" charset="-122"/>
                <a:cs typeface="Arial" pitchFamily="34" charset="-120"/>
              </a:rPr>
              <a:t>corp.bankofamerica.com</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950" dirty="0">
                <a:solidFill>
                  <a:srgbClr val="4D4F53"/>
                </a:solidFill>
                <a:latin typeface="Arial" pitchFamily="34" charset="0"/>
                <a:ea typeface="Arial" pitchFamily="34" charset="-122"/>
                <a:cs typeface="Arial" pitchFamily="34" charset="-120"/>
              </a:rPr>
              <a:t>30.244.24.249</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950" dirty="0">
                <a:solidFill>
                  <a:srgbClr val="4D4F53"/>
                </a:solidFill>
                <a:latin typeface="Arial" pitchFamily="34" charset="0"/>
                <a:ea typeface="Arial" pitchFamily="34" charset="-122"/>
                <a:cs typeface="Arial" pitchFamily="34" charset="-120"/>
              </a:rPr>
              <a:t>VMware-42 0d e0 9e 88 e6 71 8e-d4 4b b7 b0 1f 2a d0 6f</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950" dirty="0">
                <a:solidFill>
                  <a:srgbClr val="4D4F53"/>
                </a:solidFill>
                <a:latin typeface="Arial" pitchFamily="34" charset="0"/>
                <a:ea typeface="Arial" pitchFamily="34" charset="-122"/>
                <a:cs typeface="Arial" pitchFamily="34" charset="-120"/>
              </a:rPr>
              <a:t>VMware, Inc. VMware Virtual Platform</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950" dirty="0">
                <a:solidFill>
                  <a:srgbClr val="4D4F53"/>
                </a:solidFill>
                <a:latin typeface="Arial" pitchFamily="34" charset="0"/>
                <a:ea typeface="Arial" pitchFamily="34" charset="-122"/>
                <a:cs typeface="Arial" pitchFamily="34" charset="-120"/>
              </a:rPr>
              <a:t>Installed</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950" dirty="0">
                <a:solidFill>
                  <a:srgbClr val="4D4F53"/>
                </a:solidFill>
                <a:latin typeface="Arial" pitchFamily="34" charset="0"/>
                <a:ea typeface="Arial" pitchFamily="34" charset="-122"/>
                <a:cs typeface="Arial" pitchFamily="34" charset="-120"/>
              </a:rPr>
              <a:t>Operational</a:t>
            </a:r>
            <a:endParaRPr lang="en-US" sz="950" dirty="0"/>
          </a:p>
        </p:txBody>
      </p:sp>
      <p:sp>
        <p:nvSpPr>
          <p:cNvPr id="29" name="Text 27">
            <a:hlinkClick r:id="rId2" tooltip="https://bofasecopsdev.service-now.com/cmdb_ci_win_server.do?sys_id=0a7265773bd062d0055e3b64c3e45a23"/>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0a7265773bd062d0055e3b64c3e45a23"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400  ·  HOSTNAME CLASS MATCH  ·  EXAMPLE 3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wva20bmcvlfs21v</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caeccbb22b7a4758a277fab2f291bf9d" history="1" highlightClick="0" endSnd="0">
                  <a:extLst>
                    <a:ext uri="{A12FA001-AC4F-418D-AE19-62706E023703}">
                      <ahyp:hlinkClr xmlns:ahyp="http://schemas.microsoft.com/office/drawing/2018/hyperlinkcolor" val="tx"/>
                    </a:ext>
                  </a:extLst>
                </a:hlinkClick>
              </a:rPr>
              <a:t>SDI000003129660</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5b1628cb47624710a1a9295b416d438d" history="1" highlightClick="0" endSnd="0">
                  <a:extLst>
                    <a:ext uri="{A12FA001-AC4F-418D-AE19-62706E023703}">
                      <ahyp:hlinkClr xmlns:ahyp="http://schemas.microsoft.com/office/drawing/2018/hyperlinkcolor" val="tx"/>
                    </a:ext>
                  </a:extLst>
                </a:hlinkClick>
              </a:rPr>
              <a:t>BOFA Hostname Class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win_server.do?sys_id=0a7265773bd062d0055e3b64c3e45a23" history="1" highlightClick="0" endSnd="0">
                  <a:extLst>
                    <a:ext uri="{A12FA001-AC4F-418D-AE19-62706E023703}">
                      <ahyp:hlinkClr xmlns:ahyp="http://schemas.microsoft.com/office/drawing/2018/hyperlinkcolor" val="tx"/>
                    </a:ext>
                  </a:extLst>
                </a:hlinkClick>
              </a:rPr>
              <a:t>wva20bmcvlfs21v</a:t>
            </a:r>
            <a:endParaRPr lang="en-US" sz="1000" dirty="0"/>
          </a:p>
        </p:txBody>
      </p:sp>
      <p:graphicFrame>
        <p:nvGraphicFramePr>
          <p:cNvPr id="90"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Host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Lower-cases the DNS name and takes the label before the first dot. classFor(sourcePayload.OS) turns the OS text "Windows Server 2019 Standard 64 bit Edition Version 1809 Build 17763" into the CMDB class the search is limited to, sub-classes included; no class means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"wva20bmcvlfs21v"; OS "Windows Server 2019 Standard 64 bit Edition Version 1809 Build 17763" gives the class win_server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name equal to the label, ignored classes left out. Exactly one row is returned; none or several give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wva20bmcvlfs21v [win_server] ip 30.244.24.249 -&gt;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win_server_list.do?sysparm_query=name%3Dwva20bmcvlfs21v" history="1" highlightClick="0" endSnd="0">
                            <a:extLst>
                              <a:ext uri="{A12FA001-AC4F-418D-AE19-62706E023703}">
                                <ahyp:hlinkClr xmlns:ahyp="http://schemas.microsoft.com/office/drawing/2018/hyperlinkcolor" val="tx"/>
                              </a:ext>
                            </a:extLst>
                          </a:hlinkClick>
                        </a:rPr>
                        <a:t>win server: name=wva20bmcvlfs21v</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win_server.do?sys_id=0a7265773bd062d0055e3b64c3e45a23" history="1" highlightClick="0" endSnd="0">
                            <a:extLst>
                              <a:ext uri="{A12FA001-AC4F-418D-AE19-62706E023703}">
                                <ahyp:hlinkClr xmlns:ahyp="http://schemas.microsoft.com/office/drawing/2018/hyperlinkcolor" val="tx"/>
                              </a:ext>
                            </a:extLst>
                          </a:hlinkClick>
                        </a:rPr>
                        <a:t>wva20bmcvlfs21v</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410  ·  NAME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706880"/>
          </a:xfrm>
          <a:prstGeom prst="roundRect">
            <a:avLst>
              <a:gd name="adj" fmla="val 321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3776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0668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short hostname across the whole cmdb_ci_hardware tree and, instead of filtering by class, rejects afterwards any CI whose class contradicts the scanned OS.</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follows USEM Hostname Class Match to reach CIs kept in a parent class (Server, Computer, Hardware) or whose OS gave no class.</a:t>
            </a:r>
            <a:endParaRPr lang="en-US" sz="1500" dirty="0"/>
          </a:p>
        </p:txBody>
      </p:sp>
      <p:sp>
        <p:nvSpPr>
          <p:cNvPr id="13" name="Shape 11"/>
          <p:cNvSpPr/>
          <p:nvPr/>
        </p:nvSpPr>
        <p:spPr>
          <a:xfrm>
            <a:off x="502920" y="3380232"/>
            <a:ext cx="6933529" cy="2992120"/>
          </a:xfrm>
          <a:prstGeom prst="roundRect">
            <a:avLst>
              <a:gd name="adj" fmla="val 183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5631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3837432"/>
            <a:ext cx="457200" cy="0"/>
          </a:xfrm>
          <a:prstGeom prst="line">
            <a:avLst/>
          </a:prstGeom>
          <a:noFill/>
          <a:ln w="19050">
            <a:solidFill>
              <a:srgbClr val="E31837"/>
            </a:solidFill>
            <a:prstDash val="solid"/>
          </a:ln>
        </p:spPr>
      </p:sp>
      <p:sp>
        <p:nvSpPr>
          <p:cNvPr id="16" name="Text 14"/>
          <p:cNvSpPr txBox="1"/>
          <p:nvPr/>
        </p:nvSpPr>
        <p:spPr>
          <a:xfrm>
            <a:off x="822960" y="3928872"/>
            <a:ext cx="6293449" cy="226060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DNS (sourceValue) plus payload field OS (sourcePayload.OS); sys_class_name of the CI found and the class hierarchy from sys_db_object (name, super_class.name). The rule argument is never used.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hardware CI named with the short hostname when its class agrees with the OS-implied class (same class, sub-class, ancestor, or an appliance class for a Linux fingerprint); null when nothing is found, the name is shared or the class contradicts the scan.</a:t>
            </a:r>
            <a:endParaRPr lang="en-US" sz="1400" dirty="0"/>
          </a:p>
        </p:txBody>
      </p:sp>
      <p:sp>
        <p:nvSpPr>
          <p:cNvPr id="17" name="Shape 15"/>
          <p:cNvSpPr/>
          <p:nvPr/>
        </p:nvSpPr>
        <p:spPr>
          <a:xfrm>
            <a:off x="7665049" y="3380232"/>
            <a:ext cx="4020983" cy="2992120"/>
          </a:xfrm>
          <a:prstGeom prst="roundRect">
            <a:avLst>
              <a:gd name="adj" fmla="val 183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5631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3837432"/>
            <a:ext cx="457200" cy="0"/>
          </a:xfrm>
          <a:prstGeom prst="line">
            <a:avLst/>
          </a:prstGeom>
          <a:noFill/>
          <a:ln w="19050">
            <a:solidFill>
              <a:srgbClr val="E31837"/>
            </a:solidFill>
            <a:prstDash val="solid"/>
          </a:ln>
        </p:spPr>
      </p:sp>
      <p:sp>
        <p:nvSpPr>
          <p:cNvPr id="20" name="Text 18"/>
          <p:cNvSpPr txBox="1"/>
          <p:nvPr/>
        </p:nvSpPr>
        <p:spPr>
          <a:xfrm>
            <a:off x="7985089" y="3928872"/>
            <a:ext cx="3380903" cy="125476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Hostname Class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Device Name Match</a:t>
            </a:r>
            <a:endParaRPr lang="en-US" sz="1300" dirty="0"/>
          </a:p>
        </p:txBody>
      </p:sp>
      <p:sp>
        <p:nvSpPr>
          <p:cNvPr id="21" name="Text 19"/>
          <p:cNvSpPr txBox="1"/>
          <p:nvPr/>
        </p:nvSpPr>
        <p:spPr>
          <a:xfrm>
            <a:off x="7985089" y="527507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106,626</a:t>
            </a:r>
            <a:endParaRPr lang="en-US" sz="2800" dirty="0"/>
          </a:p>
        </p:txBody>
      </p:sp>
      <p:sp>
        <p:nvSpPr>
          <p:cNvPr id="22" name="Text 20"/>
          <p:cNvSpPr txBox="1"/>
          <p:nvPr/>
        </p:nvSpPr>
        <p:spPr>
          <a:xfrm>
            <a:off x="7985089" y="584200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410  ·  NAME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6048"/>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7408"/>
          </a:xfrm>
          <a:prstGeom prst="rect">
            <a:avLst/>
          </a:prstGeom>
          <a:noFill/>
          <a:ln/>
        </p:spPr>
        <p:txBody>
          <a:bodyPr wrap="square" lIns="0" tIns="0" rIns="0" bIns="0" rtlCol="0" anchor="t"/>
          <a:lstStyle/>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1   Guard and normalise the DNS value.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Declines at once when sourceValue is empty. Otherwise coerces it to a string, trims it and lower-cases it (sample: va2ausapabw0.bankofamerica.com).</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2   Take the first label as the short host.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Splits the lowered value on '.' and keeps element 0 (va2ausapabw0). Everything after the first dot is dropped; no suffix list is consulted. An empty first label declines.</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3   Resolve the ignore list.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Uses the framework variable _ignoreClass when it is defined and non-empty (coerced to a string), otherwise reads system property sn_sec_cmn.ignoreCIClass with '' as default. Applied as an exact class-name NOT IN filter on the search.</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4   Derive the OS class as a preference only.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pref = classFor(sourcePayload.OS) (shared helper). Sample: 'AIX 7.3 TL3' gives cmdb_ci_aix_server. An empty pref does not decline here: it only switches the final class check off, so an unknown or multi-guess OS still matches by name alone.</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5   Search the whole hardware tree.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new GlideRecord('cmdb_ci_hardware') (Hardware and every class beneath it, no class filter, no isValid() guard). addQuery('name', host) with the lowered short host, compared case-insensitively; sys_class_name NOT IN ignore when the list is non-empty; query().</a:t>
            </a:r>
            <a:endParaRPr lang="en-US" sz="1200" dirty="0"/>
          </a:p>
        </p:txBody>
      </p:sp>
      <p:sp>
        <p:nvSpPr>
          <p:cNvPr id="10" name="Text 8"/>
          <p:cNvSpPr txBox="1"/>
          <p:nvPr/>
        </p:nvSpPr>
        <p:spPr>
          <a:xfrm>
            <a:off x="6277356" y="1746504"/>
            <a:ext cx="5088636" cy="4407408"/>
          </a:xfrm>
          <a:prstGeom prst="rect">
            <a:avLst/>
          </a:prstGeom>
          <a:noFill/>
          <a:ln/>
        </p:spPr>
        <p:txBody>
          <a:bodyPr wrap="square" lIns="0" tIns="0" rIns="0" bIns="0" rtlCol="0" anchor="t"/>
          <a:lstStyle/>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6   Decide exactly one.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A false next() declines. The first row's sys_id (getUniqueValue) and sys_class_name (coerced to a string) are kept; a true hasNext() means two hardware CIs share the short name (test and production, retired and rebuilt): decline. No setLimit or orderBy.</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7   Check class agreement.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agrees(cls) (shared helper): true when pref is empty or cls equals pref; when pref is cmdb_ci_linux_server and cls or an ancestor is cmdb_ci_netgear, cmdb_ci_lb or cmdb_ci_storage_server; when pref is an ancestor of cls or cls of pref. False declines.</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8   Return the sys_id.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Returns the kept sys_id. Sample: cls cmdb_ci_server is an ancestor of cmdb_ci_aix_server, accepted. A Windows Server or IP Router of that name declines. An IP Switch named cncnshasd03sae0002 scanned as 'Ubuntu/Linux' is accepted through the appliance clause.</a:t>
            </a:r>
            <a:endParaRPr lang="en-US" sz="12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410  ·  NAME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834640"/>
          </a:xfrm>
          <a:prstGeom prst="roundRect">
            <a:avLst>
              <a:gd name="adj" fmla="val 19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5054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1945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first label of the trimmed, lowered DNS value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CI in cmdb_ci_hardware or beneath it, outside the ignored classes, is named with the short host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A second hardware CI carries the same name (gr.hasNext() true), whatever its class or retired state</a:t>
            </a:r>
            <a:endParaRPr lang="en-US" sz="1500" dirty="0"/>
          </a:p>
        </p:txBody>
      </p:sp>
      <p:sp>
        <p:nvSpPr>
          <p:cNvPr id="13" name="Text 11"/>
          <p:cNvSpPr txBox="1"/>
          <p:nvPr/>
        </p:nvSpPr>
        <p:spPr>
          <a:xfrm>
            <a:off x="6277356" y="1975104"/>
            <a:ext cx="5088636" cy="21945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Pref is set and cls is not pref, a sub-class or ancestor of it, nor (Linux pref) cmdb_ci_netgear, cmdb_ci_lb, cmdb_ci_storage_server or a class beneath one</a:t>
            </a:r>
            <a:endParaRPr lang="en-US" sz="1500" dirty="0"/>
          </a:p>
        </p:txBody>
      </p:sp>
      <p:sp>
        <p:nvSpPr>
          <p:cNvPr id="14" name="Shape 12"/>
          <p:cNvSpPr/>
          <p:nvPr/>
        </p:nvSpPr>
        <p:spPr>
          <a:xfrm>
            <a:off x="502920" y="45079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5079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Device Name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410  ·  HOSTNAME HARDWARE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lrchac09xsdi013.sdi.corp.bankofamerica.com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server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594104"/>
          </a:xfrm>
          <a:prstGeom prst="roundRect">
            <a:avLst>
              <a:gd name="adj" fmla="val 3442"/>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08204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"lrchac09xsdi013"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layered DNS (no DNS Name record for "lrchac09xsdi013.sdi.corp.bankofamerica.com")  ·  host name (no record in linux_server named "lrchac09xsdi013")</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name + domain (no record named "lrchac09xsdi013" / 1 named "lrchac09xsdi013", none with the domain "sdi.corp.bankofamerica.com")</a:t>
            </a:r>
            <a:endParaRPr lang="en-US" sz="1100" dirty="0"/>
          </a:p>
        </p:txBody>
      </p:sp>
      <p:sp>
        <p:nvSpPr>
          <p:cNvPr id="12" name="Shape 10"/>
          <p:cNvSpPr/>
          <p:nvPr/>
        </p:nvSpPr>
        <p:spPr>
          <a:xfrm>
            <a:off x="502920" y="3185160"/>
            <a:ext cx="2788920" cy="321564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34060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614928"/>
            <a:ext cx="457200" cy="0"/>
          </a:xfrm>
          <a:prstGeom prst="line">
            <a:avLst/>
          </a:prstGeom>
          <a:noFill/>
          <a:ln w="19050">
            <a:solidFill>
              <a:srgbClr val="E31837"/>
            </a:solidFill>
            <a:prstDash val="solid"/>
          </a:ln>
        </p:spPr>
      </p:sp>
      <p:sp>
        <p:nvSpPr>
          <p:cNvPr id="15" name="Text 13"/>
          <p:cNvSpPr txBox="1"/>
          <p:nvPr/>
        </p:nvSpPr>
        <p:spPr>
          <a:xfrm>
            <a:off x="740664" y="366064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SDI000003650853</a:t>
            </a:r>
            <a:endParaRPr lang="en-US" sz="1500" dirty="0"/>
          </a:p>
        </p:txBody>
      </p:sp>
      <p:sp>
        <p:nvSpPr>
          <p:cNvPr id="16" name="Text 14"/>
          <p:cNvSpPr txBox="1"/>
          <p:nvPr/>
        </p:nvSpPr>
        <p:spPr>
          <a:xfrm>
            <a:off x="740664" y="4026408"/>
            <a:ext cx="2313432" cy="166116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lrchac09xsdi013.sdi.corp.bankofamerica.com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30.239.5.150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Red Hat Enterprise Linux CoreOS 4.18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06:01:50</a:t>
            </a:r>
            <a:endParaRPr lang="en-US" sz="1200" dirty="0"/>
          </a:p>
        </p:txBody>
      </p:sp>
      <p:sp>
        <p:nvSpPr>
          <p:cNvPr id="17" name="Text 15">
            <a:hlinkClick r:id="rId1" tooltip="https://bofasecopsdev.service-now.com/sn_sec_cmn_src_ci_list.do?sysparm_query=number=SDI000003650853"/>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5085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185160"/>
            <a:ext cx="4745736" cy="3215640"/>
          </a:xfrm>
          <a:prstGeom prst="roundRect">
            <a:avLst>
              <a:gd name="adj" fmla="val 170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34060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614928"/>
            <a:ext cx="457200" cy="0"/>
          </a:xfrm>
          <a:prstGeom prst="line">
            <a:avLst/>
          </a:prstGeom>
          <a:noFill/>
          <a:ln w="19050">
            <a:solidFill>
              <a:srgbClr val="E31837"/>
            </a:solidFill>
            <a:prstDash val="solid"/>
          </a:ln>
        </p:spPr>
      </p:sp>
      <p:sp>
        <p:nvSpPr>
          <p:cNvPr id="21" name="Text 19"/>
          <p:cNvSpPr txBox="1"/>
          <p:nvPr/>
        </p:nvSpPr>
        <p:spPr>
          <a:xfrm>
            <a:off x="3749040" y="3688080"/>
            <a:ext cx="4233672" cy="255727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Host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"lrchac09xsdi013"; the whole hardware tree, the OS class kept as a preference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lrchac09xsdi013 [server] -&gt; exactly one, accepted; class server agrees with the OS</a:t>
            </a:r>
            <a:endParaRPr lang="en-US" sz="1300" dirty="0"/>
          </a:p>
        </p:txBody>
      </p:sp>
      <p:sp>
        <p:nvSpPr>
          <p:cNvPr id="22" name="Shape 20"/>
          <p:cNvSpPr/>
          <p:nvPr/>
        </p:nvSpPr>
        <p:spPr>
          <a:xfrm>
            <a:off x="8439912" y="3185160"/>
            <a:ext cx="3246120" cy="3215640"/>
          </a:xfrm>
          <a:prstGeom prst="roundRect">
            <a:avLst>
              <a:gd name="adj" fmla="val 170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349752"/>
            <a:ext cx="64008" cy="2886456"/>
          </a:xfrm>
          <a:prstGeom prst="rect">
            <a:avLst/>
          </a:prstGeom>
          <a:solidFill>
            <a:srgbClr val="E31837"/>
          </a:solidFill>
          <a:ln w="12700">
            <a:solidFill>
              <a:srgbClr val="333333"/>
            </a:solidFill>
            <a:prstDash val="solid"/>
          </a:ln>
        </p:spPr>
      </p:sp>
      <p:sp>
        <p:nvSpPr>
          <p:cNvPr id="24" name="Text 22"/>
          <p:cNvSpPr txBox="1"/>
          <p:nvPr/>
        </p:nvSpPr>
        <p:spPr>
          <a:xfrm>
            <a:off x="8714232" y="334060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614928"/>
            <a:ext cx="457200" cy="0"/>
          </a:xfrm>
          <a:prstGeom prst="line">
            <a:avLst/>
          </a:prstGeom>
          <a:noFill/>
          <a:ln w="19050">
            <a:solidFill>
              <a:srgbClr val="E31837"/>
            </a:solidFill>
            <a:prstDash val="solid"/>
          </a:ln>
        </p:spPr>
      </p:sp>
      <p:sp>
        <p:nvSpPr>
          <p:cNvPr id="26" name="Text 24"/>
          <p:cNvSpPr txBox="1"/>
          <p:nvPr/>
        </p:nvSpPr>
        <p:spPr>
          <a:xfrm>
            <a:off x="8714232" y="366064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lrchac09xsdi013</a:t>
            </a:r>
            <a:endParaRPr lang="en-US" sz="1500" dirty="0"/>
          </a:p>
        </p:txBody>
      </p:sp>
      <p:sp>
        <p:nvSpPr>
          <p:cNvPr id="27" name="Text 25"/>
          <p:cNvSpPr txBox="1"/>
          <p:nvPr/>
        </p:nvSpPr>
        <p:spPr>
          <a:xfrm>
            <a:off x="8714232" y="398068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Server</a:t>
            </a:r>
            <a:endParaRPr lang="en-US" sz="1100" dirty="0"/>
          </a:p>
        </p:txBody>
      </p:sp>
      <p:sp>
        <p:nvSpPr>
          <p:cNvPr id="28" name="Text 26"/>
          <p:cNvSpPr txBox="1"/>
          <p:nvPr/>
        </p:nvSpPr>
        <p:spPr>
          <a:xfrm>
            <a:off x="8714232" y="4300728"/>
            <a:ext cx="2715768" cy="138684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MXQ24509LF</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Hewlett-Packard ProLiant DL360 Gen10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server.do?sys_id=2b66dbe59348b254b096f35e1dba1064"/>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2b66dbe59348b254b096f35e1dba1064"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410  ·  HOSTNAME HARDWARE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lrchac09xsdi013.sdi.corp.bankofamerica.com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b3646affeb4b4350017ff4d7cad0cda0" history="1" highlightClick="0" endSnd="0">
                  <a:extLst>
                    <a:ext uri="{A12FA001-AC4F-418D-AE19-62706E023703}">
                      <ahyp:hlinkClr xmlns:ahyp="http://schemas.microsoft.com/office/drawing/2018/hyperlinkcolor" val="tx"/>
                    </a:ext>
                  </a:extLst>
                </a:hlinkClick>
              </a:rPr>
              <a:t>SDI000003650853</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1c38204f47624710a1a9295b416d4305" history="1" highlightClick="0" endSnd="0">
                  <a:extLst>
                    <a:ext uri="{A12FA001-AC4F-418D-AE19-62706E023703}">
                      <ahyp:hlinkClr xmlns:ahyp="http://schemas.microsoft.com/office/drawing/2018/hyperlinkcolor" val="tx"/>
                    </a:ext>
                  </a:extLst>
                </a:hlinkClick>
              </a:rPr>
              <a:t>BOFA Hostname Hardware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server.do?sys_id=2b66dbe59348b254b096f35e1dba1064" history="1" highlightClick="0" endSnd="0">
                  <a:extLst>
                    <a:ext uri="{A12FA001-AC4F-418D-AE19-62706E023703}">
                      <ahyp:hlinkClr xmlns:ahyp="http://schemas.microsoft.com/office/drawing/2018/hyperlinkcolor" val="tx"/>
                    </a:ext>
                  </a:extLst>
                </a:hlinkClick>
              </a:rPr>
              <a:t>lrchac09xsdi013</a:t>
            </a:r>
            <a:endParaRPr lang="en-US" sz="1000" dirty="0"/>
          </a:p>
        </p:txBody>
      </p:sp>
      <p:graphicFrame>
        <p:nvGraphicFramePr>
          <p:cNvPr id="95"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Host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Lower-cases the DNS name and takes the label before the first dot. The search covers the whole Hardware tree; classFor(OS) is kept as a preference.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"lrchac09xsdi013"; the whole hardware tree, the OS class kept as a preference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name equal to the label, ignored classes left out. Exactly one row is returned, and its class must agree with the OS class when the OS gives one (a Linux fingerprint also accepts appliances); none or several give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lrchac09xsdi013 [server] -&gt; exactly one, accepted; class server agrees with the OS</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hardware_list.do?sysparm_query=name%3Dlrchac09xsdi013" history="1" highlightClick="0" endSnd="0">
                            <a:extLst>
                              <a:ext uri="{A12FA001-AC4F-418D-AE19-62706E023703}">
                                <ahyp:hlinkClr xmlns:ahyp="http://schemas.microsoft.com/office/drawing/2018/hyperlinkcolor" val="tx"/>
                              </a:ext>
                            </a:extLst>
                          </a:hlinkClick>
                        </a:rPr>
                        <a:t>Hardware: name=lrchac09xsdi013</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server.do?sys_id=2b66dbe59348b254b096f35e1dba1064" history="1" highlightClick="0" endSnd="0">
                            <a:extLst>
                              <a:ext uri="{A12FA001-AC4F-418D-AE19-62706E023703}">
                                <ahyp:hlinkClr xmlns:ahyp="http://schemas.microsoft.com/office/drawing/2018/hyperlinkcolor" val="tx"/>
                              </a:ext>
                            </a:extLst>
                          </a:hlinkClick>
                        </a:rPr>
                        <a:t>lrchac09xsdi013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410  ·  HOSTNAME HARDWARE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d011e580110bmac</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computer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208024"/>
          </a:xfrm>
          <a:prstGeom prst="roundRect">
            <a:avLst>
              <a:gd name="adj" fmla="val 4542"/>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69596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"d011e580110bmac" is not sep + 12 hex)  ·  FQDN (no dot in the name)  ·  name + domain (no domain in the name)  ·  host name (OS "macOS 26.6.2" gives no class)</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layered DNS (no DNS Name record for "d011e580110bmac")</a:t>
            </a:r>
            <a:endParaRPr lang="en-US" sz="1100" dirty="0"/>
          </a:p>
        </p:txBody>
      </p:sp>
      <p:sp>
        <p:nvSpPr>
          <p:cNvPr id="12" name="Shape 10"/>
          <p:cNvSpPr/>
          <p:nvPr/>
        </p:nvSpPr>
        <p:spPr>
          <a:xfrm>
            <a:off x="502920" y="2799080"/>
            <a:ext cx="2788920" cy="360172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95452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228848"/>
            <a:ext cx="457200" cy="0"/>
          </a:xfrm>
          <a:prstGeom prst="line">
            <a:avLst/>
          </a:prstGeom>
          <a:noFill/>
          <a:ln w="19050">
            <a:solidFill>
              <a:srgbClr val="E31837"/>
            </a:solidFill>
            <a:prstDash val="solid"/>
          </a:ln>
        </p:spPr>
      </p:sp>
      <p:sp>
        <p:nvSpPr>
          <p:cNvPr id="15" name="Text 13"/>
          <p:cNvSpPr txBox="1"/>
          <p:nvPr/>
        </p:nvSpPr>
        <p:spPr>
          <a:xfrm>
            <a:off x="740664" y="327456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SDI000003605570</a:t>
            </a:r>
            <a:endParaRPr lang="en-US" sz="1500" dirty="0"/>
          </a:p>
        </p:txBody>
      </p:sp>
      <p:sp>
        <p:nvSpPr>
          <p:cNvPr id="16" name="Text 14"/>
          <p:cNvSpPr txBox="1"/>
          <p:nvPr/>
        </p:nvSpPr>
        <p:spPr>
          <a:xfrm>
            <a:off x="740664" y="3640328"/>
            <a:ext cx="2313432" cy="204724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d011e580110bmac</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30.247.36.123</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macOS 26.6.2</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D011E580110BMAC</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05:59:19</a:t>
            </a:r>
            <a:endParaRPr lang="en-US" sz="1200" dirty="0"/>
          </a:p>
        </p:txBody>
      </p:sp>
      <p:sp>
        <p:nvSpPr>
          <p:cNvPr id="17" name="Text 15">
            <a:hlinkClick r:id="rId1" tooltip="https://bofasecopsdev.service-now.com/sn_sec_cmn_src_ci_list.do?sysparm_query=number=SDI000003605570"/>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0557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799080"/>
            <a:ext cx="4745736" cy="3601720"/>
          </a:xfrm>
          <a:prstGeom prst="roundRect">
            <a:avLst>
              <a:gd name="adj" fmla="val 1523"/>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95452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228848"/>
            <a:ext cx="457200" cy="0"/>
          </a:xfrm>
          <a:prstGeom prst="line">
            <a:avLst/>
          </a:prstGeom>
          <a:noFill/>
          <a:ln w="19050">
            <a:solidFill>
              <a:srgbClr val="E31837"/>
            </a:solidFill>
            <a:prstDash val="solid"/>
          </a:ln>
        </p:spPr>
      </p:sp>
      <p:sp>
        <p:nvSpPr>
          <p:cNvPr id="21" name="Text 19"/>
          <p:cNvSpPr txBox="1"/>
          <p:nvPr/>
        </p:nvSpPr>
        <p:spPr>
          <a:xfrm>
            <a:off x="3749040" y="3302000"/>
            <a:ext cx="4233672" cy="294335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Host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"d011e580110bmac"; the whole hardware tree, the OS class kept as a preference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d011e580110bmac [computer] ip 30.247.57.19 -&gt; exactly one, accepted; class computer agrees with the OS</a:t>
            </a:r>
            <a:endParaRPr lang="en-US" sz="1300" dirty="0"/>
          </a:p>
        </p:txBody>
      </p:sp>
      <p:sp>
        <p:nvSpPr>
          <p:cNvPr id="22" name="Shape 20"/>
          <p:cNvSpPr/>
          <p:nvPr/>
        </p:nvSpPr>
        <p:spPr>
          <a:xfrm>
            <a:off x="8439912" y="2799080"/>
            <a:ext cx="3246120" cy="360172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963672"/>
            <a:ext cx="64008" cy="3272536"/>
          </a:xfrm>
          <a:prstGeom prst="rect">
            <a:avLst/>
          </a:prstGeom>
          <a:solidFill>
            <a:srgbClr val="E31837"/>
          </a:solidFill>
          <a:ln w="12700">
            <a:solidFill>
              <a:srgbClr val="333333"/>
            </a:solidFill>
            <a:prstDash val="solid"/>
          </a:ln>
        </p:spPr>
      </p:sp>
      <p:sp>
        <p:nvSpPr>
          <p:cNvPr id="24" name="Text 22"/>
          <p:cNvSpPr txBox="1"/>
          <p:nvPr/>
        </p:nvSpPr>
        <p:spPr>
          <a:xfrm>
            <a:off x="8714232" y="295452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228848"/>
            <a:ext cx="457200" cy="0"/>
          </a:xfrm>
          <a:prstGeom prst="line">
            <a:avLst/>
          </a:prstGeom>
          <a:noFill/>
          <a:ln w="19050">
            <a:solidFill>
              <a:srgbClr val="E31837"/>
            </a:solidFill>
            <a:prstDash val="solid"/>
          </a:ln>
        </p:spPr>
      </p:sp>
      <p:sp>
        <p:nvSpPr>
          <p:cNvPr id="26" name="Text 24"/>
          <p:cNvSpPr txBox="1"/>
          <p:nvPr/>
        </p:nvSpPr>
        <p:spPr>
          <a:xfrm>
            <a:off x="8714232" y="327456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d011e580110bmac</a:t>
            </a:r>
            <a:endParaRPr lang="en-US" sz="1500" dirty="0"/>
          </a:p>
        </p:txBody>
      </p:sp>
      <p:sp>
        <p:nvSpPr>
          <p:cNvPr id="27" name="Text 25"/>
          <p:cNvSpPr txBox="1"/>
          <p:nvPr/>
        </p:nvSpPr>
        <p:spPr>
          <a:xfrm>
            <a:off x="8714232" y="359460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Computer</a:t>
            </a:r>
            <a:endParaRPr lang="en-US" sz="1100" dirty="0"/>
          </a:p>
        </p:txBody>
      </p:sp>
      <p:sp>
        <p:nvSpPr>
          <p:cNvPr id="28" name="Text 26"/>
          <p:cNvSpPr txBox="1"/>
          <p:nvPr/>
        </p:nvSpPr>
        <p:spPr>
          <a:xfrm>
            <a:off x="8714232" y="3914648"/>
            <a:ext cx="2715768" cy="177292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30.247.57.19</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XKYQ4RWLG6</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MAC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d0:11:e5:90:82:ea</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Apple MAC MINI (2024)</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 Stock</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Non-Operational</a:t>
            </a:r>
            <a:endParaRPr lang="en-US" sz="1200" dirty="0"/>
          </a:p>
        </p:txBody>
      </p:sp>
      <p:sp>
        <p:nvSpPr>
          <p:cNvPr id="29" name="Text 27">
            <a:hlinkClick r:id="rId2" tooltip="https://bofasecopsdev.service-now.com/cmdb_ci_computer.do?sys_id=215ec3123b046e10055e3b64c3e45af6"/>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computer.do?sys_id=215ec3123b046e10055e3b64c3e45af6"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410  ·  HOSTNAME HARDWARE MATCH  ·  EXAMPLE 2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d011e580110bmac</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5af3a6963bc7039c9289d164c3e45aef" history="1" highlightClick="0" endSnd="0">
                  <a:extLst>
                    <a:ext uri="{A12FA001-AC4F-418D-AE19-62706E023703}">
                      <ahyp:hlinkClr xmlns:ahyp="http://schemas.microsoft.com/office/drawing/2018/hyperlinkcolor" val="tx"/>
                    </a:ext>
                  </a:extLst>
                </a:hlinkClick>
              </a:rPr>
              <a:t>SDI000003605570</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1c38204f47624710a1a9295b416d4305" history="1" highlightClick="0" endSnd="0">
                  <a:extLst>
                    <a:ext uri="{A12FA001-AC4F-418D-AE19-62706E023703}">
                      <ahyp:hlinkClr xmlns:ahyp="http://schemas.microsoft.com/office/drawing/2018/hyperlinkcolor" val="tx"/>
                    </a:ext>
                  </a:extLst>
                </a:hlinkClick>
              </a:rPr>
              <a:t>BOFA Hostname Hardware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computer.do?sys_id=215ec3123b046e10055e3b64c3e45af6" history="1" highlightClick="0" endSnd="0">
                  <a:extLst>
                    <a:ext uri="{A12FA001-AC4F-418D-AE19-62706E023703}">
                      <ahyp:hlinkClr xmlns:ahyp="http://schemas.microsoft.com/office/drawing/2018/hyperlinkcolor" val="tx"/>
                    </a:ext>
                  </a:extLst>
                </a:hlinkClick>
              </a:rPr>
              <a:t>d011e580110bmac</a:t>
            </a:r>
            <a:endParaRPr lang="en-US" sz="1000" dirty="0"/>
          </a:p>
        </p:txBody>
      </p:sp>
      <p:graphicFrame>
        <p:nvGraphicFramePr>
          <p:cNvPr id="97"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Host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Lower-cases the DNS name and takes the label before the first dot. The search covers the whole Hardware tree; classFor(OS) is kept as a preference.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"d011e580110bmac"; the whole hardware tree, the OS class kept as a preference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name equal to the label, ignored classes left out. Exactly one row is returned, and its class must agree with the OS class when the OS gives one (a Linux fingerprint also accepts appliances); none or several give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d011e580110bmac [computer] ip 30.247.57.19 -&gt; exactly one, accepted; class computer agrees with the OS</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hardware_list.do?sysparm_query=name%3Dd011e580110bmac" history="1" highlightClick="0" endSnd="0">
                            <a:extLst>
                              <a:ext uri="{A12FA001-AC4F-418D-AE19-62706E023703}">
                                <ahyp:hlinkClr xmlns:ahyp="http://schemas.microsoft.com/office/drawing/2018/hyperlinkcolor" val="tx"/>
                              </a:ext>
                            </a:extLst>
                          </a:hlinkClick>
                        </a:rPr>
                        <a:t>Hardware: name=d011e580110bmac</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computer.do?sys_id=215ec3123b046e10055e3b64c3e45af6" history="1" highlightClick="0" endSnd="0">
                            <a:extLst>
                              <a:ext uri="{A12FA001-AC4F-418D-AE19-62706E023703}">
                                <ahyp:hlinkClr xmlns:ahyp="http://schemas.microsoft.com/office/drawing/2018/hyperlinkcolor" val="tx"/>
                              </a:ext>
                            </a:extLst>
                          </a:hlinkClick>
                        </a:rPr>
                        <a:t>d011e580110bmac</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410  ·  HOSTNAME HARDWARE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lrchac09xsdi003.sdi.corp.bankofamerica.com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server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594104"/>
          </a:xfrm>
          <a:prstGeom prst="roundRect">
            <a:avLst>
              <a:gd name="adj" fmla="val 3442"/>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08204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"lrchac09xsdi003"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layered DNS (no DNS Name record for "lrchac09xsdi003.sdi.corp.bankofamerica.com")  ·  host name (no record in linux_server named "lrchac09xsdi003")</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name + domain (no record named "lrchac09xsdi003" / 1 named "lrchac09xsdi003", none with the domain "sdi.corp.bankofamerica.com")</a:t>
            </a:r>
            <a:endParaRPr lang="en-US" sz="1100" dirty="0"/>
          </a:p>
        </p:txBody>
      </p:sp>
      <p:sp>
        <p:nvSpPr>
          <p:cNvPr id="12" name="Shape 10"/>
          <p:cNvSpPr/>
          <p:nvPr/>
        </p:nvSpPr>
        <p:spPr>
          <a:xfrm>
            <a:off x="502920" y="3185160"/>
            <a:ext cx="2788920" cy="321564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34060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614928"/>
            <a:ext cx="457200" cy="0"/>
          </a:xfrm>
          <a:prstGeom prst="line">
            <a:avLst/>
          </a:prstGeom>
          <a:noFill/>
          <a:ln w="19050">
            <a:solidFill>
              <a:srgbClr val="E31837"/>
            </a:solidFill>
            <a:prstDash val="solid"/>
          </a:ln>
        </p:spPr>
      </p:sp>
      <p:sp>
        <p:nvSpPr>
          <p:cNvPr id="15" name="Text 13"/>
          <p:cNvSpPr txBox="1"/>
          <p:nvPr/>
        </p:nvSpPr>
        <p:spPr>
          <a:xfrm>
            <a:off x="740664" y="366064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SDI000003650834</a:t>
            </a:r>
            <a:endParaRPr lang="en-US" sz="1500" dirty="0"/>
          </a:p>
        </p:txBody>
      </p:sp>
      <p:sp>
        <p:nvSpPr>
          <p:cNvPr id="16" name="Text 14"/>
          <p:cNvSpPr txBox="1"/>
          <p:nvPr/>
        </p:nvSpPr>
        <p:spPr>
          <a:xfrm>
            <a:off x="740664" y="4026408"/>
            <a:ext cx="2313432" cy="166116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lrchac09xsdi003.sdi.corp.bankofamerica.com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30.239.5.140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Red Hat Enterprise Linux CoreOS 4.18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06:01:14</a:t>
            </a:r>
            <a:endParaRPr lang="en-US" sz="1200" dirty="0"/>
          </a:p>
        </p:txBody>
      </p:sp>
      <p:sp>
        <p:nvSpPr>
          <p:cNvPr id="17" name="Text 15">
            <a:hlinkClick r:id="rId1" tooltip="https://bofasecopsdev.service-now.com/sn_sec_cmn_src_ci_list.do?sysparm_query=number=SDI000003650834"/>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50834"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185160"/>
            <a:ext cx="4745736" cy="3215640"/>
          </a:xfrm>
          <a:prstGeom prst="roundRect">
            <a:avLst>
              <a:gd name="adj" fmla="val 170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34060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614928"/>
            <a:ext cx="457200" cy="0"/>
          </a:xfrm>
          <a:prstGeom prst="line">
            <a:avLst/>
          </a:prstGeom>
          <a:noFill/>
          <a:ln w="19050">
            <a:solidFill>
              <a:srgbClr val="E31837"/>
            </a:solidFill>
            <a:prstDash val="solid"/>
          </a:ln>
        </p:spPr>
      </p:sp>
      <p:sp>
        <p:nvSpPr>
          <p:cNvPr id="21" name="Text 19"/>
          <p:cNvSpPr txBox="1"/>
          <p:nvPr/>
        </p:nvSpPr>
        <p:spPr>
          <a:xfrm>
            <a:off x="3749040" y="3688080"/>
            <a:ext cx="4233672" cy="255727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Host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"lrchac09xsdi003"; the whole hardware tree, the OS class kept as a preference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lrchac09xsdi003 [server] -&gt; exactly one, accepted; class server agrees with the OS</a:t>
            </a:r>
            <a:endParaRPr lang="en-US" sz="1300" dirty="0"/>
          </a:p>
        </p:txBody>
      </p:sp>
      <p:sp>
        <p:nvSpPr>
          <p:cNvPr id="22" name="Shape 20"/>
          <p:cNvSpPr/>
          <p:nvPr/>
        </p:nvSpPr>
        <p:spPr>
          <a:xfrm>
            <a:off x="8439912" y="3185160"/>
            <a:ext cx="3246120" cy="3215640"/>
          </a:xfrm>
          <a:prstGeom prst="roundRect">
            <a:avLst>
              <a:gd name="adj" fmla="val 170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349752"/>
            <a:ext cx="64008" cy="2886456"/>
          </a:xfrm>
          <a:prstGeom prst="rect">
            <a:avLst/>
          </a:prstGeom>
          <a:solidFill>
            <a:srgbClr val="E31837"/>
          </a:solidFill>
          <a:ln w="12700">
            <a:solidFill>
              <a:srgbClr val="333333"/>
            </a:solidFill>
            <a:prstDash val="solid"/>
          </a:ln>
        </p:spPr>
      </p:sp>
      <p:sp>
        <p:nvSpPr>
          <p:cNvPr id="24" name="Text 22"/>
          <p:cNvSpPr txBox="1"/>
          <p:nvPr/>
        </p:nvSpPr>
        <p:spPr>
          <a:xfrm>
            <a:off x="8714232" y="334060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614928"/>
            <a:ext cx="457200" cy="0"/>
          </a:xfrm>
          <a:prstGeom prst="line">
            <a:avLst/>
          </a:prstGeom>
          <a:noFill/>
          <a:ln w="19050">
            <a:solidFill>
              <a:srgbClr val="E31837"/>
            </a:solidFill>
            <a:prstDash val="solid"/>
          </a:ln>
        </p:spPr>
      </p:sp>
      <p:sp>
        <p:nvSpPr>
          <p:cNvPr id="26" name="Text 24"/>
          <p:cNvSpPr txBox="1"/>
          <p:nvPr/>
        </p:nvSpPr>
        <p:spPr>
          <a:xfrm>
            <a:off x="8714232" y="366064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lrchac09xsdi003</a:t>
            </a:r>
            <a:endParaRPr lang="en-US" sz="1500" dirty="0"/>
          </a:p>
        </p:txBody>
      </p:sp>
      <p:sp>
        <p:nvSpPr>
          <p:cNvPr id="27" name="Text 25"/>
          <p:cNvSpPr txBox="1"/>
          <p:nvPr/>
        </p:nvSpPr>
        <p:spPr>
          <a:xfrm>
            <a:off x="8714232" y="398068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Server</a:t>
            </a:r>
            <a:endParaRPr lang="en-US" sz="1100" dirty="0"/>
          </a:p>
        </p:txBody>
      </p:sp>
      <p:sp>
        <p:nvSpPr>
          <p:cNvPr id="28" name="Text 26"/>
          <p:cNvSpPr txBox="1"/>
          <p:nvPr/>
        </p:nvSpPr>
        <p:spPr>
          <a:xfrm>
            <a:off x="8714232" y="4300728"/>
            <a:ext cx="2715768" cy="138684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MXQ2440FP4</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Hewlett-Packard ProLiant DL360 Gen10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server.do?sys_id=c4b557ed9388321499fa7dd548373c4d"/>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c4b557ed9388321499fa7dd548373c4d"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410  ·  HOSTNAME HARDWARE MATCH  ·  EXAMPLE 3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lrchac09xsdi003.sdi.corp.bankofamerica.com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5344eebfeb4b4350017ff4d7cad0cd28" history="1" highlightClick="0" endSnd="0">
                  <a:extLst>
                    <a:ext uri="{A12FA001-AC4F-418D-AE19-62706E023703}">
                      <ahyp:hlinkClr xmlns:ahyp="http://schemas.microsoft.com/office/drawing/2018/hyperlinkcolor" val="tx"/>
                    </a:ext>
                  </a:extLst>
                </a:hlinkClick>
              </a:rPr>
              <a:t>SDI000003650834</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1c38204f47624710a1a9295b416d4305" history="1" highlightClick="0" endSnd="0">
                  <a:extLst>
                    <a:ext uri="{A12FA001-AC4F-418D-AE19-62706E023703}">
                      <ahyp:hlinkClr xmlns:ahyp="http://schemas.microsoft.com/office/drawing/2018/hyperlinkcolor" val="tx"/>
                    </a:ext>
                  </a:extLst>
                </a:hlinkClick>
              </a:rPr>
              <a:t>BOFA Hostname Hardware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server.do?sys_id=c4b557ed9388321499fa7dd548373c4d" history="1" highlightClick="0" endSnd="0">
                  <a:extLst>
                    <a:ext uri="{A12FA001-AC4F-418D-AE19-62706E023703}">
                      <ahyp:hlinkClr xmlns:ahyp="http://schemas.microsoft.com/office/drawing/2018/hyperlinkcolor" val="tx"/>
                    </a:ext>
                  </a:extLst>
                </a:hlinkClick>
              </a:rPr>
              <a:t>lrchac09xsdi003</a:t>
            </a:r>
            <a:endParaRPr lang="en-US" sz="1000" dirty="0"/>
          </a:p>
        </p:txBody>
      </p:sp>
      <p:graphicFrame>
        <p:nvGraphicFramePr>
          <p:cNvPr id="99"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Host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Lower-cases the DNS name and takes the label before the first dot. The search covers the whole Hardware tree; classFor(OS) is kept as a preference.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"lrchac09xsdi003"; the whole hardware tree, the OS class kept as a preference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name equal to the label, ignored classes left out. Exactly one row is returned, and its class must agree with the OS class when the OS gives one (a Linux fingerprint also accepts appliances); none or several give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lrchac09xsdi003 [server] -&gt; exactly one, accepted; class server agrees with the OS</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hardware_list.do?sysparm_query=name%3Dlrchac09xsdi003" history="1" highlightClick="0" endSnd="0">
                            <a:extLst>
                              <a:ext uri="{A12FA001-AC4F-418D-AE19-62706E023703}">
                                <ahyp:hlinkClr xmlns:ahyp="http://schemas.microsoft.com/office/drawing/2018/hyperlinkcolor" val="tx"/>
                              </a:ext>
                            </a:extLst>
                          </a:hlinkClick>
                        </a:rPr>
                        <a:t>Hardware: name=lrchac09xsdi003</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server.do?sys_id=c4b557ed9388321499fa7dd548373c4d" history="1" highlightClick="0" endSnd="0">
                            <a:extLst>
                              <a:ext uri="{A12FA001-AC4F-418D-AE19-62706E023703}">
                                <ahyp:hlinkClr xmlns:ahyp="http://schemas.microsoft.com/office/drawing/2018/hyperlinkcolor" val="tx"/>
                              </a:ext>
                            </a:extLst>
                          </a:hlinkClick>
                        </a:rPr>
                        <a:t>lrchac09xsdi003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415  ·  NAME  ·  1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Device Name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935480"/>
          </a:xfrm>
          <a:prstGeom prst="roundRect">
            <a:avLst>
              <a:gd name="adj" fmla="val 28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6062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2954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scanned host name for the two device classes outside the Hardware tree, IP Phone (extends cmdb_ci directly) and Imaging Hardware (scanners), which the hardware-wide name rules never see and which report no OS to an unauthenticated scan.</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right after USEM Hostname Hardware Match so ordinary hosts are already resolved and only OS-less devices such as Avaya stations (avx plus the tail of the MAC) and scanners reach it.</a:t>
            </a:r>
            <a:endParaRPr lang="en-US" sz="1500" dirty="0"/>
          </a:p>
        </p:txBody>
      </p:sp>
      <p:sp>
        <p:nvSpPr>
          <p:cNvPr id="13" name="Shape 11"/>
          <p:cNvSpPr/>
          <p:nvPr/>
        </p:nvSpPr>
        <p:spPr>
          <a:xfrm>
            <a:off x="502920" y="3608832"/>
            <a:ext cx="6933529" cy="2778760"/>
          </a:xfrm>
          <a:prstGeom prst="roundRect">
            <a:avLst>
              <a:gd name="adj" fmla="val 197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7917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066032"/>
            <a:ext cx="457200" cy="0"/>
          </a:xfrm>
          <a:prstGeom prst="line">
            <a:avLst/>
          </a:prstGeom>
          <a:noFill/>
          <a:ln w="19050">
            <a:solidFill>
              <a:srgbClr val="E31837"/>
            </a:solidFill>
            <a:prstDash val="solid"/>
          </a:ln>
        </p:spPr>
      </p:sp>
      <p:sp>
        <p:nvSpPr>
          <p:cNvPr id="16" name="Text 14"/>
          <p:cNvSpPr txBox="1"/>
          <p:nvPr/>
        </p:nvSpPr>
        <p:spPr>
          <a:xfrm>
            <a:off x="822960" y="4157472"/>
            <a:ext cx="6293449" cy="204724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DNS field as sourceValue (sample avxdd008a.cc.bofa.com); from sourcePayload the OS (guard only) and the IP (tie-break only). Also reads _ignoreClass or the property sn_sec_cmn.ignoreCIClass.</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one cmdb_ci_ip_phone or cmdb_ci_imaging_hardware record (sub-classes included, ignored classes excluded) whose name equals the host label; when several carry the name, the single one whose ip_address equals the scanned IP. null otherwise, and null when the OS names a server, desktop or other classed system.</a:t>
            </a:r>
            <a:endParaRPr lang="en-US" sz="1400" dirty="0"/>
          </a:p>
        </p:txBody>
      </p:sp>
      <p:sp>
        <p:nvSpPr>
          <p:cNvPr id="17" name="Shape 15"/>
          <p:cNvSpPr/>
          <p:nvPr/>
        </p:nvSpPr>
        <p:spPr>
          <a:xfrm>
            <a:off x="7665049" y="3608832"/>
            <a:ext cx="4020983" cy="2778760"/>
          </a:xfrm>
          <a:prstGeom prst="roundRect">
            <a:avLst>
              <a:gd name="adj" fmla="val 197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7917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066032"/>
            <a:ext cx="457200" cy="0"/>
          </a:xfrm>
          <a:prstGeom prst="line">
            <a:avLst/>
          </a:prstGeom>
          <a:noFill/>
          <a:ln w="19050">
            <a:solidFill>
              <a:srgbClr val="E31837"/>
            </a:solidFill>
            <a:prstDash val="solid"/>
          </a:ln>
        </p:spPr>
      </p:sp>
      <p:sp>
        <p:nvSpPr>
          <p:cNvPr id="20" name="Text 18"/>
          <p:cNvSpPr txBox="1"/>
          <p:nvPr/>
        </p:nvSpPr>
        <p:spPr>
          <a:xfrm>
            <a:off x="7985089" y="4157472"/>
            <a:ext cx="3380903" cy="104140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Hostname Hardware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Management Interface Match</a:t>
            </a:r>
            <a:endParaRPr lang="en-US" sz="1300" dirty="0"/>
          </a:p>
        </p:txBody>
      </p:sp>
      <p:sp>
        <p:nvSpPr>
          <p:cNvPr id="21" name="Text 19"/>
          <p:cNvSpPr txBox="1"/>
          <p:nvPr/>
        </p:nvSpPr>
        <p:spPr>
          <a:xfrm>
            <a:off x="7985089" y="529031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25,733</a:t>
            </a:r>
            <a:endParaRPr lang="en-US" sz="2800" dirty="0"/>
          </a:p>
        </p:txBody>
      </p:sp>
      <p:sp>
        <p:nvSpPr>
          <p:cNvPr id="22" name="Text 20"/>
          <p:cNvSpPr txBox="1"/>
          <p:nvPr/>
        </p:nvSpPr>
        <p:spPr>
          <a:xfrm>
            <a:off x="7985089" y="585724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415  ·  NAME  ·  2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Device Name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  ·  steps 1 to 4</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373880"/>
          </a:xfrm>
          <a:prstGeom prst="roundRect">
            <a:avLst>
              <a:gd name="adj" fmla="val 125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38252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1   Empty guard and host label.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Returns null when sourceValue (DNS) is empty. The value is string-coerced, trimmed and lower-cased; the host is the first label before the first dot (avxdd008a). An empty first label returns null. No suffix or domain is used in the search.</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2   Scanned address.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Reads sourcePayload.IP as a string ('' + IP), or an empty string when the payload carries none. It is used only to break a tie between several records of one name and is never a search key.</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3   Ignore list.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Reads the ignored classes from _ignoreClass when defined and non-empty, otherwise from gs.getProperty sn_sec_cmn.ignoreCIClass with an empty default; applied as sys_class_name NOT IN on both class queries whenever the list is non-empty.</a:t>
            </a:r>
            <a:endParaRPr lang="en-US" sz="1500" dirty="0"/>
          </a:p>
        </p:txBody>
      </p:sp>
      <p:sp>
        <p:nvSpPr>
          <p:cNvPr id="10" name="Text 8"/>
          <p:cNvSpPr txBox="1"/>
          <p:nvPr/>
        </p:nvSpPr>
        <p:spPr>
          <a:xfrm>
            <a:off x="6277356" y="1746504"/>
            <a:ext cx="5088636" cy="38252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4   OS guard through classFor.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Lower-cases sourcePayload.OS (empty when absent) and calls classFor. Null when the class is non-empty, not cmdb_ci_linux_server and the whole OS text lacks the word phone. No OS, Unknown OS, a keyword-free vendor name or a Linux fingerprint passes.</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415  ·  NAME  ·  3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Device Name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  ·  steps 5 to 8</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586480"/>
          </a:xfrm>
          <a:prstGeom prst="roundRect">
            <a:avLst>
              <a:gd name="adj" fmla="val 153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30378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5   What the OS guard rules out.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Every classFor class except empty and cmdb_ci_linux_server declines: ESX, Windows (server or computer), AIX, Solaris/SunOS, HP-UX, NetApp/ONTAP, printer/LaserJet/JetDirect, NX-OS/CatOS/Cisco. Cisco alone declines; Cisco IP Phone passes on phone.</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6   Search the two classes by name.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Loops over ['cmdb_ci_ip_phone', 'cmdb_ci_imaging_hardware'], skipping a class whose isValid() is false. Each query: name equals host (platform equality, not case-sensitive), sys_class_name NOT IN the ignore list when non-empty; sub-classes included.</a:t>
            </a:r>
            <a:endParaRPr lang="en-US" sz="1500" dirty="0"/>
          </a:p>
        </p:txBody>
      </p:sp>
      <p:sp>
        <p:nvSpPr>
          <p:cNvPr id="10" name="Text 8"/>
          <p:cNvSpPr txBox="1"/>
          <p:nvPr/>
        </p:nvSpPr>
        <p:spPr>
          <a:xfrm>
            <a:off x="6277356" y="1746504"/>
            <a:ext cx="5088636" cy="30378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7   Collect every row.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Every matching row's sys_id is pushed to found; a row whose ip_address, string-coerced, equals the scanned IP is also pushed to onAddress (only when an IP was supplied). All rows are read: no next/hasNext short-circuit and no setLimit.</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8   Decision and address tie-break.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found spans both classes. One entry is returned regardless of its ip_address. Two or more with exactly one in onAddress return that one. Otherwise null: none, or several with none or more than one on the scanned address. No retired or class agreement test.</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415  ·  NAME  ·  4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Device Name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948940"/>
          </a:xfrm>
          <a:prstGeom prst="roundRect">
            <a:avLst>
              <a:gd name="adj" fmla="val 186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6197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3088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(DNS) is empty, or its first label before the dot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ClassFor(OS) yields a class other than empty or cmdb_ci_linux_server and the lower-cased OS text does not contain the word phone.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cmdb_ci_ip_phone or cmdb_ci_imaging_hardware record (sub-classes included, ignored classes excluded) is named with the host label.</a:t>
            </a:r>
            <a:endParaRPr lang="en-US" sz="1500" dirty="0"/>
          </a:p>
        </p:txBody>
      </p:sp>
      <p:sp>
        <p:nvSpPr>
          <p:cNvPr id="13" name="Text 11"/>
          <p:cNvSpPr txBox="1"/>
          <p:nvPr/>
        </p:nvSpPr>
        <p:spPr>
          <a:xfrm>
            <a:off x="6277356" y="1975104"/>
            <a:ext cx="5088636" cy="23088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Several records carry the name and none has ip_address equal to sourcePayload.IP, or the payload carries no IP.</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Several records carry the name and two or more of them have ip_address equal to the scanned IP.</a:t>
            </a:r>
            <a:endParaRPr lang="en-US" sz="1500" dirty="0"/>
          </a:p>
        </p:txBody>
      </p:sp>
      <p:sp>
        <p:nvSpPr>
          <p:cNvPr id="14" name="Shape 12"/>
          <p:cNvSpPr/>
          <p:nvPr/>
        </p:nvSpPr>
        <p:spPr>
          <a:xfrm>
            <a:off x="502920" y="46222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6222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Management Interface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415  ·  DEVICE NAME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avxef52fb.asia.bankofamerica.com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ip_phone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375664"/>
          </a:xfrm>
          <a:prstGeom prst="roundRect">
            <a:avLst>
              <a:gd name="adj" fmla="val 3988"/>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86360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"avxef52fb"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(OS "not reported" gives no class / no record in the hardware tree carries the fqdn)  ·  name + domain (OS "not reported" gives no class / no record named "avxef52fb")  ·  layered DNS (no DNS Name record for "avxef52fb.asia.bankofamerica.com")  ·  host name (OS "not reported" gives no class / no record in the hardware tree named "avxef52fb")</a:t>
            </a:r>
            <a:endParaRPr lang="en-US" sz="1100" dirty="0"/>
          </a:p>
        </p:txBody>
      </p:sp>
      <p:sp>
        <p:nvSpPr>
          <p:cNvPr id="12" name="Shape 10"/>
          <p:cNvSpPr/>
          <p:nvPr/>
        </p:nvSpPr>
        <p:spPr>
          <a:xfrm>
            <a:off x="502920" y="2966720"/>
            <a:ext cx="2788920" cy="343408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12216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396488"/>
            <a:ext cx="457200" cy="0"/>
          </a:xfrm>
          <a:prstGeom prst="line">
            <a:avLst/>
          </a:prstGeom>
          <a:noFill/>
          <a:ln w="19050">
            <a:solidFill>
              <a:srgbClr val="E31837"/>
            </a:solidFill>
            <a:prstDash val="solid"/>
          </a:ln>
        </p:spPr>
      </p:sp>
      <p:sp>
        <p:nvSpPr>
          <p:cNvPr id="15" name="Text 13"/>
          <p:cNvSpPr txBox="1"/>
          <p:nvPr/>
        </p:nvSpPr>
        <p:spPr>
          <a:xfrm>
            <a:off x="740664" y="344220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SDI000003799341</a:t>
            </a:r>
            <a:endParaRPr lang="en-US" sz="1500" dirty="0"/>
          </a:p>
        </p:txBody>
      </p:sp>
      <p:sp>
        <p:nvSpPr>
          <p:cNvPr id="16" name="Text 14"/>
          <p:cNvSpPr txBox="1"/>
          <p:nvPr/>
        </p:nvSpPr>
        <p:spPr>
          <a:xfrm>
            <a:off x="740664" y="3807968"/>
            <a:ext cx="2313432" cy="18796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avxef52fb.asia.bankofamerica.com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10.158.139.134</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(not reported)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05:56:35</a:t>
            </a:r>
            <a:endParaRPr lang="en-US" sz="1200" dirty="0"/>
          </a:p>
        </p:txBody>
      </p:sp>
      <p:sp>
        <p:nvSpPr>
          <p:cNvPr id="17" name="Text 15">
            <a:hlinkClick r:id="rId1" tooltip="https://bofasecopsdev.service-now.com/sn_sec_cmn_src_ci_list.do?sysparm_query=number=SDI000003799341"/>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79934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966720"/>
            <a:ext cx="4745736" cy="3434080"/>
          </a:xfrm>
          <a:prstGeom prst="roundRect">
            <a:avLst>
              <a:gd name="adj" fmla="val 1598"/>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12216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396488"/>
            <a:ext cx="457200" cy="0"/>
          </a:xfrm>
          <a:prstGeom prst="line">
            <a:avLst/>
          </a:prstGeom>
          <a:noFill/>
          <a:ln w="19050">
            <a:solidFill>
              <a:srgbClr val="E31837"/>
            </a:solidFill>
            <a:prstDash val="solid"/>
          </a:ln>
        </p:spPr>
      </p:sp>
      <p:sp>
        <p:nvSpPr>
          <p:cNvPr id="21" name="Text 19"/>
          <p:cNvSpPr txBox="1"/>
          <p:nvPr/>
        </p:nvSpPr>
        <p:spPr>
          <a:xfrm>
            <a:off x="3749040" y="3469640"/>
            <a:ext cx="4233672" cy="277571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OS guard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OS "not reported" gives no class: no server or desktop class, the search runs</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Name searched in IP Phone and Imaging Hardware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cmdb_ci_ip_phone: 1 record: AVXEF52FB [ip_phone] ip 10.158.139.117 | cmdb_ci_imaging_hardware: 0 records</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one device, accepted</a:t>
            </a:r>
            <a:endParaRPr lang="en-US" sz="1300" dirty="0"/>
          </a:p>
        </p:txBody>
      </p:sp>
      <p:sp>
        <p:nvSpPr>
          <p:cNvPr id="22" name="Shape 20"/>
          <p:cNvSpPr/>
          <p:nvPr/>
        </p:nvSpPr>
        <p:spPr>
          <a:xfrm>
            <a:off x="8439912" y="2966720"/>
            <a:ext cx="3246120" cy="343408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131312"/>
            <a:ext cx="64008" cy="3104896"/>
          </a:xfrm>
          <a:prstGeom prst="rect">
            <a:avLst/>
          </a:prstGeom>
          <a:solidFill>
            <a:srgbClr val="E31837"/>
          </a:solidFill>
          <a:ln w="12700">
            <a:solidFill>
              <a:srgbClr val="333333"/>
            </a:solidFill>
            <a:prstDash val="solid"/>
          </a:ln>
        </p:spPr>
      </p:sp>
      <p:sp>
        <p:nvSpPr>
          <p:cNvPr id="24" name="Text 22"/>
          <p:cNvSpPr txBox="1"/>
          <p:nvPr/>
        </p:nvSpPr>
        <p:spPr>
          <a:xfrm>
            <a:off x="8714232" y="312216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396488"/>
            <a:ext cx="457200" cy="0"/>
          </a:xfrm>
          <a:prstGeom prst="line">
            <a:avLst/>
          </a:prstGeom>
          <a:noFill/>
          <a:ln w="19050">
            <a:solidFill>
              <a:srgbClr val="E31837"/>
            </a:solidFill>
            <a:prstDash val="solid"/>
          </a:ln>
        </p:spPr>
      </p:sp>
      <p:sp>
        <p:nvSpPr>
          <p:cNvPr id="26" name="Text 24"/>
          <p:cNvSpPr txBox="1"/>
          <p:nvPr/>
        </p:nvSpPr>
        <p:spPr>
          <a:xfrm>
            <a:off x="8714232" y="344220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AVXEF52FB</a:t>
            </a:r>
            <a:endParaRPr lang="en-US" sz="1500" dirty="0"/>
          </a:p>
        </p:txBody>
      </p:sp>
      <p:sp>
        <p:nvSpPr>
          <p:cNvPr id="27" name="Text 25"/>
          <p:cNvSpPr txBox="1"/>
          <p:nvPr/>
        </p:nvSpPr>
        <p:spPr>
          <a:xfrm>
            <a:off x="8714232" y="376224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IP Phone</a:t>
            </a:r>
            <a:endParaRPr lang="en-US" sz="1100" dirty="0"/>
          </a:p>
        </p:txBody>
      </p:sp>
      <p:sp>
        <p:nvSpPr>
          <p:cNvPr id="28" name="Text 26"/>
          <p:cNvSpPr txBox="1"/>
          <p:nvPr/>
        </p:nvSpPr>
        <p:spPr>
          <a:xfrm>
            <a:off x="8714232" y="4082288"/>
            <a:ext cx="2715768" cy="16052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10.158.139.117</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21WZ5040045X</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MAC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c8:1f:ea:ef:52:fb</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Avaya J100 Series J179</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ip_phone.do?sys_id=e07817742b062694d50dffbdbe91bf38"/>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e07817742b062694d50dffbdbe91bf38"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415  ·  DEVICE NAME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avxef52fb.asia.bankofamerica.com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6714e30c2bebc710a277fab2f291bf41" history="1" highlightClick="0" endSnd="0">
                  <a:extLst>
                    <a:ext uri="{A12FA001-AC4F-418D-AE19-62706E023703}">
                      <ahyp:hlinkClr xmlns:ahyp="http://schemas.microsoft.com/office/drawing/2018/hyperlinkcolor" val="tx"/>
                    </a:ext>
                  </a:extLst>
                </a:hlinkClick>
              </a:rPr>
              <a:t>SDI000003799341</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725622123b9b4310e973496ea5e45abb" history="1" highlightClick="0" endSnd="0">
                  <a:extLst>
                    <a:ext uri="{A12FA001-AC4F-418D-AE19-62706E023703}">
                      <ahyp:hlinkClr xmlns:ahyp="http://schemas.microsoft.com/office/drawing/2018/hyperlinkcolor" val="tx"/>
                    </a:ext>
                  </a:extLst>
                </a:hlinkClick>
              </a:rPr>
              <a:t>BOFA Device Name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ip_phone.do?sys_id=e07817742b062694d50dffbdbe91bf38" history="1" highlightClick="0" endSnd="0">
                  <a:extLst>
                    <a:ext uri="{A12FA001-AC4F-418D-AE19-62706E023703}">
                      <ahyp:hlinkClr xmlns:ahyp="http://schemas.microsoft.com/office/drawing/2018/hyperlinkcolor" val="tx"/>
                    </a:ext>
                  </a:extLst>
                </a:hlinkClick>
              </a:rPr>
              <a:t>AVXEF52FB</a:t>
            </a:r>
            <a:endParaRPr lang="en-US" sz="1000" dirty="0"/>
          </a:p>
        </p:txBody>
      </p:sp>
      <p:graphicFrame>
        <p:nvGraphicFramePr>
          <p:cNvPr id="105"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OS guard</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classFor(OS): a server or desktop class means the host is a computer and the rule declines; a phone word in the OS, a Linux fingerprint or no class lets the search run.</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OS "not reported" gives no class: no server or desktop class, the search runs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Name searched in IP Phone and Imaging Hardware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Two queries: name equal to the label on IP Phone (cmdb_ci_ip_phone) and on Imaging Hardware (cmdb_ci_imaging_hardware), ignored classes left out.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cmdb_ci_ip_phone: 1 record: AVXEF52FB [ip_phone] ip 10.158.139.117 | cmdb_ci_imaging_hardware: 0 records</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ip_phone_list.do?sysparm_query=name%3Davxef52fb" history="1" highlightClick="0" endSnd="0">
                            <a:extLst>
                              <a:ext uri="{A12FA001-AC4F-418D-AE19-62706E023703}">
                                <ahyp:hlinkClr xmlns:ahyp="http://schemas.microsoft.com/office/drawing/2018/hyperlinkcolor" val="tx"/>
                              </a:ext>
                            </a:extLst>
                          </a:hlinkClick>
                        </a:rPr>
                        <a:t>IP Phone: name=avxef52fb</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ip_phone.do?sys_id=e07817742b062694d50dffbdbe91bf38" history="1" highlightClick="0" endSnd="0">
                            <a:extLst>
                              <a:ext uri="{A12FA001-AC4F-418D-AE19-62706E023703}">
                                <ahyp:hlinkClr xmlns:ahyp="http://schemas.microsoft.com/office/drawing/2018/hyperlinkcolor" val="tx"/>
                              </a:ext>
                            </a:extLst>
                          </a:hlinkClick>
                        </a:rPr>
                        <a:t>AVXEF52FB</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imaging_hardware_list.do?sysparm_query=name%3Davxef52fb" history="1" highlightClick="0" endSnd="0">
                            <a:extLst>
                              <a:ext uri="{A12FA001-AC4F-418D-AE19-62706E023703}">
                                <ahyp:hlinkClr xmlns:ahyp="http://schemas.microsoft.com/office/drawing/2018/hyperlinkcolor" val="tx"/>
                              </a:ext>
                            </a:extLst>
                          </a:hlinkClick>
                        </a:rPr>
                        <a:t>Imaging Hardware: name=avxef52fb</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Decision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device is returned; several fall back to the one on the scanned address; none, or a tie, give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one device, accepted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415  ·  DEVICE NAME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avxef5783.asia.bankofamerica.com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ip_phone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375664"/>
          </a:xfrm>
          <a:prstGeom prst="roundRect">
            <a:avLst>
              <a:gd name="adj" fmla="val 3988"/>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86360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"avxef5783"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(OS "not reported" gives no class / no record in the hardware tree carries the fqdn)  ·  name + domain (OS "not reported" gives no class / no record named "avxef5783")  ·  layered DNS (no DNS Name record for "avxef5783.asia.bankofamerica.com")  ·  host name (OS "not reported" gives no class / no record in the hardware tree named "avxef5783")</a:t>
            </a:r>
            <a:endParaRPr lang="en-US" sz="1100" dirty="0"/>
          </a:p>
        </p:txBody>
      </p:sp>
      <p:sp>
        <p:nvSpPr>
          <p:cNvPr id="12" name="Shape 10"/>
          <p:cNvSpPr/>
          <p:nvPr/>
        </p:nvSpPr>
        <p:spPr>
          <a:xfrm>
            <a:off x="502920" y="2966720"/>
            <a:ext cx="2788920" cy="343408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12216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396488"/>
            <a:ext cx="457200" cy="0"/>
          </a:xfrm>
          <a:prstGeom prst="line">
            <a:avLst/>
          </a:prstGeom>
          <a:noFill/>
          <a:ln w="19050">
            <a:solidFill>
              <a:srgbClr val="E31837"/>
            </a:solidFill>
            <a:prstDash val="solid"/>
          </a:ln>
        </p:spPr>
      </p:sp>
      <p:sp>
        <p:nvSpPr>
          <p:cNvPr id="15" name="Text 13"/>
          <p:cNvSpPr txBox="1"/>
          <p:nvPr/>
        </p:nvSpPr>
        <p:spPr>
          <a:xfrm>
            <a:off x="740664" y="344220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SDI000003799352</a:t>
            </a:r>
            <a:endParaRPr lang="en-US" sz="1500" dirty="0"/>
          </a:p>
        </p:txBody>
      </p:sp>
      <p:sp>
        <p:nvSpPr>
          <p:cNvPr id="16" name="Text 14"/>
          <p:cNvSpPr txBox="1"/>
          <p:nvPr/>
        </p:nvSpPr>
        <p:spPr>
          <a:xfrm>
            <a:off x="740664" y="3807968"/>
            <a:ext cx="2313432" cy="18796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avxef5783.asia.bankofamerica.com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10.158.139.78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(not reported)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05:56:09</a:t>
            </a:r>
            <a:endParaRPr lang="en-US" sz="1200" dirty="0"/>
          </a:p>
        </p:txBody>
      </p:sp>
      <p:sp>
        <p:nvSpPr>
          <p:cNvPr id="17" name="Text 15">
            <a:hlinkClick r:id="rId1" tooltip="https://bofasecopsdev.service-now.com/sn_sec_cmn_src_ci_list.do?sysparm_query=number=SDI000003799352"/>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79935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966720"/>
            <a:ext cx="4745736" cy="3434080"/>
          </a:xfrm>
          <a:prstGeom prst="roundRect">
            <a:avLst>
              <a:gd name="adj" fmla="val 1598"/>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12216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396488"/>
            <a:ext cx="457200" cy="0"/>
          </a:xfrm>
          <a:prstGeom prst="line">
            <a:avLst/>
          </a:prstGeom>
          <a:noFill/>
          <a:ln w="19050">
            <a:solidFill>
              <a:srgbClr val="E31837"/>
            </a:solidFill>
            <a:prstDash val="solid"/>
          </a:ln>
        </p:spPr>
      </p:sp>
      <p:sp>
        <p:nvSpPr>
          <p:cNvPr id="21" name="Text 19"/>
          <p:cNvSpPr txBox="1"/>
          <p:nvPr/>
        </p:nvSpPr>
        <p:spPr>
          <a:xfrm>
            <a:off x="3749040" y="3469640"/>
            <a:ext cx="4233672" cy="277571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OS guard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OS "not reported" gives no class: no server or desktop class, the search runs</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Name searched in IP Phone and Imaging Hardware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cmdb_ci_ip_phone: 1 record: AVXEF5783 [ip_phone] ip 10.158.139.153 | cmdb_ci_imaging_hardware: 0 records</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one device, accepted</a:t>
            </a:r>
            <a:endParaRPr lang="en-US" sz="1300" dirty="0"/>
          </a:p>
        </p:txBody>
      </p:sp>
      <p:sp>
        <p:nvSpPr>
          <p:cNvPr id="22" name="Shape 20"/>
          <p:cNvSpPr/>
          <p:nvPr/>
        </p:nvSpPr>
        <p:spPr>
          <a:xfrm>
            <a:off x="8439912" y="2966720"/>
            <a:ext cx="3246120" cy="343408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131312"/>
            <a:ext cx="64008" cy="3104896"/>
          </a:xfrm>
          <a:prstGeom prst="rect">
            <a:avLst/>
          </a:prstGeom>
          <a:solidFill>
            <a:srgbClr val="E31837"/>
          </a:solidFill>
          <a:ln w="12700">
            <a:solidFill>
              <a:srgbClr val="333333"/>
            </a:solidFill>
            <a:prstDash val="solid"/>
          </a:ln>
        </p:spPr>
      </p:sp>
      <p:sp>
        <p:nvSpPr>
          <p:cNvPr id="24" name="Text 22"/>
          <p:cNvSpPr txBox="1"/>
          <p:nvPr/>
        </p:nvSpPr>
        <p:spPr>
          <a:xfrm>
            <a:off x="8714232" y="312216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396488"/>
            <a:ext cx="457200" cy="0"/>
          </a:xfrm>
          <a:prstGeom prst="line">
            <a:avLst/>
          </a:prstGeom>
          <a:noFill/>
          <a:ln w="19050">
            <a:solidFill>
              <a:srgbClr val="E31837"/>
            </a:solidFill>
            <a:prstDash val="solid"/>
          </a:ln>
        </p:spPr>
      </p:sp>
      <p:sp>
        <p:nvSpPr>
          <p:cNvPr id="26" name="Text 24"/>
          <p:cNvSpPr txBox="1"/>
          <p:nvPr/>
        </p:nvSpPr>
        <p:spPr>
          <a:xfrm>
            <a:off x="8714232" y="344220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AVXEF5783</a:t>
            </a:r>
            <a:endParaRPr lang="en-US" sz="1500" dirty="0"/>
          </a:p>
        </p:txBody>
      </p:sp>
      <p:sp>
        <p:nvSpPr>
          <p:cNvPr id="27" name="Text 25"/>
          <p:cNvSpPr txBox="1"/>
          <p:nvPr/>
        </p:nvSpPr>
        <p:spPr>
          <a:xfrm>
            <a:off x="8714232" y="376224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IP Phone</a:t>
            </a:r>
            <a:endParaRPr lang="en-US" sz="1100" dirty="0"/>
          </a:p>
        </p:txBody>
      </p:sp>
      <p:sp>
        <p:nvSpPr>
          <p:cNvPr id="28" name="Text 26"/>
          <p:cNvSpPr txBox="1"/>
          <p:nvPr/>
        </p:nvSpPr>
        <p:spPr>
          <a:xfrm>
            <a:off x="8714232" y="4082288"/>
            <a:ext cx="2715768" cy="16052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10.158.139.153</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21WZ504005PW</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MAC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c8:1f:ea:ef:57:83</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Avaya J100 Series J179</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ip_phone.do?sys_id=19b683b83b4e2254860863b693e45a0e"/>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19b683b83b4e2254860863b693e45a0e"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415  ·  DEVICE NAME MATCH  ·  EXAMPLE 2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avxef5783.asia.bankofamerica.com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e024670c2bebc710a277fab2f291bf2a" history="1" highlightClick="0" endSnd="0">
                  <a:extLst>
                    <a:ext uri="{A12FA001-AC4F-418D-AE19-62706E023703}">
                      <ahyp:hlinkClr xmlns:ahyp="http://schemas.microsoft.com/office/drawing/2018/hyperlinkcolor" val="tx"/>
                    </a:ext>
                  </a:extLst>
                </a:hlinkClick>
              </a:rPr>
              <a:t>SDI000003799352</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725622123b9b4310e973496ea5e45abb" history="1" highlightClick="0" endSnd="0">
                  <a:extLst>
                    <a:ext uri="{A12FA001-AC4F-418D-AE19-62706E023703}">
                      <ahyp:hlinkClr xmlns:ahyp="http://schemas.microsoft.com/office/drawing/2018/hyperlinkcolor" val="tx"/>
                    </a:ext>
                  </a:extLst>
                </a:hlinkClick>
              </a:rPr>
              <a:t>BOFA Device Name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ip_phone.do?sys_id=19b683b83b4e2254860863b693e45a0e" history="1" highlightClick="0" endSnd="0">
                  <a:extLst>
                    <a:ext uri="{A12FA001-AC4F-418D-AE19-62706E023703}">
                      <ahyp:hlinkClr xmlns:ahyp="http://schemas.microsoft.com/office/drawing/2018/hyperlinkcolor" val="tx"/>
                    </a:ext>
                  </a:extLst>
                </a:hlinkClick>
              </a:rPr>
              <a:t>AVXEF5783</a:t>
            </a:r>
            <a:endParaRPr lang="en-US" sz="1000" dirty="0"/>
          </a:p>
        </p:txBody>
      </p:sp>
      <p:graphicFrame>
        <p:nvGraphicFramePr>
          <p:cNvPr id="107"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OS guard</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classFor(OS): a server or desktop class means the host is a computer and the rule declines; a phone word in the OS, a Linux fingerprint or no class lets the search run.</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OS "not reported" gives no class: no server or desktop class, the search runs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Name searched in IP Phone and Imaging Hardware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Two queries: name equal to the label on IP Phone (cmdb_ci_ip_phone) and on Imaging Hardware (cmdb_ci_imaging_hardware), ignored classes left out.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cmdb_ci_ip_phone: 1 record: AVXEF5783 [ip_phone] ip 10.158.139.153 | cmdb_ci_imaging_hardware: 0 records</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ip_phone_list.do?sysparm_query=name%3Davxef5783" history="1" highlightClick="0" endSnd="0">
                            <a:extLst>
                              <a:ext uri="{A12FA001-AC4F-418D-AE19-62706E023703}">
                                <ahyp:hlinkClr xmlns:ahyp="http://schemas.microsoft.com/office/drawing/2018/hyperlinkcolor" val="tx"/>
                              </a:ext>
                            </a:extLst>
                          </a:hlinkClick>
                        </a:rPr>
                        <a:t>IP Phone: name=avxef5783</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ip_phone.do?sys_id=19b683b83b4e2254860863b693e45a0e" history="1" highlightClick="0" endSnd="0">
                            <a:extLst>
                              <a:ext uri="{A12FA001-AC4F-418D-AE19-62706E023703}">
                                <ahyp:hlinkClr xmlns:ahyp="http://schemas.microsoft.com/office/drawing/2018/hyperlinkcolor" val="tx"/>
                              </a:ext>
                            </a:extLst>
                          </a:hlinkClick>
                        </a:rPr>
                        <a:t>AVXEF5783</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imaging_hardware_list.do?sysparm_query=name%3Davxef5783" history="1" highlightClick="0" endSnd="0">
                            <a:extLst>
                              <a:ext uri="{A12FA001-AC4F-418D-AE19-62706E023703}">
                                <ahyp:hlinkClr xmlns:ahyp="http://schemas.microsoft.com/office/drawing/2018/hyperlinkcolor" val="tx"/>
                              </a:ext>
                            </a:extLst>
                          </a:hlinkClick>
                        </a:rPr>
                        <a:t>Imaging Hardware: name=avxef5783</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Decision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device is returned; several fall back to the one on the scanned address; none, or a tie, give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one device, accepted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415  ·  DEVICE NAME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avxf1efdf.asia.bankofamerica.com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ip_phone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375664"/>
          </a:xfrm>
          <a:prstGeom prst="roundRect">
            <a:avLst>
              <a:gd name="adj" fmla="val 3988"/>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86360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"avxf1efdf"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(OS "not reported" gives no class / no record in the hardware tree carries the fqdn)  ·  name + domain (OS "not reported" gives no class / no record named "avxf1efdf")  ·  layered DNS (no DNS Name record for "avxf1efdf.asia.bankofamerica.com")  ·  host name (OS "not reported" gives no class / no record in the hardware tree named "avxf1efdf")</a:t>
            </a:r>
            <a:endParaRPr lang="en-US" sz="1100" dirty="0"/>
          </a:p>
        </p:txBody>
      </p:sp>
      <p:sp>
        <p:nvSpPr>
          <p:cNvPr id="12" name="Shape 10"/>
          <p:cNvSpPr/>
          <p:nvPr/>
        </p:nvSpPr>
        <p:spPr>
          <a:xfrm>
            <a:off x="502920" y="2966720"/>
            <a:ext cx="2788920" cy="343408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12216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396488"/>
            <a:ext cx="457200" cy="0"/>
          </a:xfrm>
          <a:prstGeom prst="line">
            <a:avLst/>
          </a:prstGeom>
          <a:noFill/>
          <a:ln w="19050">
            <a:solidFill>
              <a:srgbClr val="E31837"/>
            </a:solidFill>
            <a:prstDash val="solid"/>
          </a:ln>
        </p:spPr>
      </p:sp>
      <p:sp>
        <p:nvSpPr>
          <p:cNvPr id="15" name="Text 13"/>
          <p:cNvSpPr txBox="1"/>
          <p:nvPr/>
        </p:nvSpPr>
        <p:spPr>
          <a:xfrm>
            <a:off x="740664" y="344220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SDI000003799469</a:t>
            </a:r>
            <a:endParaRPr lang="en-US" sz="1500" dirty="0"/>
          </a:p>
        </p:txBody>
      </p:sp>
      <p:sp>
        <p:nvSpPr>
          <p:cNvPr id="16" name="Text 14"/>
          <p:cNvSpPr txBox="1"/>
          <p:nvPr/>
        </p:nvSpPr>
        <p:spPr>
          <a:xfrm>
            <a:off x="740664" y="3807968"/>
            <a:ext cx="2313432" cy="18796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avxf1efdf.asia.bankofamerica.com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10.163.73.213</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(not reported)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05:55:59</a:t>
            </a:r>
            <a:endParaRPr lang="en-US" sz="1200" dirty="0"/>
          </a:p>
        </p:txBody>
      </p:sp>
      <p:sp>
        <p:nvSpPr>
          <p:cNvPr id="17" name="Text 15">
            <a:hlinkClick r:id="rId1" tooltip="https://bofasecopsdev.service-now.com/sn_sec_cmn_src_ci_list.do?sysparm_query=number=SDI000003799469"/>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79946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966720"/>
            <a:ext cx="4745736" cy="3434080"/>
          </a:xfrm>
          <a:prstGeom prst="roundRect">
            <a:avLst>
              <a:gd name="adj" fmla="val 1598"/>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12216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396488"/>
            <a:ext cx="457200" cy="0"/>
          </a:xfrm>
          <a:prstGeom prst="line">
            <a:avLst/>
          </a:prstGeom>
          <a:noFill/>
          <a:ln w="19050">
            <a:solidFill>
              <a:srgbClr val="E31837"/>
            </a:solidFill>
            <a:prstDash val="solid"/>
          </a:ln>
        </p:spPr>
      </p:sp>
      <p:sp>
        <p:nvSpPr>
          <p:cNvPr id="21" name="Text 19"/>
          <p:cNvSpPr txBox="1"/>
          <p:nvPr/>
        </p:nvSpPr>
        <p:spPr>
          <a:xfrm>
            <a:off x="3749040" y="3469640"/>
            <a:ext cx="4233672" cy="277571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OS guard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OS "not reported" gives no class: no server or desktop class, the search runs</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Name searched in IP Phone and Imaging Hardware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cmdb_ci_ip_phone: 1 record: AVXF1EFDF [ip_phone] ip 10.163.73.124 | cmdb_ci_imaging_hardware: 0 records</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one device, accepted</a:t>
            </a:r>
            <a:endParaRPr lang="en-US" sz="1300" dirty="0"/>
          </a:p>
        </p:txBody>
      </p:sp>
      <p:sp>
        <p:nvSpPr>
          <p:cNvPr id="22" name="Shape 20"/>
          <p:cNvSpPr/>
          <p:nvPr/>
        </p:nvSpPr>
        <p:spPr>
          <a:xfrm>
            <a:off x="8439912" y="2966720"/>
            <a:ext cx="3246120" cy="343408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131312"/>
            <a:ext cx="64008" cy="3104896"/>
          </a:xfrm>
          <a:prstGeom prst="rect">
            <a:avLst/>
          </a:prstGeom>
          <a:solidFill>
            <a:srgbClr val="E31837"/>
          </a:solidFill>
          <a:ln w="12700">
            <a:solidFill>
              <a:srgbClr val="333333"/>
            </a:solidFill>
            <a:prstDash val="solid"/>
          </a:ln>
        </p:spPr>
      </p:sp>
      <p:sp>
        <p:nvSpPr>
          <p:cNvPr id="24" name="Text 22"/>
          <p:cNvSpPr txBox="1"/>
          <p:nvPr/>
        </p:nvSpPr>
        <p:spPr>
          <a:xfrm>
            <a:off x="8714232" y="312216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396488"/>
            <a:ext cx="457200" cy="0"/>
          </a:xfrm>
          <a:prstGeom prst="line">
            <a:avLst/>
          </a:prstGeom>
          <a:noFill/>
          <a:ln w="19050">
            <a:solidFill>
              <a:srgbClr val="E31837"/>
            </a:solidFill>
            <a:prstDash val="solid"/>
          </a:ln>
        </p:spPr>
      </p:sp>
      <p:sp>
        <p:nvSpPr>
          <p:cNvPr id="26" name="Text 24"/>
          <p:cNvSpPr txBox="1"/>
          <p:nvPr/>
        </p:nvSpPr>
        <p:spPr>
          <a:xfrm>
            <a:off x="8714232" y="344220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AVXF1EFDF</a:t>
            </a:r>
            <a:endParaRPr lang="en-US" sz="1500" dirty="0"/>
          </a:p>
        </p:txBody>
      </p:sp>
      <p:sp>
        <p:nvSpPr>
          <p:cNvPr id="27" name="Text 25"/>
          <p:cNvSpPr txBox="1"/>
          <p:nvPr/>
        </p:nvSpPr>
        <p:spPr>
          <a:xfrm>
            <a:off x="8714232" y="376224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IP Phone</a:t>
            </a:r>
            <a:endParaRPr lang="en-US" sz="1100" dirty="0"/>
          </a:p>
        </p:txBody>
      </p:sp>
      <p:sp>
        <p:nvSpPr>
          <p:cNvPr id="28" name="Text 26"/>
          <p:cNvSpPr txBox="1"/>
          <p:nvPr/>
        </p:nvSpPr>
        <p:spPr>
          <a:xfrm>
            <a:off x="8714232" y="4082288"/>
            <a:ext cx="2715768" cy="16052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10.163.73.124</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22WZ035007YL</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MAC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c8:1f:ea:f1:ef:df</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Avaya J100 Series J179</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ip_phone.do?sys_id=50f767343bce6254860863b693e45a2b"/>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50f767343bce6254860863b693e45a2b"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415  ·  DEVICE NAME MATCH  ·  EXAMPLE 3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avxf1efdf.asia.bankofamerica.com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39e867883b6b47102fcecefe23e45a7f" history="1" highlightClick="0" endSnd="0">
                  <a:extLst>
                    <a:ext uri="{A12FA001-AC4F-418D-AE19-62706E023703}">
                      <ahyp:hlinkClr xmlns:ahyp="http://schemas.microsoft.com/office/drawing/2018/hyperlinkcolor" val="tx"/>
                    </a:ext>
                  </a:extLst>
                </a:hlinkClick>
              </a:rPr>
              <a:t>SDI000003799469</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725622123b9b4310e973496ea5e45abb" history="1" highlightClick="0" endSnd="0">
                  <a:extLst>
                    <a:ext uri="{A12FA001-AC4F-418D-AE19-62706E023703}">
                      <ahyp:hlinkClr xmlns:ahyp="http://schemas.microsoft.com/office/drawing/2018/hyperlinkcolor" val="tx"/>
                    </a:ext>
                  </a:extLst>
                </a:hlinkClick>
              </a:rPr>
              <a:t>BOFA Device Name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ip_phone.do?sys_id=50f767343bce6254860863b693e45a2b" history="1" highlightClick="0" endSnd="0">
                  <a:extLst>
                    <a:ext uri="{A12FA001-AC4F-418D-AE19-62706E023703}">
                      <ahyp:hlinkClr xmlns:ahyp="http://schemas.microsoft.com/office/drawing/2018/hyperlinkcolor" val="tx"/>
                    </a:ext>
                  </a:extLst>
                </a:hlinkClick>
              </a:rPr>
              <a:t>AVXF1EFDF</a:t>
            </a:r>
            <a:endParaRPr lang="en-US" sz="1000" dirty="0"/>
          </a:p>
        </p:txBody>
      </p:sp>
      <p:graphicFrame>
        <p:nvGraphicFramePr>
          <p:cNvPr id="109"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OS guard</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classFor(OS): a server or desktop class means the host is a computer and the rule declines; a phone word in the OS, a Linux fingerprint or no class lets the search run.</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OS "not reported" gives no class: no server or desktop class, the search runs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Name searched in IP Phone and Imaging Hardware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Two queries: name equal to the label on IP Phone (cmdb_ci_ip_phone) and on Imaging Hardware (cmdb_ci_imaging_hardware), ignored classes left out.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cmdb_ci_ip_phone: 1 record: AVXF1EFDF [ip_phone] ip 10.163.73.124 | cmdb_ci_imaging_hardware: 0 records</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ip_phone_list.do?sysparm_query=name%3Davxf1efdf" history="1" highlightClick="0" endSnd="0">
                            <a:extLst>
                              <a:ext uri="{A12FA001-AC4F-418D-AE19-62706E023703}">
                                <ahyp:hlinkClr xmlns:ahyp="http://schemas.microsoft.com/office/drawing/2018/hyperlinkcolor" val="tx"/>
                              </a:ext>
                            </a:extLst>
                          </a:hlinkClick>
                        </a:rPr>
                        <a:t>IP Phone: name=avxf1efdf</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ip_phone.do?sys_id=50f767343bce6254860863b693e45a2b" history="1" highlightClick="0" endSnd="0">
                            <a:extLst>
                              <a:ext uri="{A12FA001-AC4F-418D-AE19-62706E023703}">
                                <ahyp:hlinkClr xmlns:ahyp="http://schemas.microsoft.com/office/drawing/2018/hyperlinkcolor" val="tx"/>
                              </a:ext>
                            </a:extLst>
                          </a:hlinkClick>
                        </a:rPr>
                        <a:t>AVXF1EFDF</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imaging_hardware_list.do?sysparm_query=name%3Davxf1efdf" history="1" highlightClick="0" endSnd="0">
                            <a:extLst>
                              <a:ext uri="{A12FA001-AC4F-418D-AE19-62706E023703}">
                                <ahyp:hlinkClr xmlns:ahyp="http://schemas.microsoft.com/office/drawing/2018/hyperlinkcolor" val="tx"/>
                              </a:ext>
                            </a:extLst>
                          </a:hlinkClick>
                        </a:rPr>
                        <a:t>Imaging Hardware: name=avxf1efdf</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Decision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device is returned; several fall back to the one on the scanned address; none, or a tie, give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one device, accepted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420  ·  CONTROLLERS, INTERFACES, VIRTUAL SERVERS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Management Interface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164080"/>
          </a:xfrm>
          <a:prstGeom prst="roundRect">
            <a:avLst>
              <a:gd name="adj" fmla="val 25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8348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5240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DNS label of a server management controller (HP iLO, Oracle ILOM, Dell iDRAC, IBM IMM, Cisco CIMC, generic BMC or IPMI), which is the server name plus a controller suffix, and returns the server CI named by the label without that suffix.</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after the hostname rules because they have already shown that no CI carries the full controller label, and before the interface-name rule so that a '-mgmt' controller resolves to its server before any prefix walk on network devices.</a:t>
            </a:r>
            <a:endParaRPr lang="en-US" sz="1500" dirty="0"/>
          </a:p>
        </p:txBody>
      </p:sp>
      <p:sp>
        <p:nvSpPr>
          <p:cNvPr id="13" name="Shape 11"/>
          <p:cNvSpPr/>
          <p:nvPr/>
        </p:nvSpPr>
        <p:spPr>
          <a:xfrm>
            <a:off x="502920" y="3837432"/>
            <a:ext cx="6933529" cy="2563368"/>
          </a:xfrm>
          <a:prstGeom prst="roundRect">
            <a:avLst>
              <a:gd name="adj" fmla="val 214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40203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294632"/>
            <a:ext cx="457200" cy="0"/>
          </a:xfrm>
          <a:prstGeom prst="line">
            <a:avLst/>
          </a:prstGeom>
          <a:noFill/>
          <a:ln w="19050">
            <a:solidFill>
              <a:srgbClr val="E31837"/>
            </a:solidFill>
            <a:prstDash val="solid"/>
          </a:ln>
        </p:spPr>
      </p:sp>
      <p:sp>
        <p:nvSpPr>
          <p:cNvPr id="16" name="Text 14"/>
          <p:cNvSpPr txBox="1"/>
          <p:nvPr/>
        </p:nvSpPr>
        <p:spPr>
          <a:xfrm>
            <a:off x="822960" y="4386072"/>
            <a:ext cx="6293449" cy="1831848"/>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DNS (sourceValue). Payload field OS (sourcePayload.OS), lower-cased, empty when absent, used only for the controller marker words. IP and SERIAL_NUMBER are not read.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one record of cmdb_ci_hardware or any class beneath it (outside sn_sec_cmn.ignoreCIClass and not a cmdb_ci_lb record or a class beneath cmdb_ci_lb) whose name equals the label with its last hyphen segment removed; null in every other case.</a:t>
            </a:r>
            <a:endParaRPr lang="en-US" sz="1400" dirty="0"/>
          </a:p>
        </p:txBody>
      </p:sp>
      <p:sp>
        <p:nvSpPr>
          <p:cNvPr id="17" name="Shape 15"/>
          <p:cNvSpPr/>
          <p:nvPr/>
        </p:nvSpPr>
        <p:spPr>
          <a:xfrm>
            <a:off x="7665049" y="3837432"/>
            <a:ext cx="4020983" cy="2563368"/>
          </a:xfrm>
          <a:prstGeom prst="roundRect">
            <a:avLst>
              <a:gd name="adj" fmla="val 214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40203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294632"/>
            <a:ext cx="457200" cy="0"/>
          </a:xfrm>
          <a:prstGeom prst="line">
            <a:avLst/>
          </a:prstGeom>
          <a:noFill/>
          <a:ln w="19050">
            <a:solidFill>
              <a:srgbClr val="E31837"/>
            </a:solidFill>
            <a:prstDash val="solid"/>
          </a:ln>
        </p:spPr>
      </p:sp>
      <p:sp>
        <p:nvSpPr>
          <p:cNvPr id="20" name="Text 18"/>
          <p:cNvSpPr txBox="1"/>
          <p:nvPr/>
        </p:nvSpPr>
        <p:spPr>
          <a:xfrm>
            <a:off x="7985089" y="4386072"/>
            <a:ext cx="3380903" cy="826008"/>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Device Name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Network Interface Name Match</a:t>
            </a:r>
            <a:endParaRPr lang="en-US" sz="1300" dirty="0"/>
          </a:p>
        </p:txBody>
      </p:sp>
      <p:sp>
        <p:nvSpPr>
          <p:cNvPr id="21" name="Text 19"/>
          <p:cNvSpPr txBox="1"/>
          <p:nvPr/>
        </p:nvSpPr>
        <p:spPr>
          <a:xfrm>
            <a:off x="7985089" y="5303520"/>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9,556</a:t>
            </a:r>
            <a:endParaRPr lang="en-US" sz="2800" dirty="0"/>
          </a:p>
        </p:txBody>
      </p:sp>
      <p:sp>
        <p:nvSpPr>
          <p:cNvPr id="22" name="Text 20"/>
          <p:cNvSpPr txBox="1"/>
          <p:nvPr/>
        </p:nvSpPr>
        <p:spPr>
          <a:xfrm>
            <a:off x="7985089" y="5870448"/>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420  ·  CONTROLLERS, INTERFACES, VIRTUAL SERVERS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Management Interface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5540"/>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1   Guard the input.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Returns null when sourceValue is empty. Otherwise coerces it to a string, trims it and lower-cases it; the label is the text before the first dot, so the domain part never takes part in the match.</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2   Locate the last hyphen.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dash is the position of the last hyphen in the label; the rule declines when dash is below 1, that is no hyphen at all or a hyphen in first position. Exactly one segment, the one after that hyphen, can ever be stripped.</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3   Read OS text and the ignore list.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os is sourcePayload.OS coerced to a string (empty when absent) and lower-cased; sourcePayload itself is not guarded. ignore is _ignoreClass when the framework fills it, else gs.getProperty('sn_sec_cmn.ignoreCIClass', ''). The IP field is never read.</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4   Controller sign and the server name.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tail is the segment after the last hyphen. If tail is in suffixes, base is the label up to that hyphen. Otherwise, if any markers entry is a substring of os, base is the same cut whatever the tail. Neither sign: base stays empty, null is returned.</a:t>
            </a:r>
            <a:endParaRPr lang="en-US" sz="1350" dirty="0"/>
          </a:p>
        </p:txBody>
      </p:sp>
      <p:sp>
        <p:nvSpPr>
          <p:cNvPr id="10" name="Text 8"/>
          <p:cNvSpPr txBox="1"/>
          <p:nvPr/>
        </p:nvSpPr>
        <p:spPr>
          <a:xfrm>
            <a:off x="6277356"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5   Search the whole hardware tree by name.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One GlideRecord on cmdb_ci_hardware with addQuery('name', base) and, when ignore is non-empty, addQuery('sys_class_name', 'NOT IN', ignore). No setLimit, no active, status, address or OS condition; Hardware itself and every class beneath it are included.</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6   Decide exactly one.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If next() is false the rule returns null. The first row's sys_id is taken with getUniqueValue(); if hasNext() is then true a second CI carries the server name and the rule returns null rather than choose. Retired records count like any other row.</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7   Refuse a load balancer.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A GlideRecord on cmdb_ci_lb is opened; when the table is valid and get(match) finds the chosen sys_id there (cmdb_ci_lb or a class beneath it) the rule returns null. An invalid table skips the check. Otherwise the sys_id is returned as the match.</a:t>
            </a:r>
            <a:endParaRPr lang="en-US" sz="13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420  ·  CONTROLLERS, INTERFACES, VIRTUAL SERVERS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Management Interface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834640"/>
          </a:xfrm>
          <a:prstGeom prst="roundRect">
            <a:avLst>
              <a:gd name="adj" fmla="val 19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5054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1945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label has no hyphen, or its only hyphen is in first position (lastIndexOf('-') &lt; 1)</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last segment is not in suffixes and no markers word appears as a substring of the OS text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cmdb_ci_hardware row outside the ignore classes is named like the stripped label</a:t>
            </a:r>
            <a:endParaRPr lang="en-US" sz="1500" dirty="0"/>
          </a:p>
        </p:txBody>
      </p:sp>
      <p:sp>
        <p:nvSpPr>
          <p:cNvPr id="13" name="Text 11"/>
          <p:cNvSpPr txBox="1"/>
          <p:nvPr/>
        </p:nvSpPr>
        <p:spPr>
          <a:xfrm>
            <a:off x="6277356" y="1975104"/>
            <a:ext cx="5088636" cy="21945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cmdb_ci_hardware rows carry the stripped name (hasNext() true after the first)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single row found is a record of cmdb_ci_lb or a class beneath it (load balancer device)</a:t>
            </a:r>
            <a:endParaRPr lang="en-US" sz="1500" dirty="0"/>
          </a:p>
        </p:txBody>
      </p:sp>
      <p:sp>
        <p:nvSpPr>
          <p:cNvPr id="14" name="Shape 12"/>
          <p:cNvSpPr/>
          <p:nvPr/>
        </p:nvSpPr>
        <p:spPr>
          <a:xfrm>
            <a:off x="502920" y="45079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5079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Network Interface Name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420  ·  MANAGEMENT INTERFACE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lva10regbxch0j-r.ecomm.device.rpg</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os word / linux_server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543304"/>
          </a:xfrm>
          <a:prstGeom prst="roundRect">
            <a:avLst>
              <a:gd name="adj" fmla="val 355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03124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"lva10regbxch0j-r"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(OS "Integrated Dell Remote Access Controller" gives no class / no record in the hardware tree carries the fqdn)  ·  name + domain (OS "Integrated Dell Remote Access Controller" gives no class / no record named "lva10regbxch0j-r")  ·  layered DNS (no DNS Name record for "lva10regbxch0j-r.ecomm.device.rpg")  ·  host name (OS "Integrated Dell Remote Access Controller" gives no class / no record in the hardware tree named "lva10regbxch0j-r")  ·  device name (none named "lva10regbxch0j-r" in IP Phone or Imaging Hardware)</a:t>
            </a:r>
            <a:endParaRPr lang="en-US" sz="1100" dirty="0"/>
          </a:p>
        </p:txBody>
      </p:sp>
      <p:sp>
        <p:nvSpPr>
          <p:cNvPr id="12" name="Shape 10"/>
          <p:cNvSpPr/>
          <p:nvPr/>
        </p:nvSpPr>
        <p:spPr>
          <a:xfrm>
            <a:off x="502920" y="3134360"/>
            <a:ext cx="2788920" cy="326644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28980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564128"/>
            <a:ext cx="457200" cy="0"/>
          </a:xfrm>
          <a:prstGeom prst="line">
            <a:avLst/>
          </a:prstGeom>
          <a:noFill/>
          <a:ln w="19050">
            <a:solidFill>
              <a:srgbClr val="E31837"/>
            </a:solidFill>
            <a:prstDash val="solid"/>
          </a:ln>
        </p:spPr>
      </p:sp>
      <p:sp>
        <p:nvSpPr>
          <p:cNvPr id="15" name="Text 13"/>
          <p:cNvSpPr txBox="1"/>
          <p:nvPr/>
        </p:nvSpPr>
        <p:spPr>
          <a:xfrm>
            <a:off x="740664" y="360984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SDI000002647592</a:t>
            </a:r>
            <a:endParaRPr lang="en-US" sz="1500" dirty="0"/>
          </a:p>
        </p:txBody>
      </p:sp>
      <p:sp>
        <p:nvSpPr>
          <p:cNvPr id="16" name="Text 14"/>
          <p:cNvSpPr txBox="1"/>
          <p:nvPr/>
        </p:nvSpPr>
        <p:spPr>
          <a:xfrm>
            <a:off x="740664" y="3975608"/>
            <a:ext cx="2313432" cy="171196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lva10regbxch0j-r.ecomm.device.rpg</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10.41.200.226</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Integrated Dell Remote Access Controller</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05:55:07</a:t>
            </a:r>
            <a:endParaRPr lang="en-US" sz="1200" dirty="0"/>
          </a:p>
        </p:txBody>
      </p:sp>
      <p:sp>
        <p:nvSpPr>
          <p:cNvPr id="17" name="Text 15">
            <a:hlinkClick r:id="rId1" tooltip="https://bofasecopsdev.service-now.com/sn_sec_cmn_src_ci_list.do?sysparm_query=number=SDI000002647592"/>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64759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134360"/>
            <a:ext cx="4745736" cy="3266440"/>
          </a:xfrm>
          <a:prstGeom prst="roundRect">
            <a:avLst>
              <a:gd name="adj" fmla="val 168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28980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564128"/>
            <a:ext cx="457200" cy="0"/>
          </a:xfrm>
          <a:prstGeom prst="line">
            <a:avLst/>
          </a:prstGeom>
          <a:noFill/>
          <a:ln w="19050">
            <a:solidFill>
              <a:srgbClr val="E31837"/>
            </a:solidFill>
            <a:prstDash val="solid"/>
          </a:ln>
        </p:spPr>
      </p:sp>
      <p:sp>
        <p:nvSpPr>
          <p:cNvPr id="21" name="Text 19"/>
          <p:cNvSpPr txBox="1"/>
          <p:nvPr/>
        </p:nvSpPr>
        <p:spPr>
          <a:xfrm>
            <a:off x="3749040" y="3637280"/>
            <a:ext cx="4233672" cy="260807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Controller sign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OS word "remote access controller" on "lva10regbxch0j-r"; server name "lva10regbxch0j"</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server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lva10regbxch0j [linux_server] ip 171.155.93.82 -&gt; exactly one, accepted</a:t>
            </a:r>
            <a:endParaRPr lang="en-US" sz="1300" dirty="0"/>
          </a:p>
        </p:txBody>
      </p:sp>
      <p:sp>
        <p:nvSpPr>
          <p:cNvPr id="22" name="Shape 20"/>
          <p:cNvSpPr/>
          <p:nvPr/>
        </p:nvSpPr>
        <p:spPr>
          <a:xfrm>
            <a:off x="8439912" y="3134360"/>
            <a:ext cx="3246120" cy="326644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298952"/>
            <a:ext cx="64008" cy="2937256"/>
          </a:xfrm>
          <a:prstGeom prst="rect">
            <a:avLst/>
          </a:prstGeom>
          <a:solidFill>
            <a:srgbClr val="E31837"/>
          </a:solidFill>
          <a:ln w="12700">
            <a:solidFill>
              <a:srgbClr val="333333"/>
            </a:solidFill>
            <a:prstDash val="solid"/>
          </a:ln>
        </p:spPr>
      </p:sp>
      <p:sp>
        <p:nvSpPr>
          <p:cNvPr id="24" name="Text 22"/>
          <p:cNvSpPr txBox="1"/>
          <p:nvPr/>
        </p:nvSpPr>
        <p:spPr>
          <a:xfrm>
            <a:off x="8714232" y="328980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564128"/>
            <a:ext cx="457200" cy="0"/>
          </a:xfrm>
          <a:prstGeom prst="line">
            <a:avLst/>
          </a:prstGeom>
          <a:noFill/>
          <a:ln w="19050">
            <a:solidFill>
              <a:srgbClr val="E31837"/>
            </a:solidFill>
            <a:prstDash val="solid"/>
          </a:ln>
        </p:spPr>
      </p:sp>
      <p:sp>
        <p:nvSpPr>
          <p:cNvPr id="26" name="Text 24"/>
          <p:cNvSpPr txBox="1"/>
          <p:nvPr/>
        </p:nvSpPr>
        <p:spPr>
          <a:xfrm>
            <a:off x="8714232" y="360984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lva10regbxch0j</a:t>
            </a:r>
            <a:endParaRPr lang="en-US" sz="1500" dirty="0"/>
          </a:p>
        </p:txBody>
      </p:sp>
      <p:sp>
        <p:nvSpPr>
          <p:cNvPr id="27" name="Text 25"/>
          <p:cNvSpPr txBox="1"/>
          <p:nvPr/>
        </p:nvSpPr>
        <p:spPr>
          <a:xfrm>
            <a:off x="8714232" y="392988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Linux Server</a:t>
            </a:r>
            <a:endParaRPr lang="en-US" sz="1100" dirty="0"/>
          </a:p>
        </p:txBody>
      </p:sp>
      <p:sp>
        <p:nvSpPr>
          <p:cNvPr id="28" name="Text 26"/>
          <p:cNvSpPr txBox="1"/>
          <p:nvPr/>
        </p:nvSpPr>
        <p:spPr>
          <a:xfrm>
            <a:off x="8714232" y="4249928"/>
            <a:ext cx="2715768" cy="1437640"/>
          </a:xfrm>
          <a:prstGeom prst="rect">
            <a:avLst/>
          </a:prstGeom>
          <a:noFill/>
          <a:ln/>
        </p:spPr>
        <p:txBody>
          <a:bodyPr wrap="square" lIns="0" tIns="0" rIns="0" bIns="0" rtlCol="0" anchor="t"/>
          <a:lstStyle/>
          <a:p>
            <a:pPr indent="0" marL="0">
              <a:buNone/>
            </a:pPr>
            <a:r>
              <a:rPr lang="en-US" sz="10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1050" dirty="0">
                <a:solidFill>
                  <a:srgbClr val="4D4F53"/>
                </a:solidFill>
                <a:latin typeface="Arial" pitchFamily="34" charset="0"/>
                <a:ea typeface="Arial" pitchFamily="34" charset="-122"/>
                <a:cs typeface="Arial" pitchFamily="34" charset="-120"/>
              </a:rPr>
              <a:t>lva10regbxch0j.ecomm.device.rpg</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050" dirty="0">
                <a:solidFill>
                  <a:srgbClr val="4D4F53"/>
                </a:solidFill>
                <a:latin typeface="Arial" pitchFamily="34" charset="0"/>
                <a:ea typeface="Arial" pitchFamily="34" charset="-122"/>
                <a:cs typeface="Arial" pitchFamily="34" charset="-120"/>
              </a:rPr>
              <a:t>ECOMM.DEVICE.RPG</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50" dirty="0">
                <a:solidFill>
                  <a:srgbClr val="4D4F53"/>
                </a:solidFill>
                <a:latin typeface="Arial" pitchFamily="34" charset="0"/>
                <a:ea typeface="Arial" pitchFamily="34" charset="-122"/>
                <a:cs typeface="Arial" pitchFamily="34" charset="-120"/>
              </a:rPr>
              <a:t>171.155.93.82</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050" dirty="0">
                <a:solidFill>
                  <a:srgbClr val="4D4F53"/>
                </a:solidFill>
                <a:latin typeface="Arial" pitchFamily="34" charset="0"/>
                <a:ea typeface="Arial" pitchFamily="34" charset="-122"/>
                <a:cs typeface="Arial" pitchFamily="34" charset="-120"/>
              </a:rPr>
              <a:t>4NYW2L3</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050" dirty="0">
                <a:solidFill>
                  <a:srgbClr val="4D4F53"/>
                </a:solidFill>
                <a:latin typeface="Arial" pitchFamily="34" charset="0"/>
                <a:ea typeface="Arial" pitchFamily="34" charset="-122"/>
                <a:cs typeface="Arial" pitchFamily="34" charset="-120"/>
              </a:rPr>
              <a:t>Dell Inc. PowerEdge R740xd</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050" dirty="0">
                <a:solidFill>
                  <a:srgbClr val="4D4F53"/>
                </a:solidFill>
                <a:latin typeface="Arial" pitchFamily="34" charset="0"/>
                <a:ea typeface="Arial" pitchFamily="34" charset="-122"/>
                <a:cs typeface="Arial" pitchFamily="34" charset="-120"/>
              </a:rPr>
              <a:t>Installed</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050" dirty="0">
                <a:solidFill>
                  <a:srgbClr val="4D4F53"/>
                </a:solidFill>
                <a:latin typeface="Arial" pitchFamily="34" charset="0"/>
                <a:ea typeface="Arial" pitchFamily="34" charset="-122"/>
                <a:cs typeface="Arial" pitchFamily="34" charset="-120"/>
              </a:rPr>
              <a:t>Operational</a:t>
            </a:r>
            <a:endParaRPr lang="en-US" sz="1050" dirty="0"/>
          </a:p>
        </p:txBody>
      </p:sp>
      <p:sp>
        <p:nvSpPr>
          <p:cNvPr id="29" name="Text 27">
            <a:hlinkClick r:id="rId2" tooltip="https://bofasecopsdev.service-now.com/cmdb_ci_linux_server.do?sys_id=a53749b02b062e54d28af8a4ce91bf65"/>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a53749b02b062e54d28af8a4ce91bf65"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420  ·  MANAGEMENT INTERFACE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lva10regbxch0j-r.ecomm.device.rpg</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918911a23bbe83180e435c8a04e45a8d" history="1" highlightClick="0" endSnd="0">
                  <a:extLst>
                    <a:ext uri="{A12FA001-AC4F-418D-AE19-62706E023703}">
                      <ahyp:hlinkClr xmlns:ahyp="http://schemas.microsoft.com/office/drawing/2018/hyperlinkcolor" val="tx"/>
                    </a:ext>
                  </a:extLst>
                </a:hlinkClick>
              </a:rPr>
              <a:t>SDI000002647592</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fdd5d3dc2b534350e76ff4bc4e91bf40" history="1" highlightClick="0" endSnd="0">
                  <a:extLst>
                    <a:ext uri="{A12FA001-AC4F-418D-AE19-62706E023703}">
                      <ahyp:hlinkClr xmlns:ahyp="http://schemas.microsoft.com/office/drawing/2018/hyperlinkcolor" val="tx"/>
                    </a:ext>
                  </a:extLst>
                </a:hlinkClick>
              </a:rPr>
              <a:t>BOFA Management Interface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linux_server.do?sys_id=a53749b02b062e54d28af8a4ce91bf65" history="1" highlightClick="0" endSnd="0">
                  <a:extLst>
                    <a:ext uri="{A12FA001-AC4F-418D-AE19-62706E023703}">
                      <ahyp:hlinkClr xmlns:ahyp="http://schemas.microsoft.com/office/drawing/2018/hyperlinkcolor" val="tx"/>
                    </a:ext>
                  </a:extLst>
                </a:hlinkClick>
              </a:rPr>
              <a:t>lva10regbxch0j</a:t>
            </a:r>
            <a:endParaRPr lang="en-US" sz="1000" dirty="0"/>
          </a:p>
        </p:txBody>
      </p:sp>
      <p:graphicFrame>
        <p:nvGraphicFramePr>
          <p:cNvPr id="114"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Controller sign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Cuts the label at its last hyphen: a controller suffix (ilo, ilom, idrac, drac, ipmi, bmc, oob, mgmt, imm, cimc, rmm, con) or a controller word in the OS text marks a management interface; the part before the hyphen is the server name.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OS word "remote access controller" on "lva10regbxch0j-r"; server name "lva10regbxch0j"</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server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the Hardware tree: name equal to the server name, ignored classes left out; exactly one row is returned, a load balancer device is refused.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lva10regbxch0j [linux_server] ip 171.155.93.82 -&gt;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hardware_list.do?sysparm_query=name%3Dlva10regbxch0j" history="1" highlightClick="0" endSnd="0">
                            <a:extLst>
                              <a:ext uri="{A12FA001-AC4F-418D-AE19-62706E023703}">
                                <ahyp:hlinkClr xmlns:ahyp="http://schemas.microsoft.com/office/drawing/2018/hyperlinkcolor" val="tx"/>
                              </a:ext>
                            </a:extLst>
                          </a:hlinkClick>
                        </a:rPr>
                        <a:t>Hardware: name=lva10regbxch0j</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linux_server.do?sys_id=a53749b02b062e54d28af8a4ce91bf65" history="1" highlightClick="0" endSnd="0">
                            <a:extLst>
                              <a:ext uri="{A12FA001-AC4F-418D-AE19-62706E023703}">
                                <ahyp:hlinkClr xmlns:ahyp="http://schemas.microsoft.com/office/drawing/2018/hyperlinkcolor" val="tx"/>
                              </a:ext>
                            </a:extLst>
                          </a:hlinkClick>
                        </a:rPr>
                        <a:t>lva10regbxch0j</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420  ·  MANAGEMENT INTERFACE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xvu46dbm07-ilom.sdi.corp.bankofamerica.com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suffix ilom / linux_server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761744"/>
          </a:xfrm>
          <a:prstGeom prst="roundRect">
            <a:avLst>
              <a:gd name="adj" fmla="val 311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2496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"xvu46dbm07-ilom"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layered DNS (no DNS Name record for "xvu46dbm07-ilom.sdi.corp.bankofamerica.com")  ·  device name (none named "xvu46dbm07-ilom" in IP Phone or Imaging Hardware)</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name + domain (no record named "xvu46dbm07-ilom" / 1 named "xvu46dbm07-ilom", none with the domain "sdi.corp.bankofamerica.com")  ·  host name (no record in linux_server named "xvu46dbm07-ilom" / 1 record in the hardware tree named "xvu46dbm07-ilom" (class outofband_device disagrees with the OS))</a:t>
            </a:r>
            <a:endParaRPr lang="en-US" sz="1100" dirty="0"/>
          </a:p>
        </p:txBody>
      </p:sp>
      <p:sp>
        <p:nvSpPr>
          <p:cNvPr id="12" name="Shape 10"/>
          <p:cNvSpPr/>
          <p:nvPr/>
        </p:nvSpPr>
        <p:spPr>
          <a:xfrm>
            <a:off x="502920" y="3352800"/>
            <a:ext cx="2788920" cy="30480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5082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782568"/>
            <a:ext cx="457200" cy="0"/>
          </a:xfrm>
          <a:prstGeom prst="line">
            <a:avLst/>
          </a:prstGeom>
          <a:noFill/>
          <a:ln w="19050">
            <a:solidFill>
              <a:srgbClr val="E31837"/>
            </a:solidFill>
            <a:prstDash val="solid"/>
          </a:ln>
        </p:spPr>
      </p:sp>
      <p:sp>
        <p:nvSpPr>
          <p:cNvPr id="15" name="Text 13"/>
          <p:cNvSpPr txBox="1"/>
          <p:nvPr/>
        </p:nvSpPr>
        <p:spPr>
          <a:xfrm>
            <a:off x="740664" y="38282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SDI000002530819</a:t>
            </a:r>
            <a:endParaRPr lang="en-US" sz="1500" dirty="0"/>
          </a:p>
        </p:txBody>
      </p:sp>
      <p:sp>
        <p:nvSpPr>
          <p:cNvPr id="16" name="Text 14"/>
          <p:cNvSpPr txBox="1"/>
          <p:nvPr/>
        </p:nvSpPr>
        <p:spPr>
          <a:xfrm>
            <a:off x="740664" y="4194048"/>
            <a:ext cx="2313432" cy="1493520"/>
          </a:xfrm>
          <a:prstGeom prst="rect">
            <a:avLst/>
          </a:prstGeom>
          <a:noFill/>
          <a:ln/>
        </p:spPr>
        <p:txBody>
          <a:bodyPr wrap="square" lIns="0" tIns="0" rIns="0" bIns="0" rtlCol="0" anchor="t"/>
          <a:lstStyle/>
          <a:p>
            <a:pPr indent="0" marL="0">
              <a:buNone/>
            </a:pPr>
            <a:r>
              <a:rPr lang="en-US" sz="105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50" dirty="0">
                <a:solidFill>
                  <a:srgbClr val="4D4F53"/>
                </a:solidFill>
                <a:latin typeface="Arial" pitchFamily="34" charset="0"/>
                <a:ea typeface="Arial" pitchFamily="34" charset="-122"/>
                <a:cs typeface="Arial" pitchFamily="34" charset="-120"/>
              </a:rPr>
              <a:t>xvu46dbm07-ilom.sdi.corp.bankofamerica.com</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50" dirty="0">
                <a:solidFill>
                  <a:srgbClr val="4D4F53"/>
                </a:solidFill>
                <a:latin typeface="Arial" pitchFamily="34" charset="0"/>
                <a:ea typeface="Arial" pitchFamily="34" charset="-122"/>
                <a:cs typeface="Arial" pitchFamily="34" charset="-120"/>
              </a:rPr>
              <a:t>30.52.3.160</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50" dirty="0">
                <a:solidFill>
                  <a:srgbClr val="4D4F53"/>
                </a:solidFill>
                <a:latin typeface="Arial" pitchFamily="34" charset="0"/>
                <a:ea typeface="Arial" pitchFamily="34" charset="-122"/>
                <a:cs typeface="Arial" pitchFamily="34" charset="-120"/>
              </a:rPr>
              <a:t>Ubuntu / Linux 3.x</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50" dirty="0">
                <a:solidFill>
                  <a:srgbClr val="4D4F53"/>
                </a:solidFill>
                <a:latin typeface="Arial" pitchFamily="34" charset="0"/>
                <a:ea typeface="Arial" pitchFamily="34" charset="-122"/>
                <a:cs typeface="Arial" pitchFamily="34" charset="-120"/>
              </a:rPr>
              <a:t>IP</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50" dirty="0">
                <a:solidFill>
                  <a:srgbClr val="4D4F53"/>
                </a:solidFill>
                <a:latin typeface="Arial" pitchFamily="34" charset="0"/>
                <a:ea typeface="Arial" pitchFamily="34" charset="-122"/>
                <a:cs typeface="Arial" pitchFamily="34" charset="-120"/>
              </a:rPr>
              <a:t>2026-09-21 05:54:56</a:t>
            </a:r>
            <a:endParaRPr lang="en-US" sz="1050" dirty="0"/>
          </a:p>
        </p:txBody>
      </p:sp>
      <p:sp>
        <p:nvSpPr>
          <p:cNvPr id="17" name="Text 15">
            <a:hlinkClick r:id="rId1" tooltip="https://bofasecopsdev.service-now.com/sn_sec_cmn_src_ci_list.do?sysparm_query=number=SDI000002530819"/>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53081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352800"/>
            <a:ext cx="4745736" cy="3048000"/>
          </a:xfrm>
          <a:prstGeom prst="roundRect">
            <a:avLst>
              <a:gd name="adj" fmla="val 18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5082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782568"/>
            <a:ext cx="457200" cy="0"/>
          </a:xfrm>
          <a:prstGeom prst="line">
            <a:avLst/>
          </a:prstGeom>
          <a:noFill/>
          <a:ln w="19050">
            <a:solidFill>
              <a:srgbClr val="E31837"/>
            </a:solidFill>
            <a:prstDash val="solid"/>
          </a:ln>
        </p:spPr>
      </p:sp>
      <p:sp>
        <p:nvSpPr>
          <p:cNvPr id="21" name="Text 19"/>
          <p:cNvSpPr txBox="1"/>
          <p:nvPr/>
        </p:nvSpPr>
        <p:spPr>
          <a:xfrm>
            <a:off x="3749040" y="3855720"/>
            <a:ext cx="4233672" cy="23896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Controller sign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suffix "-ilom" on "xvu46dbm07-ilom"; server name "xvu46dbm07"</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server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xvu46dbm07 [linux_server] ip 30.52.3.138 -&gt; exactly one, accepted</a:t>
            </a:r>
            <a:endParaRPr lang="en-US" sz="1300" dirty="0"/>
          </a:p>
        </p:txBody>
      </p:sp>
      <p:sp>
        <p:nvSpPr>
          <p:cNvPr id="22" name="Shape 20"/>
          <p:cNvSpPr/>
          <p:nvPr/>
        </p:nvSpPr>
        <p:spPr>
          <a:xfrm>
            <a:off x="8439912" y="3352800"/>
            <a:ext cx="3246120" cy="3048000"/>
          </a:xfrm>
          <a:prstGeom prst="roundRect">
            <a:avLst>
              <a:gd name="adj" fmla="val 18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517392"/>
            <a:ext cx="64008" cy="2718816"/>
          </a:xfrm>
          <a:prstGeom prst="rect">
            <a:avLst/>
          </a:prstGeom>
          <a:solidFill>
            <a:srgbClr val="E31837"/>
          </a:solidFill>
          <a:ln w="12700">
            <a:solidFill>
              <a:srgbClr val="333333"/>
            </a:solidFill>
            <a:prstDash val="solid"/>
          </a:ln>
        </p:spPr>
      </p:sp>
      <p:sp>
        <p:nvSpPr>
          <p:cNvPr id="24" name="Text 22"/>
          <p:cNvSpPr txBox="1"/>
          <p:nvPr/>
        </p:nvSpPr>
        <p:spPr>
          <a:xfrm>
            <a:off x="8714232" y="35082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782568"/>
            <a:ext cx="457200" cy="0"/>
          </a:xfrm>
          <a:prstGeom prst="line">
            <a:avLst/>
          </a:prstGeom>
          <a:noFill/>
          <a:ln w="19050">
            <a:solidFill>
              <a:srgbClr val="E31837"/>
            </a:solidFill>
            <a:prstDash val="solid"/>
          </a:ln>
        </p:spPr>
      </p:sp>
      <p:sp>
        <p:nvSpPr>
          <p:cNvPr id="26" name="Text 24"/>
          <p:cNvSpPr txBox="1"/>
          <p:nvPr/>
        </p:nvSpPr>
        <p:spPr>
          <a:xfrm>
            <a:off x="8714232" y="38282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xvu46dbm07</a:t>
            </a:r>
            <a:endParaRPr lang="en-US" sz="1500" dirty="0"/>
          </a:p>
        </p:txBody>
      </p:sp>
      <p:sp>
        <p:nvSpPr>
          <p:cNvPr id="27" name="Text 25"/>
          <p:cNvSpPr txBox="1"/>
          <p:nvPr/>
        </p:nvSpPr>
        <p:spPr>
          <a:xfrm>
            <a:off x="8714232" y="41483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Linux Server</a:t>
            </a:r>
            <a:endParaRPr lang="en-US" sz="1100" dirty="0"/>
          </a:p>
        </p:txBody>
      </p:sp>
      <p:sp>
        <p:nvSpPr>
          <p:cNvPr id="28" name="Text 26"/>
          <p:cNvSpPr txBox="1"/>
          <p:nvPr/>
        </p:nvSpPr>
        <p:spPr>
          <a:xfrm>
            <a:off x="8714232" y="4468368"/>
            <a:ext cx="2715768" cy="1219200"/>
          </a:xfrm>
          <a:prstGeom prst="rect">
            <a:avLst/>
          </a:prstGeom>
          <a:noFill/>
          <a:ln/>
        </p:spPr>
        <p:txBody>
          <a:bodyPr wrap="square" lIns="0" tIns="0" rIns="0" bIns="0" rtlCol="0" anchor="t"/>
          <a:lstStyle/>
          <a:p>
            <a:pPr indent="0" marL="0">
              <a:buNone/>
            </a:pPr>
            <a:r>
              <a:rPr lang="en-US" sz="9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950" dirty="0">
                <a:solidFill>
                  <a:srgbClr val="4D4F53"/>
                </a:solidFill>
                <a:latin typeface="Arial" pitchFamily="34" charset="0"/>
                <a:ea typeface="Arial" pitchFamily="34" charset="-122"/>
                <a:cs typeface="Arial" pitchFamily="34" charset="-120"/>
              </a:rPr>
              <a:t>xvu46dbm07.sdi.corp.bankofamerica.com</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950" dirty="0">
                <a:solidFill>
                  <a:srgbClr val="4D4F53"/>
                </a:solidFill>
                <a:latin typeface="Arial" pitchFamily="34" charset="0"/>
                <a:ea typeface="Arial" pitchFamily="34" charset="-122"/>
                <a:cs typeface="Arial" pitchFamily="34" charset="-120"/>
              </a:rPr>
              <a:t>30.52.3.138</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950" dirty="0">
                <a:solidFill>
                  <a:srgbClr val="4D4F53"/>
                </a:solidFill>
                <a:latin typeface="Arial" pitchFamily="34" charset="0"/>
                <a:ea typeface="Arial" pitchFamily="34" charset="-122"/>
                <a:cs typeface="Arial" pitchFamily="34" charset="-120"/>
              </a:rPr>
              <a:t>2345XLD01C</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950" dirty="0">
                <a:solidFill>
                  <a:srgbClr val="4D4F53"/>
                </a:solidFill>
                <a:latin typeface="Arial" pitchFamily="34" charset="0"/>
                <a:ea typeface="Arial" pitchFamily="34" charset="-122"/>
                <a:cs typeface="Arial" pitchFamily="34" charset="-120"/>
              </a:rPr>
              <a:t>Oracle Sun x86 Systems X9-2</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950" dirty="0">
                <a:solidFill>
                  <a:srgbClr val="4D4F53"/>
                </a:solidFill>
                <a:latin typeface="Arial" pitchFamily="34" charset="0"/>
                <a:ea typeface="Arial" pitchFamily="34" charset="-122"/>
                <a:cs typeface="Arial" pitchFamily="34" charset="-120"/>
              </a:rPr>
              <a:t>Installed</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950" dirty="0">
                <a:solidFill>
                  <a:srgbClr val="4D4F53"/>
                </a:solidFill>
                <a:latin typeface="Arial" pitchFamily="34" charset="0"/>
                <a:ea typeface="Arial" pitchFamily="34" charset="-122"/>
                <a:cs typeface="Arial" pitchFamily="34" charset="-120"/>
              </a:rPr>
              <a:t>Operational</a:t>
            </a:r>
            <a:endParaRPr lang="en-US" sz="950" dirty="0"/>
          </a:p>
        </p:txBody>
      </p:sp>
      <p:sp>
        <p:nvSpPr>
          <p:cNvPr id="29" name="Text 27">
            <a:hlinkClick r:id="rId2" tooltip="https://bofasecopsdev.service-now.com/cmdb_ci_linux_server.do?sys_id=a8cf49353b4e6a90be6d95c964e45a24"/>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a8cf49353b4e6a90be6d95c964e45a24"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420  ·  MANAGEMENT INTERFACE MATCH  ·  EXAMPLE 2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xvu46dbm07-ilom.sdi.corp.bankofamerica.com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1957cc663b3ecf942fcecefe23e45aef" history="1" highlightClick="0" endSnd="0">
                  <a:extLst>
                    <a:ext uri="{A12FA001-AC4F-418D-AE19-62706E023703}">
                      <ahyp:hlinkClr xmlns:ahyp="http://schemas.microsoft.com/office/drawing/2018/hyperlinkcolor" val="tx"/>
                    </a:ext>
                  </a:extLst>
                </a:hlinkClick>
              </a:rPr>
              <a:t>SDI000002530819</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fdd5d3dc2b534350e76ff4bc4e91bf40" history="1" highlightClick="0" endSnd="0">
                  <a:extLst>
                    <a:ext uri="{A12FA001-AC4F-418D-AE19-62706E023703}">
                      <ahyp:hlinkClr xmlns:ahyp="http://schemas.microsoft.com/office/drawing/2018/hyperlinkcolor" val="tx"/>
                    </a:ext>
                  </a:extLst>
                </a:hlinkClick>
              </a:rPr>
              <a:t>BOFA Management Interface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linux_server.do?sys_id=a8cf49353b4e6a90be6d95c964e45a24" history="1" highlightClick="0" endSnd="0">
                  <a:extLst>
                    <a:ext uri="{A12FA001-AC4F-418D-AE19-62706E023703}">
                      <ahyp:hlinkClr xmlns:ahyp="http://schemas.microsoft.com/office/drawing/2018/hyperlinkcolor" val="tx"/>
                    </a:ext>
                  </a:extLst>
                </a:hlinkClick>
              </a:rPr>
              <a:t>xvu46dbm07</a:t>
            </a:r>
            <a:endParaRPr lang="en-US" sz="1000" dirty="0"/>
          </a:p>
        </p:txBody>
      </p:sp>
      <p:graphicFrame>
        <p:nvGraphicFramePr>
          <p:cNvPr id="116"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Controller sign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Cuts the label at its last hyphen: a controller suffix (ilo, ilom, idrac, drac, ipmi, bmc, oob, mgmt, imm, cimc, rmm, con) or a controller word in the OS text marks a management interface; the part before the hyphen is the server name.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suffix "-ilom" on "xvu46dbm07-ilom"; server name "xvu46dbm07"</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server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the Hardware tree: name equal to the server name, ignored classes left out; exactly one row is returned, a load balancer device is refused.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xvu46dbm07 [linux_server] ip 30.52.3.138 -&gt;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hardware_list.do?sysparm_query=name%3Dxvu46dbm07" history="1" highlightClick="0" endSnd="0">
                            <a:extLst>
                              <a:ext uri="{A12FA001-AC4F-418D-AE19-62706E023703}">
                                <ahyp:hlinkClr xmlns:ahyp="http://schemas.microsoft.com/office/drawing/2018/hyperlinkcolor" val="tx"/>
                              </a:ext>
                            </a:extLst>
                          </a:hlinkClick>
                        </a:rPr>
                        <a:t>Hardware: name=xvu46dbm07</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linux_server.do?sys_id=a8cf49353b4e6a90be6d95c964e45a24" history="1" highlightClick="0" endSnd="0">
                            <a:extLst>
                              <a:ext uri="{A12FA001-AC4F-418D-AE19-62706E023703}">
                                <ahyp:hlinkClr xmlns:ahyp="http://schemas.microsoft.com/office/drawing/2018/hyperlinkcolor" val="tx"/>
                              </a:ext>
                            </a:extLst>
                          </a:hlinkClick>
                        </a:rPr>
                        <a:t>xvu46dbm07</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420  ·  MANAGEMENT INTERFACE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300" b="1" dirty="0">
                <a:solidFill>
                  <a:srgbClr val="1F2A44"/>
                </a:solidFill>
                <a:latin typeface="Arial" pitchFamily="34" charset="0"/>
                <a:ea typeface="Arial" pitchFamily="34" charset="-122"/>
                <a:cs typeface="Arial" pitchFamily="34" charset="-120"/>
              </a:rPr>
              <a:t>sgcpap1mbl11-rmm.network.asia.bankofamerica.com</a:t>
            </a:r>
            <a:endParaRPr lang="en-US" sz="23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suffix rmm / ip_firewall</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543304"/>
          </a:xfrm>
          <a:prstGeom prst="roundRect">
            <a:avLst>
              <a:gd name="adj" fmla="val 355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03124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"sgcpap1mbl11-rmm"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(OS "iDRAC Device" gives no class / no record in the hardware tree carries the fqdn)  ·  name + domain (OS "iDRAC Device" gives no class / no record named "sgcpap1mbl11-rmm")  ·  layered DNS (no DNS Name record for "sgcpap1mbl11-rmm.network.asia.bankofamerica.com")  ·  host name (OS "iDRAC Device" gives no class / no record in the hardware tree named "sgcpap1mbl11-rmm")  ·  device name (none named "sgcpap1mbl11-rmm" in IP Phone or Imaging Hardware)</a:t>
            </a:r>
            <a:endParaRPr lang="en-US" sz="1100" dirty="0"/>
          </a:p>
        </p:txBody>
      </p:sp>
      <p:sp>
        <p:nvSpPr>
          <p:cNvPr id="12" name="Shape 10"/>
          <p:cNvSpPr/>
          <p:nvPr/>
        </p:nvSpPr>
        <p:spPr>
          <a:xfrm>
            <a:off x="502920" y="3134360"/>
            <a:ext cx="2788920" cy="326644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28980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564128"/>
            <a:ext cx="457200" cy="0"/>
          </a:xfrm>
          <a:prstGeom prst="line">
            <a:avLst/>
          </a:prstGeom>
          <a:noFill/>
          <a:ln w="19050">
            <a:solidFill>
              <a:srgbClr val="E31837"/>
            </a:solidFill>
            <a:prstDash val="solid"/>
          </a:ln>
        </p:spPr>
      </p:sp>
      <p:sp>
        <p:nvSpPr>
          <p:cNvPr id="15" name="Text 13"/>
          <p:cNvSpPr txBox="1"/>
          <p:nvPr/>
        </p:nvSpPr>
        <p:spPr>
          <a:xfrm>
            <a:off x="740664" y="360984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SDI000003103867</a:t>
            </a:r>
            <a:endParaRPr lang="en-US" sz="1500" dirty="0"/>
          </a:p>
        </p:txBody>
      </p:sp>
      <p:sp>
        <p:nvSpPr>
          <p:cNvPr id="16" name="Text 14"/>
          <p:cNvSpPr txBox="1"/>
          <p:nvPr/>
        </p:nvSpPr>
        <p:spPr>
          <a:xfrm>
            <a:off x="740664" y="3975608"/>
            <a:ext cx="2313432" cy="171196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sgcpap1mbl11-rmm.network.asia.bankofamerica.com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171.147.167.59</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iDRAC Device</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05:53:56</a:t>
            </a:r>
            <a:endParaRPr lang="en-US" sz="1200" dirty="0"/>
          </a:p>
        </p:txBody>
      </p:sp>
      <p:sp>
        <p:nvSpPr>
          <p:cNvPr id="17" name="Text 15">
            <a:hlinkClick r:id="rId1" tooltip="https://bofasecopsdev.service-now.com/sn_sec_cmn_src_ci_list.do?sysparm_query=number=SDI000003103867"/>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10386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134360"/>
            <a:ext cx="4745736" cy="3266440"/>
          </a:xfrm>
          <a:prstGeom prst="roundRect">
            <a:avLst>
              <a:gd name="adj" fmla="val 168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28980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564128"/>
            <a:ext cx="457200" cy="0"/>
          </a:xfrm>
          <a:prstGeom prst="line">
            <a:avLst/>
          </a:prstGeom>
          <a:noFill/>
          <a:ln w="19050">
            <a:solidFill>
              <a:srgbClr val="E31837"/>
            </a:solidFill>
            <a:prstDash val="solid"/>
          </a:ln>
        </p:spPr>
      </p:sp>
      <p:sp>
        <p:nvSpPr>
          <p:cNvPr id="21" name="Text 19"/>
          <p:cNvSpPr txBox="1"/>
          <p:nvPr/>
        </p:nvSpPr>
        <p:spPr>
          <a:xfrm>
            <a:off x="3749040" y="3637280"/>
            <a:ext cx="4233672" cy="260807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Controller sign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suffix "-rmm" on "sgcpap1mbl11-rmm"; server name "sgcpap1mbl11"</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server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SGCPAP1MBL11 [ip_firewall] ip 171.147.167.57 -&gt; exactly one, accepted</a:t>
            </a:r>
            <a:endParaRPr lang="en-US" sz="1300" dirty="0"/>
          </a:p>
        </p:txBody>
      </p:sp>
      <p:sp>
        <p:nvSpPr>
          <p:cNvPr id="22" name="Shape 20"/>
          <p:cNvSpPr/>
          <p:nvPr/>
        </p:nvSpPr>
        <p:spPr>
          <a:xfrm>
            <a:off x="8439912" y="3134360"/>
            <a:ext cx="3246120" cy="326644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298952"/>
            <a:ext cx="64008" cy="2937256"/>
          </a:xfrm>
          <a:prstGeom prst="rect">
            <a:avLst/>
          </a:prstGeom>
          <a:solidFill>
            <a:srgbClr val="E31837"/>
          </a:solidFill>
          <a:ln w="12700">
            <a:solidFill>
              <a:srgbClr val="333333"/>
            </a:solidFill>
            <a:prstDash val="solid"/>
          </a:ln>
        </p:spPr>
      </p:sp>
      <p:sp>
        <p:nvSpPr>
          <p:cNvPr id="24" name="Text 22"/>
          <p:cNvSpPr txBox="1"/>
          <p:nvPr/>
        </p:nvSpPr>
        <p:spPr>
          <a:xfrm>
            <a:off x="8714232" y="328980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564128"/>
            <a:ext cx="457200" cy="0"/>
          </a:xfrm>
          <a:prstGeom prst="line">
            <a:avLst/>
          </a:prstGeom>
          <a:noFill/>
          <a:ln w="19050">
            <a:solidFill>
              <a:srgbClr val="E31837"/>
            </a:solidFill>
            <a:prstDash val="solid"/>
          </a:ln>
        </p:spPr>
      </p:sp>
      <p:sp>
        <p:nvSpPr>
          <p:cNvPr id="26" name="Text 24"/>
          <p:cNvSpPr txBox="1"/>
          <p:nvPr/>
        </p:nvSpPr>
        <p:spPr>
          <a:xfrm>
            <a:off x="8714232" y="360984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SGCPAP1MBL11</a:t>
            </a:r>
            <a:endParaRPr lang="en-US" sz="1500" dirty="0"/>
          </a:p>
        </p:txBody>
      </p:sp>
      <p:sp>
        <p:nvSpPr>
          <p:cNvPr id="27" name="Text 25"/>
          <p:cNvSpPr txBox="1"/>
          <p:nvPr/>
        </p:nvSpPr>
        <p:spPr>
          <a:xfrm>
            <a:off x="8714232" y="392988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IP Firewall</a:t>
            </a:r>
            <a:endParaRPr lang="en-US" sz="1100" dirty="0"/>
          </a:p>
        </p:txBody>
      </p:sp>
      <p:sp>
        <p:nvSpPr>
          <p:cNvPr id="28" name="Text 26"/>
          <p:cNvSpPr txBox="1"/>
          <p:nvPr/>
        </p:nvSpPr>
        <p:spPr>
          <a:xfrm>
            <a:off x="8714232" y="4249928"/>
            <a:ext cx="2715768" cy="143764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171.147.167.57</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G0D8446024</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Musarubra US LLC F-Series WBG-5500-F</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ip_firewall.do?sys_id=f7300d7d3b466a90be6d95c964e45a21"/>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firewall.do?sys_id=f7300d7d3b466a90be6d95c964e45a21"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420  ·  MANAGEMENT INTERFACE MATCH  ·  EXAMPLE 3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300" b="1" dirty="0">
                <a:solidFill>
                  <a:srgbClr val="1F2A44"/>
                </a:solidFill>
                <a:latin typeface="Arial" pitchFamily="34" charset="0"/>
                <a:ea typeface="Arial" pitchFamily="34" charset="-122"/>
                <a:cs typeface="Arial" pitchFamily="34" charset="-120"/>
              </a:rPr>
              <a:t>sgcpap1mbl11-rmm.network.asia.bankofamerica.com</a:t>
            </a:r>
            <a:endParaRPr lang="en-US" sz="23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bc3e32beebfecf14017ff4d7cad0cdc9" history="1" highlightClick="0" endSnd="0">
                  <a:extLst>
                    <a:ext uri="{A12FA001-AC4F-418D-AE19-62706E023703}">
                      <ahyp:hlinkClr xmlns:ahyp="http://schemas.microsoft.com/office/drawing/2018/hyperlinkcolor" val="tx"/>
                    </a:ext>
                  </a:extLst>
                </a:hlinkClick>
              </a:rPr>
              <a:t>SDI000003103867</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fdd5d3dc2b534350e76ff4bc4e91bf40" history="1" highlightClick="0" endSnd="0">
                  <a:extLst>
                    <a:ext uri="{A12FA001-AC4F-418D-AE19-62706E023703}">
                      <ahyp:hlinkClr xmlns:ahyp="http://schemas.microsoft.com/office/drawing/2018/hyperlinkcolor" val="tx"/>
                    </a:ext>
                  </a:extLst>
                </a:hlinkClick>
              </a:rPr>
              <a:t>BOFA Management Interface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ip_firewall.do?sys_id=f7300d7d3b466a90be6d95c964e45a21" history="1" highlightClick="0" endSnd="0">
                  <a:extLst>
                    <a:ext uri="{A12FA001-AC4F-418D-AE19-62706E023703}">
                      <ahyp:hlinkClr xmlns:ahyp="http://schemas.microsoft.com/office/drawing/2018/hyperlinkcolor" val="tx"/>
                    </a:ext>
                  </a:extLst>
                </a:hlinkClick>
              </a:rPr>
              <a:t>SGCPAP1MBL11</a:t>
            </a:r>
            <a:endParaRPr lang="en-US" sz="1000" dirty="0"/>
          </a:p>
        </p:txBody>
      </p:sp>
      <p:graphicFrame>
        <p:nvGraphicFramePr>
          <p:cNvPr id="118"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Controller sign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Cuts the label at its last hyphen: a controller suffix (ilo, ilom, idrac, drac, ipmi, bmc, oob, mgmt, imm, cimc, rmm, con) or a controller word in the OS text marks a management interface; the part before the hyphen is the server name.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suffix "-rmm" on "sgcpap1mbl11-rmm"; server name "sgcpap1mbl11"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server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the Hardware tree: name equal to the server name, ignored classes left out; exactly one row is returned, a load balancer device is refused.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SGCPAP1MBL11 [ip_firewall] ip 171.147.167.57 -&gt;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hardware_list.do?sysparm_query=name%3Dsgcpap1mbl11" history="1" highlightClick="0" endSnd="0">
                            <a:extLst>
                              <a:ext uri="{A12FA001-AC4F-418D-AE19-62706E023703}">
                                <ahyp:hlinkClr xmlns:ahyp="http://schemas.microsoft.com/office/drawing/2018/hyperlinkcolor" val="tx"/>
                              </a:ext>
                            </a:extLst>
                          </a:hlinkClick>
                        </a:rPr>
                        <a:t>Hardware: name=sgcpap1mbl11</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ip_firewall.do?sys_id=f7300d7d3b466a90be6d95c964e45a21" history="1" highlightClick="0" endSnd="0">
                            <a:extLst>
                              <a:ext uri="{A12FA001-AC4F-418D-AE19-62706E023703}">
                                <ahyp:hlinkClr xmlns:ahyp="http://schemas.microsoft.com/office/drawing/2018/hyperlinkcolor" val="tx"/>
                              </a:ext>
                            </a:extLst>
                          </a:hlinkClick>
                        </a:rPr>
                        <a:t>SGCPAP1MBL11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430  ·  CONTROLLERS, INTERFACES, VIRTUAL SERVERS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Network Interface Name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935480"/>
          </a:xfrm>
          <a:prstGeom prst="roundRect">
            <a:avLst>
              <a:gd name="adj" fmla="val 28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6062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2954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DNS label of a network device scanned through an interface or VLAN address, which is the device name plus an interface tail, and returns the device named by the longest hyphen prefix of the label that names exactly one Network Gear or Load Balancer CI.</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after USEM Management Interface Match so controller labels resolve to servers first, and before the FQDN name and load balancer rules.</a:t>
            </a:r>
            <a:endParaRPr lang="en-US" sz="1500" dirty="0"/>
          </a:p>
        </p:txBody>
      </p:sp>
      <p:sp>
        <p:nvSpPr>
          <p:cNvPr id="13" name="Shape 11"/>
          <p:cNvSpPr/>
          <p:nvPr/>
        </p:nvSpPr>
        <p:spPr>
          <a:xfrm>
            <a:off x="502920" y="3608832"/>
            <a:ext cx="6933529" cy="2565400"/>
          </a:xfrm>
          <a:prstGeom prst="roundRect">
            <a:avLst>
              <a:gd name="adj" fmla="val 2139"/>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7917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066032"/>
            <a:ext cx="457200" cy="0"/>
          </a:xfrm>
          <a:prstGeom prst="line">
            <a:avLst/>
          </a:prstGeom>
          <a:noFill/>
          <a:ln w="19050">
            <a:solidFill>
              <a:srgbClr val="E31837"/>
            </a:solidFill>
            <a:prstDash val="solid"/>
          </a:ln>
        </p:spPr>
      </p:sp>
      <p:sp>
        <p:nvSpPr>
          <p:cNvPr id="16" name="Text 14"/>
          <p:cNvSpPr txBox="1"/>
          <p:nvPr/>
        </p:nvSpPr>
        <p:spPr>
          <a:xfrm>
            <a:off x="822960" y="4157472"/>
            <a:ext cx="6293449" cy="18338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DNS (sourceValue) only. The header says the OS is also read from sourcePayload, but the code never references sourcePayload: no OS, IP or SERIAL_NUMBER value takes part in the match.</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one record of cmdb_ci_netgear or cmdb_ci_lb, or any class beneath them, outside sn_sec_cmn.ignoreCIClass, whose name equals the longest hyphen-joined prefix of the label that names anything at all; null in every other case.</a:t>
            </a:r>
            <a:endParaRPr lang="en-US" sz="1400" dirty="0"/>
          </a:p>
        </p:txBody>
      </p:sp>
      <p:sp>
        <p:nvSpPr>
          <p:cNvPr id="17" name="Shape 15"/>
          <p:cNvSpPr/>
          <p:nvPr/>
        </p:nvSpPr>
        <p:spPr>
          <a:xfrm>
            <a:off x="7665049" y="3608832"/>
            <a:ext cx="4020983" cy="2565400"/>
          </a:xfrm>
          <a:prstGeom prst="roundRect">
            <a:avLst>
              <a:gd name="adj" fmla="val 2139"/>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7917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066032"/>
            <a:ext cx="457200" cy="0"/>
          </a:xfrm>
          <a:prstGeom prst="line">
            <a:avLst/>
          </a:prstGeom>
          <a:noFill/>
          <a:ln w="19050">
            <a:solidFill>
              <a:srgbClr val="E31837"/>
            </a:solidFill>
            <a:prstDash val="solid"/>
          </a:ln>
        </p:spPr>
      </p:sp>
      <p:sp>
        <p:nvSpPr>
          <p:cNvPr id="20" name="Text 18"/>
          <p:cNvSpPr txBox="1"/>
          <p:nvPr/>
        </p:nvSpPr>
        <p:spPr>
          <a:xfrm>
            <a:off x="7985089" y="4157472"/>
            <a:ext cx="3380903" cy="82804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Management Interface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FQDN Name Hardware Match</a:t>
            </a:r>
            <a:endParaRPr lang="en-US" sz="1300" dirty="0"/>
          </a:p>
        </p:txBody>
      </p:sp>
      <p:sp>
        <p:nvSpPr>
          <p:cNvPr id="21" name="Text 19"/>
          <p:cNvSpPr txBox="1"/>
          <p:nvPr/>
        </p:nvSpPr>
        <p:spPr>
          <a:xfrm>
            <a:off x="7985089" y="50769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8,786</a:t>
            </a:r>
            <a:endParaRPr lang="en-US" sz="2800" dirty="0"/>
          </a:p>
        </p:txBody>
      </p:sp>
      <p:sp>
        <p:nvSpPr>
          <p:cNvPr id="22" name="Text 20"/>
          <p:cNvSpPr txBox="1"/>
          <p:nvPr/>
        </p:nvSpPr>
        <p:spPr>
          <a:xfrm>
            <a:off x="7985089" y="56438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430  ·  CONTROLLERS, INTERFACES, VIRTUAL SERVERS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Network Interface Name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810760"/>
          </a:xfrm>
          <a:prstGeom prst="roundRect">
            <a:avLst>
              <a:gd name="adj" fmla="val 114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26212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Guard and normalise the DNS value.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Returns null when sourceValue is empty. Otherwise coerces to a string, trims and lower-cases it; label is the text before the first dot; segments is the label split on '-'. Fewer than two segments (no hyphen) means no interface tail and the rule returns null.</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Read the ignore list.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ignore is _ignoreClass when the framework defines and fills it, otherwise gs.getProperty('sn_sec_cmn.ignoreCIClass', ''). When non-empty every name search below adds sys_class_name NOT IN ignore.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isMarker: recognise an interface segment.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A segment is a marker when it equals a listed word, or starts with the word and the rest is digits only (/^[0-9]+$/, so 'vlan705', 'v201', 'po10', 'lo0'), or, for words of three letters or more, is longer than the word and ends with it ('fasteth').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4   Require interface sign.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the sign is present when the full DNS string contains a domains entry ('.network.') or any segment after the first is a marker; the first segment is never tested. Without it the rule returns null, so hyphenated hostnames like ah-1047132-001 are never cut.</a:t>
            </a:r>
            <a:endParaRPr lang="en-US" sz="1300" dirty="0"/>
          </a:p>
        </p:txBody>
      </p:sp>
      <p:sp>
        <p:nvSpPr>
          <p:cNvPr id="10" name="Text 8"/>
          <p:cNvSpPr txBox="1"/>
          <p:nvPr/>
        </p:nvSpPr>
        <p:spPr>
          <a:xfrm>
            <a:off x="6277356" y="1746504"/>
            <a:ext cx="5088636" cy="426212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5   Walk the prefixes, longest first.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k runs from segments.length - 1 down to 1; base is the first k segments joined by '-'. The full label is never tried, and the single first segment is the last prefix tried. Sample order: '...-cz04-hsrp', '...-cz04', 'uspaltwrr01drm0119'.</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6   Search Network Gear and Load Balancer by name.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Per prefix a fresh empty hits array, then one GlideRecord per table (cmdb_ci_netgear, then cmdb_ci_lb; a table failing isValid() is skipped): addQuery('name', base) plus the ignore filter; both tables push sys_ids into that array while under two.</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7   Decide at the first prefix that finds anything.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Zero hits: continue with the next shorter prefix. Two hits, whether in one table or one per table: return null and never guess. One hit: return that sys_id. No setLimit, no active, status, address, OS or retired test; a retired record counts as a hit.</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8   Exhausted walk.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When no prefix down to the first segment names any Network Gear or Load Balancer record, the loop ends and the rule returns null; the host passes to USEM FQDN Name Hardware Match.</a:t>
            </a:r>
            <a:endParaRPr lang="en-US" sz="13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430  ·  CONTROLLERS, INTERFACES, VIRTUAL SERVERS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Network Interface Name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834640"/>
          </a:xfrm>
          <a:prstGeom prst="roundRect">
            <a:avLst>
              <a:gd name="adj" fmla="val 19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5054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1945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label has no hyphen (segments.length &lt; 2)</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interface sign: the DNS contains no '.network.' and no segment after the first is a listed marker</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first prefix that names anything names two or more CIs across cmdb_ci_netgear and cmdb_ci_lb together</a:t>
            </a:r>
            <a:endParaRPr lang="en-US" sz="1500" dirty="0"/>
          </a:p>
        </p:txBody>
      </p:sp>
      <p:sp>
        <p:nvSpPr>
          <p:cNvPr id="13" name="Text 11"/>
          <p:cNvSpPr txBox="1"/>
          <p:nvPr/>
        </p:nvSpPr>
        <p:spPr>
          <a:xfrm>
            <a:off x="6277356" y="1975104"/>
            <a:ext cx="5088636" cy="21945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prefix from the longest down to the first segment names any CI in either table (a table failing isValid() contributes nothing)</a:t>
            </a:r>
            <a:endParaRPr lang="en-US" sz="1500" dirty="0"/>
          </a:p>
        </p:txBody>
      </p:sp>
      <p:sp>
        <p:nvSpPr>
          <p:cNvPr id="14" name="Shape 12"/>
          <p:cNvSpPr/>
          <p:nvPr/>
        </p:nvSpPr>
        <p:spPr>
          <a:xfrm>
            <a:off x="502920" y="45079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5079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FQDN Name Hardware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430  ·  NETWORK INTERFACE NAME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300" b="1" dirty="0">
                <a:solidFill>
                  <a:srgbClr val="1F2A44"/>
                </a:solidFill>
                <a:latin typeface="Arial" pitchFamily="34" charset="0"/>
                <a:ea typeface="Arial" pitchFamily="34" charset="-122"/>
                <a:cs typeface="Arial" pitchFamily="34" charset="-120"/>
              </a:rPr>
              <a:t>twtwtpett48bdm0002-eth1-18.network.asia.bankofamerica.com</a:t>
            </a:r>
            <a:endParaRPr lang="en-US" sz="23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prefix depth 1 / ip_switch</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543304"/>
          </a:xfrm>
          <a:prstGeom prst="roundRect">
            <a:avLst>
              <a:gd name="adj" fmla="val 355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03124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"twtwtpett48bdm0002-eth1-18" is not sep + 12 hex)  ·  device name (OS gives the class netgear)  ·  controller (no controller suffix or OS word)</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name + domain (no record named "twtwtpett48bdm0002-eth1-18")  ·  layered DNS (no DNS Name record for "twtwtpett48bdm0002-eth1-18.network.asia.bankofamerica.com")  ·  host name (no record in the hardware tree named "twtwtpett48bdm0002-eth1-18")</a:t>
            </a:r>
            <a:endParaRPr lang="en-US" sz="1100" dirty="0"/>
          </a:p>
        </p:txBody>
      </p:sp>
      <p:sp>
        <p:nvSpPr>
          <p:cNvPr id="12" name="Shape 10"/>
          <p:cNvSpPr/>
          <p:nvPr/>
        </p:nvSpPr>
        <p:spPr>
          <a:xfrm>
            <a:off x="502920" y="3134360"/>
            <a:ext cx="2788920" cy="326644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28980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564128"/>
            <a:ext cx="457200" cy="0"/>
          </a:xfrm>
          <a:prstGeom prst="line">
            <a:avLst/>
          </a:prstGeom>
          <a:noFill/>
          <a:ln w="19050">
            <a:solidFill>
              <a:srgbClr val="E31837"/>
            </a:solidFill>
            <a:prstDash val="solid"/>
          </a:ln>
        </p:spPr>
      </p:sp>
      <p:sp>
        <p:nvSpPr>
          <p:cNvPr id="15" name="Text 13"/>
          <p:cNvSpPr txBox="1"/>
          <p:nvPr/>
        </p:nvSpPr>
        <p:spPr>
          <a:xfrm>
            <a:off x="740664" y="360984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SDI000003800077</a:t>
            </a:r>
            <a:endParaRPr lang="en-US" sz="1500" dirty="0"/>
          </a:p>
        </p:txBody>
      </p:sp>
      <p:sp>
        <p:nvSpPr>
          <p:cNvPr id="16" name="Text 14"/>
          <p:cNvSpPr txBox="1"/>
          <p:nvPr/>
        </p:nvSpPr>
        <p:spPr>
          <a:xfrm>
            <a:off x="740664" y="3975608"/>
            <a:ext cx="2313432" cy="1711960"/>
          </a:xfrm>
          <a:prstGeom prst="rect">
            <a:avLst/>
          </a:prstGeom>
          <a:noFill/>
          <a:ln/>
        </p:spPr>
        <p:txBody>
          <a:bodyPr wrap="square" lIns="0" tIns="0" rIns="0" bIns="0" rtlCol="0" anchor="t"/>
          <a:lstStyle/>
          <a:p>
            <a:pPr indent="0" marL="0">
              <a:buNone/>
            </a:pPr>
            <a:r>
              <a:rPr lang="en-US" sz="11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100" dirty="0">
                <a:solidFill>
                  <a:srgbClr val="4D4F53"/>
                </a:solidFill>
                <a:latin typeface="Arial" pitchFamily="34" charset="0"/>
                <a:ea typeface="Arial" pitchFamily="34" charset="-122"/>
                <a:cs typeface="Arial" pitchFamily="34" charset="-120"/>
              </a:rPr>
              <a:t>twtwtpett48bdm0002-eth1-18.network.asia.bankofamerica.com</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100" dirty="0">
                <a:solidFill>
                  <a:srgbClr val="4D4F53"/>
                </a:solidFill>
                <a:latin typeface="Arial" pitchFamily="34" charset="0"/>
                <a:ea typeface="Arial" pitchFamily="34" charset="-122"/>
                <a:cs typeface="Arial" pitchFamily="34" charset="-120"/>
              </a:rPr>
              <a:t>165.46.245.162</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100" dirty="0">
                <a:solidFill>
                  <a:srgbClr val="4D4F53"/>
                </a:solidFill>
                <a:latin typeface="Arial" pitchFamily="34" charset="0"/>
                <a:ea typeface="Arial" pitchFamily="34" charset="-122"/>
                <a:cs typeface="Arial" pitchFamily="34" charset="-120"/>
              </a:rPr>
              <a:t>Cisco Nexus Switch</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100" dirty="0">
                <a:solidFill>
                  <a:srgbClr val="4D4F53"/>
                </a:solidFill>
                <a:latin typeface="Arial" pitchFamily="34" charset="0"/>
                <a:ea typeface="Arial" pitchFamily="34" charset="-122"/>
                <a:cs typeface="Arial" pitchFamily="34" charset="-120"/>
              </a:rPr>
              <a:t>IP</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100" dirty="0">
                <a:solidFill>
                  <a:srgbClr val="4D4F53"/>
                </a:solidFill>
                <a:latin typeface="Arial" pitchFamily="34" charset="0"/>
                <a:ea typeface="Arial" pitchFamily="34" charset="-122"/>
                <a:cs typeface="Arial" pitchFamily="34" charset="-120"/>
              </a:rPr>
              <a:t>2026-09-21 06:00:29</a:t>
            </a:r>
            <a:endParaRPr lang="en-US" sz="1100" dirty="0"/>
          </a:p>
        </p:txBody>
      </p:sp>
      <p:sp>
        <p:nvSpPr>
          <p:cNvPr id="17" name="Text 15">
            <a:hlinkClick r:id="rId1" tooltip="https://bofasecopsdev.service-now.com/sn_sec_cmn_src_ci_list.do?sysparm_query=number=SDI000003800077"/>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80007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134360"/>
            <a:ext cx="4745736" cy="3266440"/>
          </a:xfrm>
          <a:prstGeom prst="roundRect">
            <a:avLst>
              <a:gd name="adj" fmla="val 168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28980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564128"/>
            <a:ext cx="457200" cy="0"/>
          </a:xfrm>
          <a:prstGeom prst="line">
            <a:avLst/>
          </a:prstGeom>
          <a:noFill/>
          <a:ln w="19050">
            <a:solidFill>
              <a:srgbClr val="E31837"/>
            </a:solidFill>
            <a:prstDash val="solid"/>
          </a:ln>
        </p:spPr>
      </p:sp>
      <p:sp>
        <p:nvSpPr>
          <p:cNvPr id="21" name="Text 19"/>
          <p:cNvSpPr txBox="1"/>
          <p:nvPr/>
        </p:nvSpPr>
        <p:spPr>
          <a:xfrm>
            <a:off x="3749040" y="3637280"/>
            <a:ext cx="4233672" cy="260807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Interface sign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domain ".network.", segment "eth1"</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Prefixes tried, longest first, on Network Gear and Load Balancer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"twtwtpett48bdm0002-eth1": nothing | "twtwtpett48bdm0002": twtwtpett48bdm0002 [ip_switch] ip 165.46.245.65 -&gt; one device at prefix "twtwtpett48bdm0002", accepted</a:t>
            </a:r>
            <a:endParaRPr lang="en-US" sz="1300" dirty="0"/>
          </a:p>
        </p:txBody>
      </p:sp>
      <p:sp>
        <p:nvSpPr>
          <p:cNvPr id="22" name="Shape 20"/>
          <p:cNvSpPr/>
          <p:nvPr/>
        </p:nvSpPr>
        <p:spPr>
          <a:xfrm>
            <a:off x="8439912" y="3134360"/>
            <a:ext cx="3246120" cy="326644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298952"/>
            <a:ext cx="64008" cy="2937256"/>
          </a:xfrm>
          <a:prstGeom prst="rect">
            <a:avLst/>
          </a:prstGeom>
          <a:solidFill>
            <a:srgbClr val="E31837"/>
          </a:solidFill>
          <a:ln w="12700">
            <a:solidFill>
              <a:srgbClr val="333333"/>
            </a:solidFill>
            <a:prstDash val="solid"/>
          </a:ln>
        </p:spPr>
      </p:sp>
      <p:sp>
        <p:nvSpPr>
          <p:cNvPr id="24" name="Text 22"/>
          <p:cNvSpPr txBox="1"/>
          <p:nvPr/>
        </p:nvSpPr>
        <p:spPr>
          <a:xfrm>
            <a:off x="8714232" y="328980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564128"/>
            <a:ext cx="457200" cy="0"/>
          </a:xfrm>
          <a:prstGeom prst="line">
            <a:avLst/>
          </a:prstGeom>
          <a:noFill/>
          <a:ln w="19050">
            <a:solidFill>
              <a:srgbClr val="E31837"/>
            </a:solidFill>
            <a:prstDash val="solid"/>
          </a:ln>
        </p:spPr>
      </p:sp>
      <p:sp>
        <p:nvSpPr>
          <p:cNvPr id="26" name="Text 24"/>
          <p:cNvSpPr txBox="1"/>
          <p:nvPr/>
        </p:nvSpPr>
        <p:spPr>
          <a:xfrm>
            <a:off x="8714232" y="360984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twtwtpett48bdm0002</a:t>
            </a:r>
            <a:endParaRPr lang="en-US" sz="1500" dirty="0"/>
          </a:p>
        </p:txBody>
      </p:sp>
      <p:sp>
        <p:nvSpPr>
          <p:cNvPr id="27" name="Text 25"/>
          <p:cNvSpPr txBox="1"/>
          <p:nvPr/>
        </p:nvSpPr>
        <p:spPr>
          <a:xfrm>
            <a:off x="8714232" y="392988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IP Switch</a:t>
            </a:r>
            <a:endParaRPr lang="en-US" sz="1100" dirty="0"/>
          </a:p>
        </p:txBody>
      </p:sp>
      <p:sp>
        <p:nvSpPr>
          <p:cNvPr id="28" name="Text 26"/>
          <p:cNvSpPr txBox="1"/>
          <p:nvPr/>
        </p:nvSpPr>
        <p:spPr>
          <a:xfrm>
            <a:off x="8714232" y="4249928"/>
            <a:ext cx="2715768" cy="143764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165.46.245.65</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FDO23011EPA</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Cisco Systems, Inc. Nexus 9300-EX Series 93180YC-EX</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ip_switch.do?sys_id=aaac6f842b256610cca5f39ec891bf8d"/>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switch.do?sys_id=aaac6f842b256610cca5f39ec891bf8d"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430  ·  NETWORK INTERFACE NAME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300" b="1" dirty="0">
                <a:solidFill>
                  <a:srgbClr val="1F2A44"/>
                </a:solidFill>
                <a:latin typeface="Arial" pitchFamily="34" charset="0"/>
                <a:ea typeface="Arial" pitchFamily="34" charset="-122"/>
                <a:cs typeface="Arial" pitchFamily="34" charset="-120"/>
              </a:rPr>
              <a:t>twtwtpett48bdm0002-eth1-18.network.asia.bankofamerica.com</a:t>
            </a:r>
            <a:endParaRPr lang="en-US" sz="23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8d6b274c93a747109110fe584dba104b" history="1" highlightClick="0" endSnd="0">
                  <a:extLst>
                    <a:ext uri="{A12FA001-AC4F-418D-AE19-62706E023703}">
                      <ahyp:hlinkClr xmlns:ahyp="http://schemas.microsoft.com/office/drawing/2018/hyperlinkcolor" val="tx"/>
                    </a:ext>
                  </a:extLst>
                </a:hlinkClick>
              </a:rPr>
              <a:t>SDI000003800077</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34c1171c2b534350e76ff4bc4e91bfb4" history="1" highlightClick="0" endSnd="0">
                  <a:extLst>
                    <a:ext uri="{A12FA001-AC4F-418D-AE19-62706E023703}">
                      <ahyp:hlinkClr xmlns:ahyp="http://schemas.microsoft.com/office/drawing/2018/hyperlinkcolor" val="tx"/>
                    </a:ext>
                  </a:extLst>
                </a:hlinkClick>
              </a:rPr>
              <a:t>BOFA Network Interface Name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ip_switch.do?sys_id=aaac6f842b256610cca5f39ec891bf8d" history="1" highlightClick="0" endSnd="0">
                  <a:extLst>
                    <a:ext uri="{A12FA001-AC4F-418D-AE19-62706E023703}">
                      <ahyp:hlinkClr xmlns:ahyp="http://schemas.microsoft.com/office/drawing/2018/hyperlinkcolor" val="tx"/>
                    </a:ext>
                  </a:extLst>
                </a:hlinkClick>
              </a:rPr>
              <a:t>twtwtpett48bdm0002</a:t>
            </a:r>
            <a:endParaRPr lang="en-US" sz="1000" dirty="0"/>
          </a:p>
        </p:txBody>
      </p:sp>
      <p:graphicFrame>
        <p:nvGraphicFramePr>
          <p:cNvPr id="123"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Interface sign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An interface is recognised by the domain ".network." or by a label segment after the first that is an interface word (vlan, v, hsrp, vrrp, po, eth, gi, te, lo, mgmt, aom, vs, fab), alone or followed by digits.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domain ".network.", segment "eth1"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Prefix "twtwtpett48bdm0002-eth1"</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Drops the last segment and searches Network Gear (cmdb_ci_netgear) and Load Balancer (cmdb_ci_lb) for a device named with the remaining prefix, ignored classes left out.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nothing on Network Gear or Load Balancer</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netgear_list.do?sysparm_query=name%3Dtwtwtpett48bdm0002-eth1" history="1" highlightClick="0" endSnd="0">
                            <a:extLst>
                              <a:ext uri="{A12FA001-AC4F-418D-AE19-62706E023703}">
                                <ahyp:hlinkClr xmlns:ahyp="http://schemas.microsoft.com/office/drawing/2018/hyperlinkcolor" val="tx"/>
                              </a:ext>
                            </a:extLst>
                          </a:hlinkClick>
                        </a:rPr>
                        <a:t>Network Gear: name=twtwtpett48bdm0002-eth1</a:t>
                      </a:r>
                      <a:pPr indent="0" marL="0">
                        <a:buNone/>
                      </a:pPr>
                      <a:r>
                        <a:rPr lang="en-US" sz="900" dirty="0">
                          <a:solidFill>
                            <a:srgbClr val="6E7279"/>
                          </a:solidFill>
                          <a:latin typeface="Arial" pitchFamily="34" charset="0"/>
                          <a:ea typeface="Arial" pitchFamily="34" charset="-122"/>
                          <a:cs typeface="Arial" pitchFamily="34" charset="-120"/>
                        </a:rPr>
                        <a:t> (0 rows)</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lb_list.do?sysparm_query=name%3Dtwtwtpett48bdm0002-eth1" history="1" highlightClick="0" endSnd="0">
                            <a:extLst>
                              <a:ext uri="{A12FA001-AC4F-418D-AE19-62706E023703}">
                                <ahyp:hlinkClr xmlns:ahyp="http://schemas.microsoft.com/office/drawing/2018/hyperlinkcolor" val="tx"/>
                              </a:ext>
                            </a:extLst>
                          </a:hlinkClick>
                        </a:rPr>
                        <a:t>Load Balancer: name=twtwtpett48bdm0002-eth1</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Prefix "twtwtpett48bdm0002"</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Drops the last segment and searches Network Gear (cmdb_ci_netgear) and Load Balancer (cmdb_ci_lb) for a device named with the remaining prefix, ignored classes left out.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twtwtpett48bdm0002 [ip_switch] ip 165.46.245.65</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netgear_list.do?sysparm_query=name%3Dtwtwtpett48bdm0002" history="1" highlightClick="0" endSnd="0">
                            <a:extLst>
                              <a:ext uri="{A12FA001-AC4F-418D-AE19-62706E023703}">
                                <ahyp:hlinkClr xmlns:ahyp="http://schemas.microsoft.com/office/drawing/2018/hyperlinkcolor" val="tx"/>
                              </a:ext>
                            </a:extLst>
                          </a:hlinkClick>
                        </a:rPr>
                        <a:t>Network Gear: name=twtwtpett48bdm0002</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8" invalidUrl="" action="" tgtFrame="" tooltip="https://bofasecopsdev.service-now.com/cmdb_ci_ip_switch.do?sys_id=aaac6f842b256610cca5f39ec891bf8d" history="1" highlightClick="0" endSnd="0">
                            <a:extLst>
                              <a:ext uri="{A12FA001-AC4F-418D-AE19-62706E023703}">
                                <ahyp:hlinkClr xmlns:ahyp="http://schemas.microsoft.com/office/drawing/2018/hyperlinkcolor" val="tx"/>
                              </a:ext>
                            </a:extLst>
                          </a:hlinkClick>
                        </a:rPr>
                        <a:t>twtwtpett48bdm0002</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9" invalidUrl="" action="" tgtFrame="" tooltip="https://bofasecopsdev.service-now.com/cmdb_ci_lb_list.do?sysparm_query=name%3Dtwtwtpett48bdm0002" history="1" highlightClick="0" endSnd="0">
                            <a:extLst>
                              <a:ext uri="{A12FA001-AC4F-418D-AE19-62706E023703}">
                                <ahyp:hlinkClr xmlns:ahyp="http://schemas.microsoft.com/office/drawing/2018/hyperlinkcolor" val="tx"/>
                              </a:ext>
                            </a:extLst>
                          </a:hlinkClick>
                        </a:rPr>
                        <a:t>Load Balancer: name=twtwtpett48bdm0002</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Prefixes tried, longest first, on Network Gear and Load Balancer</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Prefixes are tried from the longest down: the first prefix with exactly one device is returned; a prefix with two devices ends the rule with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"twtwtpett48bdm0002-eth1": nothing | "twtwtpett48bdm0002": twtwtpett48bdm0002 [ip_switch] ip 165.46.245.65 -&gt; one device at prefix "twtwtpett48bdm0002", accepted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430  ·  NETWORK INTERFACE NAME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000" b="1" dirty="0">
                <a:solidFill>
                  <a:srgbClr val="1F2A44"/>
                </a:solidFill>
                <a:latin typeface="Arial" pitchFamily="34" charset="0"/>
                <a:ea typeface="Arial" pitchFamily="34" charset="-122"/>
                <a:cs typeface="Arial" pitchFamily="34" charset="-120"/>
              </a:rPr>
              <a:t>sgsgsings07drm0156-cz01-v800.network.asia.bankofamerica.com</a:t>
            </a:r>
            <a:endParaRPr lang="en-US" sz="20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prefix depth 2 / ip_switch</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710944"/>
          </a:xfrm>
          <a:prstGeom prst="roundRect">
            <a:avLst>
              <a:gd name="adj" fmla="val 3207"/>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198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"sgsgsings07drm0156-cz01-v800" is not sep + 12 hex)  ·  controller (no controller suffix or OS word)</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(OS "not reported" gives no class / no record in the hardware tree carries the fqdn)  ·  name + domain (OS "not reported" gives no class / no record named "sgsgsings07drm0156-cz01-v800")  ·  layered DNS (no DNS Name record for "sgsgsings07drm0156-cz01-v800.network.asia.bankofamerica.com")  ·  host name (OS "not reported" gives no class / no record in the hardware tree named "sgsgsings07drm0156-cz01-v800")  ·  device name (none named "sgsgsings07drm0156-cz01-v800" in IP Phone or Imaging Hardware)</a:t>
            </a:r>
            <a:endParaRPr lang="en-US" sz="1100" dirty="0"/>
          </a:p>
        </p:txBody>
      </p:sp>
      <p:sp>
        <p:nvSpPr>
          <p:cNvPr id="12" name="Shape 10"/>
          <p:cNvSpPr/>
          <p:nvPr/>
        </p:nvSpPr>
        <p:spPr>
          <a:xfrm>
            <a:off x="502920" y="3302000"/>
            <a:ext cx="2788920" cy="3098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457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731768"/>
            <a:ext cx="457200" cy="0"/>
          </a:xfrm>
          <a:prstGeom prst="line">
            <a:avLst/>
          </a:prstGeom>
          <a:noFill/>
          <a:ln w="19050">
            <a:solidFill>
              <a:srgbClr val="E31837"/>
            </a:solidFill>
            <a:prstDash val="solid"/>
          </a:ln>
        </p:spPr>
      </p:sp>
      <p:sp>
        <p:nvSpPr>
          <p:cNvPr id="15" name="Text 13"/>
          <p:cNvSpPr txBox="1"/>
          <p:nvPr/>
        </p:nvSpPr>
        <p:spPr>
          <a:xfrm>
            <a:off x="740664" y="3777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SDI000003800075</a:t>
            </a:r>
            <a:endParaRPr lang="en-US" sz="1500" dirty="0"/>
          </a:p>
        </p:txBody>
      </p:sp>
      <p:sp>
        <p:nvSpPr>
          <p:cNvPr id="16" name="Text 14"/>
          <p:cNvSpPr txBox="1"/>
          <p:nvPr/>
        </p:nvSpPr>
        <p:spPr>
          <a:xfrm>
            <a:off x="740664" y="4143248"/>
            <a:ext cx="2313432" cy="1544320"/>
          </a:xfrm>
          <a:prstGeom prst="rect">
            <a:avLst/>
          </a:prstGeom>
          <a:noFill/>
          <a:ln/>
        </p:spPr>
        <p:txBody>
          <a:bodyPr wrap="square" lIns="0" tIns="0" rIns="0" bIns="0" rtlCol="0" anchor="t"/>
          <a:lstStyle/>
          <a:p>
            <a:pPr indent="0" marL="0">
              <a:buNone/>
            </a:pPr>
            <a:r>
              <a:rPr lang="en-US" sz="11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100" dirty="0">
                <a:solidFill>
                  <a:srgbClr val="4D4F53"/>
                </a:solidFill>
                <a:latin typeface="Arial" pitchFamily="34" charset="0"/>
                <a:ea typeface="Arial" pitchFamily="34" charset="-122"/>
                <a:cs typeface="Arial" pitchFamily="34" charset="-120"/>
              </a:rPr>
              <a:t>sgsgsings07drm0156-cz01-v800.network.asia.bankofamerica.com</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100" dirty="0">
                <a:solidFill>
                  <a:srgbClr val="4D4F53"/>
                </a:solidFill>
                <a:latin typeface="Arial" pitchFamily="34" charset="0"/>
                <a:ea typeface="Arial" pitchFamily="34" charset="-122"/>
                <a:cs typeface="Arial" pitchFamily="34" charset="-120"/>
              </a:rPr>
              <a:t>165.40.76.3</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100" dirty="0">
                <a:solidFill>
                  <a:srgbClr val="4D4F53"/>
                </a:solidFill>
                <a:latin typeface="Arial" pitchFamily="34" charset="0"/>
                <a:ea typeface="Arial" pitchFamily="34" charset="-122"/>
                <a:cs typeface="Arial" pitchFamily="34" charset="-120"/>
              </a:rPr>
              <a:t>(not reported)</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100" dirty="0">
                <a:solidFill>
                  <a:srgbClr val="4D4F53"/>
                </a:solidFill>
                <a:latin typeface="Arial" pitchFamily="34" charset="0"/>
                <a:ea typeface="Arial" pitchFamily="34" charset="-122"/>
                <a:cs typeface="Arial" pitchFamily="34" charset="-120"/>
              </a:rPr>
              <a:t>IP</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100" dirty="0">
                <a:solidFill>
                  <a:srgbClr val="4D4F53"/>
                </a:solidFill>
                <a:latin typeface="Arial" pitchFamily="34" charset="0"/>
                <a:ea typeface="Arial" pitchFamily="34" charset="-122"/>
                <a:cs typeface="Arial" pitchFamily="34" charset="-120"/>
              </a:rPr>
              <a:t>2026-09-21 05:55:44</a:t>
            </a:r>
            <a:endParaRPr lang="en-US" sz="1100" dirty="0"/>
          </a:p>
        </p:txBody>
      </p:sp>
      <p:sp>
        <p:nvSpPr>
          <p:cNvPr id="17" name="Text 15">
            <a:hlinkClick r:id="rId1" tooltip="https://bofasecopsdev.service-now.com/sn_sec_cmn_src_ci_list.do?sysparm_query=number=SDI000003800075"/>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80007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302000"/>
            <a:ext cx="4745736" cy="3098800"/>
          </a:xfrm>
          <a:prstGeom prst="roundRect">
            <a:avLst>
              <a:gd name="adj" fmla="val 177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457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731768"/>
            <a:ext cx="457200" cy="0"/>
          </a:xfrm>
          <a:prstGeom prst="line">
            <a:avLst/>
          </a:prstGeom>
          <a:noFill/>
          <a:ln w="19050">
            <a:solidFill>
              <a:srgbClr val="E31837"/>
            </a:solidFill>
            <a:prstDash val="solid"/>
          </a:ln>
        </p:spPr>
      </p:sp>
      <p:sp>
        <p:nvSpPr>
          <p:cNvPr id="21" name="Text 19"/>
          <p:cNvSpPr txBox="1"/>
          <p:nvPr/>
        </p:nvSpPr>
        <p:spPr>
          <a:xfrm>
            <a:off x="3749040" y="3804920"/>
            <a:ext cx="4233672" cy="24404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Interface sign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domain ".network.", segment "v800"</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Prefixes tried, longest first, on Network Gear and Load Balancer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"sgsgsings07drm0156-cz01": SGSGSINGS07DRM0156-CZ01 [ip_switch] ip 10.214.82.151 -&gt; one device at prefix "sgsgsings07drm0156-cz01", accepted</a:t>
            </a:r>
            <a:endParaRPr lang="en-US" sz="1300" dirty="0"/>
          </a:p>
        </p:txBody>
      </p:sp>
      <p:sp>
        <p:nvSpPr>
          <p:cNvPr id="22" name="Shape 20"/>
          <p:cNvSpPr/>
          <p:nvPr/>
        </p:nvSpPr>
        <p:spPr>
          <a:xfrm>
            <a:off x="8439912" y="3302000"/>
            <a:ext cx="3246120" cy="3098800"/>
          </a:xfrm>
          <a:prstGeom prst="roundRect">
            <a:avLst>
              <a:gd name="adj" fmla="val 177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466592"/>
            <a:ext cx="64008" cy="2769616"/>
          </a:xfrm>
          <a:prstGeom prst="rect">
            <a:avLst/>
          </a:prstGeom>
          <a:solidFill>
            <a:srgbClr val="E31837"/>
          </a:solidFill>
          <a:ln w="12700">
            <a:solidFill>
              <a:srgbClr val="333333"/>
            </a:solidFill>
            <a:prstDash val="solid"/>
          </a:ln>
        </p:spPr>
      </p:sp>
      <p:sp>
        <p:nvSpPr>
          <p:cNvPr id="24" name="Text 22"/>
          <p:cNvSpPr txBox="1"/>
          <p:nvPr/>
        </p:nvSpPr>
        <p:spPr>
          <a:xfrm>
            <a:off x="8714232" y="3457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731768"/>
            <a:ext cx="457200" cy="0"/>
          </a:xfrm>
          <a:prstGeom prst="line">
            <a:avLst/>
          </a:prstGeom>
          <a:noFill/>
          <a:ln w="19050">
            <a:solidFill>
              <a:srgbClr val="E31837"/>
            </a:solidFill>
            <a:prstDash val="solid"/>
          </a:ln>
        </p:spPr>
      </p:sp>
      <p:sp>
        <p:nvSpPr>
          <p:cNvPr id="26" name="Text 24"/>
          <p:cNvSpPr txBox="1"/>
          <p:nvPr/>
        </p:nvSpPr>
        <p:spPr>
          <a:xfrm>
            <a:off x="8714232" y="3777488"/>
            <a:ext cx="2715768" cy="292608"/>
          </a:xfrm>
          <a:prstGeom prst="rect">
            <a:avLst/>
          </a:prstGeom>
          <a:noFill/>
          <a:ln/>
        </p:spPr>
        <p:txBody>
          <a:bodyPr wrap="square" lIns="0" tIns="0" rIns="0" bIns="0" rtlCol="0" anchor="t"/>
          <a:lstStyle/>
          <a:p>
            <a:pPr indent="0" marL="0">
              <a:buNone/>
            </a:pPr>
            <a:r>
              <a:rPr lang="en-US" sz="1350" b="1" dirty="0">
                <a:solidFill>
                  <a:srgbClr val="012169"/>
                </a:solidFill>
                <a:latin typeface="Arial" pitchFamily="34" charset="0"/>
                <a:ea typeface="Arial" pitchFamily="34" charset="-122"/>
                <a:cs typeface="Arial" pitchFamily="34" charset="-120"/>
              </a:rPr>
              <a:t>SGSGSINGS07DRM0156-CZ01</a:t>
            </a:r>
            <a:endParaRPr lang="en-US" sz="1350" dirty="0"/>
          </a:p>
        </p:txBody>
      </p:sp>
      <p:sp>
        <p:nvSpPr>
          <p:cNvPr id="27" name="Text 25"/>
          <p:cNvSpPr txBox="1"/>
          <p:nvPr/>
        </p:nvSpPr>
        <p:spPr>
          <a:xfrm>
            <a:off x="8714232" y="4097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IP Switch</a:t>
            </a:r>
            <a:endParaRPr lang="en-US" sz="1100" dirty="0"/>
          </a:p>
        </p:txBody>
      </p:sp>
      <p:sp>
        <p:nvSpPr>
          <p:cNvPr id="28" name="Text 26"/>
          <p:cNvSpPr txBox="1"/>
          <p:nvPr/>
        </p:nvSpPr>
        <p:spPr>
          <a:xfrm>
            <a:off x="8714232" y="4417568"/>
            <a:ext cx="2715768" cy="12700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10.214.82.151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JPN2607P6E5</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ARISTA DCS-7280SR3M-48YC8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Non-Operational</a:t>
            </a:r>
            <a:endParaRPr lang="en-US" sz="1200" dirty="0"/>
          </a:p>
        </p:txBody>
      </p:sp>
      <p:sp>
        <p:nvSpPr>
          <p:cNvPr id="29" name="Text 27">
            <a:hlinkClick r:id="rId2" tooltip="https://bofasecopsdev.service-now.com/cmdb_ci_ip_switch.do?sys_id=28acb0423bd00754a052e71864e45a01"/>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switch.do?sys_id=28acb0423bd00754a052e71864e45a01"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123</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430  ·  NETWORK INTERFACE NAME MATCH  ·  EXAMPLE 2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000" b="1" dirty="0">
                <a:solidFill>
                  <a:srgbClr val="1F2A44"/>
                </a:solidFill>
                <a:latin typeface="Arial" pitchFamily="34" charset="0"/>
                <a:ea typeface="Arial" pitchFamily="34" charset="-122"/>
                <a:cs typeface="Arial" pitchFamily="34" charset="-120"/>
              </a:rPr>
              <a:t>sgsgsings07drm0156-cz01-v800.network.asia.bankofamerica.com</a:t>
            </a:r>
            <a:endParaRPr lang="en-US" sz="20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d74a274493a747109110fe584dba10f9" history="1" highlightClick="0" endSnd="0">
                  <a:extLst>
                    <a:ext uri="{A12FA001-AC4F-418D-AE19-62706E023703}">
                      <ahyp:hlinkClr xmlns:ahyp="http://schemas.microsoft.com/office/drawing/2018/hyperlinkcolor" val="tx"/>
                    </a:ext>
                  </a:extLst>
                </a:hlinkClick>
              </a:rPr>
              <a:t>SDI000003800075</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34c1171c2b534350e76ff4bc4e91bfb4" history="1" highlightClick="0" endSnd="0">
                  <a:extLst>
                    <a:ext uri="{A12FA001-AC4F-418D-AE19-62706E023703}">
                      <ahyp:hlinkClr xmlns:ahyp="http://schemas.microsoft.com/office/drawing/2018/hyperlinkcolor" val="tx"/>
                    </a:ext>
                  </a:extLst>
                </a:hlinkClick>
              </a:rPr>
              <a:t>BOFA Network Interface Name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ip_switch.do?sys_id=28acb0423bd00754a052e71864e45a01" history="1" highlightClick="0" endSnd="0">
                  <a:extLst>
                    <a:ext uri="{A12FA001-AC4F-418D-AE19-62706E023703}">
                      <ahyp:hlinkClr xmlns:ahyp="http://schemas.microsoft.com/office/drawing/2018/hyperlinkcolor" val="tx"/>
                    </a:ext>
                  </a:extLst>
                </a:hlinkClick>
              </a:rPr>
              <a:t>SGSGSINGS07DRM0156-CZ01</a:t>
            </a:r>
            <a:endParaRPr lang="en-US" sz="1000" dirty="0"/>
          </a:p>
        </p:txBody>
      </p:sp>
      <p:graphicFrame>
        <p:nvGraphicFramePr>
          <p:cNvPr id="125"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Interface sign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An interface is recognised by the domain ".network." or by a label segment after the first that is an interface word (vlan, v, hsrp, vrrp, po, eth, gi, te, lo, mgmt, aom, vs, fab), alone or followed by digits.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domain ".network.", segment "v800"</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Prefix "sgsgsings07drm0156-cz01"</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Drops the last segment and searches Network Gear (cmdb_ci_netgear) and Load Balancer (cmdb_ci_lb) for a device named with the remaining prefix, ignored classes left out.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SGSGSINGS07DRM0156-CZ01 [ip_switch] ip 10.214.82.151</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netgear_list.do?sysparm_query=name%3Dsgsgsings07drm0156-cz01" history="1" highlightClick="0" endSnd="0">
                            <a:extLst>
                              <a:ext uri="{A12FA001-AC4F-418D-AE19-62706E023703}">
                                <ahyp:hlinkClr xmlns:ahyp="http://schemas.microsoft.com/office/drawing/2018/hyperlinkcolor" val="tx"/>
                              </a:ext>
                            </a:extLst>
                          </a:hlinkClick>
                        </a:rPr>
                        <a:t>Network Gear: name=sgsgsings07drm0156-cz01</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ip_switch.do?sys_id=28acb0423bd00754a052e71864e45a01" history="1" highlightClick="0" endSnd="0">
                            <a:extLst>
                              <a:ext uri="{A12FA001-AC4F-418D-AE19-62706E023703}">
                                <ahyp:hlinkClr xmlns:ahyp="http://schemas.microsoft.com/office/drawing/2018/hyperlinkcolor" val="tx"/>
                              </a:ext>
                            </a:extLst>
                          </a:hlinkClick>
                        </a:rPr>
                        <a:t>SGSGSINGS07DRM0156-CZ01</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lb_list.do?sysparm_query=name%3Dsgsgsings07drm0156-cz01" history="1" highlightClick="0" endSnd="0">
                            <a:extLst>
                              <a:ext uri="{A12FA001-AC4F-418D-AE19-62706E023703}">
                                <ahyp:hlinkClr xmlns:ahyp="http://schemas.microsoft.com/office/drawing/2018/hyperlinkcolor" val="tx"/>
                              </a:ext>
                            </a:extLst>
                          </a:hlinkClick>
                        </a:rPr>
                        <a:t>Load Balancer: name=sgsgsings07drm0156-cz01</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Prefixes tried, longest first, on Network Gear and Load Balancer</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Prefixes are tried from the longest down: the first prefix with exactly one device is returned; a prefix with two devices ends the rule with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"sgsgsings07drm0156-cz01": SGSGSINGS07DRM0156-CZ01 [ip_switch] ip 10.214.82.151 -&gt; one device at prefix "sgsgsings07drm0156-cz01", accepted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124</a:t>
            </a:fld>
            <a:endParaRPr 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430  ·  NETWORK INTERFACE NAME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sgcppz1utilb01a-aom.asia.bankofamerica.com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prefix depth 1 / lb</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375664"/>
          </a:xfrm>
          <a:prstGeom prst="roundRect">
            <a:avLst>
              <a:gd name="adj" fmla="val 3988"/>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86360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"sgcppz1utilb01a-aom" is not sep + 12 hex)  ·  device name (OS gives the class printer)  ·  controller (no controller suffix or OS word)</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name + domain (no record named "sgcppz1utilb01a-aom")  ·  layered DNS (no DNS Name record for "sgcppz1utilb01a-aom.asia.bankofamerica.com")  ·  host name (no record in the hardware tree named "sgcppz1utilb01a-aom")</a:t>
            </a:r>
            <a:endParaRPr lang="en-US" sz="1100" dirty="0"/>
          </a:p>
        </p:txBody>
      </p:sp>
      <p:sp>
        <p:nvSpPr>
          <p:cNvPr id="12" name="Shape 10"/>
          <p:cNvSpPr/>
          <p:nvPr/>
        </p:nvSpPr>
        <p:spPr>
          <a:xfrm>
            <a:off x="502920" y="2966720"/>
            <a:ext cx="2788920" cy="343408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12216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396488"/>
            <a:ext cx="457200" cy="0"/>
          </a:xfrm>
          <a:prstGeom prst="line">
            <a:avLst/>
          </a:prstGeom>
          <a:noFill/>
          <a:ln w="19050">
            <a:solidFill>
              <a:srgbClr val="E31837"/>
            </a:solidFill>
            <a:prstDash val="solid"/>
          </a:ln>
        </p:spPr>
      </p:sp>
      <p:sp>
        <p:nvSpPr>
          <p:cNvPr id="15" name="Text 13"/>
          <p:cNvSpPr txBox="1"/>
          <p:nvPr/>
        </p:nvSpPr>
        <p:spPr>
          <a:xfrm>
            <a:off x="740664" y="344220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SDI000003799353</a:t>
            </a:r>
            <a:endParaRPr lang="en-US" sz="1500" dirty="0"/>
          </a:p>
        </p:txBody>
      </p:sp>
      <p:sp>
        <p:nvSpPr>
          <p:cNvPr id="16" name="Text 14"/>
          <p:cNvSpPr txBox="1"/>
          <p:nvPr/>
        </p:nvSpPr>
        <p:spPr>
          <a:xfrm>
            <a:off x="740664" y="3807968"/>
            <a:ext cx="2313432" cy="18796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sgcppz1utilb01a-aom.asia.bankofamerica.com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171.147.168.145</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HP JetDirect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05:51:47</a:t>
            </a:r>
            <a:endParaRPr lang="en-US" sz="1200" dirty="0"/>
          </a:p>
        </p:txBody>
      </p:sp>
      <p:sp>
        <p:nvSpPr>
          <p:cNvPr id="17" name="Text 15">
            <a:hlinkClick r:id="rId1" tooltip="https://bofasecopsdev.service-now.com/sn_sec_cmn_src_ci_list.do?sysparm_query=number=SDI000003799353"/>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79935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966720"/>
            <a:ext cx="4745736" cy="3434080"/>
          </a:xfrm>
          <a:prstGeom prst="roundRect">
            <a:avLst>
              <a:gd name="adj" fmla="val 1598"/>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12216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396488"/>
            <a:ext cx="457200" cy="0"/>
          </a:xfrm>
          <a:prstGeom prst="line">
            <a:avLst/>
          </a:prstGeom>
          <a:noFill/>
          <a:ln w="19050">
            <a:solidFill>
              <a:srgbClr val="E31837"/>
            </a:solidFill>
            <a:prstDash val="solid"/>
          </a:ln>
        </p:spPr>
      </p:sp>
      <p:sp>
        <p:nvSpPr>
          <p:cNvPr id="21" name="Text 19"/>
          <p:cNvSpPr txBox="1"/>
          <p:nvPr/>
        </p:nvSpPr>
        <p:spPr>
          <a:xfrm>
            <a:off x="3749040" y="3469640"/>
            <a:ext cx="4233672" cy="277571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Interface sign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segment "aom"</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Prefixes tried, longest first, on Network Gear and Load Balancer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"sgcppz1utilb01a": SGCPPZ1UTILB01A [lb] ip 171.147.168.144 -&gt; one device at prefix "sgcppz1utilb01a", accepted</a:t>
            </a:r>
            <a:endParaRPr lang="en-US" sz="1300" dirty="0"/>
          </a:p>
        </p:txBody>
      </p:sp>
      <p:sp>
        <p:nvSpPr>
          <p:cNvPr id="22" name="Shape 20"/>
          <p:cNvSpPr/>
          <p:nvPr/>
        </p:nvSpPr>
        <p:spPr>
          <a:xfrm>
            <a:off x="8439912" y="2966720"/>
            <a:ext cx="3246120" cy="343408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131312"/>
            <a:ext cx="64008" cy="3104896"/>
          </a:xfrm>
          <a:prstGeom prst="rect">
            <a:avLst/>
          </a:prstGeom>
          <a:solidFill>
            <a:srgbClr val="E31837"/>
          </a:solidFill>
          <a:ln w="12700">
            <a:solidFill>
              <a:srgbClr val="333333"/>
            </a:solidFill>
            <a:prstDash val="solid"/>
          </a:ln>
        </p:spPr>
      </p:sp>
      <p:sp>
        <p:nvSpPr>
          <p:cNvPr id="24" name="Text 22"/>
          <p:cNvSpPr txBox="1"/>
          <p:nvPr/>
        </p:nvSpPr>
        <p:spPr>
          <a:xfrm>
            <a:off x="8714232" y="312216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396488"/>
            <a:ext cx="457200" cy="0"/>
          </a:xfrm>
          <a:prstGeom prst="line">
            <a:avLst/>
          </a:prstGeom>
          <a:noFill/>
          <a:ln w="19050">
            <a:solidFill>
              <a:srgbClr val="E31837"/>
            </a:solidFill>
            <a:prstDash val="solid"/>
          </a:ln>
        </p:spPr>
      </p:sp>
      <p:sp>
        <p:nvSpPr>
          <p:cNvPr id="26" name="Text 24"/>
          <p:cNvSpPr txBox="1"/>
          <p:nvPr/>
        </p:nvSpPr>
        <p:spPr>
          <a:xfrm>
            <a:off x="8714232" y="344220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SGCPPZ1UTILB01A</a:t>
            </a:r>
            <a:endParaRPr lang="en-US" sz="1500" dirty="0"/>
          </a:p>
        </p:txBody>
      </p:sp>
      <p:sp>
        <p:nvSpPr>
          <p:cNvPr id="27" name="Text 25"/>
          <p:cNvSpPr txBox="1"/>
          <p:nvPr/>
        </p:nvSpPr>
        <p:spPr>
          <a:xfrm>
            <a:off x="8714232" y="376224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Load Balancer</a:t>
            </a:r>
            <a:endParaRPr lang="en-US" sz="1100" dirty="0"/>
          </a:p>
        </p:txBody>
      </p:sp>
      <p:sp>
        <p:nvSpPr>
          <p:cNvPr id="28" name="Text 26"/>
          <p:cNvSpPr txBox="1"/>
          <p:nvPr/>
        </p:nvSpPr>
        <p:spPr>
          <a:xfrm>
            <a:off x="8714232" y="4082288"/>
            <a:ext cx="2715768" cy="16052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171.147.168.144</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F5-MYIJ-FDDE</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F5 NETWORKS INC BIG-IP 10350F</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lb.do?sys_id=fedb74f52bc6ae94d28af8a4ce91bf69"/>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do?sys_id=fedb74f52bc6ae94d28af8a4ce91bf69"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125</a:t>
            </a:fld>
            <a:endParaRPr 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430  ·  NETWORK INTERFACE NAME MATCH  ·  EXAMPLE 3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sgcppz1utilb01a-aom.asia.bankofamerica.com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9b646b8c2bebc710a277fab2f291bfa0" history="1" highlightClick="0" endSnd="0">
                  <a:extLst>
                    <a:ext uri="{A12FA001-AC4F-418D-AE19-62706E023703}">
                      <ahyp:hlinkClr xmlns:ahyp="http://schemas.microsoft.com/office/drawing/2018/hyperlinkcolor" val="tx"/>
                    </a:ext>
                  </a:extLst>
                </a:hlinkClick>
              </a:rPr>
              <a:t>SDI000003799353</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34c1171c2b534350e76ff4bc4e91bfb4" history="1" highlightClick="0" endSnd="0">
                  <a:extLst>
                    <a:ext uri="{A12FA001-AC4F-418D-AE19-62706E023703}">
                      <ahyp:hlinkClr xmlns:ahyp="http://schemas.microsoft.com/office/drawing/2018/hyperlinkcolor" val="tx"/>
                    </a:ext>
                  </a:extLst>
                </a:hlinkClick>
              </a:rPr>
              <a:t>BOFA Network Interface Name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lb.do?sys_id=fedb74f52bc6ae94d28af8a4ce91bf69" history="1" highlightClick="0" endSnd="0">
                  <a:extLst>
                    <a:ext uri="{A12FA001-AC4F-418D-AE19-62706E023703}">
                      <ahyp:hlinkClr xmlns:ahyp="http://schemas.microsoft.com/office/drawing/2018/hyperlinkcolor" val="tx"/>
                    </a:ext>
                  </a:extLst>
                </a:hlinkClick>
              </a:rPr>
              <a:t>SGCPPZ1UTILB01A</a:t>
            </a:r>
            <a:endParaRPr lang="en-US" sz="1000" dirty="0"/>
          </a:p>
        </p:txBody>
      </p:sp>
      <p:graphicFrame>
        <p:nvGraphicFramePr>
          <p:cNvPr id="127"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Interface sign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An interface is recognised by the domain ".network." or by a label segment after the first that is an interface word (vlan, v, hsrp, vrrp, po, eth, gi, te, lo, mgmt, aom, vs, fab), alone or followed by digits.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segment "aom"</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Prefix "sgcppz1utilb01a"</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Drops the last segment and searches Network Gear (cmdb_ci_netgear) and Load Balancer (cmdb_ci_lb) for a device named with the remaining prefix, ignored classes left out.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SGCPPZ1UTILB01A [lb] ip 171.147.168.144</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netgear_list.do?sysparm_query=name%3Dsgcppz1utilb01a" history="1" highlightClick="0" endSnd="0">
                            <a:extLst>
                              <a:ext uri="{A12FA001-AC4F-418D-AE19-62706E023703}">
                                <ahyp:hlinkClr xmlns:ahyp="http://schemas.microsoft.com/office/drawing/2018/hyperlinkcolor" val="tx"/>
                              </a:ext>
                            </a:extLst>
                          </a:hlinkClick>
                        </a:rPr>
                        <a:t>Network Gear: name=sgcppz1utilb01a</a:t>
                      </a:r>
                      <a:pPr indent="0" marL="0">
                        <a:buNone/>
                      </a:pPr>
                      <a:r>
                        <a:rPr lang="en-US" sz="900" dirty="0">
                          <a:solidFill>
                            <a:srgbClr val="6E7279"/>
                          </a:solidFill>
                          <a:latin typeface="Arial" pitchFamily="34" charset="0"/>
                          <a:ea typeface="Arial" pitchFamily="34" charset="-122"/>
                          <a:cs typeface="Arial" pitchFamily="34" charset="-120"/>
                        </a:rPr>
                        <a:t> (0 rows)</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lb_list.do?sysparm_query=name%3Dsgcppz1utilb01a" history="1" highlightClick="0" endSnd="0">
                            <a:extLst>
                              <a:ext uri="{A12FA001-AC4F-418D-AE19-62706E023703}">
                                <ahyp:hlinkClr xmlns:ahyp="http://schemas.microsoft.com/office/drawing/2018/hyperlinkcolor" val="tx"/>
                              </a:ext>
                            </a:extLst>
                          </a:hlinkClick>
                        </a:rPr>
                        <a:t>Load Balancer: name=sgcppz1utilb01a</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lb.do?sys_id=fedb74f52bc6ae94d28af8a4ce91bf69" history="1" highlightClick="0" endSnd="0">
                            <a:extLst>
                              <a:ext uri="{A12FA001-AC4F-418D-AE19-62706E023703}">
                                <ahyp:hlinkClr xmlns:ahyp="http://schemas.microsoft.com/office/drawing/2018/hyperlinkcolor" val="tx"/>
                              </a:ext>
                            </a:extLst>
                          </a:hlinkClick>
                        </a:rPr>
                        <a:t>SGCPPZ1UTILB01A</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Prefixes tried, longest first, on Network Gear and Load Balancer</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Prefixes are tried from the longest down: the first prefix with exactly one device is returned; a prefix with two devices ends the rule with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"sgcppz1utilb01a": SGCPPZ1UTILB01A [lb] ip 171.147.168.144 -&gt; one device at prefix "sgcppz1utilb01a", accepted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126</a:t>
            </a:fld>
            <a:endParaRPr 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450  ·  NAME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Name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706880"/>
          </a:xfrm>
          <a:prstGeom prst="roundRect">
            <a:avLst>
              <a:gd name="adj" fmla="val 321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3776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0668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a CI whose name field holds the complete scanned FQDN (loads that named the CI with the whole string, typically the appliance domains ending in .rpg) anywhere under cmdb_ci_hardware.</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after the fqdn-field and short-hostname rules because those cover normal naming; this one only rescues CIs that none of them can see.</a:t>
            </a:r>
            <a:endParaRPr lang="en-US" sz="1500" dirty="0"/>
          </a:p>
        </p:txBody>
      </p:sp>
      <p:sp>
        <p:nvSpPr>
          <p:cNvPr id="13" name="Shape 11"/>
          <p:cNvSpPr/>
          <p:nvPr/>
        </p:nvSpPr>
        <p:spPr>
          <a:xfrm>
            <a:off x="502920" y="3380232"/>
            <a:ext cx="6933529" cy="2286000"/>
          </a:xfrm>
          <a:prstGeom prst="roundRect">
            <a:avLst>
              <a:gd name="adj" fmla="val 24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5631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3837432"/>
            <a:ext cx="457200" cy="0"/>
          </a:xfrm>
          <a:prstGeom prst="line">
            <a:avLst/>
          </a:prstGeom>
          <a:noFill/>
          <a:ln w="19050">
            <a:solidFill>
              <a:srgbClr val="E31837"/>
            </a:solidFill>
            <a:prstDash val="solid"/>
          </a:ln>
        </p:spPr>
      </p:sp>
      <p:sp>
        <p:nvSpPr>
          <p:cNvPr id="16" name="Text 14"/>
          <p:cNvSpPr txBox="1"/>
          <p:nvPr/>
        </p:nvSpPr>
        <p:spPr>
          <a:xfrm>
            <a:off x="822960" y="3928872"/>
            <a:ext cx="6293449" cy="15544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DNS (sourceValue). No payload field is read: neither IP nor OS influences the result.</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hardware CI whose name equals the scanned FQDN; null when none or more than one carries it.</a:t>
            </a:r>
            <a:endParaRPr lang="en-US" sz="1400" dirty="0"/>
          </a:p>
        </p:txBody>
      </p:sp>
      <p:sp>
        <p:nvSpPr>
          <p:cNvPr id="17" name="Shape 15"/>
          <p:cNvSpPr/>
          <p:nvPr/>
        </p:nvSpPr>
        <p:spPr>
          <a:xfrm>
            <a:off x="7665049" y="3380232"/>
            <a:ext cx="4020983" cy="2286000"/>
          </a:xfrm>
          <a:prstGeom prst="roundRect">
            <a:avLst>
              <a:gd name="adj" fmla="val 240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5631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3837432"/>
            <a:ext cx="457200" cy="0"/>
          </a:xfrm>
          <a:prstGeom prst="line">
            <a:avLst/>
          </a:prstGeom>
          <a:noFill/>
          <a:ln w="19050">
            <a:solidFill>
              <a:srgbClr val="E31837"/>
            </a:solidFill>
            <a:prstDash val="solid"/>
          </a:ln>
        </p:spPr>
      </p:sp>
      <p:sp>
        <p:nvSpPr>
          <p:cNvPr id="20" name="Text 18"/>
          <p:cNvSpPr txBox="1"/>
          <p:nvPr/>
        </p:nvSpPr>
        <p:spPr>
          <a:xfrm>
            <a:off x="7985089" y="3928872"/>
            <a:ext cx="3380903" cy="54864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100" dirty="0">
                <a:solidFill>
                  <a:srgbClr val="4D4F53"/>
                </a:solidFill>
                <a:latin typeface="Arial" pitchFamily="34" charset="0"/>
                <a:ea typeface="Arial" pitchFamily="34" charset="-122"/>
                <a:cs typeface="Arial" pitchFamily="34" charset="-120"/>
              </a:rPr>
              <a:t>Network Interface Name Match</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100" dirty="0">
                <a:solidFill>
                  <a:srgbClr val="4D4F53"/>
                </a:solidFill>
                <a:latin typeface="Arial" pitchFamily="34" charset="0"/>
                <a:ea typeface="Arial" pitchFamily="34" charset="-122"/>
                <a:cs typeface="Arial" pitchFamily="34" charset="-120"/>
              </a:rPr>
              <a:t>Load Balancer Member Match</a:t>
            </a:r>
            <a:endParaRPr lang="en-US" sz="1100" dirty="0"/>
          </a:p>
        </p:txBody>
      </p:sp>
      <p:sp>
        <p:nvSpPr>
          <p:cNvPr id="21" name="Text 19"/>
          <p:cNvSpPr txBox="1"/>
          <p:nvPr/>
        </p:nvSpPr>
        <p:spPr>
          <a:xfrm>
            <a:off x="7985089" y="45689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29,770</a:t>
            </a:r>
            <a:endParaRPr lang="en-US" sz="2800" dirty="0"/>
          </a:p>
        </p:txBody>
      </p:sp>
      <p:sp>
        <p:nvSpPr>
          <p:cNvPr id="22" name="Text 20"/>
          <p:cNvSpPr txBox="1"/>
          <p:nvPr/>
        </p:nvSpPr>
        <p:spPr>
          <a:xfrm>
            <a:off x="7985089" y="51358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127</a:t>
            </a:fld>
            <a:endParaRPr 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450  ·  NAME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Name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5540"/>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1   Guard and normalise the DNS value.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2   Require a dotted name.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3   Build the ignored-class list.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4   Query cmdb_ci_hardware on the name field.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GlideRecord('cmdb_ci_hardware'), addQuery('name', normalised FQDN), the NOT IN ignore condition when set, then query(). The whole string including the domain is compared; Hardware and every class beneath it are searched. No setLimit, no isValid() guard.</a:t>
            </a:r>
            <a:endParaRPr lang="en-US" sz="1350" dirty="0"/>
          </a:p>
        </p:txBody>
      </p:sp>
      <p:sp>
        <p:nvSpPr>
          <p:cNvPr id="10" name="Text 8"/>
          <p:cNvSpPr txBox="1"/>
          <p:nvPr/>
        </p:nvSpPr>
        <p:spPr>
          <a:xfrm>
            <a:off x="6277356"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5   Take the first row with next().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If gr.next() is false the rule returns null. Otherwise match holds gr.getUniqueValue() of that first row.</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6   Reject a second row with hasNext().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If gr.hasNext() is true a second CI carries the same name and the rule returns null; the scanned IP, the class or a retired status never break the tie.</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7   Return the single match.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match is returned only when the query produced exactly one row. No IP tie-break, OS class, retired test or twin grouping exists in this script.</a:t>
            </a:r>
            <a:endParaRPr lang="en-US" sz="13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128</a:t>
            </a:fld>
            <a:endParaRPr 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450  ·  NAME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Name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263140"/>
          </a:xfrm>
          <a:prstGeom prst="roundRect">
            <a:avLst>
              <a:gd name="adj" fmla="val 242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9339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16230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 or absent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normalised DNS value contains no '.' (a bare hostname)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CI under cmdb_ci_hardware outside the ignored classes has name equal to the scanned FQDN</a:t>
            </a:r>
            <a:endParaRPr lang="en-US" sz="1500" dirty="0"/>
          </a:p>
        </p:txBody>
      </p:sp>
      <p:sp>
        <p:nvSpPr>
          <p:cNvPr id="13" name="Text 11"/>
          <p:cNvSpPr txBox="1"/>
          <p:nvPr/>
        </p:nvSpPr>
        <p:spPr>
          <a:xfrm>
            <a:off x="6277356" y="1975104"/>
            <a:ext cx="5088636" cy="16230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such CIs share that name (gr.hasNext() true), whatever their IP, class or status</a:t>
            </a:r>
            <a:endParaRPr lang="en-US" sz="1500" dirty="0"/>
          </a:p>
        </p:txBody>
      </p:sp>
      <p:sp>
        <p:nvSpPr>
          <p:cNvPr id="14" name="Shape 12"/>
          <p:cNvSpPr/>
          <p:nvPr/>
        </p:nvSpPr>
        <p:spPr>
          <a:xfrm>
            <a:off x="502920" y="39364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39364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Load Balancer Member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129</a:t>
            </a:fld>
            <a:endParaRPr 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450  ·  FQDN NAME HARDWARE MATCH  ·  EXAMPLE 1 OF 1</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ca9-107-01-m02.bankofamerica.com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printer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375664"/>
          </a:xfrm>
          <a:prstGeom prst="roundRect">
            <a:avLst>
              <a:gd name="adj" fmla="val 3988"/>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86360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"ca9-107-01-m02" is not sep + 12 hex)  ·  device name (OS gives the class printer)  ·  controller (no controller suffix or OS word)  ·  interface (no interface domain or marker)</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name + domain (no record named "ca9-107-01-m02")  ·  layered DNS (no DNS Name record for "ca9-107-01-m02.bankofamerica.com")  ·  host name (no record in the hardware tree named "ca9-107-01-m02")</a:t>
            </a:r>
            <a:endParaRPr lang="en-US" sz="1100" dirty="0"/>
          </a:p>
        </p:txBody>
      </p:sp>
      <p:sp>
        <p:nvSpPr>
          <p:cNvPr id="12" name="Shape 10"/>
          <p:cNvSpPr/>
          <p:nvPr/>
        </p:nvSpPr>
        <p:spPr>
          <a:xfrm>
            <a:off x="502920" y="2966720"/>
            <a:ext cx="2788920" cy="343408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12216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396488"/>
            <a:ext cx="457200" cy="0"/>
          </a:xfrm>
          <a:prstGeom prst="line">
            <a:avLst/>
          </a:prstGeom>
          <a:noFill/>
          <a:ln w="19050">
            <a:solidFill>
              <a:srgbClr val="E31837"/>
            </a:solidFill>
            <a:prstDash val="solid"/>
          </a:ln>
        </p:spPr>
      </p:sp>
      <p:sp>
        <p:nvSpPr>
          <p:cNvPr id="15" name="Text 13"/>
          <p:cNvSpPr txBox="1"/>
          <p:nvPr/>
        </p:nvSpPr>
        <p:spPr>
          <a:xfrm>
            <a:off x="740664" y="344220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SDI000003103157</a:t>
            </a:r>
            <a:endParaRPr lang="en-US" sz="1500" dirty="0"/>
          </a:p>
        </p:txBody>
      </p:sp>
      <p:sp>
        <p:nvSpPr>
          <p:cNvPr id="16" name="Text 14"/>
          <p:cNvSpPr txBox="1"/>
          <p:nvPr/>
        </p:nvSpPr>
        <p:spPr>
          <a:xfrm>
            <a:off x="740664" y="3807968"/>
            <a:ext cx="2313432" cy="18796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ca9-107-01-m02.bankofamerica.com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10.165.133.9</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HP LaserJet Printer</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05:52:39</a:t>
            </a:r>
            <a:endParaRPr lang="en-US" sz="1200" dirty="0"/>
          </a:p>
        </p:txBody>
      </p:sp>
      <p:sp>
        <p:nvSpPr>
          <p:cNvPr id="17" name="Text 15">
            <a:hlinkClick r:id="rId1" tooltip="https://bofasecopsdev.service-now.com/sn_sec_cmn_src_ci_list.do?sysparm_query=number=SDI000003103157"/>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10315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966720"/>
            <a:ext cx="4745736" cy="3434080"/>
          </a:xfrm>
          <a:prstGeom prst="roundRect">
            <a:avLst>
              <a:gd name="adj" fmla="val 1598"/>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12216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396488"/>
            <a:ext cx="457200" cy="0"/>
          </a:xfrm>
          <a:prstGeom prst="line">
            <a:avLst/>
          </a:prstGeom>
          <a:noFill/>
          <a:ln w="19050">
            <a:solidFill>
              <a:srgbClr val="E31837"/>
            </a:solidFill>
            <a:prstDash val="solid"/>
          </a:ln>
        </p:spPr>
      </p:sp>
      <p:sp>
        <p:nvSpPr>
          <p:cNvPr id="21" name="Text 19"/>
          <p:cNvSpPr txBox="1"/>
          <p:nvPr/>
        </p:nvSpPr>
        <p:spPr>
          <a:xfrm>
            <a:off x="3749040" y="3469640"/>
            <a:ext cx="4233672" cy="277571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"ca9-107-01-m02.bankofamerica.com" searched on the name field of the whole hardware tree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named with the whole fqdn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CA9-107-01-M02.BANKOFAMERICA.COM [printer] -&gt; exactly one, accepted</a:t>
            </a:r>
            <a:endParaRPr lang="en-US" sz="1300" dirty="0"/>
          </a:p>
        </p:txBody>
      </p:sp>
      <p:sp>
        <p:nvSpPr>
          <p:cNvPr id="22" name="Shape 20"/>
          <p:cNvSpPr/>
          <p:nvPr/>
        </p:nvSpPr>
        <p:spPr>
          <a:xfrm>
            <a:off x="8439912" y="2966720"/>
            <a:ext cx="3246120" cy="343408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131312"/>
            <a:ext cx="64008" cy="3104896"/>
          </a:xfrm>
          <a:prstGeom prst="rect">
            <a:avLst/>
          </a:prstGeom>
          <a:solidFill>
            <a:srgbClr val="E31837"/>
          </a:solidFill>
          <a:ln w="12700">
            <a:solidFill>
              <a:srgbClr val="333333"/>
            </a:solidFill>
            <a:prstDash val="solid"/>
          </a:ln>
        </p:spPr>
      </p:sp>
      <p:sp>
        <p:nvSpPr>
          <p:cNvPr id="24" name="Text 22"/>
          <p:cNvSpPr txBox="1"/>
          <p:nvPr/>
        </p:nvSpPr>
        <p:spPr>
          <a:xfrm>
            <a:off x="8714232" y="312216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396488"/>
            <a:ext cx="457200" cy="0"/>
          </a:xfrm>
          <a:prstGeom prst="line">
            <a:avLst/>
          </a:prstGeom>
          <a:noFill/>
          <a:ln w="19050">
            <a:solidFill>
              <a:srgbClr val="E31837"/>
            </a:solidFill>
            <a:prstDash val="solid"/>
          </a:ln>
        </p:spPr>
      </p:sp>
      <p:sp>
        <p:nvSpPr>
          <p:cNvPr id="26" name="Text 24"/>
          <p:cNvSpPr txBox="1"/>
          <p:nvPr/>
        </p:nvSpPr>
        <p:spPr>
          <a:xfrm>
            <a:off x="8714232" y="3442208"/>
            <a:ext cx="2715768" cy="292608"/>
          </a:xfrm>
          <a:prstGeom prst="rect">
            <a:avLst/>
          </a:prstGeom>
          <a:noFill/>
          <a:ln/>
        </p:spPr>
        <p:txBody>
          <a:bodyPr wrap="square" lIns="0" tIns="0" rIns="0" bIns="0" rtlCol="0" anchor="t"/>
          <a:lstStyle/>
          <a:p>
            <a:pPr indent="0" marL="0">
              <a:buNone/>
            </a:pPr>
            <a:r>
              <a:rPr lang="en-US" sz="1200" b="1" dirty="0">
                <a:solidFill>
                  <a:srgbClr val="012169"/>
                </a:solidFill>
                <a:latin typeface="Arial" pitchFamily="34" charset="0"/>
                <a:ea typeface="Arial" pitchFamily="34" charset="-122"/>
                <a:cs typeface="Arial" pitchFamily="34" charset="-120"/>
              </a:rPr>
              <a:t>CA9-107-01-M02.BANKOFAMERICA.COM</a:t>
            </a:r>
            <a:endParaRPr lang="en-US" sz="1200" dirty="0"/>
          </a:p>
        </p:txBody>
      </p:sp>
      <p:sp>
        <p:nvSpPr>
          <p:cNvPr id="27" name="Text 25"/>
          <p:cNvSpPr txBox="1"/>
          <p:nvPr/>
        </p:nvSpPr>
        <p:spPr>
          <a:xfrm>
            <a:off x="8714232" y="376224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Printer</a:t>
            </a:r>
            <a:endParaRPr lang="en-US" sz="1100" dirty="0"/>
          </a:p>
        </p:txBody>
      </p:sp>
      <p:sp>
        <p:nvSpPr>
          <p:cNvPr id="28" name="Text 26"/>
          <p:cNvSpPr txBox="1"/>
          <p:nvPr/>
        </p:nvSpPr>
        <p:spPr>
          <a:xfrm>
            <a:off x="8714232" y="4082288"/>
            <a:ext cx="2715768" cy="16052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MXBCQBV0FZ</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 Packard HP E52645c MFP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printer.do?sys_id=7ed9e0b82b86ae54d50dffbdbe91bf4b"/>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7ed9e0b82b86ae54d50dffbdbe91bf4b"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130</a:t>
            </a:fld>
            <a:endParaRPr 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450  ·  FQDN NAME HARDWARE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ca9-107-01-m02.bankofamerica.com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e8ddba3a93fec310cfcebc5a7bba10fc" history="1" highlightClick="0" endSnd="0">
                  <a:extLst>
                    <a:ext uri="{A12FA001-AC4F-418D-AE19-62706E023703}">
                      <ahyp:hlinkClr xmlns:ahyp="http://schemas.microsoft.com/office/drawing/2018/hyperlinkcolor" val="tx"/>
                    </a:ext>
                  </a:extLst>
                </a:hlinkClick>
              </a:rPr>
              <a:t>SDI000003103157</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0678604f47624710a1a9295b416d4377" history="1" highlightClick="0" endSnd="0">
                  <a:extLst>
                    <a:ext uri="{A12FA001-AC4F-418D-AE19-62706E023703}">
                      <ahyp:hlinkClr xmlns:ahyp="http://schemas.microsoft.com/office/drawing/2018/hyperlinkcolor" val="tx"/>
                    </a:ext>
                  </a:extLst>
                </a:hlinkClick>
              </a:rPr>
              <a:t>BOFA FQDN Name Hardware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printer.do?sys_id=7ed9e0b82b86ae54d50dffbdbe91bf4b" history="1" highlightClick="0" endSnd="0">
                  <a:extLst>
                    <a:ext uri="{A12FA001-AC4F-418D-AE19-62706E023703}">
                      <ahyp:hlinkClr xmlns:ahyp="http://schemas.microsoft.com/office/drawing/2018/hyperlinkcolor" val="tx"/>
                    </a:ext>
                  </a:extLst>
                </a:hlinkClick>
              </a:rPr>
              <a:t>CA9-107-01-M02.BANKOFAMERICA.COM</a:t>
            </a:r>
            <a:endParaRPr lang="en-US" sz="1000" dirty="0"/>
          </a:p>
        </p:txBody>
      </p:sp>
      <p:graphicFrame>
        <p:nvGraphicFramePr>
          <p:cNvPr id="132"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The whole DNS name, dots included, is searched on the name field of the whole Hardware tree.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"ca9-107-01-m02.bankofamerica.com" searched on the name field of the whole hardware tree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named with the whole fqdn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name equal to the whole DNS name, ignored classes left out; exactly one row is returned.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CA9-107-01-M02.BANKOFAMERICA.COM [printer]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hardware_list.do?sysparm_query=name%3Dca9-107-01-m02.bankofamerica.com" history="1" highlightClick="0" endSnd="0">
                            <a:extLst>
                              <a:ext uri="{A12FA001-AC4F-418D-AE19-62706E023703}">
                                <ahyp:hlinkClr xmlns:ahyp="http://schemas.microsoft.com/office/drawing/2018/hyperlinkcolor" val="tx"/>
                              </a:ext>
                            </a:extLst>
                          </a:hlinkClick>
                        </a:rPr>
                        <a:t>Hardware: name=ca9-107-01-m02.bankofamerica.com</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printer.do?sys_id=7ed9e0b82b86ae54d50dffbdbe91bf4b" history="1" highlightClick="0" endSnd="0">
                            <a:extLst>
                              <a:ext uri="{A12FA001-AC4F-418D-AE19-62706E023703}">
                                <ahyp:hlinkClr xmlns:ahyp="http://schemas.microsoft.com/office/drawing/2018/hyperlinkcolor" val="tx"/>
                              </a:ext>
                            </a:extLst>
                          </a:hlinkClick>
                        </a:rPr>
                        <a:t>CA9-107-01-M02.BANKOFAMERICA.COM</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131</a:t>
            </a:fld>
            <a:endParaRPr 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455  ·  CONTROLLERS, INTERFACES, VIRTUAL SERVERS  ·  1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Load Balancer Member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935480"/>
          </a:xfrm>
          <a:prstGeom prst="roundRect">
            <a:avLst>
              <a:gd name="adj" fmla="val 28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6062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2954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CMDB's own load balancer model rather than any host identifier: when the virtual server the scan hit has a fully known pool whose every member leads to one and the same machine, that machine owns the findings.</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after the hardware rules, which find no server for a VIP, and before USEM Load Balancer Service Match so that a real server is preferred to the VIP record.</a:t>
            </a:r>
            <a:endParaRPr lang="en-US" sz="1500" dirty="0"/>
          </a:p>
        </p:txBody>
      </p:sp>
      <p:sp>
        <p:nvSpPr>
          <p:cNvPr id="13" name="Shape 11"/>
          <p:cNvSpPr/>
          <p:nvPr/>
        </p:nvSpPr>
        <p:spPr>
          <a:xfrm>
            <a:off x="502920" y="3608832"/>
            <a:ext cx="6933529" cy="2352040"/>
          </a:xfrm>
          <a:prstGeom prst="roundRect">
            <a:avLst>
              <a:gd name="adj" fmla="val 2333"/>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7917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066032"/>
            <a:ext cx="457200" cy="0"/>
          </a:xfrm>
          <a:prstGeom prst="line">
            <a:avLst/>
          </a:prstGeom>
          <a:noFill/>
          <a:ln w="19050">
            <a:solidFill>
              <a:srgbClr val="E31837"/>
            </a:solidFill>
            <a:prstDash val="solid"/>
          </a:ln>
        </p:spPr>
      </p:sp>
      <p:sp>
        <p:nvSpPr>
          <p:cNvPr id="16" name="Text 14"/>
          <p:cNvSpPr txBox="1"/>
          <p:nvPr/>
        </p:nvSpPr>
        <p:spPr>
          <a:xfrm>
            <a:off x="822960" y="4157472"/>
            <a:ext cx="6293449" cy="162052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IP (sourceValue); payload fields DNS and OS from sourcePayload; the framework variable _ignoreClass when it is passed, else the property sn_sec_cmn.ignoreCIClass.</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one cmdb_ci_hardware record behind the virtual server (the single live record when that machine is recorded more than once under one name); otherwise null.</a:t>
            </a:r>
            <a:endParaRPr lang="en-US" sz="1400" dirty="0"/>
          </a:p>
        </p:txBody>
      </p:sp>
      <p:sp>
        <p:nvSpPr>
          <p:cNvPr id="17" name="Shape 15"/>
          <p:cNvSpPr/>
          <p:nvPr/>
        </p:nvSpPr>
        <p:spPr>
          <a:xfrm>
            <a:off x="7665049" y="3608832"/>
            <a:ext cx="4020983" cy="2352040"/>
          </a:xfrm>
          <a:prstGeom prst="roundRect">
            <a:avLst>
              <a:gd name="adj" fmla="val 2333"/>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7917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066032"/>
            <a:ext cx="457200" cy="0"/>
          </a:xfrm>
          <a:prstGeom prst="line">
            <a:avLst/>
          </a:prstGeom>
          <a:noFill/>
          <a:ln w="19050">
            <a:solidFill>
              <a:srgbClr val="E31837"/>
            </a:solidFill>
            <a:prstDash val="solid"/>
          </a:ln>
        </p:spPr>
      </p:sp>
      <p:sp>
        <p:nvSpPr>
          <p:cNvPr id="20" name="Text 18"/>
          <p:cNvSpPr txBox="1"/>
          <p:nvPr/>
        </p:nvSpPr>
        <p:spPr>
          <a:xfrm>
            <a:off x="7985089" y="4157472"/>
            <a:ext cx="3380903" cy="614680"/>
          </a:xfrm>
          <a:prstGeom prst="rect">
            <a:avLst/>
          </a:prstGeom>
          <a:noFill/>
          <a:ln/>
        </p:spPr>
        <p:txBody>
          <a:bodyPr wrap="square" lIns="0" tIns="0" rIns="0" bIns="0" rtlCol="0" anchor="t"/>
          <a:lstStyle/>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FQDN Name Hardware Match</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Load Balancer Service Match</a:t>
            </a:r>
            <a:endParaRPr lang="en-US" sz="1250" dirty="0"/>
          </a:p>
        </p:txBody>
      </p:sp>
      <p:sp>
        <p:nvSpPr>
          <p:cNvPr id="21" name="Text 19"/>
          <p:cNvSpPr txBox="1"/>
          <p:nvPr/>
        </p:nvSpPr>
        <p:spPr>
          <a:xfrm>
            <a:off x="7985089" y="486359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7</a:t>
            </a:r>
            <a:endParaRPr lang="en-US" sz="2800" dirty="0"/>
          </a:p>
        </p:txBody>
      </p:sp>
      <p:sp>
        <p:nvSpPr>
          <p:cNvPr id="22" name="Text 20"/>
          <p:cNvSpPr txBox="1"/>
          <p:nvPr/>
        </p:nvSpPr>
        <p:spPr>
          <a:xfrm>
            <a:off x="7985089" y="543052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132</a:t>
            </a:fld>
            <a:endParaRPr 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455  ·  CONTROLLERS, INTERFACES, VIRTUAL SERVERS  ·  2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Load Balancer Member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  ·  steps 1 to 5</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831080"/>
          </a:xfrm>
          <a:prstGeom prst="roundRect">
            <a:avLst>
              <a:gd name="adj" fmla="val 113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2824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1   Address guard and normalisation.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Null when sourceValue is empty. The IP is coerced to a string and trimmed; empty, or starting with "127." or "169.254.", returns null. DNS is trimmed and lower-cased, the label is the text before the first ".", OS is lower-cased without trimming.</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2   Ignore list.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The ignore classes come from the framework variable _ignoreClass when defined and non-empty, else gs.getProperty('sn_sec_cmn.ignoreCIClass', ''); when non-empty, applied as sys_class_name NOT IN on each service query and by exact class name in isRealServer.</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3   VIP sign.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Goes on only when the lower-cased OS contains 'f5', 'big-ip', 'big ip' or 'netscaler', or a hyphen segment of the label equals 'vip' or 'vs', is that word plus digits only, or (words of 3+ letters, so 'vip') ends in the word. Otherwise null.</a:t>
            </a:r>
            <a:endParaRPr lang="en-US" sz="1500" dirty="0"/>
          </a:p>
        </p:txBody>
      </p:sp>
      <p:sp>
        <p:nvSpPr>
          <p:cNvPr id="10" name="Text 8"/>
          <p:cNvSpPr txBox="1"/>
          <p:nvPr/>
        </p:nvSpPr>
        <p:spPr>
          <a:xfrm>
            <a:off x="6277356" y="1746504"/>
            <a:ext cx="5088636" cy="42824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4   The virtual server in cmdb_ci_lb_service.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Four steps, stopping at the first that finds rows: fqdn = dns, name = dns, name = label, ip_address = ip, with sys_class_name NOT IN the ignore list when it is non-empty. An empty search value skips its step; an invalid cmdb_ci_lb_service table returns null.</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5   Twins of one virtual server.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Each step reads all rows with next() and collects trimmed lower-cased names before narrowing; two distinct names return null. Rows narrow to those whose ip_address equals the scanned IP, then, if more than one remains, to the live ones; all left are twins.</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133</a:t>
            </a:fld>
            <a:endParaRPr 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455  ·  CONTROLLERS, INTERFACES, VIRTUAL SERVERS  ·  3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Load Balancer Member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  ·  steps 6 to 9</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831080"/>
          </a:xfrm>
          <a:prstGeom prst="roundRect">
            <a:avLst>
              <a:gd name="adj" fmla="val 113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2824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6   Pools behind every twin.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For each twin: the pool reference field on cmdb_ci_lb_service, every cmdb_ci_lb_pool whose service field is the twin, and every cmdb_ci_lb_pool tied to the twin through cmdb_rel_ci in either direction. No pool at all returns null.</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7   Members and their addresses.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Members are cmdb_ci_lb_pool_member rows (table valid) with pool IN the pool ids, plus members tied to a pool through cmdb_rel_ci, one already listed skipped; each is kept with its ip_address, an empty one as '' so no address search runs. None returns null.</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8   Placing each member on a server.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Each address is looked for in cmdb_ci_hardware.ip_address, cmdb_ci_network_adapter.ip_address (cmdb_ci not empty) and cmdb_ci_ip_address.ip_address (nic.cmdb_ci not empty); each member also follows cmdb_rel_ci to hardware. Hits pass isRealServer through keep.</a:t>
            </a:r>
            <a:endParaRPr lang="en-US" sz="1500" dirty="0"/>
          </a:p>
        </p:txBody>
      </p:sp>
      <p:sp>
        <p:nvSpPr>
          <p:cNvPr id="10" name="Text 8"/>
          <p:cNvSpPr txBox="1"/>
          <p:nvPr/>
        </p:nvSpPr>
        <p:spPr>
          <a:xfrm>
            <a:off x="6277356" y="1746504"/>
            <a:ext cx="5088636" cy="42824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9   Deciding the one machine.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Servers are keyed by the first label of their lower-cased name; a member leading to none counts as unplaced. Any unplaced member, or not exactly one name, returns null. One record is returned; of several records of one name, a single live one, else null.</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134</a:t>
            </a:fld>
            <a:endParaRPr 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455  ·  CONTROLLERS, INTERFACES, VIRTUAL SERVERS  ·  4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Load Balancer Member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087368"/>
          </a:xfrm>
          <a:prstGeom prst="roundRect">
            <a:avLst>
              <a:gd name="adj" fmla="val 134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3758184"/>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3447288"/>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350" dirty="0">
                <a:solidFill>
                  <a:srgbClr val="4D4F53"/>
                </a:solidFill>
                <a:latin typeface="Arial" pitchFamily="34" charset="0"/>
                <a:ea typeface="Arial" pitchFamily="34" charset="-122"/>
                <a:cs typeface="Arial" pitchFamily="34" charset="-120"/>
              </a:rPr>
              <a:t>SourceValue is empty, or the trimmed IP is empty or starts with "127." or "169.254."</a:t>
            </a:r>
            <a:endParaRPr lang="en-US" sz="1350" dirty="0"/>
          </a:p>
          <a:p>
            <a:pPr marL="177800" indent="-177800">
              <a:lnSpc>
                <a:spcPct val="100000"/>
              </a:lnSpc>
              <a:spcAft>
                <a:spcPts val="900"/>
              </a:spcAft>
              <a:buSzPct val="100000"/>
              <a:buChar char="•"/>
            </a:pPr>
            <a:r>
              <a:rPr lang="en-US" sz="1350" dirty="0">
                <a:solidFill>
                  <a:srgbClr val="4D4F53"/>
                </a:solidFill>
                <a:latin typeface="Arial" pitchFamily="34" charset="0"/>
                <a:ea typeface="Arial" pitchFamily="34" charset="-122"/>
                <a:cs typeface="Arial" pitchFamily="34" charset="-120"/>
              </a:rPr>
              <a:t>No VIP sign: the OS contains none of 'f5', 'big-ip', 'big ip', 'netscaler' and no hyphen segment of the DNS label is a 'vip' or 'vs' marker</a:t>
            </a:r>
            <a:endParaRPr lang="en-US" sz="1350" dirty="0"/>
          </a:p>
          <a:p>
            <a:pPr marL="177800" indent="-177800">
              <a:lnSpc>
                <a:spcPct val="100000"/>
              </a:lnSpc>
              <a:spcAft>
                <a:spcPts val="900"/>
              </a:spcAft>
              <a:buSzPct val="100000"/>
              <a:buChar char="•"/>
            </a:pPr>
            <a:r>
              <a:rPr lang="en-US" sz="1350" dirty="0">
                <a:solidFill>
                  <a:srgbClr val="4D4F53"/>
                </a:solidFill>
                <a:latin typeface="Arial" pitchFamily="34" charset="0"/>
                <a:ea typeface="Arial" pitchFamily="34" charset="-122"/>
                <a:cs typeface="Arial" pitchFamily="34" charset="-120"/>
              </a:rPr>
              <a:t>Cmdb_ci_lb_service is not a valid table on the instance</a:t>
            </a:r>
            <a:endParaRPr lang="en-US" sz="1350" dirty="0"/>
          </a:p>
          <a:p>
            <a:pPr marL="177800" indent="-177800">
              <a:lnSpc>
                <a:spcPct val="100000"/>
              </a:lnSpc>
              <a:spcAft>
                <a:spcPts val="900"/>
              </a:spcAft>
              <a:buSzPct val="100000"/>
              <a:buChar char="•"/>
            </a:pPr>
            <a:r>
              <a:rPr lang="en-US" sz="1350" dirty="0">
                <a:solidFill>
                  <a:srgbClr val="4D4F53"/>
                </a:solidFill>
                <a:latin typeface="Arial" pitchFamily="34" charset="0"/>
                <a:ea typeface="Arial" pitchFamily="34" charset="-122"/>
                <a:cs typeface="Arial" pitchFamily="34" charset="-120"/>
              </a:rPr>
              <a:t>A search step returns cmdb_ci_lb_service records with two or more distinct names (trimmed, lower-cased)</a:t>
            </a:r>
            <a:endParaRPr lang="en-US" sz="1350" dirty="0"/>
          </a:p>
          <a:p>
            <a:pPr marL="177800" indent="-177800">
              <a:lnSpc>
                <a:spcPct val="100000"/>
              </a:lnSpc>
              <a:spcAft>
                <a:spcPts val="900"/>
              </a:spcAft>
              <a:buSzPct val="100000"/>
              <a:buChar char="•"/>
            </a:pPr>
            <a:r>
              <a:rPr lang="en-US" sz="1350" dirty="0">
                <a:solidFill>
                  <a:srgbClr val="4D4F53"/>
                </a:solidFill>
                <a:latin typeface="Arial" pitchFamily="34" charset="0"/>
                <a:ea typeface="Arial" pitchFamily="34" charset="-122"/>
                <a:cs typeface="Arial" pitchFamily="34" charset="-120"/>
              </a:rPr>
              <a:t>None of the four steps (fqdn = dns, name = dns, name = label, ip_address = ip) finds a cmdb_ci_lb_service record outside the ignore classes</a:t>
            </a:r>
            <a:endParaRPr lang="en-US" sz="1350" dirty="0"/>
          </a:p>
          <a:p>
            <a:pPr marL="177800" indent="-177800">
              <a:lnSpc>
                <a:spcPct val="100000"/>
              </a:lnSpc>
              <a:spcAft>
                <a:spcPts val="900"/>
              </a:spcAft>
              <a:buSzPct val="100000"/>
              <a:buChar char="•"/>
            </a:pPr>
            <a:r>
              <a:rPr lang="en-US" sz="1350" dirty="0">
                <a:solidFill>
                  <a:srgbClr val="4D4F53"/>
                </a:solidFill>
                <a:latin typeface="Arial" pitchFamily="34" charset="0"/>
                <a:ea typeface="Arial" pitchFamily="34" charset="-122"/>
                <a:cs typeface="Arial" pitchFamily="34" charset="-120"/>
              </a:rPr>
              <a:t>No pool reached from any kept service record: empty pool field, no cmdb_ci_lb_pool with service = that record, no pool related through cmdb_rel_ci</a:t>
            </a:r>
            <a:endParaRPr lang="en-US" sz="1350" dirty="0"/>
          </a:p>
        </p:txBody>
      </p:sp>
      <p:sp>
        <p:nvSpPr>
          <p:cNvPr id="13" name="Text 11"/>
          <p:cNvSpPr txBox="1"/>
          <p:nvPr/>
        </p:nvSpPr>
        <p:spPr>
          <a:xfrm>
            <a:off x="6277356" y="1975104"/>
            <a:ext cx="5088636" cy="3447288"/>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350" dirty="0">
                <a:solidFill>
                  <a:srgbClr val="4D4F53"/>
                </a:solidFill>
                <a:latin typeface="Arial" pitchFamily="34" charset="0"/>
                <a:ea typeface="Arial" pitchFamily="34" charset="-122"/>
                <a:cs typeface="Arial" pitchFamily="34" charset="-120"/>
              </a:rPr>
              <a:t>The pools have no cmdb_ci_lb_pool_member, neither by the member's pool field nor by a cmdb_rel_ci relationship</a:t>
            </a:r>
            <a:endParaRPr lang="en-US" sz="1350" dirty="0"/>
          </a:p>
          <a:p>
            <a:pPr marL="177800" indent="-177800">
              <a:lnSpc>
                <a:spcPct val="100000"/>
              </a:lnSpc>
              <a:spcAft>
                <a:spcPts val="900"/>
              </a:spcAft>
              <a:buSzPct val="100000"/>
              <a:buChar char="•"/>
            </a:pPr>
            <a:r>
              <a:rPr lang="en-US" sz="1350" dirty="0">
                <a:solidFill>
                  <a:srgbClr val="4D4F53"/>
                </a:solidFill>
                <a:latin typeface="Arial" pitchFamily="34" charset="0"/>
                <a:ea typeface="Arial" pitchFamily="34" charset="-122"/>
                <a:cs typeface="Arial" pitchFamily="34" charset="-120"/>
              </a:rPr>
              <a:t>Any member leads to no real server (unresolved count above zero), leaving the pool partly unknown</a:t>
            </a:r>
            <a:endParaRPr lang="en-US" sz="1350" dirty="0"/>
          </a:p>
          <a:p>
            <a:pPr marL="177800" indent="-177800">
              <a:lnSpc>
                <a:spcPct val="100000"/>
              </a:lnSpc>
              <a:spcAft>
                <a:spcPts val="900"/>
              </a:spcAft>
              <a:buSzPct val="100000"/>
              <a:buChar char="•"/>
            </a:pPr>
            <a:r>
              <a:rPr lang="en-US" sz="1350" dirty="0">
                <a:solidFill>
                  <a:srgbClr val="4D4F53"/>
                </a:solidFill>
                <a:latin typeface="Arial" pitchFamily="34" charset="0"/>
                <a:ea typeface="Arial" pitchFamily="34" charset="-122"/>
                <a:cs typeface="Arial" pitchFamily="34" charset="-120"/>
              </a:rPr>
              <a:t>The servers found carry zero, or two or more, distinct name labels (no server, or two different machines)</a:t>
            </a:r>
            <a:endParaRPr lang="en-US" sz="1350" dirty="0"/>
          </a:p>
          <a:p>
            <a:pPr marL="177800" indent="-177800">
              <a:lnSpc>
                <a:spcPct val="100000"/>
              </a:lnSpc>
              <a:spcAft>
                <a:spcPts val="900"/>
              </a:spcAft>
              <a:buSzPct val="100000"/>
              <a:buChar char="•"/>
            </a:pPr>
            <a:r>
              <a:rPr lang="en-US" sz="1350" dirty="0">
                <a:solidFill>
                  <a:srgbClr val="4D4F53"/>
                </a:solidFill>
                <a:latin typeface="Arial" pitchFamily="34" charset="0"/>
                <a:ea typeface="Arial" pitchFamily="34" charset="-122"/>
                <a:cs typeface="Arial" pitchFamily="34" charset="-120"/>
              </a:rPr>
              <a:t>The one machine is recorded more than once and the live (not retired) records among them number zero or more than one</a:t>
            </a:r>
            <a:endParaRPr lang="en-US" sz="1350" dirty="0"/>
          </a:p>
        </p:txBody>
      </p:sp>
      <p:sp>
        <p:nvSpPr>
          <p:cNvPr id="14" name="Shape 12"/>
          <p:cNvSpPr/>
          <p:nvPr/>
        </p:nvSpPr>
        <p:spPr>
          <a:xfrm>
            <a:off x="502920" y="5760720"/>
            <a:ext cx="11183112" cy="640080"/>
          </a:xfrm>
          <a:prstGeom prst="roundRect">
            <a:avLst>
              <a:gd name="adj" fmla="val 8571"/>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5760720"/>
            <a:ext cx="10543032" cy="640080"/>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Load Balancer Service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135</a:t>
            </a:fld>
            <a:endParaRPr 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455  ·  LOAD BALANCER MEMBER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boluiv4-dev2-benefits-l7-vip1.dev.gwimnp.rpg</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one service / 1 member / 1 machine</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878584"/>
          </a:xfrm>
          <a:prstGeom prst="roundRect">
            <a:avLst>
              <a:gd name="adj" fmla="val 292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3665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"boluiv4-dev2-benefits-l7-vip1" is not sep + 12 hex)  ·  controller (no controller suffix or OS word)  ·  interface (no interface domain or marker)</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(OS "F5 Networks Big-IP" gives no class / no record in the hardware tree carries the fqdn)  ·  name + domain (OS "F5 Networks Big-IP" gives no class / no record named "boluiv4-dev2-benefits-l7-vip1")  ·  layered DNS (no DNS Name record for "boluiv4-dev2-benefits-l7-vip1.dev.gwimnp.rpg")  ·  host name (OS "F5 Networks Big-IP" gives no class / no record in the hardware tree named "boluiv4-dev2-benefits-l7-vip1")  ·  device name (none named "boluiv4-dev2-benefits-l7-vip1" in IP Phone or Imaging Hardware)  ·  whole-fqdn name (no record in the hardware tree named "boluiv4-dev2-benefits-l7-vip1.dev.gwimnp.rpg")</a:t>
            </a:r>
            <a:endParaRPr lang="en-US" sz="1100" dirty="0"/>
          </a:p>
        </p:txBody>
      </p:sp>
      <p:sp>
        <p:nvSpPr>
          <p:cNvPr id="12" name="Shape 10"/>
          <p:cNvSpPr/>
          <p:nvPr/>
        </p:nvSpPr>
        <p:spPr>
          <a:xfrm>
            <a:off x="502920" y="3469640"/>
            <a:ext cx="2788920" cy="29311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6250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899408"/>
            <a:ext cx="457200" cy="0"/>
          </a:xfrm>
          <a:prstGeom prst="line">
            <a:avLst/>
          </a:prstGeom>
          <a:noFill/>
          <a:ln w="19050">
            <a:solidFill>
              <a:srgbClr val="E31837"/>
            </a:solidFill>
            <a:prstDash val="solid"/>
          </a:ln>
        </p:spPr>
      </p:sp>
      <p:sp>
        <p:nvSpPr>
          <p:cNvPr id="15" name="Text 13"/>
          <p:cNvSpPr txBox="1"/>
          <p:nvPr/>
        </p:nvSpPr>
        <p:spPr>
          <a:xfrm>
            <a:off x="740664" y="39451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SDI000002993687</a:t>
            </a:r>
            <a:endParaRPr lang="en-US" sz="1500" dirty="0"/>
          </a:p>
        </p:txBody>
      </p:sp>
      <p:sp>
        <p:nvSpPr>
          <p:cNvPr id="16" name="Text 14"/>
          <p:cNvSpPr txBox="1"/>
          <p:nvPr/>
        </p:nvSpPr>
        <p:spPr>
          <a:xfrm>
            <a:off x="740664" y="4310888"/>
            <a:ext cx="2313432" cy="137668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boluiv4-dev2-benefits-l7-vip1.dev.gwimnp.rpg</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10.143.53.96</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F5 Networks Big-IP</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IP</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2026-09-20 10:40:47</a:t>
            </a:r>
            <a:endParaRPr lang="en-US" sz="1000" dirty="0"/>
          </a:p>
        </p:txBody>
      </p:sp>
      <p:sp>
        <p:nvSpPr>
          <p:cNvPr id="17" name="Text 15">
            <a:hlinkClick r:id="rId1" tooltip="https://bofasecopsdev.service-now.com/sn_sec_cmn_src_ci_list.do?sysparm_query=number=SDI000002993687"/>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9368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469640"/>
            <a:ext cx="4745736" cy="2931160"/>
          </a:xfrm>
          <a:prstGeom prst="roundRect">
            <a:avLst>
              <a:gd name="adj" fmla="val 187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6250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899408"/>
            <a:ext cx="457200" cy="0"/>
          </a:xfrm>
          <a:prstGeom prst="line">
            <a:avLst/>
          </a:prstGeom>
          <a:noFill/>
          <a:ln w="19050">
            <a:solidFill>
              <a:srgbClr val="E31837"/>
            </a:solidFill>
            <a:prstDash val="solid"/>
          </a:ln>
        </p:spPr>
      </p:sp>
      <p:sp>
        <p:nvSpPr>
          <p:cNvPr id="21" name="Text 19"/>
          <p:cNvSpPr txBox="1"/>
          <p:nvPr/>
        </p:nvSpPr>
        <p:spPr>
          <a:xfrm>
            <a:off x="3749040" y="3972560"/>
            <a:ext cx="4233672" cy="2272792"/>
          </a:xfrm>
          <a:prstGeom prst="rect">
            <a:avLst/>
          </a:prstGeom>
          <a:noFill/>
          <a:ln/>
        </p:spPr>
        <p:txBody>
          <a:bodyPr wrap="square" lIns="0" tIns="0" rIns="0" bIns="0" rtlCol="0" anchor="t"/>
          <a:lstStyle/>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1   VIP sign  </a:t>
            </a:r>
            <a:pPr indent="0" marL="0">
              <a:lnSpc>
                <a:spcPct val="100000"/>
              </a:lnSpc>
              <a:spcAft>
                <a:spcPts val="700"/>
              </a:spcAft>
              <a:buNone/>
            </a:pPr>
            <a:r>
              <a:rPr lang="en-US" sz="1000" dirty="0">
                <a:solidFill>
                  <a:srgbClr val="4D4F53"/>
                </a:solidFill>
                <a:latin typeface="Arial" pitchFamily="34" charset="0"/>
                <a:ea typeface="Arial" pitchFamily="34" charset="-122"/>
                <a:cs typeface="Arial" pitchFamily="34" charset="-120"/>
              </a:rPr>
              <a:t>OS has "f5", OS has "big-ip", label segment "vip1"</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2   Clues fqdn, name, name  </a:t>
            </a:r>
            <a:pPr indent="0" marL="0">
              <a:lnSpc>
                <a:spcPct val="100000"/>
              </a:lnSpc>
              <a:spcAft>
                <a:spcPts val="700"/>
              </a:spcAft>
              <a:buNone/>
            </a:pPr>
            <a:r>
              <a:rPr lang="en-US" sz="1000" dirty="0">
                <a:solidFill>
                  <a:srgbClr val="4D4F53"/>
                </a:solidFill>
                <a:latin typeface="Arial" pitchFamily="34" charset="0"/>
                <a:ea typeface="Arial" pitchFamily="34" charset="-122"/>
                <a:cs typeface="Arial" pitchFamily="34" charset="-120"/>
              </a:rPr>
              <a:t>no service record; next clue</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3   Clue 4: ip_address = "10.143.53.96"  </a:t>
            </a:r>
            <a:pPr indent="0" marL="0">
              <a:lnSpc>
                <a:spcPct val="100000"/>
              </a:lnSpc>
              <a:spcAft>
                <a:spcPts val="700"/>
              </a:spcAft>
              <a:buNone/>
            </a:pPr>
            <a:r>
              <a:rPr lang="en-US" sz="1000" dirty="0">
                <a:solidFill>
                  <a:srgbClr val="4D4F53"/>
                </a:solidFill>
                <a:latin typeface="Arial" pitchFamily="34" charset="0"/>
                <a:ea typeface="Arial" pitchFamily="34" charset="-122"/>
                <a:cs typeface="Arial" pitchFamily="34" charset="-120"/>
              </a:rPr>
              <a:t>1 service record: /Common/ihscore-dev2-boluiv4_benefits-6011-vip on 10.143.53.96 (svedpz1rp1lb12)</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4   Pools  </a:t>
            </a:r>
            <a:pPr indent="0" marL="0">
              <a:lnSpc>
                <a:spcPct val="100000"/>
              </a:lnSpc>
              <a:spcAft>
                <a:spcPts val="700"/>
              </a:spcAft>
              <a:buNone/>
            </a:pPr>
            <a:r>
              <a:rPr lang="en-US" sz="1000" dirty="0">
                <a:solidFill>
                  <a:srgbClr val="4D4F53"/>
                </a:solidFill>
                <a:latin typeface="Arial" pitchFamily="34" charset="0"/>
                <a:ea typeface="Arial" pitchFamily="34" charset="-122"/>
                <a:cs typeface="Arial" pitchFamily="34" charset="-120"/>
              </a:rPr>
              <a:t>1: /Common/ihscore-dev2-boluiv4_benefits-6011-pool (pool field)</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5   Members  </a:t>
            </a:r>
            <a:pPr indent="0" marL="0">
              <a:lnSpc>
                <a:spcPct val="100000"/>
              </a:lnSpc>
              <a:spcAft>
                <a:spcPts val="700"/>
              </a:spcAft>
              <a:buNone/>
            </a:pPr>
            <a:r>
              <a:rPr lang="en-US" sz="1000" dirty="0">
                <a:solidFill>
                  <a:srgbClr val="4D4F53"/>
                </a:solidFill>
                <a:latin typeface="Arial" pitchFamily="34" charset="0"/>
                <a:ea typeface="Arial" pitchFamily="34" charset="-122"/>
                <a:cs typeface="Arial" pitchFamily="34" charset="-120"/>
              </a:rPr>
              <a:t>1: /Common/ihscore-dev2-lva62pwbolws51v-node 171.184.193.14 -&gt; lva62pwbolws51v (device record, adapter, IP Address record)</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6   Decision  </a:t>
            </a:r>
            <a:pPr indent="0" marL="0">
              <a:lnSpc>
                <a:spcPct val="100000"/>
              </a:lnSpc>
              <a:spcAft>
                <a:spcPts val="700"/>
              </a:spcAft>
              <a:buNone/>
            </a:pPr>
            <a:r>
              <a:rPr lang="en-US" sz="1000" dirty="0">
                <a:solidFill>
                  <a:srgbClr val="4D4F53"/>
                </a:solidFill>
                <a:latin typeface="Arial" pitchFamily="34" charset="0"/>
                <a:ea typeface="Arial" pitchFamily="34" charset="-122"/>
                <a:cs typeface="Arial" pitchFamily="34" charset="-120"/>
              </a:rPr>
              <a:t>1 member(s), 1 server record(s), 1 machine(s) by name; one machine, one record: the member rule returns it</a:t>
            </a:r>
            <a:endParaRPr lang="en-US" sz="1000" dirty="0"/>
          </a:p>
        </p:txBody>
      </p:sp>
      <p:sp>
        <p:nvSpPr>
          <p:cNvPr id="22" name="Shape 20"/>
          <p:cNvSpPr/>
          <p:nvPr/>
        </p:nvSpPr>
        <p:spPr>
          <a:xfrm>
            <a:off x="8439912" y="3469640"/>
            <a:ext cx="3246120" cy="2931160"/>
          </a:xfrm>
          <a:prstGeom prst="roundRect">
            <a:avLst>
              <a:gd name="adj" fmla="val 187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634232"/>
            <a:ext cx="64008" cy="2601976"/>
          </a:xfrm>
          <a:prstGeom prst="rect">
            <a:avLst/>
          </a:prstGeom>
          <a:solidFill>
            <a:srgbClr val="E31837"/>
          </a:solidFill>
          <a:ln w="12700">
            <a:solidFill>
              <a:srgbClr val="333333"/>
            </a:solidFill>
            <a:prstDash val="solid"/>
          </a:ln>
        </p:spPr>
      </p:sp>
      <p:sp>
        <p:nvSpPr>
          <p:cNvPr id="24" name="Text 22"/>
          <p:cNvSpPr txBox="1"/>
          <p:nvPr/>
        </p:nvSpPr>
        <p:spPr>
          <a:xfrm>
            <a:off x="8714232" y="36250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899408"/>
            <a:ext cx="457200" cy="0"/>
          </a:xfrm>
          <a:prstGeom prst="line">
            <a:avLst/>
          </a:prstGeom>
          <a:noFill/>
          <a:ln w="19050">
            <a:solidFill>
              <a:srgbClr val="E31837"/>
            </a:solidFill>
            <a:prstDash val="solid"/>
          </a:ln>
        </p:spPr>
      </p:sp>
      <p:sp>
        <p:nvSpPr>
          <p:cNvPr id="26" name="Text 24"/>
          <p:cNvSpPr txBox="1"/>
          <p:nvPr/>
        </p:nvSpPr>
        <p:spPr>
          <a:xfrm>
            <a:off x="8714232" y="39451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lva62pwbolws51v</a:t>
            </a:r>
            <a:endParaRPr lang="en-US" sz="1500" dirty="0"/>
          </a:p>
        </p:txBody>
      </p:sp>
      <p:sp>
        <p:nvSpPr>
          <p:cNvPr id="27" name="Text 25"/>
          <p:cNvSpPr txBox="1"/>
          <p:nvPr/>
        </p:nvSpPr>
        <p:spPr>
          <a:xfrm>
            <a:off x="8714232" y="42651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Linux Server</a:t>
            </a:r>
            <a:endParaRPr lang="en-US" sz="1100" dirty="0"/>
          </a:p>
        </p:txBody>
      </p:sp>
      <p:sp>
        <p:nvSpPr>
          <p:cNvPr id="28" name="Text 26"/>
          <p:cNvSpPr txBox="1"/>
          <p:nvPr/>
        </p:nvSpPr>
        <p:spPr>
          <a:xfrm>
            <a:off x="8714232" y="4585208"/>
            <a:ext cx="2715768" cy="1102360"/>
          </a:xfrm>
          <a:prstGeom prst="rect">
            <a:avLst/>
          </a:prstGeom>
          <a:noFill/>
          <a:ln/>
        </p:spPr>
        <p:txBody>
          <a:bodyPr wrap="square" lIns="0" tIns="0" rIns="0" bIns="0" rtlCol="0" anchor="t"/>
          <a:lstStyle/>
          <a:p>
            <a:pPr indent="0" marL="0">
              <a:buNone/>
            </a:pPr>
            <a:r>
              <a:rPr lang="en-US" sz="8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850" dirty="0">
                <a:solidFill>
                  <a:srgbClr val="4D4F53"/>
                </a:solidFill>
                <a:latin typeface="Arial" pitchFamily="34" charset="0"/>
                <a:ea typeface="Arial" pitchFamily="34" charset="-122"/>
                <a:cs typeface="Arial" pitchFamily="34" charset="-120"/>
              </a:rPr>
              <a:t>lva62pwbolws51v.sdi.ssc3.ext3.bankofamerica3.com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850" dirty="0">
                <a:solidFill>
                  <a:srgbClr val="4D4F53"/>
                </a:solidFill>
                <a:latin typeface="Arial" pitchFamily="34" charset="0"/>
                <a:ea typeface="Arial" pitchFamily="34" charset="-122"/>
                <a:cs typeface="Arial" pitchFamily="34" charset="-120"/>
              </a:rPr>
              <a:t>171.184.193.14</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VMware-42 27 25 b9 6c 36 c0 37-53 0a ac 92 8d 40 9f 3c</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 Inc. VMware Virtual Platform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Installed</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Operational</a:t>
            </a:r>
            <a:endParaRPr lang="en-US" sz="850" dirty="0"/>
          </a:p>
        </p:txBody>
      </p:sp>
      <p:sp>
        <p:nvSpPr>
          <p:cNvPr id="29" name="Text 27">
            <a:hlinkClick r:id="rId2" tooltip="https://bofasecopsdev.service-now.com/cmdb_ci_linux_server.do?sys_id=f2130b8693966a107fb5f842ed03d653"/>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f2130b8693966a107fb5f842ed03d653"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136</a:t>
            </a:fld>
            <a:endParaRPr 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455  ·  LOAD BALANCER MEMBER MATCH  ·  EXAMPLE 1 STEP BY STEP  ·  PAGE 1 OF 2</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boluiv4-dev2-benefits-l7-vip1.dev.gwimnp.rpg</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deb3b97a3bfe4b189289d164c3e45a59" history="1" highlightClick="0" endSnd="0">
                  <a:extLst>
                    <a:ext uri="{A12FA001-AC4F-418D-AE19-62706E023703}">
                      <ahyp:hlinkClr xmlns:ahyp="http://schemas.microsoft.com/office/drawing/2018/hyperlinkcolor" val="tx"/>
                    </a:ext>
                  </a:extLst>
                </a:hlinkClick>
              </a:rPr>
              <a:t>SDI000002993687</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52af62963b9b4310e973496ea5e45aa5" history="1" highlightClick="0" endSnd="0">
                  <a:extLst>
                    <a:ext uri="{A12FA001-AC4F-418D-AE19-62706E023703}">
                      <ahyp:hlinkClr xmlns:ahyp="http://schemas.microsoft.com/office/drawing/2018/hyperlinkcolor" val="tx"/>
                    </a:ext>
                  </a:extLst>
                </a:hlinkClick>
              </a:rPr>
              <a:t>BOFA Load Balancer Member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linux_server.do?sys_id=f2130b8693966a107fb5f842ed03d653" history="1" highlightClick="0" endSnd="0">
                  <a:extLst>
                    <a:ext uri="{A12FA001-AC4F-418D-AE19-62706E023703}">
                      <ahyp:hlinkClr xmlns:ahyp="http://schemas.microsoft.com/office/drawing/2018/hyperlinkcolor" val="tx"/>
                    </a:ext>
                  </a:extLst>
                </a:hlinkClick>
              </a:rPr>
              <a:t>lva62pwbolws51v</a:t>
            </a:r>
            <a:endParaRPr lang="en-US" sz="1000" dirty="0"/>
          </a:p>
        </p:txBody>
      </p:sp>
      <p:graphicFrame>
        <p:nvGraphicFramePr>
          <p:cNvPr id="138"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VIP sign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The OS text is searched for f5, big-ip, big ip and netscaler, and the label segments for vip or vs (the word, the word plus digits, or a longer word ending in it); without a sign the rule returns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OS has "f5", OS has "big-ip", label segment "vip1"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1: fqdn = "boluiv4-dev2-benefits-l7-vip1.dev.gwimnp.rpg"</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fqdn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no service record; next clue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lb_service_list.do?sysparm_query=fqdn%3Dboluiv4-dev2-benefits-l7-vip1.dev.gwimnp.rpg" history="1" highlightClick="0" endSnd="0">
                            <a:extLst>
                              <a:ext uri="{A12FA001-AC4F-418D-AE19-62706E023703}">
                                <ahyp:hlinkClr xmlns:ahyp="http://schemas.microsoft.com/office/drawing/2018/hyperlinkcolor" val="tx"/>
                              </a:ext>
                            </a:extLst>
                          </a:hlinkClick>
                        </a:rPr>
                        <a:t>Load Balancer Service: fqdn=boluiv4-dev2-benefits-l7-vip1.dev.gwimnp.rpg</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2: name = "boluiv4-dev2-benefits-l7-vip1.dev.gwimnp.rpg"</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name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no service record; next clue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lb_service_list.do?sysparm_query=name%3Dboluiv4-dev2-benefits-l7-vip1.dev.gwimnp.rpg" history="1" highlightClick="0" endSnd="0">
                            <a:extLst>
                              <a:ext uri="{A12FA001-AC4F-418D-AE19-62706E023703}">
                                <ahyp:hlinkClr xmlns:ahyp="http://schemas.microsoft.com/office/drawing/2018/hyperlinkcolor" val="tx"/>
                              </a:ext>
                            </a:extLst>
                          </a:hlinkClick>
                        </a:rPr>
                        <a:t>Load Balancer Service: name=boluiv4-dev2-benefits-l7-vip1.dev.gwimnp.rpg</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3: name = "boluiv4-dev2-benefits-l7-vip1"</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name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no service record; next clue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lb_service_list.do?sysparm_query=name%3Dboluiv4-dev2-benefits-l7-vip1" history="1" highlightClick="0" endSnd="0">
                            <a:extLst>
                              <a:ext uri="{A12FA001-AC4F-418D-AE19-62706E023703}">
                                <ahyp:hlinkClr xmlns:ahyp="http://schemas.microsoft.com/office/drawing/2018/hyperlinkcolor" val="tx"/>
                              </a:ext>
                            </a:extLst>
                          </a:hlinkClick>
                        </a:rPr>
                        <a:t>Load Balancer Service: name=boluiv4-dev2-benefits-l7-vip1</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4: ip_address = "10.143.53.96"</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ip_address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service record: /Common/ihscore-dev2-boluiv4_benefits-6011-vip on 10.143.53.96 (svedpz1rp1lb12)</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8" invalidUrl="" action="" tgtFrame="" tooltip="https://bofasecopsdev.service-now.com/cmdb_ci_lb_service_list.do?sysparm_query=ip_address%3D10.143.53.96" history="1" highlightClick="0" endSnd="0">
                            <a:extLst>
                              <a:ext uri="{A12FA001-AC4F-418D-AE19-62706E023703}">
                                <ahyp:hlinkClr xmlns:ahyp="http://schemas.microsoft.com/office/drawing/2018/hyperlinkcolor" val="tx"/>
                              </a:ext>
                            </a:extLst>
                          </a:hlinkClick>
                        </a:rPr>
                        <a:t>Load Balancer Service: ip_address=10.143.53.96</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9" invalidUrl="" action="" tgtFrame="" tooltip="https://bofasecopsdev.service-now.com/cmdb_ci_lb_service.do?sys_id=a966482d3b68c710ae0c4047f4e45ab3" history="1" highlightClick="0" endSnd="0">
                            <a:extLst>
                              <a:ext uri="{A12FA001-AC4F-418D-AE19-62706E023703}">
                                <ahyp:hlinkClr xmlns:ahyp="http://schemas.microsoft.com/office/drawing/2018/hyperlinkcolor" val="tx"/>
                              </a:ext>
                            </a:extLst>
                          </a:hlinkClick>
                        </a:rPr>
                        <a:t>/Common/ihscore-dev2-boluiv4_benefits-6011-vip</a:t>
                      </a:r>
                      <a:pPr indent="0" marL="0">
                        <a:buNone/>
                      </a:pPr>
                      <a:r>
                        <a:rPr lang="en-US" sz="900" dirty="0">
                          <a:solidFill>
                            <a:srgbClr val="6E7279"/>
                          </a:solidFill>
                          <a:latin typeface="Arial" pitchFamily="34" charset="0"/>
                          <a:ea typeface="Arial" pitchFamily="34" charset="-122"/>
                          <a:cs typeface="Arial" pitchFamily="34" charset="-120"/>
                        </a:rPr>
                        <a:t> → pool </a:t>
                      </a:r>
                      <a:pPr indent="0" marL="0">
                        <a:buNone/>
                      </a:pPr>
                      <a:r>
                        <a:rPr lang="en-US" sz="900" u="sng" dirty="0">
                          <a:solidFill>
                            <a:srgbClr val="012169"/>
                          </a:solidFill>
                          <a:latin typeface="Arial" pitchFamily="34" charset="0"/>
                          <a:ea typeface="Arial" pitchFamily="34" charset="-122"/>
                          <a:cs typeface="Arial" pitchFamily="34" charset="-120"/>
                          <a:hlinkClick r:id="rId10" invalidUrl="" action="" tgtFrame="" tooltip="https://bofasecopsdev.service-now.com/cmdb_ci_lb_pool.do?sys_id=3066482d3b68c710ae0c4047f4e45aac" history="1" highlightClick="0" endSnd="0">
                            <a:extLst>
                              <a:ext uri="{A12FA001-AC4F-418D-AE19-62706E023703}">
                                <ahyp:hlinkClr xmlns:ahyp="http://schemas.microsoft.com/office/drawing/2018/hyperlinkcolor" val="tx"/>
                              </a:ext>
                            </a:extLst>
                          </a:hlinkClick>
                        </a:rPr>
                        <a:t>/Common/ihscore-dev2-boluiv4_benefits-6011-pool</a:t>
                      </a:r>
                      <a:pPr indent="0" marL="0">
                        <a:buNone/>
                      </a:pPr>
                      <a:r>
                        <a:rPr lang="en-US" sz="900" dirty="0">
                          <a:solidFill>
                            <a:srgbClr val="6E7279"/>
                          </a:solidFill>
                          <a:latin typeface="Arial" pitchFamily="34" charset="0"/>
                          <a:ea typeface="Arial" pitchFamily="34" charset="-122"/>
                          <a:cs typeface="Arial" pitchFamily="34" charset="-120"/>
                        </a:rPr>
                        <a:t> on balancer </a:t>
                      </a:r>
                      <a:pPr indent="0" marL="0">
                        <a:buNone/>
                      </a:pPr>
                      <a:r>
                        <a:rPr lang="en-US" sz="900" u="sng" dirty="0">
                          <a:solidFill>
                            <a:srgbClr val="012169"/>
                          </a:solidFill>
                          <a:latin typeface="Arial" pitchFamily="34" charset="0"/>
                          <a:ea typeface="Arial" pitchFamily="34" charset="-122"/>
                          <a:cs typeface="Arial" pitchFamily="34" charset="-120"/>
                          <a:hlinkClick r:id="rId11" invalidUrl="" action="" tgtFrame="" tooltip="https://bofasecopsdev.service-now.com/cmdb_ci_lb_bigip.do?sys_id=027d15e32b2076d0da9bf8c9c891bf34" history="1" highlightClick="0" endSnd="0">
                            <a:extLst>
                              <a:ext uri="{A12FA001-AC4F-418D-AE19-62706E023703}">
                                <ahyp:hlinkClr xmlns:ahyp="http://schemas.microsoft.com/office/drawing/2018/hyperlinkcolor" val="tx"/>
                              </a:ext>
                            </a:extLst>
                          </a:hlinkClick>
                        </a:rPr>
                        <a:t>svedpz1rp1lb12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137</a:t>
            </a:fld>
            <a:endParaRPr 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455  ·  LOAD BALANCER MEMBER MATCH  ·  EXAMPLE 1 STEP BY STEP  ·  PAGE 2 OF 2</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boluiv4-dev2-benefits-l7-vip1.dev.gwimnp.rpg</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deb3b97a3bfe4b189289d164c3e45a59" history="1" highlightClick="0" endSnd="0">
                  <a:extLst>
                    <a:ext uri="{A12FA001-AC4F-418D-AE19-62706E023703}">
                      <ahyp:hlinkClr xmlns:ahyp="http://schemas.microsoft.com/office/drawing/2018/hyperlinkcolor" val="tx"/>
                    </a:ext>
                  </a:extLst>
                </a:hlinkClick>
              </a:rPr>
              <a:t>SDI000002993687</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52af62963b9b4310e973496ea5e45aa5" history="1" highlightClick="0" endSnd="0">
                  <a:extLst>
                    <a:ext uri="{A12FA001-AC4F-418D-AE19-62706E023703}">
                      <ahyp:hlinkClr xmlns:ahyp="http://schemas.microsoft.com/office/drawing/2018/hyperlinkcolor" val="tx"/>
                    </a:ext>
                  </a:extLst>
                </a:hlinkClick>
              </a:rPr>
              <a:t>BOFA Load Balancer Member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linux_server.do?sys_id=f2130b8693966a107fb5f842ed03d653" history="1" highlightClick="0" endSnd="0">
                  <a:extLst>
                    <a:ext uri="{A12FA001-AC4F-418D-AE19-62706E023703}">
                      <ahyp:hlinkClr xmlns:ahyp="http://schemas.microsoft.com/office/drawing/2018/hyperlinkcolor" val="tx"/>
                    </a:ext>
                  </a:extLst>
                </a:hlinkClick>
              </a:rPr>
              <a:t>lva62pwbolws51v</a:t>
            </a:r>
            <a:endParaRPr lang="en-US" sz="1000" dirty="0"/>
          </a:p>
        </p:txBody>
      </p:sp>
      <p:graphicFrame>
        <p:nvGraphicFramePr>
          <p:cNvPr id="139"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Pools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Reads the Pool field of each service record kept, the pools whose Service field points at it, and the pools related to it through cmdb_rel_ci; no pool means the member rule declines.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/Common/ihscore-dev2-boluiv4_benefits-6011-pool (pool field)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lb_pool_list.do?sysparm_query=service%3Da966482d3b68c710ae0c4047f4e45ab3" history="1" highlightClick="0" endSnd="0">
                            <a:extLst>
                              <a:ext uri="{A12FA001-AC4F-418D-AE19-62706E023703}">
                                <ahyp:hlinkClr xmlns:ahyp="http://schemas.microsoft.com/office/drawing/2018/hyperlinkcolor" val="tx"/>
                              </a:ext>
                            </a:extLst>
                          </a:hlinkClick>
                        </a:rPr>
                        <a:t>Load Balancer Pool: service=a966482d3b68c710ae0c4047f4e45ab3</a:t>
                      </a:r>
                      <a:pPr indent="0" marL="0">
                        <a:buNone/>
                      </a:pPr>
                      <a:r>
                        <a:rPr lang="en-US" sz="900" dirty="0">
                          <a:solidFill>
                            <a:srgbClr val="6E7279"/>
                          </a:solidFill>
                          <a:latin typeface="Arial" pitchFamily="34" charset="0"/>
                          <a:ea typeface="Arial" pitchFamily="34" charset="-122"/>
                          <a:cs typeface="Arial" pitchFamily="34" charset="-120"/>
                        </a:rPr>
                        <a:t> (0 rows)</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rel_ci_list.do?sysparm_query=parent%3Da966482d3b68c710ae0c4047f4e45ab3%5EORchild%3Da966482d3b68c710ae0c4047f4e45ab3" history="1" highlightClick="0" endSnd="0">
                            <a:extLst>
                              <a:ext uri="{A12FA001-AC4F-418D-AE19-62706E023703}">
                                <ahyp:hlinkClr xmlns:ahyp="http://schemas.microsoft.com/office/drawing/2018/hyperlinkcolor" val="tx"/>
                              </a:ext>
                            </a:extLst>
                          </a:hlinkClick>
                        </a:rPr>
                        <a:t>CI relationship: parent=a966482d3b68c710ae0c4047f4e45ab3^ORchild=a966482d3b68c710ae0c4047f4e45ab3</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lb_pool.do?sys_id=3066482d3b68c710ae0c4047f4e45aac" history="1" highlightClick="0" endSnd="0">
                            <a:extLst>
                              <a:ext uri="{A12FA001-AC4F-418D-AE19-62706E023703}">
                                <ahyp:hlinkClr xmlns:ahyp="http://schemas.microsoft.com/office/drawing/2018/hyperlinkcolor" val="tx"/>
                              </a:ext>
                            </a:extLst>
                          </a:hlinkClick>
                        </a:rPr>
                        <a:t>/Common/ihscore-dev2-boluiv4_benefits-6011-pool</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8" invalidUrl="" action="" tgtFrame="" tooltip="https://bofasecopsdev.service-now.com/cmdb_ci_lb_pool_list.do?sysparm_query=sys_idIN3066482d3b68c710ae0c4047f4e45aac" history="1" highlightClick="0" endSnd="0">
                            <a:extLst>
                              <a:ext uri="{A12FA001-AC4F-418D-AE19-62706E023703}">
                                <ahyp:hlinkClr xmlns:ahyp="http://schemas.microsoft.com/office/drawing/2018/hyperlinkcolor" val="tx"/>
                              </a:ext>
                            </a:extLst>
                          </a:hlinkClick>
                        </a:rPr>
                        <a:t>Load Balancer Pool: sys_idIN3066482d3b68c710ae0c4047f4e45aac</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9" invalidUrl="" action="" tgtFrame="" tooltip="https://bofasecopsdev.service-now.com/cmdb_ci_lb_pool.do?sys_id=3066482d3b68c710ae0c4047f4e45aac" history="1" highlightClick="0" endSnd="0">
                            <a:extLst>
                              <a:ext uri="{A12FA001-AC4F-418D-AE19-62706E023703}">
                                <ahyp:hlinkClr xmlns:ahyp="http://schemas.microsoft.com/office/drawing/2018/hyperlinkcolor" val="tx"/>
                              </a:ext>
                            </a:extLst>
                          </a:hlinkClick>
                        </a:rPr>
                        <a:t>/Common/ihscore-dev2-boluiv4_benefits-6011-pool</a:t>
                      </a:r>
                      <a:pPr indent="0" marL="0">
                        <a:buNone/>
                      </a:pPr>
                      <a:r>
                        <a:rPr lang="en-US" sz="900" dirty="0">
                          <a:solidFill>
                            <a:srgbClr val="6E7279"/>
                          </a:solidFill>
                          <a:latin typeface="Arial" pitchFamily="34" charset="0"/>
                          <a:ea typeface="Arial" pitchFamily="34" charset="-122"/>
                          <a:cs typeface="Arial" pitchFamily="34" charset="-120"/>
                        </a:rPr>
                        <a:t> (pool field)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10" invalidUrl="" action="" tgtFrame="" tooltip="https://bofasecopsdev.service-now.com/cmdb_ci_lb_pool_member_list.do?sysparm_query=pool%3D3066482d3b68c710ae0c4047f4e45aac" history="1" highlightClick="0" endSnd="0">
                            <a:extLst>
                              <a:ext uri="{A12FA001-AC4F-418D-AE19-62706E023703}">
                                <ahyp:hlinkClr xmlns:ahyp="http://schemas.microsoft.com/office/drawing/2018/hyperlinkcolor" val="tx"/>
                              </a:ext>
                            </a:extLst>
                          </a:hlinkClick>
                        </a:rPr>
                        <a:t>Pool Member: pool=3066482d3b68c710ae0c4047f4e45aac</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1" invalidUrl="" action="" tgtFrame="" tooltip="https://bofasecopsdev.service-now.com/cmdb_ci_lb_pool_member.do?sys_id=5a66006d3b68c710ae0c4047f4e45a69" history="1" highlightClick="0" endSnd="0">
                            <a:extLst>
                              <a:ext uri="{A12FA001-AC4F-418D-AE19-62706E023703}">
                                <ahyp:hlinkClr xmlns:ahyp="http://schemas.microsoft.com/office/drawing/2018/hyperlinkcolor" val="tx"/>
                              </a:ext>
                            </a:extLst>
                          </a:hlinkClick>
                        </a:rPr>
                        <a:t>/Common/ihscore-dev2-lva62pwbolws51v-node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12" invalidUrl="" action="" tgtFrame="" tooltip="https://bofasecopsdev.service-now.com/cmdb_rel_ci_list.do?sysparm_query=parent%3D3066482d3b68c710ae0c4047f4e45aac%5EORchild%3D3066482d3b68c710ae0c4047f4e45aac" history="1" highlightClick="0" endSnd="0">
                            <a:extLst>
                              <a:ext uri="{A12FA001-AC4F-418D-AE19-62706E023703}">
                                <ahyp:hlinkClr xmlns:ahyp="http://schemas.microsoft.com/office/drawing/2018/hyperlinkcolor" val="tx"/>
                              </a:ext>
                            </a:extLst>
                          </a:hlinkClick>
                        </a:rPr>
                        <a:t>CI relationship: parent=3066482d3b68c710ae0c4047f4e45aac^ORchild=3066482d3b68c710ae0c4047f4e45aac</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3" invalidUrl="" action="" tgtFrame="" tooltip="https://bofasecopsdev.service-now.com/cmdb_ci_lb_pool_member.do?sys_id=5a66006d3b68c710ae0c4047f4e45a69" history="1" highlightClick="0" endSnd="0">
                            <a:extLst>
                              <a:ext uri="{A12FA001-AC4F-418D-AE19-62706E023703}">
                                <ahyp:hlinkClr xmlns:ahyp="http://schemas.microsoft.com/office/drawing/2018/hyperlinkcolor" val="tx"/>
                              </a:ext>
                            </a:extLst>
                          </a:hlinkClick>
                        </a:rPr>
                        <a:t>/Common/ihscore-dev2-lva62pwbolws51v-node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Members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Collects the Pool Member records of every pool (Pool field and relationships) with their addresses, and looks each address up on Hardware records, Network Adapters and IP Address records; only a real server counts: in the Hardware tree, not a load balancer device, not an ignored class.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/Common/ihscore-dev2-lva62pwbolws51v-node 171.184.193.14 -&gt; lva62pwbolws51v via device record, lva62pwbolws51v via adapter, lva62pwbolws51v via IP Address record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14" invalidUrl="" action="" tgtFrame="" tooltip="https://bofasecopsdev.service-now.com/cmdb_ci_hardware_list.do?sysparm_query=ip_address%3D171.184.193.14" history="1" highlightClick="0" endSnd="0">
                            <a:extLst>
                              <a:ext uri="{A12FA001-AC4F-418D-AE19-62706E023703}">
                                <ahyp:hlinkClr xmlns:ahyp="http://schemas.microsoft.com/office/drawing/2018/hyperlinkcolor" val="tx"/>
                              </a:ext>
                            </a:extLst>
                          </a:hlinkClick>
                        </a:rPr>
                        <a:t>Hardware: ip_address=171.184.193.14</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5" invalidUrl="" action="" tgtFrame="" tooltip="https://bofasecopsdev.service-now.com/cmdb_ci_linux_server.do?sys_id=f2130b8693966a107fb5f842ed03d653" history="1" highlightClick="0" endSnd="0">
                            <a:extLst>
                              <a:ext uri="{A12FA001-AC4F-418D-AE19-62706E023703}">
                                <ahyp:hlinkClr xmlns:ahyp="http://schemas.microsoft.com/office/drawing/2018/hyperlinkcolor" val="tx"/>
                              </a:ext>
                            </a:extLst>
                          </a:hlinkClick>
                        </a:rPr>
                        <a:t>lva62pwbolws51v</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16" invalidUrl="" action="" tgtFrame="" tooltip="https://bofasecopsdev.service-now.com/cmdb_ci_network_adapter_list.do?sysparm_query=ip_address%3D171.184.193.14" history="1" highlightClick="0" endSnd="0">
                            <a:extLst>
                              <a:ext uri="{A12FA001-AC4F-418D-AE19-62706E023703}">
                                <ahyp:hlinkClr xmlns:ahyp="http://schemas.microsoft.com/office/drawing/2018/hyperlinkcolor" val="tx"/>
                              </a:ext>
                            </a:extLst>
                          </a:hlinkClick>
                        </a:rPr>
                        <a:t>Network Adapter: ip_address=171.184.193.14</a:t>
                      </a:r>
                      <a:pPr indent="0" marL="0">
                        <a:buNone/>
                      </a:pPr>
                      <a:r>
                        <a:rPr lang="en-US" sz="900" dirty="0">
                          <a:solidFill>
                            <a:srgbClr val="6E7279"/>
                          </a:solidFill>
                          <a:latin typeface="Arial" pitchFamily="34" charset="0"/>
                          <a:ea typeface="Arial" pitchFamily="34" charset="-122"/>
                          <a:cs typeface="Arial" pitchFamily="34" charset="-120"/>
                        </a:rPr>
                        <a:t> (2 rows)</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7" invalidUrl="" action="" tgtFrame="" tooltip="https://bofasecopsdev.service-now.com/cmdb_ci_network_adapter.do?sys_id=47c2a6c83ba9a2106e084b9aa4e45ab2" history="1" highlightClick="0" endSnd="0">
                            <a:extLst>
                              <a:ext uri="{A12FA001-AC4F-418D-AE19-62706E023703}">
                                <ahyp:hlinkClr xmlns:ahyp="http://schemas.microsoft.com/office/drawing/2018/hyperlinkcolor" val="tx"/>
                              </a:ext>
                            </a:extLst>
                          </a:hlinkClick>
                        </a:rPr>
                        <a:t>00:50:56:a7:ee:62</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8" invalidUrl="" action="" tgtFrame="" tooltip="https://bofasecopsdev.service-now.com/cmdb_ci_vmware_instance.do?sys_id=dcc22ec82ba9a21093f5f1aac891bf73" history="1" highlightClick="0" endSnd="0">
                            <a:extLst>
                              <a:ext uri="{A12FA001-AC4F-418D-AE19-62706E023703}">
                                <ahyp:hlinkClr xmlns:ahyp="http://schemas.microsoft.com/office/drawing/2018/hyperlinkcolor" val="tx"/>
                              </a:ext>
                            </a:extLst>
                          </a:hlinkClick>
                        </a:rPr>
                        <a:t>lva62pwbolws51v</a:t>
                      </a:r>
                      <a:pPr indent="0" marL="0">
                        <a:buNone/>
                      </a:pPr>
                      <a:r>
                        <a:rPr lang="en-US" sz="900" dirty="0">
                          <a:solidFill>
                            <a:srgbClr val="6E7279"/>
                          </a:solidFill>
                          <a:latin typeface="Arial" pitchFamily="34" charset="0"/>
                          <a:ea typeface="Arial" pitchFamily="34" charset="-122"/>
                          <a:cs typeface="Arial" pitchFamily="34" charset="-120"/>
                        </a:rPr>
                        <a:t> [vmware_instance]</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9" invalidUrl="" action="" tgtFrame="" tooltip="https://bofasecopsdev.service-now.com/cmdb_ci_network_adapter.do?sys_id=9f0d76383b6e6290489ce5d964e45aa2" history="1" highlightClick="0" endSnd="0">
                            <a:extLst>
                              <a:ext uri="{A12FA001-AC4F-418D-AE19-62706E023703}">
                                <ahyp:hlinkClr xmlns:ahyp="http://schemas.microsoft.com/office/drawing/2018/hyperlinkcolor" val="tx"/>
                              </a:ext>
                            </a:extLst>
                          </a:hlinkClick>
                        </a:rPr>
                        <a:t>ens192</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20" invalidUrl="" action="" tgtFrame="" tooltip="https://bofasecopsdev.service-now.com/cmdb_ci_linux_server.do?sys_id=f2130b8693966a107fb5f842ed03d653" history="1" highlightClick="0" endSnd="0">
                            <a:extLst>
                              <a:ext uri="{A12FA001-AC4F-418D-AE19-62706E023703}">
                                <ahyp:hlinkClr xmlns:ahyp="http://schemas.microsoft.com/office/drawing/2018/hyperlinkcolor" val="tx"/>
                              </a:ext>
                            </a:extLst>
                          </a:hlinkClick>
                        </a:rPr>
                        <a:t>lva62pwbolws51v</a:t>
                      </a:r>
                      <a:pPr indent="0" marL="0">
                        <a:buNone/>
                      </a:pPr>
                      <a:r>
                        <a:rPr lang="en-US" sz="900" dirty="0">
                          <a:solidFill>
                            <a:srgbClr val="6E7279"/>
                          </a:solidFill>
                          <a:latin typeface="Arial" pitchFamily="34" charset="0"/>
                          <a:ea typeface="Arial" pitchFamily="34" charset="-122"/>
                          <a:cs typeface="Arial" pitchFamily="34" charset="-120"/>
                        </a:rPr>
                        <a:t> [linux_server]</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21" invalidUrl="" action="" tgtFrame="" tooltip="https://bofasecopsdev.service-now.com/cmdb_ci_ip_address_list.do?sysparm_query=ip_address%3D171.184.193.14" history="1" highlightClick="0" endSnd="0">
                            <a:extLst>
                              <a:ext uri="{A12FA001-AC4F-418D-AE19-62706E023703}">
                                <ahyp:hlinkClr xmlns:ahyp="http://schemas.microsoft.com/office/drawing/2018/hyperlinkcolor" val="tx"/>
                              </a:ext>
                            </a:extLst>
                          </a:hlinkClick>
                        </a:rPr>
                        <a:t>IP Address: ip_address=171.184.193.14</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22" invalidUrl="" action="" tgtFrame="" tooltip="https://bofasecopsdev.service-now.com/cmdb_ci_ip_address.do?sys_id=53fc76383b6e6290489ce5d964e45a3e" history="1" highlightClick="0" endSnd="0">
                            <a:extLst>
                              <a:ext uri="{A12FA001-AC4F-418D-AE19-62706E023703}">
                                <ahyp:hlinkClr xmlns:ahyp="http://schemas.microsoft.com/office/drawing/2018/hyperlinkcolor" val="tx"/>
                              </a:ext>
                            </a:extLst>
                          </a:hlinkClick>
                        </a:rPr>
                        <a:t>171.184.193.14</a:t>
                      </a:r>
                      <a:pPr indent="0" marL="0">
                        <a:buNone/>
                      </a:pPr>
                      <a:r>
                        <a:rPr lang="en-US" sz="900" dirty="0">
                          <a:solidFill>
                            <a:srgbClr val="6E7279"/>
                          </a:solidFill>
                          <a:latin typeface="Arial" pitchFamily="34" charset="0"/>
                          <a:ea typeface="Arial" pitchFamily="34" charset="-122"/>
                          <a:cs typeface="Arial" pitchFamily="34" charset="-120"/>
                        </a:rPr>
                        <a:t> → adapter </a:t>
                      </a:r>
                      <a:pPr indent="0" marL="0">
                        <a:buNone/>
                      </a:pPr>
                      <a:r>
                        <a:rPr lang="en-US" sz="900" u="sng" dirty="0">
                          <a:solidFill>
                            <a:srgbClr val="012169"/>
                          </a:solidFill>
                          <a:latin typeface="Arial" pitchFamily="34" charset="0"/>
                          <a:ea typeface="Arial" pitchFamily="34" charset="-122"/>
                          <a:cs typeface="Arial" pitchFamily="34" charset="-120"/>
                          <a:hlinkClick r:id="rId23" invalidUrl="" action="" tgtFrame="" tooltip="https://bofasecopsdev.service-now.com/cmdb_ci_network_adapter.do?sys_id=9f0d76383b6e6290489ce5d964e45aa2" history="1" highlightClick="0" endSnd="0">
                            <a:extLst>
                              <a:ext uri="{A12FA001-AC4F-418D-AE19-62706E023703}">
                                <ahyp:hlinkClr xmlns:ahyp="http://schemas.microsoft.com/office/drawing/2018/hyperlinkcolor" val="tx"/>
                              </a:ext>
                            </a:extLst>
                          </a:hlinkClick>
                        </a:rPr>
                        <a:t>ens192</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24" invalidUrl="" action="" tgtFrame="" tooltip="https://bofasecopsdev.service-now.com/cmdb_ci_linux_server.do?sys_id=f2130b8693966a107fb5f842ed03d653" history="1" highlightClick="0" endSnd="0">
                            <a:extLst>
                              <a:ext uri="{A12FA001-AC4F-418D-AE19-62706E023703}">
                                <ahyp:hlinkClr xmlns:ahyp="http://schemas.microsoft.com/office/drawing/2018/hyperlinkcolor" val="tx"/>
                              </a:ext>
                            </a:extLst>
                          </a:hlinkClick>
                        </a:rPr>
                        <a:t>lva62pwbolws51v</a:t>
                      </a:r>
                      <a:pPr indent="0" marL="0">
                        <a:buNone/>
                      </a:pPr>
                      <a:r>
                        <a:rPr lang="en-US" sz="900" dirty="0">
                          <a:solidFill>
                            <a:srgbClr val="6E7279"/>
                          </a:solidFill>
                          <a:latin typeface="Arial" pitchFamily="34" charset="0"/>
                          <a:ea typeface="Arial" pitchFamily="34" charset="-122"/>
                          <a:cs typeface="Arial" pitchFamily="34" charset="-120"/>
                        </a:rPr>
                        <a:t> [linux_server]</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25" invalidUrl="" action="" tgtFrame="" tooltip="https://bofasecopsdev.service-now.com/cmdb_rel_ci_list.do?sysparm_query=parent%3D5a66006d3b68c710ae0c4047f4e45a69%5EORchild%3D5a66006d3b68c710ae0c4047f4e45a69" history="1" highlightClick="0" endSnd="0">
                            <a:extLst>
                              <a:ext uri="{A12FA001-AC4F-418D-AE19-62706E023703}">
                                <ahyp:hlinkClr xmlns:ahyp="http://schemas.microsoft.com/office/drawing/2018/hyperlinkcolor" val="tx"/>
                              </a:ext>
                            </a:extLst>
                          </a:hlinkClick>
                        </a:rPr>
                        <a:t>CI relationship: parent=5a66006d3b68c710ae0c4047f4e45a69^ORchild=5a66006d3b68c710ae0c4047f4e45a69</a:t>
                      </a:r>
                      <a:pPr indent="0" marL="0">
                        <a:buNone/>
                      </a:pPr>
                      <a:r>
                        <a:rPr lang="en-US" sz="900" dirty="0">
                          <a:solidFill>
                            <a:srgbClr val="6E7279"/>
                          </a:solidFill>
                          <a:latin typeface="Arial" pitchFamily="34" charset="0"/>
                          <a:ea typeface="Arial" pitchFamily="34" charset="-122"/>
                          <a:cs typeface="Arial" pitchFamily="34" charset="-120"/>
                        </a:rPr>
                        <a:t> (0 rows)</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Candidates for member: </a:t>
                      </a:r>
                      <a:pPr indent="0" marL="0">
                        <a:buNone/>
                      </a:pPr>
                      <a:r>
                        <a:rPr lang="en-US" sz="900" u="sng" dirty="0">
                          <a:solidFill>
                            <a:srgbClr val="012169"/>
                          </a:solidFill>
                          <a:latin typeface="Arial" pitchFamily="34" charset="0"/>
                          <a:ea typeface="Arial" pitchFamily="34" charset="-122"/>
                          <a:cs typeface="Arial" pitchFamily="34" charset="-120"/>
                          <a:hlinkClick r:id="rId26" invalidUrl="" action="" tgtFrame="" tooltip="https://bofasecopsdev.service-now.com/cmdb_ci_linux_server.do?sys_id=f2130b8693966a107fb5f842ed03d653" history="1" highlightClick="0" endSnd="0">
                            <a:extLst>
                              <a:ext uri="{A12FA001-AC4F-418D-AE19-62706E023703}">
                                <ahyp:hlinkClr xmlns:ahyp="http://schemas.microsoft.com/office/drawing/2018/hyperlinkcolor" val="tx"/>
                              </a:ext>
                            </a:extLst>
                          </a:hlinkClick>
                        </a:rPr>
                        <a:t>lva62pwbolws51v</a:t>
                      </a:r>
                      <a:pPr indent="0" marL="0">
                        <a:buNone/>
                      </a:pPr>
                      <a:r>
                        <a:rPr lang="en-US" sz="900" dirty="0">
                          <a:solidFill>
                            <a:srgbClr val="6E7279"/>
                          </a:solidFill>
                          <a:latin typeface="Arial" pitchFamily="34" charset="0"/>
                          <a:ea typeface="Arial" pitchFamily="34" charset="-122"/>
                          <a:cs typeface="Arial" pitchFamily="34" charset="-120"/>
                        </a:rPr>
                        <a:t> via device record, real server</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27" invalidUrl="" action="" tgtFrame="" tooltip="https://bofasecopsdev.service-now.com/cmdb_ci_vmware_instance.do?sys_id=dcc22ec82ba9a21093f5f1aac891bf73" history="1" highlightClick="0" endSnd="0">
                            <a:extLst>
                              <a:ext uri="{A12FA001-AC4F-418D-AE19-62706E023703}">
                                <ahyp:hlinkClr xmlns:ahyp="http://schemas.microsoft.com/office/drawing/2018/hyperlinkcolor" val="tx"/>
                              </a:ext>
                            </a:extLst>
                          </a:hlinkClick>
                        </a:rPr>
                        <a:t>lva62pwbolws51v</a:t>
                      </a:r>
                      <a:pPr indent="0" marL="0">
                        <a:buNone/>
                      </a:pPr>
                      <a:r>
                        <a:rPr lang="en-US" sz="900" dirty="0">
                          <a:solidFill>
                            <a:srgbClr val="6E7279"/>
                          </a:solidFill>
                          <a:latin typeface="Arial" pitchFamily="34" charset="0"/>
                          <a:ea typeface="Arial" pitchFamily="34" charset="-122"/>
                          <a:cs typeface="Arial" pitchFamily="34" charset="-120"/>
                        </a:rPr>
                        <a:t> via adapter, not in the Hardware tree</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28" invalidUrl="" action="" tgtFrame="" tooltip="https://bofasecopsdev.service-now.com/cmdb_ci_linux_server.do?sys_id=f2130b8693966a107fb5f842ed03d653" history="1" highlightClick="0" endSnd="0">
                            <a:extLst>
                              <a:ext uri="{A12FA001-AC4F-418D-AE19-62706E023703}">
                                <ahyp:hlinkClr xmlns:ahyp="http://schemas.microsoft.com/office/drawing/2018/hyperlinkcolor" val="tx"/>
                              </a:ext>
                            </a:extLst>
                          </a:hlinkClick>
                        </a:rPr>
                        <a:t>lva62pwbolws51v</a:t>
                      </a:r>
                      <a:pPr indent="0" marL="0">
                        <a:buNone/>
                      </a:pPr>
                      <a:r>
                        <a:rPr lang="en-US" sz="900" dirty="0">
                          <a:solidFill>
                            <a:srgbClr val="6E7279"/>
                          </a:solidFill>
                          <a:latin typeface="Arial" pitchFamily="34" charset="0"/>
                          <a:ea typeface="Arial" pitchFamily="34" charset="-122"/>
                          <a:cs typeface="Arial" pitchFamily="34" charset="-120"/>
                        </a:rPr>
                        <a:t> via adapter, real server</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29" invalidUrl="" action="" tgtFrame="" tooltip="https://bofasecopsdev.service-now.com/cmdb_ci_linux_server.do?sys_id=f2130b8693966a107fb5f842ed03d653" history="1" highlightClick="0" endSnd="0">
                            <a:extLst>
                              <a:ext uri="{A12FA001-AC4F-418D-AE19-62706E023703}">
                                <ahyp:hlinkClr xmlns:ahyp="http://schemas.microsoft.com/office/drawing/2018/hyperlinkcolor" val="tx"/>
                              </a:ext>
                            </a:extLst>
                          </a:hlinkClick>
                        </a:rPr>
                        <a:t>lva62pwbolws51v</a:t>
                      </a:r>
                      <a:pPr indent="0" marL="0">
                        <a:buNone/>
                      </a:pPr>
                      <a:r>
                        <a:rPr lang="en-US" sz="900" dirty="0">
                          <a:solidFill>
                            <a:srgbClr val="6E7279"/>
                          </a:solidFill>
                          <a:latin typeface="Arial" pitchFamily="34" charset="0"/>
                          <a:ea typeface="Arial" pitchFamily="34" charset="-122"/>
                          <a:cs typeface="Arial" pitchFamily="34" charset="-120"/>
                        </a:rPr>
                        <a:t> via IP Address record, real server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Decision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Counts the distinct machines behind the virtual server (server records grouped by name): one machine with one live record is returned; a member the CMDB cannot place, two machines or two live records decline.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member(s), 1 server record(s), 1 machine(s) by name; one machine, one record: the member rule returns it</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Distinct servers: </a:t>
                      </a:r>
                      <a:pPr indent="0" marL="0">
                        <a:buNone/>
                      </a:pPr>
                      <a:r>
                        <a:rPr lang="en-US" sz="900" u="sng" dirty="0">
                          <a:solidFill>
                            <a:srgbClr val="012169"/>
                          </a:solidFill>
                          <a:latin typeface="Arial" pitchFamily="34" charset="0"/>
                          <a:ea typeface="Arial" pitchFamily="34" charset="-122"/>
                          <a:cs typeface="Arial" pitchFamily="34" charset="-120"/>
                          <a:hlinkClick r:id="rId30" invalidUrl="" action="" tgtFrame="" tooltip="https://bofasecopsdev.service-now.com/cmdb_ci_linux_server.do?sys_id=f2130b8693966a107fb5f842ed03d653" history="1" highlightClick="0" endSnd="0">
                            <a:extLst>
                              <a:ext uri="{A12FA001-AC4F-418D-AE19-62706E023703}">
                                <ahyp:hlinkClr xmlns:ahyp="http://schemas.microsoft.com/office/drawing/2018/hyperlinkcolor" val="tx"/>
                              </a:ext>
                            </a:extLst>
                          </a:hlinkClick>
                        </a:rPr>
                        <a:t>lva62pwbolws51v</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138</a:t>
            </a:fld>
            <a:endParaRPr lang="en-US"/>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455  ·  LOAD BALANCER MEMBER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aim-xfer-dev-ltwbt1-vip.bankofamerica.com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twins / 4 members / 1 machine</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710944"/>
          </a:xfrm>
          <a:prstGeom prst="roundRect">
            <a:avLst>
              <a:gd name="adj" fmla="val 3207"/>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198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"aim-xfer-dev-ltwbt1-vip" is not sep + 12 hex)  ·  controller (no controller suffix or OS word)  ·  interface (no interface domain or marker)</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name + domain (no record named "aim-xfer-dev-ltwbt1-vip")  ·  layered DNS (no DNS Name record for "aim-xfer-dev-ltwbt1-vip.bankofamerica.com")  ·  host name (no record in the hardware tree named "aim-xfer-dev-ltwbt1-vip")  ·  device name (none named "aim-xfer-dev-ltwbt1-vip" in IP Phone or Imaging Hardware)  ·  whole-fqdn name (no record in the hardware tree named "aim-xfer-dev-ltwbt1-vip.bankofamerica.com")</a:t>
            </a:r>
            <a:endParaRPr lang="en-US" sz="1100" dirty="0"/>
          </a:p>
        </p:txBody>
      </p:sp>
      <p:sp>
        <p:nvSpPr>
          <p:cNvPr id="12" name="Shape 10"/>
          <p:cNvSpPr/>
          <p:nvPr/>
        </p:nvSpPr>
        <p:spPr>
          <a:xfrm>
            <a:off x="502920" y="3302000"/>
            <a:ext cx="2606040" cy="3098800"/>
          </a:xfrm>
          <a:prstGeom prst="roundRect">
            <a:avLst>
              <a:gd name="adj" fmla="val 210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457448"/>
            <a:ext cx="213055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731768"/>
            <a:ext cx="457200" cy="0"/>
          </a:xfrm>
          <a:prstGeom prst="line">
            <a:avLst/>
          </a:prstGeom>
          <a:noFill/>
          <a:ln w="19050">
            <a:solidFill>
              <a:srgbClr val="E31837"/>
            </a:solidFill>
            <a:prstDash val="solid"/>
          </a:ln>
        </p:spPr>
      </p:sp>
      <p:sp>
        <p:nvSpPr>
          <p:cNvPr id="15" name="Text 13"/>
          <p:cNvSpPr txBox="1"/>
          <p:nvPr/>
        </p:nvSpPr>
        <p:spPr>
          <a:xfrm>
            <a:off x="740664" y="3777488"/>
            <a:ext cx="213055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SDI000003786277</a:t>
            </a:r>
            <a:endParaRPr lang="en-US" sz="1500" dirty="0"/>
          </a:p>
        </p:txBody>
      </p:sp>
      <p:sp>
        <p:nvSpPr>
          <p:cNvPr id="16" name="Text 14"/>
          <p:cNvSpPr txBox="1"/>
          <p:nvPr/>
        </p:nvSpPr>
        <p:spPr>
          <a:xfrm>
            <a:off x="740664" y="4143248"/>
            <a:ext cx="2130552" cy="1544320"/>
          </a:xfrm>
          <a:prstGeom prst="rect">
            <a:avLst/>
          </a:prstGeom>
          <a:noFill/>
          <a:ln/>
        </p:spPr>
        <p:txBody>
          <a:bodyPr wrap="square" lIns="0" tIns="0" rIns="0" bIns="0" rtlCol="0" anchor="t"/>
          <a:lstStyle/>
          <a:p>
            <a:pPr indent="0" marL="0">
              <a:buNone/>
            </a:pPr>
            <a:r>
              <a:rPr lang="en-US" sz="11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100" dirty="0">
                <a:solidFill>
                  <a:srgbClr val="4D4F53"/>
                </a:solidFill>
                <a:latin typeface="Arial" pitchFamily="34" charset="0"/>
                <a:ea typeface="Arial" pitchFamily="34" charset="-122"/>
                <a:cs typeface="Arial" pitchFamily="34" charset="-120"/>
              </a:rPr>
              <a:t>aim-xfer-dev-ltwbt1-vip.bankofamerica.com</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100" dirty="0">
                <a:solidFill>
                  <a:srgbClr val="4D4F53"/>
                </a:solidFill>
                <a:latin typeface="Arial" pitchFamily="34" charset="0"/>
                <a:ea typeface="Arial" pitchFamily="34" charset="-122"/>
                <a:cs typeface="Arial" pitchFamily="34" charset="-120"/>
              </a:rPr>
              <a:t>171.206.7.25</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100" dirty="0">
                <a:solidFill>
                  <a:srgbClr val="4D4F53"/>
                </a:solidFill>
                <a:latin typeface="Arial" pitchFamily="34" charset="0"/>
                <a:ea typeface="Arial" pitchFamily="34" charset="-122"/>
                <a:cs typeface="Arial" pitchFamily="34" charset="-120"/>
              </a:rPr>
              <a:t>Ubuntu/Linux</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100" dirty="0">
                <a:solidFill>
                  <a:srgbClr val="4D4F53"/>
                </a:solidFill>
                <a:latin typeface="Arial" pitchFamily="34" charset="0"/>
                <a:ea typeface="Arial" pitchFamily="34" charset="-122"/>
                <a:cs typeface="Arial" pitchFamily="34" charset="-120"/>
              </a:rPr>
              <a:t>IP</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100" dirty="0">
                <a:solidFill>
                  <a:srgbClr val="4D4F53"/>
                </a:solidFill>
                <a:latin typeface="Arial" pitchFamily="34" charset="0"/>
                <a:ea typeface="Arial" pitchFamily="34" charset="-122"/>
                <a:cs typeface="Arial" pitchFamily="34" charset="-120"/>
              </a:rPr>
              <a:t>2026-09-19 23:40:12</a:t>
            </a:r>
            <a:endParaRPr lang="en-US" sz="1100" dirty="0"/>
          </a:p>
        </p:txBody>
      </p:sp>
      <p:sp>
        <p:nvSpPr>
          <p:cNvPr id="17" name="Text 15">
            <a:hlinkClick r:id="rId1" tooltip="https://bofasecopsdev.service-now.com/sn_sec_cmn_src_ci_list.do?sysparm_query=number=SDI000003786277"/>
          </p:cNvPr>
          <p:cNvSpPr txBox="1"/>
          <p:nvPr/>
        </p:nvSpPr>
        <p:spPr>
          <a:xfrm>
            <a:off x="740664" y="6035040"/>
            <a:ext cx="213055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78627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310128" y="3302000"/>
            <a:ext cx="5294376" cy="3098800"/>
          </a:xfrm>
          <a:prstGeom prst="roundRect">
            <a:avLst>
              <a:gd name="adj" fmla="val 177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566160" y="3457448"/>
            <a:ext cx="478231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566160" y="3731768"/>
            <a:ext cx="457200" cy="0"/>
          </a:xfrm>
          <a:prstGeom prst="line">
            <a:avLst/>
          </a:prstGeom>
          <a:noFill/>
          <a:ln w="19050">
            <a:solidFill>
              <a:srgbClr val="E31837"/>
            </a:solidFill>
            <a:prstDash val="solid"/>
          </a:ln>
        </p:spPr>
      </p:sp>
      <p:sp>
        <p:nvSpPr>
          <p:cNvPr id="21" name="Text 19"/>
          <p:cNvSpPr txBox="1"/>
          <p:nvPr/>
        </p:nvSpPr>
        <p:spPr>
          <a:xfrm>
            <a:off x="3566160" y="3804920"/>
            <a:ext cx="4782312" cy="2440432"/>
          </a:xfrm>
          <a:prstGeom prst="rect">
            <a:avLst/>
          </a:prstGeom>
          <a:noFill/>
          <a:ln/>
        </p:spPr>
        <p:txBody>
          <a:bodyPr wrap="square" lIns="0" tIns="0" rIns="0" bIns="0" rtlCol="0" anchor="t"/>
          <a:lstStyle/>
          <a:p>
            <a:pPr indent="0" marL="0">
              <a:lnSpc>
                <a:spcPct val="100000"/>
              </a:lnSpc>
              <a:buNone/>
            </a:pPr>
            <a:r>
              <a:rPr lang="en-US" sz="900" b="1" dirty="0">
                <a:solidFill>
                  <a:srgbClr val="012169"/>
                </a:solidFill>
                <a:latin typeface="Arial" pitchFamily="34" charset="0"/>
                <a:ea typeface="Arial" pitchFamily="34" charset="-122"/>
                <a:cs typeface="Arial" pitchFamily="34" charset="-120"/>
              </a:rPr>
              <a:t>1   VIP sign  </a:t>
            </a:r>
            <a:pPr indent="0" marL="0">
              <a:lnSpc>
                <a:spcPct val="100000"/>
              </a:lnSpc>
              <a:spcAft>
                <a:spcPts val="700"/>
              </a:spcAft>
              <a:buNone/>
            </a:pPr>
            <a:r>
              <a:rPr lang="en-US" sz="900" dirty="0">
                <a:solidFill>
                  <a:srgbClr val="4D4F53"/>
                </a:solidFill>
                <a:latin typeface="Arial" pitchFamily="34" charset="0"/>
                <a:ea typeface="Arial" pitchFamily="34" charset="-122"/>
                <a:cs typeface="Arial" pitchFamily="34" charset="-120"/>
              </a:rPr>
              <a:t>label segment "vip"</a:t>
            </a:r>
            <a:endParaRPr lang="en-US" sz="900" dirty="0"/>
          </a:p>
          <a:p>
            <a:pPr indent="0" marL="0">
              <a:lnSpc>
                <a:spcPct val="100000"/>
              </a:lnSpc>
              <a:buNone/>
            </a:pPr>
            <a:r>
              <a:rPr lang="en-US" sz="900" b="1" dirty="0">
                <a:solidFill>
                  <a:srgbClr val="012169"/>
                </a:solidFill>
                <a:latin typeface="Arial" pitchFamily="34" charset="0"/>
                <a:ea typeface="Arial" pitchFamily="34" charset="-122"/>
                <a:cs typeface="Arial" pitchFamily="34" charset="-120"/>
              </a:rPr>
              <a:t>2   Clues fqdn, name, name  </a:t>
            </a:r>
            <a:pPr indent="0" marL="0">
              <a:lnSpc>
                <a:spcPct val="100000"/>
              </a:lnSpc>
              <a:spcAft>
                <a:spcPts val="700"/>
              </a:spcAft>
              <a:buNone/>
            </a:pPr>
            <a:r>
              <a:rPr lang="en-US" sz="900" dirty="0">
                <a:solidFill>
                  <a:srgbClr val="4D4F53"/>
                </a:solidFill>
                <a:latin typeface="Arial" pitchFamily="34" charset="0"/>
                <a:ea typeface="Arial" pitchFamily="34" charset="-122"/>
                <a:cs typeface="Arial" pitchFamily="34" charset="-120"/>
              </a:rPr>
              <a:t>no service record; next clue</a:t>
            </a:r>
            <a:endParaRPr lang="en-US" sz="900" dirty="0"/>
          </a:p>
          <a:p>
            <a:pPr indent="0" marL="0">
              <a:lnSpc>
                <a:spcPct val="100000"/>
              </a:lnSpc>
              <a:buNone/>
            </a:pPr>
            <a:r>
              <a:rPr lang="en-US" sz="900" b="1" dirty="0">
                <a:solidFill>
                  <a:srgbClr val="012169"/>
                </a:solidFill>
                <a:latin typeface="Arial" pitchFamily="34" charset="0"/>
                <a:ea typeface="Arial" pitchFamily="34" charset="-122"/>
                <a:cs typeface="Arial" pitchFamily="34" charset="-120"/>
              </a:rPr>
              <a:t>3   Clue 4: ip_address = "171.206.7.25"  </a:t>
            </a:r>
            <a:pPr indent="0" marL="0">
              <a:lnSpc>
                <a:spcPct val="100000"/>
              </a:lnSpc>
              <a:spcAft>
                <a:spcPts val="700"/>
              </a:spcAft>
              <a:buNone/>
            </a:pPr>
            <a:r>
              <a:rPr lang="en-US" sz="900" dirty="0">
                <a:solidFill>
                  <a:srgbClr val="4D4F53"/>
                </a:solidFill>
                <a:latin typeface="Arial" pitchFamily="34" charset="0"/>
                <a:ea typeface="Arial" pitchFamily="34" charset="-122"/>
                <a:cs typeface="Arial" pitchFamily="34" charset="-120"/>
              </a:rPr>
              <a:t>4 service records: /Common/aim-xfer-dev_t_22 on 171.206.7.25 (ltwqbt1utilb01a) ; /Common/aim-xfer-dev_t_22 on 171.206.7.25 (ltwqbt1utilb01b) ; /Common/aim-xfer-dev_t_22 on 171.206.7.25 (ltwqbt1utilb01b) ; ...</a:t>
            </a:r>
            <a:endParaRPr lang="en-US" sz="900" dirty="0"/>
          </a:p>
          <a:p>
            <a:pPr indent="0" marL="0">
              <a:lnSpc>
                <a:spcPct val="100000"/>
              </a:lnSpc>
              <a:buNone/>
            </a:pPr>
            <a:r>
              <a:rPr lang="en-US" sz="900" b="1" dirty="0">
                <a:solidFill>
                  <a:srgbClr val="012169"/>
                </a:solidFill>
                <a:latin typeface="Arial" pitchFamily="34" charset="0"/>
                <a:ea typeface="Arial" pitchFamily="34" charset="-122"/>
                <a:cs typeface="Arial" pitchFamily="34" charset="-120"/>
              </a:rPr>
              <a:t>4   Twins  </a:t>
            </a:r>
            <a:pPr indent="0" marL="0">
              <a:lnSpc>
                <a:spcPct val="100000"/>
              </a:lnSpc>
              <a:spcAft>
                <a:spcPts val="700"/>
              </a:spcAft>
              <a:buNone/>
            </a:pPr>
            <a:r>
              <a:rPr lang="en-US" sz="900" dirty="0">
                <a:solidFill>
                  <a:srgbClr val="4D4F53"/>
                </a:solidFill>
                <a:latin typeface="Arial" pitchFamily="34" charset="0"/>
                <a:ea typeface="Arial" pitchFamily="34" charset="-122"/>
                <a:cs typeface="Arial" pitchFamily="34" charset="-120"/>
              </a:rPr>
              <a:t>4 records of one name are one virtual server recorded more than once: 4 kept on the scanned address; the member rule walks the pools of all 4, the service rule declines on 4 live records</a:t>
            </a:r>
            <a:endParaRPr lang="en-US" sz="900" dirty="0"/>
          </a:p>
          <a:p>
            <a:pPr indent="0" marL="0">
              <a:lnSpc>
                <a:spcPct val="100000"/>
              </a:lnSpc>
              <a:buNone/>
            </a:pPr>
            <a:r>
              <a:rPr lang="en-US" sz="900" b="1" dirty="0">
                <a:solidFill>
                  <a:srgbClr val="012169"/>
                </a:solidFill>
                <a:latin typeface="Arial" pitchFamily="34" charset="0"/>
                <a:ea typeface="Arial" pitchFamily="34" charset="-122"/>
                <a:cs typeface="Arial" pitchFamily="34" charset="-120"/>
              </a:rPr>
              <a:t>5   Pools  </a:t>
            </a:r>
            <a:pPr indent="0" marL="0">
              <a:lnSpc>
                <a:spcPct val="100000"/>
              </a:lnSpc>
              <a:spcAft>
                <a:spcPts val="700"/>
              </a:spcAft>
              <a:buNone/>
            </a:pPr>
            <a:r>
              <a:rPr lang="en-US" sz="900" dirty="0">
                <a:solidFill>
                  <a:srgbClr val="4D4F53"/>
                </a:solidFill>
                <a:latin typeface="Arial" pitchFamily="34" charset="0"/>
                <a:ea typeface="Arial" pitchFamily="34" charset="-122"/>
                <a:cs typeface="Arial" pitchFamily="34" charset="-120"/>
              </a:rPr>
              <a:t>4, all the twins point at the one pool /Common/aim-xfer-dev_t_22</a:t>
            </a:r>
            <a:endParaRPr lang="en-US" sz="900" dirty="0"/>
          </a:p>
          <a:p>
            <a:pPr indent="0" marL="0">
              <a:lnSpc>
                <a:spcPct val="100000"/>
              </a:lnSpc>
              <a:buNone/>
            </a:pPr>
            <a:r>
              <a:rPr lang="en-US" sz="900" b="1" dirty="0">
                <a:solidFill>
                  <a:srgbClr val="012169"/>
                </a:solidFill>
                <a:latin typeface="Arial" pitchFamily="34" charset="0"/>
                <a:ea typeface="Arial" pitchFamily="34" charset="-122"/>
                <a:cs typeface="Arial" pitchFamily="34" charset="-120"/>
              </a:rPr>
              <a:t>6   Members  </a:t>
            </a:r>
            <a:pPr indent="0" marL="0">
              <a:lnSpc>
                <a:spcPct val="100000"/>
              </a:lnSpc>
              <a:spcAft>
                <a:spcPts val="700"/>
              </a:spcAft>
              <a:buNone/>
            </a:pPr>
            <a:r>
              <a:rPr lang="en-US" sz="900" dirty="0">
                <a:solidFill>
                  <a:srgbClr val="4D4F53"/>
                </a:solidFill>
                <a:latin typeface="Arial" pitchFamily="34" charset="0"/>
                <a:ea typeface="Arial" pitchFamily="34" charset="-122"/>
                <a:cs typeface="Arial" pitchFamily="34" charset="-120"/>
              </a:rPr>
              <a:t>4: /Common/30.123.135.170 30.123.135.170, every one leads to ah-1062287-001 (device record, adapter, IP Address record)</a:t>
            </a:r>
            <a:endParaRPr lang="en-US" sz="900" dirty="0"/>
          </a:p>
          <a:p>
            <a:pPr indent="0" marL="0">
              <a:lnSpc>
                <a:spcPct val="100000"/>
              </a:lnSpc>
              <a:buNone/>
            </a:pPr>
            <a:r>
              <a:rPr lang="en-US" sz="900" b="1" dirty="0">
                <a:solidFill>
                  <a:srgbClr val="012169"/>
                </a:solidFill>
                <a:latin typeface="Arial" pitchFamily="34" charset="0"/>
                <a:ea typeface="Arial" pitchFamily="34" charset="-122"/>
                <a:cs typeface="Arial" pitchFamily="34" charset="-120"/>
              </a:rPr>
              <a:t>7   Decision  </a:t>
            </a:r>
            <a:pPr indent="0" marL="0">
              <a:lnSpc>
                <a:spcPct val="100000"/>
              </a:lnSpc>
              <a:spcAft>
                <a:spcPts val="700"/>
              </a:spcAft>
              <a:buNone/>
            </a:pPr>
            <a:r>
              <a:rPr lang="en-US" sz="900" dirty="0">
                <a:solidFill>
                  <a:srgbClr val="4D4F53"/>
                </a:solidFill>
                <a:latin typeface="Arial" pitchFamily="34" charset="0"/>
                <a:ea typeface="Arial" pitchFamily="34" charset="-122"/>
                <a:cs typeface="Arial" pitchFamily="34" charset="-120"/>
              </a:rPr>
              <a:t>4 member(s), 1 server record(s), 1 machine(s) by name; one machine, one record: the member rule returns it</a:t>
            </a:r>
            <a:endParaRPr lang="en-US" sz="900" dirty="0"/>
          </a:p>
        </p:txBody>
      </p:sp>
      <p:sp>
        <p:nvSpPr>
          <p:cNvPr id="22" name="Shape 20"/>
          <p:cNvSpPr/>
          <p:nvPr/>
        </p:nvSpPr>
        <p:spPr>
          <a:xfrm>
            <a:off x="8805672" y="3302000"/>
            <a:ext cx="2880360" cy="3098800"/>
          </a:xfrm>
          <a:prstGeom prst="roundRect">
            <a:avLst>
              <a:gd name="adj" fmla="val 190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805672" y="3466592"/>
            <a:ext cx="64008" cy="2769616"/>
          </a:xfrm>
          <a:prstGeom prst="rect">
            <a:avLst/>
          </a:prstGeom>
          <a:solidFill>
            <a:srgbClr val="E31837"/>
          </a:solidFill>
          <a:ln w="12700">
            <a:solidFill>
              <a:srgbClr val="333333"/>
            </a:solidFill>
            <a:prstDash val="solid"/>
          </a:ln>
        </p:spPr>
      </p:sp>
      <p:sp>
        <p:nvSpPr>
          <p:cNvPr id="24" name="Text 22"/>
          <p:cNvSpPr txBox="1"/>
          <p:nvPr/>
        </p:nvSpPr>
        <p:spPr>
          <a:xfrm>
            <a:off x="9079992" y="3457448"/>
            <a:ext cx="236829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9079992" y="3731768"/>
            <a:ext cx="457200" cy="0"/>
          </a:xfrm>
          <a:prstGeom prst="line">
            <a:avLst/>
          </a:prstGeom>
          <a:noFill/>
          <a:ln w="19050">
            <a:solidFill>
              <a:srgbClr val="E31837"/>
            </a:solidFill>
            <a:prstDash val="solid"/>
          </a:ln>
        </p:spPr>
      </p:sp>
      <p:sp>
        <p:nvSpPr>
          <p:cNvPr id="26" name="Text 24"/>
          <p:cNvSpPr txBox="1"/>
          <p:nvPr/>
        </p:nvSpPr>
        <p:spPr>
          <a:xfrm>
            <a:off x="9079992" y="3777488"/>
            <a:ext cx="235000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ah-1062287-001</a:t>
            </a:r>
            <a:endParaRPr lang="en-US" sz="1500" dirty="0"/>
          </a:p>
        </p:txBody>
      </p:sp>
      <p:sp>
        <p:nvSpPr>
          <p:cNvPr id="27" name="Text 25"/>
          <p:cNvSpPr txBox="1"/>
          <p:nvPr/>
        </p:nvSpPr>
        <p:spPr>
          <a:xfrm>
            <a:off x="9079992" y="4097528"/>
            <a:ext cx="235000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Linux Server</a:t>
            </a:r>
            <a:endParaRPr lang="en-US" sz="1100" dirty="0"/>
          </a:p>
        </p:txBody>
      </p:sp>
      <p:sp>
        <p:nvSpPr>
          <p:cNvPr id="28" name="Text 26"/>
          <p:cNvSpPr txBox="1"/>
          <p:nvPr/>
        </p:nvSpPr>
        <p:spPr>
          <a:xfrm>
            <a:off x="9079992" y="4417568"/>
            <a:ext cx="2350008" cy="1270000"/>
          </a:xfrm>
          <a:prstGeom prst="rect">
            <a:avLst/>
          </a:prstGeom>
          <a:noFill/>
          <a:ln/>
        </p:spPr>
        <p:txBody>
          <a:bodyPr wrap="square" lIns="0" tIns="0" rIns="0" bIns="0" rtlCol="0" anchor="t"/>
          <a:lstStyle/>
          <a:p>
            <a:pPr indent="0" marL="0">
              <a:buNone/>
            </a:pPr>
            <a:r>
              <a:rPr lang="en-US" sz="8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850" dirty="0">
                <a:solidFill>
                  <a:srgbClr val="4D4F53"/>
                </a:solidFill>
                <a:latin typeface="Arial" pitchFamily="34" charset="0"/>
                <a:ea typeface="Arial" pitchFamily="34" charset="-122"/>
                <a:cs typeface="Arial" pitchFamily="34" charset="-120"/>
              </a:rPr>
              <a:t>ah-1062287-001.sdi.corp.bankofamerica.com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850" dirty="0">
                <a:solidFill>
                  <a:srgbClr val="4D4F53"/>
                </a:solidFill>
                <a:latin typeface="Arial" pitchFamily="34" charset="0"/>
                <a:ea typeface="Arial" pitchFamily="34" charset="-122"/>
                <a:cs typeface="Arial" pitchFamily="34" charset="-120"/>
              </a:rPr>
              <a:t>SDI.CORP.BANKOFAMERICA.COM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850" dirty="0">
                <a:solidFill>
                  <a:srgbClr val="4D4F53"/>
                </a:solidFill>
                <a:latin typeface="Arial" pitchFamily="34" charset="0"/>
                <a:ea typeface="Arial" pitchFamily="34" charset="-122"/>
                <a:cs typeface="Arial" pitchFamily="34" charset="-120"/>
              </a:rPr>
              <a:t>30.123.135.170</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VMware-42 13 33 b1 97 f0 9e 97-b1 a0 ca 1b 8a 2c fc 7b</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 Inc. VMware Virtual Platform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Installed</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Operational</a:t>
            </a:r>
            <a:endParaRPr lang="en-US" sz="850" dirty="0"/>
          </a:p>
        </p:txBody>
      </p:sp>
      <p:sp>
        <p:nvSpPr>
          <p:cNvPr id="29" name="Text 27">
            <a:hlinkClick r:id="rId2" tooltip="https://bofasecopsdev.service-now.com/cmdb_ci_linux_server.do?sys_id=6dba925b2b1ca210e9c1f4cdce91bf42"/>
          </p:cNvPr>
          <p:cNvSpPr txBox="1"/>
          <p:nvPr/>
        </p:nvSpPr>
        <p:spPr>
          <a:xfrm>
            <a:off x="9079992" y="6035040"/>
            <a:ext cx="235000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139</a:t>
            </a:fld>
            <a:endParaRPr lang="en-US"/>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455  ·  LOAD BALANCER MEMBER MATCH  ·  EXAMPLE 2 STEP BY STEP  ·  PAGE 1 OF 5</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aim-xfer-dev-ltwbt1-vip.bankofamerica.com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eac78dafebdb47d0577bf284dad0cd8f" history="1" highlightClick="0" endSnd="0">
                  <a:extLst>
                    <a:ext uri="{A12FA001-AC4F-418D-AE19-62706E023703}">
                      <ahyp:hlinkClr xmlns:ahyp="http://schemas.microsoft.com/office/drawing/2018/hyperlinkcolor" val="tx"/>
                    </a:ext>
                  </a:extLst>
                </a:hlinkClick>
              </a:rPr>
              <a:t>SDI000003786277</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52af62963b9b4310e973496ea5e45aa5" history="1" highlightClick="0" endSnd="0">
                  <a:extLst>
                    <a:ext uri="{A12FA001-AC4F-418D-AE19-62706E023703}">
                      <ahyp:hlinkClr xmlns:ahyp="http://schemas.microsoft.com/office/drawing/2018/hyperlinkcolor" val="tx"/>
                    </a:ext>
                  </a:extLst>
                </a:hlinkClick>
              </a:rPr>
              <a:t>BOFA Load Balancer Member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ah-1062287-001</a:t>
            </a:r>
            <a:endParaRPr lang="en-US" sz="1000" dirty="0"/>
          </a:p>
        </p:txBody>
      </p:sp>
      <p:graphicFrame>
        <p:nvGraphicFramePr>
          <p:cNvPr id="141"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VIP sign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The OS text is searched for f5, big-ip, big ip and netscaler, and the label segments for vip or vs (the word, the word plus digits, or a longer word ending in it); without a sign the rule returns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label segment "vip"</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1: fqdn = "aim-xfer-dev-ltwbt1-vip.bankofamerica.com"</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fqdn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no service record; next clue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lb_service_list.do?sysparm_query=fqdn%3Daim-xfer-dev-ltwbt1-vip.bankofamerica.com" history="1" highlightClick="0" endSnd="0">
                            <a:extLst>
                              <a:ext uri="{A12FA001-AC4F-418D-AE19-62706E023703}">
                                <ahyp:hlinkClr xmlns:ahyp="http://schemas.microsoft.com/office/drawing/2018/hyperlinkcolor" val="tx"/>
                              </a:ext>
                            </a:extLst>
                          </a:hlinkClick>
                        </a:rPr>
                        <a:t>Load Balancer Service: fqdn=aim-xfer-dev-ltwbt1-vip.bankofamerica.com</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2: name = "aim-xfer-dev-ltwbt1-vip.bankofamerica.com"</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name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no service record; next clue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lb_service_list.do?sysparm_query=name%3Daim-xfer-dev-ltwbt1-vip.bankofamerica.com" history="1" highlightClick="0" endSnd="0">
                            <a:extLst>
                              <a:ext uri="{A12FA001-AC4F-418D-AE19-62706E023703}">
                                <ahyp:hlinkClr xmlns:ahyp="http://schemas.microsoft.com/office/drawing/2018/hyperlinkcolor" val="tx"/>
                              </a:ext>
                            </a:extLst>
                          </a:hlinkClick>
                        </a:rPr>
                        <a:t>Load Balancer Service: name=aim-xfer-dev-ltwbt1-vip.bankofamerica.com</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3: name = "aim-xfer-dev-ltwbt1-vip"</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name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no service record; next clue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lb_service_list.do?sysparm_query=name%3Daim-xfer-dev-ltwbt1-vip" history="1" highlightClick="0" endSnd="0">
                            <a:extLst>
                              <a:ext uri="{A12FA001-AC4F-418D-AE19-62706E023703}">
                                <ahyp:hlinkClr xmlns:ahyp="http://schemas.microsoft.com/office/drawing/2018/hyperlinkcolor" val="tx"/>
                              </a:ext>
                            </a:extLst>
                          </a:hlinkClick>
                        </a:rPr>
                        <a:t>Load Balancer Service: name=aim-xfer-dev-ltwbt1-vip</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4: ip_address = "171.206.7.25"</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ip_address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4 service records: /Common/aim-xfer-dev_t_22 on 171.206.7.25 (ltwqbt1utilb01a) ; /Common/aim-xfer-dev_t_22 on 171.206.7.25 (ltwqbt1utilb01b) ; /Common/aim-xfer-dev_t_22 on 171.206.7.25 (ltwqbt1utilb01b) ; /Common/aim-xfer-dev_t_22 on 171.206.7.25 (ltwqbt1utilb01a)</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8" invalidUrl="" action="" tgtFrame="" tooltip="https://bofasecopsdev.service-now.com/cmdb_ci_lb_service_list.do?sysparm_query=ip_address%3D171.206.7.25" history="1" highlightClick="0" endSnd="0">
                            <a:extLst>
                              <a:ext uri="{A12FA001-AC4F-418D-AE19-62706E023703}">
                                <ahyp:hlinkClr xmlns:ahyp="http://schemas.microsoft.com/office/drawing/2018/hyperlinkcolor" val="tx"/>
                              </a:ext>
                            </a:extLst>
                          </a:hlinkClick>
                        </a:rPr>
                        <a:t>Load Balancer Service: ip_address=171.206.7.25</a:t>
                      </a:r>
                      <a:pPr indent="0" marL="0">
                        <a:buNone/>
                      </a:pPr>
                      <a:r>
                        <a:rPr lang="en-US" sz="900" dirty="0">
                          <a:solidFill>
                            <a:srgbClr val="6E7279"/>
                          </a:solidFill>
                          <a:latin typeface="Arial" pitchFamily="34" charset="0"/>
                          <a:ea typeface="Arial" pitchFamily="34" charset="-122"/>
                          <a:cs typeface="Arial" pitchFamily="34" charset="-120"/>
                        </a:rPr>
                        <a:t> (4 rows)</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9" invalidUrl="" action="" tgtFrame="" tooltip="https://bofasecopsdev.service-now.com/cmdb_ci_lb_service.do?sys_id=33ef13302beeae146d55ff5fe291bfae" history="1" highlightClick="0" endSnd="0">
                            <a:extLst>
                              <a:ext uri="{A12FA001-AC4F-418D-AE19-62706E023703}">
                                <ahyp:hlinkClr xmlns:ahyp="http://schemas.microsoft.com/office/drawing/2018/hyperlinkcolor" val="tx"/>
                              </a:ext>
                            </a:extLst>
                          </a:hlinkClick>
                        </a:rPr>
                        <a:t>/Common/aim-xfer-dev_t_22</a:t>
                      </a:r>
                      <a:pPr indent="0" marL="0">
                        <a:buNone/>
                      </a:pPr>
                      <a:r>
                        <a:rPr lang="en-US" sz="900" dirty="0">
                          <a:solidFill>
                            <a:srgbClr val="6E7279"/>
                          </a:solidFill>
                          <a:latin typeface="Arial" pitchFamily="34" charset="0"/>
                          <a:ea typeface="Arial" pitchFamily="34" charset="-122"/>
                          <a:cs typeface="Arial" pitchFamily="34" charset="-120"/>
                        </a:rPr>
                        <a:t> → pool </a:t>
                      </a:r>
                      <a:pPr indent="0" marL="0">
                        <a:buNone/>
                      </a:pPr>
                      <a:r>
                        <a:rPr lang="en-US" sz="900" u="sng" dirty="0">
                          <a:solidFill>
                            <a:srgbClr val="012169"/>
                          </a:solidFill>
                          <a:latin typeface="Arial" pitchFamily="34" charset="0"/>
                          <a:ea typeface="Arial" pitchFamily="34" charset="-122"/>
                          <a:cs typeface="Arial" pitchFamily="34" charset="-120"/>
                          <a:hlinkClick r:id="rId10" invalidUrl="" action="" tgtFrame="" tooltip="https://bofasecopsdev.service-now.com/cmdb_ci_lb_pool.do?sys_id=2fef13302beeae146d55ff5fe291bfac" history="1" highlightClick="0" endSnd="0">
                            <a:extLst>
                              <a:ext uri="{A12FA001-AC4F-418D-AE19-62706E023703}">
                                <ahyp:hlinkClr xmlns:ahyp="http://schemas.microsoft.com/office/drawing/2018/hyperlinkcolor" val="tx"/>
                              </a:ext>
                            </a:extLst>
                          </a:hlinkClick>
                        </a:rPr>
                        <a:t>/Common/aim-xfer-dev_t_22</a:t>
                      </a:r>
                      <a:pPr indent="0" marL="0">
                        <a:buNone/>
                      </a:pPr>
                      <a:r>
                        <a:rPr lang="en-US" sz="900" dirty="0">
                          <a:solidFill>
                            <a:srgbClr val="6E7279"/>
                          </a:solidFill>
                          <a:latin typeface="Arial" pitchFamily="34" charset="0"/>
                          <a:ea typeface="Arial" pitchFamily="34" charset="-122"/>
                          <a:cs typeface="Arial" pitchFamily="34" charset="-120"/>
                        </a:rPr>
                        <a:t> on balancer </a:t>
                      </a:r>
                      <a:pPr indent="0" marL="0">
                        <a:buNone/>
                      </a:pPr>
                      <a:r>
                        <a:rPr lang="en-US" sz="900" u="sng" dirty="0">
                          <a:solidFill>
                            <a:srgbClr val="012169"/>
                          </a:solidFill>
                          <a:latin typeface="Arial" pitchFamily="34" charset="0"/>
                          <a:ea typeface="Arial" pitchFamily="34" charset="-122"/>
                          <a:cs typeface="Arial" pitchFamily="34" charset="-120"/>
                          <a:hlinkClick r:id="rId11" invalidUrl="" action="" tgtFrame="" tooltip="https://bofasecopsdev.service-now.com/cmdb_ci_lb.do?sys_id=be70c9fd3b466a90be6d95c964e45abc" history="1" highlightClick="0" endSnd="0">
                            <a:extLst>
                              <a:ext uri="{A12FA001-AC4F-418D-AE19-62706E023703}">
                                <ahyp:hlinkClr xmlns:ahyp="http://schemas.microsoft.com/office/drawing/2018/hyperlinkcolor" val="tx"/>
                              </a:ext>
                            </a:extLst>
                          </a:hlinkClick>
                        </a:rPr>
                        <a:t>ltwqbt1utilb01a</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2" invalidUrl="" action="" tgtFrame="" tooltip="https://bofasecopsdev.service-now.com/cmdb_ci_lb_service.do?sys_id=571d80492b9c4b906d55ff5fe291bfa6" history="1" highlightClick="0" endSnd="0">
                            <a:extLst>
                              <a:ext uri="{A12FA001-AC4F-418D-AE19-62706E023703}">
                                <ahyp:hlinkClr xmlns:ahyp="http://schemas.microsoft.com/office/drawing/2018/hyperlinkcolor" val="tx"/>
                              </a:ext>
                            </a:extLst>
                          </a:hlinkClick>
                        </a:rPr>
                        <a:t>/Common/aim-xfer-dev_t_22</a:t>
                      </a:r>
                      <a:pPr indent="0" marL="0">
                        <a:buNone/>
                      </a:pPr>
                      <a:r>
                        <a:rPr lang="en-US" sz="900" dirty="0">
                          <a:solidFill>
                            <a:srgbClr val="6E7279"/>
                          </a:solidFill>
                          <a:latin typeface="Arial" pitchFamily="34" charset="0"/>
                          <a:ea typeface="Arial" pitchFamily="34" charset="-122"/>
                          <a:cs typeface="Arial" pitchFamily="34" charset="-120"/>
                        </a:rPr>
                        <a:t> → pool </a:t>
                      </a:r>
                      <a:pPr indent="0" marL="0">
                        <a:buNone/>
                      </a:pPr>
                      <a:r>
                        <a:rPr lang="en-US" sz="900" u="sng" dirty="0">
                          <a:solidFill>
                            <a:srgbClr val="012169"/>
                          </a:solidFill>
                          <a:latin typeface="Arial" pitchFamily="34" charset="0"/>
                          <a:ea typeface="Arial" pitchFamily="34" charset="-122"/>
                          <a:cs typeface="Arial" pitchFamily="34" charset="-120"/>
                          <a:hlinkClick r:id="rId13" invalidUrl="" action="" tgtFrame="" tooltip="https://bofasecopsdev.service-now.com/cmdb_ci_lb_pool.do?sys_id=cb1d80492b9c4b906d55ff5fe291bfa5" history="1" highlightClick="0" endSnd="0">
                            <a:extLst>
                              <a:ext uri="{A12FA001-AC4F-418D-AE19-62706E023703}">
                                <ahyp:hlinkClr xmlns:ahyp="http://schemas.microsoft.com/office/drawing/2018/hyperlinkcolor" val="tx"/>
                              </a:ext>
                            </a:extLst>
                          </a:hlinkClick>
                        </a:rPr>
                        <a:t>/Common/aim-xfer-dev_t_22</a:t>
                      </a:r>
                      <a:pPr indent="0" marL="0">
                        <a:buNone/>
                      </a:pPr>
                      <a:r>
                        <a:rPr lang="en-US" sz="900" dirty="0">
                          <a:solidFill>
                            <a:srgbClr val="6E7279"/>
                          </a:solidFill>
                          <a:latin typeface="Arial" pitchFamily="34" charset="0"/>
                          <a:ea typeface="Arial" pitchFamily="34" charset="-122"/>
                          <a:cs typeface="Arial" pitchFamily="34" charset="-120"/>
                        </a:rPr>
                        <a:t> on balancer </a:t>
                      </a:r>
                      <a:pPr indent="0" marL="0">
                        <a:buNone/>
                      </a:pPr>
                      <a:r>
                        <a:rPr lang="en-US" sz="900" u="sng" dirty="0">
                          <a:solidFill>
                            <a:srgbClr val="012169"/>
                          </a:solidFill>
                          <a:latin typeface="Arial" pitchFamily="34" charset="0"/>
                          <a:ea typeface="Arial" pitchFamily="34" charset="-122"/>
                          <a:cs typeface="Arial" pitchFamily="34" charset="-120"/>
                          <a:hlinkClick r:id="rId14" invalidUrl="" action="" tgtFrame="" tooltip="https://bofasecopsdev.service-now.com/cmdb_ci_lb_bigip.do?sys_id=625520642bfc7ed0bc06f739e391bf74" history="1" highlightClick="0" endSnd="0">
                            <a:extLst>
                              <a:ext uri="{A12FA001-AC4F-418D-AE19-62706E023703}">
                                <ahyp:hlinkClr xmlns:ahyp="http://schemas.microsoft.com/office/drawing/2018/hyperlinkcolor" val="tx"/>
                              </a:ext>
                            </a:extLst>
                          </a:hlinkClick>
                        </a:rPr>
                        <a:t>ltwqbt1utilb01b</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5" invalidUrl="" action="" tgtFrame="" tooltip="https://bofasecopsdev.service-now.com/cmdb_ci_lb_service.do?sys_id=aed2ab783baa2254055e3b64c3e45add" history="1" highlightClick="0" endSnd="0">
                            <a:extLst>
                              <a:ext uri="{A12FA001-AC4F-418D-AE19-62706E023703}">
                                <ahyp:hlinkClr xmlns:ahyp="http://schemas.microsoft.com/office/drawing/2018/hyperlinkcolor" val="tx"/>
                              </a:ext>
                            </a:extLst>
                          </a:hlinkClick>
                        </a:rPr>
                        <a:t>/Common/aim-xfer-dev_t_22</a:t>
                      </a:r>
                      <a:pPr indent="0" marL="0">
                        <a:buNone/>
                      </a:pPr>
                      <a:r>
                        <a:rPr lang="en-US" sz="900" dirty="0">
                          <a:solidFill>
                            <a:srgbClr val="6E7279"/>
                          </a:solidFill>
                          <a:latin typeface="Arial" pitchFamily="34" charset="0"/>
                          <a:ea typeface="Arial" pitchFamily="34" charset="-122"/>
                          <a:cs typeface="Arial" pitchFamily="34" charset="-120"/>
                        </a:rPr>
                        <a:t> → pool </a:t>
                      </a:r>
                      <a:pPr indent="0" marL="0">
                        <a:buNone/>
                      </a:pPr>
                      <a:r>
                        <a:rPr lang="en-US" sz="900" u="sng" dirty="0">
                          <a:solidFill>
                            <a:srgbClr val="012169"/>
                          </a:solidFill>
                          <a:latin typeface="Arial" pitchFamily="34" charset="0"/>
                          <a:ea typeface="Arial" pitchFamily="34" charset="-122"/>
                          <a:cs typeface="Arial" pitchFamily="34" charset="-120"/>
                          <a:hlinkClick r:id="rId16" invalidUrl="" action="" tgtFrame="" tooltip="https://bofasecopsdev.service-now.com/cmdb_ci_lb_pool.do?sys_id=8ad2ab783baa2254055e3b64c3e45adc" history="1" highlightClick="0" endSnd="0">
                            <a:extLst>
                              <a:ext uri="{A12FA001-AC4F-418D-AE19-62706E023703}">
                                <ahyp:hlinkClr xmlns:ahyp="http://schemas.microsoft.com/office/drawing/2018/hyperlinkcolor" val="tx"/>
                              </a:ext>
                            </a:extLst>
                          </a:hlinkClick>
                        </a:rPr>
                        <a:t>/Common/aim-xfer-dev_t_22</a:t>
                      </a:r>
                      <a:pPr indent="0" marL="0">
                        <a:buNone/>
                      </a:pPr>
                      <a:r>
                        <a:rPr lang="en-US" sz="900" dirty="0">
                          <a:solidFill>
                            <a:srgbClr val="6E7279"/>
                          </a:solidFill>
                          <a:latin typeface="Arial" pitchFamily="34" charset="0"/>
                          <a:ea typeface="Arial" pitchFamily="34" charset="-122"/>
                          <a:cs typeface="Arial" pitchFamily="34" charset="-120"/>
                        </a:rPr>
                        <a:t> on balancer </a:t>
                      </a:r>
                      <a:pPr indent="0" marL="0">
                        <a:buNone/>
                      </a:pPr>
                      <a:r>
                        <a:rPr lang="en-US" sz="900" u="sng" dirty="0">
                          <a:solidFill>
                            <a:srgbClr val="012169"/>
                          </a:solidFill>
                          <a:latin typeface="Arial" pitchFamily="34" charset="0"/>
                          <a:ea typeface="Arial" pitchFamily="34" charset="-122"/>
                          <a:cs typeface="Arial" pitchFamily="34" charset="-120"/>
                          <a:hlinkClick r:id="rId17" invalidUrl="" action="" tgtFrame="" tooltip="https://bofasecopsdev.service-now.com/cmdb_ci_lb.do?sys_id=5eba7c792b86ae94d28af8a4ce91bf2a" history="1" highlightClick="0" endSnd="0">
                            <a:extLst>
                              <a:ext uri="{A12FA001-AC4F-418D-AE19-62706E023703}">
                                <ahyp:hlinkClr xmlns:ahyp="http://schemas.microsoft.com/office/drawing/2018/hyperlinkcolor" val="tx"/>
                              </a:ext>
                            </a:extLst>
                          </a:hlinkClick>
                        </a:rPr>
                        <a:t>ltwqbt1utilb01b</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8" invalidUrl="" action="" tgtFrame="" tooltip="https://bofasecopsdev.service-now.com/cmdb_ci_lb_service.do?sys_id=c59e400d3bd88790dee4bcdc73e45aa1" history="1" highlightClick="0" endSnd="0">
                            <a:extLst>
                              <a:ext uri="{A12FA001-AC4F-418D-AE19-62706E023703}">
                                <ahyp:hlinkClr xmlns:ahyp="http://schemas.microsoft.com/office/drawing/2018/hyperlinkcolor" val="tx"/>
                              </a:ext>
                            </a:extLst>
                          </a:hlinkClick>
                        </a:rPr>
                        <a:t>/Common/aim-xfer-dev_t_22</a:t>
                      </a:r>
                      <a:pPr indent="0" marL="0">
                        <a:buNone/>
                      </a:pPr>
                      <a:r>
                        <a:rPr lang="en-US" sz="900" dirty="0">
                          <a:solidFill>
                            <a:srgbClr val="6E7279"/>
                          </a:solidFill>
                          <a:latin typeface="Arial" pitchFamily="34" charset="0"/>
                          <a:ea typeface="Arial" pitchFamily="34" charset="-122"/>
                          <a:cs typeface="Arial" pitchFamily="34" charset="-120"/>
                        </a:rPr>
                        <a:t> → pool </a:t>
                      </a:r>
                      <a:pPr indent="0" marL="0">
                        <a:buNone/>
                      </a:pPr>
                      <a:r>
                        <a:rPr lang="en-US" sz="900" u="sng" dirty="0">
                          <a:solidFill>
                            <a:srgbClr val="012169"/>
                          </a:solidFill>
                          <a:latin typeface="Arial" pitchFamily="34" charset="0"/>
                          <a:ea typeface="Arial" pitchFamily="34" charset="-122"/>
                          <a:cs typeface="Arial" pitchFamily="34" charset="-120"/>
                          <a:hlinkClick r:id="rId19" invalidUrl="" action="" tgtFrame="" tooltip="https://bofasecopsdev.service-now.com/cmdb_ci_lb_pool.do?sys_id=7c9e400d3bd88790dee4bcdc73e45aa0" history="1" highlightClick="0" endSnd="0">
                            <a:extLst>
                              <a:ext uri="{A12FA001-AC4F-418D-AE19-62706E023703}">
                                <ahyp:hlinkClr xmlns:ahyp="http://schemas.microsoft.com/office/drawing/2018/hyperlinkcolor" val="tx"/>
                              </a:ext>
                            </a:extLst>
                          </a:hlinkClick>
                        </a:rPr>
                        <a:t>/Common/aim-xfer-dev_t_22</a:t>
                      </a:r>
                      <a:pPr indent="0" marL="0">
                        <a:buNone/>
                      </a:pPr>
                      <a:r>
                        <a:rPr lang="en-US" sz="900" dirty="0">
                          <a:solidFill>
                            <a:srgbClr val="6E7279"/>
                          </a:solidFill>
                          <a:latin typeface="Arial" pitchFamily="34" charset="0"/>
                          <a:ea typeface="Arial" pitchFamily="34" charset="-122"/>
                          <a:cs typeface="Arial" pitchFamily="34" charset="-120"/>
                        </a:rPr>
                        <a:t> on balancer </a:t>
                      </a:r>
                      <a:pPr indent="0" marL="0">
                        <a:buNone/>
                      </a:pPr>
                      <a:r>
                        <a:rPr lang="en-US" sz="900" u="sng" dirty="0">
                          <a:solidFill>
                            <a:srgbClr val="012169"/>
                          </a:solidFill>
                          <a:latin typeface="Arial" pitchFamily="34" charset="0"/>
                          <a:ea typeface="Arial" pitchFamily="34" charset="-122"/>
                          <a:cs typeface="Arial" pitchFamily="34" charset="-120"/>
                          <a:hlinkClick r:id="rId20" invalidUrl="" action="" tgtFrame="" tooltip="https://bofasecopsdev.service-now.com/cmdb_ci_lb_bigip.do?sys_id=f47725e79300c790b739f912ed03d679" history="1" highlightClick="0" endSnd="0">
                            <a:extLst>
                              <a:ext uri="{A12FA001-AC4F-418D-AE19-62706E023703}">
                                <ahyp:hlinkClr xmlns:ahyp="http://schemas.microsoft.com/office/drawing/2018/hyperlinkcolor" val="tx"/>
                              </a:ext>
                            </a:extLst>
                          </a:hlinkClick>
                        </a:rPr>
                        <a:t>ltwqbt1utilb01a</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140</a:t>
            </a:fld>
            <a:endParaRPr lang="en-US"/>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455  ·  LOAD BALANCER MEMBER MATCH  ·  EXAMPLE 2 STEP BY STEP  ·  PAGE 2 OF 5</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aim-xfer-dev-ltwbt1-vip.bankofamerica.com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eac78dafebdb47d0577bf284dad0cd8f" history="1" highlightClick="0" endSnd="0">
                  <a:extLst>
                    <a:ext uri="{A12FA001-AC4F-418D-AE19-62706E023703}">
                      <ahyp:hlinkClr xmlns:ahyp="http://schemas.microsoft.com/office/drawing/2018/hyperlinkcolor" val="tx"/>
                    </a:ext>
                  </a:extLst>
                </a:hlinkClick>
              </a:rPr>
              <a:t>SDI000003786277</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52af62963b9b4310e973496ea5e45aa5" history="1" highlightClick="0" endSnd="0">
                  <a:extLst>
                    <a:ext uri="{A12FA001-AC4F-418D-AE19-62706E023703}">
                      <ahyp:hlinkClr xmlns:ahyp="http://schemas.microsoft.com/office/drawing/2018/hyperlinkcolor" val="tx"/>
                    </a:ext>
                  </a:extLst>
                </a:hlinkClick>
              </a:rPr>
              <a:t>BOFA Load Balancer Member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ah-1062287-001</a:t>
            </a:r>
            <a:endParaRPr lang="en-US" sz="1000" dirty="0"/>
          </a:p>
        </p:txBody>
      </p:sp>
      <p:graphicFrame>
        <p:nvGraphicFramePr>
          <p:cNvPr id="142"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Twins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Records of one name are one virtual server recorded more than once: the ones on the scanned address are kept, then the live ones.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4 records of one name are one virtual server recorded more than once: 4 kept on the scanned address; the member rule walks the pools of all 4, the service rule declines on 4 live records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141</a:t>
            </a:fld>
            <a:endParaRPr lang="en-US"/>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455  ·  LOAD BALANCER MEMBER MATCH  ·  EXAMPLE 2 STEP BY STEP  ·  PAGE 3 OF 5</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aim-xfer-dev-ltwbt1-vip.bankofamerica.com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eac78dafebdb47d0577bf284dad0cd8f" history="1" highlightClick="0" endSnd="0">
                  <a:extLst>
                    <a:ext uri="{A12FA001-AC4F-418D-AE19-62706E023703}">
                      <ahyp:hlinkClr xmlns:ahyp="http://schemas.microsoft.com/office/drawing/2018/hyperlinkcolor" val="tx"/>
                    </a:ext>
                  </a:extLst>
                </a:hlinkClick>
              </a:rPr>
              <a:t>SDI000003786277</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52af62963b9b4310e973496ea5e45aa5" history="1" highlightClick="0" endSnd="0">
                  <a:extLst>
                    <a:ext uri="{A12FA001-AC4F-418D-AE19-62706E023703}">
                      <ahyp:hlinkClr xmlns:ahyp="http://schemas.microsoft.com/office/drawing/2018/hyperlinkcolor" val="tx"/>
                    </a:ext>
                  </a:extLst>
                </a:hlinkClick>
              </a:rPr>
              <a:t>BOFA Load Balancer Member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ah-1062287-001</a:t>
            </a:r>
            <a:endParaRPr lang="en-US" sz="1000" dirty="0"/>
          </a:p>
        </p:txBody>
      </p:sp>
      <p:graphicFrame>
        <p:nvGraphicFramePr>
          <p:cNvPr id="143"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Pools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Reads the Pool field of each service record kept, the pools whose Service field points at it, and the pools related to it through cmdb_rel_ci; no pool means the member rule declines.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4: /Common/aim-xfer-dev_t_22 (pool field) ; /Common/aim-xfer-dev_t_22 (pool field) ; /Common/aim-xfer-dev_t_22 (pool field) ; /Common/aim-xfer-dev_t_22 (pool field)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lb_pool_list.do?sysparm_query=service%3D33ef13302beeae146d55ff5fe291bfae" history="1" highlightClick="0" endSnd="0">
                            <a:extLst>
                              <a:ext uri="{A12FA001-AC4F-418D-AE19-62706E023703}">
                                <ahyp:hlinkClr xmlns:ahyp="http://schemas.microsoft.com/office/drawing/2018/hyperlinkcolor" val="tx"/>
                              </a:ext>
                            </a:extLst>
                          </a:hlinkClick>
                        </a:rPr>
                        <a:t>Load Balancer Pool: service=33ef13302beeae146d55ff5fe291bfae</a:t>
                      </a:r>
                      <a:pPr indent="0" marL="0">
                        <a:buNone/>
                      </a:pPr>
                      <a:r>
                        <a:rPr lang="en-US" sz="900" dirty="0">
                          <a:solidFill>
                            <a:srgbClr val="6E7279"/>
                          </a:solidFill>
                          <a:latin typeface="Arial" pitchFamily="34" charset="0"/>
                          <a:ea typeface="Arial" pitchFamily="34" charset="-122"/>
                          <a:cs typeface="Arial" pitchFamily="34" charset="-120"/>
                        </a:rPr>
                        <a:t> (0 rows)</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rel_ci_list.do?sysparm_query=parent%3D33ef13302beeae146d55ff5fe291bfae%5EORchild%3D33ef13302beeae146d55ff5fe291bfae" history="1" highlightClick="0" endSnd="0">
                            <a:extLst>
                              <a:ext uri="{A12FA001-AC4F-418D-AE19-62706E023703}">
                                <ahyp:hlinkClr xmlns:ahyp="http://schemas.microsoft.com/office/drawing/2018/hyperlinkcolor" val="tx"/>
                              </a:ext>
                            </a:extLst>
                          </a:hlinkClick>
                        </a:rPr>
                        <a:t>CI relationship: parent=33ef13302beeae146d55ff5fe291bfae^ORchild=33ef13302beeae146d55ff5fe291bfae</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lb_pool.do?sys_id=2fef13302beeae146d55ff5fe291bfac" history="1" highlightClick="0" endSnd="0">
                            <a:extLst>
                              <a:ext uri="{A12FA001-AC4F-418D-AE19-62706E023703}">
                                <ahyp:hlinkClr xmlns:ahyp="http://schemas.microsoft.com/office/drawing/2018/hyperlinkcolor" val="tx"/>
                              </a:ext>
                            </a:extLst>
                          </a:hlinkClick>
                        </a:rPr>
                        <a:t>/Common/aim-xfer-dev_t_22</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8" invalidUrl="" action="" tgtFrame="" tooltip="https://bofasecopsdev.service-now.com/cmdb_ci_lb_pool_list.do?sysparm_query=service%3D571d80492b9c4b906d55ff5fe291bfa6" history="1" highlightClick="0" endSnd="0">
                            <a:extLst>
                              <a:ext uri="{A12FA001-AC4F-418D-AE19-62706E023703}">
                                <ahyp:hlinkClr xmlns:ahyp="http://schemas.microsoft.com/office/drawing/2018/hyperlinkcolor" val="tx"/>
                              </a:ext>
                            </a:extLst>
                          </a:hlinkClick>
                        </a:rPr>
                        <a:t>Load Balancer Pool: service=571d80492b9c4b906d55ff5fe291bfa6</a:t>
                      </a:r>
                      <a:pPr indent="0" marL="0">
                        <a:buNone/>
                      </a:pPr>
                      <a:r>
                        <a:rPr lang="en-US" sz="900" dirty="0">
                          <a:solidFill>
                            <a:srgbClr val="6E7279"/>
                          </a:solidFill>
                          <a:latin typeface="Arial" pitchFamily="34" charset="0"/>
                          <a:ea typeface="Arial" pitchFamily="34" charset="-122"/>
                          <a:cs typeface="Arial" pitchFamily="34" charset="-120"/>
                        </a:rPr>
                        <a:t> (0 rows)</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9" invalidUrl="" action="" tgtFrame="" tooltip="https://bofasecopsdev.service-now.com/cmdb_rel_ci_list.do?sysparm_query=parent%3D571d80492b9c4b906d55ff5fe291bfa6%5EORchild%3D571d80492b9c4b906d55ff5fe291bfa6" history="1" highlightClick="0" endSnd="0">
                            <a:extLst>
                              <a:ext uri="{A12FA001-AC4F-418D-AE19-62706E023703}">
                                <ahyp:hlinkClr xmlns:ahyp="http://schemas.microsoft.com/office/drawing/2018/hyperlinkcolor" val="tx"/>
                              </a:ext>
                            </a:extLst>
                          </a:hlinkClick>
                        </a:rPr>
                        <a:t>CI relationship: parent=571d80492b9c4b906d55ff5fe291bfa6^ORchild=571d80492b9c4b906d55ff5fe291bfa6</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0" invalidUrl="" action="" tgtFrame="" tooltip="https://bofasecopsdev.service-now.com/cmdb_ci_lb_pool.do?sys_id=cb1d80492b9c4b906d55ff5fe291bfa5" history="1" highlightClick="0" endSnd="0">
                            <a:extLst>
                              <a:ext uri="{A12FA001-AC4F-418D-AE19-62706E023703}">
                                <ahyp:hlinkClr xmlns:ahyp="http://schemas.microsoft.com/office/drawing/2018/hyperlinkcolor" val="tx"/>
                              </a:ext>
                            </a:extLst>
                          </a:hlinkClick>
                        </a:rPr>
                        <a:t>/Common/aim-xfer-dev_t_22</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11" invalidUrl="" action="" tgtFrame="" tooltip="https://bofasecopsdev.service-now.com/cmdb_ci_lb_pool_list.do?sysparm_query=service%3Daed2ab783baa2254055e3b64c3e45add" history="1" highlightClick="0" endSnd="0">
                            <a:extLst>
                              <a:ext uri="{A12FA001-AC4F-418D-AE19-62706E023703}">
                                <ahyp:hlinkClr xmlns:ahyp="http://schemas.microsoft.com/office/drawing/2018/hyperlinkcolor" val="tx"/>
                              </a:ext>
                            </a:extLst>
                          </a:hlinkClick>
                        </a:rPr>
                        <a:t>Load Balancer Pool: service=aed2ab783baa2254055e3b64c3e45add</a:t>
                      </a:r>
                      <a:pPr indent="0" marL="0">
                        <a:buNone/>
                      </a:pPr>
                      <a:r>
                        <a:rPr lang="en-US" sz="900" dirty="0">
                          <a:solidFill>
                            <a:srgbClr val="6E7279"/>
                          </a:solidFill>
                          <a:latin typeface="Arial" pitchFamily="34" charset="0"/>
                          <a:ea typeface="Arial" pitchFamily="34" charset="-122"/>
                          <a:cs typeface="Arial" pitchFamily="34" charset="-120"/>
                        </a:rPr>
                        <a:t> (0 rows)</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12" invalidUrl="" action="" tgtFrame="" tooltip="https://bofasecopsdev.service-now.com/cmdb_rel_ci_list.do?sysparm_query=parent%3Daed2ab783baa2254055e3b64c3e45add%5EORchild%3Daed2ab783baa2254055e3b64c3e45add" history="1" highlightClick="0" endSnd="0">
                            <a:extLst>
                              <a:ext uri="{A12FA001-AC4F-418D-AE19-62706E023703}">
                                <ahyp:hlinkClr xmlns:ahyp="http://schemas.microsoft.com/office/drawing/2018/hyperlinkcolor" val="tx"/>
                              </a:ext>
                            </a:extLst>
                          </a:hlinkClick>
                        </a:rPr>
                        <a:t>CI relationship: parent=aed2ab783baa2254055e3b64c3e45add^ORchild=aed2ab783baa2254055e3b64c3e45add</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3" invalidUrl="" action="" tgtFrame="" tooltip="https://bofasecopsdev.service-now.com/cmdb_ci_lb_pool.do?sys_id=8ad2ab783baa2254055e3b64c3e45adc" history="1" highlightClick="0" endSnd="0">
                            <a:extLst>
                              <a:ext uri="{A12FA001-AC4F-418D-AE19-62706E023703}">
                                <ahyp:hlinkClr xmlns:ahyp="http://schemas.microsoft.com/office/drawing/2018/hyperlinkcolor" val="tx"/>
                              </a:ext>
                            </a:extLst>
                          </a:hlinkClick>
                        </a:rPr>
                        <a:t>/Common/aim-xfer-dev_t_22</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14" invalidUrl="" action="" tgtFrame="" tooltip="https://bofasecopsdev.service-now.com/cmdb_ci_lb_pool_list.do?sysparm_query=service%3Dc59e400d3bd88790dee4bcdc73e45aa1" history="1" highlightClick="0" endSnd="0">
                            <a:extLst>
                              <a:ext uri="{A12FA001-AC4F-418D-AE19-62706E023703}">
                                <ahyp:hlinkClr xmlns:ahyp="http://schemas.microsoft.com/office/drawing/2018/hyperlinkcolor" val="tx"/>
                              </a:ext>
                            </a:extLst>
                          </a:hlinkClick>
                        </a:rPr>
                        <a:t>Load Balancer Pool: service=c59e400d3bd88790dee4bcdc73e45aa1</a:t>
                      </a:r>
                      <a:pPr indent="0" marL="0">
                        <a:buNone/>
                      </a:pPr>
                      <a:r>
                        <a:rPr lang="en-US" sz="900" dirty="0">
                          <a:solidFill>
                            <a:srgbClr val="6E7279"/>
                          </a:solidFill>
                          <a:latin typeface="Arial" pitchFamily="34" charset="0"/>
                          <a:ea typeface="Arial" pitchFamily="34" charset="-122"/>
                          <a:cs typeface="Arial" pitchFamily="34" charset="-120"/>
                        </a:rPr>
                        <a:t> (0 rows)</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15" invalidUrl="" action="" tgtFrame="" tooltip="https://bofasecopsdev.service-now.com/cmdb_rel_ci_list.do?sysparm_query=parent%3Dc59e400d3bd88790dee4bcdc73e45aa1%5EORchild%3Dc59e400d3bd88790dee4bcdc73e45aa1" history="1" highlightClick="0" endSnd="0">
                            <a:extLst>
                              <a:ext uri="{A12FA001-AC4F-418D-AE19-62706E023703}">
                                <ahyp:hlinkClr xmlns:ahyp="http://schemas.microsoft.com/office/drawing/2018/hyperlinkcolor" val="tx"/>
                              </a:ext>
                            </a:extLst>
                          </a:hlinkClick>
                        </a:rPr>
                        <a:t>CI relationship: parent=c59e400d3bd88790dee4bcdc73e45aa1^ORchild=c59e400d3bd88790dee4bcdc73e45aa1</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6" invalidUrl="" action="" tgtFrame="" tooltip="https://bofasecopsdev.service-now.com/cmdb_ci_lb_pool.do?sys_id=7c9e400d3bd88790dee4bcdc73e45aa0" history="1" highlightClick="0" endSnd="0">
                            <a:extLst>
                              <a:ext uri="{A12FA001-AC4F-418D-AE19-62706E023703}">
                                <ahyp:hlinkClr xmlns:ahyp="http://schemas.microsoft.com/office/drawing/2018/hyperlinkcolor" val="tx"/>
                              </a:ext>
                            </a:extLst>
                          </a:hlinkClick>
                        </a:rPr>
                        <a:t>/Common/aim-xfer-dev_t_22</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17" invalidUrl="" action="" tgtFrame="" tooltip="https://bofasecopsdev.service-now.com/cmdb_ci_lb_pool_list.do?sysparm_query=sys_idIN2fef13302beeae146d55ff5fe291bfac,cb1d80492b9c4b906d55ff5fe291bfa5,8ad2ab783baa2254055e3b64c3e45adc,7c9e400d3bd88790dee4bcdc73e45aa0" history="1" highlightClick="0" endSnd="0">
                            <a:extLst>
                              <a:ext uri="{A12FA001-AC4F-418D-AE19-62706E023703}">
                                <ahyp:hlinkClr xmlns:ahyp="http://schemas.microsoft.com/office/drawing/2018/hyperlinkcolor" val="tx"/>
                              </a:ext>
                            </a:extLst>
                          </a:hlinkClick>
                        </a:rPr>
                        <a:t>Load Balancer Pool: sys_idIN2fef13302beeae146d55ff5fe291bfac,cb1d80492b9c4b906d55ff5fe291bfa5,8ad2ab783baa2254055e3b64c3e45adc,7c9e400d3bd88790dee4bcdc73e45aa0</a:t>
                      </a:r>
                      <a:pPr indent="0" marL="0">
                        <a:buNone/>
                      </a:pPr>
                      <a:r>
                        <a:rPr lang="en-US" sz="900" dirty="0">
                          <a:solidFill>
                            <a:srgbClr val="6E7279"/>
                          </a:solidFill>
                          <a:latin typeface="Arial" pitchFamily="34" charset="0"/>
                          <a:ea typeface="Arial" pitchFamily="34" charset="-122"/>
                          <a:cs typeface="Arial" pitchFamily="34" charset="-120"/>
                        </a:rPr>
                        <a:t> (4 rows)</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8" invalidUrl="" action="" tgtFrame="" tooltip="https://bofasecopsdev.service-now.com/cmdb_ci_lb_pool.do?sys_id=2fef13302beeae146d55ff5fe291bfac" history="1" highlightClick="0" endSnd="0">
                            <a:extLst>
                              <a:ext uri="{A12FA001-AC4F-418D-AE19-62706E023703}">
                                <ahyp:hlinkClr xmlns:ahyp="http://schemas.microsoft.com/office/drawing/2018/hyperlinkcolor" val="tx"/>
                              </a:ext>
                            </a:extLst>
                          </a:hlinkClick>
                        </a:rPr>
                        <a:t>/Common/aim-xfer-dev_t_22</a:t>
                      </a:r>
                      <a:pPr indent="0" marL="0">
                        <a:buNone/>
                      </a:pPr>
                      <a:r>
                        <a:rPr lang="en-US" sz="900" dirty="0">
                          <a:solidFill>
                            <a:srgbClr val="6E7279"/>
                          </a:solidFill>
                          <a:latin typeface="Arial" pitchFamily="34" charset="0"/>
                          <a:ea typeface="Arial" pitchFamily="34" charset="-122"/>
                          <a:cs typeface="Arial" pitchFamily="34" charset="-120"/>
                        </a:rPr>
                        <a:t> (pool field)</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9" invalidUrl="" action="" tgtFrame="" tooltip="https://bofasecopsdev.service-now.com/cmdb_ci_lb_pool.do?sys_id=cb1d80492b9c4b906d55ff5fe291bfa5" history="1" highlightClick="0" endSnd="0">
                            <a:extLst>
                              <a:ext uri="{A12FA001-AC4F-418D-AE19-62706E023703}">
                                <ahyp:hlinkClr xmlns:ahyp="http://schemas.microsoft.com/office/drawing/2018/hyperlinkcolor" val="tx"/>
                              </a:ext>
                            </a:extLst>
                          </a:hlinkClick>
                        </a:rPr>
                        <a:t>/Common/aim-xfer-dev_t_22</a:t>
                      </a:r>
                      <a:pPr indent="0" marL="0">
                        <a:buNone/>
                      </a:pPr>
                      <a:r>
                        <a:rPr lang="en-US" sz="900" dirty="0">
                          <a:solidFill>
                            <a:srgbClr val="6E7279"/>
                          </a:solidFill>
                          <a:latin typeface="Arial" pitchFamily="34" charset="0"/>
                          <a:ea typeface="Arial" pitchFamily="34" charset="-122"/>
                          <a:cs typeface="Arial" pitchFamily="34" charset="-120"/>
                        </a:rPr>
                        <a:t> (pool field)</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20" invalidUrl="" action="" tgtFrame="" tooltip="https://bofasecopsdev.service-now.com/cmdb_ci_lb_pool.do?sys_id=8ad2ab783baa2254055e3b64c3e45adc" history="1" highlightClick="0" endSnd="0">
                            <a:extLst>
                              <a:ext uri="{A12FA001-AC4F-418D-AE19-62706E023703}">
                                <ahyp:hlinkClr xmlns:ahyp="http://schemas.microsoft.com/office/drawing/2018/hyperlinkcolor" val="tx"/>
                              </a:ext>
                            </a:extLst>
                          </a:hlinkClick>
                        </a:rPr>
                        <a:t>/Common/aim-xfer-dev_t_22</a:t>
                      </a:r>
                      <a:pPr indent="0" marL="0">
                        <a:buNone/>
                      </a:pPr>
                      <a:r>
                        <a:rPr lang="en-US" sz="900" dirty="0">
                          <a:solidFill>
                            <a:srgbClr val="6E7279"/>
                          </a:solidFill>
                          <a:latin typeface="Arial" pitchFamily="34" charset="0"/>
                          <a:ea typeface="Arial" pitchFamily="34" charset="-122"/>
                          <a:cs typeface="Arial" pitchFamily="34" charset="-120"/>
                        </a:rPr>
                        <a:t> (pool field)</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21" invalidUrl="" action="" tgtFrame="" tooltip="https://bofasecopsdev.service-now.com/cmdb_ci_lb_pool.do?sys_id=7c9e400d3bd88790dee4bcdc73e45aa0" history="1" highlightClick="0" endSnd="0">
                            <a:extLst>
                              <a:ext uri="{A12FA001-AC4F-418D-AE19-62706E023703}">
                                <ahyp:hlinkClr xmlns:ahyp="http://schemas.microsoft.com/office/drawing/2018/hyperlinkcolor" val="tx"/>
                              </a:ext>
                            </a:extLst>
                          </a:hlinkClick>
                        </a:rPr>
                        <a:t>/Common/aim-xfer-dev_t_22</a:t>
                      </a:r>
                      <a:pPr indent="0" marL="0">
                        <a:buNone/>
                      </a:pPr>
                      <a:r>
                        <a:rPr lang="en-US" sz="900" dirty="0">
                          <a:solidFill>
                            <a:srgbClr val="6E7279"/>
                          </a:solidFill>
                          <a:latin typeface="Arial" pitchFamily="34" charset="0"/>
                          <a:ea typeface="Arial" pitchFamily="34" charset="-122"/>
                          <a:cs typeface="Arial" pitchFamily="34" charset="-120"/>
                        </a:rPr>
                        <a:t> (pool field)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22" invalidUrl="" action="" tgtFrame="" tooltip="https://bofasecopsdev.service-now.com/cmdb_ci_lb_pool_member_list.do?sysparm_query=pool%3D2fef13302beeae146d55ff5fe291bfac" history="1" highlightClick="0" endSnd="0">
                            <a:extLst>
                              <a:ext uri="{A12FA001-AC4F-418D-AE19-62706E023703}">
                                <ahyp:hlinkClr xmlns:ahyp="http://schemas.microsoft.com/office/drawing/2018/hyperlinkcolor" val="tx"/>
                              </a:ext>
                            </a:extLst>
                          </a:hlinkClick>
                        </a:rPr>
                        <a:t>Pool Member: pool=2fef13302beeae146d55ff5fe291bfac</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23" invalidUrl="" action="" tgtFrame="" tooltip="https://bofasecopsdev.service-now.com/cmdb_ci_lb_pool_member.do?sys_id=ebef13302beeae146d55ff5fe291bfad" history="1" highlightClick="0" endSnd="0">
                            <a:extLst>
                              <a:ext uri="{A12FA001-AC4F-418D-AE19-62706E023703}">
                                <ahyp:hlinkClr xmlns:ahyp="http://schemas.microsoft.com/office/drawing/2018/hyperlinkcolor" val="tx"/>
                              </a:ext>
                            </a:extLst>
                          </a:hlinkClick>
                        </a:rPr>
                        <a:t>/Common/30.123.135.170</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24" invalidUrl="" action="" tgtFrame="" tooltip="https://bofasecopsdev.service-now.com/cmdb_rel_ci_list.do?sysparm_query=parent%3D2fef13302beeae146d55ff5fe291bfac%5EORchild%3D2fef13302beeae146d55ff5fe291bfac" history="1" highlightClick="0" endSnd="0">
                            <a:extLst>
                              <a:ext uri="{A12FA001-AC4F-418D-AE19-62706E023703}">
                                <ahyp:hlinkClr xmlns:ahyp="http://schemas.microsoft.com/office/drawing/2018/hyperlinkcolor" val="tx"/>
                              </a:ext>
                            </a:extLst>
                          </a:hlinkClick>
                        </a:rPr>
                        <a:t>CI relationship: parent=2fef13302beeae146d55ff5fe291bfac^ORchild=2fef13302beeae146d55ff5fe291bfac</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25" invalidUrl="" action="" tgtFrame="" tooltip="https://bofasecopsdev.service-now.com/cmdb_ci_lb_pool_member.do?sys_id=ebef13302beeae146d55ff5fe291bfad" history="1" highlightClick="0" endSnd="0">
                            <a:extLst>
                              <a:ext uri="{A12FA001-AC4F-418D-AE19-62706E023703}">
                                <ahyp:hlinkClr xmlns:ahyp="http://schemas.microsoft.com/office/drawing/2018/hyperlinkcolor" val="tx"/>
                              </a:ext>
                            </a:extLst>
                          </a:hlinkClick>
                        </a:rPr>
                        <a:t>/Common/30.123.135.170</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26" invalidUrl="" action="" tgtFrame="" tooltip="https://bofasecopsdev.service-now.com/cmdb_ci_lb_pool_member_list.do?sysparm_query=pool%3Dcb1d80492b9c4b906d55ff5fe291bfa5" history="1" highlightClick="0" endSnd="0">
                            <a:extLst>
                              <a:ext uri="{A12FA001-AC4F-418D-AE19-62706E023703}">
                                <ahyp:hlinkClr xmlns:ahyp="http://schemas.microsoft.com/office/drawing/2018/hyperlinkcolor" val="tx"/>
                              </a:ext>
                            </a:extLst>
                          </a:hlinkClick>
                        </a:rPr>
                        <a:t>Pool Member: pool=cb1d80492b9c4b906d55ff5fe291bfa5</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27" invalidUrl="" action="" tgtFrame="" tooltip="https://bofasecopsdev.service-now.com/cmdb_ci_lb_pool_member.do?sys_id=131d80492b9c4b906d55ff5fe291bfa6" history="1" highlightClick="0" endSnd="0">
                            <a:extLst>
                              <a:ext uri="{A12FA001-AC4F-418D-AE19-62706E023703}">
                                <ahyp:hlinkClr xmlns:ahyp="http://schemas.microsoft.com/office/drawing/2018/hyperlinkcolor" val="tx"/>
                              </a:ext>
                            </a:extLst>
                          </a:hlinkClick>
                        </a:rPr>
                        <a:t>/Common/30.123.135.170</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28" invalidUrl="" action="" tgtFrame="" tooltip="https://bofasecopsdev.service-now.com/cmdb_rel_ci_list.do?sysparm_query=parent%3Dcb1d80492b9c4b906d55ff5fe291bfa5%5EORchild%3Dcb1d80492b9c4b906d55ff5fe291bfa5" history="1" highlightClick="0" endSnd="0">
                            <a:extLst>
                              <a:ext uri="{A12FA001-AC4F-418D-AE19-62706E023703}">
                                <ahyp:hlinkClr xmlns:ahyp="http://schemas.microsoft.com/office/drawing/2018/hyperlinkcolor" val="tx"/>
                              </a:ext>
                            </a:extLst>
                          </a:hlinkClick>
                        </a:rPr>
                        <a:t>CI relationship: parent=cb1d80492b9c4b906d55ff5fe291bfa5^ORchild=cb1d80492b9c4b906d55ff5fe291bfa5</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29" invalidUrl="" action="" tgtFrame="" tooltip="https://bofasecopsdev.service-now.com/cmdb_ci_lb_pool_member.do?sys_id=131d80492b9c4b906d55ff5fe291bfa6" history="1" highlightClick="0" endSnd="0">
                            <a:extLst>
                              <a:ext uri="{A12FA001-AC4F-418D-AE19-62706E023703}">
                                <ahyp:hlinkClr xmlns:ahyp="http://schemas.microsoft.com/office/drawing/2018/hyperlinkcolor" val="tx"/>
                              </a:ext>
                            </a:extLst>
                          </a:hlinkClick>
                        </a:rPr>
                        <a:t>/Common/30.123.135.170</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30" invalidUrl="" action="" tgtFrame="" tooltip="https://bofasecopsdev.service-now.com/cmdb_ci_lb_pool_member_list.do?sysparm_query=pool%3D8ad2ab783baa2254055e3b64c3e45adc" history="1" highlightClick="0" endSnd="0">
                            <a:extLst>
                              <a:ext uri="{A12FA001-AC4F-418D-AE19-62706E023703}">
                                <ahyp:hlinkClr xmlns:ahyp="http://schemas.microsoft.com/office/drawing/2018/hyperlinkcolor" val="tx"/>
                              </a:ext>
                            </a:extLst>
                          </a:hlinkClick>
                        </a:rPr>
                        <a:t>Pool Member: pool=8ad2ab783baa2254055e3b64c3e45adc</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31" invalidUrl="" action="" tgtFrame="" tooltip="https://bofasecopsdev.service-now.com/cmdb_ci_lb_pool_member.do?sys_id=5ad2ab783baa2254055e3b64c3e45add" history="1" highlightClick="0" endSnd="0">
                            <a:extLst>
                              <a:ext uri="{A12FA001-AC4F-418D-AE19-62706E023703}">
                                <ahyp:hlinkClr xmlns:ahyp="http://schemas.microsoft.com/office/drawing/2018/hyperlinkcolor" val="tx"/>
                              </a:ext>
                            </a:extLst>
                          </a:hlinkClick>
                        </a:rPr>
                        <a:t>/Common/30.123.135.170</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32" invalidUrl="" action="" tgtFrame="" tooltip="https://bofasecopsdev.service-now.com/cmdb_rel_ci_list.do?sysparm_query=parent%3D8ad2ab783baa2254055e3b64c3e45adc%5EORchild%3D8ad2ab783baa2254055e3b64c3e45adc" history="1" highlightClick="0" endSnd="0">
                            <a:extLst>
                              <a:ext uri="{A12FA001-AC4F-418D-AE19-62706E023703}">
                                <ahyp:hlinkClr xmlns:ahyp="http://schemas.microsoft.com/office/drawing/2018/hyperlinkcolor" val="tx"/>
                              </a:ext>
                            </a:extLst>
                          </a:hlinkClick>
                        </a:rPr>
                        <a:t>CI relationship: parent=8ad2ab783baa2254055e3b64c3e45adc^ORchild=8ad2ab783baa2254055e3b64c3e45adc</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33" invalidUrl="" action="" tgtFrame="" tooltip="https://bofasecopsdev.service-now.com/cmdb_ci_lb_pool_member.do?sys_id=5ad2ab783baa2254055e3b64c3e45add" history="1" highlightClick="0" endSnd="0">
                            <a:extLst>
                              <a:ext uri="{A12FA001-AC4F-418D-AE19-62706E023703}">
                                <ahyp:hlinkClr xmlns:ahyp="http://schemas.microsoft.com/office/drawing/2018/hyperlinkcolor" val="tx"/>
                              </a:ext>
                            </a:extLst>
                          </a:hlinkClick>
                        </a:rPr>
                        <a:t>/Common/30.123.135.170</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34" invalidUrl="" action="" tgtFrame="" tooltip="https://bofasecopsdev.service-now.com/cmdb_ci_lb_pool_member_list.do?sysparm_query=pool%3D7c9e400d3bd88790dee4bcdc73e45aa0" history="1" highlightClick="0" endSnd="0">
                            <a:extLst>
                              <a:ext uri="{A12FA001-AC4F-418D-AE19-62706E023703}">
                                <ahyp:hlinkClr xmlns:ahyp="http://schemas.microsoft.com/office/drawing/2018/hyperlinkcolor" val="tx"/>
                              </a:ext>
                            </a:extLst>
                          </a:hlinkClick>
                        </a:rPr>
                        <a:t>Pool Member: pool=7c9e400d3bd88790dee4bcdc73e45aa0</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35" invalidUrl="" action="" tgtFrame="" tooltip="https://bofasecopsdev.service-now.com/cmdb_ci_lb_pool_member.do?sys_id=b09e400d3bd88790dee4bcdc73e45aa1" history="1" highlightClick="0" endSnd="0">
                            <a:extLst>
                              <a:ext uri="{A12FA001-AC4F-418D-AE19-62706E023703}">
                                <ahyp:hlinkClr xmlns:ahyp="http://schemas.microsoft.com/office/drawing/2018/hyperlinkcolor" val="tx"/>
                              </a:ext>
                            </a:extLst>
                          </a:hlinkClick>
                        </a:rPr>
                        <a:t>/Common/30.123.135.170</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36" invalidUrl="" action="" tgtFrame="" tooltip="https://bofasecopsdev.service-now.com/cmdb_rel_ci_list.do?sysparm_query=parent%3D7c9e400d3bd88790dee4bcdc73e45aa0%5EORchild%3D7c9e400d3bd88790dee4bcdc73e45aa0" history="1" highlightClick="0" endSnd="0">
                            <a:extLst>
                              <a:ext uri="{A12FA001-AC4F-418D-AE19-62706E023703}">
                                <ahyp:hlinkClr xmlns:ahyp="http://schemas.microsoft.com/office/drawing/2018/hyperlinkcolor" val="tx"/>
                              </a:ext>
                            </a:extLst>
                          </a:hlinkClick>
                        </a:rPr>
                        <a:t>CI relationship: parent=7c9e400d3bd88790dee4bcdc73e45aa0^ORchild=7c9e400d3bd88790dee4bcdc73e45aa0</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37" invalidUrl="" action="" tgtFrame="" tooltip="https://bofasecopsdev.service-now.com/cmdb_ci_lb_pool_member.do?sys_id=b09e400d3bd88790dee4bcdc73e45aa1" history="1" highlightClick="0" endSnd="0">
                            <a:extLst>
                              <a:ext uri="{A12FA001-AC4F-418D-AE19-62706E023703}">
                                <ahyp:hlinkClr xmlns:ahyp="http://schemas.microsoft.com/office/drawing/2018/hyperlinkcolor" val="tx"/>
                              </a:ext>
                            </a:extLst>
                          </a:hlinkClick>
                        </a:rPr>
                        <a:t>/Common/30.123.135.170</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142</a:t>
            </a:fld>
            <a:endParaRPr lang="en-US"/>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455  ·  LOAD BALANCER MEMBER MATCH  ·  EXAMPLE 2 STEP BY STEP  ·  PAGE 4 OF 5</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aim-xfer-dev-ltwbt1-vip.bankofamerica.com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eac78dafebdb47d0577bf284dad0cd8f" history="1" highlightClick="0" endSnd="0">
                  <a:extLst>
                    <a:ext uri="{A12FA001-AC4F-418D-AE19-62706E023703}">
                      <ahyp:hlinkClr xmlns:ahyp="http://schemas.microsoft.com/office/drawing/2018/hyperlinkcolor" val="tx"/>
                    </a:ext>
                  </a:extLst>
                </a:hlinkClick>
              </a:rPr>
              <a:t>SDI000003786277</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52af62963b9b4310e973496ea5e45aa5" history="1" highlightClick="0" endSnd="0">
                  <a:extLst>
                    <a:ext uri="{A12FA001-AC4F-418D-AE19-62706E023703}">
                      <ahyp:hlinkClr xmlns:ahyp="http://schemas.microsoft.com/office/drawing/2018/hyperlinkcolor" val="tx"/>
                    </a:ext>
                  </a:extLst>
                </a:hlinkClick>
              </a:rPr>
              <a:t>BOFA Load Balancer Member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ah-1062287-001</a:t>
            </a:r>
            <a:endParaRPr lang="en-US" sz="1000" dirty="0"/>
          </a:p>
        </p:txBody>
      </p:sp>
      <p:graphicFrame>
        <p:nvGraphicFramePr>
          <p:cNvPr id="144"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Members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Collects the Pool Member records of every pool (Pool field and relationships) with their addresses, and looks each address up on Hardware records, Network Adapters and IP Address records; only a real server counts: in the Hardware tree, not a load balancer device, not an ignored class.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4: /Common/30.123.135.170 30.123.135.170 -&gt; ah-1062287-001 via device record, ah-1062287-001 via adapter, ah-1062287-001 via IP Address record ; /Common/30.123.135.170 30.123.135.170 -&gt; ah-1062287-001 via device record, ah-1062287-001 via adapter, ah-1062287-001 via IP Address record ; /Common/30.123.135.170 30.123.135.170 -&gt; ah-1062287-001 via device record, ah-1062287-001 via adapter, ah-1062287-001 via IP Address record ; /Common/30.123.135.170 30.123.135.170 -&gt; ah-1062287-001 via device record, ah-1062287-001 via adapter, ah-1062287-001 via IP Address record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hardware_list.do?sysparm_query=ip_address%3D30.123.135.170" history="1" highlightClick="0" endSnd="0">
                            <a:extLst>
                              <a:ext uri="{A12FA001-AC4F-418D-AE19-62706E023703}">
                                <ahyp:hlinkClr xmlns:ahyp="http://schemas.microsoft.com/office/drawing/2018/hyperlinkcolor" val="tx"/>
                              </a:ext>
                            </a:extLst>
                          </a:hlinkClick>
                        </a:rPr>
                        <a:t>Hardware: ip_address=30.123.135.170</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ah-1062287-001</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network_adapter_list.do?sysparm_query=ip_address%3D30.123.135.170" history="1" highlightClick="0" endSnd="0">
                            <a:extLst>
                              <a:ext uri="{A12FA001-AC4F-418D-AE19-62706E023703}">
                                <ahyp:hlinkClr xmlns:ahyp="http://schemas.microsoft.com/office/drawing/2018/hyperlinkcolor" val="tx"/>
                              </a:ext>
                            </a:extLst>
                          </a:hlinkClick>
                        </a:rPr>
                        <a:t>Network Adapter: ip_address=30.123.135.170</a:t>
                      </a:r>
                      <a:pPr indent="0" marL="0">
                        <a:buNone/>
                      </a:pPr>
                      <a:r>
                        <a:rPr lang="en-US" sz="900" dirty="0">
                          <a:solidFill>
                            <a:srgbClr val="6E7279"/>
                          </a:solidFill>
                          <a:latin typeface="Arial" pitchFamily="34" charset="0"/>
                          <a:ea typeface="Arial" pitchFamily="34" charset="-122"/>
                          <a:cs typeface="Arial" pitchFamily="34" charset="-120"/>
                        </a:rPr>
                        <a:t> (2 rows)</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8" invalidUrl="" action="" tgtFrame="" tooltip="https://bofasecopsdev.service-now.com/cmdb_ci_network_adapter.do?sys_id=adba925b2b1ca210e9c1f4cdce91bf4a" history="1" highlightClick="0" endSnd="0">
                            <a:extLst>
                              <a:ext uri="{A12FA001-AC4F-418D-AE19-62706E023703}">
                                <ahyp:hlinkClr xmlns:ahyp="http://schemas.microsoft.com/office/drawing/2018/hyperlinkcolor" val="tx"/>
                              </a:ext>
                            </a:extLst>
                          </a:hlinkClick>
                        </a:rPr>
                        <a:t>ens192</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9"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ah-1062287-001</a:t>
                      </a:r>
                      <a:pPr indent="0" marL="0">
                        <a:buNone/>
                      </a:pPr>
                      <a:r>
                        <a:rPr lang="en-US" sz="900" dirty="0">
                          <a:solidFill>
                            <a:srgbClr val="6E7279"/>
                          </a:solidFill>
                          <a:latin typeface="Arial" pitchFamily="34" charset="0"/>
                          <a:ea typeface="Arial" pitchFamily="34" charset="-122"/>
                          <a:cs typeface="Arial" pitchFamily="34" charset="-120"/>
                        </a:rPr>
                        <a:t> [linux_server]</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0" invalidUrl="" action="" tgtFrame="" tooltip="https://bofasecopsdev.service-now.com/cmdb_ci_network_adapter.do?sys_id=b4a1ae8c2ba9a210860cf794e391bf5a" history="1" highlightClick="0" endSnd="0">
                            <a:extLst>
                              <a:ext uri="{A12FA001-AC4F-418D-AE19-62706E023703}">
                                <ahyp:hlinkClr xmlns:ahyp="http://schemas.microsoft.com/office/drawing/2018/hyperlinkcolor" val="tx"/>
                              </a:ext>
                            </a:extLst>
                          </a:hlinkClick>
                        </a:rPr>
                        <a:t>00:50:56:93:bd:08</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1" invalidUrl="" action="" tgtFrame="" tooltip="https://bofasecopsdev.service-now.com/cmdb_ci_vmware_instance.do?sys_id=7191eac42b69a210442ff1aac891bf00" history="1" highlightClick="0" endSnd="0">
                            <a:extLst>
                              <a:ext uri="{A12FA001-AC4F-418D-AE19-62706E023703}">
                                <ahyp:hlinkClr xmlns:ahyp="http://schemas.microsoft.com/office/drawing/2018/hyperlinkcolor" val="tx"/>
                              </a:ext>
                            </a:extLst>
                          </a:hlinkClick>
                        </a:rPr>
                        <a:t>ah-1062287-001</a:t>
                      </a:r>
                      <a:pPr indent="0" marL="0">
                        <a:buNone/>
                      </a:pPr>
                      <a:r>
                        <a:rPr lang="en-US" sz="900" dirty="0">
                          <a:solidFill>
                            <a:srgbClr val="6E7279"/>
                          </a:solidFill>
                          <a:latin typeface="Arial" pitchFamily="34" charset="0"/>
                          <a:ea typeface="Arial" pitchFamily="34" charset="-122"/>
                          <a:cs typeface="Arial" pitchFamily="34" charset="-120"/>
                        </a:rPr>
                        <a:t> [vmware_instance]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12" invalidUrl="" action="" tgtFrame="" tooltip="https://bofasecopsdev.service-now.com/cmdb_ci_ip_address_list.do?sysparm_query=ip_address%3D30.123.135.170" history="1" highlightClick="0" endSnd="0">
                            <a:extLst>
                              <a:ext uri="{A12FA001-AC4F-418D-AE19-62706E023703}">
                                <ahyp:hlinkClr xmlns:ahyp="http://schemas.microsoft.com/office/drawing/2018/hyperlinkcolor" val="tx"/>
                              </a:ext>
                            </a:extLst>
                          </a:hlinkClick>
                        </a:rPr>
                        <a:t>IP Address: ip_address=30.123.135.170</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3" invalidUrl="" action="" tgtFrame="" tooltip="https://bofasecopsdev.service-now.com/cmdb_ci_ip_address.do?sys_id=29ba925b2b1ca210e9c1f4cdce91bf43" history="1" highlightClick="0" endSnd="0">
                            <a:extLst>
                              <a:ext uri="{A12FA001-AC4F-418D-AE19-62706E023703}">
                                <ahyp:hlinkClr xmlns:ahyp="http://schemas.microsoft.com/office/drawing/2018/hyperlinkcolor" val="tx"/>
                              </a:ext>
                            </a:extLst>
                          </a:hlinkClick>
                        </a:rPr>
                        <a:t>30.123.135.170</a:t>
                      </a:r>
                      <a:pPr indent="0" marL="0">
                        <a:buNone/>
                      </a:pPr>
                      <a:r>
                        <a:rPr lang="en-US" sz="900" dirty="0">
                          <a:solidFill>
                            <a:srgbClr val="6E7279"/>
                          </a:solidFill>
                          <a:latin typeface="Arial" pitchFamily="34" charset="0"/>
                          <a:ea typeface="Arial" pitchFamily="34" charset="-122"/>
                          <a:cs typeface="Arial" pitchFamily="34" charset="-120"/>
                        </a:rPr>
                        <a:t> → adapter </a:t>
                      </a:r>
                      <a:pPr indent="0" marL="0">
                        <a:buNone/>
                      </a:pPr>
                      <a:r>
                        <a:rPr lang="en-US" sz="900" u="sng" dirty="0">
                          <a:solidFill>
                            <a:srgbClr val="012169"/>
                          </a:solidFill>
                          <a:latin typeface="Arial" pitchFamily="34" charset="0"/>
                          <a:ea typeface="Arial" pitchFamily="34" charset="-122"/>
                          <a:cs typeface="Arial" pitchFamily="34" charset="-120"/>
                          <a:hlinkClick r:id="rId14" invalidUrl="" action="" tgtFrame="" tooltip="https://bofasecopsdev.service-now.com/cmdb_ci_network_adapter.do?sys_id=adba925b2b1ca210e9c1f4cdce91bf4a" history="1" highlightClick="0" endSnd="0">
                            <a:extLst>
                              <a:ext uri="{A12FA001-AC4F-418D-AE19-62706E023703}">
                                <ahyp:hlinkClr xmlns:ahyp="http://schemas.microsoft.com/office/drawing/2018/hyperlinkcolor" val="tx"/>
                              </a:ext>
                            </a:extLst>
                          </a:hlinkClick>
                        </a:rPr>
                        <a:t>ens192</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5"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ah-1062287-001</a:t>
                      </a:r>
                      <a:pPr indent="0" marL="0">
                        <a:buNone/>
                      </a:pPr>
                      <a:r>
                        <a:rPr lang="en-US" sz="900" dirty="0">
                          <a:solidFill>
                            <a:srgbClr val="6E7279"/>
                          </a:solidFill>
                          <a:latin typeface="Arial" pitchFamily="34" charset="0"/>
                          <a:ea typeface="Arial" pitchFamily="34" charset="-122"/>
                          <a:cs typeface="Arial" pitchFamily="34" charset="-120"/>
                        </a:rPr>
                        <a:t> [linux_server]</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16" invalidUrl="" action="" tgtFrame="" tooltip="https://bofasecopsdev.service-now.com/cmdb_rel_ci_list.do?sysparm_query=parent%3Debef13302beeae146d55ff5fe291bfad%5EORchild%3Debef13302beeae146d55ff5fe291bfad" history="1" highlightClick="0" endSnd="0">
                            <a:extLst>
                              <a:ext uri="{A12FA001-AC4F-418D-AE19-62706E023703}">
                                <ahyp:hlinkClr xmlns:ahyp="http://schemas.microsoft.com/office/drawing/2018/hyperlinkcolor" val="tx"/>
                              </a:ext>
                            </a:extLst>
                          </a:hlinkClick>
                        </a:rPr>
                        <a:t>CI relationship: parent=ebef13302beeae146d55ff5fe291bfad^ORchild=ebef13302beeae146d55ff5fe291bfad</a:t>
                      </a:r>
                      <a:pPr indent="0" marL="0">
                        <a:buNone/>
                      </a:pPr>
                      <a:r>
                        <a:rPr lang="en-US" sz="900" dirty="0">
                          <a:solidFill>
                            <a:srgbClr val="6E7279"/>
                          </a:solidFill>
                          <a:latin typeface="Arial" pitchFamily="34" charset="0"/>
                          <a:ea typeface="Arial" pitchFamily="34" charset="-122"/>
                          <a:cs typeface="Arial" pitchFamily="34" charset="-120"/>
                        </a:rPr>
                        <a:t> (0 rows)</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Candidates for member: </a:t>
                      </a:r>
                      <a:pPr indent="0" marL="0">
                        <a:buNone/>
                      </a:pPr>
                      <a:r>
                        <a:rPr lang="en-US" sz="900" u="sng" dirty="0">
                          <a:solidFill>
                            <a:srgbClr val="012169"/>
                          </a:solidFill>
                          <a:latin typeface="Arial" pitchFamily="34" charset="0"/>
                          <a:ea typeface="Arial" pitchFamily="34" charset="-122"/>
                          <a:cs typeface="Arial" pitchFamily="34" charset="-120"/>
                          <a:hlinkClick r:id="rId17"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ah-1062287-001</a:t>
                      </a:r>
                      <a:pPr indent="0" marL="0">
                        <a:buNone/>
                      </a:pPr>
                      <a:r>
                        <a:rPr lang="en-US" sz="900" dirty="0">
                          <a:solidFill>
                            <a:srgbClr val="6E7279"/>
                          </a:solidFill>
                          <a:latin typeface="Arial" pitchFamily="34" charset="0"/>
                          <a:ea typeface="Arial" pitchFamily="34" charset="-122"/>
                          <a:cs typeface="Arial" pitchFamily="34" charset="-120"/>
                        </a:rPr>
                        <a:t> via device record, real server</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8"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ah-1062287-001</a:t>
                      </a:r>
                      <a:pPr indent="0" marL="0">
                        <a:buNone/>
                      </a:pPr>
                      <a:r>
                        <a:rPr lang="en-US" sz="900" dirty="0">
                          <a:solidFill>
                            <a:srgbClr val="6E7279"/>
                          </a:solidFill>
                          <a:latin typeface="Arial" pitchFamily="34" charset="0"/>
                          <a:ea typeface="Arial" pitchFamily="34" charset="-122"/>
                          <a:cs typeface="Arial" pitchFamily="34" charset="-120"/>
                        </a:rPr>
                        <a:t> via adapter, real server</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9" invalidUrl="" action="" tgtFrame="" tooltip="https://bofasecopsdev.service-now.com/cmdb_ci_vmware_instance.do?sys_id=7191eac42b69a210442ff1aac891bf00" history="1" highlightClick="0" endSnd="0">
                            <a:extLst>
                              <a:ext uri="{A12FA001-AC4F-418D-AE19-62706E023703}">
                                <ahyp:hlinkClr xmlns:ahyp="http://schemas.microsoft.com/office/drawing/2018/hyperlinkcolor" val="tx"/>
                              </a:ext>
                            </a:extLst>
                          </a:hlinkClick>
                        </a:rPr>
                        <a:t>ah-1062287-001</a:t>
                      </a:r>
                      <a:pPr indent="0" marL="0">
                        <a:buNone/>
                      </a:pPr>
                      <a:r>
                        <a:rPr lang="en-US" sz="900" dirty="0">
                          <a:solidFill>
                            <a:srgbClr val="6E7279"/>
                          </a:solidFill>
                          <a:latin typeface="Arial" pitchFamily="34" charset="0"/>
                          <a:ea typeface="Arial" pitchFamily="34" charset="-122"/>
                          <a:cs typeface="Arial" pitchFamily="34" charset="-120"/>
                        </a:rPr>
                        <a:t> via adapter, not in the Hardware tree</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20"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ah-1062287-001</a:t>
                      </a:r>
                      <a:pPr indent="0" marL="0">
                        <a:buNone/>
                      </a:pPr>
                      <a:r>
                        <a:rPr lang="en-US" sz="900" dirty="0">
                          <a:solidFill>
                            <a:srgbClr val="6E7279"/>
                          </a:solidFill>
                          <a:latin typeface="Arial" pitchFamily="34" charset="0"/>
                          <a:ea typeface="Arial" pitchFamily="34" charset="-122"/>
                          <a:cs typeface="Arial" pitchFamily="34" charset="-120"/>
                        </a:rPr>
                        <a:t> via IP Address record, real server</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21" invalidUrl="" action="" tgtFrame="" tooltip="https://bofasecopsdev.service-now.com/cmdb_ci_hardware_list.do?sysparm_query=ip_address%3D30.123.135.170" history="1" highlightClick="0" endSnd="0">
                            <a:extLst>
                              <a:ext uri="{A12FA001-AC4F-418D-AE19-62706E023703}">
                                <ahyp:hlinkClr xmlns:ahyp="http://schemas.microsoft.com/office/drawing/2018/hyperlinkcolor" val="tx"/>
                              </a:ext>
                            </a:extLst>
                          </a:hlinkClick>
                        </a:rPr>
                        <a:t>Hardware: ip_address=30.123.135.170</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22"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ah-1062287-001</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23" invalidUrl="" action="" tgtFrame="" tooltip="https://bofasecopsdev.service-now.com/cmdb_ci_network_adapter_list.do?sysparm_query=ip_address%3D30.123.135.170" history="1" highlightClick="0" endSnd="0">
                            <a:extLst>
                              <a:ext uri="{A12FA001-AC4F-418D-AE19-62706E023703}">
                                <ahyp:hlinkClr xmlns:ahyp="http://schemas.microsoft.com/office/drawing/2018/hyperlinkcolor" val="tx"/>
                              </a:ext>
                            </a:extLst>
                          </a:hlinkClick>
                        </a:rPr>
                        <a:t>Network Adapter: ip_address=30.123.135.170</a:t>
                      </a:r>
                      <a:pPr indent="0" marL="0">
                        <a:buNone/>
                      </a:pPr>
                      <a:r>
                        <a:rPr lang="en-US" sz="900" dirty="0">
                          <a:solidFill>
                            <a:srgbClr val="6E7279"/>
                          </a:solidFill>
                          <a:latin typeface="Arial" pitchFamily="34" charset="0"/>
                          <a:ea typeface="Arial" pitchFamily="34" charset="-122"/>
                          <a:cs typeface="Arial" pitchFamily="34" charset="-120"/>
                        </a:rPr>
                        <a:t> (2 rows)</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24" invalidUrl="" action="" tgtFrame="" tooltip="https://bofasecopsdev.service-now.com/cmdb_ci_network_adapter.do?sys_id=adba925b2b1ca210e9c1f4cdce91bf4a" history="1" highlightClick="0" endSnd="0">
                            <a:extLst>
                              <a:ext uri="{A12FA001-AC4F-418D-AE19-62706E023703}">
                                <ahyp:hlinkClr xmlns:ahyp="http://schemas.microsoft.com/office/drawing/2018/hyperlinkcolor" val="tx"/>
                              </a:ext>
                            </a:extLst>
                          </a:hlinkClick>
                        </a:rPr>
                        <a:t>ens192</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25"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ah-1062287-001</a:t>
                      </a:r>
                      <a:pPr indent="0" marL="0">
                        <a:buNone/>
                      </a:pPr>
                      <a:r>
                        <a:rPr lang="en-US" sz="900" dirty="0">
                          <a:solidFill>
                            <a:srgbClr val="6E7279"/>
                          </a:solidFill>
                          <a:latin typeface="Arial" pitchFamily="34" charset="0"/>
                          <a:ea typeface="Arial" pitchFamily="34" charset="-122"/>
                          <a:cs typeface="Arial" pitchFamily="34" charset="-120"/>
                        </a:rPr>
                        <a:t> [linux_server]</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26" invalidUrl="" action="" tgtFrame="" tooltip="https://bofasecopsdev.service-now.com/cmdb_ci_network_adapter.do?sys_id=b4a1ae8c2ba9a210860cf794e391bf5a" history="1" highlightClick="0" endSnd="0">
                            <a:extLst>
                              <a:ext uri="{A12FA001-AC4F-418D-AE19-62706E023703}">
                                <ahyp:hlinkClr xmlns:ahyp="http://schemas.microsoft.com/office/drawing/2018/hyperlinkcolor" val="tx"/>
                              </a:ext>
                            </a:extLst>
                          </a:hlinkClick>
                        </a:rPr>
                        <a:t>00:50:56:93:bd:08</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27" invalidUrl="" action="" tgtFrame="" tooltip="https://bofasecopsdev.service-now.com/cmdb_ci_vmware_instance.do?sys_id=7191eac42b69a210442ff1aac891bf00" history="1" highlightClick="0" endSnd="0">
                            <a:extLst>
                              <a:ext uri="{A12FA001-AC4F-418D-AE19-62706E023703}">
                                <ahyp:hlinkClr xmlns:ahyp="http://schemas.microsoft.com/office/drawing/2018/hyperlinkcolor" val="tx"/>
                              </a:ext>
                            </a:extLst>
                          </a:hlinkClick>
                        </a:rPr>
                        <a:t>ah-1062287-001</a:t>
                      </a:r>
                      <a:pPr indent="0" marL="0">
                        <a:buNone/>
                      </a:pPr>
                      <a:r>
                        <a:rPr lang="en-US" sz="900" dirty="0">
                          <a:solidFill>
                            <a:srgbClr val="6E7279"/>
                          </a:solidFill>
                          <a:latin typeface="Arial" pitchFamily="34" charset="0"/>
                          <a:ea typeface="Arial" pitchFamily="34" charset="-122"/>
                          <a:cs typeface="Arial" pitchFamily="34" charset="-120"/>
                        </a:rPr>
                        <a:t> [vmware_instance]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28" invalidUrl="" action="" tgtFrame="" tooltip="https://bofasecopsdev.service-now.com/cmdb_ci_ip_address_list.do?sysparm_query=ip_address%3D30.123.135.170" history="1" highlightClick="0" endSnd="0">
                            <a:extLst>
                              <a:ext uri="{A12FA001-AC4F-418D-AE19-62706E023703}">
                                <ahyp:hlinkClr xmlns:ahyp="http://schemas.microsoft.com/office/drawing/2018/hyperlinkcolor" val="tx"/>
                              </a:ext>
                            </a:extLst>
                          </a:hlinkClick>
                        </a:rPr>
                        <a:t>IP Address: ip_address=30.123.135.170</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29" invalidUrl="" action="" tgtFrame="" tooltip="https://bofasecopsdev.service-now.com/cmdb_ci_ip_address.do?sys_id=29ba925b2b1ca210e9c1f4cdce91bf43" history="1" highlightClick="0" endSnd="0">
                            <a:extLst>
                              <a:ext uri="{A12FA001-AC4F-418D-AE19-62706E023703}">
                                <ahyp:hlinkClr xmlns:ahyp="http://schemas.microsoft.com/office/drawing/2018/hyperlinkcolor" val="tx"/>
                              </a:ext>
                            </a:extLst>
                          </a:hlinkClick>
                        </a:rPr>
                        <a:t>30.123.135.170</a:t>
                      </a:r>
                      <a:pPr indent="0" marL="0">
                        <a:buNone/>
                      </a:pPr>
                      <a:r>
                        <a:rPr lang="en-US" sz="900" dirty="0">
                          <a:solidFill>
                            <a:srgbClr val="6E7279"/>
                          </a:solidFill>
                          <a:latin typeface="Arial" pitchFamily="34" charset="0"/>
                          <a:ea typeface="Arial" pitchFamily="34" charset="-122"/>
                          <a:cs typeface="Arial" pitchFamily="34" charset="-120"/>
                        </a:rPr>
                        <a:t> → adapter </a:t>
                      </a:r>
                      <a:pPr indent="0" marL="0">
                        <a:buNone/>
                      </a:pPr>
                      <a:r>
                        <a:rPr lang="en-US" sz="900" u="sng" dirty="0">
                          <a:solidFill>
                            <a:srgbClr val="012169"/>
                          </a:solidFill>
                          <a:latin typeface="Arial" pitchFamily="34" charset="0"/>
                          <a:ea typeface="Arial" pitchFamily="34" charset="-122"/>
                          <a:cs typeface="Arial" pitchFamily="34" charset="-120"/>
                          <a:hlinkClick r:id="rId30" invalidUrl="" action="" tgtFrame="" tooltip="https://bofasecopsdev.service-now.com/cmdb_ci_network_adapter.do?sys_id=adba925b2b1ca210e9c1f4cdce91bf4a" history="1" highlightClick="0" endSnd="0">
                            <a:extLst>
                              <a:ext uri="{A12FA001-AC4F-418D-AE19-62706E023703}">
                                <ahyp:hlinkClr xmlns:ahyp="http://schemas.microsoft.com/office/drawing/2018/hyperlinkcolor" val="tx"/>
                              </a:ext>
                            </a:extLst>
                          </a:hlinkClick>
                        </a:rPr>
                        <a:t>ens192</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31"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ah-1062287-001</a:t>
                      </a:r>
                      <a:pPr indent="0" marL="0">
                        <a:buNone/>
                      </a:pPr>
                      <a:r>
                        <a:rPr lang="en-US" sz="900" dirty="0">
                          <a:solidFill>
                            <a:srgbClr val="6E7279"/>
                          </a:solidFill>
                          <a:latin typeface="Arial" pitchFamily="34" charset="0"/>
                          <a:ea typeface="Arial" pitchFamily="34" charset="-122"/>
                          <a:cs typeface="Arial" pitchFamily="34" charset="-120"/>
                        </a:rPr>
                        <a:t> [linux_server]</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32" invalidUrl="" action="" tgtFrame="" tooltip="https://bofasecopsdev.service-now.com/cmdb_rel_ci_list.do?sysparm_query=parent%3D131d80492b9c4b906d55ff5fe291bfa6%5EORchild%3D131d80492b9c4b906d55ff5fe291bfa6" history="1" highlightClick="0" endSnd="0">
                            <a:extLst>
                              <a:ext uri="{A12FA001-AC4F-418D-AE19-62706E023703}">
                                <ahyp:hlinkClr xmlns:ahyp="http://schemas.microsoft.com/office/drawing/2018/hyperlinkcolor" val="tx"/>
                              </a:ext>
                            </a:extLst>
                          </a:hlinkClick>
                        </a:rPr>
                        <a:t>CI relationship: parent=131d80492b9c4b906d55ff5fe291bfa6^ORchild=131d80492b9c4b906d55ff5fe291bfa6</a:t>
                      </a:r>
                      <a:pPr indent="0" marL="0">
                        <a:buNone/>
                      </a:pPr>
                      <a:r>
                        <a:rPr lang="en-US" sz="900" dirty="0">
                          <a:solidFill>
                            <a:srgbClr val="6E7279"/>
                          </a:solidFill>
                          <a:latin typeface="Arial" pitchFamily="34" charset="0"/>
                          <a:ea typeface="Arial" pitchFamily="34" charset="-122"/>
                          <a:cs typeface="Arial" pitchFamily="34" charset="-120"/>
                        </a:rPr>
                        <a:t> (0 rows)</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Candidates for member: </a:t>
                      </a:r>
                      <a:pPr indent="0" marL="0">
                        <a:buNone/>
                      </a:pPr>
                      <a:r>
                        <a:rPr lang="en-US" sz="900" u="sng" dirty="0">
                          <a:solidFill>
                            <a:srgbClr val="012169"/>
                          </a:solidFill>
                          <a:latin typeface="Arial" pitchFamily="34" charset="0"/>
                          <a:ea typeface="Arial" pitchFamily="34" charset="-122"/>
                          <a:cs typeface="Arial" pitchFamily="34" charset="-120"/>
                          <a:hlinkClick r:id="rId33"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ah-1062287-001</a:t>
                      </a:r>
                      <a:pPr indent="0" marL="0">
                        <a:buNone/>
                      </a:pPr>
                      <a:r>
                        <a:rPr lang="en-US" sz="900" dirty="0">
                          <a:solidFill>
                            <a:srgbClr val="6E7279"/>
                          </a:solidFill>
                          <a:latin typeface="Arial" pitchFamily="34" charset="0"/>
                          <a:ea typeface="Arial" pitchFamily="34" charset="-122"/>
                          <a:cs typeface="Arial" pitchFamily="34" charset="-120"/>
                        </a:rPr>
                        <a:t> via device record, real server</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34"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ah-1062287-001</a:t>
                      </a:r>
                      <a:pPr indent="0" marL="0">
                        <a:buNone/>
                      </a:pPr>
                      <a:r>
                        <a:rPr lang="en-US" sz="900" dirty="0">
                          <a:solidFill>
                            <a:srgbClr val="6E7279"/>
                          </a:solidFill>
                          <a:latin typeface="Arial" pitchFamily="34" charset="0"/>
                          <a:ea typeface="Arial" pitchFamily="34" charset="-122"/>
                          <a:cs typeface="Arial" pitchFamily="34" charset="-120"/>
                        </a:rPr>
                        <a:t> via adapter, real server</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35" invalidUrl="" action="" tgtFrame="" tooltip="https://bofasecopsdev.service-now.com/cmdb_ci_vmware_instance.do?sys_id=7191eac42b69a210442ff1aac891bf00" history="1" highlightClick="0" endSnd="0">
                            <a:extLst>
                              <a:ext uri="{A12FA001-AC4F-418D-AE19-62706E023703}">
                                <ahyp:hlinkClr xmlns:ahyp="http://schemas.microsoft.com/office/drawing/2018/hyperlinkcolor" val="tx"/>
                              </a:ext>
                            </a:extLst>
                          </a:hlinkClick>
                        </a:rPr>
                        <a:t>ah-1062287-001</a:t>
                      </a:r>
                      <a:pPr indent="0" marL="0">
                        <a:buNone/>
                      </a:pPr>
                      <a:r>
                        <a:rPr lang="en-US" sz="900" dirty="0">
                          <a:solidFill>
                            <a:srgbClr val="6E7279"/>
                          </a:solidFill>
                          <a:latin typeface="Arial" pitchFamily="34" charset="0"/>
                          <a:ea typeface="Arial" pitchFamily="34" charset="-122"/>
                          <a:cs typeface="Arial" pitchFamily="34" charset="-120"/>
                        </a:rPr>
                        <a:t> via adapter, not in the Hardware tree</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36"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ah-1062287-001</a:t>
                      </a:r>
                      <a:pPr indent="0" marL="0">
                        <a:buNone/>
                      </a:pPr>
                      <a:r>
                        <a:rPr lang="en-US" sz="900" dirty="0">
                          <a:solidFill>
                            <a:srgbClr val="6E7279"/>
                          </a:solidFill>
                          <a:latin typeface="Arial" pitchFamily="34" charset="0"/>
                          <a:ea typeface="Arial" pitchFamily="34" charset="-122"/>
                          <a:cs typeface="Arial" pitchFamily="34" charset="-120"/>
                        </a:rPr>
                        <a:t> via IP Address record, real server</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37" invalidUrl="" action="" tgtFrame="" tooltip="https://bofasecopsdev.service-now.com/cmdb_ci_hardware_list.do?sysparm_query=ip_address%3D30.123.135.170" history="1" highlightClick="0" endSnd="0">
                            <a:extLst>
                              <a:ext uri="{A12FA001-AC4F-418D-AE19-62706E023703}">
                                <ahyp:hlinkClr xmlns:ahyp="http://schemas.microsoft.com/office/drawing/2018/hyperlinkcolor" val="tx"/>
                              </a:ext>
                            </a:extLst>
                          </a:hlinkClick>
                        </a:rPr>
                        <a:t>Hardware: ip_address=30.123.135.170</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38"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ah-1062287-001</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39" invalidUrl="" action="" tgtFrame="" tooltip="https://bofasecopsdev.service-now.com/cmdb_ci_network_adapter_list.do?sysparm_query=ip_address%3D30.123.135.170" history="1" highlightClick="0" endSnd="0">
                            <a:extLst>
                              <a:ext uri="{A12FA001-AC4F-418D-AE19-62706E023703}">
                                <ahyp:hlinkClr xmlns:ahyp="http://schemas.microsoft.com/office/drawing/2018/hyperlinkcolor" val="tx"/>
                              </a:ext>
                            </a:extLst>
                          </a:hlinkClick>
                        </a:rPr>
                        <a:t>Network Adapter: ip_address=30.123.135.170</a:t>
                      </a:r>
                      <a:pPr indent="0" marL="0">
                        <a:buNone/>
                      </a:pPr>
                      <a:r>
                        <a:rPr lang="en-US" sz="900" dirty="0">
                          <a:solidFill>
                            <a:srgbClr val="6E7279"/>
                          </a:solidFill>
                          <a:latin typeface="Arial" pitchFamily="34" charset="0"/>
                          <a:ea typeface="Arial" pitchFamily="34" charset="-122"/>
                          <a:cs typeface="Arial" pitchFamily="34" charset="-120"/>
                        </a:rPr>
                        <a:t> (2 rows)</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40" invalidUrl="" action="" tgtFrame="" tooltip="https://bofasecopsdev.service-now.com/cmdb_ci_network_adapter.do?sys_id=adba925b2b1ca210e9c1f4cdce91bf4a" history="1" highlightClick="0" endSnd="0">
                            <a:extLst>
                              <a:ext uri="{A12FA001-AC4F-418D-AE19-62706E023703}">
                                <ahyp:hlinkClr xmlns:ahyp="http://schemas.microsoft.com/office/drawing/2018/hyperlinkcolor" val="tx"/>
                              </a:ext>
                            </a:extLst>
                          </a:hlinkClick>
                        </a:rPr>
                        <a:t>ens192</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41"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ah-1062287-001</a:t>
                      </a:r>
                      <a:pPr indent="0" marL="0">
                        <a:buNone/>
                      </a:pPr>
                      <a:r>
                        <a:rPr lang="en-US" sz="900" dirty="0">
                          <a:solidFill>
                            <a:srgbClr val="6E7279"/>
                          </a:solidFill>
                          <a:latin typeface="Arial" pitchFamily="34" charset="0"/>
                          <a:ea typeface="Arial" pitchFamily="34" charset="-122"/>
                          <a:cs typeface="Arial" pitchFamily="34" charset="-120"/>
                        </a:rPr>
                        <a:t> [linux_server]</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42" invalidUrl="" action="" tgtFrame="" tooltip="https://bofasecopsdev.service-now.com/cmdb_ci_network_adapter.do?sys_id=b4a1ae8c2ba9a210860cf794e391bf5a" history="1" highlightClick="0" endSnd="0">
                            <a:extLst>
                              <a:ext uri="{A12FA001-AC4F-418D-AE19-62706E023703}">
                                <ahyp:hlinkClr xmlns:ahyp="http://schemas.microsoft.com/office/drawing/2018/hyperlinkcolor" val="tx"/>
                              </a:ext>
                            </a:extLst>
                          </a:hlinkClick>
                        </a:rPr>
                        <a:t>00:50:56:93:bd:08</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43" invalidUrl="" action="" tgtFrame="" tooltip="https://bofasecopsdev.service-now.com/cmdb_ci_vmware_instance.do?sys_id=7191eac42b69a210442ff1aac891bf00" history="1" highlightClick="0" endSnd="0">
                            <a:extLst>
                              <a:ext uri="{A12FA001-AC4F-418D-AE19-62706E023703}">
                                <ahyp:hlinkClr xmlns:ahyp="http://schemas.microsoft.com/office/drawing/2018/hyperlinkcolor" val="tx"/>
                              </a:ext>
                            </a:extLst>
                          </a:hlinkClick>
                        </a:rPr>
                        <a:t>ah-1062287-001</a:t>
                      </a:r>
                      <a:pPr indent="0" marL="0">
                        <a:buNone/>
                      </a:pPr>
                      <a:r>
                        <a:rPr lang="en-US" sz="900" dirty="0">
                          <a:solidFill>
                            <a:srgbClr val="6E7279"/>
                          </a:solidFill>
                          <a:latin typeface="Arial" pitchFamily="34" charset="0"/>
                          <a:ea typeface="Arial" pitchFamily="34" charset="-122"/>
                          <a:cs typeface="Arial" pitchFamily="34" charset="-120"/>
                        </a:rPr>
                        <a:t> [vmware_instance]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44" invalidUrl="" action="" tgtFrame="" tooltip="https://bofasecopsdev.service-now.com/cmdb_ci_ip_address_list.do?sysparm_query=ip_address%3D30.123.135.170" history="1" highlightClick="0" endSnd="0">
                            <a:extLst>
                              <a:ext uri="{A12FA001-AC4F-418D-AE19-62706E023703}">
                                <ahyp:hlinkClr xmlns:ahyp="http://schemas.microsoft.com/office/drawing/2018/hyperlinkcolor" val="tx"/>
                              </a:ext>
                            </a:extLst>
                          </a:hlinkClick>
                        </a:rPr>
                        <a:t>IP Address: ip_address=30.123.135.170</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45" invalidUrl="" action="" tgtFrame="" tooltip="https://bofasecopsdev.service-now.com/cmdb_ci_ip_address.do?sys_id=29ba925b2b1ca210e9c1f4cdce91bf43" history="1" highlightClick="0" endSnd="0">
                            <a:extLst>
                              <a:ext uri="{A12FA001-AC4F-418D-AE19-62706E023703}">
                                <ahyp:hlinkClr xmlns:ahyp="http://schemas.microsoft.com/office/drawing/2018/hyperlinkcolor" val="tx"/>
                              </a:ext>
                            </a:extLst>
                          </a:hlinkClick>
                        </a:rPr>
                        <a:t>30.123.135.170</a:t>
                      </a:r>
                      <a:pPr indent="0" marL="0">
                        <a:buNone/>
                      </a:pPr>
                      <a:r>
                        <a:rPr lang="en-US" sz="900" dirty="0">
                          <a:solidFill>
                            <a:srgbClr val="6E7279"/>
                          </a:solidFill>
                          <a:latin typeface="Arial" pitchFamily="34" charset="0"/>
                          <a:ea typeface="Arial" pitchFamily="34" charset="-122"/>
                          <a:cs typeface="Arial" pitchFamily="34" charset="-120"/>
                        </a:rPr>
                        <a:t> → adapter </a:t>
                      </a:r>
                      <a:pPr indent="0" marL="0">
                        <a:buNone/>
                      </a:pPr>
                      <a:r>
                        <a:rPr lang="en-US" sz="900" u="sng" dirty="0">
                          <a:solidFill>
                            <a:srgbClr val="012169"/>
                          </a:solidFill>
                          <a:latin typeface="Arial" pitchFamily="34" charset="0"/>
                          <a:ea typeface="Arial" pitchFamily="34" charset="-122"/>
                          <a:cs typeface="Arial" pitchFamily="34" charset="-120"/>
                          <a:hlinkClick r:id="rId46" invalidUrl="" action="" tgtFrame="" tooltip="https://bofasecopsdev.service-now.com/cmdb_ci_network_adapter.do?sys_id=adba925b2b1ca210e9c1f4cdce91bf4a" history="1" highlightClick="0" endSnd="0">
                            <a:extLst>
                              <a:ext uri="{A12FA001-AC4F-418D-AE19-62706E023703}">
                                <ahyp:hlinkClr xmlns:ahyp="http://schemas.microsoft.com/office/drawing/2018/hyperlinkcolor" val="tx"/>
                              </a:ext>
                            </a:extLst>
                          </a:hlinkClick>
                        </a:rPr>
                        <a:t>ens192</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47"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ah-1062287-001</a:t>
                      </a:r>
                      <a:pPr indent="0" marL="0">
                        <a:buNone/>
                      </a:pPr>
                      <a:r>
                        <a:rPr lang="en-US" sz="900" dirty="0">
                          <a:solidFill>
                            <a:srgbClr val="6E7279"/>
                          </a:solidFill>
                          <a:latin typeface="Arial" pitchFamily="34" charset="0"/>
                          <a:ea typeface="Arial" pitchFamily="34" charset="-122"/>
                          <a:cs typeface="Arial" pitchFamily="34" charset="-120"/>
                        </a:rPr>
                        <a:t> [linux_server]</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48" invalidUrl="" action="" tgtFrame="" tooltip="https://bofasecopsdev.service-now.com/cmdb_rel_ci_list.do?sysparm_query=parent%3D5ad2ab783baa2254055e3b64c3e45add%5EORchild%3D5ad2ab783baa2254055e3b64c3e45add" history="1" highlightClick="0" endSnd="0">
                            <a:extLst>
                              <a:ext uri="{A12FA001-AC4F-418D-AE19-62706E023703}">
                                <ahyp:hlinkClr xmlns:ahyp="http://schemas.microsoft.com/office/drawing/2018/hyperlinkcolor" val="tx"/>
                              </a:ext>
                            </a:extLst>
                          </a:hlinkClick>
                        </a:rPr>
                        <a:t>CI relationship: parent=5ad2ab783baa2254055e3b64c3e45add^ORchild=5ad2ab783baa2254055e3b64c3e45add</a:t>
                      </a:r>
                      <a:pPr indent="0" marL="0">
                        <a:buNone/>
                      </a:pPr>
                      <a:r>
                        <a:rPr lang="en-US" sz="900" dirty="0">
                          <a:solidFill>
                            <a:srgbClr val="6E7279"/>
                          </a:solidFill>
                          <a:latin typeface="Arial" pitchFamily="34" charset="0"/>
                          <a:ea typeface="Arial" pitchFamily="34" charset="-122"/>
                          <a:cs typeface="Arial" pitchFamily="34" charset="-120"/>
                        </a:rPr>
                        <a:t> (0 rows)</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Candidates for member: </a:t>
                      </a:r>
                      <a:pPr indent="0" marL="0">
                        <a:buNone/>
                      </a:pPr>
                      <a:r>
                        <a:rPr lang="en-US" sz="900" u="sng" dirty="0">
                          <a:solidFill>
                            <a:srgbClr val="012169"/>
                          </a:solidFill>
                          <a:latin typeface="Arial" pitchFamily="34" charset="0"/>
                          <a:ea typeface="Arial" pitchFamily="34" charset="-122"/>
                          <a:cs typeface="Arial" pitchFamily="34" charset="-120"/>
                          <a:hlinkClick r:id="rId49"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ah-1062287-001</a:t>
                      </a:r>
                      <a:pPr indent="0" marL="0">
                        <a:buNone/>
                      </a:pPr>
                      <a:r>
                        <a:rPr lang="en-US" sz="900" dirty="0">
                          <a:solidFill>
                            <a:srgbClr val="6E7279"/>
                          </a:solidFill>
                          <a:latin typeface="Arial" pitchFamily="34" charset="0"/>
                          <a:ea typeface="Arial" pitchFamily="34" charset="-122"/>
                          <a:cs typeface="Arial" pitchFamily="34" charset="-120"/>
                        </a:rPr>
                        <a:t> via device record, real server</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50"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ah-1062287-001</a:t>
                      </a:r>
                      <a:pPr indent="0" marL="0">
                        <a:buNone/>
                      </a:pPr>
                      <a:r>
                        <a:rPr lang="en-US" sz="900" dirty="0">
                          <a:solidFill>
                            <a:srgbClr val="6E7279"/>
                          </a:solidFill>
                          <a:latin typeface="Arial" pitchFamily="34" charset="0"/>
                          <a:ea typeface="Arial" pitchFamily="34" charset="-122"/>
                          <a:cs typeface="Arial" pitchFamily="34" charset="-120"/>
                        </a:rPr>
                        <a:t> via adapter, real server</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51" invalidUrl="" action="" tgtFrame="" tooltip="https://bofasecopsdev.service-now.com/cmdb_ci_vmware_instance.do?sys_id=7191eac42b69a210442ff1aac891bf00" history="1" highlightClick="0" endSnd="0">
                            <a:extLst>
                              <a:ext uri="{A12FA001-AC4F-418D-AE19-62706E023703}">
                                <ahyp:hlinkClr xmlns:ahyp="http://schemas.microsoft.com/office/drawing/2018/hyperlinkcolor" val="tx"/>
                              </a:ext>
                            </a:extLst>
                          </a:hlinkClick>
                        </a:rPr>
                        <a:t>ah-1062287-001</a:t>
                      </a:r>
                      <a:pPr indent="0" marL="0">
                        <a:buNone/>
                      </a:pPr>
                      <a:r>
                        <a:rPr lang="en-US" sz="900" dirty="0">
                          <a:solidFill>
                            <a:srgbClr val="6E7279"/>
                          </a:solidFill>
                          <a:latin typeface="Arial" pitchFamily="34" charset="0"/>
                          <a:ea typeface="Arial" pitchFamily="34" charset="-122"/>
                          <a:cs typeface="Arial" pitchFamily="34" charset="-120"/>
                        </a:rPr>
                        <a:t> via adapter, not in the Hardware tree</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52"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ah-1062287-001</a:t>
                      </a:r>
                      <a:pPr indent="0" marL="0">
                        <a:buNone/>
                      </a:pPr>
                      <a:r>
                        <a:rPr lang="en-US" sz="900" dirty="0">
                          <a:solidFill>
                            <a:srgbClr val="6E7279"/>
                          </a:solidFill>
                          <a:latin typeface="Arial" pitchFamily="34" charset="0"/>
                          <a:ea typeface="Arial" pitchFamily="34" charset="-122"/>
                          <a:cs typeface="Arial" pitchFamily="34" charset="-120"/>
                        </a:rPr>
                        <a:t> via IP Address record, real server</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3" invalidUrl="" action="" tgtFrame="" tooltip="https://bofasecopsdev.service-now.com/cmdb_ci_hardware_list.do?sysparm_query=ip_address%3D30.123.135.170" history="1" highlightClick="0" endSnd="0">
                            <a:extLst>
                              <a:ext uri="{A12FA001-AC4F-418D-AE19-62706E023703}">
                                <ahyp:hlinkClr xmlns:ahyp="http://schemas.microsoft.com/office/drawing/2018/hyperlinkcolor" val="tx"/>
                              </a:ext>
                            </a:extLst>
                          </a:hlinkClick>
                        </a:rPr>
                        <a:t>Hardware: ip_address=30.123.135.170</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54"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ah-1062287-001</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5" invalidUrl="" action="" tgtFrame="" tooltip="https://bofasecopsdev.service-now.com/cmdb_ci_network_adapter_list.do?sysparm_query=ip_address%3D30.123.135.170" history="1" highlightClick="0" endSnd="0">
                            <a:extLst>
                              <a:ext uri="{A12FA001-AC4F-418D-AE19-62706E023703}">
                                <ahyp:hlinkClr xmlns:ahyp="http://schemas.microsoft.com/office/drawing/2018/hyperlinkcolor" val="tx"/>
                              </a:ext>
                            </a:extLst>
                          </a:hlinkClick>
                        </a:rPr>
                        <a:t>Network Adapter: ip_address=30.123.135.170</a:t>
                      </a:r>
                      <a:pPr indent="0" marL="0">
                        <a:buNone/>
                      </a:pPr>
                      <a:r>
                        <a:rPr lang="en-US" sz="900" dirty="0">
                          <a:solidFill>
                            <a:srgbClr val="6E7279"/>
                          </a:solidFill>
                          <a:latin typeface="Arial" pitchFamily="34" charset="0"/>
                          <a:ea typeface="Arial" pitchFamily="34" charset="-122"/>
                          <a:cs typeface="Arial" pitchFamily="34" charset="-120"/>
                        </a:rPr>
                        <a:t> (2 rows)</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56" invalidUrl="" action="" tgtFrame="" tooltip="https://bofasecopsdev.service-now.com/cmdb_ci_network_adapter.do?sys_id=adba925b2b1ca210e9c1f4cdce91bf4a" history="1" highlightClick="0" endSnd="0">
                            <a:extLst>
                              <a:ext uri="{A12FA001-AC4F-418D-AE19-62706E023703}">
                                <ahyp:hlinkClr xmlns:ahyp="http://schemas.microsoft.com/office/drawing/2018/hyperlinkcolor" val="tx"/>
                              </a:ext>
                            </a:extLst>
                          </a:hlinkClick>
                        </a:rPr>
                        <a:t>ens192</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57"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ah-1062287-001</a:t>
                      </a:r>
                      <a:pPr indent="0" marL="0">
                        <a:buNone/>
                      </a:pPr>
                      <a:r>
                        <a:rPr lang="en-US" sz="900" dirty="0">
                          <a:solidFill>
                            <a:srgbClr val="6E7279"/>
                          </a:solidFill>
                          <a:latin typeface="Arial" pitchFamily="34" charset="0"/>
                          <a:ea typeface="Arial" pitchFamily="34" charset="-122"/>
                          <a:cs typeface="Arial" pitchFamily="34" charset="-120"/>
                        </a:rPr>
                        <a:t> [linux_server]</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58" invalidUrl="" action="" tgtFrame="" tooltip="https://bofasecopsdev.service-now.com/cmdb_ci_network_adapter.do?sys_id=b4a1ae8c2ba9a210860cf794e391bf5a" history="1" highlightClick="0" endSnd="0">
                            <a:extLst>
                              <a:ext uri="{A12FA001-AC4F-418D-AE19-62706E023703}">
                                <ahyp:hlinkClr xmlns:ahyp="http://schemas.microsoft.com/office/drawing/2018/hyperlinkcolor" val="tx"/>
                              </a:ext>
                            </a:extLst>
                          </a:hlinkClick>
                        </a:rPr>
                        <a:t>00:50:56:93:bd:08</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59" invalidUrl="" action="" tgtFrame="" tooltip="https://bofasecopsdev.service-now.com/cmdb_ci_vmware_instance.do?sys_id=7191eac42b69a210442ff1aac891bf00" history="1" highlightClick="0" endSnd="0">
                            <a:extLst>
                              <a:ext uri="{A12FA001-AC4F-418D-AE19-62706E023703}">
                                <ahyp:hlinkClr xmlns:ahyp="http://schemas.microsoft.com/office/drawing/2018/hyperlinkcolor" val="tx"/>
                              </a:ext>
                            </a:extLst>
                          </a:hlinkClick>
                        </a:rPr>
                        <a:t>ah-1062287-001</a:t>
                      </a:r>
                      <a:pPr indent="0" marL="0">
                        <a:buNone/>
                      </a:pPr>
                      <a:r>
                        <a:rPr lang="en-US" sz="900" dirty="0">
                          <a:solidFill>
                            <a:srgbClr val="6E7279"/>
                          </a:solidFill>
                          <a:latin typeface="Arial" pitchFamily="34" charset="0"/>
                          <a:ea typeface="Arial" pitchFamily="34" charset="-122"/>
                          <a:cs typeface="Arial" pitchFamily="34" charset="-120"/>
                        </a:rPr>
                        <a:t> [vmware_instance]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60" invalidUrl="" action="" tgtFrame="" tooltip="https://bofasecopsdev.service-now.com/cmdb_ci_ip_address_list.do?sysparm_query=ip_address%3D30.123.135.170" history="1" highlightClick="0" endSnd="0">
                            <a:extLst>
                              <a:ext uri="{A12FA001-AC4F-418D-AE19-62706E023703}">
                                <ahyp:hlinkClr xmlns:ahyp="http://schemas.microsoft.com/office/drawing/2018/hyperlinkcolor" val="tx"/>
                              </a:ext>
                            </a:extLst>
                          </a:hlinkClick>
                        </a:rPr>
                        <a:t>IP Address: ip_address=30.123.135.170</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1" invalidUrl="" action="" tgtFrame="" tooltip="https://bofasecopsdev.service-now.com/cmdb_ci_ip_address.do?sys_id=29ba925b2b1ca210e9c1f4cdce91bf43" history="1" highlightClick="0" endSnd="0">
                            <a:extLst>
                              <a:ext uri="{A12FA001-AC4F-418D-AE19-62706E023703}">
                                <ahyp:hlinkClr xmlns:ahyp="http://schemas.microsoft.com/office/drawing/2018/hyperlinkcolor" val="tx"/>
                              </a:ext>
                            </a:extLst>
                          </a:hlinkClick>
                        </a:rPr>
                        <a:t>30.123.135.170</a:t>
                      </a:r>
                      <a:pPr indent="0" marL="0">
                        <a:buNone/>
                      </a:pPr>
                      <a:r>
                        <a:rPr lang="en-US" sz="900" dirty="0">
                          <a:solidFill>
                            <a:srgbClr val="6E7279"/>
                          </a:solidFill>
                          <a:latin typeface="Arial" pitchFamily="34" charset="0"/>
                          <a:ea typeface="Arial" pitchFamily="34" charset="-122"/>
                          <a:cs typeface="Arial" pitchFamily="34" charset="-120"/>
                        </a:rPr>
                        <a:t> → adapter </a:t>
                      </a:r>
                      <a:pPr indent="0" marL="0">
                        <a:buNone/>
                      </a:pPr>
                      <a:r>
                        <a:rPr lang="en-US" sz="900" u="sng" dirty="0">
                          <a:solidFill>
                            <a:srgbClr val="012169"/>
                          </a:solidFill>
                          <a:latin typeface="Arial" pitchFamily="34" charset="0"/>
                          <a:ea typeface="Arial" pitchFamily="34" charset="-122"/>
                          <a:cs typeface="Arial" pitchFamily="34" charset="-120"/>
                          <a:hlinkClick r:id="rId62" invalidUrl="" action="" tgtFrame="" tooltip="https://bofasecopsdev.service-now.com/cmdb_ci_network_adapter.do?sys_id=adba925b2b1ca210e9c1f4cdce91bf4a" history="1" highlightClick="0" endSnd="0">
                            <a:extLst>
                              <a:ext uri="{A12FA001-AC4F-418D-AE19-62706E023703}">
                                <ahyp:hlinkClr xmlns:ahyp="http://schemas.microsoft.com/office/drawing/2018/hyperlinkcolor" val="tx"/>
                              </a:ext>
                            </a:extLst>
                          </a:hlinkClick>
                        </a:rPr>
                        <a:t>ens192</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3"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ah-1062287-001</a:t>
                      </a:r>
                      <a:pPr indent="0" marL="0">
                        <a:buNone/>
                      </a:pPr>
                      <a:r>
                        <a:rPr lang="en-US" sz="900" dirty="0">
                          <a:solidFill>
                            <a:srgbClr val="6E7279"/>
                          </a:solidFill>
                          <a:latin typeface="Arial" pitchFamily="34" charset="0"/>
                          <a:ea typeface="Arial" pitchFamily="34" charset="-122"/>
                          <a:cs typeface="Arial" pitchFamily="34" charset="-120"/>
                        </a:rPr>
                        <a:t> [linux_server]</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64" invalidUrl="" action="" tgtFrame="" tooltip="https://bofasecopsdev.service-now.com/cmdb_rel_ci_list.do?sysparm_query=parent%3Db09e400d3bd88790dee4bcdc73e45aa1%5EORchild%3Db09e400d3bd88790dee4bcdc73e45aa1" history="1" highlightClick="0" endSnd="0">
                            <a:extLst>
                              <a:ext uri="{A12FA001-AC4F-418D-AE19-62706E023703}">
                                <ahyp:hlinkClr xmlns:ahyp="http://schemas.microsoft.com/office/drawing/2018/hyperlinkcolor" val="tx"/>
                              </a:ext>
                            </a:extLst>
                          </a:hlinkClick>
                        </a:rPr>
                        <a:t>CI relationship: parent=b09e400d3bd88790dee4bcdc73e45aa1^ORchild=b09e400d3bd88790dee4bcdc73e45aa1</a:t>
                      </a:r>
                      <a:pPr indent="0" marL="0">
                        <a:buNone/>
                      </a:pPr>
                      <a:r>
                        <a:rPr lang="en-US" sz="900" dirty="0">
                          <a:solidFill>
                            <a:srgbClr val="6E7279"/>
                          </a:solidFill>
                          <a:latin typeface="Arial" pitchFamily="34" charset="0"/>
                          <a:ea typeface="Arial" pitchFamily="34" charset="-122"/>
                          <a:cs typeface="Arial" pitchFamily="34" charset="-120"/>
                        </a:rPr>
                        <a:t> (0 rows)</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Candidates for member: </a:t>
                      </a:r>
                      <a:pPr indent="0" marL="0">
                        <a:buNone/>
                      </a:pPr>
                      <a:r>
                        <a:rPr lang="en-US" sz="900" u="sng" dirty="0">
                          <a:solidFill>
                            <a:srgbClr val="012169"/>
                          </a:solidFill>
                          <a:latin typeface="Arial" pitchFamily="34" charset="0"/>
                          <a:ea typeface="Arial" pitchFamily="34" charset="-122"/>
                          <a:cs typeface="Arial" pitchFamily="34" charset="-120"/>
                          <a:hlinkClick r:id="rId65"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ah-1062287-001</a:t>
                      </a:r>
                      <a:pPr indent="0" marL="0">
                        <a:buNone/>
                      </a:pPr>
                      <a:r>
                        <a:rPr lang="en-US" sz="900" dirty="0">
                          <a:solidFill>
                            <a:srgbClr val="6E7279"/>
                          </a:solidFill>
                          <a:latin typeface="Arial" pitchFamily="34" charset="0"/>
                          <a:ea typeface="Arial" pitchFamily="34" charset="-122"/>
                          <a:cs typeface="Arial" pitchFamily="34" charset="-120"/>
                        </a:rPr>
                        <a:t> via device record, real server</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6"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ah-1062287-001</a:t>
                      </a:r>
                      <a:pPr indent="0" marL="0">
                        <a:buNone/>
                      </a:pPr>
                      <a:r>
                        <a:rPr lang="en-US" sz="900" dirty="0">
                          <a:solidFill>
                            <a:srgbClr val="6E7279"/>
                          </a:solidFill>
                          <a:latin typeface="Arial" pitchFamily="34" charset="0"/>
                          <a:ea typeface="Arial" pitchFamily="34" charset="-122"/>
                          <a:cs typeface="Arial" pitchFamily="34" charset="-120"/>
                        </a:rPr>
                        <a:t> via adapter, real server</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7" invalidUrl="" action="" tgtFrame="" tooltip="https://bofasecopsdev.service-now.com/cmdb_ci_vmware_instance.do?sys_id=7191eac42b69a210442ff1aac891bf00" history="1" highlightClick="0" endSnd="0">
                            <a:extLst>
                              <a:ext uri="{A12FA001-AC4F-418D-AE19-62706E023703}">
                                <ahyp:hlinkClr xmlns:ahyp="http://schemas.microsoft.com/office/drawing/2018/hyperlinkcolor" val="tx"/>
                              </a:ext>
                            </a:extLst>
                          </a:hlinkClick>
                        </a:rPr>
                        <a:t>ah-1062287-001</a:t>
                      </a:r>
                      <a:pPr indent="0" marL="0">
                        <a:buNone/>
                      </a:pPr>
                      <a:r>
                        <a:rPr lang="en-US" sz="900" dirty="0">
                          <a:solidFill>
                            <a:srgbClr val="6E7279"/>
                          </a:solidFill>
                          <a:latin typeface="Arial" pitchFamily="34" charset="0"/>
                          <a:ea typeface="Arial" pitchFamily="34" charset="-122"/>
                          <a:cs typeface="Arial" pitchFamily="34" charset="-120"/>
                        </a:rPr>
                        <a:t> via adapter, not in the Hardware tree</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8"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ah-1062287-001</a:t>
                      </a:r>
                      <a:pPr indent="0" marL="0">
                        <a:buNone/>
                      </a:pPr>
                      <a:r>
                        <a:rPr lang="en-US" sz="900" dirty="0">
                          <a:solidFill>
                            <a:srgbClr val="6E7279"/>
                          </a:solidFill>
                          <a:latin typeface="Arial" pitchFamily="34" charset="0"/>
                          <a:ea typeface="Arial" pitchFamily="34" charset="-122"/>
                          <a:cs typeface="Arial" pitchFamily="34" charset="-120"/>
                        </a:rPr>
                        <a:t> via IP Address record, real server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143</a:t>
            </a:fld>
            <a:endParaRPr lang="en-US"/>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455  ·  LOAD BALANCER MEMBER MATCH  ·  EXAMPLE 2 STEP BY STEP  ·  PAGE 5 OF 5</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aim-xfer-dev-ltwbt1-vip.bankofamerica.com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eac78dafebdb47d0577bf284dad0cd8f" history="1" highlightClick="0" endSnd="0">
                  <a:extLst>
                    <a:ext uri="{A12FA001-AC4F-418D-AE19-62706E023703}">
                      <ahyp:hlinkClr xmlns:ahyp="http://schemas.microsoft.com/office/drawing/2018/hyperlinkcolor" val="tx"/>
                    </a:ext>
                  </a:extLst>
                </a:hlinkClick>
              </a:rPr>
              <a:t>SDI000003786277</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52af62963b9b4310e973496ea5e45aa5" history="1" highlightClick="0" endSnd="0">
                  <a:extLst>
                    <a:ext uri="{A12FA001-AC4F-418D-AE19-62706E023703}">
                      <ahyp:hlinkClr xmlns:ahyp="http://schemas.microsoft.com/office/drawing/2018/hyperlinkcolor" val="tx"/>
                    </a:ext>
                  </a:extLst>
                </a:hlinkClick>
              </a:rPr>
              <a:t>BOFA Load Balancer Member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ah-1062287-001</a:t>
            </a:r>
            <a:endParaRPr lang="en-US" sz="1000" dirty="0"/>
          </a:p>
        </p:txBody>
      </p:sp>
      <p:graphicFrame>
        <p:nvGraphicFramePr>
          <p:cNvPr id="145"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Decision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Counts the distinct machines behind the virtual server (server records grouped by name): one machine with one live record is returned; a member the CMDB cannot place, two machines or two live records decline.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4 member(s), 1 server record(s), 1 machine(s) by name; one machine, one record: the member rule returns it</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Distinct servers: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ah-1062287-001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144</a:t>
            </a:fld>
            <a:endParaRPr lang="en-US"/>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455  ·  LOAD BALANCER MEMBER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ccgw-l7-vip2.sit1.gwimnp.rpg</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one service / 1 member / 1 machine</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710944"/>
          </a:xfrm>
          <a:prstGeom prst="roundRect">
            <a:avLst>
              <a:gd name="adj" fmla="val 3207"/>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198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"ccgw-l7-vip2" is not sep + 12 hex)  ·  controller (no controller suffix or OS word)  ·  interface (no interface domain or marker)</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(OS "F5 Networks Big-IP" gives no class / no record in the hardware tree carries the fqdn)  ·  name + domain (OS "F5 Networks Big-IP" gives no class / no record named "ccgw-l7-vip2")  ·  layered DNS (no DNS Name record for "ccgw-l7-vip2.sit1.gwimnp.rpg")  ·  host name (OS "F5 Networks Big-IP" gives no class / no record in the hardware tree named "ccgw-l7-vip2")  ·  device name (none named "ccgw-l7-vip2" in IP Phone or Imaging Hardware)  ·  whole-fqdn name (no record in the hardware tree named "ccgw-l7-vip2.sit1.gwimnp.rpg")</a:t>
            </a:r>
            <a:endParaRPr lang="en-US" sz="1100" dirty="0"/>
          </a:p>
        </p:txBody>
      </p:sp>
      <p:sp>
        <p:nvSpPr>
          <p:cNvPr id="12" name="Shape 10"/>
          <p:cNvSpPr/>
          <p:nvPr/>
        </p:nvSpPr>
        <p:spPr>
          <a:xfrm>
            <a:off x="502920" y="3302000"/>
            <a:ext cx="2788920" cy="3098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457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731768"/>
            <a:ext cx="457200" cy="0"/>
          </a:xfrm>
          <a:prstGeom prst="line">
            <a:avLst/>
          </a:prstGeom>
          <a:noFill/>
          <a:ln w="19050">
            <a:solidFill>
              <a:srgbClr val="E31837"/>
            </a:solidFill>
            <a:prstDash val="solid"/>
          </a:ln>
        </p:spPr>
      </p:sp>
      <p:sp>
        <p:nvSpPr>
          <p:cNvPr id="15" name="Text 13"/>
          <p:cNvSpPr txBox="1"/>
          <p:nvPr/>
        </p:nvSpPr>
        <p:spPr>
          <a:xfrm>
            <a:off x="740664" y="3777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SDI000002418623</a:t>
            </a:r>
            <a:endParaRPr lang="en-US" sz="1500" dirty="0"/>
          </a:p>
        </p:txBody>
      </p:sp>
      <p:sp>
        <p:nvSpPr>
          <p:cNvPr id="16" name="Text 14"/>
          <p:cNvSpPr txBox="1"/>
          <p:nvPr/>
        </p:nvSpPr>
        <p:spPr>
          <a:xfrm>
            <a:off x="740664" y="4143248"/>
            <a:ext cx="2313432" cy="1544320"/>
          </a:xfrm>
          <a:prstGeom prst="rect">
            <a:avLst/>
          </a:prstGeom>
          <a:noFill/>
          <a:ln/>
        </p:spPr>
        <p:txBody>
          <a:bodyPr wrap="square" lIns="0" tIns="0" rIns="0" bIns="0" rtlCol="0" anchor="t"/>
          <a:lstStyle/>
          <a:p>
            <a:pPr indent="0" marL="0">
              <a:buNone/>
            </a:pPr>
            <a:r>
              <a:rPr lang="en-US" sz="11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100" dirty="0">
                <a:solidFill>
                  <a:srgbClr val="4D4F53"/>
                </a:solidFill>
                <a:latin typeface="Arial" pitchFamily="34" charset="0"/>
                <a:ea typeface="Arial" pitchFamily="34" charset="-122"/>
                <a:cs typeface="Arial" pitchFamily="34" charset="-120"/>
              </a:rPr>
              <a:t>ccgw-l7-vip2.sit1.gwimnp.rpg</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100" dirty="0">
                <a:solidFill>
                  <a:srgbClr val="4D4F53"/>
                </a:solidFill>
                <a:latin typeface="Arial" pitchFamily="34" charset="0"/>
                <a:ea typeface="Arial" pitchFamily="34" charset="-122"/>
                <a:cs typeface="Arial" pitchFamily="34" charset="-120"/>
              </a:rPr>
              <a:t>10.143.52.217</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100" dirty="0">
                <a:solidFill>
                  <a:srgbClr val="4D4F53"/>
                </a:solidFill>
                <a:latin typeface="Arial" pitchFamily="34" charset="0"/>
                <a:ea typeface="Arial" pitchFamily="34" charset="-122"/>
                <a:cs typeface="Arial" pitchFamily="34" charset="-120"/>
              </a:rPr>
              <a:t>F5 Networks Big-IP</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100" dirty="0">
                <a:solidFill>
                  <a:srgbClr val="4D4F53"/>
                </a:solidFill>
                <a:latin typeface="Arial" pitchFamily="34" charset="0"/>
                <a:ea typeface="Arial" pitchFamily="34" charset="-122"/>
                <a:cs typeface="Arial" pitchFamily="34" charset="-120"/>
              </a:rPr>
              <a:t>IP</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100" dirty="0">
                <a:solidFill>
                  <a:srgbClr val="4D4F53"/>
                </a:solidFill>
                <a:latin typeface="Arial" pitchFamily="34" charset="0"/>
                <a:ea typeface="Arial" pitchFamily="34" charset="-122"/>
                <a:cs typeface="Arial" pitchFamily="34" charset="-120"/>
              </a:rPr>
              <a:t>2026-09-20 03:12:39</a:t>
            </a:r>
            <a:endParaRPr lang="en-US" sz="1100" dirty="0"/>
          </a:p>
        </p:txBody>
      </p:sp>
      <p:sp>
        <p:nvSpPr>
          <p:cNvPr id="17" name="Text 15">
            <a:hlinkClick r:id="rId1" tooltip="https://bofasecopsdev.service-now.com/sn_sec_cmn_src_ci_list.do?sysparm_query=number=SDI000002418623"/>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41862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302000"/>
            <a:ext cx="4745736" cy="3098800"/>
          </a:xfrm>
          <a:prstGeom prst="roundRect">
            <a:avLst>
              <a:gd name="adj" fmla="val 177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457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731768"/>
            <a:ext cx="457200" cy="0"/>
          </a:xfrm>
          <a:prstGeom prst="line">
            <a:avLst/>
          </a:prstGeom>
          <a:noFill/>
          <a:ln w="19050">
            <a:solidFill>
              <a:srgbClr val="E31837"/>
            </a:solidFill>
            <a:prstDash val="solid"/>
          </a:ln>
        </p:spPr>
      </p:sp>
      <p:sp>
        <p:nvSpPr>
          <p:cNvPr id="21" name="Text 19"/>
          <p:cNvSpPr txBox="1"/>
          <p:nvPr/>
        </p:nvSpPr>
        <p:spPr>
          <a:xfrm>
            <a:off x="3749040" y="3804920"/>
            <a:ext cx="4233672" cy="2440432"/>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1   VIP sign  </a:t>
            </a:r>
            <a:pPr indent="0" marL="0">
              <a:lnSpc>
                <a:spcPct val="100000"/>
              </a:lnSpc>
              <a:spcAft>
                <a:spcPts val="700"/>
              </a:spcAft>
              <a:buNone/>
            </a:pPr>
            <a:r>
              <a:rPr lang="en-US" sz="1100" dirty="0">
                <a:solidFill>
                  <a:srgbClr val="4D4F53"/>
                </a:solidFill>
                <a:latin typeface="Arial" pitchFamily="34" charset="0"/>
                <a:ea typeface="Arial" pitchFamily="34" charset="-122"/>
                <a:cs typeface="Arial" pitchFamily="34" charset="-120"/>
              </a:rPr>
              <a:t>OS has "f5", OS has "big-ip", label segment "vip2"</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2   Clues fqdn, name, name  </a:t>
            </a:r>
            <a:pPr indent="0" marL="0">
              <a:lnSpc>
                <a:spcPct val="100000"/>
              </a:lnSpc>
              <a:spcAft>
                <a:spcPts val="700"/>
              </a:spcAft>
              <a:buNone/>
            </a:pPr>
            <a:r>
              <a:rPr lang="en-US" sz="1100" dirty="0">
                <a:solidFill>
                  <a:srgbClr val="4D4F53"/>
                </a:solidFill>
                <a:latin typeface="Arial" pitchFamily="34" charset="0"/>
                <a:ea typeface="Arial" pitchFamily="34" charset="-122"/>
                <a:cs typeface="Arial" pitchFamily="34" charset="-120"/>
              </a:rPr>
              <a:t>no service record; next clue</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3   Clue 4: ip_address = "10.143.52.217"  </a:t>
            </a:r>
            <a:pPr indent="0" marL="0">
              <a:lnSpc>
                <a:spcPct val="100000"/>
              </a:lnSpc>
              <a:spcAft>
                <a:spcPts val="700"/>
              </a:spcAft>
              <a:buNone/>
            </a:pPr>
            <a:r>
              <a:rPr lang="en-US" sz="1100" dirty="0">
                <a:solidFill>
                  <a:srgbClr val="4D4F53"/>
                </a:solidFill>
                <a:latin typeface="Arial" pitchFamily="34" charset="0"/>
                <a:ea typeface="Arial" pitchFamily="34" charset="-122"/>
                <a:cs typeface="Arial" pitchFamily="34" charset="-120"/>
              </a:rPr>
              <a:t>1 service record: /Common/ihscore-sit1-ccgw-6011-vip on 10.143.52.217 (svedpz1rp4lb10)</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4   Pools  </a:t>
            </a:r>
            <a:pPr indent="0" marL="0">
              <a:lnSpc>
                <a:spcPct val="100000"/>
              </a:lnSpc>
              <a:spcAft>
                <a:spcPts val="700"/>
              </a:spcAft>
              <a:buNone/>
            </a:pPr>
            <a:r>
              <a:rPr lang="en-US" sz="1100" dirty="0">
                <a:solidFill>
                  <a:srgbClr val="4D4F53"/>
                </a:solidFill>
                <a:latin typeface="Arial" pitchFamily="34" charset="0"/>
                <a:ea typeface="Arial" pitchFamily="34" charset="-122"/>
                <a:cs typeface="Arial" pitchFamily="34" charset="-120"/>
              </a:rPr>
              <a:t>1: /Common/ihscore-sit1-ccgw-443-pool (pool field)</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5   Members  </a:t>
            </a:r>
            <a:pPr indent="0" marL="0">
              <a:lnSpc>
                <a:spcPct val="100000"/>
              </a:lnSpc>
              <a:spcAft>
                <a:spcPts val="700"/>
              </a:spcAft>
              <a:buNone/>
            </a:pPr>
            <a:r>
              <a:rPr lang="en-US" sz="1100" dirty="0">
                <a:solidFill>
                  <a:srgbClr val="4D4F53"/>
                </a:solidFill>
                <a:latin typeface="Arial" pitchFamily="34" charset="0"/>
                <a:ea typeface="Arial" pitchFamily="34" charset="-122"/>
                <a:cs typeface="Arial" pitchFamily="34" charset="-120"/>
              </a:rPr>
              <a:t>1: /Common/ihscore-sit1-lva71pwbolcc01v-node 10.143.72.200 -&gt; lva71pwbolcc01v (device record, adapter, IP Address record)</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6   Decision  </a:t>
            </a:r>
            <a:pPr indent="0" marL="0">
              <a:lnSpc>
                <a:spcPct val="100000"/>
              </a:lnSpc>
              <a:spcAft>
                <a:spcPts val="700"/>
              </a:spcAft>
              <a:buNone/>
            </a:pPr>
            <a:r>
              <a:rPr lang="en-US" sz="1100" dirty="0">
                <a:solidFill>
                  <a:srgbClr val="4D4F53"/>
                </a:solidFill>
                <a:latin typeface="Arial" pitchFamily="34" charset="0"/>
                <a:ea typeface="Arial" pitchFamily="34" charset="-122"/>
                <a:cs typeface="Arial" pitchFamily="34" charset="-120"/>
              </a:rPr>
              <a:t>1 member(s), 1 server record(s), 1 machine(s) by name; one machine, one record: the member rule returns it</a:t>
            </a:r>
            <a:endParaRPr lang="en-US" sz="1100" dirty="0"/>
          </a:p>
        </p:txBody>
      </p:sp>
      <p:sp>
        <p:nvSpPr>
          <p:cNvPr id="22" name="Shape 20"/>
          <p:cNvSpPr/>
          <p:nvPr/>
        </p:nvSpPr>
        <p:spPr>
          <a:xfrm>
            <a:off x="8439912" y="3302000"/>
            <a:ext cx="3246120" cy="3098800"/>
          </a:xfrm>
          <a:prstGeom prst="roundRect">
            <a:avLst>
              <a:gd name="adj" fmla="val 177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466592"/>
            <a:ext cx="64008" cy="2769616"/>
          </a:xfrm>
          <a:prstGeom prst="rect">
            <a:avLst/>
          </a:prstGeom>
          <a:solidFill>
            <a:srgbClr val="E31837"/>
          </a:solidFill>
          <a:ln w="12700">
            <a:solidFill>
              <a:srgbClr val="333333"/>
            </a:solidFill>
            <a:prstDash val="solid"/>
          </a:ln>
        </p:spPr>
      </p:sp>
      <p:sp>
        <p:nvSpPr>
          <p:cNvPr id="24" name="Text 22"/>
          <p:cNvSpPr txBox="1"/>
          <p:nvPr/>
        </p:nvSpPr>
        <p:spPr>
          <a:xfrm>
            <a:off x="8714232" y="3457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731768"/>
            <a:ext cx="457200" cy="0"/>
          </a:xfrm>
          <a:prstGeom prst="line">
            <a:avLst/>
          </a:prstGeom>
          <a:noFill/>
          <a:ln w="19050">
            <a:solidFill>
              <a:srgbClr val="E31837"/>
            </a:solidFill>
            <a:prstDash val="solid"/>
          </a:ln>
        </p:spPr>
      </p:sp>
      <p:sp>
        <p:nvSpPr>
          <p:cNvPr id="26" name="Text 24"/>
          <p:cNvSpPr txBox="1"/>
          <p:nvPr/>
        </p:nvSpPr>
        <p:spPr>
          <a:xfrm>
            <a:off x="8714232" y="37774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lva71pwbolcc01v</a:t>
            </a:r>
            <a:endParaRPr lang="en-US" sz="1500" dirty="0"/>
          </a:p>
        </p:txBody>
      </p:sp>
      <p:sp>
        <p:nvSpPr>
          <p:cNvPr id="27" name="Text 25"/>
          <p:cNvSpPr txBox="1"/>
          <p:nvPr/>
        </p:nvSpPr>
        <p:spPr>
          <a:xfrm>
            <a:off x="8714232" y="4097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Linux Server</a:t>
            </a:r>
            <a:endParaRPr lang="en-US" sz="1100" dirty="0"/>
          </a:p>
        </p:txBody>
      </p:sp>
      <p:sp>
        <p:nvSpPr>
          <p:cNvPr id="28" name="Text 26"/>
          <p:cNvSpPr txBox="1"/>
          <p:nvPr/>
        </p:nvSpPr>
        <p:spPr>
          <a:xfrm>
            <a:off x="8714232" y="4417568"/>
            <a:ext cx="2715768" cy="1270000"/>
          </a:xfrm>
          <a:prstGeom prst="rect">
            <a:avLst/>
          </a:prstGeom>
          <a:noFill/>
          <a:ln/>
        </p:spPr>
        <p:txBody>
          <a:bodyPr wrap="square" lIns="0" tIns="0" rIns="0" bIns="0" rtlCol="0" anchor="t"/>
          <a:lstStyle/>
          <a:p>
            <a:pPr indent="0" marL="0">
              <a:buNone/>
            </a:pPr>
            <a:r>
              <a:rPr lang="en-US" sz="8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850" dirty="0">
                <a:solidFill>
                  <a:srgbClr val="4D4F53"/>
                </a:solidFill>
                <a:latin typeface="Arial" pitchFamily="34" charset="0"/>
                <a:ea typeface="Arial" pitchFamily="34" charset="-122"/>
                <a:cs typeface="Arial" pitchFamily="34" charset="-120"/>
              </a:rPr>
              <a:t>lva71pwbolcc01v.sdi.ssc3.ext3.bankofamerica3.com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850" dirty="0">
                <a:solidFill>
                  <a:srgbClr val="4D4F53"/>
                </a:solidFill>
                <a:latin typeface="Arial" pitchFamily="34" charset="0"/>
                <a:ea typeface="Arial" pitchFamily="34" charset="-122"/>
                <a:cs typeface="Arial" pitchFamily="34" charset="-120"/>
              </a:rPr>
              <a:t>SDI.SSC3.EXT3.BANKOFAMERICA3.COM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850" dirty="0">
                <a:solidFill>
                  <a:srgbClr val="4D4F53"/>
                </a:solidFill>
                <a:latin typeface="Arial" pitchFamily="34" charset="0"/>
                <a:ea typeface="Arial" pitchFamily="34" charset="-122"/>
                <a:cs typeface="Arial" pitchFamily="34" charset="-120"/>
              </a:rPr>
              <a:t>10.143.72.200</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VMware-42 27 ff a8 e9 3d 0e ce-24 f6 1e f2 a0 ea 46 11</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 Inc. VMware Virtual Platform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Installed</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Operational</a:t>
            </a:r>
            <a:endParaRPr lang="en-US" sz="850" dirty="0"/>
          </a:p>
        </p:txBody>
      </p:sp>
      <p:sp>
        <p:nvSpPr>
          <p:cNvPr id="29" name="Text 27">
            <a:hlinkClick r:id="rId2" tooltip="https://bofasecopsdev.service-now.com/cmdb_ci_linux_server.do?sys_id=ddcdddf02b462294d50dffbdbe91bf9b"/>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ddcdddf02b462294d50dffbdbe91bf9b"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145</a:t>
            </a:fld>
            <a:endParaRPr lang="en-US"/>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455  ·  LOAD BALANCER MEMBER MATCH  ·  EXAMPLE 3 STEP BY STEP  ·  PAGE 1 OF 2</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ccgw-l7-vip2.sit1.gwimnp.rpg</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9f78729e3bf28f942fcecefe23e45a40" history="1" highlightClick="0" endSnd="0">
                  <a:extLst>
                    <a:ext uri="{A12FA001-AC4F-418D-AE19-62706E023703}">
                      <ahyp:hlinkClr xmlns:ahyp="http://schemas.microsoft.com/office/drawing/2018/hyperlinkcolor" val="tx"/>
                    </a:ext>
                  </a:extLst>
                </a:hlinkClick>
              </a:rPr>
              <a:t>SDI000002418623</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52af62963b9b4310e973496ea5e45aa5" history="1" highlightClick="0" endSnd="0">
                  <a:extLst>
                    <a:ext uri="{A12FA001-AC4F-418D-AE19-62706E023703}">
                      <ahyp:hlinkClr xmlns:ahyp="http://schemas.microsoft.com/office/drawing/2018/hyperlinkcolor" val="tx"/>
                    </a:ext>
                  </a:extLst>
                </a:hlinkClick>
              </a:rPr>
              <a:t>BOFA Load Balancer Member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linux_server.do?sys_id=ddcdddf02b462294d50dffbdbe91bf9b" history="1" highlightClick="0" endSnd="0">
                  <a:extLst>
                    <a:ext uri="{A12FA001-AC4F-418D-AE19-62706E023703}">
                      <ahyp:hlinkClr xmlns:ahyp="http://schemas.microsoft.com/office/drawing/2018/hyperlinkcolor" val="tx"/>
                    </a:ext>
                  </a:extLst>
                </a:hlinkClick>
              </a:rPr>
              <a:t>lva71pwbolcc01v</a:t>
            </a:r>
            <a:endParaRPr lang="en-US" sz="1000" dirty="0"/>
          </a:p>
        </p:txBody>
      </p:sp>
      <p:graphicFrame>
        <p:nvGraphicFramePr>
          <p:cNvPr id="147"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VIP sign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The OS text is searched for f5, big-ip, big ip and netscaler, and the label segments for vip or vs (the word, the word plus digits, or a longer word ending in it); without a sign the rule returns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OS has "f5", OS has "big-ip", label segment "vip2"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1: fqdn = "ccgw-l7-vip2.sit1.gwimnp.rpg"</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fqdn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no service record; next clue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lb_service_list.do?sysparm_query=fqdn%3Dccgw-l7-vip2.sit1.gwimnp.rpg" history="1" highlightClick="0" endSnd="0">
                            <a:extLst>
                              <a:ext uri="{A12FA001-AC4F-418D-AE19-62706E023703}">
                                <ahyp:hlinkClr xmlns:ahyp="http://schemas.microsoft.com/office/drawing/2018/hyperlinkcolor" val="tx"/>
                              </a:ext>
                            </a:extLst>
                          </a:hlinkClick>
                        </a:rPr>
                        <a:t>Load Balancer Service: fqdn=ccgw-l7-vip2.sit1.gwimnp.rpg</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2: name = "ccgw-l7-vip2.sit1.gwimnp.rpg"</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name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no service record; next clue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lb_service_list.do?sysparm_query=name%3Dccgw-l7-vip2.sit1.gwimnp.rpg" history="1" highlightClick="0" endSnd="0">
                            <a:extLst>
                              <a:ext uri="{A12FA001-AC4F-418D-AE19-62706E023703}">
                                <ahyp:hlinkClr xmlns:ahyp="http://schemas.microsoft.com/office/drawing/2018/hyperlinkcolor" val="tx"/>
                              </a:ext>
                            </a:extLst>
                          </a:hlinkClick>
                        </a:rPr>
                        <a:t>Load Balancer Service: name=ccgw-l7-vip2.sit1.gwimnp.rpg</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3: name = "ccgw-l7-vip2"</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name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no service record; next clue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lb_service_list.do?sysparm_query=name%3Dccgw-l7-vip2" history="1" highlightClick="0" endSnd="0">
                            <a:extLst>
                              <a:ext uri="{A12FA001-AC4F-418D-AE19-62706E023703}">
                                <ahyp:hlinkClr xmlns:ahyp="http://schemas.microsoft.com/office/drawing/2018/hyperlinkcolor" val="tx"/>
                              </a:ext>
                            </a:extLst>
                          </a:hlinkClick>
                        </a:rPr>
                        <a:t>Load Balancer Service: name=ccgw-l7-vip2</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4: ip_address = "10.143.52.217"</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ip_address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service record: /Common/ihscore-sit1-ccgw-6011-vip on 10.143.52.217 (svedpz1rp4lb10)</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8" invalidUrl="" action="" tgtFrame="" tooltip="https://bofasecopsdev.service-now.com/cmdb_ci_lb_service_list.do?sysparm_query=ip_address%3D10.143.52.217" history="1" highlightClick="0" endSnd="0">
                            <a:extLst>
                              <a:ext uri="{A12FA001-AC4F-418D-AE19-62706E023703}">
                                <ahyp:hlinkClr xmlns:ahyp="http://schemas.microsoft.com/office/drawing/2018/hyperlinkcolor" val="tx"/>
                              </a:ext>
                            </a:extLst>
                          </a:hlinkClick>
                        </a:rPr>
                        <a:t>Load Balancer Service: ip_address=10.143.52.217</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9" invalidUrl="" action="" tgtFrame="" tooltip="https://bofasecopsdev.service-now.com/cmdb_ci_lb_service.do?sys_id=be381f963bfd2e50489ce5d964e45a84" history="1" highlightClick="0" endSnd="0">
                            <a:extLst>
                              <a:ext uri="{A12FA001-AC4F-418D-AE19-62706E023703}">
                                <ahyp:hlinkClr xmlns:ahyp="http://schemas.microsoft.com/office/drawing/2018/hyperlinkcolor" val="tx"/>
                              </a:ext>
                            </a:extLst>
                          </a:hlinkClick>
                        </a:rPr>
                        <a:t>/Common/ihscore-sit1-ccgw-6011-vip</a:t>
                      </a:r>
                      <a:pPr indent="0" marL="0">
                        <a:buNone/>
                      </a:pPr>
                      <a:r>
                        <a:rPr lang="en-US" sz="900" dirty="0">
                          <a:solidFill>
                            <a:srgbClr val="6E7279"/>
                          </a:solidFill>
                          <a:latin typeface="Arial" pitchFamily="34" charset="0"/>
                          <a:ea typeface="Arial" pitchFamily="34" charset="-122"/>
                          <a:cs typeface="Arial" pitchFamily="34" charset="-120"/>
                        </a:rPr>
                        <a:t> → pool </a:t>
                      </a:r>
                      <a:pPr indent="0" marL="0">
                        <a:buNone/>
                      </a:pPr>
                      <a:r>
                        <a:rPr lang="en-US" sz="900" u="sng" dirty="0">
                          <a:solidFill>
                            <a:srgbClr val="012169"/>
                          </a:solidFill>
                          <a:latin typeface="Arial" pitchFamily="34" charset="0"/>
                          <a:ea typeface="Arial" pitchFamily="34" charset="-122"/>
                          <a:cs typeface="Arial" pitchFamily="34" charset="-120"/>
                          <a:hlinkClick r:id="rId10" invalidUrl="" action="" tgtFrame="" tooltip="https://bofasecopsdev.service-now.com/cmdb_ci_lb_pool.do?sys_id=36381f963bfd2e50489ce5d964e45a84" history="1" highlightClick="0" endSnd="0">
                            <a:extLst>
                              <a:ext uri="{A12FA001-AC4F-418D-AE19-62706E023703}">
                                <ahyp:hlinkClr xmlns:ahyp="http://schemas.microsoft.com/office/drawing/2018/hyperlinkcolor" val="tx"/>
                              </a:ext>
                            </a:extLst>
                          </a:hlinkClick>
                        </a:rPr>
                        <a:t>/Common/ihscore-sit1-ccgw-443-pool</a:t>
                      </a:r>
                      <a:pPr indent="0" marL="0">
                        <a:buNone/>
                      </a:pPr>
                      <a:r>
                        <a:rPr lang="en-US" sz="900" dirty="0">
                          <a:solidFill>
                            <a:srgbClr val="6E7279"/>
                          </a:solidFill>
                          <a:latin typeface="Arial" pitchFamily="34" charset="0"/>
                          <a:ea typeface="Arial" pitchFamily="34" charset="-122"/>
                          <a:cs typeface="Arial" pitchFamily="34" charset="-120"/>
                        </a:rPr>
                        <a:t> on balancer </a:t>
                      </a:r>
                      <a:pPr indent="0" marL="0">
                        <a:buNone/>
                      </a:pPr>
                      <a:r>
                        <a:rPr lang="en-US" sz="900" u="sng" dirty="0">
                          <a:solidFill>
                            <a:srgbClr val="012169"/>
                          </a:solidFill>
                          <a:latin typeface="Arial" pitchFamily="34" charset="0"/>
                          <a:ea typeface="Arial" pitchFamily="34" charset="-122"/>
                          <a:cs typeface="Arial" pitchFamily="34" charset="-120"/>
                          <a:hlinkClick r:id="rId11" invalidUrl="" action="" tgtFrame="" tooltip="https://bofasecopsdev.service-now.com/cmdb_ci_lb.do?sys_id=e1381f16933de65007a4f84958373cf2" history="1" highlightClick="0" endSnd="0">
                            <a:extLst>
                              <a:ext uri="{A12FA001-AC4F-418D-AE19-62706E023703}">
                                <ahyp:hlinkClr xmlns:ahyp="http://schemas.microsoft.com/office/drawing/2018/hyperlinkcolor" val="tx"/>
                              </a:ext>
                            </a:extLst>
                          </a:hlinkClick>
                        </a:rPr>
                        <a:t>svedpz1rp4lb10</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146</a:t>
            </a:fld>
            <a:endParaRPr lang="en-US"/>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455  ·  LOAD BALANCER MEMBER MATCH  ·  EXAMPLE 3 STEP BY STEP  ·  PAGE 2 OF 2</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ccgw-l7-vip2.sit1.gwimnp.rpg</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9f78729e3bf28f942fcecefe23e45a40" history="1" highlightClick="0" endSnd="0">
                  <a:extLst>
                    <a:ext uri="{A12FA001-AC4F-418D-AE19-62706E023703}">
                      <ahyp:hlinkClr xmlns:ahyp="http://schemas.microsoft.com/office/drawing/2018/hyperlinkcolor" val="tx"/>
                    </a:ext>
                  </a:extLst>
                </a:hlinkClick>
              </a:rPr>
              <a:t>SDI000002418623</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52af62963b9b4310e973496ea5e45aa5" history="1" highlightClick="0" endSnd="0">
                  <a:extLst>
                    <a:ext uri="{A12FA001-AC4F-418D-AE19-62706E023703}">
                      <ahyp:hlinkClr xmlns:ahyp="http://schemas.microsoft.com/office/drawing/2018/hyperlinkcolor" val="tx"/>
                    </a:ext>
                  </a:extLst>
                </a:hlinkClick>
              </a:rPr>
              <a:t>BOFA Load Balancer Member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linux_server.do?sys_id=ddcdddf02b462294d50dffbdbe91bf9b" history="1" highlightClick="0" endSnd="0">
                  <a:extLst>
                    <a:ext uri="{A12FA001-AC4F-418D-AE19-62706E023703}">
                      <ahyp:hlinkClr xmlns:ahyp="http://schemas.microsoft.com/office/drawing/2018/hyperlinkcolor" val="tx"/>
                    </a:ext>
                  </a:extLst>
                </a:hlinkClick>
              </a:rPr>
              <a:t>lva71pwbolcc01v</a:t>
            </a:r>
            <a:endParaRPr lang="en-US" sz="1000" dirty="0"/>
          </a:p>
        </p:txBody>
      </p:sp>
      <p:graphicFrame>
        <p:nvGraphicFramePr>
          <p:cNvPr id="148"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Pools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Reads the Pool field of each service record kept, the pools whose Service field points at it, and the pools related to it through cmdb_rel_ci; no pool means the member rule declines.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/Common/ihscore-sit1-ccgw-443-pool (pool field)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lb_pool_list.do?sysparm_query=service%3Dbe381f963bfd2e50489ce5d964e45a84" history="1" highlightClick="0" endSnd="0">
                            <a:extLst>
                              <a:ext uri="{A12FA001-AC4F-418D-AE19-62706E023703}">
                                <ahyp:hlinkClr xmlns:ahyp="http://schemas.microsoft.com/office/drawing/2018/hyperlinkcolor" val="tx"/>
                              </a:ext>
                            </a:extLst>
                          </a:hlinkClick>
                        </a:rPr>
                        <a:t>Load Balancer Pool: service=be381f963bfd2e50489ce5d964e45a84</a:t>
                      </a:r>
                      <a:pPr indent="0" marL="0">
                        <a:buNone/>
                      </a:pPr>
                      <a:r>
                        <a:rPr lang="en-US" sz="900" dirty="0">
                          <a:solidFill>
                            <a:srgbClr val="6E7279"/>
                          </a:solidFill>
                          <a:latin typeface="Arial" pitchFamily="34" charset="0"/>
                          <a:ea typeface="Arial" pitchFamily="34" charset="-122"/>
                          <a:cs typeface="Arial" pitchFamily="34" charset="-120"/>
                        </a:rPr>
                        <a:t> (0 rows)</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rel_ci_list.do?sysparm_query=parent%3Dbe381f963bfd2e50489ce5d964e45a84%5EORchild%3Dbe381f963bfd2e50489ce5d964e45a84" history="1" highlightClick="0" endSnd="0">
                            <a:extLst>
                              <a:ext uri="{A12FA001-AC4F-418D-AE19-62706E023703}">
                                <ahyp:hlinkClr xmlns:ahyp="http://schemas.microsoft.com/office/drawing/2018/hyperlinkcolor" val="tx"/>
                              </a:ext>
                            </a:extLst>
                          </a:hlinkClick>
                        </a:rPr>
                        <a:t>CI relationship: parent=be381f963bfd2e50489ce5d964e45a84^ORchild=be381f963bfd2e50489ce5d964e45a84</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lb_pool.do?sys_id=36381f963bfd2e50489ce5d964e45a84" history="1" highlightClick="0" endSnd="0">
                            <a:extLst>
                              <a:ext uri="{A12FA001-AC4F-418D-AE19-62706E023703}">
                                <ahyp:hlinkClr xmlns:ahyp="http://schemas.microsoft.com/office/drawing/2018/hyperlinkcolor" val="tx"/>
                              </a:ext>
                            </a:extLst>
                          </a:hlinkClick>
                        </a:rPr>
                        <a:t>/Common/ihscore-sit1-ccgw-443-pool</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8" invalidUrl="" action="" tgtFrame="" tooltip="https://bofasecopsdev.service-now.com/cmdb_ci_lb_pool_list.do?sysparm_query=sys_idIN36381f963bfd2e50489ce5d964e45a84" history="1" highlightClick="0" endSnd="0">
                            <a:extLst>
                              <a:ext uri="{A12FA001-AC4F-418D-AE19-62706E023703}">
                                <ahyp:hlinkClr xmlns:ahyp="http://schemas.microsoft.com/office/drawing/2018/hyperlinkcolor" val="tx"/>
                              </a:ext>
                            </a:extLst>
                          </a:hlinkClick>
                        </a:rPr>
                        <a:t>Load Balancer Pool: sys_idIN36381f963bfd2e50489ce5d964e45a84</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9" invalidUrl="" action="" tgtFrame="" tooltip="https://bofasecopsdev.service-now.com/cmdb_ci_lb_pool.do?sys_id=36381f963bfd2e50489ce5d964e45a84" history="1" highlightClick="0" endSnd="0">
                            <a:extLst>
                              <a:ext uri="{A12FA001-AC4F-418D-AE19-62706E023703}">
                                <ahyp:hlinkClr xmlns:ahyp="http://schemas.microsoft.com/office/drawing/2018/hyperlinkcolor" val="tx"/>
                              </a:ext>
                            </a:extLst>
                          </a:hlinkClick>
                        </a:rPr>
                        <a:t>/Common/ihscore-sit1-ccgw-443-pool</a:t>
                      </a:r>
                      <a:pPr indent="0" marL="0">
                        <a:buNone/>
                      </a:pPr>
                      <a:r>
                        <a:rPr lang="en-US" sz="900" dirty="0">
                          <a:solidFill>
                            <a:srgbClr val="6E7279"/>
                          </a:solidFill>
                          <a:latin typeface="Arial" pitchFamily="34" charset="0"/>
                          <a:ea typeface="Arial" pitchFamily="34" charset="-122"/>
                          <a:cs typeface="Arial" pitchFamily="34" charset="-120"/>
                        </a:rPr>
                        <a:t> (pool field)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10" invalidUrl="" action="" tgtFrame="" tooltip="https://bofasecopsdev.service-now.com/cmdb_ci_lb_pool_member_list.do?sysparm_query=pool%3D36381f963bfd2e50489ce5d964e45a84" history="1" highlightClick="0" endSnd="0">
                            <a:extLst>
                              <a:ext uri="{A12FA001-AC4F-418D-AE19-62706E023703}">
                                <ahyp:hlinkClr xmlns:ahyp="http://schemas.microsoft.com/office/drawing/2018/hyperlinkcolor" val="tx"/>
                              </a:ext>
                            </a:extLst>
                          </a:hlinkClick>
                        </a:rPr>
                        <a:t>Pool Member: pool=36381f963bfd2e50489ce5d964e45a84</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1" invalidUrl="" action="" tgtFrame="" tooltip="https://bofasecopsdev.service-now.com/cmdb_ci_lb_pool_member.do?sys_id=7a381f963bfd2e50489ce5d964e45a84" history="1" highlightClick="0" endSnd="0">
                            <a:extLst>
                              <a:ext uri="{A12FA001-AC4F-418D-AE19-62706E023703}">
                                <ahyp:hlinkClr xmlns:ahyp="http://schemas.microsoft.com/office/drawing/2018/hyperlinkcolor" val="tx"/>
                              </a:ext>
                            </a:extLst>
                          </a:hlinkClick>
                        </a:rPr>
                        <a:t>/Common/ihscore-sit1-lva71pwbolcc01v-node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12" invalidUrl="" action="" tgtFrame="" tooltip="https://bofasecopsdev.service-now.com/cmdb_rel_ci_list.do?sysparm_query=parent%3D36381f963bfd2e50489ce5d964e45a84%5EORchild%3D36381f963bfd2e50489ce5d964e45a84" history="1" highlightClick="0" endSnd="0">
                            <a:extLst>
                              <a:ext uri="{A12FA001-AC4F-418D-AE19-62706E023703}">
                                <ahyp:hlinkClr xmlns:ahyp="http://schemas.microsoft.com/office/drawing/2018/hyperlinkcolor" val="tx"/>
                              </a:ext>
                            </a:extLst>
                          </a:hlinkClick>
                        </a:rPr>
                        <a:t>CI relationship: parent=36381f963bfd2e50489ce5d964e45a84^ORchild=36381f963bfd2e50489ce5d964e45a84</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3" invalidUrl="" action="" tgtFrame="" tooltip="https://bofasecopsdev.service-now.com/cmdb_ci_lb_pool_member.do?sys_id=7a381f963bfd2e50489ce5d964e45a84" history="1" highlightClick="0" endSnd="0">
                            <a:extLst>
                              <a:ext uri="{A12FA001-AC4F-418D-AE19-62706E023703}">
                                <ahyp:hlinkClr xmlns:ahyp="http://schemas.microsoft.com/office/drawing/2018/hyperlinkcolor" val="tx"/>
                              </a:ext>
                            </a:extLst>
                          </a:hlinkClick>
                        </a:rPr>
                        <a:t>/Common/ihscore-sit1-lva71pwbolcc01v-node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Members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Collects the Pool Member records of every pool (Pool field and relationships) with their addresses, and looks each address up on Hardware records, Network Adapters and IP Address records; only a real server counts: in the Hardware tree, not a load balancer device, not an ignored class.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/Common/ihscore-sit1-lva71pwbolcc01v-node 10.143.72.200 -&gt; lva71pwbolcc01v via device record, lva71pwbolcc01v via adapter, lva71pwbolcc01v via IP Address record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14" invalidUrl="" action="" tgtFrame="" tooltip="https://bofasecopsdev.service-now.com/cmdb_ci_hardware_list.do?sysparm_query=ip_address%3D10.143.72.200" history="1" highlightClick="0" endSnd="0">
                            <a:extLst>
                              <a:ext uri="{A12FA001-AC4F-418D-AE19-62706E023703}">
                                <ahyp:hlinkClr xmlns:ahyp="http://schemas.microsoft.com/office/drawing/2018/hyperlinkcolor" val="tx"/>
                              </a:ext>
                            </a:extLst>
                          </a:hlinkClick>
                        </a:rPr>
                        <a:t>Hardware: ip_address=10.143.72.200</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5" invalidUrl="" action="" tgtFrame="" tooltip="https://bofasecopsdev.service-now.com/cmdb_ci_linux_server.do?sys_id=ddcdddf02b462294d50dffbdbe91bf9b" history="1" highlightClick="0" endSnd="0">
                            <a:extLst>
                              <a:ext uri="{A12FA001-AC4F-418D-AE19-62706E023703}">
                                <ahyp:hlinkClr xmlns:ahyp="http://schemas.microsoft.com/office/drawing/2018/hyperlinkcolor" val="tx"/>
                              </a:ext>
                            </a:extLst>
                          </a:hlinkClick>
                        </a:rPr>
                        <a:t>lva71pwbolcc01v</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16" invalidUrl="" action="" tgtFrame="" tooltip="https://bofasecopsdev.service-now.com/cmdb_ci_network_adapter_list.do?sysparm_query=ip_address%3D10.143.72.200" history="1" highlightClick="0" endSnd="0">
                            <a:extLst>
                              <a:ext uri="{A12FA001-AC4F-418D-AE19-62706E023703}">
                                <ahyp:hlinkClr xmlns:ahyp="http://schemas.microsoft.com/office/drawing/2018/hyperlinkcolor" val="tx"/>
                              </a:ext>
                            </a:extLst>
                          </a:hlinkClick>
                        </a:rPr>
                        <a:t>Network Adapter: ip_address=10.143.72.200</a:t>
                      </a:r>
                      <a:pPr indent="0" marL="0">
                        <a:buNone/>
                      </a:pPr>
                      <a:r>
                        <a:rPr lang="en-US" sz="900" dirty="0">
                          <a:solidFill>
                            <a:srgbClr val="6E7279"/>
                          </a:solidFill>
                          <a:latin typeface="Arial" pitchFamily="34" charset="0"/>
                          <a:ea typeface="Arial" pitchFamily="34" charset="-122"/>
                          <a:cs typeface="Arial" pitchFamily="34" charset="-120"/>
                        </a:rPr>
                        <a:t> (2 rows)</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7" invalidUrl="" action="" tgtFrame="" tooltip="https://bofasecopsdev.service-now.com/cmdb_ci_network_adapter.do?sys_id=44f08bf833666a14de49d7c91e5c7bd7" history="1" highlightClick="0" endSnd="0">
                            <a:extLst>
                              <a:ext uri="{A12FA001-AC4F-418D-AE19-62706E023703}">
                                <ahyp:hlinkClr xmlns:ahyp="http://schemas.microsoft.com/office/drawing/2018/hyperlinkcolor" val="tx"/>
                              </a:ext>
                            </a:extLst>
                          </a:hlinkClick>
                        </a:rPr>
                        <a:t>ens192</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8" invalidUrl="" action="" tgtFrame="" tooltip="https://bofasecopsdev.service-now.com/cmdb_ci_linux_server.do?sys_id=ddcdddf02b462294d50dffbdbe91bf9b" history="1" highlightClick="0" endSnd="0">
                            <a:extLst>
                              <a:ext uri="{A12FA001-AC4F-418D-AE19-62706E023703}">
                                <ahyp:hlinkClr xmlns:ahyp="http://schemas.microsoft.com/office/drawing/2018/hyperlinkcolor" val="tx"/>
                              </a:ext>
                            </a:extLst>
                          </a:hlinkClick>
                        </a:rPr>
                        <a:t>lva71pwbolcc01v</a:t>
                      </a:r>
                      <a:pPr indent="0" marL="0">
                        <a:buNone/>
                      </a:pPr>
                      <a:r>
                        <a:rPr lang="en-US" sz="900" dirty="0">
                          <a:solidFill>
                            <a:srgbClr val="6E7279"/>
                          </a:solidFill>
                          <a:latin typeface="Arial" pitchFamily="34" charset="0"/>
                          <a:ea typeface="Arial" pitchFamily="34" charset="-122"/>
                          <a:cs typeface="Arial" pitchFamily="34" charset="-120"/>
                        </a:rPr>
                        <a:t> [linux_server]</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9" invalidUrl="" action="" tgtFrame="" tooltip="https://bofasecopsdev.service-now.com/cmdb_ci_network_adapter.do?sys_id=470cc0012b95b294412af1f7d891bfda" history="1" highlightClick="0" endSnd="0">
                            <a:extLst>
                              <a:ext uri="{A12FA001-AC4F-418D-AE19-62706E023703}">
                                <ahyp:hlinkClr xmlns:ahyp="http://schemas.microsoft.com/office/drawing/2018/hyperlinkcolor" val="tx"/>
                              </a:ext>
                            </a:extLst>
                          </a:hlinkClick>
                        </a:rPr>
                        <a:t>00:50:56:a7:b2:0c</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20" invalidUrl="" action="" tgtFrame="" tooltip="https://bofasecopsdev.service-now.com/cmdb_ci_vmware_instance.do?sys_id=4099884993d1b694205fb5627cba10ca" history="1" highlightClick="0" endSnd="0">
                            <a:extLst>
                              <a:ext uri="{A12FA001-AC4F-418D-AE19-62706E023703}">
                                <ahyp:hlinkClr xmlns:ahyp="http://schemas.microsoft.com/office/drawing/2018/hyperlinkcolor" val="tx"/>
                              </a:ext>
                            </a:extLst>
                          </a:hlinkClick>
                        </a:rPr>
                        <a:t>lva71pwbolcc01v</a:t>
                      </a:r>
                      <a:pPr indent="0" marL="0">
                        <a:buNone/>
                      </a:pPr>
                      <a:r>
                        <a:rPr lang="en-US" sz="900" dirty="0">
                          <a:solidFill>
                            <a:srgbClr val="6E7279"/>
                          </a:solidFill>
                          <a:latin typeface="Arial" pitchFamily="34" charset="0"/>
                          <a:ea typeface="Arial" pitchFamily="34" charset="-122"/>
                          <a:cs typeface="Arial" pitchFamily="34" charset="-120"/>
                        </a:rPr>
                        <a:t> [vmware_instance]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21" invalidUrl="" action="" tgtFrame="" tooltip="https://bofasecopsdev.service-now.com/cmdb_ci_ip_address_list.do?sysparm_query=ip_address%3D10.143.72.200" history="1" highlightClick="0" endSnd="0">
                            <a:extLst>
                              <a:ext uri="{A12FA001-AC4F-418D-AE19-62706E023703}">
                                <ahyp:hlinkClr xmlns:ahyp="http://schemas.microsoft.com/office/drawing/2018/hyperlinkcolor" val="tx"/>
                              </a:ext>
                            </a:extLst>
                          </a:hlinkClick>
                        </a:rPr>
                        <a:t>IP Address: ip_address=10.143.72.200</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22" invalidUrl="" action="" tgtFrame="" tooltip="https://bofasecopsdev.service-now.com/cmdb_ci_ip_address.do?sys_id=fed08bf833666a14de49d7c91e5c7b88" history="1" highlightClick="0" endSnd="0">
                            <a:extLst>
                              <a:ext uri="{A12FA001-AC4F-418D-AE19-62706E023703}">
                                <ahyp:hlinkClr xmlns:ahyp="http://schemas.microsoft.com/office/drawing/2018/hyperlinkcolor" val="tx"/>
                              </a:ext>
                            </a:extLst>
                          </a:hlinkClick>
                        </a:rPr>
                        <a:t>10.143.72.200</a:t>
                      </a:r>
                      <a:pPr indent="0" marL="0">
                        <a:buNone/>
                      </a:pPr>
                      <a:r>
                        <a:rPr lang="en-US" sz="900" dirty="0">
                          <a:solidFill>
                            <a:srgbClr val="6E7279"/>
                          </a:solidFill>
                          <a:latin typeface="Arial" pitchFamily="34" charset="0"/>
                          <a:ea typeface="Arial" pitchFamily="34" charset="-122"/>
                          <a:cs typeface="Arial" pitchFamily="34" charset="-120"/>
                        </a:rPr>
                        <a:t> → adapter </a:t>
                      </a:r>
                      <a:pPr indent="0" marL="0">
                        <a:buNone/>
                      </a:pPr>
                      <a:r>
                        <a:rPr lang="en-US" sz="900" u="sng" dirty="0">
                          <a:solidFill>
                            <a:srgbClr val="012169"/>
                          </a:solidFill>
                          <a:latin typeface="Arial" pitchFamily="34" charset="0"/>
                          <a:ea typeface="Arial" pitchFamily="34" charset="-122"/>
                          <a:cs typeface="Arial" pitchFamily="34" charset="-120"/>
                          <a:hlinkClick r:id="rId23" invalidUrl="" action="" tgtFrame="" tooltip="https://bofasecopsdev.service-now.com/cmdb_ci_network_adapter.do?sys_id=44f08bf833666a14de49d7c91e5c7bd7" history="1" highlightClick="0" endSnd="0">
                            <a:extLst>
                              <a:ext uri="{A12FA001-AC4F-418D-AE19-62706E023703}">
                                <ahyp:hlinkClr xmlns:ahyp="http://schemas.microsoft.com/office/drawing/2018/hyperlinkcolor" val="tx"/>
                              </a:ext>
                            </a:extLst>
                          </a:hlinkClick>
                        </a:rPr>
                        <a:t>ens192</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24" invalidUrl="" action="" tgtFrame="" tooltip="https://bofasecopsdev.service-now.com/cmdb_ci_linux_server.do?sys_id=ddcdddf02b462294d50dffbdbe91bf9b" history="1" highlightClick="0" endSnd="0">
                            <a:extLst>
                              <a:ext uri="{A12FA001-AC4F-418D-AE19-62706E023703}">
                                <ahyp:hlinkClr xmlns:ahyp="http://schemas.microsoft.com/office/drawing/2018/hyperlinkcolor" val="tx"/>
                              </a:ext>
                            </a:extLst>
                          </a:hlinkClick>
                        </a:rPr>
                        <a:t>lva71pwbolcc01v</a:t>
                      </a:r>
                      <a:pPr indent="0" marL="0">
                        <a:buNone/>
                      </a:pPr>
                      <a:r>
                        <a:rPr lang="en-US" sz="900" dirty="0">
                          <a:solidFill>
                            <a:srgbClr val="6E7279"/>
                          </a:solidFill>
                          <a:latin typeface="Arial" pitchFamily="34" charset="0"/>
                          <a:ea typeface="Arial" pitchFamily="34" charset="-122"/>
                          <a:cs typeface="Arial" pitchFamily="34" charset="-120"/>
                        </a:rPr>
                        <a:t> [linux_server]</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25" invalidUrl="" action="" tgtFrame="" tooltip="https://bofasecopsdev.service-now.com/cmdb_rel_ci_list.do?sysparm_query=parent%3D7a381f963bfd2e50489ce5d964e45a84%5EORchild%3D7a381f963bfd2e50489ce5d964e45a84" history="1" highlightClick="0" endSnd="0">
                            <a:extLst>
                              <a:ext uri="{A12FA001-AC4F-418D-AE19-62706E023703}">
                                <ahyp:hlinkClr xmlns:ahyp="http://schemas.microsoft.com/office/drawing/2018/hyperlinkcolor" val="tx"/>
                              </a:ext>
                            </a:extLst>
                          </a:hlinkClick>
                        </a:rPr>
                        <a:t>CI relationship: parent=7a381f963bfd2e50489ce5d964e45a84^ORchild=7a381f963bfd2e50489ce5d964e45a84</a:t>
                      </a:r>
                      <a:pPr indent="0" marL="0">
                        <a:buNone/>
                      </a:pPr>
                      <a:r>
                        <a:rPr lang="en-US" sz="900" dirty="0">
                          <a:solidFill>
                            <a:srgbClr val="6E7279"/>
                          </a:solidFill>
                          <a:latin typeface="Arial" pitchFamily="34" charset="0"/>
                          <a:ea typeface="Arial" pitchFamily="34" charset="-122"/>
                          <a:cs typeface="Arial" pitchFamily="34" charset="-120"/>
                        </a:rPr>
                        <a:t> (0 rows)</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Candidates for member: </a:t>
                      </a:r>
                      <a:pPr indent="0" marL="0">
                        <a:buNone/>
                      </a:pPr>
                      <a:r>
                        <a:rPr lang="en-US" sz="900" u="sng" dirty="0">
                          <a:solidFill>
                            <a:srgbClr val="012169"/>
                          </a:solidFill>
                          <a:latin typeface="Arial" pitchFamily="34" charset="0"/>
                          <a:ea typeface="Arial" pitchFamily="34" charset="-122"/>
                          <a:cs typeface="Arial" pitchFamily="34" charset="-120"/>
                          <a:hlinkClick r:id="rId26" invalidUrl="" action="" tgtFrame="" tooltip="https://bofasecopsdev.service-now.com/cmdb_ci_linux_server.do?sys_id=ddcdddf02b462294d50dffbdbe91bf9b" history="1" highlightClick="0" endSnd="0">
                            <a:extLst>
                              <a:ext uri="{A12FA001-AC4F-418D-AE19-62706E023703}">
                                <ahyp:hlinkClr xmlns:ahyp="http://schemas.microsoft.com/office/drawing/2018/hyperlinkcolor" val="tx"/>
                              </a:ext>
                            </a:extLst>
                          </a:hlinkClick>
                        </a:rPr>
                        <a:t>lva71pwbolcc01v</a:t>
                      </a:r>
                      <a:pPr indent="0" marL="0">
                        <a:buNone/>
                      </a:pPr>
                      <a:r>
                        <a:rPr lang="en-US" sz="900" dirty="0">
                          <a:solidFill>
                            <a:srgbClr val="6E7279"/>
                          </a:solidFill>
                          <a:latin typeface="Arial" pitchFamily="34" charset="0"/>
                          <a:ea typeface="Arial" pitchFamily="34" charset="-122"/>
                          <a:cs typeface="Arial" pitchFamily="34" charset="-120"/>
                        </a:rPr>
                        <a:t> via device record, real server</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27" invalidUrl="" action="" tgtFrame="" tooltip="https://bofasecopsdev.service-now.com/cmdb_ci_linux_server.do?sys_id=ddcdddf02b462294d50dffbdbe91bf9b" history="1" highlightClick="0" endSnd="0">
                            <a:extLst>
                              <a:ext uri="{A12FA001-AC4F-418D-AE19-62706E023703}">
                                <ahyp:hlinkClr xmlns:ahyp="http://schemas.microsoft.com/office/drawing/2018/hyperlinkcolor" val="tx"/>
                              </a:ext>
                            </a:extLst>
                          </a:hlinkClick>
                        </a:rPr>
                        <a:t>lva71pwbolcc01v</a:t>
                      </a:r>
                      <a:pPr indent="0" marL="0">
                        <a:buNone/>
                      </a:pPr>
                      <a:r>
                        <a:rPr lang="en-US" sz="900" dirty="0">
                          <a:solidFill>
                            <a:srgbClr val="6E7279"/>
                          </a:solidFill>
                          <a:latin typeface="Arial" pitchFamily="34" charset="0"/>
                          <a:ea typeface="Arial" pitchFamily="34" charset="-122"/>
                          <a:cs typeface="Arial" pitchFamily="34" charset="-120"/>
                        </a:rPr>
                        <a:t> via adapter, real server</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28" invalidUrl="" action="" tgtFrame="" tooltip="https://bofasecopsdev.service-now.com/cmdb_ci_vmware_instance.do?sys_id=4099884993d1b694205fb5627cba10ca" history="1" highlightClick="0" endSnd="0">
                            <a:extLst>
                              <a:ext uri="{A12FA001-AC4F-418D-AE19-62706E023703}">
                                <ahyp:hlinkClr xmlns:ahyp="http://schemas.microsoft.com/office/drawing/2018/hyperlinkcolor" val="tx"/>
                              </a:ext>
                            </a:extLst>
                          </a:hlinkClick>
                        </a:rPr>
                        <a:t>lva71pwbolcc01v</a:t>
                      </a:r>
                      <a:pPr indent="0" marL="0">
                        <a:buNone/>
                      </a:pPr>
                      <a:r>
                        <a:rPr lang="en-US" sz="900" dirty="0">
                          <a:solidFill>
                            <a:srgbClr val="6E7279"/>
                          </a:solidFill>
                          <a:latin typeface="Arial" pitchFamily="34" charset="0"/>
                          <a:ea typeface="Arial" pitchFamily="34" charset="-122"/>
                          <a:cs typeface="Arial" pitchFamily="34" charset="-120"/>
                        </a:rPr>
                        <a:t> via adapter, not in the Hardware tree</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29" invalidUrl="" action="" tgtFrame="" tooltip="https://bofasecopsdev.service-now.com/cmdb_ci_linux_server.do?sys_id=ddcdddf02b462294d50dffbdbe91bf9b" history="1" highlightClick="0" endSnd="0">
                            <a:extLst>
                              <a:ext uri="{A12FA001-AC4F-418D-AE19-62706E023703}">
                                <ahyp:hlinkClr xmlns:ahyp="http://schemas.microsoft.com/office/drawing/2018/hyperlinkcolor" val="tx"/>
                              </a:ext>
                            </a:extLst>
                          </a:hlinkClick>
                        </a:rPr>
                        <a:t>lva71pwbolcc01v</a:t>
                      </a:r>
                      <a:pPr indent="0" marL="0">
                        <a:buNone/>
                      </a:pPr>
                      <a:r>
                        <a:rPr lang="en-US" sz="900" dirty="0">
                          <a:solidFill>
                            <a:srgbClr val="6E7279"/>
                          </a:solidFill>
                          <a:latin typeface="Arial" pitchFamily="34" charset="0"/>
                          <a:ea typeface="Arial" pitchFamily="34" charset="-122"/>
                          <a:cs typeface="Arial" pitchFamily="34" charset="-120"/>
                        </a:rPr>
                        <a:t> via IP Address record, real server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Decision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Counts the distinct machines behind the virtual server (server records grouped by name): one machine with one live record is returned; a member the CMDB cannot place, two machines or two live records decline.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member(s), 1 server record(s), 1 machine(s) by name; one machine, one record: the member rule returns it</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Distinct servers: </a:t>
                      </a:r>
                      <a:pPr indent="0" marL="0">
                        <a:buNone/>
                      </a:pPr>
                      <a:r>
                        <a:rPr lang="en-US" sz="900" u="sng" dirty="0">
                          <a:solidFill>
                            <a:srgbClr val="012169"/>
                          </a:solidFill>
                          <a:latin typeface="Arial" pitchFamily="34" charset="0"/>
                          <a:ea typeface="Arial" pitchFamily="34" charset="-122"/>
                          <a:cs typeface="Arial" pitchFamily="34" charset="-120"/>
                          <a:hlinkClick r:id="rId30" invalidUrl="" action="" tgtFrame="" tooltip="https://bofasecopsdev.service-now.com/cmdb_ci_linux_server.do?sys_id=ddcdddf02b462294d50dffbdbe91bf9b" history="1" highlightClick="0" endSnd="0">
                            <a:extLst>
                              <a:ext uri="{A12FA001-AC4F-418D-AE19-62706E023703}">
                                <ahyp:hlinkClr xmlns:ahyp="http://schemas.microsoft.com/office/drawing/2018/hyperlinkcolor" val="tx"/>
                              </a:ext>
                            </a:extLst>
                          </a:hlinkClick>
                        </a:rPr>
                        <a:t>lva71pwbolcc01v</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147</a:t>
            </a:fld>
            <a:endParaRPr lang="en-US"/>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460  ·  CONTROLLERS, INTERFACES, VIRTUAL SERVERS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Load Balancer Service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935480"/>
          </a:xfrm>
          <a:prstGeom prst="roundRect">
            <a:avLst>
              <a:gd name="adj" fmla="val 28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6062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2954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Load Balancer Service CI that models the virtual IP: a VIP is not the balancer device, which the hardware rules refuse on purpose, so the host is attached to the service record found by fqdn, then name, then address.</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runs on the IP field so VIPs without a DNS name are covered, after USEM Load Balancer Member Match so a real server is preferred, and before the IP address rules.</a:t>
            </a:r>
            <a:endParaRPr lang="en-US" sz="1500" dirty="0"/>
          </a:p>
        </p:txBody>
      </p:sp>
      <p:sp>
        <p:nvSpPr>
          <p:cNvPr id="13" name="Shape 11"/>
          <p:cNvSpPr/>
          <p:nvPr/>
        </p:nvSpPr>
        <p:spPr>
          <a:xfrm>
            <a:off x="502920" y="3608832"/>
            <a:ext cx="6933529" cy="2286000"/>
          </a:xfrm>
          <a:prstGeom prst="roundRect">
            <a:avLst>
              <a:gd name="adj" fmla="val 24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7917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066032"/>
            <a:ext cx="457200" cy="0"/>
          </a:xfrm>
          <a:prstGeom prst="line">
            <a:avLst/>
          </a:prstGeom>
          <a:noFill/>
          <a:ln w="19050">
            <a:solidFill>
              <a:srgbClr val="E31837"/>
            </a:solidFill>
            <a:prstDash val="solid"/>
          </a:ln>
        </p:spPr>
      </p:sp>
      <p:sp>
        <p:nvSpPr>
          <p:cNvPr id="16" name="Text 14"/>
          <p:cNvSpPr txBox="1"/>
          <p:nvPr/>
        </p:nvSpPr>
        <p:spPr>
          <a:xfrm>
            <a:off x="822960" y="4157472"/>
            <a:ext cx="6293449" cy="15544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IP (sourceValue); payload fields DNS and OS from sourcePayload; the framework variable _ignoreClass when it is passed, else the property sn_sec_cmn.ignoreCIClass.</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one cmdb_ci_lb_service record left after narrowing by scanned address and then by live status; otherwise null.</a:t>
            </a:r>
            <a:endParaRPr lang="en-US" sz="1400" dirty="0"/>
          </a:p>
        </p:txBody>
      </p:sp>
      <p:sp>
        <p:nvSpPr>
          <p:cNvPr id="17" name="Shape 15"/>
          <p:cNvSpPr/>
          <p:nvPr/>
        </p:nvSpPr>
        <p:spPr>
          <a:xfrm>
            <a:off x="7665049" y="3608832"/>
            <a:ext cx="4020983" cy="2286000"/>
          </a:xfrm>
          <a:prstGeom prst="roundRect">
            <a:avLst>
              <a:gd name="adj" fmla="val 240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7917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066032"/>
            <a:ext cx="457200" cy="0"/>
          </a:xfrm>
          <a:prstGeom prst="line">
            <a:avLst/>
          </a:prstGeom>
          <a:noFill/>
          <a:ln w="19050">
            <a:solidFill>
              <a:srgbClr val="E31837"/>
            </a:solidFill>
            <a:prstDash val="solid"/>
          </a:ln>
        </p:spPr>
      </p:sp>
      <p:sp>
        <p:nvSpPr>
          <p:cNvPr id="20" name="Text 18"/>
          <p:cNvSpPr txBox="1"/>
          <p:nvPr/>
        </p:nvSpPr>
        <p:spPr>
          <a:xfrm>
            <a:off x="7985089" y="4157472"/>
            <a:ext cx="3380903" cy="54864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100" dirty="0">
                <a:solidFill>
                  <a:srgbClr val="4D4F53"/>
                </a:solidFill>
                <a:latin typeface="Arial" pitchFamily="34" charset="0"/>
                <a:ea typeface="Arial" pitchFamily="34" charset="-122"/>
                <a:cs typeface="Arial" pitchFamily="34" charset="-120"/>
              </a:rPr>
              <a:t>Load Balancer Member Match</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100" dirty="0">
                <a:solidFill>
                  <a:srgbClr val="4D4F53"/>
                </a:solidFill>
                <a:latin typeface="Arial" pitchFamily="34" charset="0"/>
                <a:ea typeface="Arial" pitchFamily="34" charset="-122"/>
                <a:cs typeface="Arial" pitchFamily="34" charset="-120"/>
              </a:rPr>
              <a:t>IP Class Match</a:t>
            </a:r>
            <a:endParaRPr lang="en-US" sz="1100" dirty="0"/>
          </a:p>
        </p:txBody>
      </p:sp>
      <p:sp>
        <p:nvSpPr>
          <p:cNvPr id="21" name="Text 19"/>
          <p:cNvSpPr txBox="1"/>
          <p:nvPr/>
        </p:nvSpPr>
        <p:spPr>
          <a:xfrm>
            <a:off x="7985089" y="47975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634</a:t>
            </a:r>
            <a:endParaRPr lang="en-US" sz="2800" dirty="0"/>
          </a:p>
        </p:txBody>
      </p:sp>
      <p:sp>
        <p:nvSpPr>
          <p:cNvPr id="22" name="Text 20"/>
          <p:cNvSpPr txBox="1"/>
          <p:nvPr/>
        </p:nvSpPr>
        <p:spPr>
          <a:xfrm>
            <a:off x="7985089" y="53644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148</a:t>
            </a:fld>
            <a:endParaRPr lang="en-US"/>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460  ·  CONTROLLERS, INTERFACES, VIRTUAL SERVERS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Load Balancer Service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602480"/>
          </a:xfrm>
          <a:prstGeom prst="roundRect">
            <a:avLst>
              <a:gd name="adj" fmla="val 119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0538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1   Address guard and normalisation.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Null when sourceValue is empty. The IP is coerced to a string and trimmed; empty, or starting with "127." or "169.254.", returns null. DNS is trimmed and lower-cased, the label is the text before the first ".", OS is lower-cased without trimming.</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2   Ignore list.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The ignore classes come from the framework variable _ignoreClass when defined and non-empty, else from gs.getProperty('sn_sec_cmn.ignoreCIClass', ''); when non-empty it is added as sys_class_name NOT IN on every cmdb_ci_lb_service query.</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3   VIP sign.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Goes on only when the lower-cased OS contains 'f5', 'big-ip', 'big ip' or 'netscaler', or a hyphen segment of the label equals 'vip' or 'vs', is that word plus digits only, or (words of 3+ letters, so 'vip') ends in the word. Otherwise null.</a:t>
            </a:r>
            <a:endParaRPr lang="en-US" sz="1500" dirty="0"/>
          </a:p>
        </p:txBody>
      </p:sp>
      <p:sp>
        <p:nvSpPr>
          <p:cNvPr id="10" name="Text 8"/>
          <p:cNvSpPr txBox="1"/>
          <p:nvPr/>
        </p:nvSpPr>
        <p:spPr>
          <a:xfrm>
            <a:off x="6277356" y="1746504"/>
            <a:ext cx="5088636" cy="40538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4   Four search steps in cmdb_ci_lb_service.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In order: fqdn = dns, name = dns, name = label, ip_address = ip, with sys_class_name NOT IN the ignore list when non-empty. An empty search value skips its step; a step with no rows hands over to the next; an invalid cmdb_ci_lb_service table returns null.</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5   Narrowing the rows of a step.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Rows are read with next(); names (trimmed, lower-cased) are collected before narrowing; two distinct names return null. Rows narrow to those with ip_address equal to the scanned IP, then, if more than one remains, to the live ones; more than one left is null.</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6   Result.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The single row left in the first step that found anything is returned as its sys_id. When all four steps find nothing the rule returns null and the host passes to the IP address rules.</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149</a:t>
            </a:fld>
            <a:endParaRPr lang="en-US"/>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460  ·  CONTROLLERS, INTERFACES, VIRTUAL SERVERS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Load Balancer Service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520440"/>
          </a:xfrm>
          <a:prstGeom prst="roundRect">
            <a:avLst>
              <a:gd name="adj" fmla="val 1558"/>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31912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8803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 or the trimmed IP is empty or starts with "127." or "169.254."</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VIP sign: the OS contains none of 'f5', 'big-ip', 'big ip', 'netscaler' and no hyphen segment of the DNS label is a 'vip' or 'vs' marker</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Cmdb_ci_lb_service is not a valid table on the instance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A search step returns cmdb_ci_lb_service records with two or more distinct names (trimmed, lower-cased)</a:t>
            </a:r>
            <a:endParaRPr lang="en-US" sz="1500" dirty="0"/>
          </a:p>
        </p:txBody>
      </p:sp>
      <p:sp>
        <p:nvSpPr>
          <p:cNvPr id="13" name="Text 11"/>
          <p:cNvSpPr txBox="1"/>
          <p:nvPr/>
        </p:nvSpPr>
        <p:spPr>
          <a:xfrm>
            <a:off x="6277356" y="1975104"/>
            <a:ext cx="5088636" cy="28803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More than one record of the one virtual server survives narrowing by scanned address and then by live status (both devices of a pair live)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None of the four steps (fqdn = dns, name = dns, name = label, ip_address = ip) finds a cmdb_ci_lb_service record outside the ignore classes</a:t>
            </a:r>
            <a:endParaRPr lang="en-US" sz="1500" dirty="0"/>
          </a:p>
        </p:txBody>
      </p:sp>
      <p:sp>
        <p:nvSpPr>
          <p:cNvPr id="14" name="Shape 12"/>
          <p:cNvSpPr/>
          <p:nvPr/>
        </p:nvSpPr>
        <p:spPr>
          <a:xfrm>
            <a:off x="502920" y="51937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51937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IP Class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150</a:t>
            </a:fld>
            <a:endParaRPr lang="en-US"/>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460  ·  LOAD BALANCER SERVICE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olmerrillweb-review1-l7-vip1.gwimnp.rpg</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ip_address / one record</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876044"/>
          </a:xfrm>
          <a:prstGeom prst="roundRect">
            <a:avLst>
              <a:gd name="adj" fmla="val 292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363980"/>
          </a:xfrm>
          <a:prstGeom prst="rect">
            <a:avLst/>
          </a:prstGeom>
          <a:noFill/>
          <a:ln/>
        </p:spPr>
        <p:txBody>
          <a:bodyPr wrap="square" lIns="0" tIns="0" rIns="0" bIns="0" rtlCol="0" anchor="t"/>
          <a:lstStyle/>
          <a:p>
            <a:pPr indent="0" marL="0">
              <a:lnSpc>
                <a:spcPct val="100000"/>
              </a:lnSpc>
              <a:buNone/>
            </a:pPr>
            <a:r>
              <a:rPr lang="en-US" sz="105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050" dirty="0">
                <a:solidFill>
                  <a:srgbClr val="4D4F53"/>
                </a:solidFill>
                <a:latin typeface="Arial" pitchFamily="34" charset="0"/>
                <a:ea typeface="Arial" pitchFamily="34" charset="-122"/>
                <a:cs typeface="Arial" pitchFamily="34" charset="-120"/>
              </a:rPr>
              <a:t>serial (no serial reported)  ·  phone MAC (label "olmerrillweb-review1-l7-vip1" is not sep + 12 hex)  ·  controller (no controller suffix or OS word)  ·  interface (no interface domain or marker)</a:t>
            </a:r>
            <a:endParaRPr lang="en-US" sz="1050" dirty="0"/>
          </a:p>
          <a:p>
            <a:pPr indent="0" marL="0">
              <a:lnSpc>
                <a:spcPct val="100000"/>
              </a:lnSpc>
              <a:buNone/>
            </a:pPr>
            <a:r>
              <a:rPr lang="en-US" sz="105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050" dirty="0">
                <a:solidFill>
                  <a:srgbClr val="4D4F53"/>
                </a:solidFill>
                <a:latin typeface="Arial" pitchFamily="34" charset="0"/>
                <a:ea typeface="Arial" pitchFamily="34" charset="-122"/>
                <a:cs typeface="Arial" pitchFamily="34" charset="-120"/>
              </a:rPr>
              <a:t>FQDN (OS "F5 Networks Big-IP" gives no class / no record in the hardware tree carries the fqdn)  ·  name + domain (OS "F5 Networks Big-IP" gives no class / no record named "olmerrillweb-review1-l7-vip1")  ·  layered DNS (no DNS Name record for "olmerrillweb-review1-l7-vip1.gwimnp.rpg")  ·  host name (OS "F5 Networks Big-IP" gives no class / no record in the hardware tree named "olmerrillweb-review1-l7-vip1")  ·  device name (none named "olmerrillweb-review1-l7-vip1" in IP Phone or Imaging Hardware)  ·  whole-fqdn name (no record in the hardware tree named "olmerrillweb-review1-l7-vip1.gwimnp.rpg")</a:t>
            </a:r>
            <a:endParaRPr lang="en-US" sz="1050" dirty="0"/>
          </a:p>
          <a:p>
            <a:pPr indent="0" marL="0">
              <a:lnSpc>
                <a:spcPct val="100000"/>
              </a:lnSpc>
              <a:buNone/>
            </a:pPr>
            <a:r>
              <a:rPr lang="en-US" sz="105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050" dirty="0">
                <a:solidFill>
                  <a:srgbClr val="4D4F53"/>
                </a:solidFill>
                <a:latin typeface="Arial" pitchFamily="34" charset="0"/>
                <a:ea typeface="Arial" pitchFamily="34" charset="-122"/>
                <a:cs typeface="Arial" pitchFamily="34" charset="-120"/>
              </a:rPr>
              <a:t>member (Members: none: the member rule declines)</a:t>
            </a:r>
            <a:endParaRPr lang="en-US" sz="1050" dirty="0"/>
          </a:p>
        </p:txBody>
      </p:sp>
      <p:sp>
        <p:nvSpPr>
          <p:cNvPr id="12" name="Shape 10"/>
          <p:cNvSpPr/>
          <p:nvPr/>
        </p:nvSpPr>
        <p:spPr>
          <a:xfrm>
            <a:off x="502920" y="3467100"/>
            <a:ext cx="2788920" cy="29337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6225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896868"/>
            <a:ext cx="457200" cy="0"/>
          </a:xfrm>
          <a:prstGeom prst="line">
            <a:avLst/>
          </a:prstGeom>
          <a:noFill/>
          <a:ln w="19050">
            <a:solidFill>
              <a:srgbClr val="E31837"/>
            </a:solidFill>
            <a:prstDash val="solid"/>
          </a:ln>
        </p:spPr>
      </p:sp>
      <p:sp>
        <p:nvSpPr>
          <p:cNvPr id="15" name="Text 13"/>
          <p:cNvSpPr txBox="1"/>
          <p:nvPr/>
        </p:nvSpPr>
        <p:spPr>
          <a:xfrm>
            <a:off x="740664" y="39425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SDI000003055580</a:t>
            </a:r>
            <a:endParaRPr lang="en-US" sz="1500" dirty="0"/>
          </a:p>
        </p:txBody>
      </p:sp>
      <p:sp>
        <p:nvSpPr>
          <p:cNvPr id="16" name="Text 14"/>
          <p:cNvSpPr txBox="1"/>
          <p:nvPr/>
        </p:nvSpPr>
        <p:spPr>
          <a:xfrm>
            <a:off x="740664" y="4308348"/>
            <a:ext cx="2313432" cy="137922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olmerrillweb-review1-l7-vip1.gwimnp.rpg</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10.143.52.113</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F5 Networks Big-IP</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IP</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2026-09-20 11:16:34</a:t>
            </a:r>
            <a:endParaRPr lang="en-US" sz="1000" dirty="0"/>
          </a:p>
        </p:txBody>
      </p:sp>
      <p:sp>
        <p:nvSpPr>
          <p:cNvPr id="17" name="Text 15">
            <a:hlinkClick r:id="rId1" tooltip="https://bofasecopsdev.service-now.com/sn_sec_cmn_src_ci_list.do?sysparm_query=number=SDI000003055580"/>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5558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467100"/>
            <a:ext cx="4745736" cy="2933700"/>
          </a:xfrm>
          <a:prstGeom prst="roundRect">
            <a:avLst>
              <a:gd name="adj" fmla="val 187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6225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896868"/>
            <a:ext cx="457200" cy="0"/>
          </a:xfrm>
          <a:prstGeom prst="line">
            <a:avLst/>
          </a:prstGeom>
          <a:noFill/>
          <a:ln w="19050">
            <a:solidFill>
              <a:srgbClr val="E31837"/>
            </a:solidFill>
            <a:prstDash val="solid"/>
          </a:ln>
        </p:spPr>
      </p:sp>
      <p:sp>
        <p:nvSpPr>
          <p:cNvPr id="21" name="Text 19"/>
          <p:cNvSpPr txBox="1"/>
          <p:nvPr/>
        </p:nvSpPr>
        <p:spPr>
          <a:xfrm>
            <a:off x="3749040" y="3970020"/>
            <a:ext cx="4233672" cy="22753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VIP sign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OS has "f5", OS has "big-ip", label segment "vip1"</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Clues fqdn, name,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no service record; next clue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Clue 4: ip_address = "10.143.52.113"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service record: /Common/ait74300-review1-origin_mymerrill_cdn-6001-vip on 10.143.52.113 (svedpz1rp2lb10)</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4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one live virtual server record left, attached (the pool is not read)</a:t>
            </a:r>
            <a:endParaRPr lang="en-US" sz="1300" dirty="0"/>
          </a:p>
        </p:txBody>
      </p:sp>
      <p:sp>
        <p:nvSpPr>
          <p:cNvPr id="22" name="Shape 20"/>
          <p:cNvSpPr/>
          <p:nvPr/>
        </p:nvSpPr>
        <p:spPr>
          <a:xfrm>
            <a:off x="8439912" y="3467100"/>
            <a:ext cx="3246120" cy="2933700"/>
          </a:xfrm>
          <a:prstGeom prst="roundRect">
            <a:avLst>
              <a:gd name="adj" fmla="val 187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631692"/>
            <a:ext cx="64008" cy="2604516"/>
          </a:xfrm>
          <a:prstGeom prst="rect">
            <a:avLst/>
          </a:prstGeom>
          <a:solidFill>
            <a:srgbClr val="E31837"/>
          </a:solidFill>
          <a:ln w="12700">
            <a:solidFill>
              <a:srgbClr val="333333"/>
            </a:solidFill>
            <a:prstDash val="solid"/>
          </a:ln>
        </p:spPr>
      </p:sp>
      <p:sp>
        <p:nvSpPr>
          <p:cNvPr id="24" name="Text 22"/>
          <p:cNvSpPr txBox="1"/>
          <p:nvPr/>
        </p:nvSpPr>
        <p:spPr>
          <a:xfrm>
            <a:off x="8714232" y="36225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896868"/>
            <a:ext cx="457200" cy="0"/>
          </a:xfrm>
          <a:prstGeom prst="line">
            <a:avLst/>
          </a:prstGeom>
          <a:noFill/>
          <a:ln w="19050">
            <a:solidFill>
              <a:srgbClr val="E31837"/>
            </a:solidFill>
            <a:prstDash val="solid"/>
          </a:ln>
        </p:spPr>
      </p:sp>
      <p:sp>
        <p:nvSpPr>
          <p:cNvPr id="26" name="Text 24"/>
          <p:cNvSpPr txBox="1"/>
          <p:nvPr/>
        </p:nvSpPr>
        <p:spPr>
          <a:xfrm>
            <a:off x="8714232" y="3942588"/>
            <a:ext cx="2715768" cy="371856"/>
          </a:xfrm>
          <a:prstGeom prst="rect">
            <a:avLst/>
          </a:prstGeom>
          <a:noFill/>
          <a:ln/>
        </p:spPr>
        <p:txBody>
          <a:bodyPr wrap="square" lIns="0" tIns="0" rIns="0" bIns="0" rtlCol="0" anchor="t"/>
          <a:lstStyle/>
          <a:p>
            <a:pPr indent="0" marL="0">
              <a:buNone/>
            </a:pPr>
            <a:r>
              <a:rPr lang="en-US" sz="1100" b="1" dirty="0">
                <a:solidFill>
                  <a:srgbClr val="012169"/>
                </a:solidFill>
                <a:latin typeface="Arial" pitchFamily="34" charset="0"/>
                <a:ea typeface="Arial" pitchFamily="34" charset="-122"/>
                <a:cs typeface="Arial" pitchFamily="34" charset="-120"/>
              </a:rPr>
              <a:t>/Common/ait74300-review1-origin_mymerrill_cdn-6001-vip</a:t>
            </a:r>
            <a:endParaRPr lang="en-US" sz="1100" dirty="0"/>
          </a:p>
        </p:txBody>
      </p:sp>
      <p:sp>
        <p:nvSpPr>
          <p:cNvPr id="27" name="Text 25"/>
          <p:cNvSpPr txBox="1"/>
          <p:nvPr/>
        </p:nvSpPr>
        <p:spPr>
          <a:xfrm>
            <a:off x="8714232" y="4341876"/>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Load Balancer Service</a:t>
            </a:r>
            <a:endParaRPr lang="en-US" sz="1100" dirty="0"/>
          </a:p>
        </p:txBody>
      </p:sp>
      <p:sp>
        <p:nvSpPr>
          <p:cNvPr id="28" name="Text 26"/>
          <p:cNvSpPr txBox="1"/>
          <p:nvPr/>
        </p:nvSpPr>
        <p:spPr>
          <a:xfrm>
            <a:off x="8714232" y="4661916"/>
            <a:ext cx="2715768" cy="1025652"/>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10.143.52.113</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Load balancer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svedpz1rp2lb10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Non-Operational</a:t>
            </a:r>
            <a:endParaRPr lang="en-US" sz="1200" dirty="0"/>
          </a:p>
        </p:txBody>
      </p:sp>
      <p:sp>
        <p:nvSpPr>
          <p:cNvPr id="29" name="Text 27">
            <a:hlinkClick r:id="rId2" tooltip="https://bofasecopsdev.service-now.com/cmdb_ci_lb_service.do?sys_id=84466888930e0b50205fb5627cba107c"/>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_service.do?sys_id=84466888930e0b50205fb5627cba107c"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151</a:t>
            </a:fld>
            <a:endParaRPr lang="en-US"/>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460  ·  LOAD BALANCER SERVICE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olmerrillweb-review1-l7-vip1.gwimnp.rpg</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28ad5e36933283949110fe584dba108d" history="1" highlightClick="0" endSnd="0">
                  <a:extLst>
                    <a:ext uri="{A12FA001-AC4F-418D-AE19-62706E023703}">
                      <ahyp:hlinkClr xmlns:ahyp="http://schemas.microsoft.com/office/drawing/2018/hyperlinkcolor" val="tx"/>
                    </a:ext>
                  </a:extLst>
                </a:hlinkClick>
              </a:rPr>
              <a:t>SDI000003055580</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24a593dc2b534350e76ff4bc4e91bfb5" history="1" highlightClick="0" endSnd="0">
                  <a:extLst>
                    <a:ext uri="{A12FA001-AC4F-418D-AE19-62706E023703}">
                      <ahyp:hlinkClr xmlns:ahyp="http://schemas.microsoft.com/office/drawing/2018/hyperlinkcolor" val="tx"/>
                    </a:ext>
                  </a:extLst>
                </a:hlinkClick>
              </a:rPr>
              <a:t>BOFA Load Balancer Service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lb_service.do?sys_id=84466888930e0b50205fb5627cba107c" history="1" highlightClick="0" endSnd="0">
                  <a:extLst>
                    <a:ext uri="{A12FA001-AC4F-418D-AE19-62706E023703}">
                      <ahyp:hlinkClr xmlns:ahyp="http://schemas.microsoft.com/office/drawing/2018/hyperlinkcolor" val="tx"/>
                    </a:ext>
                  </a:extLst>
                </a:hlinkClick>
              </a:rPr>
              <a:t>/Common/ait74300-review1-origin_mymerrill_cdn-6001-vip</a:t>
            </a:r>
            <a:endParaRPr lang="en-US" sz="1000" dirty="0"/>
          </a:p>
        </p:txBody>
      </p:sp>
      <p:graphicFrame>
        <p:nvGraphicFramePr>
          <p:cNvPr id="153"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VIP sign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The OS text is searched for f5, big-ip, big ip and netscaler, and the label segments for vip or vs (the word, the word plus digits, or a longer word ending in it); without a sign the rule returns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OS has "f5", OS has "big-ip", label segment "vip1"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1: fqdn = "olmerrillweb-review1-l7-vip1.gwimnp.rpg"</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fqdn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no service record; next clue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lb_service_list.do?sysparm_query=fqdn%3Dolmerrillweb-review1-l7-vip1.gwimnp.rpg" history="1" highlightClick="0" endSnd="0">
                            <a:extLst>
                              <a:ext uri="{A12FA001-AC4F-418D-AE19-62706E023703}">
                                <ahyp:hlinkClr xmlns:ahyp="http://schemas.microsoft.com/office/drawing/2018/hyperlinkcolor" val="tx"/>
                              </a:ext>
                            </a:extLst>
                          </a:hlinkClick>
                        </a:rPr>
                        <a:t>Load Balancer Service: fqdn=olmerrillweb-review1-l7-vip1.gwimnp.rpg</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2: name = "olmerrillweb-review1-l7-vip1.gwimnp.rpg"</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name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no service record; next clue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lb_service_list.do?sysparm_query=name%3Dolmerrillweb-review1-l7-vip1.gwimnp.rpg" history="1" highlightClick="0" endSnd="0">
                            <a:extLst>
                              <a:ext uri="{A12FA001-AC4F-418D-AE19-62706E023703}">
                                <ahyp:hlinkClr xmlns:ahyp="http://schemas.microsoft.com/office/drawing/2018/hyperlinkcolor" val="tx"/>
                              </a:ext>
                            </a:extLst>
                          </a:hlinkClick>
                        </a:rPr>
                        <a:t>Load Balancer Service: name=olmerrillweb-review1-l7-vip1.gwimnp.rpg</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3: name = "olmerrillweb-review1-l7-vip1"</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name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no service record; next clue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lb_service_list.do?sysparm_query=name%3Dolmerrillweb-review1-l7-vip1" history="1" highlightClick="0" endSnd="0">
                            <a:extLst>
                              <a:ext uri="{A12FA001-AC4F-418D-AE19-62706E023703}">
                                <ahyp:hlinkClr xmlns:ahyp="http://schemas.microsoft.com/office/drawing/2018/hyperlinkcolor" val="tx"/>
                              </a:ext>
                            </a:extLst>
                          </a:hlinkClick>
                        </a:rPr>
                        <a:t>Load Balancer Service: name=olmerrillweb-review1-l7-vip1</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4: ip_address = "10.143.52.113"</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ip_address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service record: /Common/ait74300-review1-origin_mymerrill_cdn-6001-vip on 10.143.52.113 (svedpz1rp2lb10)</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8" invalidUrl="" action="" tgtFrame="" tooltip="https://bofasecopsdev.service-now.com/cmdb_ci_lb_service_list.do?sysparm_query=ip_address%3D10.143.52.113" history="1" highlightClick="0" endSnd="0">
                            <a:extLst>
                              <a:ext uri="{A12FA001-AC4F-418D-AE19-62706E023703}">
                                <ahyp:hlinkClr xmlns:ahyp="http://schemas.microsoft.com/office/drawing/2018/hyperlinkcolor" val="tx"/>
                              </a:ext>
                            </a:extLst>
                          </a:hlinkClick>
                        </a:rPr>
                        <a:t>Load Balancer Service: ip_address=10.143.52.113</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9" invalidUrl="" action="" tgtFrame="" tooltip="https://bofasecopsdev.service-now.com/cmdb_ci_lb_service.do?sys_id=84466888930e0b50205fb5627cba107c" history="1" highlightClick="0" endSnd="0">
                            <a:extLst>
                              <a:ext uri="{A12FA001-AC4F-418D-AE19-62706E023703}">
                                <ahyp:hlinkClr xmlns:ahyp="http://schemas.microsoft.com/office/drawing/2018/hyperlinkcolor" val="tx"/>
                              </a:ext>
                            </a:extLst>
                          </a:hlinkClick>
                        </a:rPr>
                        <a:t>/Common/ait74300-review1-origin_mymerrill_cdn-6001-vip</a:t>
                      </a:r>
                      <a:pPr indent="0" marL="0">
                        <a:buNone/>
                      </a:pPr>
                      <a:r>
                        <a:rPr lang="en-US" sz="900" dirty="0">
                          <a:solidFill>
                            <a:srgbClr val="6E7279"/>
                          </a:solidFill>
                          <a:latin typeface="Arial" pitchFamily="34" charset="0"/>
                          <a:ea typeface="Arial" pitchFamily="34" charset="-122"/>
                          <a:cs typeface="Arial" pitchFamily="34" charset="-120"/>
                        </a:rPr>
                        <a:t> → pool </a:t>
                      </a:r>
                      <a:pPr indent="0" marL="0">
                        <a:buNone/>
                      </a:pPr>
                      <a:r>
                        <a:rPr lang="en-US" sz="900" u="sng" dirty="0">
                          <a:solidFill>
                            <a:srgbClr val="012169"/>
                          </a:solidFill>
                          <a:latin typeface="Arial" pitchFamily="34" charset="0"/>
                          <a:ea typeface="Arial" pitchFamily="34" charset="-122"/>
                          <a:cs typeface="Arial" pitchFamily="34" charset="-120"/>
                          <a:hlinkClick r:id="rId10" invalidUrl="" action="" tgtFrame="" tooltip="https://bofasecopsdev.service-now.com/cmdb_ci_lb_pool.do?sys_id=88466888930e0b50205fb5627cba107b" history="1" highlightClick="0" endSnd="0">
                            <a:extLst>
                              <a:ext uri="{A12FA001-AC4F-418D-AE19-62706E023703}">
                                <ahyp:hlinkClr xmlns:ahyp="http://schemas.microsoft.com/office/drawing/2018/hyperlinkcolor" val="tx"/>
                              </a:ext>
                            </a:extLst>
                          </a:hlinkClick>
                        </a:rPr>
                        <a:t>/Common/gpconline-review1-olui2-20460-pool</a:t>
                      </a:r>
                      <a:pPr indent="0" marL="0">
                        <a:buNone/>
                      </a:pPr>
                      <a:r>
                        <a:rPr lang="en-US" sz="900" dirty="0">
                          <a:solidFill>
                            <a:srgbClr val="6E7279"/>
                          </a:solidFill>
                          <a:latin typeface="Arial" pitchFamily="34" charset="0"/>
                          <a:ea typeface="Arial" pitchFamily="34" charset="-122"/>
                          <a:cs typeface="Arial" pitchFamily="34" charset="-120"/>
                        </a:rPr>
                        <a:t> on balancer </a:t>
                      </a:r>
                      <a:pPr indent="0" marL="0">
                        <a:buNone/>
                      </a:pPr>
                      <a:r>
                        <a:rPr lang="en-US" sz="900" u="sng" dirty="0">
                          <a:solidFill>
                            <a:srgbClr val="012169"/>
                          </a:solidFill>
                          <a:latin typeface="Arial" pitchFamily="34" charset="0"/>
                          <a:ea typeface="Arial" pitchFamily="34" charset="-122"/>
                          <a:cs typeface="Arial" pitchFamily="34" charset="-120"/>
                          <a:hlinkClick r:id="rId11" invalidUrl="" action="" tgtFrame="" tooltip="https://bofasecopsdev.service-now.com/cmdb_ci_lb_bigip.do?sys_id=8838d7523b752210d5062b64c3e45a68" history="1" highlightClick="0" endSnd="0">
                            <a:extLst>
                              <a:ext uri="{A12FA001-AC4F-418D-AE19-62706E023703}">
                                <ahyp:hlinkClr xmlns:ahyp="http://schemas.microsoft.com/office/drawing/2018/hyperlinkcolor" val="tx"/>
                              </a:ext>
                            </a:extLst>
                          </a:hlinkClick>
                        </a:rPr>
                        <a:t>svedpz1rp2lb10</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Decision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The one live service record left is attached as the CI; two names or two live records decline. The pool is not read: that is the member rule's job.</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one live virtual server record left, attached (the pool is not read)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152</a:t>
            </a:fld>
            <a:endParaRPr lang="en-US"/>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460  ·  LOAD BALANCER SERVICE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olmerrillweb-preview1-l7-vip1.gwimnp.rpg</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ip_address / one record</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822704"/>
          </a:xfrm>
          <a:prstGeom prst="roundRect">
            <a:avLst>
              <a:gd name="adj" fmla="val 301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310640"/>
          </a:xfrm>
          <a:prstGeom prst="rect">
            <a:avLst/>
          </a:prstGeom>
          <a:noFill/>
          <a:ln/>
        </p:spPr>
        <p:txBody>
          <a:bodyPr wrap="square" lIns="0" tIns="0" rIns="0" bIns="0" rtlCol="0" anchor="t"/>
          <a:lstStyle/>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serial (no serial reported)  ·  phone MAC (label "olmerrillweb-preview1-l7-vip1" is not sep + 12 hex)  ·  controller (no controller suffix or OS word)  ·  interface (no interface domain or marker)</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FQDN (OS "F5 Networks Big-IP" gives no class / no record in the hardware tree carries the fqdn)  ·  name + domain (OS "F5 Networks Big-IP" gives no class / no record named "olmerrillweb-preview1-l7-vip1")  ·  layered DNS (no DNS Name record for "olmerrillweb-preview1-l7-vip1.gwimnp.rpg")  ·  host name (OS "F5 Networks Big-IP" gives no class / no record in the hardware tree named "olmerrillweb-preview1-l7-vip1")  ·  device name (none named "olmerrillweb-preview1-l7-vip1" in IP Phone or Imaging Hardware)  ·  whole-fqdn name (no record in the hardware tree named "olmerrillweb-preview1-l7-vip1.gwimnp.rpg")</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member (1 member(s), 2 server record(s), 2 machine(s) by name; 2 machines behind the virtual server: the member rule declines)</a:t>
            </a:r>
            <a:endParaRPr lang="en-US" sz="1000" dirty="0"/>
          </a:p>
        </p:txBody>
      </p:sp>
      <p:sp>
        <p:nvSpPr>
          <p:cNvPr id="12" name="Shape 10"/>
          <p:cNvSpPr/>
          <p:nvPr/>
        </p:nvSpPr>
        <p:spPr>
          <a:xfrm>
            <a:off x="502920" y="3413760"/>
            <a:ext cx="2788920" cy="298704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56920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843528"/>
            <a:ext cx="457200" cy="0"/>
          </a:xfrm>
          <a:prstGeom prst="line">
            <a:avLst/>
          </a:prstGeom>
          <a:noFill/>
          <a:ln w="19050">
            <a:solidFill>
              <a:srgbClr val="E31837"/>
            </a:solidFill>
            <a:prstDash val="solid"/>
          </a:ln>
        </p:spPr>
      </p:sp>
      <p:sp>
        <p:nvSpPr>
          <p:cNvPr id="15" name="Text 13"/>
          <p:cNvSpPr txBox="1"/>
          <p:nvPr/>
        </p:nvSpPr>
        <p:spPr>
          <a:xfrm>
            <a:off x="740664" y="388924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SDI000003036490</a:t>
            </a:r>
            <a:endParaRPr lang="en-US" sz="1500" dirty="0"/>
          </a:p>
        </p:txBody>
      </p:sp>
      <p:sp>
        <p:nvSpPr>
          <p:cNvPr id="16" name="Text 14"/>
          <p:cNvSpPr txBox="1"/>
          <p:nvPr/>
        </p:nvSpPr>
        <p:spPr>
          <a:xfrm>
            <a:off x="740664" y="4255008"/>
            <a:ext cx="2313432" cy="143256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olmerrillweb-preview1-l7-vip1.gwimnp.rpg</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10.143.52.108</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F5 Networks Big-IP</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IP</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2026-09-20 11:05:41</a:t>
            </a:r>
            <a:endParaRPr lang="en-US" sz="1000" dirty="0"/>
          </a:p>
        </p:txBody>
      </p:sp>
      <p:sp>
        <p:nvSpPr>
          <p:cNvPr id="17" name="Text 15">
            <a:hlinkClick r:id="rId1" tooltip="https://bofasecopsdev.service-now.com/sn_sec_cmn_src_ci_list.do?sysparm_query=number=SDI000003036490"/>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3649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413760"/>
            <a:ext cx="4745736" cy="2987040"/>
          </a:xfrm>
          <a:prstGeom prst="roundRect">
            <a:avLst>
              <a:gd name="adj" fmla="val 183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56920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843528"/>
            <a:ext cx="457200" cy="0"/>
          </a:xfrm>
          <a:prstGeom prst="line">
            <a:avLst/>
          </a:prstGeom>
          <a:noFill/>
          <a:ln w="19050">
            <a:solidFill>
              <a:srgbClr val="E31837"/>
            </a:solidFill>
            <a:prstDash val="solid"/>
          </a:ln>
        </p:spPr>
      </p:sp>
      <p:sp>
        <p:nvSpPr>
          <p:cNvPr id="21" name="Text 19"/>
          <p:cNvSpPr txBox="1"/>
          <p:nvPr/>
        </p:nvSpPr>
        <p:spPr>
          <a:xfrm>
            <a:off x="3749040" y="3916680"/>
            <a:ext cx="4233672" cy="232867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VIP sign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OS has "f5", OS has "big-ip", label segment "vip1"</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Clues fqdn, name,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no service record; next clue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Clue 4: ip_address = "10.143.52.108"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service record: /Common/ait74300-preview1-origin_mymerrill_cdn-6001-vip on 10.143.52.108 (svedpz1rp2lb10)</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4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one live virtual server record left, attached (the pool is not read)</a:t>
            </a:r>
            <a:endParaRPr lang="en-US" sz="1300" dirty="0"/>
          </a:p>
        </p:txBody>
      </p:sp>
      <p:sp>
        <p:nvSpPr>
          <p:cNvPr id="22" name="Shape 20"/>
          <p:cNvSpPr/>
          <p:nvPr/>
        </p:nvSpPr>
        <p:spPr>
          <a:xfrm>
            <a:off x="8439912" y="3413760"/>
            <a:ext cx="3246120" cy="2987040"/>
          </a:xfrm>
          <a:prstGeom prst="roundRect">
            <a:avLst>
              <a:gd name="adj" fmla="val 183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578352"/>
            <a:ext cx="64008" cy="2657856"/>
          </a:xfrm>
          <a:prstGeom prst="rect">
            <a:avLst/>
          </a:prstGeom>
          <a:solidFill>
            <a:srgbClr val="E31837"/>
          </a:solidFill>
          <a:ln w="12700">
            <a:solidFill>
              <a:srgbClr val="333333"/>
            </a:solidFill>
            <a:prstDash val="solid"/>
          </a:ln>
        </p:spPr>
      </p:sp>
      <p:sp>
        <p:nvSpPr>
          <p:cNvPr id="24" name="Text 22"/>
          <p:cNvSpPr txBox="1"/>
          <p:nvPr/>
        </p:nvSpPr>
        <p:spPr>
          <a:xfrm>
            <a:off x="8714232" y="356920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843528"/>
            <a:ext cx="457200" cy="0"/>
          </a:xfrm>
          <a:prstGeom prst="line">
            <a:avLst/>
          </a:prstGeom>
          <a:noFill/>
          <a:ln w="19050">
            <a:solidFill>
              <a:srgbClr val="E31837"/>
            </a:solidFill>
            <a:prstDash val="solid"/>
          </a:ln>
        </p:spPr>
      </p:sp>
      <p:sp>
        <p:nvSpPr>
          <p:cNvPr id="26" name="Text 24"/>
          <p:cNvSpPr txBox="1"/>
          <p:nvPr/>
        </p:nvSpPr>
        <p:spPr>
          <a:xfrm>
            <a:off x="8714232" y="3889248"/>
            <a:ext cx="2715768" cy="371856"/>
          </a:xfrm>
          <a:prstGeom prst="rect">
            <a:avLst/>
          </a:prstGeom>
          <a:noFill/>
          <a:ln/>
        </p:spPr>
        <p:txBody>
          <a:bodyPr wrap="square" lIns="0" tIns="0" rIns="0" bIns="0" rtlCol="0" anchor="t"/>
          <a:lstStyle/>
          <a:p>
            <a:pPr indent="0" marL="0">
              <a:buNone/>
            </a:pPr>
            <a:r>
              <a:rPr lang="en-US" sz="1100" b="1" dirty="0">
                <a:solidFill>
                  <a:srgbClr val="012169"/>
                </a:solidFill>
                <a:latin typeface="Arial" pitchFamily="34" charset="0"/>
                <a:ea typeface="Arial" pitchFamily="34" charset="-122"/>
                <a:cs typeface="Arial" pitchFamily="34" charset="-120"/>
              </a:rPr>
              <a:t>/Common/ait74300-preview1-origin_mymerrill_cdn-6001-vip</a:t>
            </a:r>
            <a:endParaRPr lang="en-US" sz="1100" dirty="0"/>
          </a:p>
        </p:txBody>
      </p:sp>
      <p:sp>
        <p:nvSpPr>
          <p:cNvPr id="27" name="Text 25"/>
          <p:cNvSpPr txBox="1"/>
          <p:nvPr/>
        </p:nvSpPr>
        <p:spPr>
          <a:xfrm>
            <a:off x="8714232" y="4288536"/>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Load Balancer Service</a:t>
            </a:r>
            <a:endParaRPr lang="en-US" sz="1100" dirty="0"/>
          </a:p>
        </p:txBody>
      </p:sp>
      <p:sp>
        <p:nvSpPr>
          <p:cNvPr id="28" name="Text 26"/>
          <p:cNvSpPr txBox="1"/>
          <p:nvPr/>
        </p:nvSpPr>
        <p:spPr>
          <a:xfrm>
            <a:off x="8714232" y="4608576"/>
            <a:ext cx="2715768" cy="1078992"/>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10.143.52.108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Load balancer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svedpz1rp2lb10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lb_service.do?sys_id=0a6f146b2bed4354412af1f7d891bf68"/>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_service.do?sys_id=0a6f146b2bed4354412af1f7d891bf68"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153</a:t>
            </a:fld>
            <a:endParaRPr lang="en-US"/>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460  ·  LOAD BALANCER SERVICE MATCH  ·  EXAMPLE 2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olmerrillweb-preview1-l7-vip1.gwimnp.rpg</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e8d1123e3bf647d42fcecefe23e45a89" history="1" highlightClick="0" endSnd="0">
                  <a:extLst>
                    <a:ext uri="{A12FA001-AC4F-418D-AE19-62706E023703}">
                      <ahyp:hlinkClr xmlns:ahyp="http://schemas.microsoft.com/office/drawing/2018/hyperlinkcolor" val="tx"/>
                    </a:ext>
                  </a:extLst>
                </a:hlinkClick>
              </a:rPr>
              <a:t>SDI000003036490</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24a593dc2b534350e76ff4bc4e91bfb5" history="1" highlightClick="0" endSnd="0">
                  <a:extLst>
                    <a:ext uri="{A12FA001-AC4F-418D-AE19-62706E023703}">
                      <ahyp:hlinkClr xmlns:ahyp="http://schemas.microsoft.com/office/drawing/2018/hyperlinkcolor" val="tx"/>
                    </a:ext>
                  </a:extLst>
                </a:hlinkClick>
              </a:rPr>
              <a:t>BOFA Load Balancer Service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lb_service.do?sys_id=0a6f146b2bed4354412af1f7d891bf68" history="1" highlightClick="0" endSnd="0">
                  <a:extLst>
                    <a:ext uri="{A12FA001-AC4F-418D-AE19-62706E023703}">
                      <ahyp:hlinkClr xmlns:ahyp="http://schemas.microsoft.com/office/drawing/2018/hyperlinkcolor" val="tx"/>
                    </a:ext>
                  </a:extLst>
                </a:hlinkClick>
              </a:rPr>
              <a:t>/Common/ait74300-preview1-origin_mymerrill_cdn-6001-vip</a:t>
            </a:r>
            <a:endParaRPr lang="en-US" sz="1000" dirty="0"/>
          </a:p>
        </p:txBody>
      </p:sp>
      <p:graphicFrame>
        <p:nvGraphicFramePr>
          <p:cNvPr id="155"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VIP sign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The OS text is searched for f5, big-ip, big ip and netscaler, and the label segments for vip or vs (the word, the word plus digits, or a longer word ending in it); without a sign the rule returns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OS has "f5", OS has "big-ip", label segment "vip1"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1: fqdn = "olmerrillweb-preview1-l7-vip1.gwimnp.rpg"</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fqdn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no service record; next clue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lb_service_list.do?sysparm_query=fqdn%3Dolmerrillweb-preview1-l7-vip1.gwimnp.rpg" history="1" highlightClick="0" endSnd="0">
                            <a:extLst>
                              <a:ext uri="{A12FA001-AC4F-418D-AE19-62706E023703}">
                                <ahyp:hlinkClr xmlns:ahyp="http://schemas.microsoft.com/office/drawing/2018/hyperlinkcolor" val="tx"/>
                              </a:ext>
                            </a:extLst>
                          </a:hlinkClick>
                        </a:rPr>
                        <a:t>Load Balancer Service: fqdn=olmerrillweb-preview1-l7-vip1.gwimnp.rpg</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2: name = "olmerrillweb-preview1-l7-vip1.gwimnp.rpg"</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name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no service record; next clue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lb_service_list.do?sysparm_query=name%3Dolmerrillweb-preview1-l7-vip1.gwimnp.rpg" history="1" highlightClick="0" endSnd="0">
                            <a:extLst>
                              <a:ext uri="{A12FA001-AC4F-418D-AE19-62706E023703}">
                                <ahyp:hlinkClr xmlns:ahyp="http://schemas.microsoft.com/office/drawing/2018/hyperlinkcolor" val="tx"/>
                              </a:ext>
                            </a:extLst>
                          </a:hlinkClick>
                        </a:rPr>
                        <a:t>Load Balancer Service: name=olmerrillweb-preview1-l7-vip1.gwimnp.rpg</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3: name = "olmerrillweb-preview1-l7-vip1"</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name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no service record; next clue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lb_service_list.do?sysparm_query=name%3Dolmerrillweb-preview1-l7-vip1" history="1" highlightClick="0" endSnd="0">
                            <a:extLst>
                              <a:ext uri="{A12FA001-AC4F-418D-AE19-62706E023703}">
                                <ahyp:hlinkClr xmlns:ahyp="http://schemas.microsoft.com/office/drawing/2018/hyperlinkcolor" val="tx"/>
                              </a:ext>
                            </a:extLst>
                          </a:hlinkClick>
                        </a:rPr>
                        <a:t>Load Balancer Service: name=olmerrillweb-preview1-l7-vip1</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4: ip_address = "10.143.52.108"</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ip_address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service record: /Common/ait74300-preview1-origin_mymerrill_cdn-6001-vip on 10.143.52.108 (svedpz1rp2lb10)</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8" invalidUrl="" action="" tgtFrame="" tooltip="https://bofasecopsdev.service-now.com/cmdb_ci_lb_service_list.do?sysparm_query=ip_address%3D10.143.52.108" history="1" highlightClick="0" endSnd="0">
                            <a:extLst>
                              <a:ext uri="{A12FA001-AC4F-418D-AE19-62706E023703}">
                                <ahyp:hlinkClr xmlns:ahyp="http://schemas.microsoft.com/office/drawing/2018/hyperlinkcolor" val="tx"/>
                              </a:ext>
                            </a:extLst>
                          </a:hlinkClick>
                        </a:rPr>
                        <a:t>Load Balancer Service: ip_address=10.143.52.108</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9" invalidUrl="" action="" tgtFrame="" tooltip="https://bofasecopsdev.service-now.com/cmdb_ci_lb_service.do?sys_id=0a6f146b2bed4354412af1f7d891bf68" history="1" highlightClick="0" endSnd="0">
                            <a:extLst>
                              <a:ext uri="{A12FA001-AC4F-418D-AE19-62706E023703}">
                                <ahyp:hlinkClr xmlns:ahyp="http://schemas.microsoft.com/office/drawing/2018/hyperlinkcolor" val="tx"/>
                              </a:ext>
                            </a:extLst>
                          </a:hlinkClick>
                        </a:rPr>
                        <a:t>/Common/ait74300-preview1-origin_mymerrill_cdn-6001-vip</a:t>
                      </a:r>
                      <a:pPr indent="0" marL="0">
                        <a:buNone/>
                      </a:pPr>
                      <a:r>
                        <a:rPr lang="en-US" sz="900" dirty="0">
                          <a:solidFill>
                            <a:srgbClr val="6E7279"/>
                          </a:solidFill>
                          <a:latin typeface="Arial" pitchFamily="34" charset="0"/>
                          <a:ea typeface="Arial" pitchFamily="34" charset="-122"/>
                          <a:cs typeface="Arial" pitchFamily="34" charset="-120"/>
                        </a:rPr>
                        <a:t> → pool </a:t>
                      </a:r>
                      <a:pPr indent="0" marL="0">
                        <a:buNone/>
                      </a:pPr>
                      <a:r>
                        <a:rPr lang="en-US" sz="900" u="sng" dirty="0">
                          <a:solidFill>
                            <a:srgbClr val="012169"/>
                          </a:solidFill>
                          <a:latin typeface="Arial" pitchFamily="34" charset="0"/>
                          <a:ea typeface="Arial" pitchFamily="34" charset="-122"/>
                          <a:cs typeface="Arial" pitchFamily="34" charset="-120"/>
                          <a:hlinkClick r:id="rId10" invalidUrl="" action="" tgtFrame="" tooltip="https://bofasecopsdev.service-now.com/cmdb_ci_lb_pool.do?sys_id=b56fd06b2bed4354412af1f7d891bf0a" history="1" highlightClick="0" endSnd="0">
                            <a:extLst>
                              <a:ext uri="{A12FA001-AC4F-418D-AE19-62706E023703}">
                                <ahyp:hlinkClr xmlns:ahyp="http://schemas.microsoft.com/office/drawing/2018/hyperlinkcolor" val="tx"/>
                              </a:ext>
                            </a:extLst>
                          </a:hlinkClick>
                        </a:rPr>
                        <a:t>/Common/gpconline-preview1-olui2-20460-pool</a:t>
                      </a:r>
                      <a:pPr indent="0" marL="0">
                        <a:buNone/>
                      </a:pPr>
                      <a:r>
                        <a:rPr lang="en-US" sz="900" dirty="0">
                          <a:solidFill>
                            <a:srgbClr val="6E7279"/>
                          </a:solidFill>
                          <a:latin typeface="Arial" pitchFamily="34" charset="0"/>
                          <a:ea typeface="Arial" pitchFamily="34" charset="-122"/>
                          <a:cs typeface="Arial" pitchFamily="34" charset="-120"/>
                        </a:rPr>
                        <a:t> on balancer </a:t>
                      </a:r>
                      <a:pPr indent="0" marL="0">
                        <a:buNone/>
                      </a:pPr>
                      <a:r>
                        <a:rPr lang="en-US" sz="900" u="sng" dirty="0">
                          <a:solidFill>
                            <a:srgbClr val="012169"/>
                          </a:solidFill>
                          <a:latin typeface="Arial" pitchFamily="34" charset="0"/>
                          <a:ea typeface="Arial" pitchFamily="34" charset="-122"/>
                          <a:cs typeface="Arial" pitchFamily="34" charset="-120"/>
                          <a:hlinkClick r:id="rId11" invalidUrl="" action="" tgtFrame="" tooltip="https://bofasecopsdev.service-now.com/cmdb_ci_lb_bigip.do?sys_id=8838d7523b752210d5062b64c3e45a68" history="1" highlightClick="0" endSnd="0">
                            <a:extLst>
                              <a:ext uri="{A12FA001-AC4F-418D-AE19-62706E023703}">
                                <ahyp:hlinkClr xmlns:ahyp="http://schemas.microsoft.com/office/drawing/2018/hyperlinkcolor" val="tx"/>
                              </a:ext>
                            </a:extLst>
                          </a:hlinkClick>
                        </a:rPr>
                        <a:t>svedpz1rp2lb10</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Decision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The one live service record left is attached as the CI; two names or two live records decline. The pool is not read: that is the member rule's job.</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one live virtual server record left, attached (the pool is not read)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154</a:t>
            </a:fld>
            <a:endParaRPr lang="en-US"/>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460  ·  LOAD BALANCER SERVICE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pbui-va2-vip.gwim.rpg</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ip_address / one record</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822704"/>
          </a:xfrm>
          <a:prstGeom prst="roundRect">
            <a:avLst>
              <a:gd name="adj" fmla="val 301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310640"/>
          </a:xfrm>
          <a:prstGeom prst="rect">
            <a:avLst/>
          </a:prstGeom>
          <a:noFill/>
          <a:ln/>
        </p:spPr>
        <p:txBody>
          <a:bodyPr wrap="square" lIns="0" tIns="0" rIns="0" bIns="0" rtlCol="0" anchor="t"/>
          <a:lstStyle/>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serial (no serial reported)  ·  phone MAC (label "pbui-va2-vip" is not sep + 12 hex)  ·  controller (no controller suffix or OS word)  ·  interface (no interface domain or marker)</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FQDN (OS "F5 Networks Big-IP" gives no class / no record in the hardware tree carries the fqdn)  ·  name + domain (OS "F5 Networks Big-IP" gives no class / no record named "pbui-va2-vip")  ·  layered DNS (no DNS Name record for "pbui-va2-vip.gwim.rpg")  ·  host name (OS "F5 Networks Big-IP" gives no class / no record in the hardware tree named "pbui-va2-vip")  ·  device name (none named "pbui-va2-vip" in IP Phone or Imaging Hardware)  ·  whole-fqdn name (no record in the hardware tree named "pbui-va2-vip.gwim.rpg")</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member (4 member(s), 4 server record(s), 4 machine(s) by name; 4 machines behind the virtual server: the member rule declines)</a:t>
            </a:r>
            <a:endParaRPr lang="en-US" sz="1000" dirty="0"/>
          </a:p>
        </p:txBody>
      </p:sp>
      <p:sp>
        <p:nvSpPr>
          <p:cNvPr id="12" name="Shape 10"/>
          <p:cNvSpPr/>
          <p:nvPr/>
        </p:nvSpPr>
        <p:spPr>
          <a:xfrm>
            <a:off x="502920" y="3413760"/>
            <a:ext cx="2788920" cy="298704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56920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843528"/>
            <a:ext cx="457200" cy="0"/>
          </a:xfrm>
          <a:prstGeom prst="line">
            <a:avLst/>
          </a:prstGeom>
          <a:noFill/>
          <a:ln w="19050">
            <a:solidFill>
              <a:srgbClr val="E31837"/>
            </a:solidFill>
            <a:prstDash val="solid"/>
          </a:ln>
        </p:spPr>
      </p:sp>
      <p:sp>
        <p:nvSpPr>
          <p:cNvPr id="15" name="Text 13"/>
          <p:cNvSpPr txBox="1"/>
          <p:nvPr/>
        </p:nvSpPr>
        <p:spPr>
          <a:xfrm>
            <a:off x="740664" y="388924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SDI000003008717</a:t>
            </a:r>
            <a:endParaRPr lang="en-US" sz="1500" dirty="0"/>
          </a:p>
        </p:txBody>
      </p:sp>
      <p:sp>
        <p:nvSpPr>
          <p:cNvPr id="16" name="Text 14"/>
          <p:cNvSpPr txBox="1"/>
          <p:nvPr/>
        </p:nvSpPr>
        <p:spPr>
          <a:xfrm>
            <a:off x="740664" y="4255008"/>
            <a:ext cx="2313432" cy="1432560"/>
          </a:xfrm>
          <a:prstGeom prst="rect">
            <a:avLst/>
          </a:prstGeom>
          <a:noFill/>
          <a:ln/>
        </p:spPr>
        <p:txBody>
          <a:bodyPr wrap="square" lIns="0" tIns="0" rIns="0" bIns="0" rtlCol="0" anchor="t"/>
          <a:lstStyle/>
          <a:p>
            <a:pPr indent="0" marL="0">
              <a:buNone/>
            </a:pPr>
            <a:r>
              <a:rPr lang="en-US" sz="115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150" dirty="0">
                <a:solidFill>
                  <a:srgbClr val="4D4F53"/>
                </a:solidFill>
                <a:latin typeface="Arial" pitchFamily="34" charset="0"/>
                <a:ea typeface="Arial" pitchFamily="34" charset="-122"/>
                <a:cs typeface="Arial" pitchFamily="34" charset="-120"/>
              </a:rPr>
              <a:t>pbui-va2-vip.gwim.rpg</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158.171.199.147</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150" dirty="0">
                <a:solidFill>
                  <a:srgbClr val="4D4F53"/>
                </a:solidFill>
                <a:latin typeface="Arial" pitchFamily="34" charset="0"/>
                <a:ea typeface="Arial" pitchFamily="34" charset="-122"/>
                <a:cs typeface="Arial" pitchFamily="34" charset="-120"/>
              </a:rPr>
              <a:t>F5 Networks Big-IP</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150" dirty="0">
                <a:solidFill>
                  <a:srgbClr val="4D4F53"/>
                </a:solidFill>
                <a:latin typeface="Arial" pitchFamily="34" charset="0"/>
                <a:ea typeface="Arial" pitchFamily="34" charset="-122"/>
                <a:cs typeface="Arial" pitchFamily="34" charset="-120"/>
              </a:rPr>
              <a:t>IP</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150" dirty="0">
                <a:solidFill>
                  <a:srgbClr val="4D4F53"/>
                </a:solidFill>
                <a:latin typeface="Arial" pitchFamily="34" charset="0"/>
                <a:ea typeface="Arial" pitchFamily="34" charset="-122"/>
                <a:cs typeface="Arial" pitchFamily="34" charset="-120"/>
              </a:rPr>
              <a:t>2026-09-20 10:48:18</a:t>
            </a:r>
            <a:endParaRPr lang="en-US" sz="1150" dirty="0"/>
          </a:p>
        </p:txBody>
      </p:sp>
      <p:sp>
        <p:nvSpPr>
          <p:cNvPr id="17" name="Text 15">
            <a:hlinkClick r:id="rId1" tooltip="https://bofasecopsdev.service-now.com/sn_sec_cmn_src_ci_list.do?sysparm_query=number=SDI000003008717"/>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0871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413760"/>
            <a:ext cx="4745736" cy="2987040"/>
          </a:xfrm>
          <a:prstGeom prst="roundRect">
            <a:avLst>
              <a:gd name="adj" fmla="val 183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56920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843528"/>
            <a:ext cx="457200" cy="0"/>
          </a:xfrm>
          <a:prstGeom prst="line">
            <a:avLst/>
          </a:prstGeom>
          <a:noFill/>
          <a:ln w="19050">
            <a:solidFill>
              <a:srgbClr val="E31837"/>
            </a:solidFill>
            <a:prstDash val="solid"/>
          </a:ln>
        </p:spPr>
      </p:sp>
      <p:sp>
        <p:nvSpPr>
          <p:cNvPr id="21" name="Text 19"/>
          <p:cNvSpPr txBox="1"/>
          <p:nvPr/>
        </p:nvSpPr>
        <p:spPr>
          <a:xfrm>
            <a:off x="3749040" y="3916680"/>
            <a:ext cx="4233672" cy="232867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VIP sign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OS has "f5", OS has "big-ip", label segment "vip"</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Clues fqdn, name,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no service record; next clue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Clue 4: ip_address = "158.171.199.147"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service record: /Common/ait32589-rvcpbt2-pbui-443-vip on 158.171.199.147 (svedbt1gwmlb01a)</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4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one live virtual server record left, attached (the pool is not read)</a:t>
            </a:r>
            <a:endParaRPr lang="en-US" sz="1300" dirty="0"/>
          </a:p>
        </p:txBody>
      </p:sp>
      <p:sp>
        <p:nvSpPr>
          <p:cNvPr id="22" name="Shape 20"/>
          <p:cNvSpPr/>
          <p:nvPr/>
        </p:nvSpPr>
        <p:spPr>
          <a:xfrm>
            <a:off x="8439912" y="3413760"/>
            <a:ext cx="3246120" cy="2987040"/>
          </a:xfrm>
          <a:prstGeom prst="roundRect">
            <a:avLst>
              <a:gd name="adj" fmla="val 183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578352"/>
            <a:ext cx="64008" cy="2657856"/>
          </a:xfrm>
          <a:prstGeom prst="rect">
            <a:avLst/>
          </a:prstGeom>
          <a:solidFill>
            <a:srgbClr val="E31837"/>
          </a:solidFill>
          <a:ln w="12700">
            <a:solidFill>
              <a:srgbClr val="333333"/>
            </a:solidFill>
            <a:prstDash val="solid"/>
          </a:ln>
        </p:spPr>
      </p:sp>
      <p:sp>
        <p:nvSpPr>
          <p:cNvPr id="24" name="Text 22"/>
          <p:cNvSpPr txBox="1"/>
          <p:nvPr/>
        </p:nvSpPr>
        <p:spPr>
          <a:xfrm>
            <a:off x="8714232" y="356920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843528"/>
            <a:ext cx="457200" cy="0"/>
          </a:xfrm>
          <a:prstGeom prst="line">
            <a:avLst/>
          </a:prstGeom>
          <a:noFill/>
          <a:ln w="19050">
            <a:solidFill>
              <a:srgbClr val="E31837"/>
            </a:solidFill>
            <a:prstDash val="solid"/>
          </a:ln>
        </p:spPr>
      </p:sp>
      <p:sp>
        <p:nvSpPr>
          <p:cNvPr id="26" name="Text 24"/>
          <p:cNvSpPr txBox="1"/>
          <p:nvPr/>
        </p:nvSpPr>
        <p:spPr>
          <a:xfrm>
            <a:off x="8714232" y="3889248"/>
            <a:ext cx="2715768" cy="402336"/>
          </a:xfrm>
          <a:prstGeom prst="rect">
            <a:avLst/>
          </a:prstGeom>
          <a:noFill/>
          <a:ln/>
        </p:spPr>
        <p:txBody>
          <a:bodyPr wrap="square" lIns="0" tIns="0" rIns="0" bIns="0" rtlCol="0" anchor="t"/>
          <a:lstStyle/>
          <a:p>
            <a:pPr indent="0" marL="0">
              <a:buNone/>
            </a:pPr>
            <a:r>
              <a:rPr lang="en-US" sz="1200" b="1" dirty="0">
                <a:solidFill>
                  <a:srgbClr val="012169"/>
                </a:solidFill>
                <a:latin typeface="Arial" pitchFamily="34" charset="0"/>
                <a:ea typeface="Arial" pitchFamily="34" charset="-122"/>
                <a:cs typeface="Arial" pitchFamily="34" charset="-120"/>
              </a:rPr>
              <a:t>/Common/ait32589-rvcpbt2-pbui-443-vip</a:t>
            </a:r>
            <a:endParaRPr lang="en-US" sz="1200" dirty="0"/>
          </a:p>
        </p:txBody>
      </p:sp>
      <p:sp>
        <p:nvSpPr>
          <p:cNvPr id="27" name="Text 25"/>
          <p:cNvSpPr txBox="1"/>
          <p:nvPr/>
        </p:nvSpPr>
        <p:spPr>
          <a:xfrm>
            <a:off x="8714232" y="4319016"/>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Load Balancer Service</a:t>
            </a:r>
            <a:endParaRPr lang="en-US" sz="1100" dirty="0"/>
          </a:p>
        </p:txBody>
      </p:sp>
      <p:sp>
        <p:nvSpPr>
          <p:cNvPr id="28" name="Text 26"/>
          <p:cNvSpPr txBox="1"/>
          <p:nvPr/>
        </p:nvSpPr>
        <p:spPr>
          <a:xfrm>
            <a:off x="8714232" y="4639056"/>
            <a:ext cx="2715768" cy="1048512"/>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158.171.199.147</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Load balancer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svedbt1gwmlb01a</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Absent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lb_service.do?sys_id=3ff610aa2b8d871032e4f5cdc891bf75"/>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_service.do?sys_id=3ff610aa2b8d871032e4f5cdc891bf75"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155</a:t>
            </a:fld>
            <a:endParaRPr lang="en-US"/>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460  ·  LOAD BALANCER SERVICE MATCH  ·  EXAMPLE 3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pbui-va2-vip.gwim.rpg</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dd4eb5ba3bb60f180e435c8a04e45a29" history="1" highlightClick="0" endSnd="0">
                  <a:extLst>
                    <a:ext uri="{A12FA001-AC4F-418D-AE19-62706E023703}">
                      <ahyp:hlinkClr xmlns:ahyp="http://schemas.microsoft.com/office/drawing/2018/hyperlinkcolor" val="tx"/>
                    </a:ext>
                  </a:extLst>
                </a:hlinkClick>
              </a:rPr>
              <a:t>SDI000003008717</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24a593dc2b534350e76ff4bc4e91bfb5" history="1" highlightClick="0" endSnd="0">
                  <a:extLst>
                    <a:ext uri="{A12FA001-AC4F-418D-AE19-62706E023703}">
                      <ahyp:hlinkClr xmlns:ahyp="http://schemas.microsoft.com/office/drawing/2018/hyperlinkcolor" val="tx"/>
                    </a:ext>
                  </a:extLst>
                </a:hlinkClick>
              </a:rPr>
              <a:t>BOFA Load Balancer Service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lb_service.do?sys_id=3ff610aa2b8d871032e4f5cdc891bf75" history="1" highlightClick="0" endSnd="0">
                  <a:extLst>
                    <a:ext uri="{A12FA001-AC4F-418D-AE19-62706E023703}">
                      <ahyp:hlinkClr xmlns:ahyp="http://schemas.microsoft.com/office/drawing/2018/hyperlinkcolor" val="tx"/>
                    </a:ext>
                  </a:extLst>
                </a:hlinkClick>
              </a:rPr>
              <a:t>/Common/ait32589-rvcpbt2-pbui-443-vip</a:t>
            </a:r>
            <a:endParaRPr lang="en-US" sz="1000" dirty="0"/>
          </a:p>
        </p:txBody>
      </p:sp>
      <p:graphicFrame>
        <p:nvGraphicFramePr>
          <p:cNvPr id="157"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VIP sign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The OS text is searched for f5, big-ip, big ip and netscaler, and the label segments for vip or vs (the word, the word plus digits, or a longer word ending in it); without a sign the rule returns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OS has "f5", OS has "big-ip", label segment "vip"</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1: fqdn = "pbui-va2-vip.gwim.rpg"</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fqdn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no service record; next clue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lb_service_list.do?sysparm_query=fqdn%3Dpbui-va2-vip.gwim.rpg" history="1" highlightClick="0" endSnd="0">
                            <a:extLst>
                              <a:ext uri="{A12FA001-AC4F-418D-AE19-62706E023703}">
                                <ahyp:hlinkClr xmlns:ahyp="http://schemas.microsoft.com/office/drawing/2018/hyperlinkcolor" val="tx"/>
                              </a:ext>
                            </a:extLst>
                          </a:hlinkClick>
                        </a:rPr>
                        <a:t>Load Balancer Service: fqdn=pbui-va2-vip.gwim.rpg</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2: name = "pbui-va2-vip.gwim.rpg"</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name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no service record; next clue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lb_service_list.do?sysparm_query=name%3Dpbui-va2-vip.gwim.rpg" history="1" highlightClick="0" endSnd="0">
                            <a:extLst>
                              <a:ext uri="{A12FA001-AC4F-418D-AE19-62706E023703}">
                                <ahyp:hlinkClr xmlns:ahyp="http://schemas.microsoft.com/office/drawing/2018/hyperlinkcolor" val="tx"/>
                              </a:ext>
                            </a:extLst>
                          </a:hlinkClick>
                        </a:rPr>
                        <a:t>Load Balancer Service: name=pbui-va2-vip.gwim.rpg</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3: name = "pbui-va2-vip"</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name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no service record; next clue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lb_service_list.do?sysparm_query=name%3Dpbui-va2-vip" history="1" highlightClick="0" endSnd="0">
                            <a:extLst>
                              <a:ext uri="{A12FA001-AC4F-418D-AE19-62706E023703}">
                                <ahyp:hlinkClr xmlns:ahyp="http://schemas.microsoft.com/office/drawing/2018/hyperlinkcolor" val="tx"/>
                              </a:ext>
                            </a:extLst>
                          </a:hlinkClick>
                        </a:rPr>
                        <a:t>Load Balancer Service: name=pbui-va2-vip</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4: ip_address = "158.171.199.147"</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ip_address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service record: /Common/ait32589-rvcpbt2-pbui-443-vip on 158.171.199.147 (svedbt1gwmlb01a)</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8" invalidUrl="" action="" tgtFrame="" tooltip="https://bofasecopsdev.service-now.com/cmdb_ci_lb_service_list.do?sysparm_query=ip_address%3D158.171.199.147" history="1" highlightClick="0" endSnd="0">
                            <a:extLst>
                              <a:ext uri="{A12FA001-AC4F-418D-AE19-62706E023703}">
                                <ahyp:hlinkClr xmlns:ahyp="http://schemas.microsoft.com/office/drawing/2018/hyperlinkcolor" val="tx"/>
                              </a:ext>
                            </a:extLst>
                          </a:hlinkClick>
                        </a:rPr>
                        <a:t>Load Balancer Service: ip_address=158.171.199.147</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9" invalidUrl="" action="" tgtFrame="" tooltip="https://bofasecopsdev.service-now.com/cmdb_ci_lb_service.do?sys_id=3ff610aa2b8d871032e4f5cdc891bf75" history="1" highlightClick="0" endSnd="0">
                            <a:extLst>
                              <a:ext uri="{A12FA001-AC4F-418D-AE19-62706E023703}">
                                <ahyp:hlinkClr xmlns:ahyp="http://schemas.microsoft.com/office/drawing/2018/hyperlinkcolor" val="tx"/>
                              </a:ext>
                            </a:extLst>
                          </a:hlinkClick>
                        </a:rPr>
                        <a:t>/Common/ait32589-rvcpbt2-pbui-443-vip</a:t>
                      </a:r>
                      <a:pPr indent="0" marL="0">
                        <a:buNone/>
                      </a:pPr>
                      <a:r>
                        <a:rPr lang="en-US" sz="900" dirty="0">
                          <a:solidFill>
                            <a:srgbClr val="6E7279"/>
                          </a:solidFill>
                          <a:latin typeface="Arial" pitchFamily="34" charset="0"/>
                          <a:ea typeface="Arial" pitchFamily="34" charset="-122"/>
                          <a:cs typeface="Arial" pitchFamily="34" charset="-120"/>
                        </a:rPr>
                        <a:t> → pool </a:t>
                      </a:r>
                      <a:pPr indent="0" marL="0">
                        <a:buNone/>
                      </a:pPr>
                      <a:r>
                        <a:rPr lang="en-US" sz="900" u="sng" dirty="0">
                          <a:solidFill>
                            <a:srgbClr val="012169"/>
                          </a:solidFill>
                          <a:latin typeface="Arial" pitchFamily="34" charset="0"/>
                          <a:ea typeface="Arial" pitchFamily="34" charset="-122"/>
                          <a:cs typeface="Arial" pitchFamily="34" charset="-120"/>
                          <a:hlinkClick r:id="rId10" invalidUrl="" action="" tgtFrame="" tooltip="https://bofasecopsdev.service-now.com/cmdb_ci_lb_pool.do?sys_id=c3f610aa2b8d871032e4f5cdc891bf74" history="1" highlightClick="0" endSnd="0">
                            <a:extLst>
                              <a:ext uri="{A12FA001-AC4F-418D-AE19-62706E023703}">
                                <ahyp:hlinkClr xmlns:ahyp="http://schemas.microsoft.com/office/drawing/2018/hyperlinkcolor" val="tx"/>
                              </a:ext>
                            </a:extLst>
                          </a:hlinkClick>
                        </a:rPr>
                        <a:t>/Common/ait32589-rvcpbt2-pbui-443-pool</a:t>
                      </a:r>
                      <a:pPr indent="0" marL="0">
                        <a:buNone/>
                      </a:pPr>
                      <a:r>
                        <a:rPr lang="en-US" sz="900" dirty="0">
                          <a:solidFill>
                            <a:srgbClr val="6E7279"/>
                          </a:solidFill>
                          <a:latin typeface="Arial" pitchFamily="34" charset="0"/>
                          <a:ea typeface="Arial" pitchFamily="34" charset="-122"/>
                          <a:cs typeface="Arial" pitchFamily="34" charset="-120"/>
                        </a:rPr>
                        <a:t> on balancer </a:t>
                      </a:r>
                      <a:pPr indent="0" marL="0">
                        <a:buNone/>
                      </a:pPr>
                      <a:r>
                        <a:rPr lang="en-US" sz="900" u="sng" dirty="0">
                          <a:solidFill>
                            <a:srgbClr val="012169"/>
                          </a:solidFill>
                          <a:latin typeface="Arial" pitchFamily="34" charset="0"/>
                          <a:ea typeface="Arial" pitchFamily="34" charset="-122"/>
                          <a:cs typeface="Arial" pitchFamily="34" charset="-120"/>
                          <a:hlinkClick r:id="rId11" invalidUrl="" action="" tgtFrame="" tooltip="https://bofasecopsdev.service-now.com/cmdb_ci_lb_bigip.do?sys_id=c787b6762bfcfa50da9bf8c9c891bf06" history="1" highlightClick="0" endSnd="0">
                            <a:extLst>
                              <a:ext uri="{A12FA001-AC4F-418D-AE19-62706E023703}">
                                <ahyp:hlinkClr xmlns:ahyp="http://schemas.microsoft.com/office/drawing/2018/hyperlinkcolor" val="tx"/>
                              </a:ext>
                            </a:extLst>
                          </a:hlinkClick>
                        </a:rPr>
                        <a:t>svedbt1gwmlb01a</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Decision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The one live service record left is attached as the CI; two names or two live records decline. The pool is not read: that is the member rule's job.</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one live virtual server record left, attached (the pool is not read)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156</a:t>
            </a:fld>
            <a:endParaRPr lang="en-US"/>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700  ·  IP ADDRESS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935480"/>
          </a:xfrm>
          <a:prstGeom prst="roundRect">
            <a:avLst>
              <a:gd name="adj" fmla="val 28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6062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2954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scanned IP only inside the CMDB class the scanned OS implies, and only when exactly one CI of that class (sub-classes included) carries it on ip_address.</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is the first address rule: every serial and name rule has already declined, and an address is the weakest identifier (addresses move between machines and are shared by load balancers), so the class restriction plus host-name agreement make it safe.</a:t>
            </a:r>
            <a:endParaRPr lang="en-US" sz="1500" dirty="0"/>
          </a:p>
        </p:txBody>
      </p:sp>
      <p:sp>
        <p:nvSpPr>
          <p:cNvPr id="13" name="Shape 11"/>
          <p:cNvSpPr/>
          <p:nvPr/>
        </p:nvSpPr>
        <p:spPr>
          <a:xfrm>
            <a:off x="502920" y="3608832"/>
            <a:ext cx="6933529" cy="2352040"/>
          </a:xfrm>
          <a:prstGeom prst="roundRect">
            <a:avLst>
              <a:gd name="adj" fmla="val 2333"/>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7917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066032"/>
            <a:ext cx="457200" cy="0"/>
          </a:xfrm>
          <a:prstGeom prst="line">
            <a:avLst/>
          </a:prstGeom>
          <a:noFill/>
          <a:ln w="19050">
            <a:solidFill>
              <a:srgbClr val="E31837"/>
            </a:solidFill>
            <a:prstDash val="solid"/>
          </a:ln>
        </p:spPr>
      </p:sp>
      <p:sp>
        <p:nvSpPr>
          <p:cNvPr id="16" name="Text 14"/>
          <p:cNvSpPr txBox="1"/>
          <p:nvPr/>
        </p:nvSpPr>
        <p:spPr>
          <a:xfrm>
            <a:off x="822960" y="4157472"/>
            <a:ext cx="6293449" cy="162052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IP (sourceValue). Payload fields: OS (class choice through classFor) and DNS (host-name agreement). The rule argument is never read.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CI of the OS-implied class whose ip_address equals the trimmed scanned address and whose name agrees with the scanned DNS label; null in every other case.</a:t>
            </a:r>
            <a:endParaRPr lang="en-US" sz="1400" dirty="0"/>
          </a:p>
        </p:txBody>
      </p:sp>
      <p:sp>
        <p:nvSpPr>
          <p:cNvPr id="17" name="Shape 15"/>
          <p:cNvSpPr/>
          <p:nvPr/>
        </p:nvSpPr>
        <p:spPr>
          <a:xfrm>
            <a:off x="7665049" y="3608832"/>
            <a:ext cx="4020983" cy="2352040"/>
          </a:xfrm>
          <a:prstGeom prst="roundRect">
            <a:avLst>
              <a:gd name="adj" fmla="val 2333"/>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7917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066032"/>
            <a:ext cx="457200" cy="0"/>
          </a:xfrm>
          <a:prstGeom prst="line">
            <a:avLst/>
          </a:prstGeom>
          <a:noFill/>
          <a:ln w="19050">
            <a:solidFill>
              <a:srgbClr val="E31837"/>
            </a:solidFill>
            <a:prstDash val="solid"/>
          </a:ln>
        </p:spPr>
      </p:sp>
      <p:sp>
        <p:nvSpPr>
          <p:cNvPr id="20" name="Text 18"/>
          <p:cNvSpPr txBox="1"/>
          <p:nvPr/>
        </p:nvSpPr>
        <p:spPr>
          <a:xfrm>
            <a:off x="7985089" y="4157472"/>
            <a:ext cx="3380903" cy="61468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Load Balancer Service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IP Hardware Match</a:t>
            </a:r>
            <a:endParaRPr lang="en-US" sz="1300" dirty="0"/>
          </a:p>
        </p:txBody>
      </p:sp>
      <p:sp>
        <p:nvSpPr>
          <p:cNvPr id="21" name="Text 19"/>
          <p:cNvSpPr txBox="1"/>
          <p:nvPr/>
        </p:nvSpPr>
        <p:spPr>
          <a:xfrm>
            <a:off x="7985089" y="486359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15,674</a:t>
            </a:r>
            <a:endParaRPr lang="en-US" sz="2800" dirty="0"/>
          </a:p>
        </p:txBody>
      </p:sp>
      <p:sp>
        <p:nvSpPr>
          <p:cNvPr id="22" name="Text 20"/>
          <p:cNvSpPr txBox="1"/>
          <p:nvPr/>
        </p:nvSpPr>
        <p:spPr>
          <a:xfrm>
            <a:off x="7985089" y="543052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157</a:t>
            </a:fld>
            <a:endParaRPr lang="en-US"/>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700  ·  IP ADDRESS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5540"/>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1   Address guard.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2   Ignored class list.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3   Class from the scanned OS.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pref = classFor(sourcePayload.OS): the OS text lower-cased, '' when it splits on '/' into more than two guesses, otherwise the first keyword hit in fixed order. An empty pref ends the rule with null and USEM IP Hardware Match takes the host.</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4   Search inside that class only.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gr = new GlideRecord(pref) covers the class and its sub-classes; null when gr.isValid() is false (class not installed). addQuery('ip_address', ip); when ignore is non-empty addQuery('sys_class_name', 'NOT IN', ignore); query().</a:t>
            </a:r>
            <a:endParaRPr lang="en-US" sz="1350" dirty="0"/>
          </a:p>
        </p:txBody>
      </p:sp>
      <p:sp>
        <p:nvSpPr>
          <p:cNvPr id="10" name="Text 8"/>
          <p:cNvSpPr txBox="1"/>
          <p:nvPr/>
        </p:nvSpPr>
        <p:spPr>
          <a:xfrm>
            <a:off x="6277356"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5   Exactly one row.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If next() is false, null. match = getUniqueValue() of the first row. If hasNext() is true a second CI of the class carries the address (an address reused after a rebuild) and the rule returns null. No setLimit, no ordering, no tie-break.</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6   Host-name agreement.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nameAgrees(match): label = DNS trimmed, lower-cased, first dot label; empty label passes. name = cmdb_ci.name of the CI, same normalisation; empty passes. Pass when name == label or one starts with the other plus '-' ('&lt;name&gt;-mgmt', '&lt;name&gt;-a').</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7   Return.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 match when the name agrees; null when the CI is named after another machine, which is what a reused address (a moved lease, a decommissioned host whose address was handed on) produces.</a:t>
            </a:r>
            <a:endParaRPr lang="en-US" sz="13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158</a:t>
            </a:fld>
            <a:endParaRPr lang="en-US"/>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700  ·  IP ADDRESS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834640"/>
          </a:xfrm>
          <a:prstGeom prst="roundRect">
            <a:avLst>
              <a:gd name="adj" fmla="val 19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5054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1945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 or the trimmed address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address starts with '127.' or '169.254.'</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ClassFor gives '': OS empty, more than two '/'-separated guesses, or no keyword matched</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table classFor returned is not valid on the instance (gr.isValid() false)</a:t>
            </a:r>
            <a:endParaRPr lang="en-US" sz="1500" dirty="0"/>
          </a:p>
        </p:txBody>
      </p:sp>
      <p:sp>
        <p:nvSpPr>
          <p:cNvPr id="13" name="Text 11"/>
          <p:cNvSpPr txBox="1"/>
          <p:nvPr/>
        </p:nvSpPr>
        <p:spPr>
          <a:xfrm>
            <a:off x="6277356" y="1975104"/>
            <a:ext cx="5088636" cy="21945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CI of that class or its sub-classes, outside the ignore list, carries the address on ip_address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A second CI of that class carries the same address (hasNext() true)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payload carries a DNS name and the CI name's first label neither equals it nor differs from it only by a hyphenated tail on either side</a:t>
            </a:r>
            <a:endParaRPr lang="en-US" sz="1500" dirty="0"/>
          </a:p>
        </p:txBody>
      </p:sp>
      <p:sp>
        <p:nvSpPr>
          <p:cNvPr id="14" name="Shape 12"/>
          <p:cNvSpPr/>
          <p:nvPr/>
        </p:nvSpPr>
        <p:spPr>
          <a:xfrm>
            <a:off x="502920" y="45079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5079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IP Hardware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159</a:t>
            </a:fld>
            <a:endParaRPr lang="en-US"/>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700  ·  IP CLASS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wpa11bwmleas05v</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win_server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761744"/>
          </a:xfrm>
          <a:prstGeom prst="roundRect">
            <a:avLst>
              <a:gd name="adj" fmla="val 311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2496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"wpa11bwmleas05v" is not sep + 12 hex)  ·  FQDN (no dot in the name)  ·  name + domain (no domain in the name)  ·  device name (OS gives the class win_server)  ·  controller (no controller suffix or OS word)  ·  interface (no interface domain or marker)  ·  member (no VIP sign)  ·  service (no VIP sign)</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layered DNS (no DNS Name record for "wpa11bwmleas05v")</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host name (2 records in win_server named "wpa11bwmleas05v": a tie / 2 records in the hardware tree named "wpa11bwmleas05v": a tie)  ·  whole-fqdn name (2 records in the hardware tree named "wpa11bwmleas05v": a tie)</a:t>
            </a:r>
            <a:endParaRPr lang="en-US" sz="1100" dirty="0"/>
          </a:p>
        </p:txBody>
      </p:sp>
      <p:sp>
        <p:nvSpPr>
          <p:cNvPr id="12" name="Shape 10"/>
          <p:cNvSpPr/>
          <p:nvPr/>
        </p:nvSpPr>
        <p:spPr>
          <a:xfrm>
            <a:off x="502920" y="3352800"/>
            <a:ext cx="2788920" cy="30480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5082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782568"/>
            <a:ext cx="457200" cy="0"/>
          </a:xfrm>
          <a:prstGeom prst="line">
            <a:avLst/>
          </a:prstGeom>
          <a:noFill/>
          <a:ln w="19050">
            <a:solidFill>
              <a:srgbClr val="E31837"/>
            </a:solidFill>
            <a:prstDash val="solid"/>
          </a:ln>
        </p:spPr>
      </p:sp>
      <p:sp>
        <p:nvSpPr>
          <p:cNvPr id="15" name="Text 13"/>
          <p:cNvSpPr txBox="1"/>
          <p:nvPr/>
        </p:nvSpPr>
        <p:spPr>
          <a:xfrm>
            <a:off x="740664" y="38282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SDI000003093964</a:t>
            </a:r>
            <a:endParaRPr lang="en-US" sz="1500" dirty="0"/>
          </a:p>
        </p:txBody>
      </p:sp>
      <p:sp>
        <p:nvSpPr>
          <p:cNvPr id="16" name="Text 14"/>
          <p:cNvSpPr txBox="1"/>
          <p:nvPr/>
        </p:nvSpPr>
        <p:spPr>
          <a:xfrm>
            <a:off x="740664" y="4194048"/>
            <a:ext cx="2313432" cy="149352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wpa11bwmleas05v</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30.30.58.0</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Windows Server 2022 Standard 64 bit Edition Version 21H2</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WPA11BWMLEAS05V</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AGENT</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2026-09-21 05:57:44</a:t>
            </a:r>
            <a:endParaRPr lang="en-US" sz="1000" dirty="0"/>
          </a:p>
        </p:txBody>
      </p:sp>
      <p:sp>
        <p:nvSpPr>
          <p:cNvPr id="17" name="Text 15">
            <a:hlinkClick r:id="rId1" tooltip="https://bofasecopsdev.service-now.com/sn_sec_cmn_src_ci_list.do?sysparm_query=number=SDI000003093964"/>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93964"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352800"/>
            <a:ext cx="4745736" cy="3048000"/>
          </a:xfrm>
          <a:prstGeom prst="roundRect">
            <a:avLst>
              <a:gd name="adj" fmla="val 18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5082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782568"/>
            <a:ext cx="457200" cy="0"/>
          </a:xfrm>
          <a:prstGeom prst="line">
            <a:avLst/>
          </a:prstGeom>
          <a:noFill/>
          <a:ln w="19050">
            <a:solidFill>
              <a:srgbClr val="E31837"/>
            </a:solidFill>
            <a:prstDash val="solid"/>
          </a:ln>
        </p:spPr>
      </p:sp>
      <p:sp>
        <p:nvSpPr>
          <p:cNvPr id="21" name="Text 19"/>
          <p:cNvSpPr txBox="1"/>
          <p:nvPr/>
        </p:nvSpPr>
        <p:spPr>
          <a:xfrm>
            <a:off x="3749040" y="3855720"/>
            <a:ext cx="4233672" cy="23896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"30.30.58.0"; OS "Windows Server 2022 Standard 64 bit Edition Version 21H2" gives the class win_server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wpa11bwmleas05v [win_server] ip 30.30.58.0 -&gt; exactly one, accepted; name agrees with the scanned label "wpa11bwmleas05v"</a:t>
            </a:r>
            <a:endParaRPr lang="en-US" sz="1300" dirty="0"/>
          </a:p>
        </p:txBody>
      </p:sp>
      <p:sp>
        <p:nvSpPr>
          <p:cNvPr id="22" name="Shape 20"/>
          <p:cNvSpPr/>
          <p:nvPr/>
        </p:nvSpPr>
        <p:spPr>
          <a:xfrm>
            <a:off x="8439912" y="3352800"/>
            <a:ext cx="3246120" cy="3048000"/>
          </a:xfrm>
          <a:prstGeom prst="roundRect">
            <a:avLst>
              <a:gd name="adj" fmla="val 18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517392"/>
            <a:ext cx="64008" cy="2718816"/>
          </a:xfrm>
          <a:prstGeom prst="rect">
            <a:avLst/>
          </a:prstGeom>
          <a:solidFill>
            <a:srgbClr val="E31837"/>
          </a:solidFill>
          <a:ln w="12700">
            <a:solidFill>
              <a:srgbClr val="333333"/>
            </a:solidFill>
            <a:prstDash val="solid"/>
          </a:ln>
        </p:spPr>
      </p:sp>
      <p:sp>
        <p:nvSpPr>
          <p:cNvPr id="24" name="Text 22"/>
          <p:cNvSpPr txBox="1"/>
          <p:nvPr/>
        </p:nvSpPr>
        <p:spPr>
          <a:xfrm>
            <a:off x="8714232" y="35082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782568"/>
            <a:ext cx="457200" cy="0"/>
          </a:xfrm>
          <a:prstGeom prst="line">
            <a:avLst/>
          </a:prstGeom>
          <a:noFill/>
          <a:ln w="19050">
            <a:solidFill>
              <a:srgbClr val="E31837"/>
            </a:solidFill>
            <a:prstDash val="solid"/>
          </a:ln>
        </p:spPr>
      </p:sp>
      <p:sp>
        <p:nvSpPr>
          <p:cNvPr id="26" name="Text 24"/>
          <p:cNvSpPr txBox="1"/>
          <p:nvPr/>
        </p:nvSpPr>
        <p:spPr>
          <a:xfrm>
            <a:off x="8714232" y="38282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wpa11bwmleas05v</a:t>
            </a:r>
            <a:endParaRPr lang="en-US" sz="1500" dirty="0"/>
          </a:p>
        </p:txBody>
      </p:sp>
      <p:sp>
        <p:nvSpPr>
          <p:cNvPr id="27" name="Text 25"/>
          <p:cNvSpPr txBox="1"/>
          <p:nvPr/>
        </p:nvSpPr>
        <p:spPr>
          <a:xfrm>
            <a:off x="8714232" y="41483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Windows Server</a:t>
            </a:r>
            <a:endParaRPr lang="en-US" sz="1100" dirty="0"/>
          </a:p>
        </p:txBody>
      </p:sp>
      <p:sp>
        <p:nvSpPr>
          <p:cNvPr id="28" name="Text 26"/>
          <p:cNvSpPr txBox="1"/>
          <p:nvPr/>
        </p:nvSpPr>
        <p:spPr>
          <a:xfrm>
            <a:off x="8714232" y="4468368"/>
            <a:ext cx="2715768" cy="1219200"/>
          </a:xfrm>
          <a:prstGeom prst="rect">
            <a:avLst/>
          </a:prstGeom>
          <a:noFill/>
          <a:ln/>
        </p:spPr>
        <p:txBody>
          <a:bodyPr wrap="square" lIns="0" tIns="0" rIns="0" bIns="0" rtlCol="0" anchor="t"/>
          <a:lstStyle/>
          <a:p>
            <a:pPr indent="0" marL="0">
              <a:buNone/>
            </a:pPr>
            <a:r>
              <a:rPr lang="en-US" sz="8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850" dirty="0">
                <a:solidFill>
                  <a:srgbClr val="4D4F53"/>
                </a:solidFill>
                <a:latin typeface="Arial" pitchFamily="34" charset="0"/>
                <a:ea typeface="Arial" pitchFamily="34" charset="-122"/>
                <a:cs typeface="Arial" pitchFamily="34" charset="-120"/>
              </a:rPr>
              <a:t>wpa11bwmleas05v.corp.bankofamerica.com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850" dirty="0">
                <a:solidFill>
                  <a:srgbClr val="4D4F53"/>
                </a:solidFill>
                <a:latin typeface="Arial" pitchFamily="34" charset="0"/>
                <a:ea typeface="Arial" pitchFamily="34" charset="-122"/>
                <a:cs typeface="Arial" pitchFamily="34" charset="-120"/>
              </a:rPr>
              <a:t>sdi.corp.bankofamerica.com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850" dirty="0">
                <a:solidFill>
                  <a:srgbClr val="4D4F53"/>
                </a:solidFill>
                <a:latin typeface="Arial" pitchFamily="34" charset="0"/>
                <a:ea typeface="Arial" pitchFamily="34" charset="-122"/>
                <a:cs typeface="Arial" pitchFamily="34" charset="-120"/>
              </a:rPr>
              <a:t>30.30.58.0</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VMware-42 07 19 b9 17 fe fc 88-df 6e bb 05 d3 04 0c f5</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 Inc. VMware Virtual Platform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Installed</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Non-Operational</a:t>
            </a:r>
            <a:endParaRPr lang="en-US" sz="850" dirty="0"/>
          </a:p>
        </p:txBody>
      </p:sp>
      <p:sp>
        <p:nvSpPr>
          <p:cNvPr id="29" name="Text 27">
            <a:hlinkClick r:id="rId2" tooltip="https://bofasecopsdev.service-now.com/cmdb_ci_win_server.do?sys_id=c785e52bfbddc7d0f40ef34c5eefdccf"/>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c785e52bfbddc7d0f40ef34c5eefdccf"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160</a:t>
            </a:fld>
            <a:endParaRPr lang="en-US"/>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700  ·  IP CLASS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wpa11bwmleas05v</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ff38b63a93bec310cfcebc5a7bba10bf" history="1" highlightClick="0" endSnd="0">
                  <a:extLst>
                    <a:ext uri="{A12FA001-AC4F-418D-AE19-62706E023703}">
                      <ahyp:hlinkClr xmlns:ahyp="http://schemas.microsoft.com/office/drawing/2018/hyperlinkcolor" val="tx"/>
                    </a:ext>
                  </a:extLst>
                </a:hlinkClick>
              </a:rPr>
              <a:t>SDI000003093964</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3adceccf47624710a1a9295b416d43f9" history="1" highlightClick="0" endSnd="0">
                  <a:extLst>
                    <a:ext uri="{A12FA001-AC4F-418D-AE19-62706E023703}">
                      <ahyp:hlinkClr xmlns:ahyp="http://schemas.microsoft.com/office/drawing/2018/hyperlinkcolor" val="tx"/>
                    </a:ext>
                  </a:extLst>
                </a:hlinkClick>
              </a:rPr>
              <a:t>BOFA IP Class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win_server.do?sys_id=c785e52bfbddc7d0f40ef34c5eefdccf" history="1" highlightClick="0" endSnd="0">
                  <a:extLst>
                    <a:ext uri="{A12FA001-AC4F-418D-AE19-62706E023703}">
                      <ahyp:hlinkClr xmlns:ahyp="http://schemas.microsoft.com/office/drawing/2018/hyperlinkcolor" val="tx"/>
                    </a:ext>
                  </a:extLst>
                </a:hlinkClick>
              </a:rPr>
              <a:t>wpa11bwmleas05v</a:t>
            </a:r>
            <a:endParaRPr lang="en-US" sz="1000" dirty="0"/>
          </a:p>
        </p:txBody>
      </p:sp>
      <p:graphicFrame>
        <p:nvGraphicFramePr>
          <p:cNvPr id="162"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Trims the scanned IP (sourceValue); loopback and link-local addresses are refused. classFor(sourcePayload.OS) turns the OS text "Windows Server 2022 Standard 64 bit Edition Version 21H2" into the CMDB class the search is limited to, sub-classes included; no class means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"30.30.58.0"; OS "Windows Server 2022 Standard 64 bit Edition Version 21H2" gives the class win_server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ip_address equal to the scanned IP, ignored classes left out. Exactly one row is returned when its name agrees with the scanned label (equal, or one a hyphenated extension of the other).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wpa11bwmleas05v [win_server] ip 30.30.58.0 -&gt; exactly one, accepted; name agrees with the scanned label "wpa11bwmleas05v"</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win_server_list.do?sysparm_query=ip_address%3D30.30.58.0" history="1" highlightClick="0" endSnd="0">
                            <a:extLst>
                              <a:ext uri="{A12FA001-AC4F-418D-AE19-62706E023703}">
                                <ahyp:hlinkClr xmlns:ahyp="http://schemas.microsoft.com/office/drawing/2018/hyperlinkcolor" val="tx"/>
                              </a:ext>
                            </a:extLst>
                          </a:hlinkClick>
                        </a:rPr>
                        <a:t>win server: ip_address=30.30.58.0</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win_server.do?sys_id=c785e52bfbddc7d0f40ef34c5eefdccf" history="1" highlightClick="0" endSnd="0">
                            <a:extLst>
                              <a:ext uri="{A12FA001-AC4F-418D-AE19-62706E023703}">
                                <ahyp:hlinkClr xmlns:ahyp="http://schemas.microsoft.com/office/drawing/2018/hyperlinkcolor" val="tx"/>
                              </a:ext>
                            </a:extLst>
                          </a:hlinkClick>
                        </a:rPr>
                        <a:t>wpa11bwmleas05v</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161</a:t>
            </a:fld>
            <a:endParaRPr lang="en-US"/>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700  ·  IP CLASS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wpa11bwmleas06v</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win_server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761744"/>
          </a:xfrm>
          <a:prstGeom prst="roundRect">
            <a:avLst>
              <a:gd name="adj" fmla="val 311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2496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"wpa11bwmleas06v" is not sep + 12 hex)  ·  FQDN (no dot in the name)  ·  name + domain (no domain in the name)  ·  device name (OS gives the class win_server)  ·  controller (no controller suffix or OS word)  ·  interface (no interface domain or marker)  ·  member (no VIP sign)  ·  service (no VIP sign)</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layered DNS (no DNS Name record for "wpa11bwmleas06v")</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host name (2 records in win_server named "wpa11bwmleas06v": a tie / 2 records in the hardware tree named "wpa11bwmleas06v": a tie)  ·  whole-fqdn name (2 records in the hardware tree named "wpa11bwmleas06v": a tie)</a:t>
            </a:r>
            <a:endParaRPr lang="en-US" sz="1100" dirty="0"/>
          </a:p>
        </p:txBody>
      </p:sp>
      <p:sp>
        <p:nvSpPr>
          <p:cNvPr id="12" name="Shape 10"/>
          <p:cNvSpPr/>
          <p:nvPr/>
        </p:nvSpPr>
        <p:spPr>
          <a:xfrm>
            <a:off x="502920" y="3352800"/>
            <a:ext cx="2788920" cy="30480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5082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782568"/>
            <a:ext cx="457200" cy="0"/>
          </a:xfrm>
          <a:prstGeom prst="line">
            <a:avLst/>
          </a:prstGeom>
          <a:noFill/>
          <a:ln w="19050">
            <a:solidFill>
              <a:srgbClr val="E31837"/>
            </a:solidFill>
            <a:prstDash val="solid"/>
          </a:ln>
        </p:spPr>
      </p:sp>
      <p:sp>
        <p:nvSpPr>
          <p:cNvPr id="15" name="Text 13"/>
          <p:cNvSpPr txBox="1"/>
          <p:nvPr/>
        </p:nvSpPr>
        <p:spPr>
          <a:xfrm>
            <a:off x="740664" y="38282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SDI000003093886</a:t>
            </a:r>
            <a:endParaRPr lang="en-US" sz="1500" dirty="0"/>
          </a:p>
        </p:txBody>
      </p:sp>
      <p:sp>
        <p:nvSpPr>
          <p:cNvPr id="16" name="Text 14"/>
          <p:cNvSpPr txBox="1"/>
          <p:nvPr/>
        </p:nvSpPr>
        <p:spPr>
          <a:xfrm>
            <a:off x="740664" y="4194048"/>
            <a:ext cx="2313432" cy="149352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wpa11bwmleas06v</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30.30.58.3</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Windows Server 2022 Standard 64 bit Edition Version 21H2</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WPA11BWMLEAS06V</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AGENT</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2026-09-21 05:57:24</a:t>
            </a:r>
            <a:endParaRPr lang="en-US" sz="1000" dirty="0"/>
          </a:p>
        </p:txBody>
      </p:sp>
      <p:sp>
        <p:nvSpPr>
          <p:cNvPr id="17" name="Text 15">
            <a:hlinkClick r:id="rId1" tooltip="https://bofasecopsdev.service-now.com/sn_sec_cmn_src_ci_list.do?sysparm_query=number=SDI000003093886"/>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9388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352800"/>
            <a:ext cx="4745736" cy="3048000"/>
          </a:xfrm>
          <a:prstGeom prst="roundRect">
            <a:avLst>
              <a:gd name="adj" fmla="val 18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5082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782568"/>
            <a:ext cx="457200" cy="0"/>
          </a:xfrm>
          <a:prstGeom prst="line">
            <a:avLst/>
          </a:prstGeom>
          <a:noFill/>
          <a:ln w="19050">
            <a:solidFill>
              <a:srgbClr val="E31837"/>
            </a:solidFill>
            <a:prstDash val="solid"/>
          </a:ln>
        </p:spPr>
      </p:sp>
      <p:sp>
        <p:nvSpPr>
          <p:cNvPr id="21" name="Text 19"/>
          <p:cNvSpPr txBox="1"/>
          <p:nvPr/>
        </p:nvSpPr>
        <p:spPr>
          <a:xfrm>
            <a:off x="3749040" y="3855720"/>
            <a:ext cx="4233672" cy="23896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"30.30.58.3"; OS "Windows Server 2022 Standard 64 bit Edition Version 21H2" gives the class win_server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wpa11bwmleas06v [win_server] ip 30.30.58.3 -&gt; exactly one, accepted; name agrees with the scanned label "wpa11bwmleas06v"</a:t>
            </a:r>
            <a:endParaRPr lang="en-US" sz="1300" dirty="0"/>
          </a:p>
        </p:txBody>
      </p:sp>
      <p:sp>
        <p:nvSpPr>
          <p:cNvPr id="22" name="Shape 20"/>
          <p:cNvSpPr/>
          <p:nvPr/>
        </p:nvSpPr>
        <p:spPr>
          <a:xfrm>
            <a:off x="8439912" y="3352800"/>
            <a:ext cx="3246120" cy="3048000"/>
          </a:xfrm>
          <a:prstGeom prst="roundRect">
            <a:avLst>
              <a:gd name="adj" fmla="val 18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517392"/>
            <a:ext cx="64008" cy="2718816"/>
          </a:xfrm>
          <a:prstGeom prst="rect">
            <a:avLst/>
          </a:prstGeom>
          <a:solidFill>
            <a:srgbClr val="E31837"/>
          </a:solidFill>
          <a:ln w="12700">
            <a:solidFill>
              <a:srgbClr val="333333"/>
            </a:solidFill>
            <a:prstDash val="solid"/>
          </a:ln>
        </p:spPr>
      </p:sp>
      <p:sp>
        <p:nvSpPr>
          <p:cNvPr id="24" name="Text 22"/>
          <p:cNvSpPr txBox="1"/>
          <p:nvPr/>
        </p:nvSpPr>
        <p:spPr>
          <a:xfrm>
            <a:off x="8714232" y="35082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782568"/>
            <a:ext cx="457200" cy="0"/>
          </a:xfrm>
          <a:prstGeom prst="line">
            <a:avLst/>
          </a:prstGeom>
          <a:noFill/>
          <a:ln w="19050">
            <a:solidFill>
              <a:srgbClr val="E31837"/>
            </a:solidFill>
            <a:prstDash val="solid"/>
          </a:ln>
        </p:spPr>
      </p:sp>
      <p:sp>
        <p:nvSpPr>
          <p:cNvPr id="26" name="Text 24"/>
          <p:cNvSpPr txBox="1"/>
          <p:nvPr/>
        </p:nvSpPr>
        <p:spPr>
          <a:xfrm>
            <a:off x="8714232" y="38282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wpa11bwmleas06v</a:t>
            </a:r>
            <a:endParaRPr lang="en-US" sz="1500" dirty="0"/>
          </a:p>
        </p:txBody>
      </p:sp>
      <p:sp>
        <p:nvSpPr>
          <p:cNvPr id="27" name="Text 25"/>
          <p:cNvSpPr txBox="1"/>
          <p:nvPr/>
        </p:nvSpPr>
        <p:spPr>
          <a:xfrm>
            <a:off x="8714232" y="41483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Windows Server</a:t>
            </a:r>
            <a:endParaRPr lang="en-US" sz="1100" dirty="0"/>
          </a:p>
        </p:txBody>
      </p:sp>
      <p:sp>
        <p:nvSpPr>
          <p:cNvPr id="28" name="Text 26"/>
          <p:cNvSpPr txBox="1"/>
          <p:nvPr/>
        </p:nvSpPr>
        <p:spPr>
          <a:xfrm>
            <a:off x="8714232" y="4468368"/>
            <a:ext cx="2715768" cy="1219200"/>
          </a:xfrm>
          <a:prstGeom prst="rect">
            <a:avLst/>
          </a:prstGeom>
          <a:noFill/>
          <a:ln/>
        </p:spPr>
        <p:txBody>
          <a:bodyPr wrap="square" lIns="0" tIns="0" rIns="0" bIns="0" rtlCol="0" anchor="t"/>
          <a:lstStyle/>
          <a:p>
            <a:pPr indent="0" marL="0">
              <a:buNone/>
            </a:pPr>
            <a:r>
              <a:rPr lang="en-US" sz="8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850" dirty="0">
                <a:solidFill>
                  <a:srgbClr val="4D4F53"/>
                </a:solidFill>
                <a:latin typeface="Arial" pitchFamily="34" charset="0"/>
                <a:ea typeface="Arial" pitchFamily="34" charset="-122"/>
                <a:cs typeface="Arial" pitchFamily="34" charset="-120"/>
              </a:rPr>
              <a:t>wpa11bwmleas06v.corp.bankofamerica.com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850" dirty="0">
                <a:solidFill>
                  <a:srgbClr val="4D4F53"/>
                </a:solidFill>
                <a:latin typeface="Arial" pitchFamily="34" charset="0"/>
                <a:ea typeface="Arial" pitchFamily="34" charset="-122"/>
                <a:cs typeface="Arial" pitchFamily="34" charset="-120"/>
              </a:rPr>
              <a:t>sdi.corp.bankofamerica.com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850" dirty="0">
                <a:solidFill>
                  <a:srgbClr val="4D4F53"/>
                </a:solidFill>
                <a:latin typeface="Arial" pitchFamily="34" charset="0"/>
                <a:ea typeface="Arial" pitchFamily="34" charset="-122"/>
                <a:cs typeface="Arial" pitchFamily="34" charset="-120"/>
              </a:rPr>
              <a:t>30.30.58.3</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VMware-42 07 9d 6e b9 4f cd 61-da 4a 3a 49 38 36 6e 59</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 Inc. VMware Virtual Platform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Installed</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Non-Operational</a:t>
            </a:r>
            <a:endParaRPr lang="en-US" sz="850" dirty="0"/>
          </a:p>
        </p:txBody>
      </p:sp>
      <p:sp>
        <p:nvSpPr>
          <p:cNvPr id="29" name="Text 27">
            <a:hlinkClick r:id="rId2" tooltip="https://bofasecopsdev.service-now.com/cmdb_ci_win_server.do?sys_id=3fb5a1633bd90754ef3892e643e45ade"/>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3fb5a1633bd90754ef3892e643e45ade"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162</a:t>
            </a:fld>
            <a:endParaRPr lang="en-US"/>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700  ·  IP CLASS MATCH  ·  EXAMPLE 2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wpa11bwmleas06v</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dc38f23a93bec310cfcebc5a7bba10af" history="1" highlightClick="0" endSnd="0">
                  <a:extLst>
                    <a:ext uri="{A12FA001-AC4F-418D-AE19-62706E023703}">
                      <ahyp:hlinkClr xmlns:ahyp="http://schemas.microsoft.com/office/drawing/2018/hyperlinkcolor" val="tx"/>
                    </a:ext>
                  </a:extLst>
                </a:hlinkClick>
              </a:rPr>
              <a:t>SDI000003093886</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3adceccf47624710a1a9295b416d43f9" history="1" highlightClick="0" endSnd="0">
                  <a:extLst>
                    <a:ext uri="{A12FA001-AC4F-418D-AE19-62706E023703}">
                      <ahyp:hlinkClr xmlns:ahyp="http://schemas.microsoft.com/office/drawing/2018/hyperlinkcolor" val="tx"/>
                    </a:ext>
                  </a:extLst>
                </a:hlinkClick>
              </a:rPr>
              <a:t>BOFA IP Class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win_server.do?sys_id=3fb5a1633bd90754ef3892e643e45ade" history="1" highlightClick="0" endSnd="0">
                  <a:extLst>
                    <a:ext uri="{A12FA001-AC4F-418D-AE19-62706E023703}">
                      <ahyp:hlinkClr xmlns:ahyp="http://schemas.microsoft.com/office/drawing/2018/hyperlinkcolor" val="tx"/>
                    </a:ext>
                  </a:extLst>
                </a:hlinkClick>
              </a:rPr>
              <a:t>wpa11bwmleas06v</a:t>
            </a:r>
            <a:endParaRPr lang="en-US" sz="1000" dirty="0"/>
          </a:p>
        </p:txBody>
      </p:sp>
      <p:graphicFrame>
        <p:nvGraphicFramePr>
          <p:cNvPr id="164"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Trims the scanned IP (sourceValue); loopback and link-local addresses are refused. classFor(sourcePayload.OS) turns the OS text "Windows Server 2022 Standard 64 bit Edition Version 21H2" into the CMDB class the search is limited to, sub-classes included; no class means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"30.30.58.3"; OS "Windows Server 2022 Standard 64 bit Edition Version 21H2" gives the class win_server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ip_address equal to the scanned IP, ignored classes left out. Exactly one row is returned when its name agrees with the scanned label (equal, or one a hyphenated extension of the other).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wpa11bwmleas06v [win_server] ip 30.30.58.3 -&gt; exactly one, accepted; name agrees with the scanned label "wpa11bwmleas06v"</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win_server_list.do?sysparm_query=ip_address%3D30.30.58.3" history="1" highlightClick="0" endSnd="0">
                            <a:extLst>
                              <a:ext uri="{A12FA001-AC4F-418D-AE19-62706E023703}">
                                <ahyp:hlinkClr xmlns:ahyp="http://schemas.microsoft.com/office/drawing/2018/hyperlinkcolor" val="tx"/>
                              </a:ext>
                            </a:extLst>
                          </a:hlinkClick>
                        </a:rPr>
                        <a:t>win server: ip_address=30.30.58.3</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win_server.do?sys_id=3fb5a1633bd90754ef3892e643e45ade" history="1" highlightClick="0" endSnd="0">
                            <a:extLst>
                              <a:ext uri="{A12FA001-AC4F-418D-AE19-62706E023703}">
                                <ahyp:hlinkClr xmlns:ahyp="http://schemas.microsoft.com/office/drawing/2018/hyperlinkcolor" val="tx"/>
                              </a:ext>
                            </a:extLst>
                          </a:hlinkClick>
                        </a:rPr>
                        <a:t>wpa11bwmleas06v</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163</a:t>
            </a:fld>
            <a:endParaRPr lang="en-US"/>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700  ·  IP CLASS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wva42bwtmias01v</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win_server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761744"/>
          </a:xfrm>
          <a:prstGeom prst="roundRect">
            <a:avLst>
              <a:gd name="adj" fmla="val 311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2496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"wva42bwtmias01v" is not sep + 12 hex)  ·  FQDN (no dot in the name)  ·  name + domain (no domain in the name)  ·  device name (OS gives the class win_server)  ·  controller (no controller suffix or OS word)  ·  interface (no interface domain or marker)  ·  member (no VIP sign)  ·  service (no VIP sign)</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layered DNS (no DNS Name record for "wva42bwtmias01v")</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host name (2 records in win_server named "wva42bwtmias01v": a tie / 2 records in the hardware tree named "wva42bwtmias01v": a tie)  ·  whole-fqdn name (2 records in the hardware tree named "wva42bwtmias01v": a tie)</a:t>
            </a:r>
            <a:endParaRPr lang="en-US" sz="1100" dirty="0"/>
          </a:p>
        </p:txBody>
      </p:sp>
      <p:sp>
        <p:nvSpPr>
          <p:cNvPr id="12" name="Shape 10"/>
          <p:cNvSpPr/>
          <p:nvPr/>
        </p:nvSpPr>
        <p:spPr>
          <a:xfrm>
            <a:off x="502920" y="3352800"/>
            <a:ext cx="2788920" cy="30480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5082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782568"/>
            <a:ext cx="457200" cy="0"/>
          </a:xfrm>
          <a:prstGeom prst="line">
            <a:avLst/>
          </a:prstGeom>
          <a:noFill/>
          <a:ln w="19050">
            <a:solidFill>
              <a:srgbClr val="E31837"/>
            </a:solidFill>
            <a:prstDash val="solid"/>
          </a:ln>
        </p:spPr>
      </p:sp>
      <p:sp>
        <p:nvSpPr>
          <p:cNvPr id="15" name="Text 13"/>
          <p:cNvSpPr txBox="1"/>
          <p:nvPr/>
        </p:nvSpPr>
        <p:spPr>
          <a:xfrm>
            <a:off x="740664" y="38282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SDI000003070780</a:t>
            </a:r>
            <a:endParaRPr lang="en-US" sz="1500" dirty="0"/>
          </a:p>
        </p:txBody>
      </p:sp>
      <p:sp>
        <p:nvSpPr>
          <p:cNvPr id="16" name="Text 14"/>
          <p:cNvSpPr txBox="1"/>
          <p:nvPr/>
        </p:nvSpPr>
        <p:spPr>
          <a:xfrm>
            <a:off x="740664" y="4194048"/>
            <a:ext cx="2313432" cy="149352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wva42bwtmias01v</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30.133.68.211</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Windows Server 2019 Standard 64 bit Edition Version 1809 Build 17763</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WVA42BWTMIAS01V</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AGENT</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2026-09-21 05:38:51</a:t>
            </a:r>
            <a:endParaRPr lang="en-US" sz="1000" dirty="0"/>
          </a:p>
        </p:txBody>
      </p:sp>
      <p:sp>
        <p:nvSpPr>
          <p:cNvPr id="17" name="Text 15">
            <a:hlinkClick r:id="rId1" tooltip="https://bofasecopsdev.service-now.com/sn_sec_cmn_src_ci_list.do?sysparm_query=number=SDI000003070780"/>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7078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352800"/>
            <a:ext cx="4745736" cy="3048000"/>
          </a:xfrm>
          <a:prstGeom prst="roundRect">
            <a:avLst>
              <a:gd name="adj" fmla="val 18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5082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782568"/>
            <a:ext cx="457200" cy="0"/>
          </a:xfrm>
          <a:prstGeom prst="line">
            <a:avLst/>
          </a:prstGeom>
          <a:noFill/>
          <a:ln w="19050">
            <a:solidFill>
              <a:srgbClr val="E31837"/>
            </a:solidFill>
            <a:prstDash val="solid"/>
          </a:ln>
        </p:spPr>
      </p:sp>
      <p:sp>
        <p:nvSpPr>
          <p:cNvPr id="21" name="Text 19"/>
          <p:cNvSpPr txBox="1"/>
          <p:nvPr/>
        </p:nvSpPr>
        <p:spPr>
          <a:xfrm>
            <a:off x="3749040" y="3855720"/>
            <a:ext cx="4233672" cy="23896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"30.133.68.211"; OS "Windows Server 2019 Standard 64 bit Edition Version 1809 Build 17763" gives the class win_server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wva42bwtmias01v [win_server] ip 30.133.68.211 -&gt; exactly one, accepted; name agrees with the scanned label "wva42bwtmias01v"</a:t>
            </a:r>
            <a:endParaRPr lang="en-US" sz="1300" dirty="0"/>
          </a:p>
        </p:txBody>
      </p:sp>
      <p:sp>
        <p:nvSpPr>
          <p:cNvPr id="22" name="Shape 20"/>
          <p:cNvSpPr/>
          <p:nvPr/>
        </p:nvSpPr>
        <p:spPr>
          <a:xfrm>
            <a:off x="8439912" y="3352800"/>
            <a:ext cx="3246120" cy="3048000"/>
          </a:xfrm>
          <a:prstGeom prst="roundRect">
            <a:avLst>
              <a:gd name="adj" fmla="val 18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517392"/>
            <a:ext cx="64008" cy="2718816"/>
          </a:xfrm>
          <a:prstGeom prst="rect">
            <a:avLst/>
          </a:prstGeom>
          <a:solidFill>
            <a:srgbClr val="E31837"/>
          </a:solidFill>
          <a:ln w="12700">
            <a:solidFill>
              <a:srgbClr val="333333"/>
            </a:solidFill>
            <a:prstDash val="solid"/>
          </a:ln>
        </p:spPr>
      </p:sp>
      <p:sp>
        <p:nvSpPr>
          <p:cNvPr id="24" name="Text 22"/>
          <p:cNvSpPr txBox="1"/>
          <p:nvPr/>
        </p:nvSpPr>
        <p:spPr>
          <a:xfrm>
            <a:off x="8714232" y="35082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782568"/>
            <a:ext cx="457200" cy="0"/>
          </a:xfrm>
          <a:prstGeom prst="line">
            <a:avLst/>
          </a:prstGeom>
          <a:noFill/>
          <a:ln w="19050">
            <a:solidFill>
              <a:srgbClr val="E31837"/>
            </a:solidFill>
            <a:prstDash val="solid"/>
          </a:ln>
        </p:spPr>
      </p:sp>
      <p:sp>
        <p:nvSpPr>
          <p:cNvPr id="26" name="Text 24"/>
          <p:cNvSpPr txBox="1"/>
          <p:nvPr/>
        </p:nvSpPr>
        <p:spPr>
          <a:xfrm>
            <a:off x="8714232" y="38282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wva42bwtmias01v</a:t>
            </a:r>
            <a:endParaRPr lang="en-US" sz="1500" dirty="0"/>
          </a:p>
        </p:txBody>
      </p:sp>
      <p:sp>
        <p:nvSpPr>
          <p:cNvPr id="27" name="Text 25"/>
          <p:cNvSpPr txBox="1"/>
          <p:nvPr/>
        </p:nvSpPr>
        <p:spPr>
          <a:xfrm>
            <a:off x="8714232" y="41483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Windows Server</a:t>
            </a:r>
            <a:endParaRPr lang="en-US" sz="1100" dirty="0"/>
          </a:p>
        </p:txBody>
      </p:sp>
      <p:sp>
        <p:nvSpPr>
          <p:cNvPr id="28" name="Text 26"/>
          <p:cNvSpPr txBox="1"/>
          <p:nvPr/>
        </p:nvSpPr>
        <p:spPr>
          <a:xfrm>
            <a:off x="8714232" y="4468368"/>
            <a:ext cx="2715768" cy="1219200"/>
          </a:xfrm>
          <a:prstGeom prst="rect">
            <a:avLst/>
          </a:prstGeom>
          <a:noFill/>
          <a:ln/>
        </p:spPr>
        <p:txBody>
          <a:bodyPr wrap="square" lIns="0" tIns="0" rIns="0" bIns="0" rtlCol="0" anchor="t"/>
          <a:lstStyle/>
          <a:p>
            <a:pPr indent="0" marL="0">
              <a:buNone/>
            </a:pPr>
            <a:r>
              <a:rPr lang="en-US" sz="8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850" dirty="0">
                <a:solidFill>
                  <a:srgbClr val="4D4F53"/>
                </a:solidFill>
                <a:latin typeface="Arial" pitchFamily="34" charset="0"/>
                <a:ea typeface="Arial" pitchFamily="34" charset="-122"/>
                <a:cs typeface="Arial" pitchFamily="34" charset="-120"/>
              </a:rPr>
              <a:t>wva42bwtmias01v.corp.bankofamerica.com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850" dirty="0">
                <a:solidFill>
                  <a:srgbClr val="4D4F53"/>
                </a:solidFill>
                <a:latin typeface="Arial" pitchFamily="34" charset="0"/>
                <a:ea typeface="Arial" pitchFamily="34" charset="-122"/>
                <a:cs typeface="Arial" pitchFamily="34" charset="-120"/>
              </a:rPr>
              <a:t>sdi.corp.bankofamerica.com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850" dirty="0">
                <a:solidFill>
                  <a:srgbClr val="4D4F53"/>
                </a:solidFill>
                <a:latin typeface="Arial" pitchFamily="34" charset="0"/>
                <a:ea typeface="Arial" pitchFamily="34" charset="-122"/>
                <a:cs typeface="Arial" pitchFamily="34" charset="-120"/>
              </a:rPr>
              <a:t>30.133.68.211</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VMware-42 02 75 00 ff 30 5e ef-a0 e2 1b d8 5f e7 e4 f0</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 Inc. VMware Virtual Platform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Installed</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Non-Operational</a:t>
            </a:r>
            <a:endParaRPr lang="en-US" sz="850" dirty="0"/>
          </a:p>
        </p:txBody>
      </p:sp>
      <p:sp>
        <p:nvSpPr>
          <p:cNvPr id="29" name="Text 27">
            <a:hlinkClick r:id="rId2" tooltip="https://bofasecopsdev.service-now.com/cmdb_ci_win_server.do?sys_id=8bfab94747d18714b5da45ac026d434c"/>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8bfab94747d18714b5da45ac026d434c"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164</a:t>
            </a:fld>
            <a:endParaRPr lang="en-US"/>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700  ·  IP CLASS MATCH  ·  EXAMPLE 3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wva42bwtmias01v</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a858ea3a933ec310cfcebc5a7bba1094" history="1" highlightClick="0" endSnd="0">
                  <a:extLst>
                    <a:ext uri="{A12FA001-AC4F-418D-AE19-62706E023703}">
                      <ahyp:hlinkClr xmlns:ahyp="http://schemas.microsoft.com/office/drawing/2018/hyperlinkcolor" val="tx"/>
                    </a:ext>
                  </a:extLst>
                </a:hlinkClick>
              </a:rPr>
              <a:t>SDI000003070780</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3adceccf47624710a1a9295b416d43f9" history="1" highlightClick="0" endSnd="0">
                  <a:extLst>
                    <a:ext uri="{A12FA001-AC4F-418D-AE19-62706E023703}">
                      <ahyp:hlinkClr xmlns:ahyp="http://schemas.microsoft.com/office/drawing/2018/hyperlinkcolor" val="tx"/>
                    </a:ext>
                  </a:extLst>
                </a:hlinkClick>
              </a:rPr>
              <a:t>BOFA IP Class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win_server.do?sys_id=8bfab94747d18714b5da45ac026d434c" history="1" highlightClick="0" endSnd="0">
                  <a:extLst>
                    <a:ext uri="{A12FA001-AC4F-418D-AE19-62706E023703}">
                      <ahyp:hlinkClr xmlns:ahyp="http://schemas.microsoft.com/office/drawing/2018/hyperlinkcolor" val="tx"/>
                    </a:ext>
                  </a:extLst>
                </a:hlinkClick>
              </a:rPr>
              <a:t>wva42bwtmias01v</a:t>
            </a:r>
            <a:endParaRPr lang="en-US" sz="1000" dirty="0"/>
          </a:p>
        </p:txBody>
      </p:sp>
      <p:graphicFrame>
        <p:nvGraphicFramePr>
          <p:cNvPr id="166"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Trims the scanned IP (sourceValue); loopback and link-local addresses are refused. classFor(sourcePayload.OS) turns the OS text "Windows Server 2019 Standard 64 bit Edition Version 1809 Build 17763" into the CMDB class the search is limited to, sub-classes included; no class means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"30.133.68.211"; OS "Windows Server 2019 Standard 64 bit Edition Version 1809 Build 17763" gives the class win_server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ip_address equal to the scanned IP, ignored classes left out. Exactly one row is returned when its name agrees with the scanned label (equal, or one a hyphenated extension of the other).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wva42bwtmias01v [win_server] ip 30.133.68.211 -&gt; exactly one, accepted; name agrees with the scanned label "wva42bwtmias01v"</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win_server_list.do?sysparm_query=ip_address%3D30.133.68.211" history="1" highlightClick="0" endSnd="0">
                            <a:extLst>
                              <a:ext uri="{A12FA001-AC4F-418D-AE19-62706E023703}">
                                <ahyp:hlinkClr xmlns:ahyp="http://schemas.microsoft.com/office/drawing/2018/hyperlinkcolor" val="tx"/>
                              </a:ext>
                            </a:extLst>
                          </a:hlinkClick>
                        </a:rPr>
                        <a:t>win server: ip_address=30.133.68.211</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win_server.do?sys_id=8bfab94747d18714b5da45ac026d434c" history="1" highlightClick="0" endSnd="0">
                            <a:extLst>
                              <a:ext uri="{A12FA001-AC4F-418D-AE19-62706E023703}">
                                <ahyp:hlinkClr xmlns:ahyp="http://schemas.microsoft.com/office/drawing/2018/hyperlinkcolor" val="tx"/>
                              </a:ext>
                            </a:extLst>
                          </a:hlinkClick>
                        </a:rPr>
                        <a:t>wva42bwtmias01v</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165</a:t>
            </a:fld>
            <a:endParaRPr lang="en-US"/>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705  ·  IP ADDRESS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706880"/>
          </a:xfrm>
          <a:prstGeom prst="roundRect">
            <a:avLst>
              <a:gd name="adj" fmla="val 321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3776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0668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scanned IP across the whole hardware tree (cmdb_ci_hardware and every class beneath it) when exactly one hardware CI carries it on ip_address; safety comes from four checks after the query: one row, not a load balancer, name agreement, class agreement with the scanned OS.</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after the class-restricted rule to reach CIs kept in a parent class or hosts whose OS gave no class.</a:t>
            </a:r>
            <a:endParaRPr lang="en-US" sz="1500" dirty="0"/>
          </a:p>
        </p:txBody>
      </p:sp>
      <p:sp>
        <p:nvSpPr>
          <p:cNvPr id="13" name="Shape 11"/>
          <p:cNvSpPr/>
          <p:nvPr/>
        </p:nvSpPr>
        <p:spPr>
          <a:xfrm>
            <a:off x="502920" y="3380232"/>
            <a:ext cx="6933529" cy="2565400"/>
          </a:xfrm>
          <a:prstGeom prst="roundRect">
            <a:avLst>
              <a:gd name="adj" fmla="val 2139"/>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5631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3837432"/>
            <a:ext cx="457200" cy="0"/>
          </a:xfrm>
          <a:prstGeom prst="line">
            <a:avLst/>
          </a:prstGeom>
          <a:noFill/>
          <a:ln w="19050">
            <a:solidFill>
              <a:srgbClr val="E31837"/>
            </a:solidFill>
            <a:prstDash val="solid"/>
          </a:ln>
        </p:spPr>
      </p:sp>
      <p:sp>
        <p:nvSpPr>
          <p:cNvPr id="16" name="Text 14"/>
          <p:cNvSpPr txBox="1"/>
          <p:nvPr/>
        </p:nvSpPr>
        <p:spPr>
          <a:xfrm>
            <a:off x="822960" y="3928872"/>
            <a:ext cx="6293449" cy="18338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IP (sourceValue). Payload fields: OS (class preference consumed only by agrees()) and DNS (host-name agreement). The rule argument is never read.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one cmdb_ci_hardware row (any sub-class outside the ignore list) whose ip_address equals the scanned address, provided it is not in cmdb_ci_lb, its name agrees with the scanned label and its class agrees with the OS-implied class; null otherwise.</a:t>
            </a:r>
            <a:endParaRPr lang="en-US" sz="1400" dirty="0"/>
          </a:p>
        </p:txBody>
      </p:sp>
      <p:sp>
        <p:nvSpPr>
          <p:cNvPr id="17" name="Shape 15"/>
          <p:cNvSpPr/>
          <p:nvPr/>
        </p:nvSpPr>
        <p:spPr>
          <a:xfrm>
            <a:off x="7665049" y="3380232"/>
            <a:ext cx="4020983" cy="2565400"/>
          </a:xfrm>
          <a:prstGeom prst="roundRect">
            <a:avLst>
              <a:gd name="adj" fmla="val 2139"/>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5631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3837432"/>
            <a:ext cx="457200" cy="0"/>
          </a:xfrm>
          <a:prstGeom prst="line">
            <a:avLst/>
          </a:prstGeom>
          <a:noFill/>
          <a:ln w="19050">
            <a:solidFill>
              <a:srgbClr val="E31837"/>
            </a:solidFill>
            <a:prstDash val="solid"/>
          </a:ln>
        </p:spPr>
      </p:sp>
      <p:sp>
        <p:nvSpPr>
          <p:cNvPr id="20" name="Text 18"/>
          <p:cNvSpPr txBox="1"/>
          <p:nvPr/>
        </p:nvSpPr>
        <p:spPr>
          <a:xfrm>
            <a:off x="7985089" y="3928872"/>
            <a:ext cx="3380903" cy="82804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IP Class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IP Adapter Match</a:t>
            </a:r>
            <a:endParaRPr lang="en-US" sz="1300" dirty="0"/>
          </a:p>
        </p:txBody>
      </p:sp>
      <p:sp>
        <p:nvSpPr>
          <p:cNvPr id="21" name="Text 19"/>
          <p:cNvSpPr txBox="1"/>
          <p:nvPr/>
        </p:nvSpPr>
        <p:spPr>
          <a:xfrm>
            <a:off x="7985089" y="48483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20,422</a:t>
            </a:r>
            <a:endParaRPr lang="en-US" sz="2800" dirty="0"/>
          </a:p>
        </p:txBody>
      </p:sp>
      <p:sp>
        <p:nvSpPr>
          <p:cNvPr id="22" name="Text 20"/>
          <p:cNvSpPr txBox="1"/>
          <p:nvPr/>
        </p:nvSpPr>
        <p:spPr>
          <a:xfrm>
            <a:off x="7985089" y="54152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166</a:t>
            </a:fld>
            <a:endParaRPr lang="en-US"/>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705  ·  IP ADDRESS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6048"/>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7408"/>
          </a:xfrm>
          <a:prstGeom prst="rect">
            <a:avLst/>
          </a:prstGeom>
          <a:noFill/>
          <a:ln/>
        </p:spPr>
        <p:txBody>
          <a:bodyPr wrap="square" lIns="0" tIns="0" rIns="0" bIns="0" rtlCol="0" anchor="t"/>
          <a:lstStyle/>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1   Address guard.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2   Ignored class list.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3   Class preference from the OS.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pref = classFor(sourcePayload.OS), the same mapping as USEM IP Class Match. An empty pref does not end the rule here: it only means agrees() refuses nothing in the last stage (the sample's seven-guess fingerprint gives '').</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4   Search across the hardware tree.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gr = new GlideRecord('cmdb_ci_hardware'), which covers Hardware and every class beneath it, with no isValid() guard; addQuery('ip_address', ip); when ignore is non-empty addQuery('sys_class_name', 'NOT IN', ignore); query(). No class filter beyond the tree.</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5   Exactly one row.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If next() is false, null. id = getUniqueValue() and cls = '' + getValue('sys_class_name') of the first row. If hasNext() is true (a shared virtual IP, an address reused after a rebuild) the rule returns null. No setLimit, no tie-break.</a:t>
            </a:r>
            <a:endParaRPr lang="en-US" sz="1200" dirty="0"/>
          </a:p>
        </p:txBody>
      </p:sp>
      <p:sp>
        <p:nvSpPr>
          <p:cNvPr id="10" name="Text 8"/>
          <p:cNvSpPr txBox="1"/>
          <p:nvPr/>
        </p:nvSpPr>
        <p:spPr>
          <a:xfrm>
            <a:off x="6277356" y="1746504"/>
            <a:ext cx="5088636" cy="4407408"/>
          </a:xfrm>
          <a:prstGeom prst="rect">
            <a:avLst/>
          </a:prstGeom>
          <a:noFill/>
          <a:ln/>
        </p:spPr>
        <p:txBody>
          <a:bodyPr wrap="square" lIns="0" tIns="0" rIns="0" bIns="0" rtlCol="0" anchor="t"/>
          <a:lstStyle/>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6   Load balancer refusal.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isLoadBalancer(id): new GlideRecord('cmdb_ci_lb'), isValid() &amp;&amp; get(id), so a CI of cmdb_ci_lb or any class beneath it counts. True means the address is a virtual IP answered for the pool members behind the balancer, and the rule returns null.</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7   Host-name agreement.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nameAgrees(id): label = DNS trimmed, lower-cased, first dot label; empty label passes. name = cmdb_ci.name of the CI, same normalisation; empty passes. Pass when name == label or one starts with the other plus '-'. A failure returns null.</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8   Class agreement.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agrees(cls): true when pref is '' or cls == pref; true when parentsOf(cls) contains pref (cls is a sub-class); true when parentsOf(pref) contains cls (cls is a parent, e.g. cmdb_ci_server for an ESXi host). Any other class returns null.</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9   Return.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Return id once all four checks pass, in this order: a single hardware row, not a load balancer, name agreeing with the scan, class agreeing with the OS.</a:t>
            </a:r>
            <a:endParaRPr lang="en-US" sz="12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167</a:t>
            </a:fld>
            <a:endParaRPr lang="en-US"/>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705  ·  IP ADDRESS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406140"/>
          </a:xfrm>
          <a:prstGeom prst="roundRect">
            <a:avLst>
              <a:gd name="adj" fmla="val 1611"/>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30769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7660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 or the trimmed address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address starts with '127.' or '169.254.'</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cmdb_ci_hardware row outside the ignore list carries the address on ip_address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A second hardware row carries the same address (hasNext() true), whatever the classes involved</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single CI is a load balancer: cmdb_ci_lb is a valid table and cmdb_ci_lb.get(sys_id) succeeds</a:t>
            </a:r>
            <a:endParaRPr lang="en-US" sz="1500" dirty="0"/>
          </a:p>
        </p:txBody>
      </p:sp>
      <p:sp>
        <p:nvSpPr>
          <p:cNvPr id="13" name="Text 11"/>
          <p:cNvSpPr txBox="1"/>
          <p:nvPr/>
        </p:nvSpPr>
        <p:spPr>
          <a:xfrm>
            <a:off x="6277356" y="1975104"/>
            <a:ext cx="5088636" cy="27660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payload carries a DNS name and the CI name's first label neither equals it nor differs from it only by a hyphenated tail</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OS gave a class and the CI's sys_class_name is neither that class, a sub-class of it, nor a parent of it</a:t>
            </a:r>
            <a:endParaRPr lang="en-US" sz="1500" dirty="0"/>
          </a:p>
        </p:txBody>
      </p:sp>
      <p:sp>
        <p:nvSpPr>
          <p:cNvPr id="14" name="Shape 12"/>
          <p:cNvSpPr/>
          <p:nvPr/>
        </p:nvSpPr>
        <p:spPr>
          <a:xfrm>
            <a:off x="502920" y="50794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50794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IP Adapter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168</a:t>
            </a:fld>
            <a:endParaRPr lang="en-US"/>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705  ·  IP HARDWARE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wva20bmsendb01v.corp.bankofamerica.com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computer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876044"/>
          </a:xfrm>
          <a:prstGeom prst="roundRect">
            <a:avLst>
              <a:gd name="adj" fmla="val 292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363980"/>
          </a:xfrm>
          <a:prstGeom prst="rect">
            <a:avLst/>
          </a:prstGeom>
          <a:noFill/>
          <a:ln/>
        </p:spPr>
        <p:txBody>
          <a:bodyPr wrap="square" lIns="0" tIns="0" rIns="0" bIns="0" rtlCol="0" anchor="t"/>
          <a:lstStyle/>
          <a:p>
            <a:pPr indent="0" marL="0">
              <a:lnSpc>
                <a:spcPct val="100000"/>
              </a:lnSpc>
              <a:buNone/>
            </a:pPr>
            <a:r>
              <a:rPr lang="en-US" sz="105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050" dirty="0">
                <a:solidFill>
                  <a:srgbClr val="4D4F53"/>
                </a:solidFill>
                <a:latin typeface="Arial" pitchFamily="34" charset="0"/>
                <a:ea typeface="Arial" pitchFamily="34" charset="-122"/>
                <a:cs typeface="Arial" pitchFamily="34" charset="-120"/>
              </a:rPr>
              <a:t>serial (no serial reported)  ·  phone MAC (label "wva20bmsendb01v" is not sep + 12 hex)  ·  device name (OS gives the class win_server)  ·  controller (no controller suffix or OS word)  ·  interface (no interface domain or marker)  ·  member (no VIP sign)  ·  service (no VIP sign)</a:t>
            </a:r>
            <a:endParaRPr lang="en-US" sz="1050" dirty="0"/>
          </a:p>
          <a:p>
            <a:pPr indent="0" marL="0">
              <a:lnSpc>
                <a:spcPct val="100000"/>
              </a:lnSpc>
              <a:buNone/>
            </a:pPr>
            <a:r>
              <a:rPr lang="en-US" sz="105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050" dirty="0">
                <a:solidFill>
                  <a:srgbClr val="4D4F53"/>
                </a:solidFill>
                <a:latin typeface="Arial" pitchFamily="34" charset="0"/>
                <a:ea typeface="Arial" pitchFamily="34" charset="-122"/>
                <a:cs typeface="Arial" pitchFamily="34" charset="-120"/>
              </a:rPr>
              <a:t>layered DNS (no DNS Name record for "wva20bmsendb01v.corp.bankofamerica.com")  ·  whole-fqdn name (no record in the hardware tree named "wva20bmsendb01v.corp.bankofamerica.com")  ·  address (no record in win_server carries the address)</a:t>
            </a:r>
            <a:endParaRPr lang="en-US" sz="1050" dirty="0"/>
          </a:p>
          <a:p>
            <a:pPr indent="0" marL="0">
              <a:lnSpc>
                <a:spcPct val="100000"/>
              </a:lnSpc>
              <a:buNone/>
            </a:pPr>
            <a:r>
              <a:rPr lang="en-US" sz="105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050" dirty="0">
                <a:solidFill>
                  <a:srgbClr val="4D4F53"/>
                </a:solidFill>
                <a:latin typeface="Arial" pitchFamily="34" charset="0"/>
                <a:ea typeface="Arial" pitchFamily="34" charset="-122"/>
                <a:cs typeface="Arial" pitchFamily="34" charset="-120"/>
              </a:rPr>
              <a:t>FQDN (3 records in win_server carry the fqdn: a tie / 3 records in the hardware tree carry the fqdn: a tie)  ·  name + domain (3 named "wva20bmsendb01v", 3 with the domain "corp.bankofamerica.com": a tie / 4 named "wva20bmsendb01v", 3 with the domain "corp.bankofamerica.com": a tie)  ·  host name (3 records in win_server named "wva20bmsendb01v": a tie / 4 records in the hardware tree named "wva20bmsendb01v": a tie)</a:t>
            </a:r>
            <a:endParaRPr lang="en-US" sz="1050" dirty="0"/>
          </a:p>
        </p:txBody>
      </p:sp>
      <p:sp>
        <p:nvSpPr>
          <p:cNvPr id="12" name="Shape 10"/>
          <p:cNvSpPr/>
          <p:nvPr/>
        </p:nvSpPr>
        <p:spPr>
          <a:xfrm>
            <a:off x="502920" y="3467100"/>
            <a:ext cx="2788920" cy="29337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6225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896868"/>
            <a:ext cx="457200" cy="0"/>
          </a:xfrm>
          <a:prstGeom prst="line">
            <a:avLst/>
          </a:prstGeom>
          <a:noFill/>
          <a:ln w="19050">
            <a:solidFill>
              <a:srgbClr val="E31837"/>
            </a:solidFill>
            <a:prstDash val="solid"/>
          </a:ln>
        </p:spPr>
      </p:sp>
      <p:sp>
        <p:nvSpPr>
          <p:cNvPr id="15" name="Text 13"/>
          <p:cNvSpPr txBox="1"/>
          <p:nvPr/>
        </p:nvSpPr>
        <p:spPr>
          <a:xfrm>
            <a:off x="740664" y="39425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SDI000003007215</a:t>
            </a:r>
            <a:endParaRPr lang="en-US" sz="1500" dirty="0"/>
          </a:p>
        </p:txBody>
      </p:sp>
      <p:sp>
        <p:nvSpPr>
          <p:cNvPr id="16" name="Text 14"/>
          <p:cNvSpPr txBox="1"/>
          <p:nvPr/>
        </p:nvSpPr>
        <p:spPr>
          <a:xfrm>
            <a:off x="740664" y="4308348"/>
            <a:ext cx="2313432" cy="1379220"/>
          </a:xfrm>
          <a:prstGeom prst="rect">
            <a:avLst/>
          </a:prstGeom>
          <a:noFill/>
          <a:ln/>
        </p:spPr>
        <p:txBody>
          <a:bodyPr wrap="square" lIns="0" tIns="0" rIns="0" bIns="0" rtlCol="0" anchor="t"/>
          <a:lstStyle/>
          <a:p>
            <a:pPr indent="0" marL="0">
              <a:buNone/>
            </a:pPr>
            <a:r>
              <a:rPr lang="en-US" sz="9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900" dirty="0">
                <a:solidFill>
                  <a:srgbClr val="4D4F53"/>
                </a:solidFill>
                <a:latin typeface="Arial" pitchFamily="34" charset="0"/>
                <a:ea typeface="Arial" pitchFamily="34" charset="-122"/>
                <a:cs typeface="Arial" pitchFamily="34" charset="-120"/>
              </a:rPr>
              <a:t>wva20bmsendb01v.corp.bankofamerica.com</a:t>
            </a:r>
            <a:endParaRPr lang="en-US" sz="900" dirty="0"/>
          </a:p>
          <a:p>
            <a:pPr indent="0" marL="0">
              <a:buNone/>
            </a:pPr>
            <a:r>
              <a:rPr lang="en-US" sz="9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900" dirty="0">
                <a:solidFill>
                  <a:srgbClr val="4D4F53"/>
                </a:solidFill>
                <a:latin typeface="Arial" pitchFamily="34" charset="0"/>
                <a:ea typeface="Arial" pitchFamily="34" charset="-122"/>
                <a:cs typeface="Arial" pitchFamily="34" charset="-120"/>
              </a:rPr>
              <a:t>30.37.248.149</a:t>
            </a:r>
            <a:endParaRPr lang="en-US" sz="900" dirty="0"/>
          </a:p>
          <a:p>
            <a:pPr indent="0" marL="0">
              <a:buNone/>
            </a:pPr>
            <a:r>
              <a:rPr lang="en-US" sz="9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900" dirty="0">
                <a:solidFill>
                  <a:srgbClr val="4D4F53"/>
                </a:solidFill>
                <a:latin typeface="Arial" pitchFamily="34" charset="0"/>
                <a:ea typeface="Arial" pitchFamily="34" charset="-122"/>
                <a:cs typeface="Arial" pitchFamily="34" charset="-120"/>
              </a:rPr>
              <a:t>Windows Server 2022 Standard 64 bit Edition Version 21H2</a:t>
            </a:r>
            <a:endParaRPr lang="en-US" sz="900" dirty="0"/>
          </a:p>
          <a:p>
            <a:pPr indent="0" marL="0">
              <a:buNone/>
            </a:pPr>
            <a:r>
              <a:rPr lang="en-US" sz="90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900" dirty="0">
                <a:solidFill>
                  <a:srgbClr val="4D4F53"/>
                </a:solidFill>
                <a:latin typeface="Arial" pitchFamily="34" charset="0"/>
                <a:ea typeface="Arial" pitchFamily="34" charset="-122"/>
                <a:cs typeface="Arial" pitchFamily="34" charset="-120"/>
              </a:rPr>
              <a:t>WVA20BMSENDB01V</a:t>
            </a:r>
            <a:endParaRPr lang="en-US" sz="900" dirty="0"/>
          </a:p>
          <a:p>
            <a:pPr indent="0" marL="0">
              <a:buNone/>
            </a:pPr>
            <a:r>
              <a:rPr lang="en-US" sz="9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900" dirty="0">
                <a:solidFill>
                  <a:srgbClr val="4D4F53"/>
                </a:solidFill>
                <a:latin typeface="Arial" pitchFamily="34" charset="0"/>
                <a:ea typeface="Arial" pitchFamily="34" charset="-122"/>
                <a:cs typeface="Arial" pitchFamily="34" charset="-120"/>
              </a:rPr>
              <a:t>AGENT</a:t>
            </a:r>
            <a:endParaRPr lang="en-US" sz="900" dirty="0"/>
          </a:p>
          <a:p>
            <a:pPr indent="0" marL="0">
              <a:buNone/>
            </a:pPr>
            <a:r>
              <a:rPr lang="en-US" sz="9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900" dirty="0">
                <a:solidFill>
                  <a:srgbClr val="4D4F53"/>
                </a:solidFill>
                <a:latin typeface="Arial" pitchFamily="34" charset="0"/>
                <a:ea typeface="Arial" pitchFamily="34" charset="-122"/>
                <a:cs typeface="Arial" pitchFamily="34" charset="-120"/>
              </a:rPr>
              <a:t>2026-09-21 05:37:59</a:t>
            </a:r>
            <a:endParaRPr lang="en-US" sz="900" dirty="0"/>
          </a:p>
        </p:txBody>
      </p:sp>
      <p:sp>
        <p:nvSpPr>
          <p:cNvPr id="17" name="Text 15">
            <a:hlinkClick r:id="rId1" tooltip="https://bofasecopsdev.service-now.com/sn_sec_cmn_src_ci_list.do?sysparm_query=number=SDI000003007215"/>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0721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467100"/>
            <a:ext cx="4745736" cy="2933700"/>
          </a:xfrm>
          <a:prstGeom prst="roundRect">
            <a:avLst>
              <a:gd name="adj" fmla="val 187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6225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896868"/>
            <a:ext cx="457200" cy="0"/>
          </a:xfrm>
          <a:prstGeom prst="line">
            <a:avLst/>
          </a:prstGeom>
          <a:noFill/>
          <a:ln w="19050">
            <a:solidFill>
              <a:srgbClr val="E31837"/>
            </a:solidFill>
            <a:prstDash val="solid"/>
          </a:ln>
        </p:spPr>
      </p:sp>
      <p:sp>
        <p:nvSpPr>
          <p:cNvPr id="21" name="Text 19"/>
          <p:cNvSpPr txBox="1"/>
          <p:nvPr/>
        </p:nvSpPr>
        <p:spPr>
          <a:xfrm>
            <a:off x="3749040" y="3970020"/>
            <a:ext cx="4233672" cy="22753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"30.37.248.149"; the whole hardware tree, the OS class kept as a preference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wva20bmsendb01v [computer] ip 30.37.248.149 -&gt; exactly one, accepted; not a load balancer device; class agrees with the OS; name agrees with the scanned label "wva20bmsendb01v"</a:t>
            </a:r>
            <a:endParaRPr lang="en-US" sz="1300" dirty="0"/>
          </a:p>
        </p:txBody>
      </p:sp>
      <p:sp>
        <p:nvSpPr>
          <p:cNvPr id="22" name="Shape 20"/>
          <p:cNvSpPr/>
          <p:nvPr/>
        </p:nvSpPr>
        <p:spPr>
          <a:xfrm>
            <a:off x="8439912" y="3467100"/>
            <a:ext cx="3246120" cy="2933700"/>
          </a:xfrm>
          <a:prstGeom prst="roundRect">
            <a:avLst>
              <a:gd name="adj" fmla="val 187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631692"/>
            <a:ext cx="64008" cy="2604516"/>
          </a:xfrm>
          <a:prstGeom prst="rect">
            <a:avLst/>
          </a:prstGeom>
          <a:solidFill>
            <a:srgbClr val="E31837"/>
          </a:solidFill>
          <a:ln w="12700">
            <a:solidFill>
              <a:srgbClr val="333333"/>
            </a:solidFill>
            <a:prstDash val="solid"/>
          </a:ln>
        </p:spPr>
      </p:sp>
      <p:sp>
        <p:nvSpPr>
          <p:cNvPr id="24" name="Text 22"/>
          <p:cNvSpPr txBox="1"/>
          <p:nvPr/>
        </p:nvSpPr>
        <p:spPr>
          <a:xfrm>
            <a:off x="8714232" y="36225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896868"/>
            <a:ext cx="457200" cy="0"/>
          </a:xfrm>
          <a:prstGeom prst="line">
            <a:avLst/>
          </a:prstGeom>
          <a:noFill/>
          <a:ln w="19050">
            <a:solidFill>
              <a:srgbClr val="E31837"/>
            </a:solidFill>
            <a:prstDash val="solid"/>
          </a:ln>
        </p:spPr>
      </p:sp>
      <p:sp>
        <p:nvSpPr>
          <p:cNvPr id="26" name="Text 24"/>
          <p:cNvSpPr txBox="1"/>
          <p:nvPr/>
        </p:nvSpPr>
        <p:spPr>
          <a:xfrm>
            <a:off x="8714232" y="39425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wva20bmsendb01v</a:t>
            </a:r>
            <a:endParaRPr lang="en-US" sz="1500" dirty="0"/>
          </a:p>
        </p:txBody>
      </p:sp>
      <p:sp>
        <p:nvSpPr>
          <p:cNvPr id="27" name="Text 25"/>
          <p:cNvSpPr txBox="1"/>
          <p:nvPr/>
        </p:nvSpPr>
        <p:spPr>
          <a:xfrm>
            <a:off x="8714232" y="42626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Computer</a:t>
            </a:r>
            <a:endParaRPr lang="en-US" sz="1100" dirty="0"/>
          </a:p>
        </p:txBody>
      </p:sp>
      <p:sp>
        <p:nvSpPr>
          <p:cNvPr id="28" name="Text 26"/>
          <p:cNvSpPr txBox="1"/>
          <p:nvPr/>
        </p:nvSpPr>
        <p:spPr>
          <a:xfrm>
            <a:off x="8714232" y="4582668"/>
            <a:ext cx="2715768" cy="1104900"/>
          </a:xfrm>
          <a:prstGeom prst="rect">
            <a:avLst/>
          </a:prstGeom>
          <a:noFill/>
          <a:ln/>
        </p:spPr>
        <p:txBody>
          <a:bodyPr wrap="square" lIns="0" tIns="0" rIns="0" bIns="0" rtlCol="0" anchor="t"/>
          <a:lstStyle/>
          <a:p>
            <a:pPr indent="0" marL="0">
              <a:buNone/>
            </a:pPr>
            <a:r>
              <a:rPr lang="en-US" sz="8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850" dirty="0">
                <a:solidFill>
                  <a:srgbClr val="4D4F53"/>
                </a:solidFill>
                <a:latin typeface="Arial" pitchFamily="34" charset="0"/>
                <a:ea typeface="Arial" pitchFamily="34" charset="-122"/>
                <a:cs typeface="Arial" pitchFamily="34" charset="-120"/>
              </a:rPr>
              <a:t>sdi.corp.bankofamerica.com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850" dirty="0">
                <a:solidFill>
                  <a:srgbClr val="4D4F53"/>
                </a:solidFill>
                <a:latin typeface="Arial" pitchFamily="34" charset="0"/>
                <a:ea typeface="Arial" pitchFamily="34" charset="-122"/>
                <a:cs typeface="Arial" pitchFamily="34" charset="-120"/>
              </a:rPr>
              <a:t>30.37.248.149</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VMware-423fcfe1-4c6f-62ab-ff9d-e6861bc33d2c</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 Inc. VMware Virtual Platform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Installed</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Non-Operational</a:t>
            </a:r>
            <a:endParaRPr lang="en-US" sz="850" dirty="0"/>
          </a:p>
        </p:txBody>
      </p:sp>
      <p:sp>
        <p:nvSpPr>
          <p:cNvPr id="29" name="Text 27">
            <a:hlinkClick r:id="rId2" tooltip="https://bofasecopsdev.service-now.com/cmdb_ci_computer.do?sys_id=f1593dbd3b74c710ef3892e643e45a81"/>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computer.do?sys_id=f1593dbd3b74c710ef3892e643e45a81"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169</a:t>
            </a:fld>
            <a:endParaRPr lang="en-US"/>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705  ·  IP HARDWARE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wva20bmsendb01v.corp.bankofamerica.com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614df97e3b328b189289d164c3e45a44" history="1" highlightClick="0" endSnd="0">
                  <a:extLst>
                    <a:ext uri="{A12FA001-AC4F-418D-AE19-62706E023703}">
                      <ahyp:hlinkClr xmlns:ahyp="http://schemas.microsoft.com/office/drawing/2018/hyperlinkcolor" val="tx"/>
                    </a:ext>
                  </a:extLst>
                </a:hlinkClick>
              </a:rPr>
              <a:t>SDI000003007215</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5bad640347a24710a1a9295b416d43b2" history="1" highlightClick="0" endSnd="0">
                  <a:extLst>
                    <a:ext uri="{A12FA001-AC4F-418D-AE19-62706E023703}">
                      <ahyp:hlinkClr xmlns:ahyp="http://schemas.microsoft.com/office/drawing/2018/hyperlinkcolor" val="tx"/>
                    </a:ext>
                  </a:extLst>
                </a:hlinkClick>
              </a:rPr>
              <a:t>BOFA IP Hardware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computer.do?sys_id=f1593dbd3b74c710ef3892e643e45a81" history="1" highlightClick="0" endSnd="0">
                  <a:extLst>
                    <a:ext uri="{A12FA001-AC4F-418D-AE19-62706E023703}">
                      <ahyp:hlinkClr xmlns:ahyp="http://schemas.microsoft.com/office/drawing/2018/hyperlinkcolor" val="tx"/>
                    </a:ext>
                  </a:extLst>
                </a:hlinkClick>
              </a:rPr>
              <a:t>wva20bmsendb01v</a:t>
            </a:r>
            <a:endParaRPr lang="en-US" sz="1000" dirty="0"/>
          </a:p>
        </p:txBody>
      </p:sp>
      <p:graphicFrame>
        <p:nvGraphicFramePr>
          <p:cNvPr id="171"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Trims the scanned IP (sourceValue); loopback and link-local addresses are refused. The OS class is kept as a preference for class agreement.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"30.37.248.149"; the whole hardware tree, the OS class kept as a preference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ip_address equal to the scanned IP, ignored classes left out. Exactly one row is returned when it is not a load balancer device, its class agrees with the OS class and its name agrees with the scanned label (equal, or one a hyphenated extension of the other).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wva20bmsendb01v [computer] ip 30.37.248.149 -&gt; exactly one, accepted; not a load balancer device; class agrees with the OS; name agrees with the scanned label "wva20bmsendb01v"</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hardware_list.do?sysparm_query=ip_address%3D30.37.248.149" history="1" highlightClick="0" endSnd="0">
                            <a:extLst>
                              <a:ext uri="{A12FA001-AC4F-418D-AE19-62706E023703}">
                                <ahyp:hlinkClr xmlns:ahyp="http://schemas.microsoft.com/office/drawing/2018/hyperlinkcolor" val="tx"/>
                              </a:ext>
                            </a:extLst>
                          </a:hlinkClick>
                        </a:rPr>
                        <a:t>Hardware: ip_address=30.37.248.149</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computer.do?sys_id=f1593dbd3b74c710ef3892e643e45a81" history="1" highlightClick="0" endSnd="0">
                            <a:extLst>
                              <a:ext uri="{A12FA001-AC4F-418D-AE19-62706E023703}">
                                <ahyp:hlinkClr xmlns:ahyp="http://schemas.microsoft.com/office/drawing/2018/hyperlinkcolor" val="tx"/>
                              </a:ext>
                            </a:extLst>
                          </a:hlinkClick>
                        </a:rPr>
                        <a:t>wva20bmsendb01v</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170</a:t>
            </a:fld>
            <a:endParaRPr lang="en-US"/>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705  ·  IP HARDWARE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wva40bwoexad04v.olexauthn.fsqa.ml.com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server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716024"/>
          </a:xfrm>
          <a:prstGeom prst="roundRect">
            <a:avLst>
              <a:gd name="adj" fmla="val 3197"/>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203960"/>
          </a:xfrm>
          <a:prstGeom prst="rect">
            <a:avLst/>
          </a:prstGeom>
          <a:noFill/>
          <a:ln/>
        </p:spPr>
        <p:txBody>
          <a:bodyPr wrap="square" lIns="0" tIns="0" rIns="0" bIns="0" rtlCol="0" anchor="t"/>
          <a:lstStyle/>
          <a:p>
            <a:pPr indent="0" marL="0">
              <a:lnSpc>
                <a:spcPct val="100000"/>
              </a:lnSpc>
              <a:buNone/>
            </a:pPr>
            <a:r>
              <a:rPr lang="en-US" sz="105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050" dirty="0">
                <a:solidFill>
                  <a:srgbClr val="4D4F53"/>
                </a:solidFill>
                <a:latin typeface="Arial" pitchFamily="34" charset="0"/>
                <a:ea typeface="Arial" pitchFamily="34" charset="-122"/>
                <a:cs typeface="Arial" pitchFamily="34" charset="-120"/>
              </a:rPr>
              <a:t>serial (no serial reported)  ·  phone MAC (label "wva40bwoexad04v" is not sep + 12 hex)  ·  device name (OS gives the class win_server)  ·  controller (no controller suffix or OS word)  ·  interface (no interface domain or marker)  ·  member (no VIP sign)  ·  service (no VIP sign)</a:t>
            </a:r>
            <a:endParaRPr lang="en-US" sz="1050" dirty="0"/>
          </a:p>
          <a:p>
            <a:pPr indent="0" marL="0">
              <a:lnSpc>
                <a:spcPct val="100000"/>
              </a:lnSpc>
              <a:buNone/>
            </a:pPr>
            <a:r>
              <a:rPr lang="en-US" sz="105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050" dirty="0">
                <a:solidFill>
                  <a:srgbClr val="4D4F53"/>
                </a:solidFill>
                <a:latin typeface="Arial" pitchFamily="34" charset="0"/>
                <a:ea typeface="Arial" pitchFamily="34" charset="-122"/>
                <a:cs typeface="Arial" pitchFamily="34" charset="-120"/>
              </a:rPr>
              <a:t>FQDN (no record in the hardware tree carries the fqdn)  ·  layered DNS (no DNS Name record for "wva40bwoexad04v.olexauthn.fsqa.ml.com")  ·  whole-fqdn name (no record in the hardware tree named "wva40bwoexad04v.olexauthn.fsqa.ml.com")  ·  address (no record in win_server carries the address)</a:t>
            </a:r>
            <a:endParaRPr lang="en-US" sz="1050" dirty="0"/>
          </a:p>
          <a:p>
            <a:pPr indent="0" marL="0">
              <a:lnSpc>
                <a:spcPct val="100000"/>
              </a:lnSpc>
              <a:buNone/>
            </a:pPr>
            <a:r>
              <a:rPr lang="en-US" sz="105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050" dirty="0">
                <a:solidFill>
                  <a:srgbClr val="4D4F53"/>
                </a:solidFill>
                <a:latin typeface="Arial" pitchFamily="34" charset="0"/>
                <a:ea typeface="Arial" pitchFamily="34" charset="-122"/>
                <a:cs typeface="Arial" pitchFamily="34" charset="-120"/>
              </a:rPr>
              <a:t>name + domain (no record named "wva40bwoexad04v" / 2 named "wva40bwoexad04v", none with the domain "olexauthn.fsqa.ml.com")  ·  host name (no record in win_server named "wva40bwoexad04v" / 2 records in the hardware tree named "wva40bwoexad04v": a tie)</a:t>
            </a:r>
            <a:endParaRPr lang="en-US" sz="1050" dirty="0"/>
          </a:p>
        </p:txBody>
      </p:sp>
      <p:sp>
        <p:nvSpPr>
          <p:cNvPr id="12" name="Shape 10"/>
          <p:cNvSpPr/>
          <p:nvPr/>
        </p:nvSpPr>
        <p:spPr>
          <a:xfrm>
            <a:off x="502920" y="3307080"/>
            <a:ext cx="2788920" cy="309372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46252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736848"/>
            <a:ext cx="457200" cy="0"/>
          </a:xfrm>
          <a:prstGeom prst="line">
            <a:avLst/>
          </a:prstGeom>
          <a:noFill/>
          <a:ln w="19050">
            <a:solidFill>
              <a:srgbClr val="E31837"/>
            </a:solidFill>
            <a:prstDash val="solid"/>
          </a:ln>
        </p:spPr>
      </p:sp>
      <p:sp>
        <p:nvSpPr>
          <p:cNvPr id="15" name="Text 13"/>
          <p:cNvSpPr txBox="1"/>
          <p:nvPr/>
        </p:nvSpPr>
        <p:spPr>
          <a:xfrm>
            <a:off x="740664" y="378256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SDI000003054392</a:t>
            </a:r>
            <a:endParaRPr lang="en-US" sz="1500" dirty="0"/>
          </a:p>
        </p:txBody>
      </p:sp>
      <p:sp>
        <p:nvSpPr>
          <p:cNvPr id="16" name="Text 14"/>
          <p:cNvSpPr txBox="1"/>
          <p:nvPr/>
        </p:nvSpPr>
        <p:spPr>
          <a:xfrm>
            <a:off x="740664" y="4148328"/>
            <a:ext cx="2313432" cy="1539240"/>
          </a:xfrm>
          <a:prstGeom prst="rect">
            <a:avLst/>
          </a:prstGeom>
          <a:noFill/>
          <a:ln/>
        </p:spPr>
        <p:txBody>
          <a:bodyPr wrap="square" lIns="0" tIns="0" rIns="0" bIns="0" rtlCol="0" anchor="t"/>
          <a:lstStyle/>
          <a:p>
            <a:pPr indent="0" marL="0">
              <a:buNone/>
            </a:pPr>
            <a:r>
              <a:rPr lang="en-US" sz="95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950" dirty="0">
                <a:solidFill>
                  <a:srgbClr val="4D4F53"/>
                </a:solidFill>
                <a:latin typeface="Arial" pitchFamily="34" charset="0"/>
                <a:ea typeface="Arial" pitchFamily="34" charset="-122"/>
                <a:cs typeface="Arial" pitchFamily="34" charset="-120"/>
              </a:rPr>
              <a:t>wva40bwoexad04v.olexauthn.fsqa.ml.com</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950" dirty="0">
                <a:solidFill>
                  <a:srgbClr val="4D4F53"/>
                </a:solidFill>
                <a:latin typeface="Arial" pitchFamily="34" charset="0"/>
                <a:ea typeface="Arial" pitchFamily="34" charset="-122"/>
                <a:cs typeface="Arial" pitchFamily="34" charset="-120"/>
              </a:rPr>
              <a:t>30.129.149.101</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950" dirty="0">
                <a:solidFill>
                  <a:srgbClr val="4D4F53"/>
                </a:solidFill>
                <a:latin typeface="Arial" pitchFamily="34" charset="0"/>
                <a:ea typeface="Arial" pitchFamily="34" charset="-122"/>
                <a:cs typeface="Arial" pitchFamily="34" charset="-120"/>
              </a:rPr>
              <a:t>Windows Server 2016 Standard 64 bit Edition AD Version 1607</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950" dirty="0">
                <a:solidFill>
                  <a:srgbClr val="4D4F53"/>
                </a:solidFill>
                <a:latin typeface="Arial" pitchFamily="34" charset="0"/>
                <a:ea typeface="Arial" pitchFamily="34" charset="-122"/>
                <a:cs typeface="Arial" pitchFamily="34" charset="-120"/>
              </a:rPr>
              <a:t>WVA40BWOEXAD04V</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950" dirty="0">
                <a:solidFill>
                  <a:srgbClr val="4D4F53"/>
                </a:solidFill>
                <a:latin typeface="Arial" pitchFamily="34" charset="0"/>
                <a:ea typeface="Arial" pitchFamily="34" charset="-122"/>
                <a:cs typeface="Arial" pitchFamily="34" charset="-120"/>
              </a:rPr>
              <a:t>AGENT</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950" dirty="0">
                <a:solidFill>
                  <a:srgbClr val="4D4F53"/>
                </a:solidFill>
                <a:latin typeface="Arial" pitchFamily="34" charset="0"/>
                <a:ea typeface="Arial" pitchFamily="34" charset="-122"/>
                <a:cs typeface="Arial" pitchFamily="34" charset="-120"/>
              </a:rPr>
              <a:t>2026-09-21 05:35:39</a:t>
            </a:r>
            <a:endParaRPr lang="en-US" sz="950" dirty="0"/>
          </a:p>
        </p:txBody>
      </p:sp>
      <p:sp>
        <p:nvSpPr>
          <p:cNvPr id="17" name="Text 15">
            <a:hlinkClick r:id="rId1" tooltip="https://bofasecopsdev.service-now.com/sn_sec_cmn_src_ci_list.do?sysparm_query=number=SDI000003054392"/>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5439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307080"/>
            <a:ext cx="4745736" cy="3093720"/>
          </a:xfrm>
          <a:prstGeom prst="roundRect">
            <a:avLst>
              <a:gd name="adj" fmla="val 1773"/>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46252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736848"/>
            <a:ext cx="457200" cy="0"/>
          </a:xfrm>
          <a:prstGeom prst="line">
            <a:avLst/>
          </a:prstGeom>
          <a:noFill/>
          <a:ln w="19050">
            <a:solidFill>
              <a:srgbClr val="E31837"/>
            </a:solidFill>
            <a:prstDash val="solid"/>
          </a:ln>
        </p:spPr>
      </p:sp>
      <p:sp>
        <p:nvSpPr>
          <p:cNvPr id="21" name="Text 19"/>
          <p:cNvSpPr txBox="1"/>
          <p:nvPr/>
        </p:nvSpPr>
        <p:spPr>
          <a:xfrm>
            <a:off x="3749040" y="3810000"/>
            <a:ext cx="4233672" cy="243535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"30.129.149.101"; the whole hardware tree, the OS class kept as a preference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WVA40BWOEXAD04V [server] ip 30.129.149.101 -&gt; exactly one, accepted; not a load balancer device; class agrees with the OS; name agrees with the scanned label "wva40bwoexad04v"</a:t>
            </a:r>
            <a:endParaRPr lang="en-US" sz="1300" dirty="0"/>
          </a:p>
        </p:txBody>
      </p:sp>
      <p:sp>
        <p:nvSpPr>
          <p:cNvPr id="22" name="Shape 20"/>
          <p:cNvSpPr/>
          <p:nvPr/>
        </p:nvSpPr>
        <p:spPr>
          <a:xfrm>
            <a:off x="8439912" y="3307080"/>
            <a:ext cx="3246120" cy="3093720"/>
          </a:xfrm>
          <a:prstGeom prst="roundRect">
            <a:avLst>
              <a:gd name="adj" fmla="val 1773"/>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471672"/>
            <a:ext cx="64008" cy="2764536"/>
          </a:xfrm>
          <a:prstGeom prst="rect">
            <a:avLst/>
          </a:prstGeom>
          <a:solidFill>
            <a:srgbClr val="E31837"/>
          </a:solidFill>
          <a:ln w="12700">
            <a:solidFill>
              <a:srgbClr val="333333"/>
            </a:solidFill>
            <a:prstDash val="solid"/>
          </a:ln>
        </p:spPr>
      </p:sp>
      <p:sp>
        <p:nvSpPr>
          <p:cNvPr id="24" name="Text 22"/>
          <p:cNvSpPr txBox="1"/>
          <p:nvPr/>
        </p:nvSpPr>
        <p:spPr>
          <a:xfrm>
            <a:off x="8714232" y="346252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736848"/>
            <a:ext cx="457200" cy="0"/>
          </a:xfrm>
          <a:prstGeom prst="line">
            <a:avLst/>
          </a:prstGeom>
          <a:noFill/>
          <a:ln w="19050">
            <a:solidFill>
              <a:srgbClr val="E31837"/>
            </a:solidFill>
            <a:prstDash val="solid"/>
          </a:ln>
        </p:spPr>
      </p:sp>
      <p:sp>
        <p:nvSpPr>
          <p:cNvPr id="26" name="Text 24"/>
          <p:cNvSpPr txBox="1"/>
          <p:nvPr/>
        </p:nvSpPr>
        <p:spPr>
          <a:xfrm>
            <a:off x="8714232" y="378256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WVA40BWOEXAD04V</a:t>
            </a:r>
            <a:endParaRPr lang="en-US" sz="1500" dirty="0"/>
          </a:p>
        </p:txBody>
      </p:sp>
      <p:sp>
        <p:nvSpPr>
          <p:cNvPr id="27" name="Text 25"/>
          <p:cNvSpPr txBox="1"/>
          <p:nvPr/>
        </p:nvSpPr>
        <p:spPr>
          <a:xfrm>
            <a:off x="8714232" y="410260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Server</a:t>
            </a:r>
            <a:endParaRPr lang="en-US" sz="1100" dirty="0"/>
          </a:p>
        </p:txBody>
      </p:sp>
      <p:sp>
        <p:nvSpPr>
          <p:cNvPr id="28" name="Text 26"/>
          <p:cNvSpPr txBox="1"/>
          <p:nvPr/>
        </p:nvSpPr>
        <p:spPr>
          <a:xfrm>
            <a:off x="8714232" y="4422648"/>
            <a:ext cx="2715768" cy="1264920"/>
          </a:xfrm>
          <a:prstGeom prst="rect">
            <a:avLst/>
          </a:prstGeom>
          <a:noFill/>
          <a:ln/>
        </p:spPr>
        <p:txBody>
          <a:bodyPr wrap="square" lIns="0" tIns="0" rIns="0" bIns="0" rtlCol="0" anchor="t"/>
          <a:lstStyle/>
          <a:p>
            <a:pPr indent="0" marL="0">
              <a:buNone/>
            </a:pPr>
            <a:r>
              <a:rPr lang="en-US" sz="11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30.129.149.101</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150" dirty="0">
                <a:solidFill>
                  <a:srgbClr val="4D4F53"/>
                </a:solidFill>
                <a:latin typeface="Arial" pitchFamily="34" charset="0"/>
                <a:ea typeface="Arial" pitchFamily="34" charset="-122"/>
                <a:cs typeface="Arial" pitchFamily="34" charset="-120"/>
              </a:rPr>
              <a:t>VMWARE-42 0A 18 C6 C1 B5 0B 64-8F 94 A7 07 E2 1A B9 80</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150" dirty="0">
                <a:solidFill>
                  <a:srgbClr val="4D4F53"/>
                </a:solidFill>
                <a:latin typeface="Arial" pitchFamily="34" charset="0"/>
                <a:ea typeface="Arial" pitchFamily="34" charset="-122"/>
                <a:cs typeface="Arial" pitchFamily="34" charset="-120"/>
              </a:rPr>
              <a:t>VMware VMWARE VIRTUAL PLATFORM</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Installed</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Operational</a:t>
            </a:r>
            <a:endParaRPr lang="en-US" sz="1150" dirty="0"/>
          </a:p>
        </p:txBody>
      </p:sp>
      <p:sp>
        <p:nvSpPr>
          <p:cNvPr id="29" name="Text 27">
            <a:hlinkClick r:id="rId2" tooltip="https://bofasecopsdev.service-now.com/cmdb_ci_server.do?sys_id=671eaa82935e2a107fb5f842ed03d6e0"/>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671eaa82935e2a107fb5f842ed03d6e0"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171</a:t>
            </a:fld>
            <a:endParaRPr lang="en-US"/>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705  ·  IP HARDWARE MATCH  ·  EXAMPLE 2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wva40bwoexad04v.olexauthn.fsqa.ml.com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81dc16f23b3a8b189289d164c3e45aeb" history="1" highlightClick="0" endSnd="0">
                  <a:extLst>
                    <a:ext uri="{A12FA001-AC4F-418D-AE19-62706E023703}">
                      <ahyp:hlinkClr xmlns:ahyp="http://schemas.microsoft.com/office/drawing/2018/hyperlinkcolor" val="tx"/>
                    </a:ext>
                  </a:extLst>
                </a:hlinkClick>
              </a:rPr>
              <a:t>SDI000003054392</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5bad640347a24710a1a9295b416d43b2" history="1" highlightClick="0" endSnd="0">
                  <a:extLst>
                    <a:ext uri="{A12FA001-AC4F-418D-AE19-62706E023703}">
                      <ahyp:hlinkClr xmlns:ahyp="http://schemas.microsoft.com/office/drawing/2018/hyperlinkcolor" val="tx"/>
                    </a:ext>
                  </a:extLst>
                </a:hlinkClick>
              </a:rPr>
              <a:t>BOFA IP Hardware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server.do?sys_id=671eaa82935e2a107fb5f842ed03d6e0" history="1" highlightClick="0" endSnd="0">
                  <a:extLst>
                    <a:ext uri="{A12FA001-AC4F-418D-AE19-62706E023703}">
                      <ahyp:hlinkClr xmlns:ahyp="http://schemas.microsoft.com/office/drawing/2018/hyperlinkcolor" val="tx"/>
                    </a:ext>
                  </a:extLst>
                </a:hlinkClick>
              </a:rPr>
              <a:t>WVA40BWOEXAD04V</a:t>
            </a:r>
            <a:endParaRPr lang="en-US" sz="1000" dirty="0"/>
          </a:p>
        </p:txBody>
      </p:sp>
      <p:graphicFrame>
        <p:nvGraphicFramePr>
          <p:cNvPr id="173"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Trims the scanned IP (sourceValue); loopback and link-local addresses are refused. The OS class is kept as a preference for class agreement.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"30.129.149.101"; the whole hardware tree, the OS class kept as a preference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ip_address equal to the scanned IP, ignored classes left out. Exactly one row is returned when it is not a load balancer device, its class agrees with the OS class and its name agrees with the scanned label (equal, or one a hyphenated extension of the other).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WVA40BWOEXAD04V [server] ip 30.129.149.101 -&gt; exactly one, accepted; not a load balancer device; class agrees with the OS; name agrees with the scanned label "wva40bwoexad04v"</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hardware_list.do?sysparm_query=ip_address%3D30.129.149.101" history="1" highlightClick="0" endSnd="0">
                            <a:extLst>
                              <a:ext uri="{A12FA001-AC4F-418D-AE19-62706E023703}">
                                <ahyp:hlinkClr xmlns:ahyp="http://schemas.microsoft.com/office/drawing/2018/hyperlinkcolor" val="tx"/>
                              </a:ext>
                            </a:extLst>
                          </a:hlinkClick>
                        </a:rPr>
                        <a:t>Hardware: ip_address=30.129.149.101</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server.do?sys_id=671eaa82935e2a107fb5f842ed03d6e0" history="1" highlightClick="0" endSnd="0">
                            <a:extLst>
                              <a:ext uri="{A12FA001-AC4F-418D-AE19-62706E023703}">
                                <ahyp:hlinkClr xmlns:ahyp="http://schemas.microsoft.com/office/drawing/2018/hyperlinkcolor" val="tx"/>
                              </a:ext>
                            </a:extLst>
                          </a:hlinkClick>
                        </a:rPr>
                        <a:t>WVA40BWOEXAD04V</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172</a:t>
            </a:fld>
            <a:endParaRPr lang="en-US"/>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705  ·  IP HARDWARE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crpflmiaups58.bankofamerica.com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ups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876044"/>
          </a:xfrm>
          <a:prstGeom prst="roundRect">
            <a:avLst>
              <a:gd name="adj" fmla="val 292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363980"/>
          </a:xfrm>
          <a:prstGeom prst="rect">
            <a:avLst/>
          </a:prstGeom>
          <a:noFill/>
          <a:ln/>
        </p:spPr>
        <p:txBody>
          <a:bodyPr wrap="square" lIns="0" tIns="0" rIns="0" bIns="0" rtlCol="0" anchor="t"/>
          <a:lstStyle/>
          <a:p>
            <a:pPr indent="0" marL="0">
              <a:lnSpc>
                <a:spcPct val="100000"/>
              </a:lnSpc>
              <a:buNone/>
            </a:pPr>
            <a:r>
              <a:rPr lang="en-US" sz="105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050" dirty="0">
                <a:solidFill>
                  <a:srgbClr val="4D4F53"/>
                </a:solidFill>
                <a:latin typeface="Arial" pitchFamily="34" charset="0"/>
                <a:ea typeface="Arial" pitchFamily="34" charset="-122"/>
                <a:cs typeface="Arial" pitchFamily="34" charset="-120"/>
              </a:rPr>
              <a:t>serial (no serial reported)  ·  phone MAC (label "crpflmiaups58" is not sep + 12 hex)  ·  controller (no controller suffix or OS word)  ·  interface (no interface domain or marker)  ·  member (no VIP sign)  ·  service (no VIP sign)  ·  address (OS "not reported" gives no class)</a:t>
            </a:r>
            <a:endParaRPr lang="en-US" sz="1050" dirty="0"/>
          </a:p>
          <a:p>
            <a:pPr indent="0" marL="0">
              <a:lnSpc>
                <a:spcPct val="100000"/>
              </a:lnSpc>
              <a:buNone/>
            </a:pPr>
            <a:r>
              <a:rPr lang="en-US" sz="105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050" dirty="0">
                <a:solidFill>
                  <a:srgbClr val="4D4F53"/>
                </a:solidFill>
                <a:latin typeface="Arial" pitchFamily="34" charset="0"/>
                <a:ea typeface="Arial" pitchFamily="34" charset="-122"/>
                <a:cs typeface="Arial" pitchFamily="34" charset="-120"/>
              </a:rPr>
              <a:t>FQDN (OS "not reported" gives no class / no record in the hardware tree carries the fqdn)  ·  layered DNS (no DNS Name record for "crpflmiaups58.bankofamerica.com")  ·  device name (none named "crpflmiaups58" in IP Phone or Imaging Hardware)  ·  whole-fqdn name (no record in the hardware tree named "crpflmiaups58.bankofamerica.com")</a:t>
            </a:r>
            <a:endParaRPr lang="en-US" sz="1050" dirty="0"/>
          </a:p>
          <a:p>
            <a:pPr indent="0" marL="0">
              <a:lnSpc>
                <a:spcPct val="100000"/>
              </a:lnSpc>
              <a:buNone/>
            </a:pPr>
            <a:r>
              <a:rPr lang="en-US" sz="105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050" dirty="0">
                <a:solidFill>
                  <a:srgbClr val="4D4F53"/>
                </a:solidFill>
                <a:latin typeface="Arial" pitchFamily="34" charset="0"/>
                <a:ea typeface="Arial" pitchFamily="34" charset="-122"/>
                <a:cs typeface="Arial" pitchFamily="34" charset="-120"/>
              </a:rPr>
              <a:t>name + domain (OS "not reported" gives no class / 2 named "crpflmiaups58", none with the domain "bankofamerica.com")  ·  host name (OS "not reported" gives no class / 2 records in the hardware tree named "crpflmiaups58": a tie)</a:t>
            </a:r>
            <a:endParaRPr lang="en-US" sz="1050" dirty="0"/>
          </a:p>
        </p:txBody>
      </p:sp>
      <p:sp>
        <p:nvSpPr>
          <p:cNvPr id="12" name="Shape 10"/>
          <p:cNvSpPr/>
          <p:nvPr/>
        </p:nvSpPr>
        <p:spPr>
          <a:xfrm>
            <a:off x="502920" y="3467100"/>
            <a:ext cx="2788920" cy="29337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6225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896868"/>
            <a:ext cx="457200" cy="0"/>
          </a:xfrm>
          <a:prstGeom prst="line">
            <a:avLst/>
          </a:prstGeom>
          <a:noFill/>
          <a:ln w="19050">
            <a:solidFill>
              <a:srgbClr val="E31837"/>
            </a:solidFill>
            <a:prstDash val="solid"/>
          </a:ln>
        </p:spPr>
      </p:sp>
      <p:sp>
        <p:nvSpPr>
          <p:cNvPr id="15" name="Text 13"/>
          <p:cNvSpPr txBox="1"/>
          <p:nvPr/>
        </p:nvSpPr>
        <p:spPr>
          <a:xfrm>
            <a:off x="740664" y="39425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SDI000002907396</a:t>
            </a:r>
            <a:endParaRPr lang="en-US" sz="1500" dirty="0"/>
          </a:p>
        </p:txBody>
      </p:sp>
      <p:sp>
        <p:nvSpPr>
          <p:cNvPr id="16" name="Text 14"/>
          <p:cNvSpPr txBox="1"/>
          <p:nvPr/>
        </p:nvSpPr>
        <p:spPr>
          <a:xfrm>
            <a:off x="740664" y="4308348"/>
            <a:ext cx="2313432" cy="1379220"/>
          </a:xfrm>
          <a:prstGeom prst="rect">
            <a:avLst/>
          </a:prstGeom>
          <a:noFill/>
          <a:ln/>
        </p:spPr>
        <p:txBody>
          <a:bodyPr wrap="square" lIns="0" tIns="0" rIns="0" bIns="0" rtlCol="0" anchor="t"/>
          <a:lstStyle/>
          <a:p>
            <a:pPr indent="0" marL="0">
              <a:buNone/>
            </a:pPr>
            <a:r>
              <a:rPr lang="en-US" sz="11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100" dirty="0">
                <a:solidFill>
                  <a:srgbClr val="4D4F53"/>
                </a:solidFill>
                <a:latin typeface="Arial" pitchFamily="34" charset="0"/>
                <a:ea typeface="Arial" pitchFamily="34" charset="-122"/>
                <a:cs typeface="Arial" pitchFamily="34" charset="-120"/>
              </a:rPr>
              <a:t>crpflmiaups58.bankofamerica.com</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100" dirty="0">
                <a:solidFill>
                  <a:srgbClr val="4D4F53"/>
                </a:solidFill>
                <a:latin typeface="Arial" pitchFamily="34" charset="0"/>
                <a:ea typeface="Arial" pitchFamily="34" charset="-122"/>
                <a:cs typeface="Arial" pitchFamily="34" charset="-120"/>
              </a:rPr>
              <a:t>10.77.57.21</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100" dirty="0">
                <a:solidFill>
                  <a:srgbClr val="4D4F53"/>
                </a:solidFill>
                <a:latin typeface="Arial" pitchFamily="34" charset="0"/>
                <a:ea typeface="Arial" pitchFamily="34" charset="-122"/>
                <a:cs typeface="Arial" pitchFamily="34" charset="-120"/>
              </a:rPr>
              <a:t>(not reported)</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100" dirty="0">
                <a:solidFill>
                  <a:srgbClr val="4D4F53"/>
                </a:solidFill>
                <a:latin typeface="Arial" pitchFamily="34" charset="0"/>
                <a:ea typeface="Arial" pitchFamily="34" charset="-122"/>
                <a:cs typeface="Arial" pitchFamily="34" charset="-120"/>
              </a:rPr>
              <a:t>IP</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100" dirty="0">
                <a:solidFill>
                  <a:srgbClr val="4D4F53"/>
                </a:solidFill>
                <a:latin typeface="Arial" pitchFamily="34" charset="0"/>
                <a:ea typeface="Arial" pitchFamily="34" charset="-122"/>
                <a:cs typeface="Arial" pitchFamily="34" charset="-120"/>
              </a:rPr>
              <a:t>2026-09-21 04:27:51</a:t>
            </a:r>
            <a:endParaRPr lang="en-US" sz="1100" dirty="0"/>
          </a:p>
        </p:txBody>
      </p:sp>
      <p:sp>
        <p:nvSpPr>
          <p:cNvPr id="17" name="Text 15">
            <a:hlinkClick r:id="rId1" tooltip="https://bofasecopsdev.service-now.com/sn_sec_cmn_src_ci_list.do?sysparm_query=number=SDI000002907396"/>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0739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467100"/>
            <a:ext cx="4745736" cy="2933700"/>
          </a:xfrm>
          <a:prstGeom prst="roundRect">
            <a:avLst>
              <a:gd name="adj" fmla="val 187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6225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896868"/>
            <a:ext cx="457200" cy="0"/>
          </a:xfrm>
          <a:prstGeom prst="line">
            <a:avLst/>
          </a:prstGeom>
          <a:noFill/>
          <a:ln w="19050">
            <a:solidFill>
              <a:srgbClr val="E31837"/>
            </a:solidFill>
            <a:prstDash val="solid"/>
          </a:ln>
        </p:spPr>
      </p:sp>
      <p:sp>
        <p:nvSpPr>
          <p:cNvPr id="21" name="Text 19"/>
          <p:cNvSpPr txBox="1"/>
          <p:nvPr/>
        </p:nvSpPr>
        <p:spPr>
          <a:xfrm>
            <a:off x="3749040" y="3970020"/>
            <a:ext cx="4233672" cy="22753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"10.77.57.21"; the whole hardware tree, the OS class kept as a preference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CRPFLMIAUPS58 [ups] ip 10.77.57.21 -&gt; exactly one, accepted; not a load balancer device; class agrees with the OS; name agrees with the scanned label "crpflmiaups58"</a:t>
            </a:r>
            <a:endParaRPr lang="en-US" sz="1300" dirty="0"/>
          </a:p>
        </p:txBody>
      </p:sp>
      <p:sp>
        <p:nvSpPr>
          <p:cNvPr id="22" name="Shape 20"/>
          <p:cNvSpPr/>
          <p:nvPr/>
        </p:nvSpPr>
        <p:spPr>
          <a:xfrm>
            <a:off x="8439912" y="3467100"/>
            <a:ext cx="3246120" cy="2933700"/>
          </a:xfrm>
          <a:prstGeom prst="roundRect">
            <a:avLst>
              <a:gd name="adj" fmla="val 187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631692"/>
            <a:ext cx="64008" cy="2604516"/>
          </a:xfrm>
          <a:prstGeom prst="rect">
            <a:avLst/>
          </a:prstGeom>
          <a:solidFill>
            <a:srgbClr val="E31837"/>
          </a:solidFill>
          <a:ln w="12700">
            <a:solidFill>
              <a:srgbClr val="333333"/>
            </a:solidFill>
            <a:prstDash val="solid"/>
          </a:ln>
        </p:spPr>
      </p:sp>
      <p:sp>
        <p:nvSpPr>
          <p:cNvPr id="24" name="Text 22"/>
          <p:cNvSpPr txBox="1"/>
          <p:nvPr/>
        </p:nvSpPr>
        <p:spPr>
          <a:xfrm>
            <a:off x="8714232" y="36225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896868"/>
            <a:ext cx="457200" cy="0"/>
          </a:xfrm>
          <a:prstGeom prst="line">
            <a:avLst/>
          </a:prstGeom>
          <a:noFill/>
          <a:ln w="19050">
            <a:solidFill>
              <a:srgbClr val="E31837"/>
            </a:solidFill>
            <a:prstDash val="solid"/>
          </a:ln>
        </p:spPr>
      </p:sp>
      <p:sp>
        <p:nvSpPr>
          <p:cNvPr id="26" name="Text 24"/>
          <p:cNvSpPr txBox="1"/>
          <p:nvPr/>
        </p:nvSpPr>
        <p:spPr>
          <a:xfrm>
            <a:off x="8714232" y="39425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CRPFLMIAUPS58</a:t>
            </a:r>
            <a:endParaRPr lang="en-US" sz="1500" dirty="0"/>
          </a:p>
        </p:txBody>
      </p:sp>
      <p:sp>
        <p:nvSpPr>
          <p:cNvPr id="27" name="Text 25"/>
          <p:cNvSpPr txBox="1"/>
          <p:nvPr/>
        </p:nvSpPr>
        <p:spPr>
          <a:xfrm>
            <a:off x="8714232" y="42626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UPS</a:t>
            </a:r>
            <a:endParaRPr lang="en-US" sz="1100" dirty="0"/>
          </a:p>
        </p:txBody>
      </p:sp>
      <p:sp>
        <p:nvSpPr>
          <p:cNvPr id="28" name="Text 26"/>
          <p:cNvSpPr txBox="1"/>
          <p:nvPr/>
        </p:nvSpPr>
        <p:spPr>
          <a:xfrm>
            <a:off x="8714232" y="4582668"/>
            <a:ext cx="2715768" cy="1104900"/>
          </a:xfrm>
          <a:prstGeom prst="rect">
            <a:avLst/>
          </a:prstGeom>
          <a:noFill/>
          <a:ln/>
        </p:spPr>
        <p:txBody>
          <a:bodyPr wrap="square" lIns="0" tIns="0" rIns="0" bIns="0" rtlCol="0" anchor="t"/>
          <a:lstStyle/>
          <a:p>
            <a:pPr indent="0" marL="0">
              <a:buNone/>
            </a:pPr>
            <a:r>
              <a:rPr lang="en-US" sz="9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950" dirty="0">
                <a:solidFill>
                  <a:srgbClr val="4D4F53"/>
                </a:solidFill>
                <a:latin typeface="Arial" pitchFamily="34" charset="0"/>
                <a:ea typeface="Arial" pitchFamily="34" charset="-122"/>
                <a:cs typeface="Arial" pitchFamily="34" charset="-120"/>
              </a:rPr>
              <a:t>10.77.57.21</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950" dirty="0">
                <a:solidFill>
                  <a:srgbClr val="4D4F53"/>
                </a:solidFill>
                <a:latin typeface="Arial" pitchFamily="34" charset="0"/>
                <a:ea typeface="Arial" pitchFamily="34" charset="-122"/>
                <a:cs typeface="Arial" pitchFamily="34" charset="-120"/>
              </a:rPr>
              <a:t>N12244110057</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950" dirty="0">
                <a:solidFill>
                  <a:srgbClr val="4D4F53"/>
                </a:solidFill>
                <a:latin typeface="Arial" pitchFamily="34" charset="0"/>
                <a:ea typeface="Arial" pitchFamily="34" charset="-122"/>
                <a:cs typeface="Arial" pitchFamily="34" charset="-120"/>
              </a:rPr>
              <a:t>Schneider Electric Smart-UPS Smart-UPS 2200VA</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950" dirty="0">
                <a:solidFill>
                  <a:srgbClr val="4D4F53"/>
                </a:solidFill>
                <a:latin typeface="Arial" pitchFamily="34" charset="0"/>
                <a:ea typeface="Arial" pitchFamily="34" charset="-122"/>
                <a:cs typeface="Arial" pitchFamily="34" charset="-120"/>
              </a:rPr>
              <a:t>Installed</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950" dirty="0">
                <a:solidFill>
                  <a:srgbClr val="4D4F53"/>
                </a:solidFill>
                <a:latin typeface="Arial" pitchFamily="34" charset="0"/>
                <a:ea typeface="Arial" pitchFamily="34" charset="-122"/>
                <a:cs typeface="Arial" pitchFamily="34" charset="-120"/>
              </a:rPr>
              <a:t>Operational</a:t>
            </a:r>
            <a:endParaRPr lang="en-US" sz="950" dirty="0"/>
          </a:p>
        </p:txBody>
      </p:sp>
      <p:sp>
        <p:nvSpPr>
          <p:cNvPr id="29" name="Text 27">
            <a:hlinkClick r:id="rId2" tooltip="https://bofasecopsdev.service-now.com/cmdb_ci_ups.do?sys_id=4966fb582ba7e614d50dffbdbe91bf76"/>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ups.do?sys_id=4966fb582ba7e614d50dffbdbe91bf76"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173</a:t>
            </a:fld>
            <a:endParaRPr lang="en-US"/>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705  ·  IP HARDWARE MATCH  ·  EXAMPLE 3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crpflmiaups58.bankofamerica.com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f17dac323bb64b189289d164c3e45a6f" history="1" highlightClick="0" endSnd="0">
                  <a:extLst>
                    <a:ext uri="{A12FA001-AC4F-418D-AE19-62706E023703}">
                      <ahyp:hlinkClr xmlns:ahyp="http://schemas.microsoft.com/office/drawing/2018/hyperlinkcolor" val="tx"/>
                    </a:ext>
                  </a:extLst>
                </a:hlinkClick>
              </a:rPr>
              <a:t>SDI000002907396</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5bad640347a24710a1a9295b416d43b2" history="1" highlightClick="0" endSnd="0">
                  <a:extLst>
                    <a:ext uri="{A12FA001-AC4F-418D-AE19-62706E023703}">
                      <ahyp:hlinkClr xmlns:ahyp="http://schemas.microsoft.com/office/drawing/2018/hyperlinkcolor" val="tx"/>
                    </a:ext>
                  </a:extLst>
                </a:hlinkClick>
              </a:rPr>
              <a:t>BOFA IP Hardware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ups.do?sys_id=4966fb582ba7e614d50dffbdbe91bf76" history="1" highlightClick="0" endSnd="0">
                  <a:extLst>
                    <a:ext uri="{A12FA001-AC4F-418D-AE19-62706E023703}">
                      <ahyp:hlinkClr xmlns:ahyp="http://schemas.microsoft.com/office/drawing/2018/hyperlinkcolor" val="tx"/>
                    </a:ext>
                  </a:extLst>
                </a:hlinkClick>
              </a:rPr>
              <a:t>CRPFLMIAUPS58</a:t>
            </a:r>
            <a:endParaRPr lang="en-US" sz="1000" dirty="0"/>
          </a:p>
        </p:txBody>
      </p:sp>
      <p:graphicFrame>
        <p:nvGraphicFramePr>
          <p:cNvPr id="175"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Trims the scanned IP (sourceValue); loopback and link-local addresses are refused. The OS class is kept as a preference for class agreement.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"10.77.57.21"; the whole hardware tree, the OS class kept as a preference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ip_address equal to the scanned IP, ignored classes left out. Exactly one row is returned when it is not a load balancer device, its class agrees with the OS class and its name agrees with the scanned label (equal, or one a hyphenated extension of the other).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CRPFLMIAUPS58 [ups] ip 10.77.57.21 -&gt; exactly one, accepted; not a load balancer device; class agrees with the OS; name agrees with the scanned label "crpflmiaups58"</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hardware_list.do?sysparm_query=ip_address%3D10.77.57.21" history="1" highlightClick="0" endSnd="0">
                            <a:extLst>
                              <a:ext uri="{A12FA001-AC4F-418D-AE19-62706E023703}">
                                <ahyp:hlinkClr xmlns:ahyp="http://schemas.microsoft.com/office/drawing/2018/hyperlinkcolor" val="tx"/>
                              </a:ext>
                            </a:extLst>
                          </a:hlinkClick>
                        </a:rPr>
                        <a:t>Hardware: ip_address=10.77.57.21</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ups.do?sys_id=4966fb582ba7e614d50dffbdbe91bf76" history="1" highlightClick="0" endSnd="0">
                            <a:extLst>
                              <a:ext uri="{A12FA001-AC4F-418D-AE19-62706E023703}">
                                <ahyp:hlinkClr xmlns:ahyp="http://schemas.microsoft.com/office/drawing/2018/hyperlinkcolor" val="tx"/>
                              </a:ext>
                            </a:extLst>
                          </a:hlinkClick>
                        </a:rPr>
                        <a:t>CRPFLMIAUPS58</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174</a:t>
            </a:fld>
            <a:endParaRPr lang="en-US"/>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730  ·  IP ADDRESS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Adapter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706880"/>
          </a:xfrm>
          <a:prstGeom prst="roundRect">
            <a:avLst>
              <a:gd name="adj" fmla="val 321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3776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0668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scanned IP as recorded on a Network Adapter (cmdb_ci_network_adapter.ip_address) and takes the adapter's owning CI (its cmdb_ci reference).</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after the two rules that read the CI record because a multi-homed server keeps its addresses on adapter records rather than in its own ip_address field.</a:t>
            </a:r>
            <a:endParaRPr lang="en-US" sz="1500" dirty="0"/>
          </a:p>
        </p:txBody>
      </p:sp>
      <p:sp>
        <p:nvSpPr>
          <p:cNvPr id="13" name="Shape 11"/>
          <p:cNvSpPr/>
          <p:nvPr/>
        </p:nvSpPr>
        <p:spPr>
          <a:xfrm>
            <a:off x="502920" y="3380232"/>
            <a:ext cx="6933529" cy="2565400"/>
          </a:xfrm>
          <a:prstGeom prst="roundRect">
            <a:avLst>
              <a:gd name="adj" fmla="val 2139"/>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5631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3837432"/>
            <a:ext cx="457200" cy="0"/>
          </a:xfrm>
          <a:prstGeom prst="line">
            <a:avLst/>
          </a:prstGeom>
          <a:noFill/>
          <a:ln w="19050">
            <a:solidFill>
              <a:srgbClr val="E31837"/>
            </a:solidFill>
            <a:prstDash val="solid"/>
          </a:ln>
        </p:spPr>
      </p:sp>
      <p:sp>
        <p:nvSpPr>
          <p:cNvPr id="16" name="Text 14"/>
          <p:cNvSpPr txBox="1"/>
          <p:nvPr/>
        </p:nvSpPr>
        <p:spPr>
          <a:xfrm>
            <a:off x="822960" y="3928872"/>
            <a:ext cx="6293449" cy="18338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IP (sourceValue). Payload fields: OS (class preference consumed by agrees() inside the owner loop) and DNS (host-name agreement). The rule argument is never read.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CI (counted once however many of its adapters carry the address) owning an adapter with the scanned ip_address, when its class agrees with the OS, it is not a cmdb_ci_lb row and its name agrees with the scanned label; null otherwise.</a:t>
            </a:r>
            <a:endParaRPr lang="en-US" sz="1400" dirty="0"/>
          </a:p>
        </p:txBody>
      </p:sp>
      <p:sp>
        <p:nvSpPr>
          <p:cNvPr id="17" name="Shape 15"/>
          <p:cNvSpPr/>
          <p:nvPr/>
        </p:nvSpPr>
        <p:spPr>
          <a:xfrm>
            <a:off x="7665049" y="3380232"/>
            <a:ext cx="4020983" cy="2565400"/>
          </a:xfrm>
          <a:prstGeom prst="roundRect">
            <a:avLst>
              <a:gd name="adj" fmla="val 2139"/>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5631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3837432"/>
            <a:ext cx="457200" cy="0"/>
          </a:xfrm>
          <a:prstGeom prst="line">
            <a:avLst/>
          </a:prstGeom>
          <a:noFill/>
          <a:ln w="19050">
            <a:solidFill>
              <a:srgbClr val="E31837"/>
            </a:solidFill>
            <a:prstDash val="solid"/>
          </a:ln>
        </p:spPr>
      </p:sp>
      <p:sp>
        <p:nvSpPr>
          <p:cNvPr id="20" name="Text 18"/>
          <p:cNvSpPr txBox="1"/>
          <p:nvPr/>
        </p:nvSpPr>
        <p:spPr>
          <a:xfrm>
            <a:off x="7985089" y="3928872"/>
            <a:ext cx="3380903" cy="82804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IP Hardware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IP Layered Match</a:t>
            </a:r>
            <a:endParaRPr lang="en-US" sz="1300" dirty="0"/>
          </a:p>
        </p:txBody>
      </p:sp>
      <p:sp>
        <p:nvSpPr>
          <p:cNvPr id="21" name="Text 19"/>
          <p:cNvSpPr txBox="1"/>
          <p:nvPr/>
        </p:nvSpPr>
        <p:spPr>
          <a:xfrm>
            <a:off x="7985089" y="48483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46,195</a:t>
            </a:r>
            <a:endParaRPr lang="en-US" sz="2800" dirty="0"/>
          </a:p>
        </p:txBody>
      </p:sp>
      <p:sp>
        <p:nvSpPr>
          <p:cNvPr id="22" name="Text 20"/>
          <p:cNvSpPr txBox="1"/>
          <p:nvPr/>
        </p:nvSpPr>
        <p:spPr>
          <a:xfrm>
            <a:off x="7985089" y="54152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175</a:t>
            </a:fld>
            <a:endParaRPr lang="en-US"/>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730  ·  IP ADDRESS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Adapter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5540"/>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1   Address guard.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2   Ignored class list.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3   Class preference from the OS.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pref = classFor(sourcePayload.OS). Not a filter: it is consulted inside the owner loop to skip an owning CI whose class contradicts the scan. An empty pref (unknown or multi-guess OS, as in the sample) skips nothing.</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4   Adapter query.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nic = new GlideRecord('cmdb_ci_network_adapter'), no isValid() guard; addQuery('ip_address', ip); addNotNullQuery('cmdb_ci') so the adapter must belong to a CI; when ignore is non-empty addQuery('cmdb_ci.sys_class_name', 'NOT IN', ignore); query().</a:t>
            </a:r>
            <a:endParaRPr lang="en-US" sz="1350" dirty="0"/>
          </a:p>
        </p:txBody>
      </p:sp>
      <p:sp>
        <p:nvSpPr>
          <p:cNvPr id="10" name="Text 8"/>
          <p:cNvSpPr txBox="1"/>
          <p:nvPr/>
        </p:nvSpPr>
        <p:spPr>
          <a:xfrm>
            <a:off x="6277356"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5   Distinct owners with class agreement.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Walk every row with next(): owner = getValue('cmdb_ci'); continue when agrees('' + nic.cmdb_ci.sys_class_name) is false; each new owner sys_id is recorded once in an object, count is incremented and first keeps the first distinct owner.</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6   Exactly one owner.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Decided by count == 1 over the whole result set, not by hasNext(): one server with two adapters on the address counts once, two servers count twice and the rule declines. A load balancer owner counts too when agrees() accepted its class (always with pref '').</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7   Refusals on the single owner.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 first only when !isLoadBalancer(first) (no row of cmdb_ci_lb with that sys_id) and nameAgrees(first) (scanned first label equals the CI name's first label or differs by a hyphenated tail). Otherwise null.</a:t>
            </a:r>
            <a:endParaRPr lang="en-US" sz="13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176</a:t>
            </a:fld>
            <a:endParaRPr lang="en-US"/>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730  ·  IP ADDRESS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Adapter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063240"/>
          </a:xfrm>
          <a:prstGeom prst="roundRect">
            <a:avLst>
              <a:gd name="adj" fmla="val 1791"/>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7340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4231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 or the trimmed address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address starts with '127.' or '169.254.'</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cmdb_ci_network_adapter row with that ip_address has a non-empty cmdb_ci owner outside the ignore list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Every owning CI has a class agrees() refuses, so count stays 0</a:t>
            </a:r>
            <a:endParaRPr lang="en-US" sz="1500" dirty="0"/>
          </a:p>
        </p:txBody>
      </p:sp>
      <p:sp>
        <p:nvSpPr>
          <p:cNvPr id="13" name="Text 11"/>
          <p:cNvSpPr txBox="1"/>
          <p:nvPr/>
        </p:nvSpPr>
        <p:spPr>
          <a:xfrm>
            <a:off x="6277356" y="1975104"/>
            <a:ext cx="5088636" cy="24231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Adapters of two or more distinct CIs (after the class skip) carry the address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single owner is a load balancer: cmdb_ci_lb is a valid table and cmdb_ci_lb.get(sys_id) succeeds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payload carries a DNS name and the owner's name does not agree with it</a:t>
            </a:r>
            <a:endParaRPr lang="en-US" sz="1500" dirty="0"/>
          </a:p>
        </p:txBody>
      </p:sp>
      <p:sp>
        <p:nvSpPr>
          <p:cNvPr id="14" name="Shape 12"/>
          <p:cNvSpPr/>
          <p:nvPr/>
        </p:nvSpPr>
        <p:spPr>
          <a:xfrm>
            <a:off x="502920" y="47365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7365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IP Layered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177</a:t>
            </a:fld>
            <a:endParaRPr lang="en-US"/>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730  ·  IP ADAPTER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300" b="1" dirty="0">
                <a:solidFill>
                  <a:srgbClr val="1F2A44"/>
                </a:solidFill>
                <a:latin typeface="Arial" pitchFamily="34" charset="0"/>
                <a:ea typeface="Arial" pitchFamily="34" charset="-122"/>
                <a:cs typeface="Arial" pitchFamily="34" charset="-120"/>
              </a:rPr>
              <a:t>a-vjp2d000i0175-nfs.apac.sdi.corp.bankofamerica.com</a:t>
            </a:r>
            <a:endParaRPr lang="en-US" sz="23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1 records / 1 owners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878584"/>
          </a:xfrm>
          <a:prstGeom prst="roundRect">
            <a:avLst>
              <a:gd name="adj" fmla="val 292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3665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"a-vjp2d000i0175-nfs" is not sep + 12 hex)  ·  device name (OS gives the class esx_server)  ·  controller (no controller suffix or OS word)  ·  interface (no interface domain or marker)  ·  member (no VIP sign)  ·  service (no VIP sign)</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name + domain (no record named "a-vjp2d000i0175-nfs")  ·  layered DNS (no DNS Name record for "a-vjp2d000i0175-nfs.apac.sdi.corp.bankofamerica.com")  ·  host name (no record in the hardware tree named "a-vjp2d000i0175-nfs")  ·  whole-fqdn name (no record in the hardware tree named "a-vjp2d000i0175-nfs.apac.sdi.corp.bankofamerica.com")  ·  address (no record in the hardware tree carries the address)</a:t>
            </a:r>
            <a:endParaRPr lang="en-US" sz="1100" dirty="0"/>
          </a:p>
        </p:txBody>
      </p:sp>
      <p:sp>
        <p:nvSpPr>
          <p:cNvPr id="12" name="Shape 10"/>
          <p:cNvSpPr/>
          <p:nvPr/>
        </p:nvSpPr>
        <p:spPr>
          <a:xfrm>
            <a:off x="502920" y="3469640"/>
            <a:ext cx="2788920" cy="29311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6250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899408"/>
            <a:ext cx="457200" cy="0"/>
          </a:xfrm>
          <a:prstGeom prst="line">
            <a:avLst/>
          </a:prstGeom>
          <a:noFill/>
          <a:ln w="19050">
            <a:solidFill>
              <a:srgbClr val="E31837"/>
            </a:solidFill>
            <a:prstDash val="solid"/>
          </a:ln>
        </p:spPr>
      </p:sp>
      <p:sp>
        <p:nvSpPr>
          <p:cNvPr id="15" name="Text 13"/>
          <p:cNvSpPr txBox="1"/>
          <p:nvPr/>
        </p:nvSpPr>
        <p:spPr>
          <a:xfrm>
            <a:off x="740664" y="39451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SDI000002813895</a:t>
            </a:r>
            <a:endParaRPr lang="en-US" sz="1500" dirty="0"/>
          </a:p>
        </p:txBody>
      </p:sp>
      <p:sp>
        <p:nvSpPr>
          <p:cNvPr id="16" name="Text 14"/>
          <p:cNvSpPr txBox="1"/>
          <p:nvPr/>
        </p:nvSpPr>
        <p:spPr>
          <a:xfrm>
            <a:off x="740664" y="4310888"/>
            <a:ext cx="2313432" cy="137668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a-vjp2d000i0175-nfs.apac.sdi.corp.bankofamerica.com</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165.38.176.81</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VMware ESXi 8.0.3 build 25205845</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IP</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2026-09-21 05:54:28</a:t>
            </a:r>
            <a:endParaRPr lang="en-US" sz="1000" dirty="0"/>
          </a:p>
        </p:txBody>
      </p:sp>
      <p:sp>
        <p:nvSpPr>
          <p:cNvPr id="17" name="Text 15">
            <a:hlinkClick r:id="rId1" tooltip="https://bofasecopsdev.service-now.com/sn_sec_cmn_src_ci_list.do?sysparm_query=number=SDI000002813895"/>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81389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469640"/>
            <a:ext cx="4745736" cy="2931160"/>
          </a:xfrm>
          <a:prstGeom prst="roundRect">
            <a:avLst>
              <a:gd name="adj" fmla="val 187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6250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899408"/>
            <a:ext cx="457200" cy="0"/>
          </a:xfrm>
          <a:prstGeom prst="line">
            <a:avLst/>
          </a:prstGeom>
          <a:noFill/>
          <a:ln w="19050">
            <a:solidFill>
              <a:srgbClr val="E31837"/>
            </a:solidFill>
            <a:prstDash val="solid"/>
          </a:ln>
        </p:spPr>
      </p:sp>
      <p:sp>
        <p:nvSpPr>
          <p:cNvPr id="21" name="Text 19"/>
          <p:cNvSpPr txBox="1"/>
          <p:nvPr/>
        </p:nvSpPr>
        <p:spPr>
          <a:xfrm>
            <a:off x="3749040" y="3972560"/>
            <a:ext cx="4233672" cy="22727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"165.38.176.81"; OS "VMware ESXi 8.0.3 build 25205845" gives the class esx_server (a preference for class agreement)</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Adapter records on the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adapter vmk3 -&gt; a-vjp2d000i0175 [esx_server]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distinct owning CI; not a load balancer device; name agrees with "a-vjp2d000i0175-nfs"</a:t>
            </a:r>
            <a:endParaRPr lang="en-US" sz="1300" dirty="0"/>
          </a:p>
        </p:txBody>
      </p:sp>
      <p:sp>
        <p:nvSpPr>
          <p:cNvPr id="22" name="Shape 20"/>
          <p:cNvSpPr/>
          <p:nvPr/>
        </p:nvSpPr>
        <p:spPr>
          <a:xfrm>
            <a:off x="8439912" y="3469640"/>
            <a:ext cx="3246120" cy="2931160"/>
          </a:xfrm>
          <a:prstGeom prst="roundRect">
            <a:avLst>
              <a:gd name="adj" fmla="val 187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634232"/>
            <a:ext cx="64008" cy="2601976"/>
          </a:xfrm>
          <a:prstGeom prst="rect">
            <a:avLst/>
          </a:prstGeom>
          <a:solidFill>
            <a:srgbClr val="E31837"/>
          </a:solidFill>
          <a:ln w="12700">
            <a:solidFill>
              <a:srgbClr val="333333"/>
            </a:solidFill>
            <a:prstDash val="solid"/>
          </a:ln>
        </p:spPr>
      </p:sp>
      <p:sp>
        <p:nvSpPr>
          <p:cNvPr id="24" name="Text 22"/>
          <p:cNvSpPr txBox="1"/>
          <p:nvPr/>
        </p:nvSpPr>
        <p:spPr>
          <a:xfrm>
            <a:off x="8714232" y="36250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899408"/>
            <a:ext cx="457200" cy="0"/>
          </a:xfrm>
          <a:prstGeom prst="line">
            <a:avLst/>
          </a:prstGeom>
          <a:noFill/>
          <a:ln w="19050">
            <a:solidFill>
              <a:srgbClr val="E31837"/>
            </a:solidFill>
            <a:prstDash val="solid"/>
          </a:ln>
        </p:spPr>
      </p:sp>
      <p:sp>
        <p:nvSpPr>
          <p:cNvPr id="26" name="Text 24"/>
          <p:cNvSpPr txBox="1"/>
          <p:nvPr/>
        </p:nvSpPr>
        <p:spPr>
          <a:xfrm>
            <a:off x="8714232" y="39451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a-vjp2d000i0175</a:t>
            </a:r>
            <a:endParaRPr lang="en-US" sz="1500" dirty="0"/>
          </a:p>
        </p:txBody>
      </p:sp>
      <p:sp>
        <p:nvSpPr>
          <p:cNvPr id="27" name="Text 25"/>
          <p:cNvSpPr txBox="1"/>
          <p:nvPr/>
        </p:nvSpPr>
        <p:spPr>
          <a:xfrm>
            <a:off x="8714232" y="42651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ESX Server</a:t>
            </a:r>
            <a:endParaRPr lang="en-US" sz="1100" dirty="0"/>
          </a:p>
        </p:txBody>
      </p:sp>
      <p:sp>
        <p:nvSpPr>
          <p:cNvPr id="28" name="Text 26"/>
          <p:cNvSpPr txBox="1"/>
          <p:nvPr/>
        </p:nvSpPr>
        <p:spPr>
          <a:xfrm>
            <a:off x="8714232" y="4585208"/>
            <a:ext cx="2715768" cy="1102360"/>
          </a:xfrm>
          <a:prstGeom prst="rect">
            <a:avLst/>
          </a:prstGeom>
          <a:noFill/>
          <a:ln/>
        </p:spPr>
        <p:txBody>
          <a:bodyPr wrap="square" lIns="0" tIns="0" rIns="0" bIns="0" rtlCol="0" anchor="t"/>
          <a:lstStyle/>
          <a:p>
            <a:pPr indent="0" marL="0">
              <a:buNone/>
            </a:pPr>
            <a:r>
              <a:rPr lang="en-US" sz="8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850" dirty="0">
                <a:solidFill>
                  <a:srgbClr val="4D4F53"/>
                </a:solidFill>
                <a:latin typeface="Arial" pitchFamily="34" charset="0"/>
                <a:ea typeface="Arial" pitchFamily="34" charset="-122"/>
                <a:cs typeface="Arial" pitchFamily="34" charset="-120"/>
              </a:rPr>
              <a:t>a-vjp2d000i0175.apac.sdi.corp.bankofamerica.com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850" dirty="0">
                <a:solidFill>
                  <a:srgbClr val="4D4F53"/>
                </a:solidFill>
                <a:latin typeface="Arial" pitchFamily="34" charset="0"/>
                <a:ea typeface="Arial" pitchFamily="34" charset="-122"/>
                <a:cs typeface="Arial" pitchFamily="34" charset="-120"/>
              </a:rPr>
              <a:t>apac.sdi.corp.bankofamerica.com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850" dirty="0">
                <a:solidFill>
                  <a:srgbClr val="4D4F53"/>
                </a:solidFill>
                <a:latin typeface="Arial" pitchFamily="34" charset="0"/>
                <a:ea typeface="Arial" pitchFamily="34" charset="-122"/>
                <a:cs typeface="Arial" pitchFamily="34" charset="-120"/>
              </a:rPr>
              <a:t>165.38.175.81</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850" dirty="0">
                <a:solidFill>
                  <a:srgbClr val="4D4F53"/>
                </a:solidFill>
                <a:latin typeface="Arial" pitchFamily="34" charset="0"/>
                <a:ea typeface="Arial" pitchFamily="34" charset="-122"/>
                <a:cs typeface="Arial" pitchFamily="34" charset="-120"/>
              </a:rPr>
              <a:t>8Z7QHB4</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850" dirty="0">
                <a:solidFill>
                  <a:srgbClr val="4D4F53"/>
                </a:solidFill>
                <a:latin typeface="Arial" pitchFamily="34" charset="0"/>
                <a:ea typeface="Arial" pitchFamily="34" charset="-122"/>
                <a:cs typeface="Arial" pitchFamily="34" charset="-120"/>
              </a:rPr>
              <a:t>Dell Inc. PowerEdge R7615 210-BHRH</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Installed</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Operational</a:t>
            </a:r>
            <a:endParaRPr lang="en-US" sz="850" dirty="0"/>
          </a:p>
        </p:txBody>
      </p:sp>
      <p:sp>
        <p:nvSpPr>
          <p:cNvPr id="29" name="Text 27">
            <a:hlinkClick r:id="rId2" tooltip="https://bofasecopsdev.service-now.com/cmdb_ci_esx_server.do?sys_id=abb100a52b976e908afbf3b28191bf4f"/>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esx_server.do?sys_id=abb100a52b976e908afbf3b28191bf4f"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178</a:t>
            </a:fld>
            <a:endParaRPr lang="en-US"/>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730  ·  IP ADAPTER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300" b="1" dirty="0">
                <a:solidFill>
                  <a:srgbClr val="1F2A44"/>
                </a:solidFill>
                <a:latin typeface="Arial" pitchFamily="34" charset="0"/>
                <a:ea typeface="Arial" pitchFamily="34" charset="-122"/>
                <a:cs typeface="Arial" pitchFamily="34" charset="-120"/>
              </a:rPr>
              <a:t>a-vjp2d000i0175-nfs.apac.sdi.corp.bankofamerica.com</a:t>
            </a:r>
            <a:endParaRPr lang="en-US" sz="23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c6ab93a293724750a2b4f91e1dba10a8" history="1" highlightClick="0" endSnd="0">
                  <a:extLst>
                    <a:ext uri="{A12FA001-AC4F-418D-AE19-62706E023703}">
                      <ahyp:hlinkClr xmlns:ahyp="http://schemas.microsoft.com/office/drawing/2018/hyperlinkcolor" val="tx"/>
                    </a:ext>
                  </a:extLst>
                </a:hlinkClick>
              </a:rPr>
              <a:t>SDI000002813895</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0740b48347a24710a1a9295b416d4315" history="1" highlightClick="0" endSnd="0">
                  <a:extLst>
                    <a:ext uri="{A12FA001-AC4F-418D-AE19-62706E023703}">
                      <ahyp:hlinkClr xmlns:ahyp="http://schemas.microsoft.com/office/drawing/2018/hyperlinkcolor" val="tx"/>
                    </a:ext>
                  </a:extLst>
                </a:hlinkClick>
              </a:rPr>
              <a:t>BOFA IP Adapter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esx_server.do?sys_id=abb100a52b976e908afbf3b28191bf4f" history="1" highlightClick="0" endSnd="0">
                  <a:extLst>
                    <a:ext uri="{A12FA001-AC4F-418D-AE19-62706E023703}">
                      <ahyp:hlinkClr xmlns:ahyp="http://schemas.microsoft.com/office/drawing/2018/hyperlinkcolor" val="tx"/>
                    </a:ext>
                  </a:extLst>
                </a:hlinkClick>
              </a:rPr>
              <a:t>a-vjp2d000i0175</a:t>
            </a:r>
            <a:endParaRPr lang="en-US" sz="1000" dirty="0"/>
          </a:p>
        </p:txBody>
      </p:sp>
      <p:graphicFrame>
        <p:nvGraphicFramePr>
          <p:cNvPr id="180"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Trims the scanned IP (sourceValue); loopback and link-local addresses are refused. The OS class is kept as a preference for class agreement.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"165.38.176.81"; OS "VMware ESXi 8.0.3 build 25205845" gives the class esx_server (a preference for class agreement)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Adapter records on the 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Network Adapter records (cmdb_ci_network_adapter) whose ip_address is the scanned IP and that belong to a CI, ignored classes left out; the owning CIs whose class agrees with the OS are kept.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adapter vmk3 -&gt; a-vjp2d000i0175 [esx_server]</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network_adapter_list.do?sysparm_query=ip_address%3D165.38.176.81" history="1" highlightClick="0" endSnd="0">
                            <a:extLst>
                              <a:ext uri="{A12FA001-AC4F-418D-AE19-62706E023703}">
                                <ahyp:hlinkClr xmlns:ahyp="http://schemas.microsoft.com/office/drawing/2018/hyperlinkcolor" val="tx"/>
                              </a:ext>
                            </a:extLst>
                          </a:hlinkClick>
                        </a:rPr>
                        <a:t>Network Adapter: ip_address=165.38.176.81</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network_adapter.do?sys_id=3e5fc7ef47dfe29464eca755516d4301" history="1" highlightClick="0" endSnd="0">
                            <a:extLst>
                              <a:ext uri="{A12FA001-AC4F-418D-AE19-62706E023703}">
                                <ahyp:hlinkClr xmlns:ahyp="http://schemas.microsoft.com/office/drawing/2018/hyperlinkcolor" val="tx"/>
                              </a:ext>
                            </a:extLst>
                          </a:hlinkClick>
                        </a:rPr>
                        <a:t>vmk3</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esx_server.do?sys_id=abb100a52b976e908afbf3b28191bf4f" history="1" highlightClick="0" endSnd="0">
                            <a:extLst>
                              <a:ext uri="{A12FA001-AC4F-418D-AE19-62706E023703}">
                                <ahyp:hlinkClr xmlns:ahyp="http://schemas.microsoft.com/office/drawing/2018/hyperlinkcolor" val="tx"/>
                              </a:ext>
                            </a:extLst>
                          </a:hlinkClick>
                        </a:rPr>
                        <a:t>a-vjp2d000i0175</a:t>
                      </a:r>
                      <a:pPr indent="0" marL="0">
                        <a:buNone/>
                      </a:pPr>
                      <a:r>
                        <a:rPr lang="en-US" sz="900" dirty="0">
                          <a:solidFill>
                            <a:srgbClr val="6E7279"/>
                          </a:solidFill>
                          <a:latin typeface="Arial" pitchFamily="34" charset="0"/>
                          <a:ea typeface="Arial" pitchFamily="34" charset="-122"/>
                          <a:cs typeface="Arial" pitchFamily="34" charset="-120"/>
                        </a:rPr>
                        <a:t> [esx_server]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Decision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The distinct owning CIs are counted: exactly one is returned when it is not a load balancer device and its name agrees with the scanned label (equal, or one a hyphenated extension of the other).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distinct owning CI; not a load balancer device; name agrees with "a-vjp2d000i0175-nfs"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179</a:t>
            </a:fld>
            <a:endParaRPr lang="en-US"/>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730  ·  IP ADAPTER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300" b="1" dirty="0">
                <a:solidFill>
                  <a:srgbClr val="1F2A44"/>
                </a:solidFill>
                <a:latin typeface="Arial" pitchFamily="34" charset="0"/>
                <a:ea typeface="Arial" pitchFamily="34" charset="-122"/>
                <a:cs typeface="Arial" pitchFamily="34" charset="-120"/>
              </a:rPr>
              <a:t>a-vsg2d000i0326-nfs.apac.sdi.corp.bankofamerica.com</a:t>
            </a:r>
            <a:endParaRPr lang="en-US" sz="23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1 records / 1 owners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878584"/>
          </a:xfrm>
          <a:prstGeom prst="roundRect">
            <a:avLst>
              <a:gd name="adj" fmla="val 292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3665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"a-vsg2d000i0326-nfs" is not sep + 12 hex)  ·  device name (OS gives the class esx_server)  ·  controller (no controller suffix or OS word)  ·  interface (no interface domain or marker)  ·  member (no VIP sign)  ·  service (no VIP sign)</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name + domain (no record named "a-vsg2d000i0326-nfs")  ·  layered DNS (no DNS Name record for "a-vsg2d000i0326-nfs.apac.sdi.corp.bankofamerica.com")  ·  host name (no record in the hardware tree named "a-vsg2d000i0326-nfs")  ·  whole-fqdn name (no record in the hardware tree named "a-vsg2d000i0326-nfs.apac.sdi.corp.bankofamerica.com")  ·  address (no record in the hardware tree carries the address)</a:t>
            </a:r>
            <a:endParaRPr lang="en-US" sz="1100" dirty="0"/>
          </a:p>
        </p:txBody>
      </p:sp>
      <p:sp>
        <p:nvSpPr>
          <p:cNvPr id="12" name="Shape 10"/>
          <p:cNvSpPr/>
          <p:nvPr/>
        </p:nvSpPr>
        <p:spPr>
          <a:xfrm>
            <a:off x="502920" y="3469640"/>
            <a:ext cx="2788920" cy="29311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6250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899408"/>
            <a:ext cx="457200" cy="0"/>
          </a:xfrm>
          <a:prstGeom prst="line">
            <a:avLst/>
          </a:prstGeom>
          <a:noFill/>
          <a:ln w="19050">
            <a:solidFill>
              <a:srgbClr val="E31837"/>
            </a:solidFill>
            <a:prstDash val="solid"/>
          </a:ln>
        </p:spPr>
      </p:sp>
      <p:sp>
        <p:nvSpPr>
          <p:cNvPr id="15" name="Text 13"/>
          <p:cNvSpPr txBox="1"/>
          <p:nvPr/>
        </p:nvSpPr>
        <p:spPr>
          <a:xfrm>
            <a:off x="740664" y="39451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SDI000002578917</a:t>
            </a:r>
            <a:endParaRPr lang="en-US" sz="1500" dirty="0"/>
          </a:p>
        </p:txBody>
      </p:sp>
      <p:sp>
        <p:nvSpPr>
          <p:cNvPr id="16" name="Text 14"/>
          <p:cNvSpPr txBox="1"/>
          <p:nvPr/>
        </p:nvSpPr>
        <p:spPr>
          <a:xfrm>
            <a:off x="740664" y="4310888"/>
            <a:ext cx="2313432" cy="137668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a-vsg2d000i0326-nfs.apac.sdi.corp.bankofamerica.com</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30.184.129.84</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VMware ESXi 8.0.3 build 25205845</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IP</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2026-09-21 05:50:42</a:t>
            </a:r>
            <a:endParaRPr lang="en-US" sz="1000" dirty="0"/>
          </a:p>
        </p:txBody>
      </p:sp>
      <p:sp>
        <p:nvSpPr>
          <p:cNvPr id="17" name="Text 15">
            <a:hlinkClick r:id="rId1" tooltip="https://bofasecopsdev.service-now.com/sn_sec_cmn_src_ci_list.do?sysparm_query=number=SDI000002578917"/>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57891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469640"/>
            <a:ext cx="4745736" cy="2931160"/>
          </a:xfrm>
          <a:prstGeom prst="roundRect">
            <a:avLst>
              <a:gd name="adj" fmla="val 187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6250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899408"/>
            <a:ext cx="457200" cy="0"/>
          </a:xfrm>
          <a:prstGeom prst="line">
            <a:avLst/>
          </a:prstGeom>
          <a:noFill/>
          <a:ln w="19050">
            <a:solidFill>
              <a:srgbClr val="E31837"/>
            </a:solidFill>
            <a:prstDash val="solid"/>
          </a:ln>
        </p:spPr>
      </p:sp>
      <p:sp>
        <p:nvSpPr>
          <p:cNvPr id="21" name="Text 19"/>
          <p:cNvSpPr txBox="1"/>
          <p:nvPr/>
        </p:nvSpPr>
        <p:spPr>
          <a:xfrm>
            <a:off x="3749040" y="3972560"/>
            <a:ext cx="4233672" cy="22727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"30.184.129.84"; OS "VMware ESXi 8.0.3 build 25205845" gives the class esx_server (a preference for class agreement)</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Adapter records on the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adapter vmk3 -&gt; a-vsg2d000i0326 [esx_server]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distinct owning CI; not a load balancer device; name agrees with "a-vsg2d000i0326-nfs"</a:t>
            </a:r>
            <a:endParaRPr lang="en-US" sz="1300" dirty="0"/>
          </a:p>
        </p:txBody>
      </p:sp>
      <p:sp>
        <p:nvSpPr>
          <p:cNvPr id="22" name="Shape 20"/>
          <p:cNvSpPr/>
          <p:nvPr/>
        </p:nvSpPr>
        <p:spPr>
          <a:xfrm>
            <a:off x="8439912" y="3469640"/>
            <a:ext cx="3246120" cy="2931160"/>
          </a:xfrm>
          <a:prstGeom prst="roundRect">
            <a:avLst>
              <a:gd name="adj" fmla="val 187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634232"/>
            <a:ext cx="64008" cy="2601976"/>
          </a:xfrm>
          <a:prstGeom prst="rect">
            <a:avLst/>
          </a:prstGeom>
          <a:solidFill>
            <a:srgbClr val="E31837"/>
          </a:solidFill>
          <a:ln w="12700">
            <a:solidFill>
              <a:srgbClr val="333333"/>
            </a:solidFill>
            <a:prstDash val="solid"/>
          </a:ln>
        </p:spPr>
      </p:sp>
      <p:sp>
        <p:nvSpPr>
          <p:cNvPr id="24" name="Text 22"/>
          <p:cNvSpPr txBox="1"/>
          <p:nvPr/>
        </p:nvSpPr>
        <p:spPr>
          <a:xfrm>
            <a:off x="8714232" y="36250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899408"/>
            <a:ext cx="457200" cy="0"/>
          </a:xfrm>
          <a:prstGeom prst="line">
            <a:avLst/>
          </a:prstGeom>
          <a:noFill/>
          <a:ln w="19050">
            <a:solidFill>
              <a:srgbClr val="E31837"/>
            </a:solidFill>
            <a:prstDash val="solid"/>
          </a:ln>
        </p:spPr>
      </p:sp>
      <p:sp>
        <p:nvSpPr>
          <p:cNvPr id="26" name="Text 24"/>
          <p:cNvSpPr txBox="1"/>
          <p:nvPr/>
        </p:nvSpPr>
        <p:spPr>
          <a:xfrm>
            <a:off x="8714232" y="39451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a-vsg2d000i0326</a:t>
            </a:r>
            <a:endParaRPr lang="en-US" sz="1500" dirty="0"/>
          </a:p>
        </p:txBody>
      </p:sp>
      <p:sp>
        <p:nvSpPr>
          <p:cNvPr id="27" name="Text 25"/>
          <p:cNvSpPr txBox="1"/>
          <p:nvPr/>
        </p:nvSpPr>
        <p:spPr>
          <a:xfrm>
            <a:off x="8714232" y="42651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ESX Server</a:t>
            </a:r>
            <a:endParaRPr lang="en-US" sz="1100" dirty="0"/>
          </a:p>
        </p:txBody>
      </p:sp>
      <p:sp>
        <p:nvSpPr>
          <p:cNvPr id="28" name="Text 26"/>
          <p:cNvSpPr txBox="1"/>
          <p:nvPr/>
        </p:nvSpPr>
        <p:spPr>
          <a:xfrm>
            <a:off x="8714232" y="4585208"/>
            <a:ext cx="2715768" cy="1102360"/>
          </a:xfrm>
          <a:prstGeom prst="rect">
            <a:avLst/>
          </a:prstGeom>
          <a:noFill/>
          <a:ln/>
        </p:spPr>
        <p:txBody>
          <a:bodyPr wrap="square" lIns="0" tIns="0" rIns="0" bIns="0" rtlCol="0" anchor="t"/>
          <a:lstStyle/>
          <a:p>
            <a:pPr indent="0" marL="0">
              <a:buNone/>
            </a:pPr>
            <a:r>
              <a:rPr lang="en-US" sz="8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850" dirty="0">
                <a:solidFill>
                  <a:srgbClr val="4D4F53"/>
                </a:solidFill>
                <a:latin typeface="Arial" pitchFamily="34" charset="0"/>
                <a:ea typeface="Arial" pitchFamily="34" charset="-122"/>
                <a:cs typeface="Arial" pitchFamily="34" charset="-120"/>
              </a:rPr>
              <a:t>a-vsg2d000i0326.apac.sdi.corp.bankofamerica.com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850" dirty="0">
                <a:solidFill>
                  <a:srgbClr val="4D4F53"/>
                </a:solidFill>
                <a:latin typeface="Arial" pitchFamily="34" charset="0"/>
                <a:ea typeface="Arial" pitchFamily="34" charset="-122"/>
                <a:cs typeface="Arial" pitchFamily="34" charset="-120"/>
              </a:rPr>
              <a:t>apac.sdi.corp.bankofamerica.com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850" dirty="0">
                <a:solidFill>
                  <a:srgbClr val="4D4F53"/>
                </a:solidFill>
                <a:latin typeface="Arial" pitchFamily="34" charset="0"/>
                <a:ea typeface="Arial" pitchFamily="34" charset="-122"/>
                <a:cs typeface="Arial" pitchFamily="34" charset="-120"/>
              </a:rPr>
              <a:t>30.188.216.106</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850" dirty="0">
                <a:solidFill>
                  <a:srgbClr val="4D4F53"/>
                </a:solidFill>
                <a:latin typeface="Arial" pitchFamily="34" charset="0"/>
                <a:ea typeface="Arial" pitchFamily="34" charset="-122"/>
                <a:cs typeface="Arial" pitchFamily="34" charset="-120"/>
              </a:rPr>
              <a:t>2Z8VNW3</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850" dirty="0">
                <a:solidFill>
                  <a:srgbClr val="4D4F53"/>
                </a:solidFill>
                <a:latin typeface="Arial" pitchFamily="34" charset="0"/>
                <a:ea typeface="Arial" pitchFamily="34" charset="-122"/>
                <a:cs typeface="Arial" pitchFamily="34" charset="-120"/>
              </a:rPr>
              <a:t>Dell Inc. POWEREDGE R640</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Installed</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Operational</a:t>
            </a:r>
            <a:endParaRPr lang="en-US" sz="850" dirty="0"/>
          </a:p>
        </p:txBody>
      </p:sp>
      <p:sp>
        <p:nvSpPr>
          <p:cNvPr id="29" name="Text 27">
            <a:hlinkClick r:id="rId2" tooltip="https://bofasecopsdev.service-now.com/cmdb_ci_esx_server.do?sys_id=2e0ed1d1ebccb254986cffd6bad0cdf6"/>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esx_server.do?sys_id=2e0ed1d1ebccb254986cffd6bad0cdf6"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180</a:t>
            </a:fld>
            <a:endParaRPr lang="en-US"/>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730  ·  IP ADAPTER MATCH  ·  EXAMPLE 2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300" b="1" dirty="0">
                <a:solidFill>
                  <a:srgbClr val="1F2A44"/>
                </a:solidFill>
                <a:latin typeface="Arial" pitchFamily="34" charset="0"/>
                <a:ea typeface="Arial" pitchFamily="34" charset="-122"/>
                <a:cs typeface="Arial" pitchFamily="34" charset="-120"/>
              </a:rPr>
              <a:t>a-vsg2d000i0326-nfs.apac.sdi.corp.bankofamerica.com</a:t>
            </a:r>
            <a:endParaRPr lang="en-US" sz="23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f17624e23b7e03180e435c8a04e45a79" history="1" highlightClick="0" endSnd="0">
                  <a:extLst>
                    <a:ext uri="{A12FA001-AC4F-418D-AE19-62706E023703}">
                      <ahyp:hlinkClr xmlns:ahyp="http://schemas.microsoft.com/office/drawing/2018/hyperlinkcolor" val="tx"/>
                    </a:ext>
                  </a:extLst>
                </a:hlinkClick>
              </a:rPr>
              <a:t>SDI000002578917</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0740b48347a24710a1a9295b416d4315" history="1" highlightClick="0" endSnd="0">
                  <a:extLst>
                    <a:ext uri="{A12FA001-AC4F-418D-AE19-62706E023703}">
                      <ahyp:hlinkClr xmlns:ahyp="http://schemas.microsoft.com/office/drawing/2018/hyperlinkcolor" val="tx"/>
                    </a:ext>
                  </a:extLst>
                </a:hlinkClick>
              </a:rPr>
              <a:t>BOFA IP Adapter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esx_server.do?sys_id=2e0ed1d1ebccb254986cffd6bad0cdf6" history="1" highlightClick="0" endSnd="0">
                  <a:extLst>
                    <a:ext uri="{A12FA001-AC4F-418D-AE19-62706E023703}">
                      <ahyp:hlinkClr xmlns:ahyp="http://schemas.microsoft.com/office/drawing/2018/hyperlinkcolor" val="tx"/>
                    </a:ext>
                  </a:extLst>
                </a:hlinkClick>
              </a:rPr>
              <a:t>a-vsg2d000i0326</a:t>
            </a:r>
            <a:endParaRPr lang="en-US" sz="1000" dirty="0"/>
          </a:p>
        </p:txBody>
      </p:sp>
      <p:graphicFrame>
        <p:nvGraphicFramePr>
          <p:cNvPr id="182"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Trims the scanned IP (sourceValue); loopback and link-local addresses are refused. The OS class is kept as a preference for class agreement.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"30.184.129.84"; OS "VMware ESXi 8.0.3 build 25205845" gives the class esx_server (a preference for class agreement)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Adapter records on the 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Network Adapter records (cmdb_ci_network_adapter) whose ip_address is the scanned IP and that belong to a CI, ignored classes left out; the owning CIs whose class agrees with the OS are kept.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adapter vmk3 -&gt; a-vsg2d000i0326 [esx_server]</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network_adapter_list.do?sysparm_query=ip_address%3D30.184.129.84" history="1" highlightClick="0" endSnd="0">
                            <a:extLst>
                              <a:ext uri="{A12FA001-AC4F-418D-AE19-62706E023703}">
                                <ahyp:hlinkClr xmlns:ahyp="http://schemas.microsoft.com/office/drawing/2018/hyperlinkcolor" val="tx"/>
                              </a:ext>
                            </a:extLst>
                          </a:hlinkClick>
                        </a:rPr>
                        <a:t>Network Adapter: ip_address=30.184.129.84</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network_adapter.do?sys_id=683e915993c03e546e4ef96ab903d693" history="1" highlightClick="0" endSnd="0">
                            <a:extLst>
                              <a:ext uri="{A12FA001-AC4F-418D-AE19-62706E023703}">
                                <ahyp:hlinkClr xmlns:ahyp="http://schemas.microsoft.com/office/drawing/2018/hyperlinkcolor" val="tx"/>
                              </a:ext>
                            </a:extLst>
                          </a:hlinkClick>
                        </a:rPr>
                        <a:t>vmk3</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esx_server.do?sys_id=2e0ed1d1ebccb254986cffd6bad0cdf6" history="1" highlightClick="0" endSnd="0">
                            <a:extLst>
                              <a:ext uri="{A12FA001-AC4F-418D-AE19-62706E023703}">
                                <ahyp:hlinkClr xmlns:ahyp="http://schemas.microsoft.com/office/drawing/2018/hyperlinkcolor" val="tx"/>
                              </a:ext>
                            </a:extLst>
                          </a:hlinkClick>
                        </a:rPr>
                        <a:t>a-vsg2d000i0326</a:t>
                      </a:r>
                      <a:pPr indent="0" marL="0">
                        <a:buNone/>
                      </a:pPr>
                      <a:r>
                        <a:rPr lang="en-US" sz="900" dirty="0">
                          <a:solidFill>
                            <a:srgbClr val="6E7279"/>
                          </a:solidFill>
                          <a:latin typeface="Arial" pitchFamily="34" charset="0"/>
                          <a:ea typeface="Arial" pitchFamily="34" charset="-122"/>
                          <a:cs typeface="Arial" pitchFamily="34" charset="-120"/>
                        </a:rPr>
                        <a:t> [esx_server]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Decision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The distinct owning CIs are counted: exactly one is returned when it is not a load balancer device and its name agrees with the scanned label (equal, or one a hyphenated extension of the other).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distinct owning CI; not a load balancer device; name agrees with "a-vsg2d000i0326-nfs"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181</a:t>
            </a:fld>
            <a:endParaRPr lang="en-US"/>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730  ·  IP ADAPTER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300" b="1" dirty="0">
                <a:solidFill>
                  <a:srgbClr val="1F2A44"/>
                </a:solidFill>
                <a:latin typeface="Arial" pitchFamily="34" charset="0"/>
                <a:ea typeface="Arial" pitchFamily="34" charset="-122"/>
                <a:cs typeface="Arial" pitchFamily="34" charset="-120"/>
              </a:rPr>
              <a:t>a-vsg2d000i0291-nfs.apac.sdi.corp.bankofamerica.com</a:t>
            </a:r>
            <a:endParaRPr lang="en-US" sz="23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1 records / 1 owners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878584"/>
          </a:xfrm>
          <a:prstGeom prst="roundRect">
            <a:avLst>
              <a:gd name="adj" fmla="val 292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3665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"a-vsg2d000i0291-nfs" is not sep + 12 hex)  ·  device name (OS gives the class esx_server)  ·  controller (no controller suffix or OS word)  ·  interface (no interface domain or marker)  ·  member (no VIP sign)  ·  service (no VIP sign)</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name + domain (no record named "a-vsg2d000i0291-nfs")  ·  layered DNS (no DNS Name record for "a-vsg2d000i0291-nfs.apac.sdi.corp.bankofamerica.com")  ·  host name (no record in the hardware tree named "a-vsg2d000i0291-nfs")  ·  whole-fqdn name (no record in the hardware tree named "a-vsg2d000i0291-nfs.apac.sdi.corp.bankofamerica.com")  ·  address (no record in the hardware tree carries the address)</a:t>
            </a:r>
            <a:endParaRPr lang="en-US" sz="1100" dirty="0"/>
          </a:p>
        </p:txBody>
      </p:sp>
      <p:sp>
        <p:nvSpPr>
          <p:cNvPr id="12" name="Shape 10"/>
          <p:cNvSpPr/>
          <p:nvPr/>
        </p:nvSpPr>
        <p:spPr>
          <a:xfrm>
            <a:off x="502920" y="3469640"/>
            <a:ext cx="2788920" cy="29311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6250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899408"/>
            <a:ext cx="457200" cy="0"/>
          </a:xfrm>
          <a:prstGeom prst="line">
            <a:avLst/>
          </a:prstGeom>
          <a:noFill/>
          <a:ln w="19050">
            <a:solidFill>
              <a:srgbClr val="E31837"/>
            </a:solidFill>
            <a:prstDash val="solid"/>
          </a:ln>
        </p:spPr>
      </p:sp>
      <p:sp>
        <p:nvSpPr>
          <p:cNvPr id="15" name="Text 13"/>
          <p:cNvSpPr txBox="1"/>
          <p:nvPr/>
        </p:nvSpPr>
        <p:spPr>
          <a:xfrm>
            <a:off x="740664" y="39451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SDI000002582383</a:t>
            </a:r>
            <a:endParaRPr lang="en-US" sz="1500" dirty="0"/>
          </a:p>
        </p:txBody>
      </p:sp>
      <p:sp>
        <p:nvSpPr>
          <p:cNvPr id="16" name="Text 14"/>
          <p:cNvSpPr txBox="1"/>
          <p:nvPr/>
        </p:nvSpPr>
        <p:spPr>
          <a:xfrm>
            <a:off x="740664" y="4310888"/>
            <a:ext cx="2313432" cy="137668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a-vsg2d000i0291-nfs.apac.sdi.corp.bankofamerica.com</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30.184.129.17</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VMware ESXi 8.0.3 build 25205845</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IP</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2026-09-21 05:23:25</a:t>
            </a:r>
            <a:endParaRPr lang="en-US" sz="1000" dirty="0"/>
          </a:p>
        </p:txBody>
      </p:sp>
      <p:sp>
        <p:nvSpPr>
          <p:cNvPr id="17" name="Text 15">
            <a:hlinkClick r:id="rId1" tooltip="https://bofasecopsdev.service-now.com/sn_sec_cmn_src_ci_list.do?sysparm_query=number=SDI000002582383"/>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58238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469640"/>
            <a:ext cx="4745736" cy="2931160"/>
          </a:xfrm>
          <a:prstGeom prst="roundRect">
            <a:avLst>
              <a:gd name="adj" fmla="val 187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6250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899408"/>
            <a:ext cx="457200" cy="0"/>
          </a:xfrm>
          <a:prstGeom prst="line">
            <a:avLst/>
          </a:prstGeom>
          <a:noFill/>
          <a:ln w="19050">
            <a:solidFill>
              <a:srgbClr val="E31837"/>
            </a:solidFill>
            <a:prstDash val="solid"/>
          </a:ln>
        </p:spPr>
      </p:sp>
      <p:sp>
        <p:nvSpPr>
          <p:cNvPr id="21" name="Text 19"/>
          <p:cNvSpPr txBox="1"/>
          <p:nvPr/>
        </p:nvSpPr>
        <p:spPr>
          <a:xfrm>
            <a:off x="3749040" y="3972560"/>
            <a:ext cx="4233672" cy="22727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"30.184.129.17"; OS "VMware ESXi 8.0.3 build 25205845" gives the class esx_server (a preference for class agreement)</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Adapter records on the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adapter vmk3 -&gt; a-vsg2d000i0291 [esx_server]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distinct owning CI; not a load balancer device; name agrees with "a-vsg2d000i0291-nfs"</a:t>
            </a:r>
            <a:endParaRPr lang="en-US" sz="1300" dirty="0"/>
          </a:p>
        </p:txBody>
      </p:sp>
      <p:sp>
        <p:nvSpPr>
          <p:cNvPr id="22" name="Shape 20"/>
          <p:cNvSpPr/>
          <p:nvPr/>
        </p:nvSpPr>
        <p:spPr>
          <a:xfrm>
            <a:off x="8439912" y="3469640"/>
            <a:ext cx="3246120" cy="2931160"/>
          </a:xfrm>
          <a:prstGeom prst="roundRect">
            <a:avLst>
              <a:gd name="adj" fmla="val 187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634232"/>
            <a:ext cx="64008" cy="2601976"/>
          </a:xfrm>
          <a:prstGeom prst="rect">
            <a:avLst/>
          </a:prstGeom>
          <a:solidFill>
            <a:srgbClr val="E31837"/>
          </a:solidFill>
          <a:ln w="12700">
            <a:solidFill>
              <a:srgbClr val="333333"/>
            </a:solidFill>
            <a:prstDash val="solid"/>
          </a:ln>
        </p:spPr>
      </p:sp>
      <p:sp>
        <p:nvSpPr>
          <p:cNvPr id="24" name="Text 22"/>
          <p:cNvSpPr txBox="1"/>
          <p:nvPr/>
        </p:nvSpPr>
        <p:spPr>
          <a:xfrm>
            <a:off x="8714232" y="36250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899408"/>
            <a:ext cx="457200" cy="0"/>
          </a:xfrm>
          <a:prstGeom prst="line">
            <a:avLst/>
          </a:prstGeom>
          <a:noFill/>
          <a:ln w="19050">
            <a:solidFill>
              <a:srgbClr val="E31837"/>
            </a:solidFill>
            <a:prstDash val="solid"/>
          </a:ln>
        </p:spPr>
      </p:sp>
      <p:sp>
        <p:nvSpPr>
          <p:cNvPr id="26" name="Text 24"/>
          <p:cNvSpPr txBox="1"/>
          <p:nvPr/>
        </p:nvSpPr>
        <p:spPr>
          <a:xfrm>
            <a:off x="8714232" y="39451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a-vsg2d000i0291</a:t>
            </a:r>
            <a:endParaRPr lang="en-US" sz="1500" dirty="0"/>
          </a:p>
        </p:txBody>
      </p:sp>
      <p:sp>
        <p:nvSpPr>
          <p:cNvPr id="27" name="Text 25"/>
          <p:cNvSpPr txBox="1"/>
          <p:nvPr/>
        </p:nvSpPr>
        <p:spPr>
          <a:xfrm>
            <a:off x="8714232" y="42651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ESX Server</a:t>
            </a:r>
            <a:endParaRPr lang="en-US" sz="1100" dirty="0"/>
          </a:p>
        </p:txBody>
      </p:sp>
      <p:sp>
        <p:nvSpPr>
          <p:cNvPr id="28" name="Text 26"/>
          <p:cNvSpPr txBox="1"/>
          <p:nvPr/>
        </p:nvSpPr>
        <p:spPr>
          <a:xfrm>
            <a:off x="8714232" y="4585208"/>
            <a:ext cx="2715768" cy="1102360"/>
          </a:xfrm>
          <a:prstGeom prst="rect">
            <a:avLst/>
          </a:prstGeom>
          <a:noFill/>
          <a:ln/>
        </p:spPr>
        <p:txBody>
          <a:bodyPr wrap="square" lIns="0" tIns="0" rIns="0" bIns="0" rtlCol="0" anchor="t"/>
          <a:lstStyle/>
          <a:p>
            <a:pPr indent="0" marL="0">
              <a:buNone/>
            </a:pPr>
            <a:r>
              <a:rPr lang="en-US" sz="8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850" dirty="0">
                <a:solidFill>
                  <a:srgbClr val="4D4F53"/>
                </a:solidFill>
                <a:latin typeface="Arial" pitchFamily="34" charset="0"/>
                <a:ea typeface="Arial" pitchFamily="34" charset="-122"/>
                <a:cs typeface="Arial" pitchFamily="34" charset="-120"/>
              </a:rPr>
              <a:t>a-vsg2d000i0291.apac.sdi.corp.bankofamerica.com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850" dirty="0">
                <a:solidFill>
                  <a:srgbClr val="4D4F53"/>
                </a:solidFill>
                <a:latin typeface="Arial" pitchFamily="34" charset="0"/>
                <a:ea typeface="Arial" pitchFamily="34" charset="-122"/>
                <a:cs typeface="Arial" pitchFamily="34" charset="-120"/>
              </a:rPr>
              <a:t>apac.sdi.corp.bankofamerica.com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850" dirty="0">
                <a:solidFill>
                  <a:srgbClr val="4D4F53"/>
                </a:solidFill>
                <a:latin typeface="Arial" pitchFamily="34" charset="0"/>
                <a:ea typeface="Arial" pitchFamily="34" charset="-122"/>
                <a:cs typeface="Arial" pitchFamily="34" charset="-120"/>
              </a:rPr>
              <a:t>30.188.216.14</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850" dirty="0">
                <a:solidFill>
                  <a:srgbClr val="4D4F53"/>
                </a:solidFill>
                <a:latin typeface="Arial" pitchFamily="34" charset="0"/>
                <a:ea typeface="Arial" pitchFamily="34" charset="-122"/>
                <a:cs typeface="Arial" pitchFamily="34" charset="-120"/>
              </a:rPr>
              <a:t>9H81LQ3</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850" dirty="0">
                <a:solidFill>
                  <a:srgbClr val="4D4F53"/>
                </a:solidFill>
                <a:latin typeface="Arial" pitchFamily="34" charset="0"/>
                <a:ea typeface="Arial" pitchFamily="34" charset="-122"/>
                <a:cs typeface="Arial" pitchFamily="34" charset="-120"/>
              </a:rPr>
              <a:t>Dell Inc. POWEREDGE R640</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Installed</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Operational</a:t>
            </a:r>
            <a:endParaRPr lang="en-US" sz="850" dirty="0"/>
          </a:p>
        </p:txBody>
      </p:sp>
      <p:sp>
        <p:nvSpPr>
          <p:cNvPr id="29" name="Text 27">
            <a:hlinkClick r:id="rId2" tooltip="https://bofasecopsdev.service-now.com/cmdb_ci_esx_server.do?sys_id=c5fad55d3b8cf25cdf0f0c54c3e45ac8"/>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esx_server.do?sys_id=c5fad55d3b8cf25cdf0f0c54c3e45ac8"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182</a:t>
            </a:fld>
            <a:endParaRPr lang="en-US"/>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730  ·  IP ADAPTER MATCH  ·  EXAMPLE 3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300" b="1" dirty="0">
                <a:solidFill>
                  <a:srgbClr val="1F2A44"/>
                </a:solidFill>
                <a:latin typeface="Arial" pitchFamily="34" charset="0"/>
                <a:ea typeface="Arial" pitchFamily="34" charset="-122"/>
                <a:cs typeface="Arial" pitchFamily="34" charset="-120"/>
              </a:rPr>
              <a:t>a-vsg2d000i0291-nfs.apac.sdi.corp.bankofamerica.com</a:t>
            </a:r>
            <a:endParaRPr lang="en-US" sz="23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139824a23b3287189289d164c3e45a8f" history="1" highlightClick="0" endSnd="0">
                  <a:extLst>
                    <a:ext uri="{A12FA001-AC4F-418D-AE19-62706E023703}">
                      <ahyp:hlinkClr xmlns:ahyp="http://schemas.microsoft.com/office/drawing/2018/hyperlinkcolor" val="tx"/>
                    </a:ext>
                  </a:extLst>
                </a:hlinkClick>
              </a:rPr>
              <a:t>SDI000002582383</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0740b48347a24710a1a9295b416d4315" history="1" highlightClick="0" endSnd="0">
                  <a:extLst>
                    <a:ext uri="{A12FA001-AC4F-418D-AE19-62706E023703}">
                      <ahyp:hlinkClr xmlns:ahyp="http://schemas.microsoft.com/office/drawing/2018/hyperlinkcolor" val="tx"/>
                    </a:ext>
                  </a:extLst>
                </a:hlinkClick>
              </a:rPr>
              <a:t>BOFA IP Adapter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esx_server.do?sys_id=c5fad55d3b8cf25cdf0f0c54c3e45ac8" history="1" highlightClick="0" endSnd="0">
                  <a:extLst>
                    <a:ext uri="{A12FA001-AC4F-418D-AE19-62706E023703}">
                      <ahyp:hlinkClr xmlns:ahyp="http://schemas.microsoft.com/office/drawing/2018/hyperlinkcolor" val="tx"/>
                    </a:ext>
                  </a:extLst>
                </a:hlinkClick>
              </a:rPr>
              <a:t>a-vsg2d000i0291</a:t>
            </a:r>
            <a:endParaRPr lang="en-US" sz="1000" dirty="0"/>
          </a:p>
        </p:txBody>
      </p:sp>
      <p:graphicFrame>
        <p:nvGraphicFramePr>
          <p:cNvPr id="184"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Trims the scanned IP (sourceValue); loopback and link-local addresses are refused. The OS class is kept as a preference for class agreement.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"30.184.129.17"; OS "VMware ESXi 8.0.3 build 25205845" gives the class esx_server (a preference for class agreement)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Adapter records on the 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Network Adapter records (cmdb_ci_network_adapter) whose ip_address is the scanned IP and that belong to a CI, ignored classes left out; the owning CIs whose class agrees with the OS are kept.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adapter vmk3 -&gt; a-vsg2d000i0291 [esx_server]</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network_adapter_list.do?sysparm_query=ip_address%3D30.184.129.17" history="1" highlightClick="0" endSnd="0">
                            <a:extLst>
                              <a:ext uri="{A12FA001-AC4F-418D-AE19-62706E023703}">
                                <ahyp:hlinkClr xmlns:ahyp="http://schemas.microsoft.com/office/drawing/2018/hyperlinkcolor" val="tx"/>
                              </a:ext>
                            </a:extLst>
                          </a:hlinkClick>
                        </a:rPr>
                        <a:t>Network Adapter: ip_address=30.184.129.17</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network_adapter.do?sys_id=c51bd9113bc4b61c055e3b64c3e45a55" history="1" highlightClick="0" endSnd="0">
                            <a:extLst>
                              <a:ext uri="{A12FA001-AC4F-418D-AE19-62706E023703}">
                                <ahyp:hlinkClr xmlns:ahyp="http://schemas.microsoft.com/office/drawing/2018/hyperlinkcolor" val="tx"/>
                              </a:ext>
                            </a:extLst>
                          </a:hlinkClick>
                        </a:rPr>
                        <a:t>vmk3</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esx_server.do?sys_id=c5fad55d3b8cf25cdf0f0c54c3e45ac8" history="1" highlightClick="0" endSnd="0">
                            <a:extLst>
                              <a:ext uri="{A12FA001-AC4F-418D-AE19-62706E023703}">
                                <ahyp:hlinkClr xmlns:ahyp="http://schemas.microsoft.com/office/drawing/2018/hyperlinkcolor" val="tx"/>
                              </a:ext>
                            </a:extLst>
                          </a:hlinkClick>
                        </a:rPr>
                        <a:t>a-vsg2d000i0291</a:t>
                      </a:r>
                      <a:pPr indent="0" marL="0">
                        <a:buNone/>
                      </a:pPr>
                      <a:r>
                        <a:rPr lang="en-US" sz="900" dirty="0">
                          <a:solidFill>
                            <a:srgbClr val="6E7279"/>
                          </a:solidFill>
                          <a:latin typeface="Arial" pitchFamily="34" charset="0"/>
                          <a:ea typeface="Arial" pitchFamily="34" charset="-122"/>
                          <a:cs typeface="Arial" pitchFamily="34" charset="-120"/>
                        </a:rPr>
                        <a:t> [esx_server]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Decision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The distinct owning CIs are counted: exactly one is returned when it is not a load balancer device and its name agrees with the scanned label (equal, or one a hyphenated extension of the other).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distinct owning CI; not a load balancer device; name agrees with "a-vsg2d000i0291-nfs"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183</a:t>
            </a:fld>
            <a:endParaRPr lang="en-US"/>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740  ·  IP ADDRESS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Layered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706880"/>
          </a:xfrm>
          <a:prstGeom prst="roundRect">
            <a:avLst>
              <a:gd name="adj" fmla="val 321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3776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0668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scanned IP recorded as its own IP Address record (cmdb_ci_ip_address) linked through nic to a Network Adapter that links to a CI.</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is the last address rule because newer discovery writes each address there and may leave the adapter's own ip_address empty, so the previous three rules find nothing.</a:t>
            </a:r>
            <a:endParaRPr lang="en-US" sz="1500" dirty="0"/>
          </a:p>
        </p:txBody>
      </p:sp>
      <p:sp>
        <p:nvSpPr>
          <p:cNvPr id="13" name="Shape 11"/>
          <p:cNvSpPr/>
          <p:nvPr/>
        </p:nvSpPr>
        <p:spPr>
          <a:xfrm>
            <a:off x="502920" y="3380232"/>
            <a:ext cx="6933529" cy="2565400"/>
          </a:xfrm>
          <a:prstGeom prst="roundRect">
            <a:avLst>
              <a:gd name="adj" fmla="val 2139"/>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5631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3837432"/>
            <a:ext cx="457200" cy="0"/>
          </a:xfrm>
          <a:prstGeom prst="line">
            <a:avLst/>
          </a:prstGeom>
          <a:noFill/>
          <a:ln w="19050">
            <a:solidFill>
              <a:srgbClr val="E31837"/>
            </a:solidFill>
            <a:prstDash val="solid"/>
          </a:ln>
        </p:spPr>
      </p:sp>
      <p:sp>
        <p:nvSpPr>
          <p:cNvPr id="16" name="Text 14"/>
          <p:cNvSpPr txBox="1"/>
          <p:nvPr/>
        </p:nvSpPr>
        <p:spPr>
          <a:xfrm>
            <a:off x="822960" y="3928872"/>
            <a:ext cx="6293449" cy="18338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IP (sourceValue). Payload fields: OS (class preference consumed by agrees() inside the owner loop) and DNS (host-name agreement). The rule argument is never read.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CI at the end of cmdb_ci_ip_address -&gt; nic (cmdb_ci_network_adapter) -&gt; cmdb_ci, counted once across its address records, when its class agrees with the OS, it is not in cmdb_ci_lb and its name agrees with the scanned label; null otherwise.</a:t>
            </a:r>
            <a:endParaRPr lang="en-US" sz="1400" dirty="0"/>
          </a:p>
        </p:txBody>
      </p:sp>
      <p:sp>
        <p:nvSpPr>
          <p:cNvPr id="17" name="Shape 15"/>
          <p:cNvSpPr/>
          <p:nvPr/>
        </p:nvSpPr>
        <p:spPr>
          <a:xfrm>
            <a:off x="7665049" y="3380232"/>
            <a:ext cx="4020983" cy="2565400"/>
          </a:xfrm>
          <a:prstGeom prst="roundRect">
            <a:avLst>
              <a:gd name="adj" fmla="val 2139"/>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5631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3837432"/>
            <a:ext cx="457200" cy="0"/>
          </a:xfrm>
          <a:prstGeom prst="line">
            <a:avLst/>
          </a:prstGeom>
          <a:noFill/>
          <a:ln w="19050">
            <a:solidFill>
              <a:srgbClr val="E31837"/>
            </a:solidFill>
            <a:prstDash val="solid"/>
          </a:ln>
        </p:spPr>
      </p:sp>
      <p:sp>
        <p:nvSpPr>
          <p:cNvPr id="20" name="Text 18"/>
          <p:cNvSpPr txBox="1"/>
          <p:nvPr/>
        </p:nvSpPr>
        <p:spPr>
          <a:xfrm>
            <a:off x="7985089" y="3928872"/>
            <a:ext cx="3380903" cy="82804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IP Adapter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FQDN Name Broad Match</a:t>
            </a:r>
            <a:endParaRPr lang="en-US" sz="1300" dirty="0"/>
          </a:p>
        </p:txBody>
      </p:sp>
      <p:sp>
        <p:nvSpPr>
          <p:cNvPr id="21" name="Text 19"/>
          <p:cNvSpPr txBox="1"/>
          <p:nvPr/>
        </p:nvSpPr>
        <p:spPr>
          <a:xfrm>
            <a:off x="7985089" y="48483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7,968</a:t>
            </a:r>
            <a:endParaRPr lang="en-US" sz="2800" dirty="0"/>
          </a:p>
        </p:txBody>
      </p:sp>
      <p:sp>
        <p:nvSpPr>
          <p:cNvPr id="22" name="Text 20"/>
          <p:cNvSpPr txBox="1"/>
          <p:nvPr/>
        </p:nvSpPr>
        <p:spPr>
          <a:xfrm>
            <a:off x="7985089" y="54152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184</a:t>
            </a:fld>
            <a:endParaRPr lang="en-US"/>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740  ·  IP ADDRESS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Layered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5540"/>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1   Address guard.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2   Ignored class list.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3   Class preference from the OS.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pref = classFor(sourcePayload.OS). Not a filter: it is consulted inside the owner loop to skip a CI at the end of the chain whose class contradicts the scan. An empty pref (unknown or multi-guess OS, as in the sample) skips nothing.</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4   IP Address record query.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ipGr = new GlideRecord('cmdb_ci_ip_address'); null when isValid() is false. addQuery('ip_address', ip); addNotNullQuery('nic.cmdb_ci') so the chain ends on a CI; when ignore is non-empty addQuery('nic.cmdb_ci.sys_class_name', 'NOT IN', ignore); query().</a:t>
            </a:r>
            <a:endParaRPr lang="en-US" sz="1350" dirty="0"/>
          </a:p>
        </p:txBody>
      </p:sp>
      <p:sp>
        <p:nvSpPr>
          <p:cNvPr id="10" name="Text 8"/>
          <p:cNvSpPr txBox="1"/>
          <p:nvPr/>
        </p:nvSpPr>
        <p:spPr>
          <a:xfrm>
            <a:off x="6277356"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5   Distinct owners with class agreement.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Walk every row: owner = '' + ipGr.nic.cmdb_ci (IP Address -&gt; adapter -&gt; CI, two dot-walks); continue when agrees('' + ipGr.nic.cmdb_ci.sys_class_name) is false; each new owner recorded once in an object, count incremented, first kept.</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6   Exactly one owner.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count == 1 over the whole result set, not hasNext(): one device with two address records counts once, two devices count twice and the rule declines. A load balancer owner counts too whenever agrees() accepted its class (always when pref is '').</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7   Refusals on the single owner.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 first only when !isLoadBalancer(first) (no cmdb_ci_lb row with that sys_id) and nameAgrees(first). Otherwise null, and the host passes to USEM FQDN Name Broad Match.</a:t>
            </a:r>
            <a:endParaRPr lang="en-US" sz="13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185</a:t>
            </a:fld>
            <a:endParaRPr lang="en-US"/>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740  ·  IP ADDRESS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Layered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063240"/>
          </a:xfrm>
          <a:prstGeom prst="roundRect">
            <a:avLst>
              <a:gd name="adj" fmla="val 1791"/>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7340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4231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 or the trimmed address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address starts with '127.' or '169.254.'</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cmdb_ci_ip_address table is not valid on the instance (ipGr.isValid() false)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cmdb_ci_ip_address row with that ip_address reaches a CI (nic.cmdb_ci empty) outside the ignore list</a:t>
            </a:r>
            <a:endParaRPr lang="en-US" sz="1500" dirty="0"/>
          </a:p>
        </p:txBody>
      </p:sp>
      <p:sp>
        <p:nvSpPr>
          <p:cNvPr id="13" name="Text 11"/>
          <p:cNvSpPr txBox="1"/>
          <p:nvPr/>
        </p:nvSpPr>
        <p:spPr>
          <a:xfrm>
            <a:off x="6277356" y="1975104"/>
            <a:ext cx="5088636" cy="24231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Every CI reached has a class agrees() refuses, so count stays 0</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Address records of two or more distinct CIs (after the class skip) carry the address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single owner is a load balancer: cmdb_ci_lb is a valid table and cmdb_ci_lb.get(sys_id) succeeds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payload carries a DNS name and the owner's name does not agree with it</a:t>
            </a:r>
            <a:endParaRPr lang="en-US" sz="1500" dirty="0"/>
          </a:p>
        </p:txBody>
      </p:sp>
      <p:sp>
        <p:nvSpPr>
          <p:cNvPr id="14" name="Shape 12"/>
          <p:cNvSpPr/>
          <p:nvPr/>
        </p:nvSpPr>
        <p:spPr>
          <a:xfrm>
            <a:off x="502920" y="47365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7365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FQDN Name Broad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186</a:t>
            </a:fld>
            <a:endParaRPr lang="en-US"/>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740  ·  IP LAYERED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300" b="1" dirty="0">
                <a:solidFill>
                  <a:srgbClr val="1F2A44"/>
                </a:solidFill>
                <a:latin typeface="Arial" pitchFamily="34" charset="0"/>
                <a:ea typeface="Arial" pitchFamily="34" charset="-122"/>
                <a:cs typeface="Arial" pitchFamily="34" charset="-120"/>
              </a:rPr>
              <a:t>ididjktnx07sdm0001-vl603.asia.bankofamerica.com</a:t>
            </a:r>
            <a:endParaRPr lang="en-US" sz="23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1 records / 1 owners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878584"/>
          </a:xfrm>
          <a:prstGeom prst="roundRect">
            <a:avLst>
              <a:gd name="adj" fmla="val 292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3665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"ididjktnx07sdm0001-vl603" is not sep + 12 hex)  ·  device name (OS gives the class netgear)  ·  controller (no controller suffix or OS word)  ·  interface (no interface domain or marker)  ·  member (no VIP sign)  ·  service (no VIP sign)</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name + domain (no record named "ididjktnx07sdm0001-vl603")  ·  layered DNS (no DNS Name record for "ididjktnx07sdm0001-vl603.asia.bankofamerica.com")  ·  host name (no record in the hardware tree named "ididjktnx07sdm0001-vl603")  ·  whole-fqdn name (no record in the hardware tree named "ididjktnx07sdm0001-vl603.asia.bankofamerica.com")  ·  address (no record in the hardware tree carries the address)  ·  adapter (no adapter on the address)</a:t>
            </a:r>
            <a:endParaRPr lang="en-US" sz="1100" dirty="0"/>
          </a:p>
        </p:txBody>
      </p:sp>
      <p:sp>
        <p:nvSpPr>
          <p:cNvPr id="12" name="Shape 10"/>
          <p:cNvSpPr/>
          <p:nvPr/>
        </p:nvSpPr>
        <p:spPr>
          <a:xfrm>
            <a:off x="502920" y="3469640"/>
            <a:ext cx="2788920" cy="29311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6250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899408"/>
            <a:ext cx="457200" cy="0"/>
          </a:xfrm>
          <a:prstGeom prst="line">
            <a:avLst/>
          </a:prstGeom>
          <a:noFill/>
          <a:ln w="19050">
            <a:solidFill>
              <a:srgbClr val="E31837"/>
            </a:solidFill>
            <a:prstDash val="solid"/>
          </a:ln>
        </p:spPr>
      </p:sp>
      <p:sp>
        <p:nvSpPr>
          <p:cNvPr id="15" name="Text 13"/>
          <p:cNvSpPr txBox="1"/>
          <p:nvPr/>
        </p:nvSpPr>
        <p:spPr>
          <a:xfrm>
            <a:off x="740664" y="39451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SDI000002376737</a:t>
            </a:r>
            <a:endParaRPr lang="en-US" sz="1500" dirty="0"/>
          </a:p>
        </p:txBody>
      </p:sp>
      <p:sp>
        <p:nvSpPr>
          <p:cNvPr id="16" name="Text 14"/>
          <p:cNvSpPr txBox="1"/>
          <p:nvPr/>
        </p:nvSpPr>
        <p:spPr>
          <a:xfrm>
            <a:off x="740664" y="4310888"/>
            <a:ext cx="2313432" cy="137668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ididjktnx07sdm0001-vl603.asia.bankofamerica.com</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165.40.253.178</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Cisco Nexus Switch</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IP</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2026-09-21 08:47:59</a:t>
            </a:r>
            <a:endParaRPr lang="en-US" sz="1000" dirty="0"/>
          </a:p>
        </p:txBody>
      </p:sp>
      <p:sp>
        <p:nvSpPr>
          <p:cNvPr id="17" name="Text 15">
            <a:hlinkClick r:id="rId1" tooltip="https://bofasecopsdev.service-now.com/sn_sec_cmn_src_ci_list.do?sysparm_query=number=SDI000002376737"/>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7673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469640"/>
            <a:ext cx="4745736" cy="2931160"/>
          </a:xfrm>
          <a:prstGeom prst="roundRect">
            <a:avLst>
              <a:gd name="adj" fmla="val 187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6250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899408"/>
            <a:ext cx="457200" cy="0"/>
          </a:xfrm>
          <a:prstGeom prst="line">
            <a:avLst/>
          </a:prstGeom>
          <a:noFill/>
          <a:ln w="19050">
            <a:solidFill>
              <a:srgbClr val="E31837"/>
            </a:solidFill>
            <a:prstDash val="solid"/>
          </a:ln>
        </p:spPr>
      </p:sp>
      <p:sp>
        <p:nvSpPr>
          <p:cNvPr id="21" name="Text 19"/>
          <p:cNvSpPr txBox="1"/>
          <p:nvPr/>
        </p:nvSpPr>
        <p:spPr>
          <a:xfrm>
            <a:off x="3749040" y="3972560"/>
            <a:ext cx="4233672" cy="22727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"165.40.253.178"; OS "Cisco Nexus Switch" gives the class netgear (a preference for class agreement)</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IP Address records on the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IP Address record -&gt; adapter Vlan603 -&gt; ididjktnx07sdm0001 [ip_switch]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distinct owning CI; not a load balancer device; name agrees with "ididjktnx07sdm0001-vl603"</a:t>
            </a:r>
            <a:endParaRPr lang="en-US" sz="1300" dirty="0"/>
          </a:p>
        </p:txBody>
      </p:sp>
      <p:sp>
        <p:nvSpPr>
          <p:cNvPr id="22" name="Shape 20"/>
          <p:cNvSpPr/>
          <p:nvPr/>
        </p:nvSpPr>
        <p:spPr>
          <a:xfrm>
            <a:off x="8439912" y="3469640"/>
            <a:ext cx="3246120" cy="2931160"/>
          </a:xfrm>
          <a:prstGeom prst="roundRect">
            <a:avLst>
              <a:gd name="adj" fmla="val 187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634232"/>
            <a:ext cx="64008" cy="2601976"/>
          </a:xfrm>
          <a:prstGeom prst="rect">
            <a:avLst/>
          </a:prstGeom>
          <a:solidFill>
            <a:srgbClr val="E31837"/>
          </a:solidFill>
          <a:ln w="12700">
            <a:solidFill>
              <a:srgbClr val="333333"/>
            </a:solidFill>
            <a:prstDash val="solid"/>
          </a:ln>
        </p:spPr>
      </p:sp>
      <p:sp>
        <p:nvSpPr>
          <p:cNvPr id="24" name="Text 22"/>
          <p:cNvSpPr txBox="1"/>
          <p:nvPr/>
        </p:nvSpPr>
        <p:spPr>
          <a:xfrm>
            <a:off x="8714232" y="36250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899408"/>
            <a:ext cx="457200" cy="0"/>
          </a:xfrm>
          <a:prstGeom prst="line">
            <a:avLst/>
          </a:prstGeom>
          <a:noFill/>
          <a:ln w="19050">
            <a:solidFill>
              <a:srgbClr val="E31837"/>
            </a:solidFill>
            <a:prstDash val="solid"/>
          </a:ln>
        </p:spPr>
      </p:sp>
      <p:sp>
        <p:nvSpPr>
          <p:cNvPr id="26" name="Text 24"/>
          <p:cNvSpPr txBox="1"/>
          <p:nvPr/>
        </p:nvSpPr>
        <p:spPr>
          <a:xfrm>
            <a:off x="8714232" y="39451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ididjktnx07sdm0001</a:t>
            </a:r>
            <a:endParaRPr lang="en-US" sz="1500" dirty="0"/>
          </a:p>
        </p:txBody>
      </p:sp>
      <p:sp>
        <p:nvSpPr>
          <p:cNvPr id="27" name="Text 25"/>
          <p:cNvSpPr txBox="1"/>
          <p:nvPr/>
        </p:nvSpPr>
        <p:spPr>
          <a:xfrm>
            <a:off x="8714232" y="42651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IP Switch</a:t>
            </a:r>
            <a:endParaRPr lang="en-US" sz="1100" dirty="0"/>
          </a:p>
        </p:txBody>
      </p:sp>
      <p:sp>
        <p:nvSpPr>
          <p:cNvPr id="28" name="Text 26"/>
          <p:cNvSpPr txBox="1"/>
          <p:nvPr/>
        </p:nvSpPr>
        <p:spPr>
          <a:xfrm>
            <a:off x="8714232" y="4585208"/>
            <a:ext cx="2715768" cy="1102360"/>
          </a:xfrm>
          <a:prstGeom prst="rect">
            <a:avLst/>
          </a:prstGeom>
          <a:noFill/>
          <a:ln/>
        </p:spPr>
        <p:txBody>
          <a:bodyPr wrap="square" lIns="0" tIns="0" rIns="0" bIns="0" rtlCol="0" anchor="t"/>
          <a:lstStyle/>
          <a:p>
            <a:pPr indent="0" marL="0">
              <a:buNone/>
            </a:pPr>
            <a:r>
              <a:rPr lang="en-US" sz="9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950" dirty="0">
                <a:solidFill>
                  <a:srgbClr val="4D4F53"/>
                </a:solidFill>
                <a:latin typeface="Arial" pitchFamily="34" charset="0"/>
                <a:ea typeface="Arial" pitchFamily="34" charset="-122"/>
                <a:cs typeface="Arial" pitchFamily="34" charset="-120"/>
              </a:rPr>
              <a:t>10.214.35.6</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950" dirty="0">
                <a:solidFill>
                  <a:srgbClr val="4D4F53"/>
                </a:solidFill>
                <a:latin typeface="Arial" pitchFamily="34" charset="0"/>
                <a:ea typeface="Arial" pitchFamily="34" charset="-122"/>
                <a:cs typeface="Arial" pitchFamily="34" charset="-120"/>
              </a:rPr>
              <a:t>FDO23390LQU</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950" dirty="0">
                <a:solidFill>
                  <a:srgbClr val="4D4F53"/>
                </a:solidFill>
                <a:latin typeface="Arial" pitchFamily="34" charset="0"/>
                <a:ea typeface="Arial" pitchFamily="34" charset="-122"/>
                <a:cs typeface="Arial" pitchFamily="34" charset="-120"/>
              </a:rPr>
              <a:t>Cisco Systems, Inc. Nexus 9300-EX Series 93180YC-EX</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950" dirty="0">
                <a:solidFill>
                  <a:srgbClr val="4D4F53"/>
                </a:solidFill>
                <a:latin typeface="Arial" pitchFamily="34" charset="0"/>
                <a:ea typeface="Arial" pitchFamily="34" charset="-122"/>
                <a:cs typeface="Arial" pitchFamily="34" charset="-120"/>
              </a:rPr>
              <a:t>Installed</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950" dirty="0">
                <a:solidFill>
                  <a:srgbClr val="4D4F53"/>
                </a:solidFill>
                <a:latin typeface="Arial" pitchFamily="34" charset="0"/>
                <a:ea typeface="Arial" pitchFamily="34" charset="-122"/>
                <a:cs typeface="Arial" pitchFamily="34" charset="-120"/>
              </a:rPr>
              <a:t>Operational</a:t>
            </a:r>
            <a:endParaRPr lang="en-US" sz="950" dirty="0"/>
          </a:p>
        </p:txBody>
      </p:sp>
      <p:sp>
        <p:nvSpPr>
          <p:cNvPr id="29" name="Text 27">
            <a:hlinkClick r:id="rId2" tooltip="https://bofasecopsdev.service-now.com/cmdb_ci_ip_switch.do?sys_id=c835c6e83ba822d0670e839704e45ae8"/>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switch.do?sys_id=c835c6e83ba822d0670e839704e45ae8"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187</a:t>
            </a:fld>
            <a:endParaRPr lang="en-US"/>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740  ·  IP LAYERED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300" b="1" dirty="0">
                <a:solidFill>
                  <a:srgbClr val="1F2A44"/>
                </a:solidFill>
                <a:latin typeface="Arial" pitchFamily="34" charset="0"/>
                <a:ea typeface="Arial" pitchFamily="34" charset="-122"/>
                <a:cs typeface="Arial" pitchFamily="34" charset="-120"/>
              </a:rPr>
              <a:t>ididjktnx07sdm0001-vl603.asia.bankofamerica.com</a:t>
            </a:r>
            <a:endParaRPr lang="en-US" sz="23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795ad412933a8b10a2b4f91e1dba10be" history="1" highlightClick="0" endSnd="0">
                  <a:extLst>
                    <a:ext uri="{A12FA001-AC4F-418D-AE19-62706E023703}">
                      <ahyp:hlinkClr xmlns:ahyp="http://schemas.microsoft.com/office/drawing/2018/hyperlinkcolor" val="tx"/>
                    </a:ext>
                  </a:extLst>
                </a:hlinkClick>
              </a:rPr>
              <a:t>SDI000002376737</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d14eaccf47624710a1a9295b416d43bf" history="1" highlightClick="0" endSnd="0">
                  <a:extLst>
                    <a:ext uri="{A12FA001-AC4F-418D-AE19-62706E023703}">
                      <ahyp:hlinkClr xmlns:ahyp="http://schemas.microsoft.com/office/drawing/2018/hyperlinkcolor" val="tx"/>
                    </a:ext>
                  </a:extLst>
                </a:hlinkClick>
              </a:rPr>
              <a:t>BOFA IP Layered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ip_switch.do?sys_id=c835c6e83ba822d0670e839704e45ae8" history="1" highlightClick="0" endSnd="0">
                  <a:extLst>
                    <a:ext uri="{A12FA001-AC4F-418D-AE19-62706E023703}">
                      <ahyp:hlinkClr xmlns:ahyp="http://schemas.microsoft.com/office/drawing/2018/hyperlinkcolor" val="tx"/>
                    </a:ext>
                  </a:extLst>
                </a:hlinkClick>
              </a:rPr>
              <a:t>ididjktnx07sdm0001</a:t>
            </a:r>
            <a:endParaRPr lang="en-US" sz="1000" dirty="0"/>
          </a:p>
        </p:txBody>
      </p:sp>
      <p:graphicFrame>
        <p:nvGraphicFramePr>
          <p:cNvPr id="189"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Trims the scanned IP (sourceValue); loopback and link-local addresses are refused. The OS class is kept as a preference for class agreement.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"165.40.253.178"; OS "Cisco Nexus Switch" gives the class netgear (a preference for class agreement)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IP Address records on the 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IP Address records (cmdb_ci_ip_address) on the scanned IP whose adapter belongs to a CI, ignored classes left out; the owning CIs whose class agrees with the OS are kept.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IP Address record -&gt; adapter Vlan603 -&gt; ididjktnx07sdm0001 [ip_switch]</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ip_address_list.do?sysparm_query=ip_address%3D165.40.253.178" history="1" highlightClick="0" endSnd="0">
                            <a:extLst>
                              <a:ext uri="{A12FA001-AC4F-418D-AE19-62706E023703}">
                                <ahyp:hlinkClr xmlns:ahyp="http://schemas.microsoft.com/office/drawing/2018/hyperlinkcolor" val="tx"/>
                              </a:ext>
                            </a:extLst>
                          </a:hlinkClick>
                        </a:rPr>
                        <a:t>IP Address: ip_address=165.40.253.178</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ip_address.do?sys_id=f03542a03ba026d0d5062b64c3e45a79" history="1" highlightClick="0" endSnd="0">
                            <a:extLst>
                              <a:ext uri="{A12FA001-AC4F-418D-AE19-62706E023703}">
                                <ahyp:hlinkClr xmlns:ahyp="http://schemas.microsoft.com/office/drawing/2018/hyperlinkcolor" val="tx"/>
                              </a:ext>
                            </a:extLst>
                          </a:hlinkClick>
                        </a:rPr>
                        <a:t>165.40.253.178</a:t>
                      </a:r>
                      <a:pPr indent="0" marL="0">
                        <a:buNone/>
                      </a:pPr>
                      <a:r>
                        <a:rPr lang="en-US" sz="900" dirty="0">
                          <a:solidFill>
                            <a:srgbClr val="6E7279"/>
                          </a:solidFill>
                          <a:latin typeface="Arial" pitchFamily="34" charset="0"/>
                          <a:ea typeface="Arial" pitchFamily="34" charset="-122"/>
                          <a:cs typeface="Arial" pitchFamily="34" charset="-120"/>
                        </a:rPr>
                        <a:t> → adapter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network_adapter.do?sys_id=453582a03ba026d0d5062b64c3e45a44" history="1" highlightClick="0" endSnd="0">
                            <a:extLst>
                              <a:ext uri="{A12FA001-AC4F-418D-AE19-62706E023703}">
                                <ahyp:hlinkClr xmlns:ahyp="http://schemas.microsoft.com/office/drawing/2018/hyperlinkcolor" val="tx"/>
                              </a:ext>
                            </a:extLst>
                          </a:hlinkClick>
                        </a:rPr>
                        <a:t>Vlan603</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8" invalidUrl="" action="" tgtFrame="" tooltip="https://bofasecopsdev.service-now.com/cmdb_ci_ip_switch.do?sys_id=c835c6e83ba822d0670e839704e45ae8" history="1" highlightClick="0" endSnd="0">
                            <a:extLst>
                              <a:ext uri="{A12FA001-AC4F-418D-AE19-62706E023703}">
                                <ahyp:hlinkClr xmlns:ahyp="http://schemas.microsoft.com/office/drawing/2018/hyperlinkcolor" val="tx"/>
                              </a:ext>
                            </a:extLst>
                          </a:hlinkClick>
                        </a:rPr>
                        <a:t>ididjktnx07sdm0001</a:t>
                      </a:r>
                      <a:pPr indent="0" marL="0">
                        <a:buNone/>
                      </a:pPr>
                      <a:r>
                        <a:rPr lang="en-US" sz="900" dirty="0">
                          <a:solidFill>
                            <a:srgbClr val="6E7279"/>
                          </a:solidFill>
                          <a:latin typeface="Arial" pitchFamily="34" charset="0"/>
                          <a:ea typeface="Arial" pitchFamily="34" charset="-122"/>
                          <a:cs typeface="Arial" pitchFamily="34" charset="-120"/>
                        </a:rPr>
                        <a:t> [ip_switch]</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Decision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The distinct owning CIs are counted: exactly one is returned when it is not a load balancer device and its name agrees with the scanned label (equal, or one a hyphenated extension of the other).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distinct owning CI; not a load balancer device; name agrees with "ididjktnx07sdm0001-vl603"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188</a:t>
            </a:fld>
            <a:endParaRPr lang="en-US"/>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740  ·  IP LAYERED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171.151.214.18</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1 records / 1 owners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258824"/>
          </a:xfrm>
          <a:prstGeom prst="roundRect">
            <a:avLst>
              <a:gd name="adj" fmla="val 4358"/>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74676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No DNS name: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the scan reports only the address, so no phone or name rule could run</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member (no VIP sign)  ·  service (no VIP sign)</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address (no record in the hardware tree carries the address)  ·  adapter (no adapter on the address)</a:t>
            </a:r>
            <a:endParaRPr lang="en-US" sz="1100" dirty="0"/>
          </a:p>
        </p:txBody>
      </p:sp>
      <p:sp>
        <p:nvSpPr>
          <p:cNvPr id="12" name="Shape 10"/>
          <p:cNvSpPr/>
          <p:nvPr/>
        </p:nvSpPr>
        <p:spPr>
          <a:xfrm>
            <a:off x="502920" y="2849880"/>
            <a:ext cx="2788920" cy="355092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00532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279648"/>
            <a:ext cx="457200" cy="0"/>
          </a:xfrm>
          <a:prstGeom prst="line">
            <a:avLst/>
          </a:prstGeom>
          <a:noFill/>
          <a:ln w="19050">
            <a:solidFill>
              <a:srgbClr val="E31837"/>
            </a:solidFill>
            <a:prstDash val="solid"/>
          </a:ln>
        </p:spPr>
      </p:sp>
      <p:sp>
        <p:nvSpPr>
          <p:cNvPr id="15" name="Text 13"/>
          <p:cNvSpPr txBox="1"/>
          <p:nvPr/>
        </p:nvSpPr>
        <p:spPr>
          <a:xfrm>
            <a:off x="740664" y="332536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SDI000002354915</a:t>
            </a:r>
            <a:endParaRPr lang="en-US" sz="1500" dirty="0"/>
          </a:p>
        </p:txBody>
      </p:sp>
      <p:sp>
        <p:nvSpPr>
          <p:cNvPr id="16" name="Text 14"/>
          <p:cNvSpPr txBox="1"/>
          <p:nvPr/>
        </p:nvSpPr>
        <p:spPr>
          <a:xfrm>
            <a:off x="740664" y="3691128"/>
            <a:ext cx="2313432" cy="199644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(none)</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171.151.214.18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Cisco IOS 11-15</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09:29:23</a:t>
            </a:r>
            <a:endParaRPr lang="en-US" sz="1200" dirty="0"/>
          </a:p>
        </p:txBody>
      </p:sp>
      <p:sp>
        <p:nvSpPr>
          <p:cNvPr id="17" name="Text 15">
            <a:hlinkClick r:id="rId1" tooltip="https://bofasecopsdev.service-now.com/sn_sec_cmn_src_ci_list.do?sysparm_query=number=SDI000002354915"/>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5491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849880"/>
            <a:ext cx="4745736" cy="3550920"/>
          </a:xfrm>
          <a:prstGeom prst="roundRect">
            <a:avLst>
              <a:gd name="adj" fmla="val 154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00532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279648"/>
            <a:ext cx="457200" cy="0"/>
          </a:xfrm>
          <a:prstGeom prst="line">
            <a:avLst/>
          </a:prstGeom>
          <a:noFill/>
          <a:ln w="19050">
            <a:solidFill>
              <a:srgbClr val="E31837"/>
            </a:solidFill>
            <a:prstDash val="solid"/>
          </a:ln>
        </p:spPr>
      </p:sp>
      <p:sp>
        <p:nvSpPr>
          <p:cNvPr id="21" name="Text 19"/>
          <p:cNvSpPr txBox="1"/>
          <p:nvPr/>
        </p:nvSpPr>
        <p:spPr>
          <a:xfrm>
            <a:off x="3749040" y="3352800"/>
            <a:ext cx="4233672" cy="289255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"171.151.214.18"; OS "Cisco IOS 11-15" gives the class netgear (a preference for class agreement)</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IP Address records on the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IP Address record -&gt; adapter Vlan1851 -&gt; ththbkkt133vdm0001 [ip_switch]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distinct owning CI; not a load balancer device; no scanned label to compare</a:t>
            </a:r>
            <a:endParaRPr lang="en-US" sz="1300" dirty="0"/>
          </a:p>
        </p:txBody>
      </p:sp>
      <p:sp>
        <p:nvSpPr>
          <p:cNvPr id="22" name="Shape 20"/>
          <p:cNvSpPr/>
          <p:nvPr/>
        </p:nvSpPr>
        <p:spPr>
          <a:xfrm>
            <a:off x="8439912" y="2849880"/>
            <a:ext cx="3246120" cy="355092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014472"/>
            <a:ext cx="64008" cy="3221736"/>
          </a:xfrm>
          <a:prstGeom prst="rect">
            <a:avLst/>
          </a:prstGeom>
          <a:solidFill>
            <a:srgbClr val="E31837"/>
          </a:solidFill>
          <a:ln w="12700">
            <a:solidFill>
              <a:srgbClr val="333333"/>
            </a:solidFill>
            <a:prstDash val="solid"/>
          </a:ln>
        </p:spPr>
      </p:sp>
      <p:sp>
        <p:nvSpPr>
          <p:cNvPr id="24" name="Text 22"/>
          <p:cNvSpPr txBox="1"/>
          <p:nvPr/>
        </p:nvSpPr>
        <p:spPr>
          <a:xfrm>
            <a:off x="8714232" y="300532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279648"/>
            <a:ext cx="457200" cy="0"/>
          </a:xfrm>
          <a:prstGeom prst="line">
            <a:avLst/>
          </a:prstGeom>
          <a:noFill/>
          <a:ln w="19050">
            <a:solidFill>
              <a:srgbClr val="E31837"/>
            </a:solidFill>
            <a:prstDash val="solid"/>
          </a:ln>
        </p:spPr>
      </p:sp>
      <p:sp>
        <p:nvSpPr>
          <p:cNvPr id="26" name="Text 24"/>
          <p:cNvSpPr txBox="1"/>
          <p:nvPr/>
        </p:nvSpPr>
        <p:spPr>
          <a:xfrm>
            <a:off x="8714232" y="332536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ththbkkt133vdm0001</a:t>
            </a:r>
            <a:endParaRPr lang="en-US" sz="1500" dirty="0"/>
          </a:p>
        </p:txBody>
      </p:sp>
      <p:sp>
        <p:nvSpPr>
          <p:cNvPr id="27" name="Text 25"/>
          <p:cNvSpPr txBox="1"/>
          <p:nvPr/>
        </p:nvSpPr>
        <p:spPr>
          <a:xfrm>
            <a:off x="8714232" y="364540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IP Switch</a:t>
            </a:r>
            <a:endParaRPr lang="en-US" sz="1100" dirty="0"/>
          </a:p>
        </p:txBody>
      </p:sp>
      <p:sp>
        <p:nvSpPr>
          <p:cNvPr id="28" name="Text 26"/>
          <p:cNvSpPr txBox="1"/>
          <p:nvPr/>
        </p:nvSpPr>
        <p:spPr>
          <a:xfrm>
            <a:off x="8714232" y="3965448"/>
            <a:ext cx="2715768" cy="172212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165.46.74.3</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FDO2313F05X</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Cisco Systems cat36xxstack</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ip_switch.do?sys_id=04f4cae0fba82e102fe7f7ad5eefdcd3"/>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switch.do?sys_id=04f4cae0fba82e102fe7f7ad5eefdcd3"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189</a:t>
            </a:fld>
            <a:endParaRPr lang="en-US"/>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740  ·  IP LAYERED MATCH  ·  EXAMPLE 2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171.151.214.18</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a0e4dc9693ba4b549110fe584dba10bc" history="1" highlightClick="0" endSnd="0">
                  <a:extLst>
                    <a:ext uri="{A12FA001-AC4F-418D-AE19-62706E023703}">
                      <ahyp:hlinkClr xmlns:ahyp="http://schemas.microsoft.com/office/drawing/2018/hyperlinkcolor" val="tx"/>
                    </a:ext>
                  </a:extLst>
                </a:hlinkClick>
              </a:rPr>
              <a:t>SDI000002354915</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d14eaccf47624710a1a9295b416d43bf" history="1" highlightClick="0" endSnd="0">
                  <a:extLst>
                    <a:ext uri="{A12FA001-AC4F-418D-AE19-62706E023703}">
                      <ahyp:hlinkClr xmlns:ahyp="http://schemas.microsoft.com/office/drawing/2018/hyperlinkcolor" val="tx"/>
                    </a:ext>
                  </a:extLst>
                </a:hlinkClick>
              </a:rPr>
              <a:t>BOFA IP Layered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ip_switch.do?sys_id=04f4cae0fba82e102fe7f7ad5eefdcd3" history="1" highlightClick="0" endSnd="0">
                  <a:extLst>
                    <a:ext uri="{A12FA001-AC4F-418D-AE19-62706E023703}">
                      <ahyp:hlinkClr xmlns:ahyp="http://schemas.microsoft.com/office/drawing/2018/hyperlinkcolor" val="tx"/>
                    </a:ext>
                  </a:extLst>
                </a:hlinkClick>
              </a:rPr>
              <a:t>ththbkkt133vdm0001</a:t>
            </a:r>
            <a:endParaRPr lang="en-US" sz="1000" dirty="0"/>
          </a:p>
        </p:txBody>
      </p:sp>
      <p:graphicFrame>
        <p:nvGraphicFramePr>
          <p:cNvPr id="191"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Trims the scanned IP (sourceValue); loopback and link-local addresses are refused. The OS class is kept as a preference for class agreement.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"171.151.214.18"; OS "Cisco IOS 11-15" gives the class netgear (a preference for class agreement)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IP Address records on the 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IP Address records (cmdb_ci_ip_address) on the scanned IP whose adapter belongs to a CI, ignored classes left out; the owning CIs whose class agrees with the OS are kept.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IP Address record -&gt; adapter Vlan1851 -&gt; ththbkkt133vdm0001 [ip_switch]</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ip_address_list.do?sysparm_query=ip_address%3D171.151.214.18" history="1" highlightClick="0" endSnd="0">
                            <a:extLst>
                              <a:ext uri="{A12FA001-AC4F-418D-AE19-62706E023703}">
                                <ahyp:hlinkClr xmlns:ahyp="http://schemas.microsoft.com/office/drawing/2018/hyperlinkcolor" val="tx"/>
                              </a:ext>
                            </a:extLst>
                          </a:hlinkClick>
                        </a:rPr>
                        <a:t>IP Address: ip_address=171.151.214.18</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ip_address.do?sys_id=0cf40ee0fba82e102fe7f7ad5eefdcd8" history="1" highlightClick="0" endSnd="0">
                            <a:extLst>
                              <a:ext uri="{A12FA001-AC4F-418D-AE19-62706E023703}">
                                <ahyp:hlinkClr xmlns:ahyp="http://schemas.microsoft.com/office/drawing/2018/hyperlinkcolor" val="tx"/>
                              </a:ext>
                            </a:extLst>
                          </a:hlinkClick>
                        </a:rPr>
                        <a:t>171.151.214.18</a:t>
                      </a:r>
                      <a:pPr indent="0" marL="0">
                        <a:buNone/>
                      </a:pPr>
                      <a:r>
                        <a:rPr lang="en-US" sz="900" dirty="0">
                          <a:solidFill>
                            <a:srgbClr val="6E7279"/>
                          </a:solidFill>
                          <a:latin typeface="Arial" pitchFamily="34" charset="0"/>
                          <a:ea typeface="Arial" pitchFamily="34" charset="-122"/>
                          <a:cs typeface="Arial" pitchFamily="34" charset="-120"/>
                        </a:rPr>
                        <a:t> → adapter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network_adapter.do?sys_id=e4f44224fba82e102fe7f7ad5eefdc65" history="1" highlightClick="0" endSnd="0">
                            <a:extLst>
                              <a:ext uri="{A12FA001-AC4F-418D-AE19-62706E023703}">
                                <ahyp:hlinkClr xmlns:ahyp="http://schemas.microsoft.com/office/drawing/2018/hyperlinkcolor" val="tx"/>
                              </a:ext>
                            </a:extLst>
                          </a:hlinkClick>
                        </a:rPr>
                        <a:t>Vlan1851</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8" invalidUrl="" action="" tgtFrame="" tooltip="https://bofasecopsdev.service-now.com/cmdb_ci_ip_switch.do?sys_id=04f4cae0fba82e102fe7f7ad5eefdcd3" history="1" highlightClick="0" endSnd="0">
                            <a:extLst>
                              <a:ext uri="{A12FA001-AC4F-418D-AE19-62706E023703}">
                                <ahyp:hlinkClr xmlns:ahyp="http://schemas.microsoft.com/office/drawing/2018/hyperlinkcolor" val="tx"/>
                              </a:ext>
                            </a:extLst>
                          </a:hlinkClick>
                        </a:rPr>
                        <a:t>ththbkkt133vdm0001</a:t>
                      </a:r>
                      <a:pPr indent="0" marL="0">
                        <a:buNone/>
                      </a:pPr>
                      <a:r>
                        <a:rPr lang="en-US" sz="900" dirty="0">
                          <a:solidFill>
                            <a:srgbClr val="6E7279"/>
                          </a:solidFill>
                          <a:latin typeface="Arial" pitchFamily="34" charset="0"/>
                          <a:ea typeface="Arial" pitchFamily="34" charset="-122"/>
                          <a:cs typeface="Arial" pitchFamily="34" charset="-120"/>
                        </a:rPr>
                        <a:t> [ip_switch]</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Decision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The distinct owning CIs are counted: exactly one is returned when it is not a load balancer device and its name agrees with the scanned label (equal, or one a hyphenated extension of the other).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distinct owning CI; not a load balancer device; name agrees with ""</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190</a:t>
            </a:fld>
            <a:endParaRPr lang="en-US"/>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740  ·  IP LAYERED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172.24.5.68</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1 records / 1 owners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426464"/>
          </a:xfrm>
          <a:prstGeom prst="roundRect">
            <a:avLst>
              <a:gd name="adj" fmla="val 3846"/>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91440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No DNS name: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the scan reports only the address, so no phone or name rule could run</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member (no service record)  ·  service (no service record)  ·  address (OS "Linux 2.4-2.6 / Embedded Device / F5 Networks Big-IP / ArubaOS" gives no class / no record in the hardware tree carries the address)  ·  adapter (no adapter on the address)</a:t>
            </a:r>
            <a:endParaRPr lang="en-US" sz="1100" dirty="0"/>
          </a:p>
        </p:txBody>
      </p:sp>
      <p:sp>
        <p:nvSpPr>
          <p:cNvPr id="12" name="Shape 10"/>
          <p:cNvSpPr/>
          <p:nvPr/>
        </p:nvSpPr>
        <p:spPr>
          <a:xfrm>
            <a:off x="502920" y="3017520"/>
            <a:ext cx="2788920" cy="338328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17296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447288"/>
            <a:ext cx="457200" cy="0"/>
          </a:xfrm>
          <a:prstGeom prst="line">
            <a:avLst/>
          </a:prstGeom>
          <a:noFill/>
          <a:ln w="19050">
            <a:solidFill>
              <a:srgbClr val="E31837"/>
            </a:solidFill>
            <a:prstDash val="solid"/>
          </a:ln>
        </p:spPr>
      </p:sp>
      <p:sp>
        <p:nvSpPr>
          <p:cNvPr id="15" name="Text 13"/>
          <p:cNvSpPr txBox="1"/>
          <p:nvPr/>
        </p:nvSpPr>
        <p:spPr>
          <a:xfrm>
            <a:off x="740664" y="349300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SDI000002962461</a:t>
            </a:r>
            <a:endParaRPr lang="en-US" sz="1500" dirty="0"/>
          </a:p>
        </p:txBody>
      </p:sp>
      <p:sp>
        <p:nvSpPr>
          <p:cNvPr id="16" name="Text 14"/>
          <p:cNvSpPr txBox="1"/>
          <p:nvPr/>
        </p:nvSpPr>
        <p:spPr>
          <a:xfrm>
            <a:off x="740664" y="3858768"/>
            <a:ext cx="2313432" cy="18288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(none)</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172.24.5.68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Linux 2.4-2.6 / Embedded Device / F5 Networks Big-IP / ArubaOS</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09:18:12</a:t>
            </a:r>
            <a:endParaRPr lang="en-US" sz="1200" dirty="0"/>
          </a:p>
        </p:txBody>
      </p:sp>
      <p:sp>
        <p:nvSpPr>
          <p:cNvPr id="17" name="Text 15">
            <a:hlinkClick r:id="rId1" tooltip="https://bofasecopsdev.service-now.com/sn_sec_cmn_src_ci_list.do?sysparm_query=number=SDI000002962461"/>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6246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017520"/>
            <a:ext cx="4745736" cy="3383280"/>
          </a:xfrm>
          <a:prstGeom prst="roundRect">
            <a:avLst>
              <a:gd name="adj" fmla="val 162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17296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447288"/>
            <a:ext cx="457200" cy="0"/>
          </a:xfrm>
          <a:prstGeom prst="line">
            <a:avLst/>
          </a:prstGeom>
          <a:noFill/>
          <a:ln w="19050">
            <a:solidFill>
              <a:srgbClr val="E31837"/>
            </a:solidFill>
            <a:prstDash val="solid"/>
          </a:ln>
        </p:spPr>
      </p:sp>
      <p:sp>
        <p:nvSpPr>
          <p:cNvPr id="21" name="Text 19"/>
          <p:cNvSpPr txBox="1"/>
          <p:nvPr/>
        </p:nvSpPr>
        <p:spPr>
          <a:xfrm>
            <a:off x="3749040" y="3520440"/>
            <a:ext cx="4233672" cy="272491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"172.24.5.68"; OS "Linux 2.4-2.6 / Embedded Device / F5 Networks Big-IP / ArubaOS" gives no class (a preference for class agreement)</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IP Address records on the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IP Address record -&gt; adapter bc:38:98:ab:e3:f2 -&gt; kbc3898abe3f2 [computer]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distinct owning CI; not a load balancer device; no scanned label to compare</a:t>
            </a:r>
            <a:endParaRPr lang="en-US" sz="1300" dirty="0"/>
          </a:p>
        </p:txBody>
      </p:sp>
      <p:sp>
        <p:nvSpPr>
          <p:cNvPr id="22" name="Shape 20"/>
          <p:cNvSpPr/>
          <p:nvPr/>
        </p:nvSpPr>
        <p:spPr>
          <a:xfrm>
            <a:off x="8439912" y="3017520"/>
            <a:ext cx="3246120" cy="338328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182112"/>
            <a:ext cx="64008" cy="3054096"/>
          </a:xfrm>
          <a:prstGeom prst="rect">
            <a:avLst/>
          </a:prstGeom>
          <a:solidFill>
            <a:srgbClr val="E31837"/>
          </a:solidFill>
          <a:ln w="12700">
            <a:solidFill>
              <a:srgbClr val="333333"/>
            </a:solidFill>
            <a:prstDash val="solid"/>
          </a:ln>
        </p:spPr>
      </p:sp>
      <p:sp>
        <p:nvSpPr>
          <p:cNvPr id="24" name="Text 22"/>
          <p:cNvSpPr txBox="1"/>
          <p:nvPr/>
        </p:nvSpPr>
        <p:spPr>
          <a:xfrm>
            <a:off x="8714232" y="317296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447288"/>
            <a:ext cx="457200" cy="0"/>
          </a:xfrm>
          <a:prstGeom prst="line">
            <a:avLst/>
          </a:prstGeom>
          <a:noFill/>
          <a:ln w="19050">
            <a:solidFill>
              <a:srgbClr val="E31837"/>
            </a:solidFill>
            <a:prstDash val="solid"/>
          </a:ln>
        </p:spPr>
      </p:sp>
      <p:sp>
        <p:nvSpPr>
          <p:cNvPr id="26" name="Text 24"/>
          <p:cNvSpPr txBox="1"/>
          <p:nvPr/>
        </p:nvSpPr>
        <p:spPr>
          <a:xfrm>
            <a:off x="8714232" y="349300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kbc3898abe3f2</a:t>
            </a:r>
            <a:endParaRPr lang="en-US" sz="1500" dirty="0"/>
          </a:p>
        </p:txBody>
      </p:sp>
      <p:sp>
        <p:nvSpPr>
          <p:cNvPr id="27" name="Text 25"/>
          <p:cNvSpPr txBox="1"/>
          <p:nvPr/>
        </p:nvSpPr>
        <p:spPr>
          <a:xfrm>
            <a:off x="8714232" y="381304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Computer</a:t>
            </a:r>
            <a:endParaRPr lang="en-US" sz="1100" dirty="0"/>
          </a:p>
        </p:txBody>
      </p:sp>
      <p:sp>
        <p:nvSpPr>
          <p:cNvPr id="28" name="Text 26"/>
          <p:cNvSpPr txBox="1"/>
          <p:nvPr/>
        </p:nvSpPr>
        <p:spPr>
          <a:xfrm>
            <a:off x="8714232" y="4133088"/>
            <a:ext cx="2715768" cy="15544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30.179.235.185</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5CD451CT4T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 Packard ELITEBOOK 630 G11 GWIM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computer.do?sys_id=587f01782b0eee54d50dffbdbe91bf2d"/>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computer.do?sys_id=587f01782b0eee54d50dffbdbe91bf2d"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191</a:t>
            </a:fld>
            <a:endParaRPr lang="en-US"/>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740  ·  IP LAYERED MATCH  ·  EXAMPLE 3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172.24.5.68</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20f991fe93b643949110fe584dba10c6" history="1" highlightClick="0" endSnd="0">
                  <a:extLst>
                    <a:ext uri="{A12FA001-AC4F-418D-AE19-62706E023703}">
                      <ahyp:hlinkClr xmlns:ahyp="http://schemas.microsoft.com/office/drawing/2018/hyperlinkcolor" val="tx"/>
                    </a:ext>
                  </a:extLst>
                </a:hlinkClick>
              </a:rPr>
              <a:t>SDI000002962461</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d14eaccf47624710a1a9295b416d43bf" history="1" highlightClick="0" endSnd="0">
                  <a:extLst>
                    <a:ext uri="{A12FA001-AC4F-418D-AE19-62706E023703}">
                      <ahyp:hlinkClr xmlns:ahyp="http://schemas.microsoft.com/office/drawing/2018/hyperlinkcolor" val="tx"/>
                    </a:ext>
                  </a:extLst>
                </a:hlinkClick>
              </a:rPr>
              <a:t>BOFA IP Layered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computer.do?sys_id=587f01782b0eee54d50dffbdbe91bf2d" history="1" highlightClick="0" endSnd="0">
                  <a:extLst>
                    <a:ext uri="{A12FA001-AC4F-418D-AE19-62706E023703}">
                      <ahyp:hlinkClr xmlns:ahyp="http://schemas.microsoft.com/office/drawing/2018/hyperlinkcolor" val="tx"/>
                    </a:ext>
                  </a:extLst>
                </a:hlinkClick>
              </a:rPr>
              <a:t>kbc3898abe3f2</a:t>
            </a:r>
            <a:endParaRPr lang="en-US" sz="1000" dirty="0"/>
          </a:p>
        </p:txBody>
      </p:sp>
      <p:graphicFrame>
        <p:nvGraphicFramePr>
          <p:cNvPr id="193"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Trims the scanned IP (sourceValue); loopback and link-local addresses are refused. The OS class is kept as a preference for class agreement.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"172.24.5.68"; OS "Linux 2.4-2.6 / Embedded Device / F5 Networks Big-IP / ArubaOS" gives no class (a preference for class agreement)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IP Address records on the 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IP Address records (cmdb_ci_ip_address) on the scanned IP whose adapter belongs to a CI, ignored classes left out; the owning CIs whose class agrees with the OS are kept.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IP Address record -&gt; adapter bc:38:98:ab:e3:f2 -&gt; kbc3898abe3f2 [computer]</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ip_address_list.do?sysparm_query=ip_address%3D172.24.5.68" history="1" highlightClick="0" endSnd="0">
                            <a:extLst>
                              <a:ext uri="{A12FA001-AC4F-418D-AE19-62706E023703}">
                                <ahyp:hlinkClr xmlns:ahyp="http://schemas.microsoft.com/office/drawing/2018/hyperlinkcolor" val="tx"/>
                              </a:ext>
                            </a:extLst>
                          </a:hlinkClick>
                        </a:rPr>
                        <a:t>IP Address: ip_address=172.24.5.68</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ip_address.do?sys_id=81e4111693a8035006c3f956dd03d636" history="1" highlightClick="0" endSnd="0">
                            <a:extLst>
                              <a:ext uri="{A12FA001-AC4F-418D-AE19-62706E023703}">
                                <ahyp:hlinkClr xmlns:ahyp="http://schemas.microsoft.com/office/drawing/2018/hyperlinkcolor" val="tx"/>
                              </a:ext>
                            </a:extLst>
                          </a:hlinkClick>
                        </a:rPr>
                        <a:t>172.24.5.68</a:t>
                      </a:r>
                      <a:pPr indent="0" marL="0">
                        <a:buNone/>
                      </a:pPr>
                      <a:r>
                        <a:rPr lang="en-US" sz="900" dirty="0">
                          <a:solidFill>
                            <a:srgbClr val="6E7279"/>
                          </a:solidFill>
                          <a:latin typeface="Arial" pitchFamily="34" charset="0"/>
                          <a:ea typeface="Arial" pitchFamily="34" charset="-122"/>
                          <a:cs typeface="Arial" pitchFamily="34" charset="-120"/>
                        </a:rPr>
                        <a:t> → adapter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network_adapter.do?sys_id=3fba8d262b23721422b7fcded391bf72" history="1" highlightClick="0" endSnd="0">
                            <a:extLst>
                              <a:ext uri="{A12FA001-AC4F-418D-AE19-62706E023703}">
                                <ahyp:hlinkClr xmlns:ahyp="http://schemas.microsoft.com/office/drawing/2018/hyperlinkcolor" val="tx"/>
                              </a:ext>
                            </a:extLst>
                          </a:hlinkClick>
                        </a:rPr>
                        <a:t>bc:38:98:ab:e3:f2</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8" invalidUrl="" action="" tgtFrame="" tooltip="https://bofasecopsdev.service-now.com/cmdb_ci_computer.do?sys_id=587f01782b0eee54d50dffbdbe91bf2d" history="1" highlightClick="0" endSnd="0">
                            <a:extLst>
                              <a:ext uri="{A12FA001-AC4F-418D-AE19-62706E023703}">
                                <ahyp:hlinkClr xmlns:ahyp="http://schemas.microsoft.com/office/drawing/2018/hyperlinkcolor" val="tx"/>
                              </a:ext>
                            </a:extLst>
                          </a:hlinkClick>
                        </a:rPr>
                        <a:t>kbc3898abe3f2</a:t>
                      </a:r>
                      <a:pPr indent="0" marL="0">
                        <a:buNone/>
                      </a:pPr>
                      <a:r>
                        <a:rPr lang="en-US" sz="900" dirty="0">
                          <a:solidFill>
                            <a:srgbClr val="6E7279"/>
                          </a:solidFill>
                          <a:latin typeface="Arial" pitchFamily="34" charset="0"/>
                          <a:ea typeface="Arial" pitchFamily="34" charset="-122"/>
                          <a:cs typeface="Arial" pitchFamily="34" charset="-120"/>
                        </a:rPr>
                        <a:t> [computer]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Decision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The distinct owning CIs are counted: exactly one is returned when it is not a load balancer device and its name agrees with the scanned label (equal, or one a hyphenated extension of the other).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distinct owning CI; not a load balancer device; name agrees with ""</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192</a:t>
            </a:fld>
            <a:endParaRPr lang="en-US"/>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850  ·  BROAD NAME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Name Broad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706880"/>
          </a:xfrm>
          <a:prstGeom prst="roundRect">
            <a:avLst>
              <a:gd name="adj" fmla="val 321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3776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0668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The last USEM rule and the only one that searches the root cmdb_ci table: a CI whose name is the complete scanned FQDN in any class (a virtual machine instance or another logical CI), still requiring a single row outside the ignored classes.</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runs last so every more precise rule has had its chance.</a:t>
            </a:r>
            <a:endParaRPr lang="en-US" sz="1500" dirty="0"/>
          </a:p>
        </p:txBody>
      </p:sp>
      <p:sp>
        <p:nvSpPr>
          <p:cNvPr id="13" name="Shape 11"/>
          <p:cNvSpPr/>
          <p:nvPr/>
        </p:nvSpPr>
        <p:spPr>
          <a:xfrm>
            <a:off x="502920" y="3380232"/>
            <a:ext cx="6933529" cy="2286000"/>
          </a:xfrm>
          <a:prstGeom prst="roundRect">
            <a:avLst>
              <a:gd name="adj" fmla="val 24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5631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3837432"/>
            <a:ext cx="457200" cy="0"/>
          </a:xfrm>
          <a:prstGeom prst="line">
            <a:avLst/>
          </a:prstGeom>
          <a:noFill/>
          <a:ln w="19050">
            <a:solidFill>
              <a:srgbClr val="E31837"/>
            </a:solidFill>
            <a:prstDash val="solid"/>
          </a:ln>
        </p:spPr>
      </p:sp>
      <p:sp>
        <p:nvSpPr>
          <p:cNvPr id="16" name="Text 14"/>
          <p:cNvSpPr txBox="1"/>
          <p:nvPr/>
        </p:nvSpPr>
        <p:spPr>
          <a:xfrm>
            <a:off x="822960" y="3928872"/>
            <a:ext cx="6293449" cy="15544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DNS (sourceValue). No payload field is read: neither IP nor OS influences the result.</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cmdb_ci row, in any class not on the ignore list, whose name equals the scanned FQDN; null when none or the name is shared.</a:t>
            </a:r>
            <a:endParaRPr lang="en-US" sz="1400" dirty="0"/>
          </a:p>
        </p:txBody>
      </p:sp>
      <p:sp>
        <p:nvSpPr>
          <p:cNvPr id="17" name="Shape 15"/>
          <p:cNvSpPr/>
          <p:nvPr/>
        </p:nvSpPr>
        <p:spPr>
          <a:xfrm>
            <a:off x="7665049" y="3380232"/>
            <a:ext cx="4020983" cy="2286000"/>
          </a:xfrm>
          <a:prstGeom prst="roundRect">
            <a:avLst>
              <a:gd name="adj" fmla="val 240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5631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3837432"/>
            <a:ext cx="457200" cy="0"/>
          </a:xfrm>
          <a:prstGeom prst="line">
            <a:avLst/>
          </a:prstGeom>
          <a:noFill/>
          <a:ln w="19050">
            <a:solidFill>
              <a:srgbClr val="E31837"/>
            </a:solidFill>
            <a:prstDash val="solid"/>
          </a:ln>
        </p:spPr>
      </p:sp>
      <p:sp>
        <p:nvSpPr>
          <p:cNvPr id="20" name="Text 18"/>
          <p:cNvSpPr txBox="1"/>
          <p:nvPr/>
        </p:nvSpPr>
        <p:spPr>
          <a:xfrm>
            <a:off x="7985089" y="3928872"/>
            <a:ext cx="3380903" cy="548640"/>
          </a:xfrm>
          <a:prstGeom prst="rect">
            <a:avLst/>
          </a:prstGeom>
          <a:noFill/>
          <a:ln/>
        </p:spPr>
        <p:txBody>
          <a:bodyPr wrap="square" lIns="0" tIns="0" rIns="0" bIns="0" rtlCol="0" anchor="t"/>
          <a:lstStyle/>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000" dirty="0">
                <a:solidFill>
                  <a:srgbClr val="4D4F53"/>
                </a:solidFill>
                <a:latin typeface="Arial" pitchFamily="34" charset="0"/>
                <a:ea typeface="Arial" pitchFamily="34" charset="-122"/>
                <a:cs typeface="Arial" pitchFamily="34" charset="-120"/>
              </a:rPr>
              <a:t>IP Layered Match</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000" dirty="0">
                <a:solidFill>
                  <a:srgbClr val="4D4F53"/>
                </a:solidFill>
                <a:latin typeface="Arial" pitchFamily="34" charset="0"/>
                <a:ea typeface="Arial" pitchFamily="34" charset="-122"/>
                <a:cs typeface="Arial" pitchFamily="34" charset="-120"/>
              </a:rPr>
              <a:t>the platform's own rules (FQDN, NetBIOS, DNS)</a:t>
            </a:r>
            <a:endParaRPr lang="en-US" sz="1000" dirty="0"/>
          </a:p>
        </p:txBody>
      </p:sp>
      <p:sp>
        <p:nvSpPr>
          <p:cNvPr id="21" name="Text 19"/>
          <p:cNvSpPr txBox="1"/>
          <p:nvPr/>
        </p:nvSpPr>
        <p:spPr>
          <a:xfrm>
            <a:off x="7985089" y="45689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2,500</a:t>
            </a:r>
            <a:endParaRPr lang="en-US" sz="2800" dirty="0"/>
          </a:p>
        </p:txBody>
      </p:sp>
      <p:sp>
        <p:nvSpPr>
          <p:cNvPr id="22" name="Text 20"/>
          <p:cNvSpPr txBox="1"/>
          <p:nvPr/>
        </p:nvSpPr>
        <p:spPr>
          <a:xfrm>
            <a:off x="7985089" y="51358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193</a:t>
            </a:fld>
            <a:endParaRPr lang="en-US"/>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850  ·  BROAD NAME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Name Broad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749800"/>
          </a:xfrm>
          <a:prstGeom prst="roundRect">
            <a:avLst>
              <a:gd name="adj" fmla="val 115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20116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1   Guard and normalise the DNS value.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2   Require a dotted name.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3   Build the ignored-class list.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4   Query the root cmdb_ci table on name.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GlideRecord('cmdb_ci'), addQuery('name', normalised FQDN), the NOT IN ignore condition when set, then query(). Every class is searched, hardware and logical alike; only the ignore list keeps placeholder classes out. No setLimit, no isValid() guard.</a:t>
            </a:r>
            <a:endParaRPr lang="en-US" sz="1350" dirty="0"/>
          </a:p>
        </p:txBody>
      </p:sp>
      <p:sp>
        <p:nvSpPr>
          <p:cNvPr id="10" name="Text 8"/>
          <p:cNvSpPr txBox="1"/>
          <p:nvPr/>
        </p:nvSpPr>
        <p:spPr>
          <a:xfrm>
            <a:off x="6277356" y="1746504"/>
            <a:ext cx="5088636" cy="420116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5   Take the first row with next().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If gr.next() is false the rule returns null. Otherwise match holds gr.getUniqueValue() of that first row.</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6   Reject a second row with hasNext().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If gr.hasNext() is true a second CI of any class carries the same name and the rule returns null; the scanned IP, the class or a retired status never break the tie.</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7   Return the single match.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match is returned only when the query produced exactly one row. No IP tie-break, OS class, retired test or twin grouping exists in this script.</a:t>
            </a:r>
            <a:endParaRPr lang="en-US" sz="13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194</a:t>
            </a:fld>
            <a:endParaRPr lang="en-US"/>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850  ·  BROAD NAME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Name Broad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263140"/>
          </a:xfrm>
          <a:prstGeom prst="roundRect">
            <a:avLst>
              <a:gd name="adj" fmla="val 242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9339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16230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 or absent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normalised DNS value contains no '.' (a bare hostname)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cmdb_ci row outside the ignored classes has name equal to the scanned FQDN</a:t>
            </a:r>
            <a:endParaRPr lang="en-US" sz="1500" dirty="0"/>
          </a:p>
        </p:txBody>
      </p:sp>
      <p:sp>
        <p:nvSpPr>
          <p:cNvPr id="13" name="Text 11"/>
          <p:cNvSpPr txBox="1"/>
          <p:nvPr/>
        </p:nvSpPr>
        <p:spPr>
          <a:xfrm>
            <a:off x="6277356" y="1975104"/>
            <a:ext cx="5088636" cy="16230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cmdb_ci rows share that name (gr.hasNext() true), whatever their class, IP or status</a:t>
            </a:r>
            <a:endParaRPr lang="en-US" sz="1500" dirty="0"/>
          </a:p>
        </p:txBody>
      </p:sp>
      <p:sp>
        <p:nvSpPr>
          <p:cNvPr id="14" name="Shape 12"/>
          <p:cNvSpPr/>
          <p:nvPr/>
        </p:nvSpPr>
        <p:spPr>
          <a:xfrm>
            <a:off x="502920" y="39364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39364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the platform's own rules (FQDN, NetBIOS, DNS)</a:t>
            </a:r>
            <a:pPr indent="0" marL="0">
              <a:buNone/>
            </a:pPr>
            <a:r>
              <a:rPr lang="en-US" sz="1250" dirty="0">
                <a:solidFill>
                  <a:srgbClr val="4D4F53"/>
                </a:solidFill>
                <a:latin typeface="Arial" pitchFamily="34" charset="0"/>
                <a:ea typeface="Arial" pitchFamily="34" charset="-122"/>
                <a:cs typeface="Arial" pitchFamily="34" charset="-120"/>
              </a:rPr>
              <a:t>.</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195</a:t>
            </a:fld>
            <a:endParaRPr lang="en-US"/>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850  ·  FQDN NAME BROAD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lrchac13xsdi001.sdi.corp.bankofamerica.com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kubernetes_node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975104"/>
          </a:xfrm>
          <a:prstGeom prst="roundRect">
            <a:avLst>
              <a:gd name="adj" fmla="val 2778"/>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463040"/>
          </a:xfrm>
          <a:prstGeom prst="rect">
            <a:avLst/>
          </a:prstGeom>
          <a:noFill/>
          <a:ln/>
        </p:spPr>
        <p:txBody>
          <a:bodyPr wrap="square" lIns="0" tIns="0" rIns="0" bIns="0" rtlCol="0" anchor="t"/>
          <a:lstStyle/>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serial (no serial reported)  ·  phone MAC (label "lrchac13xsdi001" is not sep + 12 hex)  ·  controller (no controller suffix or OS word)  ·  interface (no interface domain or marker)  ·  member (no VIP sign)  ·  service (no VIP sign)</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FQDN (no record in the hardware tree carries the fqdn)  ·  layered DNS (no DNS Name record for "lrchac13xsdi001.sdi.corp.bankofamerica.com")  ·  device name (none named "lrchac13xsdi001" in IP Phone or Imaging Hardware)  ·  whole-fqdn name (no record in the hardware tree named "lrchac13xsdi001.sdi.corp.bankofamerica.com")  ·  adapter (no adapter on the address)  ·  IP Address record (no IP Address record on the address)</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name + domain (2 named "lrchac13xsdi001", none with the domain "sdi.corp.bankofamerica.com")  ·  host name (2 records in linux_server named "lrchac13xsdi001": a tie / 2 records in the hardware tree named "lrchac13xsdi001": a tie)  ·  address (2 records in linux_server carry the address: a tie / 2 records in the hardware tree carry the address: a tie)</a:t>
            </a:r>
            <a:endParaRPr lang="en-US" sz="1000" dirty="0"/>
          </a:p>
        </p:txBody>
      </p:sp>
      <p:sp>
        <p:nvSpPr>
          <p:cNvPr id="12" name="Shape 10"/>
          <p:cNvSpPr/>
          <p:nvPr/>
        </p:nvSpPr>
        <p:spPr>
          <a:xfrm>
            <a:off x="502920" y="3566160"/>
            <a:ext cx="2788920" cy="283464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72160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995928"/>
            <a:ext cx="457200" cy="0"/>
          </a:xfrm>
          <a:prstGeom prst="line">
            <a:avLst/>
          </a:prstGeom>
          <a:noFill/>
          <a:ln w="19050">
            <a:solidFill>
              <a:srgbClr val="E31837"/>
            </a:solidFill>
            <a:prstDash val="solid"/>
          </a:ln>
        </p:spPr>
      </p:sp>
      <p:sp>
        <p:nvSpPr>
          <p:cNvPr id="15" name="Text 13"/>
          <p:cNvSpPr txBox="1"/>
          <p:nvPr/>
        </p:nvSpPr>
        <p:spPr>
          <a:xfrm>
            <a:off x="740664" y="404164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SDI000003669791</a:t>
            </a:r>
            <a:endParaRPr lang="en-US" sz="1500" dirty="0"/>
          </a:p>
        </p:txBody>
      </p:sp>
      <p:sp>
        <p:nvSpPr>
          <p:cNvPr id="16" name="Text 14"/>
          <p:cNvSpPr txBox="1"/>
          <p:nvPr/>
        </p:nvSpPr>
        <p:spPr>
          <a:xfrm>
            <a:off x="740664" y="4407408"/>
            <a:ext cx="2313432" cy="128016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lrchac13xsdi001.sdi.corp.bankofamerica.com</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30.38.246.10</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Red Hat Enterprise Linux CoreOS 4.20</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AGENT</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2026-09-21 06:07:25</a:t>
            </a:r>
            <a:endParaRPr lang="en-US" sz="1000" dirty="0"/>
          </a:p>
        </p:txBody>
      </p:sp>
      <p:sp>
        <p:nvSpPr>
          <p:cNvPr id="17" name="Text 15">
            <a:hlinkClick r:id="rId1" tooltip="https://bofasecopsdev.service-now.com/sn_sec_cmn_src_ci_list.do?sysparm_query=number=SDI000003669791"/>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6979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566160"/>
            <a:ext cx="4745736" cy="2834640"/>
          </a:xfrm>
          <a:prstGeom prst="roundRect">
            <a:avLst>
              <a:gd name="adj" fmla="val 19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72160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995928"/>
            <a:ext cx="457200" cy="0"/>
          </a:xfrm>
          <a:prstGeom prst="line">
            <a:avLst/>
          </a:prstGeom>
          <a:noFill/>
          <a:ln w="19050">
            <a:solidFill>
              <a:srgbClr val="E31837"/>
            </a:solidFill>
            <a:prstDash val="solid"/>
          </a:ln>
        </p:spPr>
      </p:sp>
      <p:sp>
        <p:nvSpPr>
          <p:cNvPr id="21" name="Text 19"/>
          <p:cNvSpPr txBox="1"/>
          <p:nvPr/>
        </p:nvSpPr>
        <p:spPr>
          <a:xfrm>
            <a:off x="3749040" y="4069080"/>
            <a:ext cx="4233672" cy="217627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"lrchac13xsdi001.sdi.corp.bankofamerica.com" searched on the name field of every CI class</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named with the whole fqdn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lrchac13xsdi001.sdi.corp.bankofamerica.com [kubernetes_node] ip 30.38.246.10 -&gt; exactly one, accepted</a:t>
            </a:r>
            <a:endParaRPr lang="en-US" sz="1300" dirty="0"/>
          </a:p>
        </p:txBody>
      </p:sp>
      <p:sp>
        <p:nvSpPr>
          <p:cNvPr id="22" name="Shape 20"/>
          <p:cNvSpPr/>
          <p:nvPr/>
        </p:nvSpPr>
        <p:spPr>
          <a:xfrm>
            <a:off x="8439912" y="3566160"/>
            <a:ext cx="3246120" cy="2834640"/>
          </a:xfrm>
          <a:prstGeom prst="roundRect">
            <a:avLst>
              <a:gd name="adj" fmla="val 19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730752"/>
            <a:ext cx="64008" cy="2505456"/>
          </a:xfrm>
          <a:prstGeom prst="rect">
            <a:avLst/>
          </a:prstGeom>
          <a:solidFill>
            <a:srgbClr val="E31837"/>
          </a:solidFill>
          <a:ln w="12700">
            <a:solidFill>
              <a:srgbClr val="333333"/>
            </a:solidFill>
            <a:prstDash val="solid"/>
          </a:ln>
        </p:spPr>
      </p:sp>
      <p:sp>
        <p:nvSpPr>
          <p:cNvPr id="24" name="Text 22"/>
          <p:cNvSpPr txBox="1"/>
          <p:nvPr/>
        </p:nvSpPr>
        <p:spPr>
          <a:xfrm>
            <a:off x="8714232" y="372160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995928"/>
            <a:ext cx="457200" cy="0"/>
          </a:xfrm>
          <a:prstGeom prst="line">
            <a:avLst/>
          </a:prstGeom>
          <a:noFill/>
          <a:ln w="19050">
            <a:solidFill>
              <a:srgbClr val="E31837"/>
            </a:solidFill>
            <a:prstDash val="solid"/>
          </a:ln>
        </p:spPr>
      </p:sp>
      <p:sp>
        <p:nvSpPr>
          <p:cNvPr id="26" name="Text 24"/>
          <p:cNvSpPr txBox="1"/>
          <p:nvPr/>
        </p:nvSpPr>
        <p:spPr>
          <a:xfrm>
            <a:off x="8714232" y="4041648"/>
            <a:ext cx="2715768" cy="402336"/>
          </a:xfrm>
          <a:prstGeom prst="rect">
            <a:avLst/>
          </a:prstGeom>
          <a:noFill/>
          <a:ln/>
        </p:spPr>
        <p:txBody>
          <a:bodyPr wrap="square" lIns="0" tIns="0" rIns="0" bIns="0" rtlCol="0" anchor="t"/>
          <a:lstStyle/>
          <a:p>
            <a:pPr indent="0" marL="0">
              <a:buNone/>
            </a:pPr>
            <a:r>
              <a:rPr lang="en-US" sz="1200" b="1" dirty="0">
                <a:solidFill>
                  <a:srgbClr val="012169"/>
                </a:solidFill>
                <a:latin typeface="Arial" pitchFamily="34" charset="0"/>
                <a:ea typeface="Arial" pitchFamily="34" charset="-122"/>
                <a:cs typeface="Arial" pitchFamily="34" charset="-120"/>
              </a:rPr>
              <a:t>lrchac13xsdi001.sdi.corp.bankofamerica.com</a:t>
            </a:r>
            <a:endParaRPr lang="en-US" sz="1200" dirty="0"/>
          </a:p>
        </p:txBody>
      </p:sp>
      <p:sp>
        <p:nvSpPr>
          <p:cNvPr id="27" name="Text 25"/>
          <p:cNvSpPr txBox="1"/>
          <p:nvPr/>
        </p:nvSpPr>
        <p:spPr>
          <a:xfrm>
            <a:off x="8714232" y="4471416"/>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Kubernetes Node</a:t>
            </a:r>
            <a:endParaRPr lang="en-US" sz="1100" dirty="0"/>
          </a:p>
        </p:txBody>
      </p:sp>
      <p:sp>
        <p:nvSpPr>
          <p:cNvPr id="28" name="Text 26"/>
          <p:cNvSpPr txBox="1"/>
          <p:nvPr/>
        </p:nvSpPr>
        <p:spPr>
          <a:xfrm>
            <a:off x="8714232" y="4791456"/>
            <a:ext cx="2715768" cy="896112"/>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30.38.246.10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kubernetes_node.do?sys_id=b0da27023beba690dee4bcdc73e45a10"/>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kubernetes_node.do?sys_id=b0da27023beba690dee4bcdc73e45a10"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196</a:t>
            </a:fld>
            <a:endParaRPr lang="en-US"/>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850  ·  FQDN NAME BROAD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lrchac13xsdi001.sdi.corp.bankofamerica.com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4da1e6f8935b4798cfcebc5a7bba1022" history="1" highlightClick="0" endSnd="0">
                  <a:extLst>
                    <a:ext uri="{A12FA001-AC4F-418D-AE19-62706E023703}">
                      <ahyp:hlinkClr xmlns:ahyp="http://schemas.microsoft.com/office/drawing/2018/hyperlinkcolor" val="tx"/>
                    </a:ext>
                  </a:extLst>
                </a:hlinkClick>
              </a:rPr>
              <a:t>SDI000003669791</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ee9fe04347a24710a1a9295b416d43e2" history="1" highlightClick="0" endSnd="0">
                  <a:extLst>
                    <a:ext uri="{A12FA001-AC4F-418D-AE19-62706E023703}">
                      <ahyp:hlinkClr xmlns:ahyp="http://schemas.microsoft.com/office/drawing/2018/hyperlinkcolor" val="tx"/>
                    </a:ext>
                  </a:extLst>
                </a:hlinkClick>
              </a:rPr>
              <a:t>BOFA FQDN Name Broad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kubernetes_node.do?sys_id=b0da27023beba690dee4bcdc73e45a10" history="1" highlightClick="0" endSnd="0">
                  <a:extLst>
                    <a:ext uri="{A12FA001-AC4F-418D-AE19-62706E023703}">
                      <ahyp:hlinkClr xmlns:ahyp="http://schemas.microsoft.com/office/drawing/2018/hyperlinkcolor" val="tx"/>
                    </a:ext>
                  </a:extLst>
                </a:hlinkClick>
              </a:rPr>
              <a:t>lrchac13xsdi001.sdi.corp.bankofamerica.com</a:t>
            </a:r>
            <a:endParaRPr lang="en-US" sz="1000" dirty="0"/>
          </a:p>
        </p:txBody>
      </p:sp>
      <p:graphicFrame>
        <p:nvGraphicFramePr>
          <p:cNvPr id="198"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The whole DNS name, dots included, is searched on the name field of every CI class (cmdb_ci).</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"lrchac13xsdi001.sdi.corp.bankofamerica.com" searched on the name field of every CI class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named with the whole fqdn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name equal to the whole DNS name, ignored classes left out; exactly one row is returned.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lrchac13xsdi001.sdi.corp.bankofamerica.com [kubernetes_node] ip 30.38.246.10 -&gt;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list.do?sysparm_query=name%3Dlrchac13xsdi001.sdi.corp.bankofamerica.com" history="1" highlightClick="0" endSnd="0">
                            <a:extLst>
                              <a:ext uri="{A12FA001-AC4F-418D-AE19-62706E023703}">
                                <ahyp:hlinkClr xmlns:ahyp="http://schemas.microsoft.com/office/drawing/2018/hyperlinkcolor" val="tx"/>
                              </a:ext>
                            </a:extLst>
                          </a:hlinkClick>
                        </a:rPr>
                        <a:t>CI: name=lrchac13xsdi001.sdi.corp.bankofamerica.com</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kubernetes_node.do?sys_id=b0da27023beba690dee4bcdc73e45a10" history="1" highlightClick="0" endSnd="0">
                            <a:extLst>
                              <a:ext uri="{A12FA001-AC4F-418D-AE19-62706E023703}">
                                <ahyp:hlinkClr xmlns:ahyp="http://schemas.microsoft.com/office/drawing/2018/hyperlinkcolor" val="tx"/>
                              </a:ext>
                            </a:extLst>
                          </a:hlinkClick>
                        </a:rPr>
                        <a:t>lrchac13xsdi001.sdi.corp.bankofamerica.com</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197</a:t>
            </a:fld>
            <a:endParaRPr lang="en-US"/>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850  ·  FQDN NAME BROAD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lrchac14xsdi005.sdi.corp.bankofamerica.com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kubernetes_node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975104"/>
          </a:xfrm>
          <a:prstGeom prst="roundRect">
            <a:avLst>
              <a:gd name="adj" fmla="val 2778"/>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463040"/>
          </a:xfrm>
          <a:prstGeom prst="rect">
            <a:avLst/>
          </a:prstGeom>
          <a:noFill/>
          <a:ln/>
        </p:spPr>
        <p:txBody>
          <a:bodyPr wrap="square" lIns="0" tIns="0" rIns="0" bIns="0" rtlCol="0" anchor="t"/>
          <a:lstStyle/>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serial (no serial reported)  ·  phone MAC (label "lrchac14xsdi005" is not sep + 12 hex)  ·  controller (no controller suffix or OS word)  ·  interface (no interface domain or marker)  ·  member (no VIP sign)  ·  service (no VIP sign)</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FQDN (no record in the hardware tree carries the fqdn)  ·  layered DNS (no DNS Name record for "lrchac14xsdi005.sdi.corp.bankofamerica.com")  ·  device name (none named "lrchac14xsdi005" in IP Phone or Imaging Hardware)  ·  whole-fqdn name (no record in the hardware tree named "lrchac14xsdi005.sdi.corp.bankofamerica.com")  ·  adapter (no adapter on the address)  ·  IP Address record (no IP Address record on the address)</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name + domain (2 named "lrchac14xsdi005", none with the domain "sdi.corp.bankofamerica.com")  ·  host name (2 records in linux_server named "lrchac14xsdi005": a tie / 2 records in the hardware tree named "lrchac14xsdi005": a tie)  ·  address (2 records in linux_server carry the address: a tie / 2 records in the hardware tree carry the address: a tie)</a:t>
            </a:r>
            <a:endParaRPr lang="en-US" sz="1000" dirty="0"/>
          </a:p>
        </p:txBody>
      </p:sp>
      <p:sp>
        <p:nvSpPr>
          <p:cNvPr id="12" name="Shape 10"/>
          <p:cNvSpPr/>
          <p:nvPr/>
        </p:nvSpPr>
        <p:spPr>
          <a:xfrm>
            <a:off x="502920" y="3566160"/>
            <a:ext cx="2788920" cy="283464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72160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995928"/>
            <a:ext cx="457200" cy="0"/>
          </a:xfrm>
          <a:prstGeom prst="line">
            <a:avLst/>
          </a:prstGeom>
          <a:noFill/>
          <a:ln w="19050">
            <a:solidFill>
              <a:srgbClr val="E31837"/>
            </a:solidFill>
            <a:prstDash val="solid"/>
          </a:ln>
        </p:spPr>
      </p:sp>
      <p:sp>
        <p:nvSpPr>
          <p:cNvPr id="15" name="Text 13"/>
          <p:cNvSpPr txBox="1"/>
          <p:nvPr/>
        </p:nvSpPr>
        <p:spPr>
          <a:xfrm>
            <a:off x="740664" y="404164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SDI000003670195</a:t>
            </a:r>
            <a:endParaRPr lang="en-US" sz="1500" dirty="0"/>
          </a:p>
        </p:txBody>
      </p:sp>
      <p:sp>
        <p:nvSpPr>
          <p:cNvPr id="16" name="Text 14"/>
          <p:cNvSpPr txBox="1"/>
          <p:nvPr/>
        </p:nvSpPr>
        <p:spPr>
          <a:xfrm>
            <a:off x="740664" y="4407408"/>
            <a:ext cx="2313432" cy="128016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lrchac14xsdi005.sdi.corp.bankofamerica.com</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30.38.244.14</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Red Hat Enterprise Linux CoreOS 4.20</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AGENT</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2026-09-21 06:07:21</a:t>
            </a:r>
            <a:endParaRPr lang="en-US" sz="1000" dirty="0"/>
          </a:p>
        </p:txBody>
      </p:sp>
      <p:sp>
        <p:nvSpPr>
          <p:cNvPr id="17" name="Text 15">
            <a:hlinkClick r:id="rId1" tooltip="https://bofasecopsdev.service-now.com/sn_sec_cmn_src_ci_list.do?sysparm_query=number=SDI000003670195"/>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7019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566160"/>
            <a:ext cx="4745736" cy="2834640"/>
          </a:xfrm>
          <a:prstGeom prst="roundRect">
            <a:avLst>
              <a:gd name="adj" fmla="val 19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72160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995928"/>
            <a:ext cx="457200" cy="0"/>
          </a:xfrm>
          <a:prstGeom prst="line">
            <a:avLst/>
          </a:prstGeom>
          <a:noFill/>
          <a:ln w="19050">
            <a:solidFill>
              <a:srgbClr val="E31837"/>
            </a:solidFill>
            <a:prstDash val="solid"/>
          </a:ln>
        </p:spPr>
      </p:sp>
      <p:sp>
        <p:nvSpPr>
          <p:cNvPr id="21" name="Text 19"/>
          <p:cNvSpPr txBox="1"/>
          <p:nvPr/>
        </p:nvSpPr>
        <p:spPr>
          <a:xfrm>
            <a:off x="3749040" y="4069080"/>
            <a:ext cx="4233672" cy="217627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"lrchac14xsdi005.sdi.corp.bankofamerica.com" searched on the name field of every CI class</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named with the whole fqdn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lrchac14xsdi005.sdi.corp.bankofamerica.com [kubernetes_node] ip 30.38.244.14 -&gt; exactly one, accepted</a:t>
            </a:r>
            <a:endParaRPr lang="en-US" sz="1300" dirty="0"/>
          </a:p>
        </p:txBody>
      </p:sp>
      <p:sp>
        <p:nvSpPr>
          <p:cNvPr id="22" name="Shape 20"/>
          <p:cNvSpPr/>
          <p:nvPr/>
        </p:nvSpPr>
        <p:spPr>
          <a:xfrm>
            <a:off x="8439912" y="3566160"/>
            <a:ext cx="3246120" cy="2834640"/>
          </a:xfrm>
          <a:prstGeom prst="roundRect">
            <a:avLst>
              <a:gd name="adj" fmla="val 19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730752"/>
            <a:ext cx="64008" cy="2505456"/>
          </a:xfrm>
          <a:prstGeom prst="rect">
            <a:avLst/>
          </a:prstGeom>
          <a:solidFill>
            <a:srgbClr val="E31837"/>
          </a:solidFill>
          <a:ln w="12700">
            <a:solidFill>
              <a:srgbClr val="333333"/>
            </a:solidFill>
            <a:prstDash val="solid"/>
          </a:ln>
        </p:spPr>
      </p:sp>
      <p:sp>
        <p:nvSpPr>
          <p:cNvPr id="24" name="Text 22"/>
          <p:cNvSpPr txBox="1"/>
          <p:nvPr/>
        </p:nvSpPr>
        <p:spPr>
          <a:xfrm>
            <a:off x="8714232" y="372160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995928"/>
            <a:ext cx="457200" cy="0"/>
          </a:xfrm>
          <a:prstGeom prst="line">
            <a:avLst/>
          </a:prstGeom>
          <a:noFill/>
          <a:ln w="19050">
            <a:solidFill>
              <a:srgbClr val="E31837"/>
            </a:solidFill>
            <a:prstDash val="solid"/>
          </a:ln>
        </p:spPr>
      </p:sp>
      <p:sp>
        <p:nvSpPr>
          <p:cNvPr id="26" name="Text 24"/>
          <p:cNvSpPr txBox="1"/>
          <p:nvPr/>
        </p:nvSpPr>
        <p:spPr>
          <a:xfrm>
            <a:off x="8714232" y="4041648"/>
            <a:ext cx="2715768" cy="402336"/>
          </a:xfrm>
          <a:prstGeom prst="rect">
            <a:avLst/>
          </a:prstGeom>
          <a:noFill/>
          <a:ln/>
        </p:spPr>
        <p:txBody>
          <a:bodyPr wrap="square" lIns="0" tIns="0" rIns="0" bIns="0" rtlCol="0" anchor="t"/>
          <a:lstStyle/>
          <a:p>
            <a:pPr indent="0" marL="0">
              <a:buNone/>
            </a:pPr>
            <a:r>
              <a:rPr lang="en-US" sz="1200" b="1" dirty="0">
                <a:solidFill>
                  <a:srgbClr val="012169"/>
                </a:solidFill>
                <a:latin typeface="Arial" pitchFamily="34" charset="0"/>
                <a:ea typeface="Arial" pitchFamily="34" charset="-122"/>
                <a:cs typeface="Arial" pitchFamily="34" charset="-120"/>
              </a:rPr>
              <a:t>lrchac14xsdi005.sdi.corp.bankofamerica.com</a:t>
            </a:r>
            <a:endParaRPr lang="en-US" sz="1200" dirty="0"/>
          </a:p>
        </p:txBody>
      </p:sp>
      <p:sp>
        <p:nvSpPr>
          <p:cNvPr id="27" name="Text 25"/>
          <p:cNvSpPr txBox="1"/>
          <p:nvPr/>
        </p:nvSpPr>
        <p:spPr>
          <a:xfrm>
            <a:off x="8714232" y="4471416"/>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Kubernetes Node</a:t>
            </a:r>
            <a:endParaRPr lang="en-US" sz="1100" dirty="0"/>
          </a:p>
        </p:txBody>
      </p:sp>
      <p:sp>
        <p:nvSpPr>
          <p:cNvPr id="28" name="Text 26"/>
          <p:cNvSpPr txBox="1"/>
          <p:nvPr/>
        </p:nvSpPr>
        <p:spPr>
          <a:xfrm>
            <a:off x="8714232" y="4791456"/>
            <a:ext cx="2715768" cy="896112"/>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30.38.244.14</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kubernetes_node.do?sys_id=33e5941293c507103854f05ea903d6aa"/>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kubernetes_node.do?sys_id=33e5941293c507103854f05ea903d6aa"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198</a:t>
            </a:fld>
            <a:endParaRPr lang="en-US"/>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850  ·  FQDN NAME BROAD MATCH  ·  EXAMPLE 2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lrchac14xsdi005.sdi.corp.bankofamerica.com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b424a6bc2b9fcfd0a277fab2f291bfcc" history="1" highlightClick="0" endSnd="0">
                  <a:extLst>
                    <a:ext uri="{A12FA001-AC4F-418D-AE19-62706E023703}">
                      <ahyp:hlinkClr xmlns:ahyp="http://schemas.microsoft.com/office/drawing/2018/hyperlinkcolor" val="tx"/>
                    </a:ext>
                  </a:extLst>
                </a:hlinkClick>
              </a:rPr>
              <a:t>SDI000003670195</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ee9fe04347a24710a1a9295b416d43e2" history="1" highlightClick="0" endSnd="0">
                  <a:extLst>
                    <a:ext uri="{A12FA001-AC4F-418D-AE19-62706E023703}">
                      <ahyp:hlinkClr xmlns:ahyp="http://schemas.microsoft.com/office/drawing/2018/hyperlinkcolor" val="tx"/>
                    </a:ext>
                  </a:extLst>
                </a:hlinkClick>
              </a:rPr>
              <a:t>BOFA FQDN Name Broad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kubernetes_node.do?sys_id=33e5941293c507103854f05ea903d6aa" history="1" highlightClick="0" endSnd="0">
                  <a:extLst>
                    <a:ext uri="{A12FA001-AC4F-418D-AE19-62706E023703}">
                      <ahyp:hlinkClr xmlns:ahyp="http://schemas.microsoft.com/office/drawing/2018/hyperlinkcolor" val="tx"/>
                    </a:ext>
                  </a:extLst>
                </a:hlinkClick>
              </a:rPr>
              <a:t>lrchac14xsdi005.sdi.corp.bankofamerica.com</a:t>
            </a:r>
            <a:endParaRPr lang="en-US" sz="1000" dirty="0"/>
          </a:p>
        </p:txBody>
      </p:sp>
      <p:graphicFrame>
        <p:nvGraphicFramePr>
          <p:cNvPr id="200"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The whole DNS name, dots included, is searched on the name field of every CI class (cmdb_ci).</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"lrchac14xsdi005.sdi.corp.bankofamerica.com" searched on the name field of every CI class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named with the whole fqdn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name equal to the whole DNS name, ignored classes left out; exactly one row is returned.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lrchac14xsdi005.sdi.corp.bankofamerica.com [kubernetes_node] ip 30.38.244.14 -&gt;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list.do?sysparm_query=name%3Dlrchac14xsdi005.sdi.corp.bankofamerica.com" history="1" highlightClick="0" endSnd="0">
                            <a:extLst>
                              <a:ext uri="{A12FA001-AC4F-418D-AE19-62706E023703}">
                                <ahyp:hlinkClr xmlns:ahyp="http://schemas.microsoft.com/office/drawing/2018/hyperlinkcolor" val="tx"/>
                              </a:ext>
                            </a:extLst>
                          </a:hlinkClick>
                        </a:rPr>
                        <a:t>CI: name=lrchac14xsdi005.sdi.corp.bankofamerica.com</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kubernetes_node.do?sys_id=33e5941293c507103854f05ea903d6aa" history="1" highlightClick="0" endSnd="0">
                            <a:extLst>
                              <a:ext uri="{A12FA001-AC4F-418D-AE19-62706E023703}">
                                <ahyp:hlinkClr xmlns:ahyp="http://schemas.microsoft.com/office/drawing/2018/hyperlinkcolor" val="tx"/>
                              </a:ext>
                            </a:extLst>
                          </a:hlinkClick>
                        </a:rPr>
                        <a:t>lrchac14xsdi005.sdi.corp.bankofamerica.com</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199</a:t>
            </a:fld>
            <a:endParaRPr lang="en-US"/>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850  ·  FQDN NAME BROAD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lrchac14xsdi013.sdi.corp.bankofamerica.com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kubernetes_node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975104"/>
          </a:xfrm>
          <a:prstGeom prst="roundRect">
            <a:avLst>
              <a:gd name="adj" fmla="val 2778"/>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463040"/>
          </a:xfrm>
          <a:prstGeom prst="rect">
            <a:avLst/>
          </a:prstGeom>
          <a:noFill/>
          <a:ln/>
        </p:spPr>
        <p:txBody>
          <a:bodyPr wrap="square" lIns="0" tIns="0" rIns="0" bIns="0" rtlCol="0" anchor="t"/>
          <a:lstStyle/>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serial (no serial reported)  ·  phone MAC (label "lrchac14xsdi013" is not sep + 12 hex)  ·  controller (no controller suffix or OS word)  ·  interface (no interface domain or marker)  ·  member (no VIP sign)  ·  service (no VIP sign)</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FQDN (no record in the hardware tree carries the fqdn)  ·  layered DNS (no DNS Name record for "lrchac14xsdi013.sdi.corp.bankofamerica.com")  ·  device name (none named "lrchac14xsdi013" in IP Phone or Imaging Hardware)  ·  whole-fqdn name (no record in the hardware tree named "lrchac14xsdi013.sdi.corp.bankofamerica.com")  ·  adapter (no adapter on the address)  ·  IP Address record (no IP Address record on the address)</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name + domain (2 named "lrchac14xsdi013", none with the domain "sdi.corp.bankofamerica.com")  ·  host name (2 records in linux_server named "lrchac14xsdi013": a tie / 2 records in the hardware tree named "lrchac14xsdi013": a tie)  ·  address (2 records in linux_server carry the address: a tie / 2 records in the hardware tree carry the address: a tie)</a:t>
            </a:r>
            <a:endParaRPr lang="en-US" sz="1000" dirty="0"/>
          </a:p>
        </p:txBody>
      </p:sp>
      <p:sp>
        <p:nvSpPr>
          <p:cNvPr id="12" name="Shape 10"/>
          <p:cNvSpPr/>
          <p:nvPr/>
        </p:nvSpPr>
        <p:spPr>
          <a:xfrm>
            <a:off x="502920" y="3566160"/>
            <a:ext cx="2788920" cy="283464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72160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995928"/>
            <a:ext cx="457200" cy="0"/>
          </a:xfrm>
          <a:prstGeom prst="line">
            <a:avLst/>
          </a:prstGeom>
          <a:noFill/>
          <a:ln w="19050">
            <a:solidFill>
              <a:srgbClr val="E31837"/>
            </a:solidFill>
            <a:prstDash val="solid"/>
          </a:ln>
        </p:spPr>
      </p:sp>
      <p:sp>
        <p:nvSpPr>
          <p:cNvPr id="15" name="Text 13"/>
          <p:cNvSpPr txBox="1"/>
          <p:nvPr/>
        </p:nvSpPr>
        <p:spPr>
          <a:xfrm>
            <a:off x="740664" y="404164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SDI000003670186</a:t>
            </a:r>
            <a:endParaRPr lang="en-US" sz="1500" dirty="0"/>
          </a:p>
        </p:txBody>
      </p:sp>
      <p:sp>
        <p:nvSpPr>
          <p:cNvPr id="16" name="Text 14"/>
          <p:cNvSpPr txBox="1"/>
          <p:nvPr/>
        </p:nvSpPr>
        <p:spPr>
          <a:xfrm>
            <a:off x="740664" y="4407408"/>
            <a:ext cx="2313432" cy="128016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lrchac14xsdi013.sdi.corp.bankofamerica.com</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30.38.244.22</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Red Hat Enterprise Linux CoreOS 4.20</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AGENT</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2026-09-21 06:07:05</a:t>
            </a:r>
            <a:endParaRPr lang="en-US" sz="1000" dirty="0"/>
          </a:p>
        </p:txBody>
      </p:sp>
      <p:sp>
        <p:nvSpPr>
          <p:cNvPr id="17" name="Text 15">
            <a:hlinkClick r:id="rId1" tooltip="https://bofasecopsdev.service-now.com/sn_sec_cmn_src_ci_list.do?sysparm_query=number=SDI000003670186"/>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7018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566160"/>
            <a:ext cx="4745736" cy="2834640"/>
          </a:xfrm>
          <a:prstGeom prst="roundRect">
            <a:avLst>
              <a:gd name="adj" fmla="val 19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72160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995928"/>
            <a:ext cx="457200" cy="0"/>
          </a:xfrm>
          <a:prstGeom prst="line">
            <a:avLst/>
          </a:prstGeom>
          <a:noFill/>
          <a:ln w="19050">
            <a:solidFill>
              <a:srgbClr val="E31837"/>
            </a:solidFill>
            <a:prstDash val="solid"/>
          </a:ln>
        </p:spPr>
      </p:sp>
      <p:sp>
        <p:nvSpPr>
          <p:cNvPr id="21" name="Text 19"/>
          <p:cNvSpPr txBox="1"/>
          <p:nvPr/>
        </p:nvSpPr>
        <p:spPr>
          <a:xfrm>
            <a:off x="3749040" y="4069080"/>
            <a:ext cx="4233672" cy="217627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"lrchac14xsdi013.sdi.corp.bankofamerica.com" searched on the name field of every CI class</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named with the whole fqdn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lrchac14xsdi013.sdi.corp.bankofamerica.com [kubernetes_node] ip 30.38.244.22 -&gt; exactly one, accepted</a:t>
            </a:r>
            <a:endParaRPr lang="en-US" sz="1300" dirty="0"/>
          </a:p>
        </p:txBody>
      </p:sp>
      <p:sp>
        <p:nvSpPr>
          <p:cNvPr id="22" name="Shape 20"/>
          <p:cNvSpPr/>
          <p:nvPr/>
        </p:nvSpPr>
        <p:spPr>
          <a:xfrm>
            <a:off x="8439912" y="3566160"/>
            <a:ext cx="3246120" cy="2834640"/>
          </a:xfrm>
          <a:prstGeom prst="roundRect">
            <a:avLst>
              <a:gd name="adj" fmla="val 19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730752"/>
            <a:ext cx="64008" cy="2505456"/>
          </a:xfrm>
          <a:prstGeom prst="rect">
            <a:avLst/>
          </a:prstGeom>
          <a:solidFill>
            <a:srgbClr val="E31837"/>
          </a:solidFill>
          <a:ln w="12700">
            <a:solidFill>
              <a:srgbClr val="333333"/>
            </a:solidFill>
            <a:prstDash val="solid"/>
          </a:ln>
        </p:spPr>
      </p:sp>
      <p:sp>
        <p:nvSpPr>
          <p:cNvPr id="24" name="Text 22"/>
          <p:cNvSpPr txBox="1"/>
          <p:nvPr/>
        </p:nvSpPr>
        <p:spPr>
          <a:xfrm>
            <a:off x="8714232" y="372160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995928"/>
            <a:ext cx="457200" cy="0"/>
          </a:xfrm>
          <a:prstGeom prst="line">
            <a:avLst/>
          </a:prstGeom>
          <a:noFill/>
          <a:ln w="19050">
            <a:solidFill>
              <a:srgbClr val="E31837"/>
            </a:solidFill>
            <a:prstDash val="solid"/>
          </a:ln>
        </p:spPr>
      </p:sp>
      <p:sp>
        <p:nvSpPr>
          <p:cNvPr id="26" name="Text 24"/>
          <p:cNvSpPr txBox="1"/>
          <p:nvPr/>
        </p:nvSpPr>
        <p:spPr>
          <a:xfrm>
            <a:off x="8714232" y="4041648"/>
            <a:ext cx="2715768" cy="402336"/>
          </a:xfrm>
          <a:prstGeom prst="rect">
            <a:avLst/>
          </a:prstGeom>
          <a:noFill/>
          <a:ln/>
        </p:spPr>
        <p:txBody>
          <a:bodyPr wrap="square" lIns="0" tIns="0" rIns="0" bIns="0" rtlCol="0" anchor="t"/>
          <a:lstStyle/>
          <a:p>
            <a:pPr indent="0" marL="0">
              <a:buNone/>
            </a:pPr>
            <a:r>
              <a:rPr lang="en-US" sz="1200" b="1" dirty="0">
                <a:solidFill>
                  <a:srgbClr val="012169"/>
                </a:solidFill>
                <a:latin typeface="Arial" pitchFamily="34" charset="0"/>
                <a:ea typeface="Arial" pitchFamily="34" charset="-122"/>
                <a:cs typeface="Arial" pitchFamily="34" charset="-120"/>
              </a:rPr>
              <a:t>lrchac14xsdi013.sdi.corp.bankofamerica.com</a:t>
            </a:r>
            <a:endParaRPr lang="en-US" sz="1200" dirty="0"/>
          </a:p>
        </p:txBody>
      </p:sp>
      <p:sp>
        <p:nvSpPr>
          <p:cNvPr id="27" name="Text 25"/>
          <p:cNvSpPr txBox="1"/>
          <p:nvPr/>
        </p:nvSpPr>
        <p:spPr>
          <a:xfrm>
            <a:off x="8714232" y="4471416"/>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Kubernetes Node</a:t>
            </a:r>
            <a:endParaRPr lang="en-US" sz="1100" dirty="0"/>
          </a:p>
        </p:txBody>
      </p:sp>
      <p:sp>
        <p:nvSpPr>
          <p:cNvPr id="28" name="Text 26"/>
          <p:cNvSpPr txBox="1"/>
          <p:nvPr/>
        </p:nvSpPr>
        <p:spPr>
          <a:xfrm>
            <a:off x="8714232" y="4791456"/>
            <a:ext cx="2715768" cy="896112"/>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30.38.244.22</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kubernetes_node.do?sys_id=29d51c922b09071022b7fcded391bff8"/>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kubernetes_node.do?sys_id=29d51c922b09071022b7fcded391bff8"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200</a:t>
            </a:fld>
            <a:endParaRPr lang="en-US"/>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850  ·  FQDN NAME BROAD MATCH  ·  EXAMPLE 3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lrchac14xsdi013.sdi.corp.bankofamerica.com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5c2426bc2b9fcfd0a277fab2f291bfe4" history="1" highlightClick="0" endSnd="0">
                  <a:extLst>
                    <a:ext uri="{A12FA001-AC4F-418D-AE19-62706E023703}">
                      <ahyp:hlinkClr xmlns:ahyp="http://schemas.microsoft.com/office/drawing/2018/hyperlinkcolor" val="tx"/>
                    </a:ext>
                  </a:extLst>
                </a:hlinkClick>
              </a:rPr>
              <a:t>SDI000003670186</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ee9fe04347a24710a1a9295b416d43e2" history="1" highlightClick="0" endSnd="0">
                  <a:extLst>
                    <a:ext uri="{A12FA001-AC4F-418D-AE19-62706E023703}">
                      <ahyp:hlinkClr xmlns:ahyp="http://schemas.microsoft.com/office/drawing/2018/hyperlinkcolor" val="tx"/>
                    </a:ext>
                  </a:extLst>
                </a:hlinkClick>
              </a:rPr>
              <a:t>BOFA FQDN Name Broad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kubernetes_node.do?sys_id=29d51c922b09071022b7fcded391bff8" history="1" highlightClick="0" endSnd="0">
                  <a:extLst>
                    <a:ext uri="{A12FA001-AC4F-418D-AE19-62706E023703}">
                      <ahyp:hlinkClr xmlns:ahyp="http://schemas.microsoft.com/office/drawing/2018/hyperlinkcolor" val="tx"/>
                    </a:ext>
                  </a:extLst>
                </a:hlinkClick>
              </a:rPr>
              <a:t>lrchac14xsdi013.sdi.corp.bankofamerica.com</a:t>
            </a:r>
            <a:endParaRPr lang="en-US" sz="1000" dirty="0"/>
          </a:p>
        </p:txBody>
      </p:sp>
      <p:graphicFrame>
        <p:nvGraphicFramePr>
          <p:cNvPr id="202"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The whole DNS name, dots included, is searched on the name field of every CI class (cmdb_ci).</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"lrchac14xsdi013.sdi.corp.bankofamerica.com" searched on the name field of every CI class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named with the whole fqdn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name equal to the whole DNS name, ignored classes left out; exactly one row is returned.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lrchac14xsdi013.sdi.corp.bankofamerica.com [kubernetes_node] ip 30.38.244.22 -&gt;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list.do?sysparm_query=name%3Dlrchac14xsdi013.sdi.corp.bankofamerica.com" history="1" highlightClick="0" endSnd="0">
                            <a:extLst>
                              <a:ext uri="{A12FA001-AC4F-418D-AE19-62706E023703}">
                                <ahyp:hlinkClr xmlns:ahyp="http://schemas.microsoft.com/office/drawing/2018/hyperlinkcolor" val="tx"/>
                              </a:ext>
                            </a:extLst>
                          </a:hlinkClick>
                        </a:rPr>
                        <a:t>CI: name=lrchac14xsdi013.sdi.corp.bankofamerica.com</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kubernetes_node.do?sys_id=29d51c922b09071022b7fcded391bff8" history="1" highlightClick="0" endSnd="0">
                            <a:extLst>
                              <a:ext uri="{A12FA001-AC4F-418D-AE19-62706E023703}">
                                <ahyp:hlinkClr xmlns:ahyp="http://schemas.microsoft.com/office/drawing/2018/hyperlinkcolor" val="tx"/>
                              </a:ext>
                            </a:extLst>
                          </a:hlinkClick>
                        </a:rPr>
                        <a:t>lrchac14xsdi013.sdi.corp.bankofamerica.com</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201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201</Slides>
  <Notes>201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201</vt:i4>
      </vt:variant>
    </vt:vector>
  </HeadingPairs>
  <TitlesOfParts>
    <vt:vector size="20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Qualys CI Lookup Rules - CMDB Team Demo</dc:title>
  <dc:subject>PptxGenJS Presentation</dc:subject>
  <dc:creator>Mihir Kumar Singh</dc:creator>
  <cp:lastModifiedBy>Mihir Kumar Singh</cp:lastModifiedBy>
  <cp:revision>1</cp:revision>
  <dcterms:created xsi:type="dcterms:W3CDTF">2026-09-21T12:47:36Z</dcterms:created>
  <dcterms:modified xsi:type="dcterms:W3CDTF">2026-09-21T12:47:36Z</dcterms:modified>
</cp:coreProperties>
</file>