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notesMasterIdLst>
    <p:notesMasterId r:id="rId1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notesMaster" Target="notesMasters/notesMaster1.xml"/><Relationship Id="rId119" Type="http://schemas.openxmlformats.org/officeDocument/2006/relationships/presProps" Target="presProps.xml"/><Relationship Id="rId120" Type="http://schemas.openxmlformats.org/officeDocument/2006/relationships/viewProps" Target="viewProps.xml"/><Relationship Id="rId121" Type="http://schemas.openxmlformats.org/officeDocument/2006/relationships/theme" Target="theme/theme1.xml"/><Relationship Id="rId1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11" TargetMode="External"/><Relationship Id="rId2" Type="http://schemas.openxmlformats.org/officeDocument/2006/relationships/hyperlink" Target="https://bofasecopsdev.service-now.com/cmdb_ci_win_server.do?sys_id=7e63ec2a3b84e250d5062b64c3e45a1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do?sys_id=fdf0ab42ebb6c714017ff4d7cad0cd9f" TargetMode="External"/><Relationship Id="rId2" Type="http://schemas.openxmlformats.org/officeDocument/2006/relationships/hyperlink" Target="https://bofasecopsdev.service-now.com/sn_sec_cmn_ci_lookup_rule.do?sys_id=8aae840f472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7e63ec2a3b84e250d5062b64c3e45a11" TargetMode="External"/><Relationship Id="rId5" Type="http://schemas.openxmlformats.org/officeDocument/2006/relationships/hyperlink" Target="https://bofasecopsdev.service-now.com/cmdb_ci_win_server_list.do?sysparm_query=serial_number%3DVMware-42%200c%2039%2043%2040%20ea%2020%2022-2b%2099%207d%200f%204e%20e1%209e%2059" TargetMode="External"/><Relationship Id="rId6" Type="http://schemas.openxmlformats.org/officeDocument/2006/relationships/hyperlink" Target="https://bofasecopsdev.service-now.com/cmdb_ci_win_server.do?sys_id=7e63ec2a3b84e250d5062b64c3e45a11" TargetMode="Externa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694be8342bc6ae54d50dffbdbe91bf87"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do?sys_id=1de8581e93fa4b549110fe584dba10f7" TargetMode="External"/><Relationship Id="rId2" Type="http://schemas.openxmlformats.org/officeDocument/2006/relationships/hyperlink" Target="https://bofasecopsdev.service-now.com/sn_sec_cmn_ci_lookup_rule.do?sys_id=7bb3ac4b47624710a1a9295b416d430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694be8342bc6ae54d50dffbdbe91bf87" TargetMode="External"/><Relationship Id="rId5" Type="http://schemas.openxmlformats.org/officeDocument/2006/relationships/hyperlink" Target="https://bofasecopsdev.service-now.com/cmdb_ci_hardware_list.do?sysparm_query=serial_number%3DMXBCS730XY" TargetMode="External"/><Relationship Id="rId6" Type="http://schemas.openxmlformats.org/officeDocument/2006/relationships/hyperlink" Target="https://bofasecopsdev.service-now.com/cmdb_ci_printer.do?sys_id=694be8342bc6ae54d50dffbdbe91bf87" TargetMode="External"/><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df221eb33be96210df0f0c54c3e45adf" TargetMode="Externa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do?sys_id=b2998da6eb7ecb14017ff4d7cad0cd60" TargetMode="External"/><Relationship Id="rId2" Type="http://schemas.openxmlformats.org/officeDocument/2006/relationships/hyperlink" Target="https://bofasecopsdev.service-now.com/sn_sec_cmn_ci_lookup_rule.do?sys_id=715e000f47224710a1a9295b416d430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df221eb33be96210df0f0c54c3e45adf" TargetMode="External"/><Relationship Id="rId5" Type="http://schemas.openxmlformats.org/officeDocument/2006/relationships/hyperlink" Target="https://bofasecopsdev.service-now.com/cmdb_ci_network_adapter_list.do?sysparm_query=mac_addressIN6C:71:0D:8A:DC:3B,6c:71:0d:8a:dc:3b,6C710D8ADC3B,6c710d8adc3b" TargetMode="External"/><Relationship Id="rId6" Type="http://schemas.openxmlformats.org/officeDocument/2006/relationships/hyperlink" Target="https://bofasecopsdev.service-now.com/cmdb_ci_ip_phone_list.do?sysparm_query=mac_addressIN6C:71:0D:8A:DC:3B,6c:71:0d:8a:dc:3b,6C710D8ADC3B,6c710d8adc3b" TargetMode="External"/><Relationship Id="rId7" Type="http://schemas.openxmlformats.org/officeDocument/2006/relationships/hyperlink" Target="https://bofasecopsdev.service-now.com/cmdb_ci_ip_phone.do?sys_id=df221eb33be96210df0f0c54c3e45adf" TargetMode="External"/><Relationship Id="rId8" Type="http://schemas.openxmlformats.org/officeDocument/2006/relationships/hyperlink" Target="https://bofasecopsdev.service-now.com/cmdb_ci_ip_phone_list.do?sysparm_query=name%3DSEP6C710D8ADC3B" TargetMode="External"/><Relationship Id="rId9" Type="http://schemas.openxmlformats.org/officeDocument/2006/relationships/hyperlink" Target="https://bofasecopsdev.service-now.com/cmdb_ci_ip_phone.do?sys_id=df221eb33be96210df0f0c54c3e45adf" TargetMode="External"/><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1366" TargetMode="External"/><Relationship Id="rId2" Type="http://schemas.openxmlformats.org/officeDocument/2006/relationships/hyperlink" Target="https://bofasecopsdev.service-now.com/cmdb_ci_win_server.do?sys_id=2127d1bb3bd8ea90d5062b64c3e45ab9"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do?sys_id=3251e706ebb6c714017ff4d7cad0cd1c" TargetMode="External"/><Relationship Id="rId2" Type="http://schemas.openxmlformats.org/officeDocument/2006/relationships/hyperlink" Target="https://bofasecopsdev.service-now.com/sn_sec_cmn_ci_lookup_rule.do?sys_id=3804208b47624710a1a9295b416d437e"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2127d1bb3bd8ea90d5062b64c3e45ab9" TargetMode="External"/><Relationship Id="rId5" Type="http://schemas.openxmlformats.org/officeDocument/2006/relationships/hyperlink" Target="https://bofasecopsdev.service-now.com/cmdb_ci_win_server_list.do?sysparm_query=fqdn%3Dwrdne67svtsrv.bankofamerica.com" TargetMode="External"/><Relationship Id="rId6" Type="http://schemas.openxmlformats.org/officeDocument/2006/relationships/hyperlink" Target="https://bofasecopsdev.service-now.com/cmdb_ci_win_server.do?sys_id=2127d1bb3bd8ea90d5062b64c3e45ab9" TargetMode="External"/><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953" TargetMode="External"/><Relationship Id="rId2" Type="http://schemas.openxmlformats.org/officeDocument/2006/relationships/hyperlink" Target="https://bofasecopsdev.service-now.com/cmdb_ci_linux_server.do?sys_id=e43c52133b146a90d5062b64c3e45a25"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do?sys_id=f4137e33930fcb909110fe584dba108f" TargetMode="External"/><Relationship Id="rId2" Type="http://schemas.openxmlformats.org/officeDocument/2006/relationships/hyperlink" Target="https://bofasecopsdev.service-now.com/sn_sec_cmn_ci_lookup_rule.do?sys_id=db54248b47624710a1a9295b416d436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e43c52133b146a90d5062b64c3e45a25" TargetMode="External"/><Relationship Id="rId5" Type="http://schemas.openxmlformats.org/officeDocument/2006/relationships/hyperlink" Target="https://bofasecopsdev.service-now.com/cmdb_ci_hardware_list.do?sysparm_query=fqdn%3Dlclte0ln.bankofamerica.com" TargetMode="External"/><Relationship Id="rId6" Type="http://schemas.openxmlformats.org/officeDocument/2006/relationships/hyperlink" Target="https://bofasecopsdev.service-now.com/cmdb_ci_linux_server.do?sys_id=e43c52133b146a90d5062b64c3e45a25" TargetMode="External"/><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701" TargetMode="External"/><Relationship Id="rId2" Type="http://schemas.openxmlformats.org/officeDocument/2006/relationships/hyperlink" Target="https://bofasecopsdev.service-now.com/cmdb_ci_linux_server.do?sys_id=30c82e632b91aa14d50dffbdbe91bfa9"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bofasecopsdev.service-now.com/sn_sec_cmn_src_ci.do?sys_id=9635d6563b47039c9289d164c3e45ad7" TargetMode="External"/><Relationship Id="rId2" Type="http://schemas.openxmlformats.org/officeDocument/2006/relationships/hyperlink" Target="https://bofasecopsdev.service-now.com/sn_sec_cmn_ci_lookup_rule.do?sys_id=2194e48b47624710a1a9295b416d432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30c82e632b91aa14d50dffbdbe91bfa9" TargetMode="External"/><Relationship Id="rId5" Type="http://schemas.openxmlformats.org/officeDocument/2006/relationships/hyperlink" Target="https://bofasecopsdev.service-now.com/cmdb_ci_linux_server_list.do?sysparm_query=name%3Dlsdnab00xsdi001" TargetMode="External"/><Relationship Id="rId6" Type="http://schemas.openxmlformats.org/officeDocument/2006/relationships/hyperlink" Target="https://bofasecopsdev.service-now.com/cmdb_ci_linux_server.do?sys_id=30c82e632b91aa14d50dffbdbe91bfa9" TargetMode="External"/><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283" TargetMode="External"/><Relationship Id="rId2" Type="http://schemas.openxmlformats.org/officeDocument/2006/relationships/hyperlink" Target="https://bofasecopsdev.service-now.com/cmdb_ci_server.do?sys_id=35485a949310fe1026fbfbb4ed03d640" TargetMode="Externa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do?sys_id=f8059a962bcf0350a277fab2f291bf8c" TargetMode="External"/><Relationship Id="rId2" Type="http://schemas.openxmlformats.org/officeDocument/2006/relationships/hyperlink" Target="https://bofasecopsdev.service-now.com/sn_sec_cmn_ci_lookup_rule.do?sys_id=6d05a88b47624710a1a9295b416d43e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35485a949310fe1026fbfbb4ed03d640" TargetMode="External"/><Relationship Id="rId5" Type="http://schemas.openxmlformats.org/officeDocument/2006/relationships/hyperlink" Target="https://bofasecopsdev.service-now.com/cmdb_ci_hardware_list.do?sysparm_query=name%3Dlsdnab03xsdi009" TargetMode="External"/><Relationship Id="rId6" Type="http://schemas.openxmlformats.org/officeDocument/2006/relationships/hyperlink" Target="https://bofasecopsdev.service-now.com/cmdb_ci_server.do?sys_id=35485a949310fe1026fbfbb4ed03d640" TargetMode="External"/><Relationship Id="rId7" Type="http://schemas.openxmlformats.org/officeDocument/2006/relationships/slideLayout" Target="../slideLayouts/slideLayout1.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82887" TargetMode="External"/><Relationship Id="rId2" Type="http://schemas.openxmlformats.org/officeDocument/2006/relationships/hyperlink" Target="https://bofasecopsdev.service-now.com/cmdb_ci_printer.do?sys_id=b38a64fc2b86ae54d50dffbdbe91bf08"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do?sys_id=bc6c5e5a9303cb14cfcebc5a7bba10c0" TargetMode="External"/><Relationship Id="rId2" Type="http://schemas.openxmlformats.org/officeDocument/2006/relationships/hyperlink" Target="https://bofasecopsdev.service-now.com/sn_sec_cmn_ci_lookup_rule.do?sys_id=bab564cb47624710a1a9295b416d43a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b38a64fc2b86ae54d50dffbdbe91bf08" TargetMode="External"/><Relationship Id="rId5" Type="http://schemas.openxmlformats.org/officeDocument/2006/relationships/hyperlink" Target="https://bofasecopsdev.service-now.com/cmdb_ip_address_dns_name_list.do?sysparm_query=dns_name.name%3Dca6-229-01-m01.bankofamerica.com" TargetMode="External"/><Relationship Id="rId6" Type="http://schemas.openxmlformats.org/officeDocument/2006/relationships/hyperlink" Target="https://bofasecopsdev.service-now.com/cmdb_ip_address_dns_name.do?sys_id=11926a8893373a1079dafd8ab903d6ce" TargetMode="External"/><Relationship Id="rId7" Type="http://schemas.openxmlformats.org/officeDocument/2006/relationships/hyperlink" Target="https://bofasecopsdev.service-now.com/cmdb_ci_network_adapter.do?sys_id=6ca25a883b3b7a146e084b9aa4e45afa" TargetMode="External"/><Relationship Id="rId8" Type="http://schemas.openxmlformats.org/officeDocument/2006/relationships/hyperlink" Target="https://bofasecopsdev.service-now.com/cmdb_ci_printer.do?sys_id=b38a64fc2b86ae54d50dffbdbe91bf08" TargetMode="External"/><Relationship Id="rId9" Type="http://schemas.openxmlformats.org/officeDocument/2006/relationships/hyperlink" Target="https://bofasecopsdev.service-now.com/cmdb_ci_dns_name.do?sys_id=d5926a8893373a1079dafd8ab903d6cd" TargetMode="External"/><Relationship Id="rId10" Type="http://schemas.openxmlformats.org/officeDocument/2006/relationships/hyperlink" Target="https://bofasecopsdev.service-now.com/cmdb_ci_ip_address.do?sys_id=d5a29a883b3b7a146e084b9aa4e45ae2" TargetMode="External"/><Relationship Id="rId11" Type="http://schemas.openxmlformats.org/officeDocument/2006/relationships/slideLayout" Target="../slideLayouts/slideLayout1.xml"/><Relationship Id="rId1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4" TargetMode="External"/><Relationship Id="rId2" Type="http://schemas.openxmlformats.org/officeDocument/2006/relationships/hyperlink" Target="https://bofasecopsdev.service-now.com/cmdb_ci_win_server.do?sys_id=27e62ee33b5022d0055e3b64c3e45ae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https://bofasecopsdev.service-now.com/sn_sec_cmn_src_ci.do?sys_id=d2eccbb22b7a4758a277fab2f291bfca" TargetMode="External"/><Relationship Id="rId2" Type="http://schemas.openxmlformats.org/officeDocument/2006/relationships/hyperlink" Target="https://bofasecopsdev.service-now.com/sn_sec_cmn_ci_lookup_rule.do?sys_id=5b1628cb47624710a1a9295b416d438d"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27e62ee33b5022d0055e3b64c3e45ae1" TargetMode="External"/><Relationship Id="rId5" Type="http://schemas.openxmlformats.org/officeDocument/2006/relationships/hyperlink" Target="https://bofasecopsdev.service-now.com/cmdb_ci_win_server_list.do?sysparm_query=name%3Dwsina1cdreapp" TargetMode="External"/><Relationship Id="rId6" Type="http://schemas.openxmlformats.org/officeDocument/2006/relationships/hyperlink" Target="https://bofasecopsdev.service-now.com/cmdb_ci_win_server.do?sys_id=27e62ee33b5022d0055e3b64c3e45ae1" TargetMode="External"/><Relationship Id="rId7" Type="http://schemas.openxmlformats.org/officeDocument/2006/relationships/slideLayout" Target="../slideLayouts/slideLayout1.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53" TargetMode="External"/><Relationship Id="rId2" Type="http://schemas.openxmlformats.org/officeDocument/2006/relationships/hyperlink" Target="https://bofasecopsdev.service-now.com/cmdb_ci_server.do?sys_id=2b66dbe59348b254b096f35e1dba1064" TargetMode="External"/><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bofasecopsdev.service-now.com/sn_sec_cmn_src_ci.do?sys_id=b3646affeb4b4350017ff4d7cad0cda0" TargetMode="External"/><Relationship Id="rId2" Type="http://schemas.openxmlformats.org/officeDocument/2006/relationships/hyperlink" Target="https://bofasecopsdev.service-now.com/sn_sec_cmn_ci_lookup_rule.do?sys_id=1c38204f47624710a1a9295b416d430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server.do?sys_id=2b66dbe59348b254b096f35e1dba1064" TargetMode="External"/><Relationship Id="rId5" Type="http://schemas.openxmlformats.org/officeDocument/2006/relationships/hyperlink" Target="https://bofasecopsdev.service-now.com/cmdb_ci_hardware_list.do?sysparm_query=name%3Dlrchac09xsdi013" TargetMode="External"/><Relationship Id="rId6" Type="http://schemas.openxmlformats.org/officeDocument/2006/relationships/hyperlink" Target="https://bofasecopsdev.service-now.com/cmdb_ci_server.do?sys_id=2b66dbe59348b254b096f35e1dba1064" TargetMode="External"/><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41" TargetMode="External"/><Relationship Id="rId2" Type="http://schemas.openxmlformats.org/officeDocument/2006/relationships/hyperlink" Target="https://bofasecopsdev.service-now.com/cmdb_ci_ip_phone.do?sys_id=e07817742b062694d50dffbdbe91bf38"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do?sys_id=6714e30c2bebc710a277fab2f291bf41" TargetMode="External"/><Relationship Id="rId2" Type="http://schemas.openxmlformats.org/officeDocument/2006/relationships/hyperlink" Target="https://bofasecopsdev.service-now.com/sn_sec_cmn_ci_lookup_rule.do?sys_id=725622123b9b4310e973496ea5e45abb"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phone.do?sys_id=e07817742b062694d50dffbdbe91bf38" TargetMode="External"/><Relationship Id="rId5" Type="http://schemas.openxmlformats.org/officeDocument/2006/relationships/hyperlink" Target="https://bofasecopsdev.service-now.com/cmdb_ci_ip_phone_list.do?sysparm_query=name%3Davxef52fb" TargetMode="External"/><Relationship Id="rId6" Type="http://schemas.openxmlformats.org/officeDocument/2006/relationships/hyperlink" Target="https://bofasecopsdev.service-now.com/cmdb_ci_ip_phone.do?sys_id=e07817742b062694d50dffbdbe91bf38" TargetMode="External"/><Relationship Id="rId7" Type="http://schemas.openxmlformats.org/officeDocument/2006/relationships/hyperlink" Target="https://bofasecopsdev.service-now.com/cmdb_ci_imaging_hardware_list.do?sysparm_query=name%3Davxef52fb" TargetMode="External"/><Relationship Id="rId8" Type="http://schemas.openxmlformats.org/officeDocument/2006/relationships/slideLayout" Target="../slideLayouts/slideLayout1.xml"/><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47592" TargetMode="External"/><Relationship Id="rId2" Type="http://schemas.openxmlformats.org/officeDocument/2006/relationships/hyperlink" Target="https://bofasecopsdev.service-now.com/cmdb_ci_linux_server.do?sys_id=a53749b02b062e54d28af8a4ce91bf65"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bofasecopsdev.service-now.com/sn_sec_cmn_src_ci.do?sys_id=918911a23bbe83180e435c8a04e45a8d" TargetMode="External"/><Relationship Id="rId2" Type="http://schemas.openxmlformats.org/officeDocument/2006/relationships/hyperlink" Target="https://bofasecopsdev.service-now.com/sn_sec_cmn_ci_lookup_rule.do?sys_id=fdd5d3dc2b534350e76ff4bc4e91bf40"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a53749b02b062e54d28af8a4ce91bf65" TargetMode="External"/><Relationship Id="rId5" Type="http://schemas.openxmlformats.org/officeDocument/2006/relationships/hyperlink" Target="https://bofasecopsdev.service-now.com/cmdb_ci_hardware_list.do?sysparm_query=name%3Dlva10regbxch0j" TargetMode="External"/><Relationship Id="rId6" Type="http://schemas.openxmlformats.org/officeDocument/2006/relationships/hyperlink" Target="https://bofasecopsdev.service-now.com/cmdb_ci_linux_server.do?sys_id=a53749b02b062e54d28af8a4ce91bf65" TargetMode="External"/><Relationship Id="rId7" Type="http://schemas.openxmlformats.org/officeDocument/2006/relationships/slideLayout" Target="../slideLayouts/slideLayout1.xml"/><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7" TargetMode="External"/><Relationship Id="rId2" Type="http://schemas.openxmlformats.org/officeDocument/2006/relationships/hyperlink" Target="https://bofasecopsdev.service-now.com/cmdb_ci_ip_switch.do?sys_id=aaac6f842b256610cca5f39ec891bf8d"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do?sys_id=8d6b274c93a747109110fe584dba104b" TargetMode="External"/><Relationship Id="rId2" Type="http://schemas.openxmlformats.org/officeDocument/2006/relationships/hyperlink" Target="https://bofasecopsdev.service-now.com/sn_sec_cmn_ci_lookup_rule.do?sys_id=34c1171c2b534350e76ff4bc4e91bfb4"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aaac6f842b256610cca5f39ec891bf8d" TargetMode="External"/><Relationship Id="rId5" Type="http://schemas.openxmlformats.org/officeDocument/2006/relationships/hyperlink" Target="https://bofasecopsdev.service-now.com/cmdb_ci_netgear_list.do?sysparm_query=name%3Dtwtwtpett48bdm0002-eth1" TargetMode="External"/><Relationship Id="rId6" Type="http://schemas.openxmlformats.org/officeDocument/2006/relationships/hyperlink" Target="https://bofasecopsdev.service-now.com/cmdb_ci_lb_list.do?sysparm_query=name%3Dtwtwtpett48bdm0002-eth1" TargetMode="External"/><Relationship Id="rId7" Type="http://schemas.openxmlformats.org/officeDocument/2006/relationships/hyperlink" Target="https://bofasecopsdev.service-now.com/cmdb_ci_netgear_list.do?sysparm_query=name%3Dtwtwtpett48bdm0002" TargetMode="External"/><Relationship Id="rId8" Type="http://schemas.openxmlformats.org/officeDocument/2006/relationships/hyperlink" Target="https://bofasecopsdev.service-now.com/cmdb_ci_ip_switch.do?sys_id=aaac6f842b256610cca5f39ec891bf8d" TargetMode="External"/><Relationship Id="rId9" Type="http://schemas.openxmlformats.org/officeDocument/2006/relationships/hyperlink" Target="https://bofasecopsdev.service-now.com/cmdb_ci_lb_list.do?sysparm_query=name%3Dtwtwtpett48bdm0002" TargetMode="External"/><Relationship Id="rId10" Type="http://schemas.openxmlformats.org/officeDocument/2006/relationships/slideLayout" Target="../slideLayouts/slideLayout1.xml"/><Relationship Id="rId11"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157" TargetMode="External"/><Relationship Id="rId2" Type="http://schemas.openxmlformats.org/officeDocument/2006/relationships/hyperlink" Target="https://bofasecopsdev.service-now.com/cmdb_ci_printer.do?sys_id=7ed9e0b82b86ae54d50dffbdbe91bf4b" TargetMode="External"/><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do?sys_id=e8ddba3a93fec310cfcebc5a7bba10fc" TargetMode="External"/><Relationship Id="rId2" Type="http://schemas.openxmlformats.org/officeDocument/2006/relationships/hyperlink" Target="https://bofasecopsdev.service-now.com/sn_sec_cmn_ci_lookup_rule.do?sys_id=0678604f47624710a1a9295b416d4377"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printer.do?sys_id=7ed9e0b82b86ae54d50dffbdbe91bf4b" TargetMode="External"/><Relationship Id="rId5" Type="http://schemas.openxmlformats.org/officeDocument/2006/relationships/hyperlink" Target="https://bofasecopsdev.service-now.com/cmdb_ci_hardware_list.do?sysparm_query=name%3Dca9-107-01-m02.bankofamerica.com" TargetMode="External"/><Relationship Id="rId6" Type="http://schemas.openxmlformats.org/officeDocument/2006/relationships/hyperlink" Target="https://bofasecopsdev.service-now.com/cmdb_ci_printer.do?sys_id=7ed9e0b82b86ae54d50dffbdbe91bf4b" TargetMode="External"/><Relationship Id="rId7" Type="http://schemas.openxmlformats.org/officeDocument/2006/relationships/slideLayout" Target="../slideLayouts/slideLayout1.xm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f2130b8693966a107fb5f842ed03d653"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hyperlink" Target="https://bofasecopsdev.service-now.com/sn_sec_cmn_src_ci.do?sys_id=deb3b97a3bfe4b189289d164c3e45a59"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f2130b8693966a107fb5f842ed03d653" TargetMode="External"/><Relationship Id="rId5" Type="http://schemas.openxmlformats.org/officeDocument/2006/relationships/hyperlink" Target="https://bofasecopsdev.service-now.com/cmdb_ci_lb_service_list.do?sysparm_query=fqdn%3Dboluiv4-dev2-benefits-l7-vip1.dev.gwimnp.rpg" TargetMode="External"/><Relationship Id="rId6" Type="http://schemas.openxmlformats.org/officeDocument/2006/relationships/hyperlink" Target="https://bofasecopsdev.service-now.com/cmdb_ci_lb_service_list.do?sysparm_query=name%3Dboluiv4-dev2-benefits-l7-vip1.dev.gwimnp.rpg" TargetMode="External"/><Relationship Id="rId7" Type="http://schemas.openxmlformats.org/officeDocument/2006/relationships/hyperlink" Target="https://bofasecopsdev.service-now.com/cmdb_ci_lb_service_list.do?sysparm_query=name%3Dboluiv4-dev2-benefits-l7-vip1" TargetMode="External"/><Relationship Id="rId8" Type="http://schemas.openxmlformats.org/officeDocument/2006/relationships/hyperlink" Target="https://bofasecopsdev.service-now.com/cmdb_ci_lb_service_list.do?sysparm_query=ip_address%3D10.143.53.96" TargetMode="External"/><Relationship Id="rId9" Type="http://schemas.openxmlformats.org/officeDocument/2006/relationships/hyperlink" Target="https://bofasecopsdev.service-now.com/cmdb_ci_lb_service.do?sys_id=a966482d3b68c710ae0c4047f4e45ab3" TargetMode="External"/><Relationship Id="rId10" Type="http://schemas.openxmlformats.org/officeDocument/2006/relationships/hyperlink" Target="https://bofasecopsdev.service-now.com/cmdb_ci_lb_pool.do?sys_id=3066482d3b68c710ae0c4047f4e45aac" TargetMode="External"/><Relationship Id="rId11" Type="http://schemas.openxmlformats.org/officeDocument/2006/relationships/hyperlink" Target="https://bofasecopsdev.service-now.com/cmdb_ci_lb_bigip.do?sys_id=027d15e32b2076d0da9bf8c9c891bf34" TargetMode="External"/><Relationship Id="rId12" Type="http://schemas.openxmlformats.org/officeDocument/2006/relationships/slideLayout" Target="../slideLayouts/slideLayout1.xml"/><Relationship Id="rId1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bofasecopsdev.service-now.com/sn_sec_cmn_src_ci.do?sys_id=deb3b97a3bfe4b189289d164c3e45a59" TargetMode="External"/><Relationship Id="rId2" Type="http://schemas.openxmlformats.org/officeDocument/2006/relationships/hyperlink" Target="https://bofasecopsdev.service-now.com/sn_sec_cmn_ci_lookup_rule.do?sys_id=52af62963b9b4310e973496ea5e45aa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inux_server.do?sys_id=f2130b8693966a107fb5f842ed03d653" TargetMode="External"/><Relationship Id="rId5" Type="http://schemas.openxmlformats.org/officeDocument/2006/relationships/hyperlink" Target="https://bofasecopsdev.service-now.com/cmdb_ci_lb_pool_list.do?sysparm_query=service%3Da966482d3b68c710ae0c4047f4e45ab3" TargetMode="External"/><Relationship Id="rId6" Type="http://schemas.openxmlformats.org/officeDocument/2006/relationships/hyperlink" Target="https://bofasecopsdev.service-now.com/cmdb_rel_ci_list.do?sysparm_query=parent%3Da966482d3b68c710ae0c4047f4e45ab3%5EORchild%3Da966482d3b68c710ae0c4047f4e45ab3" TargetMode="External"/><Relationship Id="rId7" Type="http://schemas.openxmlformats.org/officeDocument/2006/relationships/hyperlink" Target="https://bofasecopsdev.service-now.com/cmdb_ci_lb_pool.do?sys_id=3066482d3b68c710ae0c4047f4e45aac" TargetMode="External"/><Relationship Id="rId8" Type="http://schemas.openxmlformats.org/officeDocument/2006/relationships/hyperlink" Target="https://bofasecopsdev.service-now.com/cmdb_ci_lb_pool_list.do?sysparm_query=sys_idIN3066482d3b68c710ae0c4047f4e45aac" TargetMode="External"/><Relationship Id="rId9" Type="http://schemas.openxmlformats.org/officeDocument/2006/relationships/hyperlink" Target="https://bofasecopsdev.service-now.com/cmdb_ci_lb_pool.do?sys_id=3066482d3b68c710ae0c4047f4e45aac" TargetMode="External"/><Relationship Id="rId10" Type="http://schemas.openxmlformats.org/officeDocument/2006/relationships/hyperlink" Target="https://bofasecopsdev.service-now.com/cmdb_ci_lb_pool_member_list.do?sysparm_query=pool%3D3066482d3b68c710ae0c4047f4e45aac" TargetMode="External"/><Relationship Id="rId11" Type="http://schemas.openxmlformats.org/officeDocument/2006/relationships/hyperlink" Target="https://bofasecopsdev.service-now.com/cmdb_ci_lb_pool_member.do?sys_id=5a66006d3b68c710ae0c4047f4e45a69" TargetMode="External"/><Relationship Id="rId12" Type="http://schemas.openxmlformats.org/officeDocument/2006/relationships/hyperlink" Target="https://bofasecopsdev.service-now.com/cmdb_rel_ci_list.do?sysparm_query=parent%3D3066482d3b68c710ae0c4047f4e45aac%5EORchild%3D3066482d3b68c710ae0c4047f4e45aac" TargetMode="External"/><Relationship Id="rId13" Type="http://schemas.openxmlformats.org/officeDocument/2006/relationships/hyperlink" Target="https://bofasecopsdev.service-now.com/cmdb_ci_lb_pool_member.do?sys_id=5a66006d3b68c710ae0c4047f4e45a69" TargetMode="External"/><Relationship Id="rId14" Type="http://schemas.openxmlformats.org/officeDocument/2006/relationships/hyperlink" Target="https://bofasecopsdev.service-now.com/cmdb_ci_hardware_list.do?sysparm_query=ip_address%3D171.184.193.14" TargetMode="External"/><Relationship Id="rId15" Type="http://schemas.openxmlformats.org/officeDocument/2006/relationships/hyperlink" Target="https://bofasecopsdev.service-now.com/cmdb_ci_linux_server.do?sys_id=f2130b8693966a107fb5f842ed03d653" TargetMode="External"/><Relationship Id="rId16" Type="http://schemas.openxmlformats.org/officeDocument/2006/relationships/hyperlink" Target="https://bofasecopsdev.service-now.com/cmdb_ci_network_adapter_list.do?sysparm_query=ip_address%3D171.184.193.14" TargetMode="External"/><Relationship Id="rId17" Type="http://schemas.openxmlformats.org/officeDocument/2006/relationships/hyperlink" Target="https://bofasecopsdev.service-now.com/cmdb_ci_network_adapter.do?sys_id=47c2a6c83ba9a2106e084b9aa4e45ab2" TargetMode="External"/><Relationship Id="rId18" Type="http://schemas.openxmlformats.org/officeDocument/2006/relationships/hyperlink" Target="https://bofasecopsdev.service-now.com/cmdb_ci_vmware_instance.do?sys_id=dcc22ec82ba9a21093f5f1aac891bf73" TargetMode="External"/><Relationship Id="rId19" Type="http://schemas.openxmlformats.org/officeDocument/2006/relationships/hyperlink" Target="https://bofasecopsdev.service-now.com/cmdb_ci_network_adapter.do?sys_id=9f0d76383b6e6290489ce5d964e45aa2" TargetMode="External"/><Relationship Id="rId20" Type="http://schemas.openxmlformats.org/officeDocument/2006/relationships/hyperlink" Target="https://bofasecopsdev.service-now.com/cmdb_ci_linux_server.do?sys_id=f2130b8693966a107fb5f842ed03d653" TargetMode="External"/><Relationship Id="rId21" Type="http://schemas.openxmlformats.org/officeDocument/2006/relationships/hyperlink" Target="https://bofasecopsdev.service-now.com/cmdb_ci_ip_address_list.do?sysparm_query=ip_address%3D171.184.193.14" TargetMode="External"/><Relationship Id="rId22" Type="http://schemas.openxmlformats.org/officeDocument/2006/relationships/hyperlink" Target="https://bofasecopsdev.service-now.com/cmdb_ci_ip_address.do?sys_id=53fc76383b6e6290489ce5d964e45a3e" TargetMode="External"/><Relationship Id="rId23" Type="http://schemas.openxmlformats.org/officeDocument/2006/relationships/hyperlink" Target="https://bofasecopsdev.service-now.com/cmdb_ci_network_adapter.do?sys_id=9f0d76383b6e6290489ce5d964e45aa2" TargetMode="External"/><Relationship Id="rId24" Type="http://schemas.openxmlformats.org/officeDocument/2006/relationships/hyperlink" Target="https://bofasecopsdev.service-now.com/cmdb_ci_linux_server.do?sys_id=f2130b8693966a107fb5f842ed03d653" TargetMode="External"/><Relationship Id="rId25" Type="http://schemas.openxmlformats.org/officeDocument/2006/relationships/hyperlink" Target="https://bofasecopsdev.service-now.com/cmdb_rel_ci_list.do?sysparm_query=parent%3D5a66006d3b68c710ae0c4047f4e45a69%5EORchild%3D5a66006d3b68c710ae0c4047f4e45a69" TargetMode="External"/><Relationship Id="rId26" Type="http://schemas.openxmlformats.org/officeDocument/2006/relationships/hyperlink" Target="https://bofasecopsdev.service-now.com/cmdb_ci_linux_server.do?sys_id=f2130b8693966a107fb5f842ed03d653" TargetMode="External"/><Relationship Id="rId27" Type="http://schemas.openxmlformats.org/officeDocument/2006/relationships/hyperlink" Target="https://bofasecopsdev.service-now.com/cmdb_ci_vmware_instance.do?sys_id=dcc22ec82ba9a21093f5f1aac891bf73" TargetMode="External"/><Relationship Id="rId28" Type="http://schemas.openxmlformats.org/officeDocument/2006/relationships/hyperlink" Target="https://bofasecopsdev.service-now.com/cmdb_ci_linux_server.do?sys_id=f2130b8693966a107fb5f842ed03d653" TargetMode="External"/><Relationship Id="rId29" Type="http://schemas.openxmlformats.org/officeDocument/2006/relationships/hyperlink" Target="https://bofasecopsdev.service-now.com/cmdb_ci_linux_server.do?sys_id=f2130b8693966a107fb5f842ed03d653" TargetMode="External"/><Relationship Id="rId30" Type="http://schemas.openxmlformats.org/officeDocument/2006/relationships/hyperlink" Target="https://bofasecopsdev.service-now.com/cmdb_ci_linux_server.do?sys_id=f2130b8693966a107fb5f842ed03d653" TargetMode="External"/><Relationship Id="rId31" Type="http://schemas.openxmlformats.org/officeDocument/2006/relationships/slideLayout" Target="../slideLayouts/slideLayout1.xml"/><Relationship Id="rId3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84466888930e0b50205fb5627cba107c" TargetMode="External"/><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hyperlink" Target="https://bofasecopsdev.service-now.com/sn_sec_cmn_src_ci.do?sys_id=28ad5e36933283949110fe584dba108d" TargetMode="External"/><Relationship Id="rId2" Type="http://schemas.openxmlformats.org/officeDocument/2006/relationships/hyperlink" Target="https://bofasecopsdev.service-now.com/sn_sec_cmn_ci_lookup_rule.do?sys_id=24a593dc2b534350e76ff4bc4e91bfb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lb_service.do?sys_id=84466888930e0b50205fb5627cba107c" TargetMode="External"/><Relationship Id="rId5" Type="http://schemas.openxmlformats.org/officeDocument/2006/relationships/hyperlink" Target="https://bofasecopsdev.service-now.com/cmdb_ci_lb_service_list.do?sysparm_query=fqdn%3Dolmerrillweb-review1-l7-vip1.gwimnp.rpg" TargetMode="External"/><Relationship Id="rId6" Type="http://schemas.openxmlformats.org/officeDocument/2006/relationships/hyperlink" Target="https://bofasecopsdev.service-now.com/cmdb_ci_lb_service_list.do?sysparm_query=name%3Dolmerrillweb-review1-l7-vip1.gwimnp.rpg" TargetMode="External"/><Relationship Id="rId7" Type="http://schemas.openxmlformats.org/officeDocument/2006/relationships/hyperlink" Target="https://bofasecopsdev.service-now.com/cmdb_ci_lb_service_list.do?sysparm_query=name%3Dolmerrillweb-review1-l7-vip1" TargetMode="External"/><Relationship Id="rId8" Type="http://schemas.openxmlformats.org/officeDocument/2006/relationships/hyperlink" Target="https://bofasecopsdev.service-now.com/cmdb_ci_lb_service_list.do?sysparm_query=ip_address%3D10.143.52.113" TargetMode="External"/><Relationship Id="rId9" Type="http://schemas.openxmlformats.org/officeDocument/2006/relationships/hyperlink" Target="https://bofasecopsdev.service-now.com/cmdb_ci_lb_service.do?sys_id=84466888930e0b50205fb5627cba107c" TargetMode="External"/><Relationship Id="rId10" Type="http://schemas.openxmlformats.org/officeDocument/2006/relationships/hyperlink" Target="https://bofasecopsdev.service-now.com/cmdb_ci_lb_pool.do?sys_id=88466888930e0b50205fb5627cba107b" TargetMode="External"/><Relationship Id="rId11" Type="http://schemas.openxmlformats.org/officeDocument/2006/relationships/hyperlink" Target="https://bofasecopsdev.service-now.com/cmdb_ci_lb_bigip.do?sys_id=8838d7523b752210d5062b64c3e45a68" TargetMode="External"/><Relationship Id="rId12" Type="http://schemas.openxmlformats.org/officeDocument/2006/relationships/slideLayout" Target="../slideLayouts/slideLayout1.xml"/><Relationship Id="rId1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964" TargetMode="External"/><Relationship Id="rId2" Type="http://schemas.openxmlformats.org/officeDocument/2006/relationships/hyperlink" Target="https://bofasecopsdev.service-now.com/cmdb_ci_win_server.do?sys_id=c785e52bfbddc7d0f40ef34c5eefdccf" TargetMode="External"/><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hyperlink" Target="https://bofasecopsdev.service-now.com/sn_sec_cmn_src_ci.do?sys_id=ff38b63a93bec310cfcebc5a7bba10bf" TargetMode="External"/><Relationship Id="rId2" Type="http://schemas.openxmlformats.org/officeDocument/2006/relationships/hyperlink" Target="https://bofasecopsdev.service-now.com/sn_sec_cmn_ci_lookup_rule.do?sys_id=3adceccf47624710a1a9295b416d43f9"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win_server.do?sys_id=c785e52bfbddc7d0f40ef34c5eefdccf" TargetMode="External"/><Relationship Id="rId5" Type="http://schemas.openxmlformats.org/officeDocument/2006/relationships/hyperlink" Target="https://bofasecopsdev.service-now.com/cmdb_ci_win_server_list.do?sysparm_query=ip_address%3D30.30.58.0" TargetMode="External"/><Relationship Id="rId6" Type="http://schemas.openxmlformats.org/officeDocument/2006/relationships/hyperlink" Target="https://bofasecopsdev.service-now.com/cmdb_ci_win_server.do?sys_id=c785e52bfbddc7d0f40ef34c5eefdccf" TargetMode="External"/><Relationship Id="rId7" Type="http://schemas.openxmlformats.org/officeDocument/2006/relationships/slideLayout" Target="../slideLayouts/slideLayout1.xm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7215" TargetMode="External"/><Relationship Id="rId2" Type="http://schemas.openxmlformats.org/officeDocument/2006/relationships/hyperlink" Target="https://bofasecopsdev.service-now.com/cmdb_ci_computer.do?sys_id=f1593dbd3b74c710ef3892e643e45a81" TargetMode="External"/><Relationship Id="rId3" Type="http://schemas.openxmlformats.org/officeDocument/2006/relationships/slideLayout" Target="../slideLayouts/slideLayout1.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hyperlink" Target="https://bofasecopsdev.service-now.com/sn_sec_cmn_src_ci.do?sys_id=614df97e3b328b189289d164c3e45a44" TargetMode="External"/><Relationship Id="rId2" Type="http://schemas.openxmlformats.org/officeDocument/2006/relationships/hyperlink" Target="https://bofasecopsdev.service-now.com/sn_sec_cmn_ci_lookup_rule.do?sys_id=5bad640347a24710a1a9295b416d43b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computer.do?sys_id=f1593dbd3b74c710ef3892e643e45a81" TargetMode="External"/><Relationship Id="rId5" Type="http://schemas.openxmlformats.org/officeDocument/2006/relationships/hyperlink" Target="https://bofasecopsdev.service-now.com/cmdb_ci_hardware_list.do?sysparm_query=ip_address%3D30.37.248.149" TargetMode="External"/><Relationship Id="rId6" Type="http://schemas.openxmlformats.org/officeDocument/2006/relationships/hyperlink" Target="https://bofasecopsdev.service-now.com/cmdb_ci_computer.do?sys_id=f1593dbd3b74c710ef3892e643e45a81" TargetMode="External"/><Relationship Id="rId7" Type="http://schemas.openxmlformats.org/officeDocument/2006/relationships/slideLayout" Target="../slideLayouts/slideLayout1.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13895" TargetMode="External"/><Relationship Id="rId2" Type="http://schemas.openxmlformats.org/officeDocument/2006/relationships/hyperlink" Target="https://bofasecopsdev.service-now.com/cmdb_ci_esx_server.do?sys_id=abb100a52b976e908afbf3b28191bf4f"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hyperlink" Target="https://bofasecopsdev.service-now.com/sn_sec_cmn_src_ci.do?sys_id=c6ab93a293724750a2b4f91e1dba10a8" TargetMode="External"/><Relationship Id="rId2" Type="http://schemas.openxmlformats.org/officeDocument/2006/relationships/hyperlink" Target="https://bofasecopsdev.service-now.com/sn_sec_cmn_ci_lookup_rule.do?sys_id=0740b48347a24710a1a9295b416d4315"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esx_server.do?sys_id=abb100a52b976e908afbf3b28191bf4f" TargetMode="External"/><Relationship Id="rId5" Type="http://schemas.openxmlformats.org/officeDocument/2006/relationships/hyperlink" Target="https://bofasecopsdev.service-now.com/cmdb_ci_network_adapter_list.do?sysparm_query=ip_address%3D165.38.176.81" TargetMode="External"/><Relationship Id="rId6" Type="http://schemas.openxmlformats.org/officeDocument/2006/relationships/hyperlink" Target="https://bofasecopsdev.service-now.com/cmdb_ci_network_adapter.do?sys_id=3e5fc7ef47dfe29464eca755516d4301" TargetMode="External"/><Relationship Id="rId7" Type="http://schemas.openxmlformats.org/officeDocument/2006/relationships/hyperlink" Target="https://bofasecopsdev.service-now.com/cmdb_ci_esx_server.do?sys_id=abb100a52b976e908afbf3b28191bf4f" TargetMode="External"/><Relationship Id="rId8" Type="http://schemas.openxmlformats.org/officeDocument/2006/relationships/slideLayout" Target="../slideLayouts/slideLayout1.xml"/><Relationship Id="rId9"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6737" TargetMode="External"/><Relationship Id="rId2" Type="http://schemas.openxmlformats.org/officeDocument/2006/relationships/hyperlink" Target="https://bofasecopsdev.service-now.com/cmdb_ci_ip_switch.do?sys_id=c835c6e83ba822d0670e839704e45ae8" TargetMode="External"/><Relationship Id="rId3" Type="http://schemas.openxmlformats.org/officeDocument/2006/relationships/slideLayout" Target="../slideLayouts/slideLayout1.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hyperlink" Target="https://bofasecopsdev.service-now.com/sn_sec_cmn_src_ci.do?sys_id=795ad412933a8b10a2b4f91e1dba10be" TargetMode="External"/><Relationship Id="rId2" Type="http://schemas.openxmlformats.org/officeDocument/2006/relationships/hyperlink" Target="https://bofasecopsdev.service-now.com/sn_sec_cmn_ci_lookup_rule.do?sys_id=d14eaccf47624710a1a9295b416d43bf"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ip_switch.do?sys_id=c835c6e83ba822d0670e839704e45ae8" TargetMode="External"/><Relationship Id="rId5" Type="http://schemas.openxmlformats.org/officeDocument/2006/relationships/hyperlink" Target="https://bofasecopsdev.service-now.com/cmdb_ci_ip_address_list.do?sysparm_query=ip_address%3D165.40.253.178" TargetMode="External"/><Relationship Id="rId6" Type="http://schemas.openxmlformats.org/officeDocument/2006/relationships/hyperlink" Target="https://bofasecopsdev.service-now.com/cmdb_ci_ip_address.do?sys_id=f03542a03ba026d0d5062b64c3e45a79" TargetMode="External"/><Relationship Id="rId7" Type="http://schemas.openxmlformats.org/officeDocument/2006/relationships/hyperlink" Target="https://bofasecopsdev.service-now.com/cmdb_ci_network_adapter.do?sys_id=453582a03ba026d0d5062b64c3e45a44" TargetMode="External"/><Relationship Id="rId8" Type="http://schemas.openxmlformats.org/officeDocument/2006/relationships/hyperlink" Target="https://bofasecopsdev.service-now.com/cmdb_ci_ip_switch.do?sys_id=c835c6e83ba822d0670e839704e45ae8" TargetMode="External"/><Relationship Id="rId9" Type="http://schemas.openxmlformats.org/officeDocument/2006/relationships/slideLayout" Target="../slideLayouts/slideLayout1.xml"/><Relationship Id="rId10"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91" TargetMode="External"/><Relationship Id="rId2" Type="http://schemas.openxmlformats.org/officeDocument/2006/relationships/hyperlink" Target="https://bofasecopsdev.service-now.com/cmdb_ci_kubernetes_node.do?sys_id=b0da27023beba690dee4bcdc73e45a10" TargetMode="External"/><Relationship Id="rId3" Type="http://schemas.openxmlformats.org/officeDocument/2006/relationships/slideLayout" Target="../slideLayouts/slideLayout1.xml"/><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hyperlink" Target="https://bofasecopsdev.service-now.com/sn_sec_cmn_src_ci.do?sys_id=4da1e6f8935b4798cfcebc5a7bba1022" TargetMode="External"/><Relationship Id="rId2" Type="http://schemas.openxmlformats.org/officeDocument/2006/relationships/hyperlink" Target="https://bofasecopsdev.service-now.com/sn_sec_cmn_ci_lookup_rule.do?sys_id=ee9fe04347a24710a1a9295b416d43e2" TargetMode="External"/><Relationship Id="rId3" Type="http://schemas.openxmlformats.org/officeDocument/2006/relationships/hyperlink" Target="https://bofasecopsdev.service-now.com/sys_properties.do?sys_id=af50c993e7123b0035c6ae29c2f6a98a" TargetMode="External"/><Relationship Id="rId4" Type="http://schemas.openxmlformats.org/officeDocument/2006/relationships/hyperlink" Target="https://bofasecopsdev.service-now.com/cmdb_ci_kubernetes_node.do?sys_id=b0da27023beba690dee4bcdc73e45a10" TargetMode="External"/><Relationship Id="rId5" Type="http://schemas.openxmlformats.org/officeDocument/2006/relationships/hyperlink" Target="https://bofasecopsdev.service-now.com/cmdb_ci_list.do?sysparm_query=name%3Dlrchac13xsdi001.sdi.corp.bankofamerica.com" TargetMode="External"/><Relationship Id="rId6" Type="http://schemas.openxmlformats.org/officeDocument/2006/relationships/hyperlink" Target="https://bofasecopsdev.service-now.com/cmdb_ci_kubernetes_node.do?sys_id=b0da27023beba690dee4bcdc73e45a10" TargetMode="External"/><Relationship Id="rId7" Type="http://schemas.openxmlformats.org/officeDocument/2006/relationships/slideLayout" Target="../slideLayouts/slideLayout1.xml"/><Relationship Id="rId8" Type="http://schemas.openxmlformats.org/officeDocument/2006/relationships/notesSlide" Target="../notesSlides/notesSlide1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E31837"/>
          </a:solidFill>
          <a:ln w="12700">
            <a:solidFill>
              <a:srgbClr val="333333"/>
            </a:solidFill>
            <a:prstDash val="solid"/>
          </a:ln>
        </p:spPr>
      </p:sp>
      <p:sp>
        <p:nvSpPr>
          <p:cNvPr id="3" name="Shape 1"/>
          <p:cNvSpPr/>
          <p:nvPr/>
        </p:nvSpPr>
        <p:spPr>
          <a:xfrm>
            <a:off x="960120" y="1874520"/>
            <a:ext cx="1097280" cy="54864"/>
          </a:xfrm>
          <a:prstGeom prst="rect">
            <a:avLst/>
          </a:prstGeom>
          <a:solidFill>
            <a:srgbClr val="E31837"/>
          </a:solidFill>
          <a:ln w="12700">
            <a:solidFill>
              <a:srgbClr val="333333"/>
            </a:solidFill>
            <a:prstDash val="solid"/>
          </a:ln>
        </p:spPr>
      </p:sp>
      <p:sp>
        <p:nvSpPr>
          <p:cNvPr id="4" name="Text 2"/>
          <p:cNvSpPr txBox="1"/>
          <p:nvPr/>
        </p:nvSpPr>
        <p:spPr>
          <a:xfrm>
            <a:off x="960120" y="2057400"/>
            <a:ext cx="10058400" cy="274320"/>
          </a:xfrm>
          <a:prstGeom prst="rect">
            <a:avLst/>
          </a:prstGeom>
          <a:noFill/>
          <a:ln/>
        </p:spPr>
        <p:txBody>
          <a:bodyPr wrap="square" lIns="0" tIns="0" rIns="0" bIns="0" rtlCol="0" anchor="ctr"/>
          <a:lstStyle/>
          <a:p>
            <a:pPr indent="0" marL="0">
              <a:buNone/>
            </a:pPr>
            <a:r>
              <a:rPr lang="en-US" sz="1200" b="1" spc="22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5" name="Text 3"/>
          <p:cNvSpPr txBox="1"/>
          <p:nvPr/>
        </p:nvSpPr>
        <p:spPr>
          <a:xfrm>
            <a:off x="960120" y="2423160"/>
            <a:ext cx="1005840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Qualys CI Lookup Rules</a:t>
            </a:r>
            <a:endParaRPr lang="en-US" sz="4200" dirty="0"/>
          </a:p>
        </p:txBody>
      </p:sp>
      <p:sp>
        <p:nvSpPr>
          <p:cNvPr id="6" name="Text 4"/>
          <p:cNvSpPr txBox="1"/>
          <p:nvPr/>
        </p:nvSpPr>
        <p:spPr>
          <a:xfrm>
            <a:off x="960120" y="333756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7" name="Text 5"/>
          <p:cNvSpPr txBox="1"/>
          <p:nvPr/>
        </p:nvSpPr>
        <p:spPr>
          <a:xfrm>
            <a:off x="960120" y="521208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The contract and the search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51400"/>
          </a:xfrm>
          <a:prstGeom prst="roundRect">
            <a:avLst>
              <a:gd name="adj" fmla="val 113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Contract.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Normalisation.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Ignored classes.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Exactly one.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500" dirty="0"/>
          </a:p>
        </p:txBody>
      </p:sp>
      <p:sp>
        <p:nvSpPr>
          <p:cNvPr id="10" name="Text 8"/>
          <p:cNvSpPr txBox="1"/>
          <p:nvPr/>
        </p:nvSpPr>
        <p:spPr>
          <a:xfrm>
            <a:off x="6277356"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Address tie-break.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Loopback and link-local.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address and virtual server rules refuse 127. and 169.254. before reading anything else.</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Retired records.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Class from the scanned OS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267200"/>
          </a:xfrm>
          <a:prstGeom prst="roundRect">
            <a:avLst>
              <a:gd name="adj" fmla="val 128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classFor(OS).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rules.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400" dirty="0"/>
          </a:p>
        </p:txBody>
      </p:sp>
      <p:sp>
        <p:nvSpPr>
          <p:cNvPr id="10" name="Text 8"/>
          <p:cNvSpPr txBox="1"/>
          <p:nvPr/>
        </p:nvSpPr>
        <p:spPr>
          <a:xfrm>
            <a:off x="6277356"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Appliances.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Load balancer devices.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Host name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Serials, phones, controllers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93920"/>
          </a:xfrm>
          <a:prstGeom prst="roundRect">
            <a:avLst>
              <a:gd name="adj" fmla="val 116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Placeholder serials.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Cisco phones.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Other phones and scanners.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400" dirty="0"/>
          </a:p>
        </p:txBody>
      </p:sp>
      <p:sp>
        <p:nvSpPr>
          <p:cNvPr id="10" name="Text 8"/>
          <p:cNvSpPr txBox="1"/>
          <p:nvPr/>
        </p:nvSpPr>
        <p:spPr>
          <a:xfrm>
            <a:off x="6277356"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Management controllers.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Network interfaces.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Virtual servers, names, addresses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29480"/>
          </a:xfrm>
          <a:prstGeom prst="roundRect">
            <a:avLst>
              <a:gd name="adj" fmla="val 11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Virtual server sign.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Twins.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Member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Service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Never reads the pool. Attaches the one live virtual server record; two live twins decline.</a:t>
            </a:r>
            <a:endParaRPr lang="en-US" sz="1450" dirty="0"/>
          </a:p>
        </p:txBody>
      </p:sp>
      <p:sp>
        <p:nvSpPr>
          <p:cNvPr id="10" name="Text 8"/>
          <p:cNvSpPr txBox="1"/>
          <p:nvPr/>
        </p:nvSpPr>
        <p:spPr>
          <a:xfrm>
            <a:off x="6277356"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Names.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Addresses.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Last resort.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4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The chain at a glance: first rule to answer wins</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914400"/>
        </p:xfrm>
        <a:graphic>
          <a:graphicData uri="http://schemas.openxmlformats.org/drawingml/2006/table">
            <a:tbl>
              <a:tblPr/>
              <a:tblGrid>
                <a:gridCol w="640080"/>
                <a:gridCol w="2743200"/>
                <a:gridCol w="2103120"/>
                <a:gridCol w="5696712"/>
              </a:tblGrid>
              <a:tr h="224028">
                <a:tc>
                  <a:txBody>
                    <a:bodyPr/>
                    <a:lstStyle/>
                    <a:p>
                      <a:pPr indent="0" marL="0">
                        <a:buNone/>
                      </a:pPr>
                      <a:r>
                        <a:rPr lang="en-US" sz="1000" b="1" dirty="0">
                          <a:solidFill>
                            <a:srgbClr val="FFFFFF"/>
                          </a:solidFill>
                          <a:latin typeface="Arial" pitchFamily="34" charset="0"/>
                          <a:ea typeface="Arial" pitchFamily="34" charset="-122"/>
                          <a:cs typeface="Arial" pitchFamily="34" charset="-120"/>
                        </a:rPr>
                        <a:t>Order</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Rule</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Returns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175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180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Cisco IP Phone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label sep +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owning that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Layered DNS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reached through DNS Name, IP Address and adapter records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whose class agrees with the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Device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or Imaging Hardware CI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420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Management Interface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minus its controller suffix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Network Interface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Network Gear or Load Balancer named with the longest prefix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Member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real server behind every member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Service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live Load Balancer Service record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address,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Adapter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owning an adapter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740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Layered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behind an IP Address record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850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Broad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any class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02920" y="6217920"/>
            <a:ext cx="11183112" cy="219456"/>
          </a:xfrm>
          <a:prstGeom prst="rect">
            <a:avLst/>
          </a:prstGeom>
          <a:noFill/>
          <a:ln/>
        </p:spPr>
        <p:txBody>
          <a:bodyPr wrap="square" lIns="0" tIns="0" rIns="0" bIns="0" rtlCol="0" anchor="ctr"/>
          <a:lstStyle/>
          <a:p>
            <a:pPr indent="0" marL="0">
              <a:buNone/>
            </a:pPr>
            <a:r>
              <a:rPr lang="en-US" sz="950" dirty="0">
                <a:solidFill>
                  <a:srgbClr val="6E7279"/>
                </a:solidFill>
                <a:latin typeface="Arial" pitchFamily="34" charset="0"/>
                <a:ea typeface="Arial" pitchFamily="34" charset="-122"/>
                <a:cs typeface="Arial" pitchFamily="34" charset="-120"/>
              </a:rPr>
              <a:t>After the USEM rules the platform's own rules run (FQDN, NetBIOS, DNS). A rule that returns nothing hands the host to the next one.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opens the chain because a unique serial inside the right class is the strongest identifier the feed offers.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plus sourcePayload.OS; the IP and DNS fields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none, it opens the chain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Hardware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25,257</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86960"/>
          </a:xfrm>
          <a:prstGeom prst="roundRect">
            <a:avLst>
              <a:gd name="adj" fmla="val 11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400" dirty="0"/>
          </a:p>
        </p:txBody>
      </p:sp>
      <p:sp>
        <p:nvSpPr>
          <p:cNvPr id="10" name="Text 8"/>
          <p:cNvSpPr txBox="1"/>
          <p:nvPr/>
        </p:nvSpPr>
        <p:spPr>
          <a:xfrm>
            <a:off x="6277356"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5   Class from the OS.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6   Open the class table.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7   Query the serial inside the class.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8   Exactly one row.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SourcePayload.OS is empty or contains none of the classFor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text holds three or more '/'-separated guesses (split('/').length &gt; 2)</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that class (sub-classes included, ignored classes excluded) carries the serial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Serial Number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usvmapcftmrc15.ssc.ext.bankofamerica.com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SDI000002148411</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30.122.224.209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39 43 40 ea 20 22-2b 99 7d 0f 4e e1 9e 59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06:05:16</a:t>
            </a:r>
            <a:endParaRPr lang="en-US" sz="1050" dirty="0"/>
          </a:p>
        </p:txBody>
      </p:sp>
      <p:sp>
        <p:nvSpPr>
          <p:cNvPr id="17" name="Text 15">
            <a:hlinkClick r:id="rId1" tooltip="https://bofasecopsdev.service-now.com/sn_sec_cmn_src_ci_list.do?sysparm_query=number=SDI00000214841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39 43 40 ea 20 22-2b 99 7d 0f 4e e1 9e 59"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usvmapcftmrc15 [win_server] ip 30.122.224.209 -&gt;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usvmapcftmrc15</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usvmapcftmrc15.ssc.ext.bankofamerica.com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30.122.224.209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39 43 40 ea 20 22-2b 99 7d 0f 4e e1 9e 59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7e63ec2a3b84e250d5062b64c3e45a1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usvmapcftmrc15.ssc.ext.bankofamerica.com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df0ab42ebb6c714017ff4d7cad0cd9f" history="1" highlightClick="0" endSnd="0">
                  <a:extLst>
                    <a:ext uri="{A12FA001-AC4F-418D-AE19-62706E023703}">
                      <ahyp:hlinkClr xmlns:ahyp="http://schemas.microsoft.com/office/drawing/2018/hyperlinkcolor" val="tx"/>
                    </a:ext>
                  </a:extLst>
                </a:hlinkClick>
              </a:rPr>
              <a:t>SDI000002148411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8aae840f47224710a1a9295b416d43f9" history="1" highlightClick="0" endSnd="0">
                  <a:extLst>
                    <a:ext uri="{A12FA001-AC4F-418D-AE19-62706E023703}">
                      <ahyp:hlinkClr xmlns:ahyp="http://schemas.microsoft.com/office/drawing/2018/hyperlinkcolor" val="tx"/>
                    </a:ext>
                  </a:extLst>
                </a:hlinkClick>
              </a:rPr>
              <a:t>BOFA Serial Number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usvmapcftmrc15</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"VMware-42 0c 39 43 40 ea 20 22-2b 99 7d 0f 4e e1 9e 59"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usvmapcftmrc15 [win_server] ip 30.122.224.209 -&gt;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serial_number%3DVMware-42%200c%2039%2043%2040%20ea%2020%2022-2b%2099%207d%200f%204e%20e1%209e%2059" history="1" highlightClick="0" endSnd="0">
                            <a:extLst>
                              <a:ext uri="{A12FA001-AC4F-418D-AE19-62706E023703}">
                                <ahyp:hlinkClr xmlns:ahyp="http://schemas.microsoft.com/office/drawing/2018/hyperlinkcolor" val="tx"/>
                              </a:ext>
                            </a:extLst>
                          </a:hlinkClick>
                        </a:rPr>
                        <a:t>win server: serial_number=VMware-42 0c 39 43 40 ea 20 22-2b 99 7d 0f 4e e1 9e 59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usvmapcftmrc15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exists for hosts whose OS gives no usable class (unauthenticated scans listing several guesses) and for CIs that sit in a different class than the OS suggests; its only safety is that the serial must belong to exactly one CI in the whole tree.</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only; the OS, IP and DNS fields of the payload are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Cisco IP Phone MAC</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574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32680"/>
          </a:xfrm>
          <a:prstGeom prst="roundRect">
            <a:avLst>
              <a:gd name="adj" fmla="val 111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500" dirty="0"/>
          </a:p>
        </p:txBody>
      </p:sp>
      <p:sp>
        <p:nvSpPr>
          <p:cNvPr id="10" name="Text 8"/>
          <p:cNvSpPr txBox="1"/>
          <p:nvPr/>
        </p:nvSpPr>
        <p:spPr>
          <a:xfrm>
            <a:off x="6277356"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serial across the hardware tree.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Exactly one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606040"/>
          </a:xfrm>
          <a:prstGeom prst="roundRect">
            <a:avLst>
              <a:gd name="adj" fmla="val 21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2768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(ignored classes excluded) carries the serial</a:t>
            </a:r>
            <a:endParaRPr lang="en-US" sz="1500" dirty="0"/>
          </a:p>
        </p:txBody>
      </p:sp>
      <p:sp>
        <p:nvSpPr>
          <p:cNvPr id="13" name="Text 11"/>
          <p:cNvSpPr txBox="1"/>
          <p:nvPr/>
        </p:nvSpPr>
        <p:spPr>
          <a:xfrm>
            <a:off x="6277356"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1500" dirty="0"/>
          </a:p>
        </p:txBody>
      </p:sp>
      <p:sp>
        <p:nvSpPr>
          <p:cNvPr id="14" name="Shape 12"/>
          <p:cNvSpPr/>
          <p:nvPr/>
        </p:nvSpPr>
        <p:spPr>
          <a:xfrm>
            <a:off x="502920" y="42793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2793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Cisco IP Phone MAC</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wb9492p203.gwm.bankofamerica.com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linux_server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SDI000002368092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wb9492p203.gwm.bankofamerica.com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Ubuntu/Linux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02:19:45</a:t>
            </a:r>
            <a:endParaRPr lang="en-US" sz="1200" dirty="0"/>
          </a:p>
        </p:txBody>
      </p:sp>
      <p:sp>
        <p:nvSpPr>
          <p:cNvPr id="17" name="Text 15">
            <a:hlinkClick r:id="rId1" tooltip="https://bofasecopsdev.service-now.com/sn_sec_cmn_src_ci_list.do?sysparm_query=number=SDI0000023680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"MXBCS730XY"</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npifdcd73 [printer] ip 30.218.145.248 -&gt;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npifdcd73</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Color LaserJet MFP X57945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694be8342bc6ae54d50dffbdbe91bf87"/>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wb9492p203.gwm.bankofamerica.com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1de8581e93fa4b549110fe584dba10f7" history="1" highlightClick="0" endSnd="0">
                  <a:extLst>
                    <a:ext uri="{A12FA001-AC4F-418D-AE19-62706E023703}">
                      <ahyp:hlinkClr xmlns:ahyp="http://schemas.microsoft.com/office/drawing/2018/hyperlinkcolor" val="tx"/>
                    </a:ext>
                  </a:extLst>
                </a:hlinkClick>
              </a:rPr>
              <a:t>SDI000002368092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bb3ac4b47624710a1a9295b416d4304" history="1" highlightClick="0" endSnd="0">
                  <a:extLst>
                    <a:ext uri="{A12FA001-AC4F-418D-AE19-62706E023703}">
                      <ahyp:hlinkClr xmlns:ahyp="http://schemas.microsoft.com/office/drawing/2018/hyperlinkcolor" val="tx"/>
                    </a:ext>
                  </a:extLst>
                </a:hlinkClick>
              </a:rPr>
              <a:t>BOFA Serial Number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npifdcd73</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read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scanned serial (sourceValue), trims it, and refuses an empty value, one shorter than four characters or a vendor placeholder from the list in the script.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"MXBCS730XY"</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Class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whole hardware tree, the OS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serial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serial_number equal to the serial, the ignored classes (property sn_sec_cmn.ignoreCIClass) left out. next() then hasNext(): exactly one row is returned; none, or two or more,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npifdcd73 [printer] ip 30.218.145.248 -&gt;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serial_number%3DMXBCS730XY" history="1" highlightClick="0" endSnd="0">
                            <a:extLst>
                              <a:ext uri="{A12FA001-AC4F-418D-AE19-62706E023703}">
                                <ahyp:hlinkClr xmlns:ahyp="http://schemas.microsoft.com/office/drawing/2018/hyperlinkcolor" val="tx"/>
                              </a:ext>
                            </a:extLst>
                          </a:hlinkClick>
                        </a:rPr>
                        <a:t>Hardware: serial_number=MXBCS730XY</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npifdcd73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Cisco Unified CM device-name convention: the first DNS label is SEP followed by the phone's MAC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serial number rules (phones report no serial) and before the FQDN and hostname rules so a phone label is never tried as a server name; it searches only IP Phone CIs, so a MAC clash can never pull in a switch or a server.</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Serial Number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Class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196,849</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Phone label test.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MAC rebuilt in four spellings.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Attempt 1: adapter owned by an IP phone.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Attempt 1 decision.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Attempt 2: MAC on the phone record.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Attempt 3: Unified CM device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IP Phone is found by adapter MAC, by the mac_address field or by the device name.</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name attempt finds two or more cmdb_ci_ip_phone records named with the device name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sep6c710d8adc3b.ipt.bofa.com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SDI000002627752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sep6c710d8adc3b.ipt.bofa.com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03:28:09</a:t>
            </a:r>
            <a:endParaRPr lang="en-US" sz="1200" dirty="0"/>
          </a:p>
        </p:txBody>
      </p:sp>
      <p:sp>
        <p:nvSpPr>
          <p:cNvPr id="17" name="Text 15">
            <a:hlinkClick r:id="rId1" tooltip="https://bofasecopsdev.service-now.com/sn_sec_cmn_src_ci_list.do?sysparm_query=number=SDI00000262775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"sep6c710d8adc3b"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6C:71:0D:8A:DC:3B, 6c:71:0d:8a:dc:3b, 6C710D8ADC3B, 6c710d8adc3b</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SEP6C710D8ADC3B</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FCH2346EAUJ</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6c:71:0d:8a:dc:3b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df221eb33be96210df0f0c54c3e45ad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sep6c710d8adc3b.ipt.bofa.com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2998da6eb7ecb14017ff4d7cad0cd60" history="1" highlightClick="0" endSnd="0">
                  <a:extLst>
                    <a:ext uri="{A12FA001-AC4F-418D-AE19-62706E023703}">
                      <ahyp:hlinkClr xmlns:ahyp="http://schemas.microsoft.com/office/drawing/2018/hyperlinkcolor" val="tx"/>
                    </a:ext>
                  </a:extLst>
                </a:hlinkClick>
              </a:rPr>
              <a:t>SDI000002627752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15e000f47224710a1a9295b416d4302" history="1" highlightClick="0" endSnd="0">
                  <a:extLst>
                    <a:ext uri="{A12FA001-AC4F-418D-AE19-62706E023703}">
                      <ahyp:hlinkClr xmlns:ahyp="http://schemas.microsoft.com/office/drawing/2018/hyperlinkcolor" val="tx"/>
                    </a:ext>
                  </a:extLst>
                </a:hlinkClick>
              </a:rPr>
              <a:t>BOFA Cisco IP Phone MAC</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Phone label</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label before the first dot and tests it against "sep" plus twelve hex characters; any other shape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"sep6c710d8adc3b" matches sep plus twelve hex characters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MAC rebuilt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Rebuilds the MAC address from the twelve hex characters in the four spellings the CMDB uses: colon-separated and plain, upper and lower case.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6C:71:0D:8A:DC:3B, 6c:71:0d:8a:dc:3b, 6C710D8ADC3B, 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1: adapter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whose mac_address is one of the four spellings and that belong to a CI; the rule accepts when exactly one owning CI is an IP Phone record.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0 adapters -&gt; 0 phone owners, next attempt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mac_addressIN6C:71:0D:8A:DC:3B,6c:71:0d:8a:dc:3b,6C710D8ADC3B,6c710d8adc3b" history="1" highlightClick="0" endSnd="0">
                            <a:extLst>
                              <a:ext uri="{A12FA001-AC4F-418D-AE19-62706E023703}">
                                <ahyp:hlinkClr xmlns:ahyp="http://schemas.microsoft.com/office/drawing/2018/hyperlinkcolor" val="tx"/>
                              </a:ext>
                            </a:extLst>
                          </a:hlinkClick>
                        </a:rPr>
                        <a:t>Network Adapter: mac_addressIN6C:71:0D:8A:DC:3B,6c:71:0d:8a:dc:3b,6C710D8ADC3B,6c710d8adc3b</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2: phone record with the MAC</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whose own mac_address is one of the four spellings, ignored classes left out;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SEP6C710D8ADC3B [ip_phone] ip 10.188.95.168 -&gt;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_list.do?sysparm_query=mac_addressIN6C:71:0D:8A:DC:3B,6c:71:0d:8a:dc:3b,6C710D8ADC3B,6c710d8adc3b" history="1" highlightClick="0" endSnd="0">
                            <a:extLst>
                              <a:ext uri="{A12FA001-AC4F-418D-AE19-62706E023703}">
                                <ahyp:hlinkClr xmlns:ahyp="http://schemas.microsoft.com/office/drawing/2018/hyperlinkcolor" val="tx"/>
                              </a:ext>
                            </a:extLst>
                          </a:hlinkClick>
                        </a:rPr>
                        <a:t>IP Phone: mac_addressIN6C:71:0D:8A:DC:3B,6c:71:0d:8a:dc:3b,6C710D8ADC3B,6c710d8adc3b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Attempt 3: Unified CM device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Phone records named with the label in upper case, the Unified CM device name; exactly one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SEP6C710D8ADC3B [ip_phone] ip 10.188.95.168 -&gt;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phone_list.do?sysparm_query=name%3DSEP6C710D8ADC3B" history="1" highlightClick="0" endSnd="0">
                            <a:extLst>
                              <a:ext uri="{A12FA001-AC4F-418D-AE19-62706E023703}">
                                <ahyp:hlinkClr xmlns:ahyp="http://schemas.microsoft.com/office/drawing/2018/hyperlinkcolor" val="tx"/>
                              </a:ext>
                            </a:extLst>
                          </a:hlinkClick>
                        </a:rPr>
                        <a:t>IP Phone: name=SEP6C710D8ADC3B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SEP6C710D8ADC3B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name rule because an exact fqdn is the most precise name identifier available once the serial number and Cisco phone rules have declined.</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Cisco IP Phone MAC</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298,764</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Derive the class from the scanned OS.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Query the OS class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9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classFor named is not a valid table (gr.isValid() is false)</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the payload has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two or more of them have ip_address equal to the scanned IP</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wrdne67svtsrv.bankofamerica.com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"wrdne67svtsrv"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SDI000002151366</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2016 Standard 64 bit Edition Version 1607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215136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13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wrdne67svtsrv [win_server] ip 171.206.171.82 -&gt;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wrdne67svtsrv</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ac f5 2d c4 52 26-24 14 b8 b2 8c 6d ee 91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win_server.do?sys_id=2127d1bb3bd8ea90d5062b64c3e45ab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wrdne67svtsrv.bankofamerica.com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3251e706ebb6c714017ff4d7cad0cd1c" history="1" highlightClick="0" endSnd="0">
                  <a:extLst>
                    <a:ext uri="{A12FA001-AC4F-418D-AE19-62706E023703}">
                      <ahyp:hlinkClr xmlns:ahyp="http://schemas.microsoft.com/office/drawing/2018/hyperlinkcolor" val="tx"/>
                    </a:ext>
                  </a:extLst>
                </a:hlinkClick>
              </a:rPr>
              <a:t>SDI000002151366</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804208b47624710a1a9295b416d437e" history="1" highlightClick="0" endSnd="0">
                  <a:extLst>
                    <a:ext uri="{A12FA001-AC4F-418D-AE19-62706E023703}">
                      <ahyp:hlinkClr xmlns:ahyp="http://schemas.microsoft.com/office/drawing/2018/hyperlinkcolor" val="tx"/>
                    </a:ext>
                  </a:extLst>
                </a:hlinkClick>
              </a:rPr>
              <a:t>BOFA FQDN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wrdne67svtsrv</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classFor(sourcePayload.OS) turns the OS text "Windows Server 2016 Standard 64 bit Edition Version 1607"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wrdne67svtsrv [win_server] ip 171.206.171.82 -&gt;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fqdn%3Dwrdne67svtsrv.bankofamerica.com" history="1" highlightClick="0" endSnd="0">
                            <a:extLst>
                              <a:ext uri="{A12FA001-AC4F-418D-AE19-62706E023703}">
                                <ahyp:hlinkClr xmlns:ahyp="http://schemas.microsoft.com/office/drawing/2018/hyperlinkcolor" val="tx"/>
                              </a:ext>
                            </a:extLst>
                          </a:hlinkClick>
                        </a:rPr>
                        <a:t>win server: fqdn=wrdne67svtsrv.bankofamerica.com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wrdne67svtsrv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FQDN Class Match because the class-restricted search is the more precise of the two.</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FQDN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Hostname Domain Class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82,224</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Query cmdb_ci_hardware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GlideRecord('cmdb_ci_hardware').isValid() is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the payload has no IP</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lclte0ln.bankofamerica.com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"lclte0ln" is not sep + 12 hex)  ·  FQDN (OS "EulerOS / Ubuntu / Fedora / Tiny Core Linux / Linux 3.x / IBM / FortiSOAR / F5 Networks Big-IP / Paloalto networks Global Protect PAN-OS"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SDI000003651953</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50" dirty="0">
                <a:solidFill>
                  <a:srgbClr val="4D4F53"/>
                </a:solidFill>
                <a:latin typeface="Arial" pitchFamily="34" charset="0"/>
                <a:ea typeface="Arial" pitchFamily="34" charset="-122"/>
                <a:cs typeface="Arial" pitchFamily="34" charset="-120"/>
              </a:rPr>
              <a:t>lclte0ln.bankofamerica.com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171.206.171.75</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50" dirty="0">
                <a:solidFill>
                  <a:srgbClr val="4D4F53"/>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50" dirty="0">
                <a:solidFill>
                  <a:srgbClr val="4D4F53"/>
                </a:solidFill>
                <a:latin typeface="Arial" pitchFamily="34" charset="0"/>
                <a:ea typeface="Arial" pitchFamily="34" charset="-122"/>
                <a:cs typeface="Arial" pitchFamily="34" charset="-120"/>
              </a:rPr>
              <a:t>2026-09-21 05:58:21</a:t>
            </a:r>
            <a:endParaRPr lang="en-US" sz="1150" dirty="0"/>
          </a:p>
        </p:txBody>
      </p:sp>
      <p:sp>
        <p:nvSpPr>
          <p:cNvPr id="17" name="Text 15">
            <a:hlinkClick r:id="rId1" tooltip="https://bofasecopsdev.service-now.com/sn_sec_cmn_src_ci_list.do?sysparm_query=number=SDI0000036519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9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"lclte0ln.bankofamerica.com";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lclte0ln [linux_server] ip 171.206.171.75 -&gt;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lclte0ln</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lclte0ln.bankofamerica.com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171.206.171.75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87 31 94 93 a6 2d-b6 4d 9a dc 9e ef a3 6c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e43c52133b146a90d5062b64c3e45a2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lclte0ln.bankofamerica.com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4137e33930fcb909110fe584dba108f" history="1" highlightClick="0" endSnd="0">
                  <a:extLst>
                    <a:ext uri="{A12FA001-AC4F-418D-AE19-62706E023703}">
                      <ahyp:hlinkClr xmlns:ahyp="http://schemas.microsoft.com/office/drawing/2018/hyperlinkcolor" val="tx"/>
                    </a:ext>
                  </a:extLst>
                </a:hlinkClick>
              </a:rPr>
              <a:t>SDI000003651953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b54248b47624710a1a9295b416d4362" history="1" highlightClick="0" endSnd="0">
                  <a:extLst>
                    <a:ext uri="{A12FA001-AC4F-418D-AE19-62706E023703}">
                      <ahyp:hlinkClr xmlns:ahyp="http://schemas.microsoft.com/office/drawing/2018/hyperlinkcolor" val="tx"/>
                    </a:ext>
                  </a:extLst>
                </a:hlinkClick>
              </a:rPr>
              <a:t>BOFA FQDN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lclte0ln</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and trims the DNS name; a name without a dot is refused.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"lclte0ln.bankofamerica.com";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fqdn equal to the DNS name, ignored classes left out. One row is returned; among several rows the one whose ip_address equals the scanned IP is taken when exactly one does,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lclte0ln [linux_server] ip 171.206.171.75 -&gt;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fqdn%3Dlclte0ln.bankofamerica.com" history="1" highlightClick="0" endSnd="0">
                            <a:extLst>
                              <a:ext uri="{A12FA001-AC4F-418D-AE19-62706E023703}">
                                <ahyp:hlinkClr xmlns:ahyp="http://schemas.microsoft.com/office/drawing/2018/hyperlinkcolor" val="tx"/>
                              </a:ext>
                            </a:extLst>
                          </a:hlinkClick>
                        </a:rPr>
                        <a:t>Hardware: fqdn=lclte0ln.bankofamerica.com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lclte0ln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exact-fqdn rules because it is the strictest name-based search that still tolerates a CI that never had the fqdn copied into its name.</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133,745</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Query the class table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291840"/>
          </a:xfrm>
          <a:prstGeom prst="roundRect">
            <a:avLst>
              <a:gd name="adj" fmla="val 16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9626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the OS-implied class table is not valid</a:t>
            </a:r>
            <a:endParaRPr lang="en-US" sz="1500" dirty="0"/>
          </a:p>
        </p:txBody>
      </p:sp>
      <p:sp>
        <p:nvSpPr>
          <p:cNvPr id="13" name="Text 11"/>
          <p:cNvSpPr txBox="1"/>
          <p:nvPr/>
        </p:nvSpPr>
        <p:spPr>
          <a:xfrm>
            <a:off x="6277356"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1500" dirty="0"/>
          </a:p>
        </p:txBody>
      </p:sp>
      <p:sp>
        <p:nvSpPr>
          <p:cNvPr id="14" name="Shape 12"/>
          <p:cNvSpPr/>
          <p:nvPr/>
        </p:nvSpPr>
        <p:spPr>
          <a:xfrm>
            <a:off x="502920" y="49651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9651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lsdnab00xsdi001.sdi.corp.bankofamerica.com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"lsdnab00xsdi001"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SDI000003576701</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lsdnab00xsdi001.sdi.corp.bankofamerica.com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06:07:37</a:t>
            </a:r>
            <a:endParaRPr lang="en-US" sz="1200" dirty="0"/>
          </a:p>
        </p:txBody>
      </p:sp>
      <p:sp>
        <p:nvSpPr>
          <p:cNvPr id="17" name="Text 15">
            <a:hlinkClick r:id="rId1" tooltip="https://bofasecopsdev.service-now.com/sn_sec_cmn_src_ci_list.do?sysparm_query=number=SDI00000357670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7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lsdnab00xsdi001 [linux_server] ip 30.39.246.10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lsdnab00xsdi001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MXQ2500GNX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30c82e632b91aa14d50dffbdbe91bfa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lsdnab00xsdi001.sdi.corp.bankofamerica.com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635d6563b47039c9289d164c3e45ad7" history="1" highlightClick="0" endSnd="0">
                  <a:extLst>
                    <a:ext uri="{A12FA001-AC4F-418D-AE19-62706E023703}">
                      <ahyp:hlinkClr xmlns:ahyp="http://schemas.microsoft.com/office/drawing/2018/hyperlinkcolor" val="tx"/>
                    </a:ext>
                  </a:extLst>
                </a:hlinkClick>
              </a:rPr>
              <a:t>SDI000003576701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194e48b47624710a1a9295b416d4327" history="1" highlightClick="0" endSnd="0">
                  <a:extLst>
                    <a:ext uri="{A12FA001-AC4F-418D-AE19-62706E023703}">
                      <ahyp:hlinkClr xmlns:ahyp="http://schemas.microsoft.com/office/drawing/2018/hyperlinkcolor" val="tx"/>
                    </a:ext>
                  </a:extLst>
                </a:hlinkClick>
              </a:rPr>
              <a:t>BOFA Hostname Domain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lsdnab00xsdi001</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classFor(sourcePayload.OS) turns the OS text "Red Hat Enterprise Linux CoreOS 4.20"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lsdnab00xsdi001 [linux_server] ip 30.39.246.10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nux_server_list.do?sysparm_query=name%3Dlsdnab00xsdi001" history="1" highlightClick="0" endSnd="0">
                            <a:extLst>
                              <a:ext uri="{A12FA001-AC4F-418D-AE19-62706E023703}">
                                <ahyp:hlinkClr xmlns:ahyp="http://schemas.microsoft.com/office/drawing/2018/hyperlinkcolor" val="tx"/>
                              </a:ext>
                            </a:extLst>
                          </a:hlinkClick>
                        </a:rPr>
                        <a:t>linux server: name=lsdnab00xsdi001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lsdnab00xsdi001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same short-hostname-plus-domain agreement, but across all of cmdb_ci_hardware, for CIs classed generically (Server, Computer) or differently from what the scanned OS implies.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the class-scoped variant so a class-consistent hit always wins first, and precedes the layered DNS and plain hostname rules, which need less.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97,445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cmdb_ci_hardware is not valid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Layered DNS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lsdnab03xsdi009.sdi.corp.bankofamerica.com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"lsdnab03xsdi009"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"lsdnab03xsdi009")</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SDI000003576283</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lsdnab03xsdi009.sdi.corp.bankofamerica.com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06:06:29</a:t>
            </a:r>
            <a:endParaRPr lang="en-US" sz="1200" dirty="0"/>
          </a:p>
        </p:txBody>
      </p:sp>
      <p:sp>
        <p:nvSpPr>
          <p:cNvPr id="17" name="Text 15">
            <a:hlinkClick r:id="rId1" tooltip="https://bofasecopsdev.service-now.com/sn_sec_cmn_src_ci_list.do?sysparm_query=number=SDI00000357628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"lsdnab03xsdi009",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lsdnab03xsdi009 [server] ip 30.39.240.18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lsdnab03xsdi009</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2M2D2R024K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35485a949310fe1026fbfbb4ed03d64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lsdnab03xsdi009.sdi.corp.bankofamerica.com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8059a962bcf0350a277fab2f291bf8c" history="1" highlightClick="0" endSnd="0">
                  <a:extLst>
                    <a:ext uri="{A12FA001-AC4F-418D-AE19-62706E023703}">
                      <ahyp:hlinkClr xmlns:ahyp="http://schemas.microsoft.com/office/drawing/2018/hyperlinkcolor" val="tx"/>
                    </a:ext>
                  </a:extLst>
                </a:hlinkClick>
              </a:rPr>
              <a:t>SDI000003576283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6d05a88b47624710a1a9295b416d43eb" history="1" highlightClick="0" endSnd="0">
                  <a:extLst>
                    <a:ext uri="{A12FA001-AC4F-418D-AE19-62706E023703}">
                      <ahyp:hlinkClr xmlns:ahyp="http://schemas.microsoft.com/office/drawing/2018/hyperlinkcolor" val="tx"/>
                    </a:ext>
                  </a:extLst>
                </a:hlinkClick>
              </a:rPr>
              <a:t>BOFA Hostname Domain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lsdnab03xsdi009</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Split</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Splits the DNS name at the first dot into the host label and the domain; no domain means null. The search covers the whole Hardware tree (cmdb_ci_hardware and every sub-class).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host "lsdnab03xsdi009", domain "sdi.corp.bankofamerica.com";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A row agrees when its fqdn equals the DNS name, its dns_domain equals the domain, or its fqdn starts with the label and holds the domain. One agreeing row is returned; among several the one on the scanned address; else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lsdnab03xsdi009 [server] ip 30.39.240.18 domain "sdi.corp.bankofamerica.com" agrees -&gt; 1 agree on the domain</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sdnab03xsdi009" history="1" highlightClick="0" endSnd="0">
                            <a:extLst>
                              <a:ext uri="{A12FA001-AC4F-418D-AE19-62706E023703}">
                                <ahyp:hlinkClr xmlns:ahyp="http://schemas.microsoft.com/office/drawing/2018/hyperlinkcolor" val="tx"/>
                              </a:ext>
                            </a:extLst>
                          </a:hlinkClick>
                        </a:rPr>
                        <a:t>Hardware: name=lsdnab03xsdi009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lsdnab03xsdi009</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between the rules that read fqdn / hostname-plus-domain on the CI record itself and the plain hostname rules; the scanned OS is only a preference applied to the CI at the end of the chain, never a query filter.</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1150" dirty="0"/>
          </a:p>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115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114,574</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Normalise the DNS value and guard bare labels.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Read the scanned IP for the tie-break only.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Load the ignored class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Derive the preferred class from the OS.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DNS Name to IP Address link table.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Walk every row and count distinct agreeing CIs.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One CI: return it unless it is a load balancer.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Several CIs: the scanned IP breaks the tie.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No CI: decline.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863340"/>
          </a:xfrm>
          <a:prstGeom prst="roundRect">
            <a:avLst>
              <a:gd name="adj" fmla="val 142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5341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lower-cased value holds no '.' (a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Cmdb_ip_address_dns_name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cmdb_ip_address_dns_name row has dns_name.name equal to the value with a CI at ip_address.nic.cmdb_ci</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1500" dirty="0"/>
          </a:p>
        </p:txBody>
      </p:sp>
      <p:sp>
        <p:nvSpPr>
          <p:cNvPr id="13" name="Text 11"/>
          <p:cNvSpPr txBox="1"/>
          <p:nvPr/>
        </p:nvSpPr>
        <p:spPr>
          <a:xfrm>
            <a:off x="6277356"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Exactly one CI is reached but its sys_id exists on cmdb_ci_lb (load balancer device)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two or more of them are reached through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single one reached through the scanned IP exists on cmdb_ci_lb</a:t>
            </a:r>
            <a:endParaRPr lang="en-US" sz="1500" dirty="0"/>
          </a:p>
        </p:txBody>
      </p:sp>
      <p:sp>
        <p:nvSpPr>
          <p:cNvPr id="14" name="Shape 12"/>
          <p:cNvSpPr/>
          <p:nvPr/>
        </p:nvSpPr>
        <p:spPr>
          <a:xfrm>
            <a:off x="502920" y="55366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5366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ca6-229-01-m01.bankofamerica.com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"ca6-229-01-m01"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"ca6-229-01-m01", none with the domain "bankofamerica.com")</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SDI000003582887</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ca6-229-01-m01.bankofamerica.com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JetDirect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05:57:10</a:t>
            </a:r>
            <a:endParaRPr lang="en-US" sz="1200" dirty="0"/>
          </a:p>
        </p:txBody>
      </p:sp>
      <p:sp>
        <p:nvSpPr>
          <p:cNvPr id="17" name="Text 15">
            <a:hlinkClick r:id="rId1" tooltip="https://bofasecopsdev.service-now.com/sn_sec_cmn_src_ci_list.do?sysparm_query=number=SDI0000035828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828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ca6-229-01-m01</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MXBCR4L0F3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b38a64fc2b86ae54d50dffbdbe91bf0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ca6-229-01-m01.bankofamerica.com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c6c5e5a9303cb14cfcebc5a7bba10c0" history="1" highlightClick="0" endSnd="0">
                  <a:extLst>
                    <a:ext uri="{A12FA001-AC4F-418D-AE19-62706E023703}">
                      <ahyp:hlinkClr xmlns:ahyp="http://schemas.microsoft.com/office/drawing/2018/hyperlinkcolor" val="tx"/>
                    </a:ext>
                  </a:extLst>
                </a:hlinkClick>
              </a:rPr>
              <a:t>SDI000003582887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bab564cb47624710a1a9295b416d43a4" history="1" highlightClick="0" endSnd="0">
                  <a:extLst>
                    <a:ext uri="{A12FA001-AC4F-418D-AE19-62706E023703}">
                      <ahyp:hlinkClr xmlns:ahyp="http://schemas.microsoft.com/office/drawing/2018/hyperlinkcolor" val="tx"/>
                    </a:ext>
                  </a:extLst>
                </a:hlinkClick>
              </a:rPr>
              <a:t>BOFA Layered DNS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ca6-229-01-m01</a:t>
            </a:r>
            <a:endParaRPr lang="en-US" sz="1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classFor(OS) is kept as a preference: the CI reached must sit in that class or a parent of it; a Linux fingerprint also accepts network gear, load balancers and storage.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DNS Name -&gt; IP Address -&gt; adapter -&gt; CI</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link table cmdb_ip_address_dns_name for the DNS Name record named like the host and follows IP Address -&gt; Network Adapter -&gt; CI, ignored classes left out; the owners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ip_address_dns_name_list.do?sysparm_query=dns_name.name%3Dca6-229-01-m01.bankofamerica.com" history="1" highlightClick="0" endSnd="0">
                            <a:extLst>
                              <a:ext uri="{A12FA001-AC4F-418D-AE19-62706E023703}">
                                <ahyp:hlinkClr xmlns:ahyp="http://schemas.microsoft.com/office/drawing/2018/hyperlinkcolor" val="tx"/>
                              </a:ext>
                            </a:extLst>
                          </a:hlinkClick>
                        </a:rPr>
                        <a:t>DNS Name link: dns_name.name=ca6-229-01-m01.bankofamerica.com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ip_address_dns_name.do?sys_id=11926a8893373a1079dafd8ab903d6ce" history="1" highlightClick="0" endSnd="0">
                            <a:extLst>
                              <a:ext uri="{A12FA001-AC4F-418D-AE19-62706E023703}">
                                <ahyp:hlinkClr xmlns:ahyp="http://schemas.microsoft.com/office/drawing/2018/hyperlinkcolor" val="tx"/>
                              </a:ext>
                            </a:extLst>
                          </a:hlinkClick>
                        </a:rPr>
                        <a:t>ca6-229-01-m01.bankofamerica.com</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6ca25a883b3b7a146e084b9aa4e45afa" history="1" highlightClick="0" endSnd="0">
                            <a:extLst>
                              <a:ext uri="{A12FA001-AC4F-418D-AE19-62706E023703}">
                                <ahyp:hlinkClr xmlns:ahyp="http://schemas.microsoft.com/office/drawing/2018/hyperlinkcolor" val="tx"/>
                              </a:ext>
                            </a:extLst>
                          </a:hlinkClick>
                        </a:rPr>
                        <a:t>HP ETHERNET MULTI-ENVIRONMENT,ROM none,JETDIRECT,JD153,EEPROM JSI25080326</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ca6-229-01-m01</a:t>
                      </a:r>
                      <a:pPr indent="0" marL="0">
                        <a:buNone/>
                      </a:pPr>
                      <a:r>
                        <a:rPr lang="en-US" sz="900" dirty="0">
                          <a:solidFill>
                            <a:srgbClr val="6E7279"/>
                          </a:solidFill>
                          <a:latin typeface="Arial" pitchFamily="34" charset="0"/>
                          <a:ea typeface="Arial" pitchFamily="34" charset="-122"/>
                          <a:cs typeface="Arial" pitchFamily="34" charset="-120"/>
                        </a:rPr>
                        <a:t> [printer]</a:t>
                      </a:r>
                      <a:pPr indent="0" marL="0">
                        <a:buNone/>
                      </a:pPr>
                      <a:r>
                        <a:rPr lang="en-US" sz="900" dirty="0">
                          <a:solidFill>
                            <a:srgbClr val="6E7279"/>
                          </a:solidFill>
                          <a:latin typeface="Arial" pitchFamily="34" charset="0"/>
                          <a:ea typeface="Arial" pitchFamily="34" charset="-122"/>
                          <a:cs typeface="Arial" pitchFamily="34" charset="-120"/>
                        </a:rPr>
                        <a:t> (DNS Name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dns_name.do?sys_id=d5926a8893373a1079dafd8ab903d6cd" history="1" highlightClick="0" endSnd="0">
                            <a:extLst>
                              <a:ext uri="{A12FA001-AC4F-418D-AE19-62706E023703}">
                                <ahyp:hlinkClr xmlns:ahyp="http://schemas.microsoft.com/office/drawing/2018/hyperlinkcolor" val="tx"/>
                              </a:ext>
                            </a:extLst>
                          </a:hlinkClick>
                        </a:rPr>
                        <a:t>ca6-229-01-m01.bankofamerica.com</a:t>
                      </a:r>
                      <a:pPr indent="0" marL="0">
                        <a:buNone/>
                      </a:pPr>
                      <a:r>
                        <a:rPr lang="en-US" sz="900" dirty="0">
                          <a:solidFill>
                            <a:srgbClr val="6E7279"/>
                          </a:solidFill>
                          <a:latin typeface="Arial" pitchFamily="34" charset="0"/>
                          <a:ea typeface="Arial" pitchFamily="34" charset="-122"/>
                          <a:cs typeface="Arial" pitchFamily="34" charset="-120"/>
                        </a:rPr>
                        <a:t>, IP Address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ip_address.do?sys_id=d5a29a883b3b7a146e084b9aa4e45ae2" history="1" highlightClick="0" endSnd="0">
                            <a:extLst>
                              <a:ext uri="{A12FA001-AC4F-418D-AE19-62706E023703}">
                                <ahyp:hlinkClr xmlns:ahyp="http://schemas.microsoft.com/office/drawing/2018/hyperlinkcolor" val="tx"/>
                              </a:ext>
                            </a:extLst>
                          </a:hlinkClick>
                        </a:rPr>
                        <a:t>10.166.185.8</a:t>
                      </a:r>
                      <a:pPr indent="0" marL="0">
                        <a:buNone/>
                      </a:pPr>
                      <a:r>
                        <a:rPr lang="en-US" sz="900" dirty="0">
                          <a:solidFill>
                            <a:srgbClr val="6E7279"/>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Exactly one agreeing CI is returned; several are narrowed to the ones reached through the scanned address;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agreeing 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agreement the CI lacks.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domain rules because it is the first rule that accepts a CI carrying only a short name.</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144,102</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Derive the class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Open the class table.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Filter by name and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(empty OS, no keyword hit, or an OS text split by '/' into three or more segments)</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name (gr.hasNext() true)</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wsina1cdreapp</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"wsina1cdreapp" is not sep + 12 hex)  ·  FQDN (no dot in the name)  ·  name + domain (no domain in the name)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"wsina1cdreapp")</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SDI000003129664</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165.40.136.234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06:07:38</a:t>
            </a:r>
            <a:endParaRPr lang="en-US" sz="1200" dirty="0"/>
          </a:p>
        </p:txBody>
      </p:sp>
      <p:sp>
        <p:nvSpPr>
          <p:cNvPr id="17" name="Text 15">
            <a:hlinkClick r:id="rId1" tooltip="https://bofasecopsdev.service-now.com/sn_sec_cmn_src_ci_list.do?sysparm_query=number=SDI0000031296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wsina1cdreapp [win_server] ip 165.40.136.234 -&gt; exactly one, accepted</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wsina1cdreapp</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wsina1cdreapp.corp.bankofamerica.com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950" dirty="0">
                <a:solidFill>
                  <a:srgbClr val="4D4F53"/>
                </a:solidFill>
                <a:latin typeface="Arial" pitchFamily="34" charset="0"/>
                <a:ea typeface="Arial" pitchFamily="34" charset="-122"/>
                <a:cs typeface="Arial" pitchFamily="34" charset="-120"/>
              </a:rPr>
              <a:t>APAC.SDI.CORP.BANKOFAMERICA.COM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165.40.136.234</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VMware-42 17 39 9b 05 4e a1 dd-98 64 d1 69 bb e9 0f 2f</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 Inc. VMware Virtual Platform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win_server.do?sys_id=27e62ee33b5022d0055e3b64c3e45ae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wsina1cdreapp</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2eccbb22b7a4758a277fab2f291bfca" history="1" highlightClick="0" endSnd="0">
                  <a:extLst>
                    <a:ext uri="{A12FA001-AC4F-418D-AE19-62706E023703}">
                      <ahyp:hlinkClr xmlns:ahyp="http://schemas.microsoft.com/office/drawing/2018/hyperlinkcolor" val="tx"/>
                    </a:ext>
                  </a:extLst>
                </a:hlinkClick>
              </a:rPr>
              <a:t>SDI000003129664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1628cb47624710a1a9295b416d438d" history="1" highlightClick="0" endSnd="0">
                  <a:extLst>
                    <a:ext uri="{A12FA001-AC4F-418D-AE19-62706E023703}">
                      <ahyp:hlinkClr xmlns:ahyp="http://schemas.microsoft.com/office/drawing/2018/hyperlinkcolor" val="tx"/>
                    </a:ext>
                  </a:extLst>
                </a:hlinkClick>
              </a:rPr>
              <a:t>BOFA Hostname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wsina1cdreapp</a:t>
            </a:r>
            <a:endParaRPr lang="en-US" sz="1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classFor(sourcePayload.OS) turns the OS text "Windows Server 2019 Standard 64 bit Edition Version 1809 Build 17763"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wsina1cdreapp [win_server] ip 165.40.136.234 -&gt;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name%3Dwsina1cdreapp" history="1" highlightClick="0" endSnd="0">
                            <a:extLst>
                              <a:ext uri="{A12FA001-AC4F-418D-AE19-62706E023703}">
                                <ahyp:hlinkClr xmlns:ahyp="http://schemas.microsoft.com/office/drawing/2018/hyperlinkcolor" val="tx"/>
                              </a:ext>
                            </a:extLst>
                          </a:hlinkClick>
                        </a:rPr>
                        <a:t>win server: name=wsina1cdreapp</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wsina1cdreapp</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Hostname Class Match to reach CIs kept in a parent class (Server, Computer, Hardware) or whose OS gave no class.</a:t>
            </a:r>
            <a:endParaRPr lang="en-US" sz="1500" dirty="0"/>
          </a:p>
        </p:txBody>
      </p:sp>
      <p:sp>
        <p:nvSpPr>
          <p:cNvPr id="13" name="Shape 11"/>
          <p:cNvSpPr/>
          <p:nvPr/>
        </p:nvSpPr>
        <p:spPr>
          <a:xfrm>
            <a:off x="502920" y="3380232"/>
            <a:ext cx="6933529" cy="2992120"/>
          </a:xfrm>
          <a:prstGeom prst="roundRect">
            <a:avLst>
              <a:gd name="adj" fmla="val 183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226060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1400" dirty="0"/>
          </a:p>
        </p:txBody>
      </p:sp>
      <p:sp>
        <p:nvSpPr>
          <p:cNvPr id="17" name="Shape 15"/>
          <p:cNvSpPr/>
          <p:nvPr/>
        </p:nvSpPr>
        <p:spPr>
          <a:xfrm>
            <a:off x="7665049" y="3380232"/>
            <a:ext cx="4020983" cy="2992120"/>
          </a:xfrm>
          <a:prstGeom prst="roundRect">
            <a:avLst>
              <a:gd name="adj" fmla="val 183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125476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p:txBody>
      </p:sp>
      <p:sp>
        <p:nvSpPr>
          <p:cNvPr id="21" name="Text 19"/>
          <p:cNvSpPr txBox="1"/>
          <p:nvPr/>
        </p:nvSpPr>
        <p:spPr>
          <a:xfrm>
            <a:off x="7985089" y="527507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106,626</a:t>
            </a:r>
            <a:endParaRPr lang="en-US" sz="2800" dirty="0"/>
          </a:p>
        </p:txBody>
      </p:sp>
      <p:sp>
        <p:nvSpPr>
          <p:cNvPr id="22" name="Text 20"/>
          <p:cNvSpPr txBox="1"/>
          <p:nvPr/>
        </p:nvSpPr>
        <p:spPr>
          <a:xfrm>
            <a:off x="7985089" y="584200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Derive the OS class as a preference only.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Search the whole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Check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cmdb_ci_hardware or beneath it,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CI carries the same name (gr.hasNext() true), whatever its class or retired state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Device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lrchac09xsdi013.sdi.corp.bankofamerica.com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94104"/>
          </a:xfrm>
          <a:prstGeom prst="roundRect">
            <a:avLst>
              <a:gd name="adj" fmla="val 34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820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"lrchac09xsdi013"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"lrchac09xsdi013.sdi.corp.bankofamerica.com")  ·  host name (no record in linux_server named "lrchac09xsdi013")</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"lrchac09xsdi013" / 1 named "lrchac09xsdi013", none with the domain "sdi.corp.bankofamerica.com")</a:t>
            </a:r>
            <a:endParaRPr lang="en-US" sz="1100" dirty="0"/>
          </a:p>
        </p:txBody>
      </p:sp>
      <p:sp>
        <p:nvSpPr>
          <p:cNvPr id="12" name="Shape 10"/>
          <p:cNvSpPr/>
          <p:nvPr/>
        </p:nvSpPr>
        <p:spPr>
          <a:xfrm>
            <a:off x="502920" y="3185160"/>
            <a:ext cx="2788920" cy="3215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340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614928"/>
            <a:ext cx="457200" cy="0"/>
          </a:xfrm>
          <a:prstGeom prst="line">
            <a:avLst/>
          </a:prstGeom>
          <a:noFill/>
          <a:ln w="19050">
            <a:solidFill>
              <a:srgbClr val="E31837"/>
            </a:solidFill>
            <a:prstDash val="solid"/>
          </a:ln>
        </p:spPr>
      </p:sp>
      <p:sp>
        <p:nvSpPr>
          <p:cNvPr id="15" name="Text 13"/>
          <p:cNvSpPr txBox="1"/>
          <p:nvPr/>
        </p:nvSpPr>
        <p:spPr>
          <a:xfrm>
            <a:off x="740664" y="3660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SDI000003650853</a:t>
            </a:r>
            <a:endParaRPr lang="en-US" sz="1500" dirty="0"/>
          </a:p>
        </p:txBody>
      </p:sp>
      <p:sp>
        <p:nvSpPr>
          <p:cNvPr id="16" name="Text 14"/>
          <p:cNvSpPr txBox="1"/>
          <p:nvPr/>
        </p:nvSpPr>
        <p:spPr>
          <a:xfrm>
            <a:off x="740664" y="4026408"/>
            <a:ext cx="2313432" cy="16611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lrchac09xsdi013.sdi.corp.bankofamerica.com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30.239.5.150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06:01:50</a:t>
            </a:r>
            <a:endParaRPr lang="en-US" sz="1200" dirty="0"/>
          </a:p>
        </p:txBody>
      </p:sp>
      <p:sp>
        <p:nvSpPr>
          <p:cNvPr id="17" name="Text 15">
            <a:hlinkClick r:id="rId1" tooltip="https://bofasecopsdev.service-now.com/sn_sec_cmn_src_ci_list.do?sysparm_query=number=SDI0000036508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85160"/>
            <a:ext cx="4745736"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340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614928"/>
            <a:ext cx="457200" cy="0"/>
          </a:xfrm>
          <a:prstGeom prst="line">
            <a:avLst/>
          </a:prstGeom>
          <a:noFill/>
          <a:ln w="19050">
            <a:solidFill>
              <a:srgbClr val="E31837"/>
            </a:solidFill>
            <a:prstDash val="solid"/>
          </a:ln>
        </p:spPr>
      </p:sp>
      <p:sp>
        <p:nvSpPr>
          <p:cNvPr id="21" name="Text 19"/>
          <p:cNvSpPr txBox="1"/>
          <p:nvPr/>
        </p:nvSpPr>
        <p:spPr>
          <a:xfrm>
            <a:off x="3749040" y="3688080"/>
            <a:ext cx="4233672" cy="2557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"lrchac09xsdi013";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lrchac09xsdi013 [server] -&gt; exactly one, accepted; class server agrees with the OS</a:t>
            </a:r>
            <a:endParaRPr lang="en-US" sz="1300" dirty="0"/>
          </a:p>
        </p:txBody>
      </p:sp>
      <p:sp>
        <p:nvSpPr>
          <p:cNvPr id="22" name="Shape 20"/>
          <p:cNvSpPr/>
          <p:nvPr/>
        </p:nvSpPr>
        <p:spPr>
          <a:xfrm>
            <a:off x="8439912" y="3185160"/>
            <a:ext cx="3246120"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349752"/>
            <a:ext cx="64008" cy="2886456"/>
          </a:xfrm>
          <a:prstGeom prst="rect">
            <a:avLst/>
          </a:prstGeom>
          <a:solidFill>
            <a:srgbClr val="E31837"/>
          </a:solidFill>
          <a:ln w="12700">
            <a:solidFill>
              <a:srgbClr val="333333"/>
            </a:solidFill>
            <a:prstDash val="solid"/>
          </a:ln>
        </p:spPr>
      </p:sp>
      <p:sp>
        <p:nvSpPr>
          <p:cNvPr id="24" name="Text 22"/>
          <p:cNvSpPr txBox="1"/>
          <p:nvPr/>
        </p:nvSpPr>
        <p:spPr>
          <a:xfrm>
            <a:off x="8714232" y="3340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614928"/>
            <a:ext cx="457200" cy="0"/>
          </a:xfrm>
          <a:prstGeom prst="line">
            <a:avLst/>
          </a:prstGeom>
          <a:noFill/>
          <a:ln w="19050">
            <a:solidFill>
              <a:srgbClr val="E31837"/>
            </a:solidFill>
            <a:prstDash val="solid"/>
          </a:ln>
        </p:spPr>
      </p:sp>
      <p:sp>
        <p:nvSpPr>
          <p:cNvPr id="26" name="Text 24"/>
          <p:cNvSpPr txBox="1"/>
          <p:nvPr/>
        </p:nvSpPr>
        <p:spPr>
          <a:xfrm>
            <a:off x="8714232" y="36606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lrchac09xsdi013</a:t>
            </a:r>
            <a:endParaRPr lang="en-US" sz="1500" dirty="0"/>
          </a:p>
        </p:txBody>
      </p:sp>
      <p:sp>
        <p:nvSpPr>
          <p:cNvPr id="27" name="Text 25"/>
          <p:cNvSpPr txBox="1"/>
          <p:nvPr/>
        </p:nvSpPr>
        <p:spPr>
          <a:xfrm>
            <a:off x="8714232" y="39806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300728"/>
            <a:ext cx="2715768" cy="13868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MXQ24509LF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2b66dbe59348b254b096f35e1dba106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lrchac09xsdi013.sdi.corp.bankofamerica.com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b3646affeb4b4350017ff4d7cad0cda0" history="1" highlightClick="0" endSnd="0">
                  <a:extLst>
                    <a:ext uri="{A12FA001-AC4F-418D-AE19-62706E023703}">
                      <ahyp:hlinkClr xmlns:ahyp="http://schemas.microsoft.com/office/drawing/2018/hyperlinkcolor" val="tx"/>
                    </a:ext>
                  </a:extLst>
                </a:hlinkClick>
              </a:rPr>
              <a:t>SDI000003650853</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1c38204f47624710a1a9295b416d4305" history="1" highlightClick="0" endSnd="0">
                  <a:extLst>
                    <a:ext uri="{A12FA001-AC4F-418D-AE19-62706E023703}">
                      <ahyp:hlinkClr xmlns:ahyp="http://schemas.microsoft.com/office/drawing/2018/hyperlinkcolor" val="tx"/>
                    </a:ext>
                  </a:extLst>
                </a:hlinkClick>
              </a:rPr>
              <a:t>BOFA Hostname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lrchac09xsdi013</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Lower-cases the DNS name and takes the label before the first dot. The search covers the whole Hardware tree; classFor(OS) is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"lrchac09xsdi013";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label, ignored classes left out. Exactly one row is returned, and its class must agree with the OS class when the OS gives one (a Linux fingerprint also accepts appliances); none or several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lrchac09xsdi013 [server] -&gt; exactly one, accepted; class server agrees with the OS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rchac09xsdi013" history="1" highlightClick="0" endSnd="0">
                            <a:extLst>
                              <a:ext uri="{A12FA001-AC4F-418D-AE19-62706E023703}">
                                <ahyp:hlinkClr xmlns:ahyp="http://schemas.microsoft.com/office/drawing/2018/hyperlinkcolor" val="tx"/>
                              </a:ext>
                            </a:extLst>
                          </a:hlinkClick>
                        </a:rPr>
                        <a:t>Hardware: name=lrchac09xsdi013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lrchac09xsdi013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USEM Hostname Hardware Match so ordinary hosts are already resolved and only OS-less devices such as Avaya stations (avx plus the tail of the MAC) and scanners reach it.</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25,733</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373880"/>
          </a:xfrm>
          <a:prstGeom prst="roundRect">
            <a:avLst>
              <a:gd name="adj" fmla="val 125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and host label.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Scanned address.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500" dirty="0"/>
          </a:p>
        </p:txBody>
      </p:sp>
      <p:sp>
        <p:nvSpPr>
          <p:cNvPr id="10" name="Text 8"/>
          <p:cNvSpPr txBox="1"/>
          <p:nvPr/>
        </p:nvSpPr>
        <p:spPr>
          <a:xfrm>
            <a:off x="6277356"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OS guard through classFor.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What the OS guard rules out.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Search the two classes by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Collect every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Decision and address tie-break.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948940"/>
          </a:xfrm>
          <a:prstGeom prst="roundRect">
            <a:avLst>
              <a:gd name="adj" fmla="val 18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6197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 or its first label before the dot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1500" dirty="0"/>
          </a:p>
        </p:txBody>
      </p:sp>
      <p:sp>
        <p:nvSpPr>
          <p:cNvPr id="13" name="Text 11"/>
          <p:cNvSpPr txBox="1"/>
          <p:nvPr/>
        </p:nvSpPr>
        <p:spPr>
          <a:xfrm>
            <a:off x="6277356"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two or more of them have ip_address equal to the scanned IP.</a:t>
            </a:r>
            <a:endParaRPr lang="en-US" sz="1500" dirty="0"/>
          </a:p>
        </p:txBody>
      </p:sp>
      <p:sp>
        <p:nvSpPr>
          <p:cNvPr id="14" name="Shape 12"/>
          <p:cNvSpPr/>
          <p:nvPr/>
        </p:nvSpPr>
        <p:spPr>
          <a:xfrm>
            <a:off x="502920" y="46222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6222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Management Interface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avxef52fb.asia.bankofamerica.com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"avxef52fb"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"avxef52fb")  ·  layered DNS (no DNS Name record for "avxef52fb.asia.bankofamerica.com")  ·  host name (OS "not reported" gives no class / no record in the hardware tree named "avxef52fb")</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SDI000003799341</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avxef52fb.asia.bankofamerica.com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05:56:35</a:t>
            </a:r>
            <a:endParaRPr lang="en-US" sz="1200" dirty="0"/>
          </a:p>
        </p:txBody>
      </p:sp>
      <p:sp>
        <p:nvSpPr>
          <p:cNvPr id="17" name="Text 15">
            <a:hlinkClick r:id="rId1" tooltip="https://bofasecopsdev.service-now.com/sn_sec_cmn_src_ci_list.do?sysparm_query=number=SDI00000379934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AVXEF52FB [ip_phone] ip 10.158.139.117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AVXEF52FB</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10.158.139.117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21WZ5040045X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c8:1f:ea:ef:52:fb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e07817742b062694d50dffbdbe91bf3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avxef52fb.asia.bankofamerica.com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714e30c2bebc710a277fab2f291bf41" history="1" highlightClick="0" endSnd="0">
                  <a:extLst>
                    <a:ext uri="{A12FA001-AC4F-418D-AE19-62706E023703}">
                      <ahyp:hlinkClr xmlns:ahyp="http://schemas.microsoft.com/office/drawing/2018/hyperlinkcolor" val="tx"/>
                    </a:ext>
                  </a:extLst>
                </a:hlinkClick>
              </a:rPr>
              <a:t>SDI000003799341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725622123b9b4310e973496ea5e45abb" history="1" highlightClick="0" endSnd="0">
                  <a:extLst>
                    <a:ext uri="{A12FA001-AC4F-418D-AE19-62706E023703}">
                      <ahyp:hlinkClr xmlns:ahyp="http://schemas.microsoft.com/office/drawing/2018/hyperlinkcolor" val="tx"/>
                    </a:ext>
                  </a:extLst>
                </a:hlinkClick>
              </a:rPr>
              <a:t>BOFA Device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AVXEF52FB</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OS guard</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classFor(OS): a server or desktop class means the host is a computer and the rule declines; a phone word in the OS, a Linux fingerprint or no class lets the search run.</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 searched in IP Phone and Imaging Hardware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Two queries: name equal to the label on IP Phone (cmdb_ci_ip_phone) and on Imaging Hardware (cmdb_ci_imaging_hardware),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cmdb_ci_ip_phone: 1 record: AVXEF52FB [ip_phone] ip 10.158.139.117 | cmdb_ci_imaging_hardware: 0 records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phone_list.do?sysparm_query=name%3Davxef52fb" history="1" highlightClick="0" endSnd="0">
                            <a:extLst>
                              <a:ext uri="{A12FA001-AC4F-418D-AE19-62706E023703}">
                                <ahyp:hlinkClr xmlns:ahyp="http://schemas.microsoft.com/office/drawing/2018/hyperlinkcolor" val="tx"/>
                              </a:ext>
                            </a:extLst>
                          </a:hlinkClick>
                        </a:rPr>
                        <a:t>IP Phone: name=avxef52fb</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AVXEF52FB</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imaging_hardware_list.do?sysparm_query=name%3Davxef52fb" history="1" highlightClick="0" endSnd="0">
                            <a:extLst>
                              <a:ext uri="{A12FA001-AC4F-418D-AE19-62706E023703}">
                                <ahyp:hlinkClr xmlns:ahyp="http://schemas.microsoft.com/office/drawing/2018/hyperlinkcolor" val="tx"/>
                              </a:ext>
                            </a:extLst>
                          </a:hlinkClick>
                        </a:rPr>
                        <a:t>Imaging Hardware: name=avxef52fb</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device is returned; several fall back to the one on the scanned address; none, or a tie, give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device,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hostname rules because they have already shown that no CI carries the full controller label, and before the interface-name rule so that a '-mgmt' controller resolves to its server before any prefix walk on network devices.</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140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Network Interface Name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9,556</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the input.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Locate the last hyphen.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OS text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Controller sign and the server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Search the whole hardware tree by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Refuse a load balancer.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or its only hyphen is in first position (lastIndexOf('-') &lt; 1)</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last segment is not in suffixes and no markers word appears as a substring of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classes is named like the stripped label</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cmdb_ci_hardware rows carry the stripped name (hasNext() true after the first)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row found is a record of cmdb_ci_lb or a class beneath it (load balancer device)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Network Interface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lva10regbxch0j-r.ecomm.device.rpg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os word / linux_server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"lva10regbxch0j-r"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"Integrated Dell Remote Access Controller" gives no class / no record in the hardware tree carries the fqdn)  ·  name + domain (OS "Integrated Dell Remote Access Controller" gives no class / no record named "lva10regbxch0j-r")  ·  layered DNS (no DNS Name record for "lva10regbxch0j-r.ecomm.device.rpg")  ·  host name (OS "Integrated Dell Remote Access Controller" gives no class / no record in the hardware tree named "lva10regbxch0j-r")  ·  device name (none named "lva10regbxch0j-r" in IP Phone or Imaging Hardware)</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SDI000002647592</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lva10regbxch0j-r.ecomm.device.rpg</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10.41.200.226</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Integrated Dell Remote Access Controller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05:55:07</a:t>
            </a:r>
            <a:endParaRPr lang="en-US" sz="1200" dirty="0"/>
          </a:p>
        </p:txBody>
      </p:sp>
      <p:sp>
        <p:nvSpPr>
          <p:cNvPr id="17" name="Text 15">
            <a:hlinkClick r:id="rId1" tooltip="https://bofasecopsdev.service-now.com/sn_sec_cmn_src_ci_list.do?sysparm_query=number=SDI0000026475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475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word "remote access controller" on "lva10regbxch0j-r"; server name "lva10regbxch0j"</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lva10regbxch0j [linux_server] ip 171.155.93.82 -&gt; exactly one,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lva10regbxch0j</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lva10regbxch0j.ecomm.device.rpg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171.155.93.82</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4NYW2L3</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050" dirty="0">
                <a:solidFill>
                  <a:srgbClr val="4D4F53"/>
                </a:solidFill>
                <a:latin typeface="Arial" pitchFamily="34" charset="0"/>
                <a:ea typeface="Arial" pitchFamily="34" charset="-122"/>
                <a:cs typeface="Arial" pitchFamily="34" charset="-120"/>
              </a:rPr>
              <a:t>Dell Inc. PowerEdge R740xd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Installed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Operational</a:t>
            </a:r>
            <a:endParaRPr lang="en-US" sz="1050" dirty="0"/>
          </a:p>
        </p:txBody>
      </p:sp>
      <p:sp>
        <p:nvSpPr>
          <p:cNvPr id="29" name="Text 27">
            <a:hlinkClick r:id="rId2" tooltip="https://bofasecopsdev.service-now.com/cmdb_ci_linux_server.do?sys_id=a53749b02b062e54d28af8a4ce91bf6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lva10regbxch0j-r.ecomm.device.rpg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918911a23bbe83180e435c8a04e45a8d" history="1" highlightClick="0" endSnd="0">
                  <a:extLst>
                    <a:ext uri="{A12FA001-AC4F-418D-AE19-62706E023703}">
                      <ahyp:hlinkClr xmlns:ahyp="http://schemas.microsoft.com/office/drawing/2018/hyperlinkcolor" val="tx"/>
                    </a:ext>
                  </a:extLst>
                </a:hlinkClick>
              </a:rPr>
              <a:t>SDI000002647592</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fdd5d3dc2b534350e76ff4bc4e91bf40" history="1" highlightClick="0" endSnd="0">
                  <a:extLst>
                    <a:ext uri="{A12FA001-AC4F-418D-AE19-62706E023703}">
                      <ahyp:hlinkClr xmlns:ahyp="http://schemas.microsoft.com/office/drawing/2018/hyperlinkcolor" val="tx"/>
                    </a:ext>
                  </a:extLst>
                </a:hlinkClick>
              </a:rPr>
              <a:t>BOFA Management Interface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lva10regbxch0j</a:t>
            </a:r>
            <a:endParaRPr lang="en-US" sz="1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Controller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Cuts the label at its last hyphen: a controller suffix (ilo, ilom, idrac, drac, ipmi, bmc, oob, mgmt, imm, cimc, rmm, con) or a controller word in the OS text marks a management interface; the part before the hyphen is the server name.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word "remote access controller" on "lva10regbxch0j-r"; server name "lva10regbxch0j"</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server 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the Hardware tree: name equal to the server name, ignored classes left out; exactly one row is returned, a load balancer device is refused.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lva10regbxch0j [linux_server] ip 171.155.93.82 -&gt;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lva10regbxch0j" history="1" highlightClick="0" endSnd="0">
                            <a:extLst>
                              <a:ext uri="{A12FA001-AC4F-418D-AE19-62706E023703}">
                                <ahyp:hlinkClr xmlns:ahyp="http://schemas.microsoft.com/office/drawing/2018/hyperlinkcolor" val="tx"/>
                              </a:ext>
                            </a:extLst>
                          </a:hlinkClick>
                        </a:rPr>
                        <a:t>Hardware: name=lva10regbxch0j</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lva10regbxch0j</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USEM Management Interface Match so controller labels resolve to servers first, and before the FQDN name and load balancer rules.</a:t>
            </a:r>
            <a:endParaRPr lang="en-US" sz="1500" dirty="0"/>
          </a:p>
        </p:txBody>
      </p:sp>
      <p:sp>
        <p:nvSpPr>
          <p:cNvPr id="13" name="Shape 11"/>
          <p:cNvSpPr/>
          <p:nvPr/>
        </p:nvSpPr>
        <p:spPr>
          <a:xfrm>
            <a:off x="502920" y="36088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1400" dirty="0"/>
          </a:p>
        </p:txBody>
      </p:sp>
      <p:sp>
        <p:nvSpPr>
          <p:cNvPr id="17" name="Shape 15"/>
          <p:cNvSpPr/>
          <p:nvPr/>
        </p:nvSpPr>
        <p:spPr>
          <a:xfrm>
            <a:off x="7665049" y="36088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Hardware Match</a:t>
            </a:r>
            <a:endParaRPr lang="en-US" sz="1300" dirty="0"/>
          </a:p>
        </p:txBody>
      </p:sp>
      <p:sp>
        <p:nvSpPr>
          <p:cNvPr id="21" name="Text 19"/>
          <p:cNvSpPr txBox="1"/>
          <p:nvPr/>
        </p:nvSpPr>
        <p:spPr>
          <a:xfrm>
            <a:off x="7985089" y="5076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8,786</a:t>
            </a:r>
            <a:endParaRPr lang="en-US" sz="2800" dirty="0"/>
          </a:p>
        </p:txBody>
      </p:sp>
      <p:sp>
        <p:nvSpPr>
          <p:cNvPr id="22" name="Text 20"/>
          <p:cNvSpPr txBox="1"/>
          <p:nvPr/>
        </p:nvSpPr>
        <p:spPr>
          <a:xfrm>
            <a:off x="7985089" y="5643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10760"/>
          </a:xfrm>
          <a:prstGeom prst="roundRect">
            <a:avLst>
              <a:gd name="adj" fmla="val 1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Read the ignore list.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isMarker: recognise an interface segment.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Require interface sign.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the sign is present when the full DNS string contains a domains entry ('.network.') or any segment after the first is a marker; the first segment is never tested. Without it the rule returns null, so hyphenated hostnames like ah-1047132-001 are never cut.</a:t>
            </a:r>
            <a:endParaRPr lang="en-US" sz="1300" dirty="0"/>
          </a:p>
        </p:txBody>
      </p:sp>
      <p:sp>
        <p:nvSpPr>
          <p:cNvPr id="10" name="Text 8"/>
          <p:cNvSpPr txBox="1"/>
          <p:nvPr/>
        </p:nvSpPr>
        <p:spPr>
          <a:xfrm>
            <a:off x="6277356"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Walk the prefixes, longest first.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6   Search Network Gear and Load Balancer by name.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7   Decide at the first prefix that finds anything.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8   Exhausted walk.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3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(segments.length &lt; 2)</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interface sign: the DNS contains no '.network.' and no segment after the first is a listed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twtwtpett48bdm0002-eth1-18.network.asia.bankofamerica.com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1 / ip_switch</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"twtwtpett48bdm0002-eth1-18" is not sep + 12 hex)  ·  device name (OS gives the class netgear)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"twtwtpett48bdm0002-eth1-18")  ·  layered DNS (no DNS Name record for "twtwtpett48bdm0002-eth1-18.network.asia.bankofamerica.com")  ·  host name (no record in the hardware tree named "twtwtpett48bdm0002-eth1-18")</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SDI000003800077</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twtwtpett48bdm0002-eth1-18.network.asia.bankofamerica.com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165.46.245.162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Cisco Nexus Switch</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06:00:29</a:t>
            </a:r>
            <a:endParaRPr lang="en-US" sz="1100" dirty="0"/>
          </a:p>
        </p:txBody>
      </p:sp>
      <p:sp>
        <p:nvSpPr>
          <p:cNvPr id="17" name="Text 15">
            <a:hlinkClick r:id="rId1" tooltip="https://bofasecopsdev.service-now.com/sn_sec_cmn_src_ci_list.do?sysparm_query=number=SDI00000380007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domain ".network.", segment "eth1"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twtwtpett48bdm0002</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165.46.245.65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FDO23011EPA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Nexus 9300-EX Series 93180YC-EX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switch.do?sys_id=aaac6f842b256610cca5f39ec891bf8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twtwtpett48bdm0002-eth1-18.network.asia.bankofamerica.com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8d6b274c93a747109110fe584dba104b" history="1" highlightClick="0" endSnd="0">
                  <a:extLst>
                    <a:ext uri="{A12FA001-AC4F-418D-AE19-62706E023703}">
                      <ahyp:hlinkClr xmlns:ahyp="http://schemas.microsoft.com/office/drawing/2018/hyperlinkcolor" val="tx"/>
                    </a:ext>
                  </a:extLst>
                </a:hlinkClick>
              </a:rPr>
              <a:t>SDI000003800077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4c1171c2b534350e76ff4bc4e91bfb4" history="1" highlightClick="0" endSnd="0">
                  <a:extLst>
                    <a:ext uri="{A12FA001-AC4F-418D-AE19-62706E023703}">
                      <ahyp:hlinkClr xmlns:ahyp="http://schemas.microsoft.com/office/drawing/2018/hyperlinkcolor" val="tx"/>
                    </a:ext>
                  </a:extLst>
                </a:hlinkClick>
              </a:rPr>
              <a:t>BOFA Network Interface Name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twtwtpett48bdm0002</a:t>
            </a:r>
            <a:endParaRPr lang="en-US" sz="1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Interface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An interface is recognised by the domain ".network." or by a label segment after the first that is an interface word (vlan, v, hsrp, vrrp, po, eth, gi, te, lo, mgmt, aom, vs, fab), alone or followed by digits.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domain ".network.", segment "eth1"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"twtwtpett48bdm0002-eth1"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nothing on Network Gear or Load Balancer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gear_list.do?sysparm_query=name%3Dtwtwtpett48bdm0002-eth1" history="1" highlightClick="0" endSnd="0">
                            <a:extLst>
                              <a:ext uri="{A12FA001-AC4F-418D-AE19-62706E023703}">
                                <ahyp:hlinkClr xmlns:ahyp="http://schemas.microsoft.com/office/drawing/2018/hyperlinkcolor" val="tx"/>
                              </a:ext>
                            </a:extLst>
                          </a:hlinkClick>
                        </a:rPr>
                        <a:t>Network Gear: name=twtwtpett48bdm0002-eth1</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list.do?sysparm_query=name%3Dtwtwtpett48bdm0002-eth1" history="1" highlightClick="0" endSnd="0">
                            <a:extLst>
                              <a:ext uri="{A12FA001-AC4F-418D-AE19-62706E023703}">
                                <ahyp:hlinkClr xmlns:ahyp="http://schemas.microsoft.com/office/drawing/2018/hyperlinkcolor" val="tx"/>
                              </a:ext>
                            </a:extLst>
                          </a:hlinkClick>
                        </a:rPr>
                        <a:t>Load Balancer: name=twtwtpett48bdm0002-eth1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 "twtwtpett48bdm0002"</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Drops the last segment and searches Network Gear (cmdb_ci_netgear) and Load Balancer (cmdb_ci_lb) for a device named with the remaining prefix, ignored classes left out.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twtwtpett48bdm0002 [ip_switch] ip 165.46.245.65</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gear_list.do?sysparm_query=name%3Dtwtwtpett48bdm0002" history="1" highlightClick="0" endSnd="0">
                            <a:extLst>
                              <a:ext uri="{A12FA001-AC4F-418D-AE19-62706E023703}">
                                <ahyp:hlinkClr xmlns:ahyp="http://schemas.microsoft.com/office/drawing/2018/hyperlinkcolor" val="tx"/>
                              </a:ext>
                            </a:extLst>
                          </a:hlinkClick>
                        </a:rPr>
                        <a:t>Network Gear: name=twtwtpett48bdm0002</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twtwtpett48bdm0002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list.do?sysparm_query=name%3Dtwtwtpett48bdm0002" history="1" highlightClick="0" endSnd="0">
                            <a:extLst>
                              <a:ext uri="{A12FA001-AC4F-418D-AE19-62706E023703}">
                                <ahyp:hlinkClr xmlns:ahyp="http://schemas.microsoft.com/office/drawing/2018/hyperlinkcolor" val="tx"/>
                              </a:ext>
                            </a:extLst>
                          </a:hlinkClick>
                        </a:rPr>
                        <a:t>Load Balancer: name=twtwtpett48bdm0002</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Prefixes tried, longest first, on Network Gear and Load Balancer</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Prefixes are tried from the longest down: the first prefix with exactly one device is returned; a prefix with two devices ends the rule with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fqdn-field and short-hostname rules because those cover normal naming; this one only rescues CIs that none of them can see.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Network Interface Name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29,770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on the name field.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such CIs share that name (gr.hasNext() true), whatever their IP, class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Member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FQDN NAME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ca9-107-01-m02.bankofamerica.com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"ca9-107-01-m02" is not sep + 12 hex)  ·  device name (OS gives the class printer)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"ca9-107-01-m02")  ·  layered DNS (no DNS Name record for "ca9-107-01-m02.bankofamerica.com")  ·  host name (no record in the hardware tree named "ca9-107-01-m02")</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SDI000003103157</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ca9-107-01-m02.bankofamerica.com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10.165.133.9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05:52:39</a:t>
            </a:r>
            <a:endParaRPr lang="en-US" sz="1200" dirty="0"/>
          </a:p>
        </p:txBody>
      </p:sp>
      <p:sp>
        <p:nvSpPr>
          <p:cNvPr id="17" name="Text 15">
            <a:hlinkClick r:id="rId1" tooltip="https://bofasecopsdev.service-now.com/sn_sec_cmn_src_ci_list.do?sysparm_query=number=SDI00000310315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15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"ca9-107-01-m02.bankofamerica.com" searched on the name field of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CA9-107-01-M02.BANKOFAMERICA.COM [printer] -&gt; exactly one,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CA9-107-01-M02.BANKOFAMERICA.COM</a:t>
            </a:r>
            <a:endParaRPr lang="en-US" sz="12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MXBCQBV0FZ</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HP E52645c MFP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7ed9e0b82b86ae54d50dffbdbe91bf4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FQDN NAME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ca9-107-01-m02.bankofamerica.com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e8ddba3a93fec310cfcebc5a7bba10fc" history="1" highlightClick="0" endSnd="0">
                  <a:extLst>
                    <a:ext uri="{A12FA001-AC4F-418D-AE19-62706E023703}">
                      <ahyp:hlinkClr xmlns:ahyp="http://schemas.microsoft.com/office/drawing/2018/hyperlinkcolor" val="tx"/>
                    </a:ext>
                  </a:extLst>
                </a:hlinkClick>
              </a:rPr>
              <a:t>SDI000003103157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678604f47624710a1a9295b416d4377" history="1" highlightClick="0" endSnd="0">
                  <a:extLst>
                    <a:ext uri="{A12FA001-AC4F-418D-AE19-62706E023703}">
                      <ahyp:hlinkClr xmlns:ahyp="http://schemas.microsoft.com/office/drawing/2018/hyperlinkcolor" val="tx"/>
                    </a:ext>
                  </a:extLst>
                </a:hlinkClick>
              </a:rPr>
              <a:t>BOFA FQDN Name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CA9-107-01-M02.BANKOFAMERICA.COM</a:t>
            </a:r>
            <a:endParaRPr lang="en-US" sz="10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"ca9-107-01-m02.bankofamerica.com" searched on the name field of the whole hardware tree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CA9-107-01-M02.BANKOFAMERICA.COM [printer]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name%3Dca9-107-01-m02.bankofamerica.com" history="1" highlightClick="0" endSnd="0">
                            <a:extLst>
                              <a:ext uri="{A12FA001-AC4F-418D-AE19-62706E023703}">
                                <ahyp:hlinkClr xmlns:ahyp="http://schemas.microsoft.com/office/drawing/2018/hyperlinkcolor" val="tx"/>
                              </a:ext>
                            </a:extLst>
                          </a:hlinkClick>
                        </a:rPr>
                        <a:t>Hardware: name=ca9-107-01-m02.bankofamerica.com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CA9-107-01-M02.BANKOFAMERICA.COM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hardware rules, which find no server for a VIP, and before USEM Load Balancer Service Match so that a real server is preferred to the VIP record.</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FQDN Name Hardware Match</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Load Balancer Service Match</a:t>
            </a:r>
            <a:endParaRPr lang="en-US" sz="125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The virtual server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Twins of one virtual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Pools behind every twin.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Members and their addresses.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Placing each member on a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Deciding the one machine.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087368"/>
          </a:xfrm>
          <a:prstGeom prst="roundRect">
            <a:avLst>
              <a:gd name="adj" fmla="val 134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758184"/>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Cmdb_ci_lb_service is not a valid table on the instance</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1350" dirty="0"/>
          </a:p>
        </p:txBody>
      </p:sp>
      <p:sp>
        <p:nvSpPr>
          <p:cNvPr id="13" name="Text 11"/>
          <p:cNvSpPr txBox="1"/>
          <p:nvPr/>
        </p:nvSpPr>
        <p:spPr>
          <a:xfrm>
            <a:off x="6277356"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Any member leads to no real server (unresolved count above zero), leaving the pool partly unknown</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servers found carry zero, or two or more, distinct name labels (no server, or two different machines)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1350" dirty="0"/>
          </a:p>
        </p:txBody>
      </p:sp>
      <p:sp>
        <p:nvSpPr>
          <p:cNvPr id="14" name="Shape 12"/>
          <p:cNvSpPr/>
          <p:nvPr/>
        </p:nvSpPr>
        <p:spPr>
          <a:xfrm>
            <a:off x="502920" y="5760720"/>
            <a:ext cx="11183112" cy="640080"/>
          </a:xfrm>
          <a:prstGeom prst="roundRect">
            <a:avLst>
              <a:gd name="adj" fmla="val 8571"/>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760720"/>
            <a:ext cx="10543032" cy="640080"/>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Service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service / 1 member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"boluiv4-dev2-benefits-l7-vip1"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"boluiv4-dev2-benefits-l7-vip1")  ·  layered DNS (no DNS Name record for "boluiv4-dev2-benefits-l7-vip1.dev.gwimnp.rpg")  ·  host name (OS "F5 Networks Big-IP" gives no class / no record in the hardware tree named "boluiv4-dev2-benefits-l7-vip1")  ·  device name (none named "boluiv4-dev2-benefits-l7-vip1" in IP Phone or Imaging Hardware)  ·  whole-fqdn name (no record in the hardware tree named "boluiv4-dev2-benefits-l7-vip1.dev.gwimnp.rpg")</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SDI000002993687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boluiv4-dev2-benefits-l7-vip1.dev.gwimnp.rpg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10.143.53.96</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10:40:47</a:t>
            </a:r>
            <a:endParaRPr lang="en-US" sz="1000" dirty="0"/>
          </a:p>
        </p:txBody>
      </p:sp>
      <p:sp>
        <p:nvSpPr>
          <p:cNvPr id="17" name="Text 15">
            <a:hlinkClick r:id="rId1" tooltip="https://bofasecopsdev.service-now.com/sn_sec_cmn_src_ci_list.do?sysparm_query=number=SDI0000029936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OS has "f5", OS has "big-ip", label segment "vip1"</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no service record; next clue</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3   Clue 4: ip_address = "10.143.53.96"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service record: /Common/ihscore-dev2-boluiv4_benefits-6011-vip on 10.143.53.96 (svedpz1rp1lb12)</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4   Pools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/Common/ihscore-dev2-boluiv4_benefits-6011-pool (pool field)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5   Members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6   Decision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endParaRPr lang="en-US" sz="10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lva62pwbolws51v</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lva62pwbolws51v.sdi.ssc3.ext3.bankofamerica3.com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171.184.193.14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27 25 b9 6c 36 c0 37-53 0a ac 92 8d 40 9f 3c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f2130b8693966a107fb5f842ed03d65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STEP BY STEP  ·  PAGE 1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eb3b97a3bfe4b189289d164c3e45a59" history="1" highlightClick="0" endSnd="0">
                  <a:extLst>
                    <a:ext uri="{A12FA001-AC4F-418D-AE19-62706E023703}">
                      <ahyp:hlinkClr xmlns:ahyp="http://schemas.microsoft.com/office/drawing/2018/hyperlinkcolor" val="tx"/>
                    </a:ext>
                  </a:extLst>
                </a:hlinkClick>
              </a:rPr>
              <a:t>SDI000002993687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1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"boluiv4-dev2-benefits-l7-vip1.dev.gwimnp.rpg"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boluiv4-dev2-benefits-l7-vip1.dev.gwimnp.rpg" history="1" highlightClick="0" endSnd="0">
                            <a:extLst>
                              <a:ext uri="{A12FA001-AC4F-418D-AE19-62706E023703}">
                                <ahyp:hlinkClr xmlns:ahyp="http://schemas.microsoft.com/office/drawing/2018/hyperlinkcolor" val="tx"/>
                              </a:ext>
                            </a:extLst>
                          </a:hlinkClick>
                        </a:rPr>
                        <a:t>Load Balancer Service: fqdn=boluiv4-dev2-benefits-l7-vip1.dev.gwimnp.rpg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"boluiv4-dev2-benefits-l7-vip1.dev.gwimnp.rpg"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boluiv4-dev2-benefits-l7-vip1.dev.gwimnp.rpg" history="1" highlightClick="0" endSnd="0">
                            <a:extLst>
                              <a:ext uri="{A12FA001-AC4F-418D-AE19-62706E023703}">
                                <ahyp:hlinkClr xmlns:ahyp="http://schemas.microsoft.com/office/drawing/2018/hyperlinkcolor" val="tx"/>
                              </a:ext>
                            </a:extLst>
                          </a:hlinkClick>
                        </a:rPr>
                        <a:t>Load Balancer Service: name=boluiv4-dev2-benefits-l7-vip1.dev.gwimnp.rpg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"boluiv4-dev2-benefits-l7-vip1"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boluiv4-dev2-benefits-l7-vip1" history="1" highlightClick="0" endSnd="0">
                            <a:extLst>
                              <a:ext uri="{A12FA001-AC4F-418D-AE19-62706E023703}">
                                <ahyp:hlinkClr xmlns:ahyp="http://schemas.microsoft.com/office/drawing/2018/hyperlinkcolor" val="tx"/>
                              </a:ext>
                            </a:extLst>
                          </a:hlinkClick>
                        </a:rPr>
                        <a:t>Load Balancer Service: name=boluiv4-dev2-benefits-l7-vip1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"10.143.53.96"</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/Common/ihscore-dev2-boluiv4_benefits-6011-vip on 10.143.53.96 (svedpz1rp1lb12)</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3.96" history="1" highlightClick="0" endSnd="0">
                            <a:extLst>
                              <a:ext uri="{A12FA001-AC4F-418D-AE19-62706E023703}">
                                <ahyp:hlinkClr xmlns:ahyp="http://schemas.microsoft.com/office/drawing/2018/hyperlinkcolor" val="tx"/>
                              </a:ext>
                            </a:extLst>
                          </a:hlinkClick>
                        </a:rPr>
                        <a:t>Load Balancer Service: ip_address=10.143.53.96</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a966482d3b68c710ae0c4047f4e45ab3" history="1" highlightClick="0" endSnd="0">
                            <a:extLst>
                              <a:ext uri="{A12FA001-AC4F-418D-AE19-62706E023703}">
                                <ahyp:hlinkClr xmlns:ahyp="http://schemas.microsoft.com/office/drawing/2018/hyperlinkcolor" val="tx"/>
                              </a:ext>
                            </a:extLst>
                          </a:hlinkClick>
                        </a:rPr>
                        <a:t>/Common/ihscore-dev2-boluiv4_benefits-6011-vip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027d15e32b2076d0da9bf8c9c891bf34" history="1" highlightClick="0" endSnd="0">
                            <a:extLst>
                              <a:ext uri="{A12FA001-AC4F-418D-AE19-62706E023703}">
                                <ahyp:hlinkClr xmlns:ahyp="http://schemas.microsoft.com/office/drawing/2018/hyperlinkcolor" val="tx"/>
                              </a:ext>
                            </a:extLst>
                          </a:hlinkClick>
                        </a:rPr>
                        <a:t>svedpz1rp1lb12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STEP BY STEP  ·  PAGE 2 OF 2</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deb3b97a3bfe4b189289d164c3e45a59" history="1" highlightClick="0" endSnd="0">
                  <a:extLst>
                    <a:ext uri="{A12FA001-AC4F-418D-AE19-62706E023703}">
                      <ahyp:hlinkClr xmlns:ahyp="http://schemas.microsoft.com/office/drawing/2018/hyperlinkcolor" val="tx"/>
                    </a:ext>
                  </a:extLst>
                </a:hlinkClick>
              </a:rPr>
              <a:t>SDI000002993687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2af62963b9b4310e973496ea5e45aa5" history="1" highlightClick="0" endSnd="0">
                  <a:extLst>
                    <a:ext uri="{A12FA001-AC4F-418D-AE19-62706E023703}">
                      <ahyp:hlinkClr xmlns:ahyp="http://schemas.microsoft.com/office/drawing/2018/hyperlinkcolor" val="tx"/>
                    </a:ext>
                  </a:extLst>
                </a:hlinkClick>
              </a:rPr>
              <a:t>BOFA Load Balancer Member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10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Pools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Reads the Pool field of each service record kept, the pools whose Service field points at it, and the pools related to it through cmdb_rel_ci; no pool means the member rule declines.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/Common/ihscore-dev2-boluiv4_benefits-6011-pool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pool_list.do?sysparm_query=service%3Da966482d3b68c710ae0c4047f4e45ab3" history="1" highlightClick="0" endSnd="0">
                            <a:extLst>
                              <a:ext uri="{A12FA001-AC4F-418D-AE19-62706E023703}">
                                <ahyp:hlinkClr xmlns:ahyp="http://schemas.microsoft.com/office/drawing/2018/hyperlinkcolor" val="tx"/>
                              </a:ext>
                            </a:extLst>
                          </a:hlinkClick>
                        </a:rPr>
                        <a:t>Load Balancer Pool: service=a966482d3b68c710ae0c4047f4e45ab3</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rel_ci_list.do?sysparm_query=parent%3Da966482d3b68c710ae0c4047f4e45ab3%5EORchild%3Da966482d3b68c710ae0c4047f4e45ab3" history="1" highlightClick="0" endSnd="0">
                            <a:extLst>
                              <a:ext uri="{A12FA001-AC4F-418D-AE19-62706E023703}">
                                <ahyp:hlinkClr xmlns:ahyp="http://schemas.microsoft.com/office/drawing/2018/hyperlinkcolor" val="tx"/>
                              </a:ext>
                            </a:extLst>
                          </a:hlinkClick>
                        </a:rPr>
                        <a:t>CI relationship: parent=a966482d3b68c710ae0c4047f4e45ab3^ORchild=a966482d3b68c710ae0c4047f4e45ab3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pool_list.do?sysparm_query=sys_idIN3066482d3b68c710ae0c4047f4e45aac" history="1" highlightClick="0" endSnd="0">
                            <a:extLst>
                              <a:ext uri="{A12FA001-AC4F-418D-AE19-62706E023703}">
                                <ahyp:hlinkClr xmlns:ahyp="http://schemas.microsoft.com/office/drawing/2018/hyperlinkcolor" val="tx"/>
                              </a:ext>
                            </a:extLst>
                          </a:hlinkClick>
                        </a:rPr>
                        <a:t>Load Balancer Pool: sys_idIN3066482d3b68c710ae0c4047f4e45aac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pool.do?sys_id=3066482d3b68c710ae0c4047f4e45aac" history="1" highlightClick="0" endSnd="0">
                            <a:extLst>
                              <a:ext uri="{A12FA001-AC4F-418D-AE19-62706E023703}">
                                <ahyp:hlinkClr xmlns:ahyp="http://schemas.microsoft.com/office/drawing/2018/hyperlinkcolor" val="tx"/>
                              </a:ext>
                            </a:extLst>
                          </a:hlinkClick>
                        </a:rPr>
                        <a:t>/Common/ihscore-dev2-boluiv4_benefits-6011-pool</a:t>
                      </a:r>
                      <a:pPr indent="0" marL="0">
                        <a:buNone/>
                      </a:pPr>
                      <a:r>
                        <a:rPr lang="en-US" sz="900" dirty="0">
                          <a:solidFill>
                            <a:srgbClr val="6E7279"/>
                          </a:solidFill>
                          <a:latin typeface="Arial" pitchFamily="34" charset="0"/>
                          <a:ea typeface="Arial" pitchFamily="34" charset="-122"/>
                          <a:cs typeface="Arial" pitchFamily="34" charset="-120"/>
                        </a:rPr>
                        <a:t> (pool field)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_member_list.do?sysparm_query=pool%3D3066482d3b68c710ae0c4047f4e45aac" history="1" highlightClick="0" endSnd="0">
                            <a:extLst>
                              <a:ext uri="{A12FA001-AC4F-418D-AE19-62706E023703}">
                                <ahyp:hlinkClr xmlns:ahyp="http://schemas.microsoft.com/office/drawing/2018/hyperlinkcolor" val="tx"/>
                              </a:ext>
                            </a:extLst>
                          </a:hlinkClick>
                        </a:rPr>
                        <a:t>Pool Member: pool=3066482d3b68c710ae0c4047f4e45aac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pool_member.do?sys_id=5a66006d3b68c710ae0c4047f4e45a69" history="1" highlightClick="0" endSnd="0">
                            <a:extLst>
                              <a:ext uri="{A12FA001-AC4F-418D-AE19-62706E023703}">
                                <ahyp:hlinkClr xmlns:ahyp="http://schemas.microsoft.com/office/drawing/2018/hyperlinkcolor" val="tx"/>
                              </a:ext>
                            </a:extLst>
                          </a:hlinkClick>
                        </a:rPr>
                        <a:t>/Common/ihscore-dev2-lva62pwbolws51v-node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2" invalidUrl="" action="" tgtFrame="" tooltip="https://bofasecopsdev.service-now.com/cmdb_rel_ci_list.do?sysparm_query=parent%3D3066482d3b68c710ae0c4047f4e45aac%5EORchild%3D3066482d3b68c710ae0c4047f4e45aac" history="1" highlightClick="0" endSnd="0">
                            <a:extLst>
                              <a:ext uri="{A12FA001-AC4F-418D-AE19-62706E023703}">
                                <ahyp:hlinkClr xmlns:ahyp="http://schemas.microsoft.com/office/drawing/2018/hyperlinkcolor" val="tx"/>
                              </a:ext>
                            </a:extLst>
                          </a:hlinkClick>
                        </a:rPr>
                        <a:t>CI relationship: parent=3066482d3b68c710ae0c4047f4e45aac^ORchild=3066482d3b68c710ae0c4047f4e45aac</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3" invalidUrl="" action="" tgtFrame="" tooltip="https://bofasecopsdev.service-now.com/cmdb_ci_lb_pool_member.do?sys_id=5a66006d3b68c710ae0c4047f4e45a69" history="1" highlightClick="0" endSnd="0">
                            <a:extLst>
                              <a:ext uri="{A12FA001-AC4F-418D-AE19-62706E023703}">
                                <ahyp:hlinkClr xmlns:ahyp="http://schemas.microsoft.com/office/drawing/2018/hyperlinkcolor" val="tx"/>
                              </a:ext>
                            </a:extLst>
                          </a:hlinkClick>
                        </a:rPr>
                        <a:t>/Common/ihscore-dev2-lva62pwbolws51v-node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Members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Collects the Pool Member records of every pool (Pool field and relationships) with their addresses, and looks each address up on Hardware records, Network Adapters and IP Address records; only a real server counts: in the Hardware tree, not a load balancer device, not an ignored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/Common/ihscore-dev2-lva62pwbolws51v-node 171.184.193.14 -&gt; lva62pwbolws51v via device record, lva62pwbolws51v via adapter, lva62pwbolws51v via IP Address record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4" invalidUrl="" action="" tgtFrame="" tooltip="https://bofasecopsdev.service-now.com/cmdb_ci_hardware_list.do?sysparm_query=ip_address%3D171.184.193.14" history="1" highlightClick="0" endSnd="0">
                            <a:extLst>
                              <a:ext uri="{A12FA001-AC4F-418D-AE19-62706E023703}">
                                <ahyp:hlinkClr xmlns:ahyp="http://schemas.microsoft.com/office/drawing/2018/hyperlinkcolor" val="tx"/>
                              </a:ext>
                            </a:extLst>
                          </a:hlinkClick>
                        </a:rPr>
                        <a:t>Hardware: ip_address=171.184.193.14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5"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16" invalidUrl="" action="" tgtFrame="" tooltip="https://bofasecopsdev.service-now.com/cmdb_ci_network_adapter_list.do?sysparm_query=ip_address%3D171.184.193.14" history="1" highlightClick="0" endSnd="0">
                            <a:extLst>
                              <a:ext uri="{A12FA001-AC4F-418D-AE19-62706E023703}">
                                <ahyp:hlinkClr xmlns:ahyp="http://schemas.microsoft.com/office/drawing/2018/hyperlinkcolor" val="tx"/>
                              </a:ext>
                            </a:extLst>
                          </a:hlinkClick>
                        </a:rPr>
                        <a:t>Network Adapter: ip_address=171.184.193.14</a:t>
                      </a:r>
                      <a:pPr indent="0" marL="0">
                        <a:buNone/>
                      </a:pPr>
                      <a:r>
                        <a:rPr lang="en-US" sz="900" dirty="0">
                          <a:solidFill>
                            <a:srgbClr val="6E7279"/>
                          </a:solidFill>
                          <a:latin typeface="Arial" pitchFamily="34" charset="0"/>
                          <a:ea typeface="Arial" pitchFamily="34" charset="-122"/>
                          <a:cs typeface="Arial" pitchFamily="34" charset="-120"/>
                        </a:rPr>
                        <a:t> (2 rows)</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7" invalidUrl="" action="" tgtFrame="" tooltip="https://bofasecopsdev.service-now.com/cmdb_ci_network_adapter.do?sys_id=47c2a6c83ba9a2106e084b9aa4e45ab2" history="1" highlightClick="0" endSnd="0">
                            <a:extLst>
                              <a:ext uri="{A12FA001-AC4F-418D-AE19-62706E023703}">
                                <ahyp:hlinkClr xmlns:ahyp="http://schemas.microsoft.com/office/drawing/2018/hyperlinkcolor" val="tx"/>
                              </a:ext>
                            </a:extLst>
                          </a:hlinkClick>
                        </a:rPr>
                        <a:t>00:50:56:a7:ee:62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8" invalidUrl="" action="" tgtFrame="" tooltip="https://bofasecopsdev.service-now.com/cmdb_ci_vmware_instance.do?sys_id=dcc22ec82ba9a21093f5f1aac891bf7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[vmware_instance]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19" invalidUrl="" action="" tgtFrame="" tooltip="https://bofasecopsdev.service-now.com/cmdb_ci_network_adapter.do?sys_id=9f0d76383b6e6290489ce5d964e45aa2"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0"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1" invalidUrl="" action="" tgtFrame="" tooltip="https://bofasecopsdev.service-now.com/cmdb_ci_ip_address_list.do?sysparm_query=ip_address%3D171.184.193.14" history="1" highlightClick="0" endSnd="0">
                            <a:extLst>
                              <a:ext uri="{A12FA001-AC4F-418D-AE19-62706E023703}">
                                <ahyp:hlinkClr xmlns:ahyp="http://schemas.microsoft.com/office/drawing/2018/hyperlinkcolor" val="tx"/>
                              </a:ext>
                            </a:extLst>
                          </a:hlinkClick>
                        </a:rPr>
                        <a:t>IP Address: ip_address=171.184.193.14</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2" invalidUrl="" action="" tgtFrame="" tooltip="https://bofasecopsdev.service-now.com/cmdb_ci_ip_address.do?sys_id=53fc76383b6e6290489ce5d964e45a3e" history="1" highlightClick="0" endSnd="0">
                            <a:extLst>
                              <a:ext uri="{A12FA001-AC4F-418D-AE19-62706E023703}">
                                <ahyp:hlinkClr xmlns:ahyp="http://schemas.microsoft.com/office/drawing/2018/hyperlinkcolor" val="tx"/>
                              </a:ext>
                            </a:extLst>
                          </a:hlinkClick>
                        </a:rPr>
                        <a:t>171.184.193.14</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23" invalidUrl="" action="" tgtFrame="" tooltip="https://bofasecopsdev.service-now.com/cmdb_ci_network_adapter.do?sys_id=9f0d76383b6e6290489ce5d964e45aa2" history="1" highlightClick="0" endSnd="0">
                            <a:extLst>
                              <a:ext uri="{A12FA001-AC4F-418D-AE19-62706E023703}">
                                <ahyp:hlinkClr xmlns:ahyp="http://schemas.microsoft.com/office/drawing/2018/hyperlinkcolor" val="tx"/>
                              </a:ext>
                            </a:extLst>
                          </a:hlinkClick>
                        </a:rPr>
                        <a:t>ens192</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4"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[linux_server]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25" invalidUrl="" action="" tgtFrame="" tooltip="https://bofasecopsdev.service-now.com/cmdb_rel_ci_list.do?sysparm_query=parent%3D5a66006d3b68c710ae0c4047f4e45a69%5EORchild%3D5a66006d3b68c710ae0c4047f4e45a69" history="1" highlightClick="0" endSnd="0">
                            <a:extLst>
                              <a:ext uri="{A12FA001-AC4F-418D-AE19-62706E023703}">
                                <ahyp:hlinkClr xmlns:ahyp="http://schemas.microsoft.com/office/drawing/2018/hyperlinkcolor" val="tx"/>
                              </a:ext>
                            </a:extLst>
                          </a:hlinkClick>
                        </a:rPr>
                        <a:t>CI relationship: parent=5a66006d3b68c710ae0c4047f4e45a69^ORchild=5a66006d3b68c710ae0c4047f4e45a69</a:t>
                      </a:r>
                      <a:pPr indent="0" marL="0">
                        <a:buNone/>
                      </a:pPr>
                      <a:r>
                        <a:rPr lang="en-US" sz="900" dirty="0">
                          <a:solidFill>
                            <a:srgbClr val="6E7279"/>
                          </a:solidFill>
                          <a:latin typeface="Arial" pitchFamily="34" charset="0"/>
                          <a:ea typeface="Arial" pitchFamily="34" charset="-122"/>
                          <a:cs typeface="Arial" pitchFamily="34" charset="-120"/>
                        </a:rPr>
                        <a:t> (0 rows)</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Candidates for member: </a:t>
                      </a:r>
                      <a:pPr indent="0" marL="0">
                        <a:buNone/>
                      </a:pPr>
                      <a:r>
                        <a:rPr lang="en-US" sz="900" u="sng" dirty="0">
                          <a:solidFill>
                            <a:srgbClr val="012169"/>
                          </a:solidFill>
                          <a:latin typeface="Arial" pitchFamily="34" charset="0"/>
                          <a:ea typeface="Arial" pitchFamily="34" charset="-122"/>
                          <a:cs typeface="Arial" pitchFamily="34" charset="-120"/>
                          <a:hlinkClick r:id="rId26"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device record,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7" invalidUrl="" action="" tgtFrame="" tooltip="https://bofasecopsdev.service-now.com/cmdb_ci_vmware_instance.do?sys_id=dcc22ec82ba9a21093f5f1aac891bf7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adapter, not in the Hardware tree</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8"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adapter, real server</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29"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pPr indent="0" marL="0">
                        <a:buNone/>
                      </a:pPr>
                      <a:r>
                        <a:rPr lang="en-US" sz="900" dirty="0">
                          <a:solidFill>
                            <a:srgbClr val="6E7279"/>
                          </a:solidFill>
                          <a:latin typeface="Arial" pitchFamily="34" charset="0"/>
                          <a:ea typeface="Arial" pitchFamily="34" charset="-122"/>
                          <a:cs typeface="Arial" pitchFamily="34" charset="-120"/>
                        </a:rPr>
                        <a:t> via IP Address record, real 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Counts the distinct machines behind the virtual server (server records grouped by name): one machine with one live record is returned; a member the CMDB cannot place, two machines or two live records decline.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Distinct servers: </a:t>
                      </a:r>
                      <a:pPr indent="0" marL="0">
                        <a:buNone/>
                      </a:pPr>
                      <a:r>
                        <a:rPr lang="en-US" sz="900" u="sng" dirty="0">
                          <a:solidFill>
                            <a:srgbClr val="012169"/>
                          </a:solidFill>
                          <a:latin typeface="Arial" pitchFamily="34" charset="0"/>
                          <a:ea typeface="Arial" pitchFamily="34" charset="-122"/>
                          <a:cs typeface="Arial" pitchFamily="34" charset="-120"/>
                          <a:hlinkClick r:id="rId30"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lva62pwbolws51v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on the IP field so VIPs without a DNS name are covered, after USEM Load Balancer Member Match so a real server is preferred, and before the IP address rules.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IP Class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634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Four search steps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Narrowing the rows of a step.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Result.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20440"/>
          </a:xfrm>
          <a:prstGeom prst="roundRect">
            <a:avLst>
              <a:gd name="adj" fmla="val 155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1912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Cmdb_ci_lb_service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500" dirty="0"/>
          </a:p>
        </p:txBody>
      </p:sp>
      <p:sp>
        <p:nvSpPr>
          <p:cNvPr id="13" name="Text 11"/>
          <p:cNvSpPr txBox="1"/>
          <p:nvPr/>
        </p:nvSpPr>
        <p:spPr>
          <a:xfrm>
            <a:off x="6277356"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500" dirty="0"/>
          </a:p>
        </p:txBody>
      </p:sp>
      <p:sp>
        <p:nvSpPr>
          <p:cNvPr id="14" name="Shape 12"/>
          <p:cNvSpPr/>
          <p:nvPr/>
        </p:nvSpPr>
        <p:spPr>
          <a:xfrm>
            <a:off x="502920" y="51937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1937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olmerrillweb-review1-l7-vip1.gwimnp.rpg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"olmerrillweb-review1-l7-vip1" is not sep + 12 hex)  ·  controller (no controller suffix or OS word)  ·  interface (no interface domain or marker)</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"olmerrillweb-review1-l7-vip1")  ·  layered DNS (no DNS Name record for "olmerrillweb-review1-l7-vip1.gwimnp.rpg")  ·  host name (OS "F5 Networks Big-IP" gives no class / no record in the hardware tree named "olmerrillweb-review1-l7-vip1")  ·  device name (none named "olmerrillweb-review1-l7-vip1" in IP Phone or Imaging Hardware)  ·  whole-fqdn name (no record in the hardware tree named "olmerrillweb-review1-l7-vip1.gwimnp.rpg")</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member (Members: none: the member rule declines)</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SDI000003055580</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olmerrillweb-review1-l7-vip1.gwimnp.rpg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10.143.52.113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11:16:34</a:t>
            </a:r>
            <a:endParaRPr lang="en-US" sz="1000" dirty="0"/>
          </a:p>
        </p:txBody>
      </p:sp>
      <p:sp>
        <p:nvSpPr>
          <p:cNvPr id="17" name="Text 15">
            <a:hlinkClick r:id="rId1" tooltip="https://bofasecopsdev.service-now.com/sn_sec_cmn_src_ci_list.do?sysparm_query=number=SDI00000305558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"10.143.52.113"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/Common/ait74300-review1-origin_mymerrill_cdn-6001-vip on 10.143.52.113 (svedpz1rp2lb10)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371856"/>
          </a:xfrm>
          <a:prstGeom prst="rect">
            <a:avLst/>
          </a:prstGeom>
          <a:noFill/>
          <a:ln/>
        </p:spPr>
        <p:txBody>
          <a:bodyPr wrap="square" lIns="0" tIns="0" rIns="0" bIns="0" rtlCol="0" anchor="t"/>
          <a:lstStyle/>
          <a:p>
            <a:pPr indent="0" marL="0">
              <a:buNone/>
            </a:pPr>
            <a:r>
              <a:rPr lang="en-US" sz="1100" b="1" dirty="0">
                <a:solidFill>
                  <a:srgbClr val="012169"/>
                </a:solidFill>
                <a:latin typeface="Arial" pitchFamily="34" charset="0"/>
                <a:ea typeface="Arial" pitchFamily="34" charset="-122"/>
                <a:cs typeface="Arial" pitchFamily="34" charset="-120"/>
              </a:rPr>
              <a:t>/Common/ait74300-review1-origin_mymerrill_cdn-6001-vip</a:t>
            </a:r>
            <a:endParaRPr lang="en-US" sz="1100" dirty="0"/>
          </a:p>
        </p:txBody>
      </p:sp>
      <p:sp>
        <p:nvSpPr>
          <p:cNvPr id="27" name="Text 25"/>
          <p:cNvSpPr txBox="1"/>
          <p:nvPr/>
        </p:nvSpPr>
        <p:spPr>
          <a:xfrm>
            <a:off x="8714232" y="434187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61916"/>
            <a:ext cx="2715768" cy="102565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10.143.52.113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svedpz1rp2lb10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lb_service.do?sys_id=84466888930e0b50205fb5627cba107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olmerrillweb-review1-l7-vip1.gwimnp.rpg</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28ad5e36933283949110fe584dba108d" history="1" highlightClick="0" endSnd="0">
                  <a:extLst>
                    <a:ext uri="{A12FA001-AC4F-418D-AE19-62706E023703}">
                      <ahyp:hlinkClr xmlns:ahyp="http://schemas.microsoft.com/office/drawing/2018/hyperlinkcolor" val="tx"/>
                    </a:ext>
                  </a:extLst>
                </a:hlinkClick>
              </a:rPr>
              <a:t>SDI000003055580</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24a593dc2b534350e76ff4bc4e91bfb5" history="1" highlightClick="0" endSnd="0">
                  <a:extLst>
                    <a:ext uri="{A12FA001-AC4F-418D-AE19-62706E023703}">
                      <ahyp:hlinkClr xmlns:ahyp="http://schemas.microsoft.com/office/drawing/2018/hyperlinkcolor" val="tx"/>
                    </a:ext>
                  </a:extLst>
                </a:hlinkClick>
              </a:rPr>
              <a:t>BOFA Load Balancer Service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/Common/ait74300-review1-origin_mymerrill_cdn-6001-vip</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VIP sign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OS text is searched for f5, big-ip, big ip and netscaler, and the label segments for vip or vs (the word, the word plus digits, or a longer word ending in it); without a sign the rule returns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OS has "f5", OS has "big-ip", label segment "vip1"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1: fqdn = "olmerrillweb-review1-l7-vip1.gwimnp.rpg"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fqdn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b_service_list.do?sysparm_query=fqdn%3Dolmerrillweb-review1-l7-vip1.gwimnp.rpg" history="1" highlightClick="0" endSnd="0">
                            <a:extLst>
                              <a:ext uri="{A12FA001-AC4F-418D-AE19-62706E023703}">
                                <ahyp:hlinkClr xmlns:ahyp="http://schemas.microsoft.com/office/drawing/2018/hyperlinkcolor" val="tx"/>
                              </a:ext>
                            </a:extLst>
                          </a:hlinkClick>
                        </a:rPr>
                        <a:t>Load Balancer Service: fqdn=olmerrillweb-review1-l7-vip1.gwimnp.rpg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2: name = "olmerrillweb-review1-l7-vip1.gwimnp.rpg"</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lb_service_list.do?sysparm_query=name%3Dolmerrillweb-review1-l7-vip1.gwimnp.rpg" history="1" highlightClick="0" endSnd="0">
                            <a:extLst>
                              <a:ext uri="{A12FA001-AC4F-418D-AE19-62706E023703}">
                                <ahyp:hlinkClr xmlns:ahyp="http://schemas.microsoft.com/office/drawing/2018/hyperlinkcolor" val="tx"/>
                              </a:ext>
                            </a:extLst>
                          </a:hlinkClick>
                        </a:rPr>
                        <a:t>Load Balancer Service: name=olmerrillweb-review1-l7-vip1.gwimnp.rpg</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3: name = "olmerrillweb-review1-l7-vip1"</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name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no service record; next clue</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lb_service_list.do?sysparm_query=name%3Dolmerrillweb-review1-l7-vip1" history="1" highlightClick="0" endSnd="0">
                            <a:extLst>
                              <a:ext uri="{A12FA001-AC4F-418D-AE19-62706E023703}">
                                <ahyp:hlinkClr xmlns:ahyp="http://schemas.microsoft.com/office/drawing/2018/hyperlinkcolor" val="tx"/>
                              </a:ext>
                            </a:extLst>
                          </a:hlinkClick>
                        </a:rPr>
                        <a:t>Load Balancer Service: name=olmerrillweb-review1-l7-vip1</a:t>
                      </a:r>
                      <a:pPr indent="0" marL="0">
                        <a:buNone/>
                      </a:pPr>
                      <a:r>
                        <a:rPr lang="en-US" sz="900" dirty="0">
                          <a:solidFill>
                            <a:srgbClr val="6E7279"/>
                          </a:solidFill>
                          <a:latin typeface="Arial" pitchFamily="34" charset="0"/>
                          <a:ea typeface="Arial" pitchFamily="34" charset="-122"/>
                          <a:cs typeface="Arial" pitchFamily="34" charset="-120"/>
                        </a:rPr>
                        <a:t> (0 rows)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Clue 4: ip_address = "10.143.52.113"</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on Load Balancer Service (cmdb_ci_lb_service): ip_address equal to the value, ignored classes left out. Nothing found hands over to the next clue; one record settles the search; records of two different names end the rule.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service record: /Common/ait74300-review1-origin_mymerrill_cdn-6001-vip on 10.143.52.113 (svedpz1rp2lb10)</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lb_service_list.do?sysparm_query=ip_address%3D10.143.52.113" history="1" highlightClick="0" endSnd="0">
                            <a:extLst>
                              <a:ext uri="{A12FA001-AC4F-418D-AE19-62706E023703}">
                                <ahyp:hlinkClr xmlns:ahyp="http://schemas.microsoft.com/office/drawing/2018/hyperlinkcolor" val="tx"/>
                              </a:ext>
                            </a:extLst>
                          </a:hlinkClick>
                        </a:rPr>
                        <a:t>Load Balancer Service: ip_address=10.143.52.113</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9"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/Common/ait74300-review1-origin_mymerrill_cdn-6001-vip</a:t>
                      </a:r>
                      <a:pPr indent="0" marL="0">
                        <a:buNone/>
                      </a:pPr>
                      <a:r>
                        <a:rPr lang="en-US" sz="900" dirty="0">
                          <a:solidFill>
                            <a:srgbClr val="6E7279"/>
                          </a:solidFill>
                          <a:latin typeface="Arial" pitchFamily="34" charset="0"/>
                          <a:ea typeface="Arial" pitchFamily="34" charset="-122"/>
                          <a:cs typeface="Arial" pitchFamily="34" charset="-120"/>
                        </a:rPr>
                        <a:t> → pool </a:t>
                      </a:r>
                      <a:pPr indent="0" marL="0">
                        <a:buNone/>
                      </a:pPr>
                      <a:r>
                        <a:rPr lang="en-US" sz="900" u="sng" dirty="0">
                          <a:solidFill>
                            <a:srgbClr val="012169"/>
                          </a:solidFill>
                          <a:latin typeface="Arial" pitchFamily="34" charset="0"/>
                          <a:ea typeface="Arial" pitchFamily="34" charset="-122"/>
                          <a:cs typeface="Arial" pitchFamily="34" charset="-120"/>
                          <a:hlinkClick r:id="rId10" invalidUrl="" action="" tgtFrame="" tooltip="https://bofasecopsdev.service-now.com/cmdb_ci_lb_pool.do?sys_id=88466888930e0b50205fb5627cba107b" history="1" highlightClick="0" endSnd="0">
                            <a:extLst>
                              <a:ext uri="{A12FA001-AC4F-418D-AE19-62706E023703}">
                                <ahyp:hlinkClr xmlns:ahyp="http://schemas.microsoft.com/office/drawing/2018/hyperlinkcolor" val="tx"/>
                              </a:ext>
                            </a:extLst>
                          </a:hlinkClick>
                        </a:rPr>
                        <a:t>/Common/gpconline-review1-olui2-20460-pool</a:t>
                      </a:r>
                      <a:pPr indent="0" marL="0">
                        <a:buNone/>
                      </a:pPr>
                      <a:r>
                        <a:rPr lang="en-US" sz="900" dirty="0">
                          <a:solidFill>
                            <a:srgbClr val="6E7279"/>
                          </a:solidFill>
                          <a:latin typeface="Arial" pitchFamily="34" charset="0"/>
                          <a:ea typeface="Arial" pitchFamily="34" charset="-122"/>
                          <a:cs typeface="Arial" pitchFamily="34" charset="-120"/>
                        </a:rPr>
                        <a:t> on balancer </a:t>
                      </a:r>
                      <a:pPr indent="0" marL="0">
                        <a:buNone/>
                      </a:pPr>
                      <a:r>
                        <a:rPr lang="en-US" sz="900" u="sng" dirty="0">
                          <a:solidFill>
                            <a:srgbClr val="012169"/>
                          </a:solidFill>
                          <a:latin typeface="Arial" pitchFamily="34" charset="0"/>
                          <a:ea typeface="Arial" pitchFamily="34" charset="-122"/>
                          <a:cs typeface="Arial" pitchFamily="34" charset="-120"/>
                          <a:hlinkClick r:id="rId11" invalidUrl="" action="" tgtFrame="" tooltip="https://bofasecopsdev.service-now.com/cmdb_ci_lb_bigip.do?sys_id=8838d7523b752210d5062b64c3e45a68" history="1" highlightClick="0" endSnd="0">
                            <a:extLst>
                              <a:ext uri="{A12FA001-AC4F-418D-AE19-62706E023703}">
                                <ahyp:hlinkClr xmlns:ahyp="http://schemas.microsoft.com/office/drawing/2018/hyperlinkcolor" val="tx"/>
                              </a:ext>
                            </a:extLst>
                          </a:hlinkClick>
                        </a:rPr>
                        <a:t>svedpz1rp2lb10</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one live service record left is attached as the CI; two names or two live records decline. The pool is not read: that is the member rule's job.</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address rule: every serial and name rule has already declined, and an address is the weakest identifier (addresses move between machines and are shared by load balancers), so the class restriction plus host-name agreement make it safe.</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Load Balancer Service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15,674</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Search inside that class only.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Host-name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 OS empty, more than two '/'-separated guesses, or no keyword matched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table classFor returned is not valid on the instance (gr.isValid() false)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address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wpa11bwmleas05v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"wpa11bwmleas05v"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"wpa11bwmleas05v")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"wpa11bwmleas05v": a tie / 2 records in the hardware tree named "wpa11bwmleas05v": a tie)  ·  whole-fqdn name (2 records in the hardware tree named "wpa11bwmleas05v":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SDI000003093964</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30.30.58.0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2022 Standard 64 bit Edition Version 21H2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05:57:44</a:t>
            </a:r>
            <a:endParaRPr lang="en-US" sz="1000" dirty="0"/>
          </a:p>
        </p:txBody>
      </p:sp>
      <p:sp>
        <p:nvSpPr>
          <p:cNvPr id="17" name="Text 15">
            <a:hlinkClick r:id="rId1" tooltip="https://bofasecopsdev.service-now.com/sn_sec_cmn_src_ci_list.do?sysparm_query=number=SDI0000030939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9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"30.30.58.0"; OS "Windows Server 2022 Standard 64 bit Edition Version 21H2"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wpa11bwmleas05v [win_server] ip 30.30.58.0 -&gt; exactly one, accepted; name agrees with the scanned label "wpa11bwmleas05v"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wpa11bwmleas05v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wpa11bwmleas05v.corp.bankofamerica.com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30.30.58.0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07 19 b9 17 fe fc 88-df 6e bb 05 d3 04 0c f5</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c785e52bfbddc7d0f40ef34c5eefdcc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wpa11bwmleas05v</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ff38b63a93bec310cfcebc5a7bba10bf" history="1" highlightClick="0" endSnd="0">
                  <a:extLst>
                    <a:ext uri="{A12FA001-AC4F-418D-AE19-62706E023703}">
                      <ahyp:hlinkClr xmlns:ahyp="http://schemas.microsoft.com/office/drawing/2018/hyperlinkcolor" val="tx"/>
                    </a:ext>
                  </a:extLst>
                </a:hlinkClick>
              </a:rPr>
              <a:t>SDI000003093964</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3adceccf47624710a1a9295b416d43f9" history="1" highlightClick="0" endSnd="0">
                  <a:extLst>
                    <a:ext uri="{A12FA001-AC4F-418D-AE19-62706E023703}">
                      <ahyp:hlinkClr xmlns:ahyp="http://schemas.microsoft.com/office/drawing/2018/hyperlinkcolor" val="tx"/>
                    </a:ext>
                  </a:extLst>
                </a:hlinkClick>
              </a:rPr>
              <a:t>BOFA IP Class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wpa11bwmleas05v</a:t>
            </a:r>
            <a:endParaRPr lang="en-US" sz="10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classFor(sourcePayload.OS) turns the OS text "Windows Server 2022 Standard 64 bit Edition Version 21H2" into the CMDB class the search is limited to, sub-classes included; no class means null.</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"30.30.58.0"; OS "Windows Server 2022 Standard 64 bit Edition Version 21H2" gives the class win_server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wpa11bwmleas05v [win_server] ip 30.30.58.0 -&gt; exactly one, accepted; name agrees with the scanned label "wpa11bwmleas05v"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win_server_list.do?sysparm_query=ip_address%3D30.30.58.0" history="1" highlightClick="0" endSnd="0">
                            <a:extLst>
                              <a:ext uri="{A12FA001-AC4F-418D-AE19-62706E023703}">
                                <ahyp:hlinkClr xmlns:ahyp="http://schemas.microsoft.com/office/drawing/2018/hyperlinkcolor" val="tx"/>
                              </a:ext>
                            </a:extLst>
                          </a:hlinkClick>
                        </a:rPr>
                        <a:t>win server: ip_address=30.30.58.0</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wpa11bwmleas05v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class-restricted rule to reach CIs kept in a parent class or hosts whose OS gave no class.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20,422</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Search across the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Load balancer refusal.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Host-name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9   Return.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406140"/>
          </a:xfrm>
          <a:prstGeom prst="roundRect">
            <a:avLst>
              <a:gd name="adj" fmla="val 161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076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row carries the same address (hasNext() true), whatever the classes involved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CI is a load balancer: cmdb_ci_lb is a valid table and cmdb_ci_lb.get(sys_id) succeeds</a:t>
            </a:r>
            <a:endParaRPr lang="en-US" sz="1500" dirty="0"/>
          </a:p>
        </p:txBody>
      </p:sp>
      <p:sp>
        <p:nvSpPr>
          <p:cNvPr id="13" name="Text 11"/>
          <p:cNvSpPr txBox="1"/>
          <p:nvPr/>
        </p:nvSpPr>
        <p:spPr>
          <a:xfrm>
            <a:off x="6277356"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1500" dirty="0"/>
          </a:p>
        </p:txBody>
      </p:sp>
      <p:sp>
        <p:nvSpPr>
          <p:cNvPr id="14" name="Shape 12"/>
          <p:cNvSpPr/>
          <p:nvPr/>
        </p:nvSpPr>
        <p:spPr>
          <a:xfrm>
            <a:off x="502920" y="5079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079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Adapter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wva20bmsendb01v.corp.bankofamerica.com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computer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"wva20bmsendb01v" is not sep + 12 hex)  ·  device name (OS gives the class win_server)  ·  controller (no controller suffix or OS word)  ·  interface (no interface domain or marker)  ·  member (no VIP sign)  ·  service (no VIP sign)</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layered DNS (no DNS Name record for "wva20bmsendb01v.corp.bankofamerica.com")  ·  whole-fqdn name (no record in the hardware tree named "wva20bmsendb01v.corp.bankofamerica.com")  ·  address (no record in win_server carries the address)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(3 records in win_server carry the fqdn: a tie / 3 records in the hardware tree carry the fqdn: a tie)  ·  name + domain (3 named "wva20bmsendb01v", 3 with the domain "corp.bankofamerica.com": a tie / 4 named "wva20bmsendb01v", 3 with the domain "corp.bankofamerica.com": a tie)  ·  host name (3 records in win_server named "wva20bmsendb01v": a tie / 4 records in the hardware tree named "wva20bmsendb01v": a tie)</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SDI000003007215</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9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wva20bmsendb01v.corp.bankofamerica.com</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00" dirty="0">
                <a:solidFill>
                  <a:srgbClr val="4D4F53"/>
                </a:solidFill>
                <a:latin typeface="Arial" pitchFamily="34" charset="0"/>
                <a:ea typeface="Arial" pitchFamily="34" charset="-122"/>
                <a:cs typeface="Arial" pitchFamily="34" charset="-120"/>
              </a:rPr>
              <a:t>30.37.248.149</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900" dirty="0">
                <a:solidFill>
                  <a:srgbClr val="4D4F53"/>
                </a:solidFill>
                <a:latin typeface="Arial" pitchFamily="34" charset="0"/>
                <a:ea typeface="Arial" pitchFamily="34" charset="-122"/>
                <a:cs typeface="Arial" pitchFamily="34" charset="-120"/>
              </a:rPr>
              <a:t>Windows Server 2022 Standard 64 bit Edition Version 21H2</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900" dirty="0">
                <a:solidFill>
                  <a:srgbClr val="4D4F53"/>
                </a:solidFill>
                <a:latin typeface="Arial" pitchFamily="34" charset="0"/>
                <a:ea typeface="Arial" pitchFamily="34" charset="-122"/>
                <a:cs typeface="Arial" pitchFamily="34" charset="-120"/>
              </a:rPr>
              <a:t>AGENT</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900" dirty="0">
                <a:solidFill>
                  <a:srgbClr val="4D4F53"/>
                </a:solidFill>
                <a:latin typeface="Arial" pitchFamily="34" charset="0"/>
                <a:ea typeface="Arial" pitchFamily="34" charset="-122"/>
                <a:cs typeface="Arial" pitchFamily="34" charset="-120"/>
              </a:rPr>
              <a:t>2026-09-21 05:37:59</a:t>
            </a:r>
            <a:endParaRPr lang="en-US" sz="900" dirty="0"/>
          </a:p>
        </p:txBody>
      </p:sp>
      <p:sp>
        <p:nvSpPr>
          <p:cNvPr id="17" name="Text 15">
            <a:hlinkClick r:id="rId1" tooltip="https://bofasecopsdev.service-now.com/sn_sec_cmn_src_ci_list.do?sysparm_query=number=SDI00000300721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72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"30.37.248.149";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wva20bmsendb01v</a:t>
            </a:r>
            <a:endParaRPr lang="en-US" sz="1500" dirty="0"/>
          </a:p>
        </p:txBody>
      </p:sp>
      <p:sp>
        <p:nvSpPr>
          <p:cNvPr id="27" name="Text 25"/>
          <p:cNvSpPr txBox="1"/>
          <p:nvPr/>
        </p:nvSpPr>
        <p:spPr>
          <a:xfrm>
            <a:off x="8714232" y="42626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4582668"/>
            <a:ext cx="2715768" cy="11049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30.37.248.149</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VMware-423fcfe1-4c6f-62ab-ff9d-e6861bc33d2c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computer.do?sys_id=f1593dbd3b74c710ef3892e643e45a8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wva20bmsendb01v.corp.bankofamerica.com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614df97e3b328b189289d164c3e45a44" history="1" highlightClick="0" endSnd="0">
                  <a:extLst>
                    <a:ext uri="{A12FA001-AC4F-418D-AE19-62706E023703}">
                      <ahyp:hlinkClr xmlns:ahyp="http://schemas.microsoft.com/office/drawing/2018/hyperlinkcolor" val="tx"/>
                    </a:ext>
                  </a:extLst>
                </a:hlinkClick>
              </a:rPr>
              <a:t>SDI000003007215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5bad640347a24710a1a9295b416d43b2" history="1" highlightClick="0" endSnd="0">
                  <a:extLst>
                    <a:ext uri="{A12FA001-AC4F-418D-AE19-62706E023703}">
                      <ahyp:hlinkClr xmlns:ahyp="http://schemas.microsoft.com/office/drawing/2018/hyperlinkcolor" val="tx"/>
                    </a:ext>
                  </a:extLst>
                </a:hlinkClick>
              </a:rPr>
              <a:t>BOFA IP Hardware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wva20bmsendb01v</a:t>
            </a:r>
            <a:endParaRPr lang="en-US" sz="10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"30.37.248.149"; the whole hardware tree, the OS class kept as a preference</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carrying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ip_address equal to the scanned IP, ignored classes left out. Exactly one row is returned when it is not a load balancer device, its class agrees with the OS class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hardware_list.do?sysparm_query=ip_address%3D30.37.248.149" history="1" highlightClick="0" endSnd="0">
                            <a:extLst>
                              <a:ext uri="{A12FA001-AC4F-418D-AE19-62706E023703}">
                                <ahyp:hlinkClr xmlns:ahyp="http://schemas.microsoft.com/office/drawing/2018/hyperlinkcolor" val="tx"/>
                              </a:ext>
                            </a:extLst>
                          </a:hlinkClick>
                        </a:rPr>
                        <a:t>Hardware: ip_address=30.37.248.149</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wva20bmsendb01v</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two rules that read the CI record because a multi-homed server keeps its addresses on adapter records rather than in its own ip_address field.</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Layered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46,195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Adapter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owning CI has a class agrees() refuses, so count stays 0</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Adapters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Layered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a-vjp2d000i0175-nfs.apac.sdi.corp.bankofamerica.com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"a-vjp2d000i0175-nfs"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"a-vjp2d000i0175-nfs")  ·  layered DNS (no DNS Name record for "a-vjp2d000i0175-nfs.apac.sdi.corp.bankofamerica.com")  ·  host name (no record in the hardware tree named "a-vjp2d000i0175-nfs")  ·  whole-fqdn name (no record in the hardware tree named "a-vjp2d000i0175-nfs.apac.sdi.corp.bankofamerica.com")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SDI000002813895</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a-vjp2d000i0175-nfs.apac.sdi.corp.bankofamerica.com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165.38.176.81</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05:54:28</a:t>
            </a:r>
            <a:endParaRPr lang="en-US" sz="1000" dirty="0"/>
          </a:p>
        </p:txBody>
      </p:sp>
      <p:sp>
        <p:nvSpPr>
          <p:cNvPr id="17" name="Text 15">
            <a:hlinkClick r:id="rId1" tooltip="https://bofasecopsdev.service-now.com/sn_sec_cmn_src_ci_list.do?sysparm_query=number=SDI00000281389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138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a-vjp2d000i0175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"a-vjp2d000i0175-nfs"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a-vjp2d000i0175</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a-vjp2d000i0175.apac.sdi.corp.bankofamerica.com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165.38.175.81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8Z7QHB4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R7615 210-BHRH</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abb100a52b976e908afbf3b28191bf4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a-vjp2d000i0175-nfs.apac.sdi.corp.bankofamerica.com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c6ab93a293724750a2b4f91e1dba10a8" history="1" highlightClick="0" endSnd="0">
                  <a:extLst>
                    <a:ext uri="{A12FA001-AC4F-418D-AE19-62706E023703}">
                      <ahyp:hlinkClr xmlns:ahyp="http://schemas.microsoft.com/office/drawing/2018/hyperlinkcolor" val="tx"/>
                    </a:ext>
                  </a:extLst>
                </a:hlinkClick>
              </a:rPr>
              <a:t>SDI000002813895</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0740b48347a24710a1a9295b416d4315" history="1" highlightClick="0" endSnd="0">
                  <a:extLst>
                    <a:ext uri="{A12FA001-AC4F-418D-AE19-62706E023703}">
                      <ahyp:hlinkClr xmlns:ahyp="http://schemas.microsoft.com/office/drawing/2018/hyperlinkcolor" val="tx"/>
                    </a:ext>
                  </a:extLst>
                </a:hlinkClick>
              </a:rPr>
              <a:t>BOFA IP Adapter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a-vjp2d000i0175</a:t>
            </a:r>
            <a:endParaRPr lang="en-US" sz="10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Adapter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Network Adapter records (cmdb_ci_network_adapter) whose ip_address is the scanned IP and that belong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adapter vmk3 -&gt; a-vjp2d000i0175 [esx_server]</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network_adapter_list.do?sysparm_query=ip_address%3D165.38.176.81" history="1" highlightClick="0" endSnd="0">
                            <a:extLst>
                              <a:ext uri="{A12FA001-AC4F-418D-AE19-62706E023703}">
                                <ahyp:hlinkClr xmlns:ahyp="http://schemas.microsoft.com/office/drawing/2018/hyperlinkcolor" val="tx"/>
                              </a:ext>
                            </a:extLst>
                          </a:hlinkClick>
                        </a:rPr>
                        <a:t>Network Adapter: ip_address=165.38.176.81</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network_adapter.do?sys_id=3e5fc7ef47dfe29464eca755516d4301" history="1" highlightClick="0" endSnd="0">
                            <a:extLst>
                              <a:ext uri="{A12FA001-AC4F-418D-AE19-62706E023703}">
                                <ahyp:hlinkClr xmlns:ahyp="http://schemas.microsoft.com/office/drawing/2018/hyperlinkcolor" val="tx"/>
                              </a:ext>
                            </a:extLst>
                          </a:hlinkClick>
                        </a:rPr>
                        <a:t>vmk3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a-vjp2d000i0175</a:t>
                      </a:r>
                      <a:pPr indent="0" marL="0">
                        <a:buNone/>
                      </a:pPr>
                      <a:r>
                        <a:rPr lang="en-US" sz="900" dirty="0">
                          <a:solidFill>
                            <a:srgbClr val="6E7279"/>
                          </a:solidFill>
                          <a:latin typeface="Arial" pitchFamily="34" charset="0"/>
                          <a:ea typeface="Arial" pitchFamily="34" charset="-122"/>
                          <a:cs typeface="Arial" pitchFamily="34" charset="-120"/>
                        </a:rPr>
                        <a:t> [esx_server]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"a-vjp2d000i0175-nfs"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last address rule because newer discovery writes each address there and may leave the adapter's own ip_address empty, so the previous three rules find nothing.</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Broad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7,968</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IP Address record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cmdb_ci_ip_address table is not valid on the instance (ipGr.isValid()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cmdb_ci_ip_address row with that ip_address reaches a CI (nic.cmdb_ci empty) outside the ignore list</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has a class agrees() refuses, so count stays 0</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Address records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Broad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ididjktnx07sdm0001-vl603.asia.bankofamerica.com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"ididjktnx07sdm0001-vl603" is not sep + 12 hex)  ·  device name (OS gives the class netgear)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"ididjktnx07sdm0001-vl603")  ·  layered DNS (no DNS Name record for "ididjktnx07sdm0001-vl603.asia.bankofamerica.com")  ·  host name (no record in the hardware tree named "ididjktnx07sdm0001-vl603")  ·  whole-fqdn name (no record in the hardware tree named "ididjktnx07sdm0001-vl603.asia.bankofamerica.com")  ·  address (no record in the hardware tree carries the address)  ·  adapter (no adapter on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SDI000002376737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ididjktnx07sdm0001-vl603.asia.bankofamerica.com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165.40.253.178</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Cisco Nexus Switch</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08:47:59</a:t>
            </a:r>
            <a:endParaRPr lang="en-US" sz="1000" dirty="0"/>
          </a:p>
        </p:txBody>
      </p:sp>
      <p:sp>
        <p:nvSpPr>
          <p:cNvPr id="17" name="Text 15">
            <a:hlinkClick r:id="rId1" tooltip="https://bofasecopsdev.service-now.com/sn_sec_cmn_src_ci_list.do?sysparm_query=number=SDI00000237673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673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"165.40.253.178"; OS "Cisco Nexus Switch" gives the class netgear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Vlan603 -&gt; ididjktnx07sdm0001 [ip_switch]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"ididjktnx07sdm0001-vl603"</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ididjktnx07sdm0001</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10.214.35.6</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FDO23390LQU</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Cisco Systems, Inc. Nexus 9300-EX Series 93180YC-EX</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ip_switch.do?sys_id=c835c6e83ba822d0670e839704e45ae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ididjktnx07sdm0001-vl603.asia.bankofamerica.com</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795ad412933a8b10a2b4f91e1dba10be" history="1" highlightClick="0" endSnd="0">
                  <a:extLst>
                    <a:ext uri="{A12FA001-AC4F-418D-AE19-62706E023703}">
                      <ahyp:hlinkClr xmlns:ahyp="http://schemas.microsoft.com/office/drawing/2018/hyperlinkcolor" val="tx"/>
                    </a:ext>
                  </a:extLst>
                </a:hlinkClick>
              </a:rPr>
              <a:t>SDI000002376737</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d14eaccf47624710a1a9295b416d43bf" history="1" highlightClick="0" endSnd="0">
                  <a:extLst>
                    <a:ext uri="{A12FA001-AC4F-418D-AE19-62706E023703}">
                      <ahyp:hlinkClr xmlns:ahyp="http://schemas.microsoft.com/office/drawing/2018/hyperlinkcolor" val="tx"/>
                    </a:ext>
                  </a:extLst>
                </a:hlinkClick>
              </a:rPr>
              <a:t>BOFA IP Layered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ididjktnx07sdm0001</a:t>
            </a:r>
            <a:endParaRPr lang="en-US" sz="10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Trims the scanned IP (sourceValue); loopback and link-local addresses are refused. The OS class is kept as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"165.40.253.178"; OS "Cisco Nexus Switch" gives the class netgear (a preference for class agreement)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Address records on the address</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IP Address records (cmdb_ci_ip_address) on the scanned IP whose adapter belongs to a CI, ignored classes left out; the owning CIs whose class agrees with the OS are kept.</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IP Address record -&gt; adapter Vlan603 -&gt; ididjktnx07sdm0001 [ip_switch]</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ip_address_list.do?sysparm_query=ip_address%3D165.40.253.178" history="1" highlightClick="0" endSnd="0">
                            <a:extLst>
                              <a:ext uri="{A12FA001-AC4F-418D-AE19-62706E023703}">
                                <ahyp:hlinkClr xmlns:ahyp="http://schemas.microsoft.com/office/drawing/2018/hyperlinkcolor" val="tx"/>
                              </a:ext>
                            </a:extLst>
                          </a:hlinkClick>
                        </a:rPr>
                        <a:t>IP Address: ip_address=165.40.253.178</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ip_address.do?sys_id=f03542a03ba026d0d5062b64c3e45a79" history="1" highlightClick="0" endSnd="0">
                            <a:extLst>
                              <a:ext uri="{A12FA001-AC4F-418D-AE19-62706E023703}">
                                <ahyp:hlinkClr xmlns:ahyp="http://schemas.microsoft.com/office/drawing/2018/hyperlinkcolor" val="tx"/>
                              </a:ext>
                            </a:extLst>
                          </a:hlinkClick>
                        </a:rPr>
                        <a:t>165.40.253.178</a:t>
                      </a:r>
                      <a:pPr indent="0" marL="0">
                        <a:buNone/>
                      </a:pPr>
                      <a:r>
                        <a:rPr lang="en-US" sz="900" dirty="0">
                          <a:solidFill>
                            <a:srgbClr val="6E7279"/>
                          </a:solidFill>
                          <a:latin typeface="Arial" pitchFamily="34" charset="0"/>
                          <a:ea typeface="Arial" pitchFamily="34" charset="-122"/>
                          <a:cs typeface="Arial" pitchFamily="34" charset="-120"/>
                        </a:rPr>
                        <a:t> → adapter </a:t>
                      </a:r>
                      <a:pPr indent="0" marL="0">
                        <a:buNone/>
                      </a:pPr>
                      <a:r>
                        <a:rPr lang="en-US" sz="900" u="sng" dirty="0">
                          <a:solidFill>
                            <a:srgbClr val="012169"/>
                          </a:solidFill>
                          <a:latin typeface="Arial" pitchFamily="34" charset="0"/>
                          <a:ea typeface="Arial" pitchFamily="34" charset="-122"/>
                          <a:cs typeface="Arial" pitchFamily="34" charset="-120"/>
                          <a:hlinkClick r:id="rId7" invalidUrl="" action="" tgtFrame="" tooltip="https://bofasecopsdev.service-now.com/cmdb_ci_network_adapter.do?sys_id=453582a03ba026d0d5062b64c3e45a44" history="1" highlightClick="0" endSnd="0">
                            <a:extLst>
                              <a:ext uri="{A12FA001-AC4F-418D-AE19-62706E023703}">
                                <ahyp:hlinkClr xmlns:ahyp="http://schemas.microsoft.com/office/drawing/2018/hyperlinkcolor" val="tx"/>
                              </a:ext>
                            </a:extLst>
                          </a:hlinkClick>
                        </a:rPr>
                        <a:t>Vlan603</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8"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ididjktnx07sdm0001</a:t>
                      </a:r>
                      <a:pPr indent="0" marL="0">
                        <a:buNone/>
                      </a:pPr>
                      <a:r>
                        <a:rPr lang="en-US" sz="900" dirty="0">
                          <a:solidFill>
                            <a:srgbClr val="6E7279"/>
                          </a:solidFill>
                          <a:latin typeface="Arial" pitchFamily="34" charset="0"/>
                          <a:ea typeface="Arial" pitchFamily="34" charset="-122"/>
                          <a:cs typeface="Arial" pitchFamily="34" charset="-120"/>
                        </a:rPr>
                        <a:t> [ip_switch]</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Decision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distinct owning CIs are counted: exactly one is returned when it is not a load balancer device and its name agrees with the scanned label (equal, or one a hyphenated extension of the other).</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distinct owning CI; not a load balancer device; name agrees with "ididjktnx07sdm0001-vl603"</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last so every more precise rule has had its chance.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IP Layered Match</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the platform's own rules (FQDN, NetBIOS, DNS)</a:t>
            </a:r>
            <a:endParaRPr lang="en-US" sz="10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2,500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49800"/>
          </a:xfrm>
          <a:prstGeom prst="roundRect">
            <a:avLst>
              <a:gd name="adj" fmla="val 115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the root cmdb_ci table on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350" dirty="0"/>
          </a:p>
        </p:txBody>
      </p:sp>
      <p:sp>
        <p:nvSpPr>
          <p:cNvPr id="10" name="Text 8"/>
          <p:cNvSpPr txBox="1"/>
          <p:nvPr/>
        </p:nvSpPr>
        <p:spPr>
          <a:xfrm>
            <a:off x="6277356"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 row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 rows share that name (gr.hasNext() true), whatever their class, IP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the platform's own rules (FQDN, NetBIOS, DNS)</a:t>
            </a:r>
            <a:pPr indent="0" marL="0">
              <a:buNone/>
            </a:pPr>
            <a:r>
              <a:rPr lang="en-US" sz="1250" dirty="0">
                <a:solidFill>
                  <a:srgbClr val="4D4F53"/>
                </a:solidFill>
                <a:latin typeface="Arial" pitchFamily="34" charset="0"/>
                <a:ea typeface="Arial" pitchFamily="34" charset="-122"/>
                <a:cs typeface="Arial" pitchFamily="34" charset="-120"/>
              </a:rPr>
              <a:t>.</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lrchac13xsdi001.sdi.corp.bankofamerica.com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"lrchac13xsdi001"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"lrchac13xsdi001.sdi.corp.bankofamerica.com")  ·  device name (none named "lrchac13xsdi001" in IP Phone or Imaging Hardware)  ·  whole-fqdn name (no record in the hardware tree named "lrchac13xsdi001.sdi.corp.bankofamerica.com")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"lrchac13xsdi001", none with the domain "sdi.corp.bankofamerica.com")  ·  host name (2 records in linux_server named "lrchac13xsdi001": a tie / 2 records in the hardware tree named "lrchac13xsdi001":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SDI000003669791</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lrchac13xsdi001.sdi.corp.bankofamerica.com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30.38.246.10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06:07:25</a:t>
            </a:r>
            <a:endParaRPr lang="en-US" sz="1000" dirty="0"/>
          </a:p>
        </p:txBody>
      </p:sp>
      <p:sp>
        <p:nvSpPr>
          <p:cNvPr id="17" name="Text 15">
            <a:hlinkClick r:id="rId1" tooltip="https://bofasecopsdev.service-now.com/sn_sec_cmn_src_ci_list.do?sysparm_query=number=SDI00000366979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"lrchac13xsdi001.sdi.corp.bankofamerica.com"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lrchac13xsdi001.sdi.corp.bankofamerica.com [kubernetes_node] ip 30.38.246.10 -&gt;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lrchac13xsdi001.sdi.corp.bankofamerica.com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b0da27023beba690dee4bcdc73e45a1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1 STEP BY STEP</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lrchac13xsdi001.sdi.corp.bankofamerica.com</a:t>
            </a:r>
            <a:endParaRPr lang="en-US" sz="27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7" name="Text 5"/>
          <p:cNvSpPr txBox="1"/>
          <p:nvPr/>
        </p:nvSpPr>
        <p:spPr>
          <a:xfrm>
            <a:off x="502920" y="1042416"/>
            <a:ext cx="11183112" cy="274320"/>
          </a:xfrm>
          <a:prstGeom prst="rect">
            <a:avLst/>
          </a:prstGeom>
          <a:noFill/>
          <a:ln/>
        </p:spPr>
        <p:txBody>
          <a:bodyPr wrap="square" lIns="0" tIns="0" rIns="0" bIns="0" rtlCol="0" anchor="t"/>
          <a:lstStyle/>
          <a:p>
            <a:pPr indent="0" marL="0">
              <a:buNone/>
            </a:pPr>
            <a:r>
              <a:rPr lang="en-US" sz="1000" dirty="0">
                <a:solidFill>
                  <a:srgbClr val="6E7279"/>
                </a:solidFill>
                <a:latin typeface="Arial" pitchFamily="34" charset="0"/>
                <a:ea typeface="Arial" pitchFamily="34" charset="-122"/>
                <a:cs typeface="Arial" pitchFamily="34" charset="-120"/>
              </a:rPr>
              <a:t>Discovered item </a:t>
            </a:r>
            <a:pPr indent="0" marL="0">
              <a:buNone/>
            </a:pPr>
            <a:r>
              <a:rPr lang="en-US" sz="100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do?sys_id=4da1e6f8935b4798cfcebc5a7bba1022" history="1" highlightClick="0" endSnd="0">
                  <a:extLst>
                    <a:ext uri="{A12FA001-AC4F-418D-AE19-62706E023703}">
                      <ahyp:hlinkClr xmlns:ahyp="http://schemas.microsoft.com/office/drawing/2018/hyperlinkcolor" val="tx"/>
                    </a:ext>
                  </a:extLst>
                </a:hlinkClick>
              </a:rPr>
              <a:t>SDI000003669791</a:t>
            </a:r>
            <a:pPr indent="0" marL="0">
              <a:buNone/>
            </a:pPr>
            <a:r>
              <a:rPr lang="en-US" sz="1000" dirty="0">
                <a:solidFill>
                  <a:srgbClr val="6E7279"/>
                </a:solidFill>
                <a:latin typeface="Arial" pitchFamily="34" charset="0"/>
                <a:ea typeface="Arial" pitchFamily="34" charset="-122"/>
                <a:cs typeface="Arial" pitchFamily="34" charset="-120"/>
              </a:rPr>
              <a:t>   ·   rule record </a:t>
            </a:r>
            <a:pPr indent="0" marL="0">
              <a:buNone/>
            </a:pPr>
            <a:r>
              <a:rPr lang="en-US" sz="1000" u="sng" dirty="0">
                <a:solidFill>
                  <a:srgbClr val="012169"/>
                </a:solidFill>
                <a:latin typeface="Arial" pitchFamily="34" charset="0"/>
                <a:ea typeface="Arial" pitchFamily="34" charset="-122"/>
                <a:cs typeface="Arial" pitchFamily="34" charset="-120"/>
                <a:hlinkClick r:id="rId2" invalidUrl="" action="" tgtFrame="" tooltip="https://bofasecopsdev.service-now.com/sn_sec_cmn_ci_lookup_rule.do?sys_id=ee9fe04347a24710a1a9295b416d43e2" history="1" highlightClick="0" endSnd="0">
                  <a:extLst>
                    <a:ext uri="{A12FA001-AC4F-418D-AE19-62706E023703}">
                      <ahyp:hlinkClr xmlns:ahyp="http://schemas.microsoft.com/office/drawing/2018/hyperlinkcolor" val="tx"/>
                    </a:ext>
                  </a:extLst>
                </a:hlinkClick>
              </a:rPr>
              <a:t>BOFA FQDN Name Broad Match</a:t>
            </a:r>
            <a:pPr indent="0" marL="0">
              <a:buNone/>
            </a:pPr>
            <a:r>
              <a:rPr lang="en-US" sz="1000" dirty="0">
                <a:solidFill>
                  <a:srgbClr val="6E7279"/>
                </a:solidFill>
                <a:latin typeface="Arial" pitchFamily="34" charset="0"/>
                <a:ea typeface="Arial" pitchFamily="34" charset="-122"/>
                <a:cs typeface="Arial" pitchFamily="34" charset="-120"/>
              </a:rPr>
              <a:t>   ·   ignored classes </a:t>
            </a:r>
            <a:pPr indent="0" marL="0">
              <a:buNone/>
            </a:pPr>
            <a:r>
              <a:rPr lang="en-US" sz="1000" u="sng" dirty="0">
                <a:solidFill>
                  <a:srgbClr val="012169"/>
                </a:solidFill>
                <a:latin typeface="Arial" pitchFamily="34" charset="0"/>
                <a:ea typeface="Arial" pitchFamily="34" charset="-122"/>
                <a:cs typeface="Arial" pitchFamily="34" charset="-120"/>
                <a:hlinkClick r:id="rId3" invalidUrl="" action="" tgtFrame="" tooltip="https://bofasecopsdev.service-now.com/sys_properties.do?sys_id=af50c993e7123b0035c6ae29c2f6a98a" history="1" highlightClick="0" endSnd="0">
                  <a:extLst>
                    <a:ext uri="{A12FA001-AC4F-418D-AE19-62706E023703}">
                      <ahyp:hlinkClr xmlns:ahyp="http://schemas.microsoft.com/office/drawing/2018/hyperlinkcolor" val="tx"/>
                    </a:ext>
                  </a:extLst>
                </a:hlinkClick>
              </a:rPr>
              <a:t>sn_sec_cmn.ignoreCIClass</a:t>
            </a:r>
            <a:pPr indent="0" marL="0">
              <a:buNone/>
            </a:pPr>
            <a:r>
              <a:rPr lang="en-US" sz="1000" dirty="0">
                <a:solidFill>
                  <a:srgbClr val="6E7279"/>
                </a:solidFill>
                <a:latin typeface="Arial" pitchFamily="34" charset="0"/>
                <a:ea typeface="Arial" pitchFamily="34" charset="-122"/>
                <a:cs typeface="Arial" pitchFamily="34" charset="-120"/>
              </a:rPr>
              <a:t>   ·   CI returned </a:t>
            </a:r>
            <a:pPr indent="0" marL="0">
              <a:buNone/>
            </a:pPr>
            <a:r>
              <a:rPr lang="en-US" sz="1000" u="sng" dirty="0">
                <a:solidFill>
                  <a:srgbClr val="012169"/>
                </a:solidFill>
                <a:latin typeface="Arial" pitchFamily="34" charset="0"/>
                <a:ea typeface="Arial" pitchFamily="34" charset="-122"/>
                <a:cs typeface="Arial" pitchFamily="34" charset="-120"/>
                <a:hlinkClick r:id="rId4"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lrchac13xsdi001.sdi.corp.bankofamerica.com</a:t>
            </a:r>
            <a:endParaRPr lang="en-US" sz="10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411480"/>
                <a:gridCol w="3794760"/>
                <a:gridCol w="6976872"/>
              </a:tblGrid>
              <a:tr h="0">
                <a:tc>
                  <a:txBody>
                    <a:bodyPr/>
                    <a:lstStyle/>
                    <a:p>
                      <a:pPr indent="0" marL="0">
                        <a:buNone/>
                      </a:pPr>
                      <a:r>
                        <a:rPr lang="en-US" sz="900" b="1" dirty="0">
                          <a:solidFill>
                            <a:srgbClr val="012169"/>
                          </a:solidFill>
                          <a:latin typeface="Arial" pitchFamily="34" charset="0"/>
                          <a:ea typeface="Arial" pitchFamily="34" charset="-122"/>
                          <a:cs typeface="Arial" pitchFamily="34" charset="-120"/>
                        </a:rPr>
                        <a:t>No.</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What the script does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012169"/>
                          </a:solidFill>
                          <a:latin typeface="Arial" pitchFamily="34" charset="0"/>
                          <a:ea typeface="Arial" pitchFamily="34" charset="-122"/>
                          <a:cs typeface="Arial" pitchFamily="34" charset="-120"/>
                        </a:rPr>
                        <a:t>For this item (every record and filter is a link)</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Name</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The whole DNS name, dots included, is searched on the name field of every CI class (cmdb_ci).</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"lrchac13xsdi001.sdi.corp.bankofamerica.com" searched on the name field of every CI class</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6E7279"/>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Records named with the whole fqdn</a:t>
                      </a:r>
                      <a:endParaRPr lang="en-US" sz="900" dirty="0">
                        <a:latin typeface="Arial" charset="0"/>
                        <a:ea typeface="Arial" charset="0"/>
                        <a:cs typeface="Arial" charset="0"/>
                      </a:endParaRPr>
                    </a:p>
                    <a:p>
                      <a:pPr indent="0" marL="0">
                        <a:buNone/>
                      </a:pPr>
                      <a:r>
                        <a:rPr lang="en-US" sz="900" dirty="0">
                          <a:solidFill>
                            <a:srgbClr val="4D4F53"/>
                          </a:solidFill>
                          <a:latin typeface="Arial" pitchFamily="34" charset="0"/>
                          <a:ea typeface="Arial" pitchFamily="34" charset="-122"/>
                          <a:cs typeface="Arial" pitchFamily="34" charset="-120"/>
                        </a:rPr>
                        <a:t>One query: name equal to the whole DNS name, ignored classes left out; exactly one row is returned.</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1 record: lrchac13xsdi001.sdi.corp.bankofamerica.com [kubernetes_node] ip 30.38.246.10 -&gt; exactly one, accepted</a:t>
                      </a:r>
                      <a:pPr indent="0" marL="0">
                        <a:buNone/>
                      </a:pPr>
                      <a:endParaRPr lang="en-US" sz="900" dirty="0">
                        <a:latin typeface="Arial" charset="0"/>
                        <a:ea typeface="Arial" charset="0"/>
                        <a:cs typeface="Arial" charset="0"/>
                      </a:endParaRPr>
                    </a:p>
                    <a:p>
                      <a:pPr indent="0" marL="0">
                        <a:buNone/>
                      </a:pPr>
                      <a:r>
                        <a:rPr lang="en-US" sz="900" dirty="0">
                          <a:solidFill>
                            <a:srgbClr val="6E7279"/>
                          </a:solidFill>
                          <a:latin typeface="Arial" pitchFamily="34" charset="0"/>
                          <a:ea typeface="Arial" pitchFamily="34" charset="-122"/>
                          <a:cs typeface="Arial" pitchFamily="34" charset="-120"/>
                        </a:rPr>
                        <a:t>Filter </a:t>
                      </a:r>
                      <a:pPr indent="0" marL="0">
                        <a:buNone/>
                      </a:pPr>
                      <a:r>
                        <a:rPr lang="en-US" sz="900" u="sng" dirty="0">
                          <a:solidFill>
                            <a:srgbClr val="012169"/>
                          </a:solidFill>
                          <a:latin typeface="Arial" pitchFamily="34" charset="0"/>
                          <a:ea typeface="Arial" pitchFamily="34" charset="-122"/>
                          <a:cs typeface="Arial" pitchFamily="34" charset="-120"/>
                          <a:hlinkClick r:id="rId5" invalidUrl="" action="" tgtFrame="" tooltip="https://bofasecopsdev.service-now.com/cmdb_ci_list.do?sysparm_query=name%3Dlrchac13xsdi001.sdi.corp.bankofamerica.com" history="1" highlightClick="0" endSnd="0">
                            <a:extLst>
                              <a:ext uri="{A12FA001-AC4F-418D-AE19-62706E023703}">
                                <ahyp:hlinkClr xmlns:ahyp="http://schemas.microsoft.com/office/drawing/2018/hyperlinkcolor" val="tx"/>
                              </a:ext>
                            </a:extLst>
                          </a:hlinkClick>
                        </a:rPr>
                        <a:t>CI: name=lrchac13xsdi001.sdi.corp.bankofamerica.com</a:t>
                      </a:r>
                      <a:pPr indent="0" marL="0">
                        <a:buNone/>
                      </a:pPr>
                      <a:r>
                        <a:rPr lang="en-US" sz="900" dirty="0">
                          <a:solidFill>
                            <a:srgbClr val="6E7279"/>
                          </a:solidFill>
                          <a:latin typeface="Arial" pitchFamily="34" charset="0"/>
                          <a:ea typeface="Arial" pitchFamily="34" charset="-122"/>
                          <a:cs typeface="Arial" pitchFamily="34" charset="-120"/>
                        </a:rPr>
                        <a:t> (1 row)</a:t>
                      </a:r>
                      <a:pPr indent="0" marL="0">
                        <a:buNone/>
                      </a:pPr>
                      <a:r>
                        <a:rPr lang="en-US" sz="900" dirty="0">
                          <a:solidFill>
                            <a:srgbClr val="6E7279"/>
                          </a:solidFill>
                          <a:latin typeface="Arial" pitchFamily="34" charset="0"/>
                          <a:ea typeface="Arial" pitchFamily="34" charset="-122"/>
                          <a:cs typeface="Arial" pitchFamily="34" charset="-120"/>
                        </a:rPr>
                        <a:t>  →  </a:t>
                      </a:r>
                      <a:pPr indent="0" marL="0">
                        <a:buNone/>
                      </a:pPr>
                      <a:r>
                        <a:rPr lang="en-US" sz="900" u="sng" dirty="0">
                          <a:solidFill>
                            <a:srgbClr val="012169"/>
                          </a:solidFill>
                          <a:latin typeface="Arial" pitchFamily="34" charset="0"/>
                          <a:ea typeface="Arial" pitchFamily="34" charset="-122"/>
                          <a:cs typeface="Arial" pitchFamily="34" charset="-120"/>
                          <a:hlinkClick r:id="rId6"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lrchac13xsdi001.sdi.corp.bankofamerica.com</a:t>
                      </a:r>
                      <a:endParaRPr lang="en-US" sz="900" dirty="0">
                        <a:latin typeface="Arial" charset="0"/>
                        <a:ea typeface="Arial" charset="0"/>
                        <a:cs typeface="Arial" charset="0"/>
                      </a:endParaRPr>
                    </a:p>
                  </a:txBody>
                  <a:tcPr marL="54864" marR="54864" marT="54864" marB="54864" anchor="t">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116</Slides>
  <Notes>116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2026-09-21T12:52:47Z</dcterms:created>
  <dcterms:modified xsi:type="dcterms:W3CDTF">2026-09-21T12:52:47Z</dcterms:modified>
</cp:coreProperties>
</file>