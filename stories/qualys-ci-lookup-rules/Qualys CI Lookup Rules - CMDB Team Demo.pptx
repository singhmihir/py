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418623" TargetMode="External"/><Relationship Id="rId2" Type="http://schemas.openxmlformats.org/officeDocument/2006/relationships/hyperlink" Target="https://bofasecopsdev.service-now.com/cmdb_ci_linux_server.do?sys_id=ddcdddf02b462294d50dffbdbe91bf9b" TargetMode="Externa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411394" TargetMode="External"/><Relationship Id="rId2" Type="http://schemas.openxmlformats.org/officeDocument/2006/relationships/hyperlink" Target="https://bofasecopsdev.service-now.com/cmdb_ci_linux_server.do?sys_id=d78e25b82b8e2294d50dffbdbe91bf32" TargetMode="External"/><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75027" TargetMode="External"/><Relationship Id="rId2" Type="http://schemas.openxmlformats.org/officeDocument/2006/relationships/hyperlink" Target="https://bofasecopsdev.service-now.com/cmdb_ci_win_server.do?sys_id=813bd5383b0e6254a052e71864e45a35" TargetMode="Externa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28240" TargetMode="External"/><Relationship Id="rId2" Type="http://schemas.openxmlformats.org/officeDocument/2006/relationships/hyperlink" Target="https://bofasecopsdev.service-now.com/cmdb_ci_lb_service.do?sys_id=a029dc43931183d03854f05ea903d6b7" TargetMode="External"/><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69763" TargetMode="External"/><Relationship Id="rId2" Type="http://schemas.openxmlformats.org/officeDocument/2006/relationships/hyperlink" Target="https://bofasecopsdev.service-now.com/cmdb_ci_lb_service.do?sys_id=917ce0282f9e87103819983fafa4e37e" TargetMode="Externa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69406" TargetMode="External"/><Relationship Id="rId2" Type="http://schemas.openxmlformats.org/officeDocument/2006/relationships/hyperlink" Target="https://bofasecopsdev.service-now.com/cmdb_ci_lb_service.do?sys_id=31ccec6c2f56871006a8a93fafa4e397" TargetMode="External"/><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16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E31837"/>
          </a:solidFill>
          <a:ln w="12700">
            <a:solidFill>
              <a:srgbClr val="333333"/>
            </a:solidFill>
            <a:prstDash val="solid"/>
          </a:ln>
        </p:spPr>
      </p:sp>
      <p:sp>
        <p:nvSpPr>
          <p:cNvPr id="3" name="Text 1"/>
          <p:cNvSpPr txBox="1"/>
          <p:nvPr/>
        </p:nvSpPr>
        <p:spPr>
          <a:xfrm>
            <a:off x="914400" y="2011680"/>
            <a:ext cx="10058400" cy="274320"/>
          </a:xfrm>
          <a:prstGeom prst="rect">
            <a:avLst/>
          </a:prstGeom>
          <a:noFill/>
          <a:ln/>
        </p:spPr>
        <p:txBody>
          <a:bodyPr wrap="square" lIns="0" tIns="0" rIns="0" bIns="0" rtlCol="0" anchor="ctr"/>
          <a:lstStyle/>
          <a:p>
            <a:pPr indent="0" marL="0">
              <a:buNone/>
            </a:pPr>
            <a:r>
              <a:rPr lang="en-US" sz="1200" b="1" spc="200" kern="0" dirty="0">
                <a:solidFill>
                  <a:srgbClr val="C9D1E3"/>
                </a:solidFill>
                <a:latin typeface="Arial" pitchFamily="34" charset="0"/>
                <a:ea typeface="Arial" pitchFamily="34" charset="-122"/>
                <a:cs typeface="Arial" pitchFamily="34" charset="-120"/>
              </a:rPr>
              <a:t>USEM  ·  VULNERABILITY RESPONSE</a:t>
            </a:r>
            <a:endParaRPr lang="en-US" sz="1200" dirty="0"/>
          </a:p>
        </p:txBody>
      </p:sp>
      <p:sp>
        <p:nvSpPr>
          <p:cNvPr id="4" name="Text 2"/>
          <p:cNvSpPr txBox="1"/>
          <p:nvPr/>
        </p:nvSpPr>
        <p:spPr>
          <a:xfrm>
            <a:off x="914400" y="2377440"/>
            <a:ext cx="100584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Qualys CI Lookup Rules</a:t>
            </a:r>
            <a:endParaRPr lang="en-US" sz="4000" dirty="0"/>
          </a:p>
        </p:txBody>
      </p:sp>
      <p:sp>
        <p:nvSpPr>
          <p:cNvPr id="5" name="Text 3"/>
          <p:cNvSpPr txBox="1"/>
          <p:nvPr/>
        </p:nvSpPr>
        <p:spPr>
          <a:xfrm>
            <a:off x="914400" y="3291840"/>
            <a:ext cx="10058400" cy="457200"/>
          </a:xfrm>
          <a:prstGeom prst="rect">
            <a:avLst/>
          </a:prstGeom>
          <a:noFill/>
          <a:ln/>
        </p:spPr>
        <p:txBody>
          <a:bodyPr wrap="square" lIns="0" tIns="0" rIns="0" bIns="0" rtlCol="0" anchor="ctr"/>
          <a:lstStyle/>
          <a:p>
            <a:pPr indent="0" marL="0">
              <a:buNone/>
            </a:pPr>
            <a:r>
              <a:rPr lang="en-US" sz="2000" dirty="0">
                <a:solidFill>
                  <a:srgbClr val="E4E8F0"/>
                </a:solidFill>
                <a:latin typeface="Arial" pitchFamily="34" charset="0"/>
                <a:ea typeface="Arial" pitchFamily="34" charset="-122"/>
                <a:cs typeface="Arial" pitchFamily="34" charset="-120"/>
              </a:rPr>
              <a:t>How a scanned host finds its CI</a:t>
            </a:r>
            <a:endParaRPr lang="en-US" sz="2000" dirty="0"/>
          </a:p>
        </p:txBody>
      </p:sp>
      <p:sp>
        <p:nvSpPr>
          <p:cNvPr id="6" name="Text 4"/>
          <p:cNvSpPr txBox="1"/>
          <p:nvPr/>
        </p:nvSpPr>
        <p:spPr>
          <a:xfrm>
            <a:off x="914400" y="5120640"/>
            <a:ext cx="10058400" cy="274320"/>
          </a:xfrm>
          <a:prstGeom prst="rect">
            <a:avLst/>
          </a:prstGeom>
          <a:noFill/>
          <a:ln/>
        </p:spPr>
        <p:txBody>
          <a:bodyPr wrap="square" lIns="0" tIns="0" rIns="0" bIns="0" rtlCol="0" anchor="ctr"/>
          <a:lstStyle/>
          <a:p>
            <a:pPr indent="0" marL="0">
              <a:buNone/>
            </a:pPr>
            <a:r>
              <a:rPr lang="en-US" sz="1200" dirty="0">
                <a:solidFill>
                  <a:srgbClr val="C9D1E3"/>
                </a:solidFill>
                <a:latin typeface="Arial" pitchFamily="34" charset="0"/>
                <a:ea typeface="Arial" pitchFamily="34" charset="-122"/>
                <a:cs typeface="Arial" pitchFamily="34" charset="-120"/>
              </a:rPr>
              <a:t>Demo for the CMDB team  ·  22 September 2026  ·  Mihir Kumar Singh</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KEY CONCEPTS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What a CI lookup rule does</a:t>
            </a:r>
            <a:endParaRPr lang="en-US" sz="2800" dirty="0"/>
          </a:p>
        </p:txBody>
      </p:sp>
      <p:sp>
        <p:nvSpPr>
          <p:cNvPr id="4" name="Shape 2"/>
          <p:cNvSpPr/>
          <p:nvPr/>
        </p:nvSpPr>
        <p:spPr>
          <a:xfrm>
            <a:off x="457200" y="1325880"/>
            <a:ext cx="11274552" cy="4754880"/>
          </a:xfrm>
          <a:prstGeom prst="roundRect">
            <a:avLst>
              <a:gd name="adj" fmla="val 962"/>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822960" y="1645920"/>
            <a:ext cx="10515600" cy="4206240"/>
          </a:xfrm>
          <a:prstGeom prst="rect">
            <a:avLst/>
          </a:prstGeom>
          <a:noFill/>
          <a:ln/>
        </p:spPr>
        <p:txBody>
          <a:bodyPr wrap="square" lIns="0" tIns="0" rIns="0" bIns="0" rtlCol="0" anchor="t">
            <a:normAutofit/>
          </a:bodyPr>
          <a:lstStyle/>
          <a:p>
            <a:pPr marL="177800" indent="-177800">
              <a:spcAft>
                <a:spcPts val="1400"/>
              </a:spcAft>
              <a:buSzPct val="100000"/>
              <a:buChar char="•"/>
            </a:pPr>
            <a:r>
              <a:rPr lang="en-US" sz="1800" dirty="0">
                <a:solidFill>
                  <a:srgbClr val="24272A"/>
                </a:solidFill>
                <a:latin typeface="Arial" pitchFamily="34" charset="0"/>
                <a:ea typeface="Arial" pitchFamily="34" charset="-122"/>
                <a:cs typeface="Arial" pitchFamily="34" charset="-120"/>
              </a:rPr>
              <a:t>Qualys sends one record per scanned host: DNS name, IP address, operating system, serial number, NetBIOS name. Each record lands as a Discovered Item.</a:t>
            </a:r>
            <a:endParaRPr lang="en-US" sz="1800" dirty="0"/>
          </a:p>
          <a:p>
            <a:pPr marL="177800" indent="-177800">
              <a:spcAft>
                <a:spcPts val="1400"/>
              </a:spcAft>
              <a:buSzPct val="100000"/>
              <a:buChar char="•"/>
            </a:pPr>
            <a:r>
              <a:rPr lang="en-US" sz="1800" dirty="0">
                <a:solidFill>
                  <a:srgbClr val="24272A"/>
                </a:solidFill>
                <a:latin typeface="Arial" pitchFamily="34" charset="0"/>
                <a:ea typeface="Arial" pitchFamily="34" charset="-122"/>
                <a:cs typeface="Arial" pitchFamily="34" charset="-120"/>
              </a:rPr>
              <a:t>The platform runs the CI lookup rules in order. Each rule reads one source field (serial, DNS or IP) plus the rest of the record, searches the CMDB and returns one CI or nothing.</a:t>
            </a:r>
            <a:endParaRPr lang="en-US" sz="1800" dirty="0"/>
          </a:p>
          <a:p>
            <a:pPr marL="177800" indent="-177800">
              <a:spcAft>
                <a:spcPts val="1400"/>
              </a:spcAft>
              <a:buSzPct val="100000"/>
              <a:buChar char="•"/>
            </a:pPr>
            <a:r>
              <a:rPr lang="en-US" sz="1800" dirty="0">
                <a:solidFill>
                  <a:srgbClr val="24272A"/>
                </a:solidFill>
                <a:latin typeface="Arial" pitchFamily="34" charset="0"/>
                <a:ea typeface="Arial" pitchFamily="34" charset="-122"/>
                <a:cs typeface="Arial" pitchFamily="34" charset="-120"/>
              </a:rPr>
              <a:t>The first rule that returns a CI wins: the item is matched to it and every vulnerable item of that host attaches to that CI.</a:t>
            </a:r>
            <a:endParaRPr lang="en-US" sz="1800" dirty="0"/>
          </a:p>
          <a:p>
            <a:pPr marL="177800" indent="-177800">
              <a:spcAft>
                <a:spcPts val="1400"/>
              </a:spcAft>
              <a:buSzPct val="100000"/>
              <a:buChar char="•"/>
            </a:pPr>
            <a:r>
              <a:rPr lang="en-US" sz="1800" dirty="0">
                <a:solidFill>
                  <a:srgbClr val="24272A"/>
                </a:solidFill>
                <a:latin typeface="Arial" pitchFamily="34" charset="0"/>
                <a:ea typeface="Arial" pitchFamily="34" charset="-122"/>
                <a:cs typeface="Arial" pitchFamily="34" charset="-120"/>
              </a:rPr>
              <a:t>When no rule answers, the item stays unmatched and receives a placeholder record (Unclassed Hardware) until it is evaluated again.</a:t>
            </a:r>
            <a:endParaRPr lang="en-US" sz="1800" dirty="0"/>
          </a:p>
          <a:p>
            <a:pPr marL="177800" indent="-177800">
              <a:spcAft>
                <a:spcPts val="1400"/>
              </a:spcAft>
              <a:buSzPct val="100000"/>
              <a:buChar char="•"/>
            </a:pPr>
            <a:r>
              <a:rPr lang="en-US" sz="1800" dirty="0">
                <a:solidFill>
                  <a:srgbClr val="24272A"/>
                </a:solidFill>
                <a:latin typeface="Arial" pitchFamily="34" charset="0"/>
                <a:ea typeface="Arial" pitchFamily="34" charset="-122"/>
                <a:cs typeface="Arial" pitchFamily="34" charset="-120"/>
              </a:rPr>
              <a:t>Items are evaluated again on the next import, when a rule changes, or on demand with the list action "Reapply CI lookup rules".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KEY CONCEPTS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Principles the USEM rules share</a:t>
            </a:r>
            <a:endParaRPr lang="en-US" sz="2800" dirty="0"/>
          </a:p>
        </p:txBody>
      </p:sp>
      <p:sp>
        <p:nvSpPr>
          <p:cNvPr id="4" name="Shape 2"/>
          <p:cNvSpPr/>
          <p:nvPr/>
        </p:nvSpPr>
        <p:spPr>
          <a:xfrm>
            <a:off x="457200" y="1325880"/>
            <a:ext cx="11274552" cy="4754880"/>
          </a:xfrm>
          <a:prstGeom prst="roundRect">
            <a:avLst>
              <a:gd name="adj" fmla="val 962"/>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822960" y="1645920"/>
            <a:ext cx="10515600" cy="4206240"/>
          </a:xfrm>
          <a:prstGeom prst="rect">
            <a:avLst/>
          </a:prstGeom>
          <a:noFill/>
          <a:ln/>
        </p:spPr>
        <p:txBody>
          <a:bodyPr wrap="square" lIns="0" tIns="0" rIns="0" bIns="0" rtlCol="0" anchor="t">
            <a:normAutofit/>
          </a:bodyPr>
          <a:lstStyle/>
          <a:p>
            <a:pPr marL="177800" indent="-177800">
              <a:spcAft>
                <a:spcPts val="1400"/>
              </a:spcAft>
              <a:buSzPct val="100000"/>
              <a:buChar char="•"/>
            </a:pPr>
            <a:r>
              <a:rPr lang="en-US" sz="1800" dirty="0">
                <a:solidFill>
                  <a:srgbClr val="24272A"/>
                </a:solidFill>
                <a:latin typeface="Arial" pitchFamily="34" charset="0"/>
                <a:ea typeface="Arial" pitchFamily="34" charset="-122"/>
                <a:cs typeface="Arial" pitchFamily="34" charset="-120"/>
              </a:rPr>
              <a:t>Exactly one record or decline. A rule never picks between two candidates; ambiguity stays unmatched for the CMDB to resolve.</a:t>
            </a:r>
            <a:endParaRPr lang="en-US" sz="1800" dirty="0"/>
          </a:p>
          <a:p>
            <a:pPr marL="177800" indent="-177800">
              <a:spcAft>
                <a:spcPts val="1400"/>
              </a:spcAft>
              <a:buSzPct val="100000"/>
              <a:buChar char="•"/>
            </a:pPr>
            <a:r>
              <a:rPr lang="en-US" sz="1800" dirty="0">
                <a:solidFill>
                  <a:srgbClr val="24272A"/>
                </a:solidFill>
                <a:latin typeface="Arial" pitchFamily="34" charset="0"/>
                <a:ea typeface="Arial" pitchFamily="34" charset="-122"/>
                <a:cs typeface="Arial" pitchFamily="34" charset="-120"/>
              </a:rPr>
              <a:t>The scanned OS sets the class: Red Hat means Linux Server, Windows Server means Windows Server, NetApp means Storage Server. The search stays inside that class first, then goes hardware-wide.</a:t>
            </a:r>
            <a:endParaRPr lang="en-US" sz="1800" dirty="0"/>
          </a:p>
          <a:p>
            <a:pPr marL="177800" indent="-177800">
              <a:spcAft>
                <a:spcPts val="1400"/>
              </a:spcAft>
              <a:buSzPct val="100000"/>
              <a:buChar char="•"/>
            </a:pPr>
            <a:r>
              <a:rPr lang="en-US" sz="1800" dirty="0">
                <a:solidFill>
                  <a:srgbClr val="24272A"/>
                </a:solidFill>
                <a:latin typeface="Arial" pitchFamily="34" charset="0"/>
                <a:ea typeface="Arial" pitchFamily="34" charset="-122"/>
                <a:cs typeface="Arial" pitchFamily="34" charset="-120"/>
              </a:rPr>
              <a:t>Class agreement: a CI reached through DNS or IP records must be of a class the OS implies (same, parent or child), so a Cisco IOS router never lands on a Computer.</a:t>
            </a:r>
            <a:endParaRPr lang="en-US" sz="1800" dirty="0"/>
          </a:p>
          <a:p>
            <a:pPr marL="177800" indent="-177800">
              <a:spcAft>
                <a:spcPts val="1400"/>
              </a:spcAft>
              <a:buSzPct val="100000"/>
              <a:buChar char="•"/>
            </a:pPr>
            <a:r>
              <a:rPr lang="en-US" sz="1800" dirty="0">
                <a:solidFill>
                  <a:srgbClr val="24272A"/>
                </a:solidFill>
                <a:latin typeface="Arial" pitchFamily="34" charset="0"/>
                <a:ea typeface="Arial" pitchFamily="34" charset="-122"/>
                <a:cs typeface="Arial" pitchFamily="34" charset="-120"/>
              </a:rPr>
              <a:t>Ignored classes never answer: adapters, IP address records, storage volumes, certificates and the other classes on sn_sec_cmn.ignoreCIClass.</a:t>
            </a:r>
            <a:endParaRPr lang="en-US" sz="1800" dirty="0"/>
          </a:p>
          <a:p>
            <a:pPr marL="177800" indent="-177800">
              <a:spcAft>
                <a:spcPts val="1400"/>
              </a:spcAft>
              <a:buSzPct val="100000"/>
              <a:buChar char="•"/>
            </a:pPr>
            <a:r>
              <a:rPr lang="en-US" sz="1800" dirty="0">
                <a:solidFill>
                  <a:srgbClr val="24272A"/>
                </a:solidFill>
                <a:latin typeface="Arial" pitchFamily="34" charset="0"/>
                <a:ea typeface="Arial" pitchFamily="34" charset="-122"/>
                <a:cs typeface="Arial" pitchFamily="34" charset="-120"/>
              </a:rPr>
              <a:t>Strongest identifier first: serial, then FQDN, host name with domain, DNS layers, host name, controllers and interfaces, virtual servers, IP address, and a broad name search last.</a:t>
            </a:r>
            <a:endParaRPr lang="en-US" sz="1800" dirty="0"/>
          </a:p>
          <a:p>
            <a:pPr marL="177800" indent="-177800">
              <a:spcAft>
                <a:spcPts val="1400"/>
              </a:spcAft>
              <a:buSzPct val="100000"/>
              <a:buChar char="•"/>
            </a:pPr>
            <a:r>
              <a:rPr lang="en-US" sz="1800" dirty="0">
                <a:solidFill>
                  <a:srgbClr val="24272A"/>
                </a:solidFill>
                <a:latin typeface="Arial" pitchFamily="34" charset="0"/>
                <a:ea typeface="Arial" pitchFamily="34" charset="-122"/>
                <a:cs typeface="Arial" pitchFamily="34" charset="-120"/>
              </a:rPr>
              <a:t>No fitness heuristics: no "best" record by class depth or last update. A retired duplicate is set aside for the live record; two live records decline.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KEY CONCEPTS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The chain at a glance: first rule to answer wins</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640080"/>
                <a:gridCol w="2743200"/>
                <a:gridCol w="2651760"/>
                <a:gridCol w="5239512"/>
              </a:tblGrid>
              <a:tr h="214884">
                <a:tc>
                  <a:txBody>
                    <a:bodyPr/>
                    <a:lstStyle/>
                    <a:p>
                      <a:pPr indent="0" marL="0">
                        <a:buNone/>
                      </a:pPr>
                      <a:r>
                        <a:rPr lang="en-US" sz="900" b="1" dirty="0">
                          <a:solidFill>
                            <a:srgbClr val="FFFFFF"/>
                          </a:solidFill>
                          <a:latin typeface="Arial" pitchFamily="34" charset="0"/>
                          <a:ea typeface="Arial" pitchFamily="34" charset="-122"/>
                          <a:cs typeface="Arial" pitchFamily="34" charset="-120"/>
                        </a:rPr>
                        <a:t>Order</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Rule</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Reads</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Returns</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175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Serial Number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SERIAL_NUMBER, plus the OS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CI of that class carrying the serial, else null</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180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Serial Number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SERIAL_NUMBER</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hardware CI carrying the serial, else null</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200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Cisco IP Phone MAC</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IP Phone CI carrying that MAC, else null</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250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plus the OS and the IP</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CI of that class whose fqdn equals the scanned name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260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plus the IP</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hardware CI whose fqdn equals the scanned name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300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Domain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plus the OS and the IP</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CI of that class whose domain evidence agrees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310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Domain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plus the IP</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hardware CI whose domain evidence agrees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350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Layered DNS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plus the IP</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CI at the end of DNS Name to IP Address to adapter to CI</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plus the OS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CI of that class named with the short hostname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410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plus the OS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hardware CI named with the hostname, class permitting</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415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Device Name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plus the OS and the IP</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IP Phone or Imaging Hardware CI named with the host name; the scanned address breaks a tie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420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Management Interface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plus the OS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hardware CI named like the label without its suffix</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430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Network Interface Name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plus the OS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Network Gear or Load Balancer device named by a prefix</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Name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hardware CI whose name is exactly the scanned FQDN</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455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Load Balancer Member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IP, plus the OS and the DNS name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real server behind the virtual server; null with several machines, a member the CMDB cannot place, or no pool data</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460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Load Balancer Service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IP, plus the OS and the DNS name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Load Balancer Service CI for that VIP</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IP, plus the OS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CI of that class whose ip_address equals the scanned address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705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IP, plus the OS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hardware CI on that address, balancer and class permitting</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730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Adapter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IP</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CI that owns the adapter carrying the scanned address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740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Layered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IP</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CI at the end of IP Address to adapter to CI</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850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Name Broad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CI in any class named exactly with the scanned FQDN</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6473952"/>
            <a:ext cx="11247120" cy="182880"/>
          </a:xfrm>
          <a:prstGeom prst="rect">
            <a:avLst/>
          </a:prstGeom>
          <a:noFill/>
          <a:ln/>
        </p:spPr>
        <p:txBody>
          <a:bodyPr wrap="square" lIns="0" tIns="0" rIns="0" bIns="0" rtlCol="0" anchor="ctr"/>
          <a:lstStyle/>
          <a:p>
            <a:pPr indent="0" marL="0">
              <a:buNone/>
            </a:pPr>
            <a:r>
              <a:rPr lang="en-US" sz="800" dirty="0">
                <a:solidFill>
                  <a:srgbClr val="6B7177"/>
                </a:solidFill>
                <a:latin typeface="Arial" pitchFamily="34" charset="0"/>
                <a:ea typeface="Arial" pitchFamily="34" charset="-122"/>
                <a:cs typeface="Arial" pitchFamily="34" charset="-120"/>
              </a:rPr>
              <a:t>After the USEM rules the platform's own rules run (FQDN, NetBIOS, DNS). Rules that return nothing hand the host to the next one.</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SERIAL NUMBER</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Serial Number Class Match</a:t>
            </a:r>
            <a:endParaRPr lang="en-US" sz="2800" dirty="0"/>
          </a:p>
        </p:txBody>
      </p:sp>
      <p:sp>
        <p:nvSpPr>
          <p:cNvPr id="4" name="Shape 2"/>
          <p:cNvSpPr/>
          <p:nvPr/>
        </p:nvSpPr>
        <p:spPr>
          <a:xfrm>
            <a:off x="457200" y="1325880"/>
            <a:ext cx="7223760" cy="3931920"/>
          </a:xfrm>
          <a:prstGeom prst="roundRect">
            <a:avLst>
              <a:gd name="adj" fmla="val 116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50876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DOES</a:t>
            </a:r>
            <a:endParaRPr lang="en-US" sz="950" dirty="0"/>
          </a:p>
        </p:txBody>
      </p:sp>
      <p:sp>
        <p:nvSpPr>
          <p:cNvPr id="6" name="Text 4"/>
          <p:cNvSpPr txBox="1"/>
          <p:nvPr/>
        </p:nvSpPr>
        <p:spPr>
          <a:xfrm>
            <a:off x="731520" y="1783080"/>
            <a:ext cx="6675120" cy="1371600"/>
          </a:xfrm>
          <a:prstGeom prst="rect">
            <a:avLst/>
          </a:prstGeom>
          <a:noFill/>
          <a:ln/>
        </p:spPr>
        <p:txBody>
          <a:bodyPr wrap="square" lIns="0" tIns="0" rIns="0" bIns="0" rtlCol="0" anchor="t">
            <a:normAutofit/>
          </a:bodyPr>
          <a:lstStyle/>
          <a:p>
            <a:pPr indent="0" marL="0">
              <a:buNone/>
            </a:pPr>
            <a:r>
              <a:rPr lang="en-US" sz="1500" dirty="0">
                <a:solidFill>
                  <a:srgbClr val="24272A"/>
                </a:solidFill>
                <a:latin typeface="Arial" pitchFamily="34" charset="0"/>
                <a:ea typeface="Arial" pitchFamily="34" charset="-122"/>
                <a:cs typeface="Arial" pitchFamily="34" charset="-120"/>
              </a:rPr>
              <a:t>A serial number stays with a machine for its whole life, while names and addresses get reused. It is the strongest identifier Qualys gives us, so it is tried first, inside the class the scanned OS points at.</a:t>
            </a:r>
            <a:endParaRPr lang="en-US" sz="1500" dirty="0"/>
          </a:p>
        </p:txBody>
      </p:sp>
      <p:sp>
        <p:nvSpPr>
          <p:cNvPr id="7" name="Text 5"/>
          <p:cNvSpPr txBox="1"/>
          <p:nvPr/>
        </p:nvSpPr>
        <p:spPr>
          <a:xfrm>
            <a:off x="731520" y="324612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IT MATCHES</a:t>
            </a:r>
            <a:endParaRPr lang="en-US" sz="950" dirty="0"/>
          </a:p>
        </p:txBody>
      </p:sp>
      <p:sp>
        <p:nvSpPr>
          <p:cNvPr id="8" name="Text 6"/>
          <p:cNvSpPr txBox="1"/>
          <p:nvPr/>
        </p:nvSpPr>
        <p:spPr>
          <a:xfrm>
            <a:off x="731520" y="3520440"/>
            <a:ext cx="6675120" cy="1645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Refuse placeholder serials</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Class from the scanned OS</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Serial search, exactly one CI</a:t>
            </a:r>
            <a:endParaRPr lang="en-US" sz="1500" dirty="0"/>
          </a:p>
        </p:txBody>
      </p:sp>
      <p:sp>
        <p:nvSpPr>
          <p:cNvPr id="9" name="Shape 7"/>
          <p:cNvSpPr/>
          <p:nvPr/>
        </p:nvSpPr>
        <p:spPr>
          <a:xfrm>
            <a:off x="7955280" y="1325880"/>
            <a:ext cx="3776472" cy="3931920"/>
          </a:xfrm>
          <a:prstGeom prst="roundRect">
            <a:avLst>
              <a:gd name="adj" fmla="val 121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8183880" y="1536192"/>
            <a:ext cx="3337560" cy="3566160"/>
          </a:xfrm>
          <a:prstGeom prst="rect">
            <a:avLst/>
          </a:prstGeom>
          <a:noFill/>
          <a:ln/>
        </p:spPr>
        <p:txBody>
          <a:bodyPr wrap="square" lIns="0" tIns="0" rIns="0" bIns="0" rtlCol="0" anchor="t">
            <a:normAutofit/>
          </a:bodyPr>
          <a:lstStyle/>
          <a:p>
            <a:pPr indent="0" marL="0">
              <a:buNone/>
            </a:pPr>
            <a:r>
              <a:rPr lang="en-US" sz="950" b="1" spc="120" kern="0" dirty="0">
                <a:solidFill>
                  <a:srgbClr val="012169"/>
                </a:solidFill>
                <a:latin typeface="Arial" pitchFamily="34" charset="0"/>
                <a:ea typeface="Arial" pitchFamily="34" charset="-122"/>
                <a:cs typeface="Arial" pitchFamily="34" charset="-120"/>
              </a:rPr>
              <a:t>READS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SERIAL_NUMBER, plus the OS</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RETURNS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one CI of that class carrying the serial, else null</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RUNS AFTER</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nothing custom runs before this rule.</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HANDS OVER TO</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hardware-wide serial rule, for hosts whose OS gives no class.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EXAMPLES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Three matched discovered items</a:t>
            </a:r>
            <a:endParaRPr lang="en-US" sz="2800" dirty="0"/>
          </a:p>
        </p:txBody>
      </p:sp>
      <p:sp>
        <p:nvSpPr>
          <p:cNvPr id="4" name="Shape 2"/>
          <p:cNvSpPr/>
          <p:nvPr/>
        </p:nvSpPr>
        <p:spPr>
          <a:xfrm>
            <a:off x="457200" y="1325880"/>
            <a:ext cx="11274552" cy="2011680"/>
          </a:xfrm>
          <a:prstGeom prst="roundRect">
            <a:avLst>
              <a:gd name="adj" fmla="val 227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77240" y="1645920"/>
            <a:ext cx="10607040" cy="1463040"/>
          </a:xfrm>
          <a:prstGeom prst="rect">
            <a:avLst/>
          </a:prstGeom>
          <a:noFill/>
          <a:ln/>
        </p:spPr>
        <p:txBody>
          <a:bodyPr wrap="square" lIns="0" tIns="0" rIns="0" bIns="0" rtlCol="0" anchor="t"/>
          <a:lstStyle/>
          <a:p>
            <a:pPr indent="0" marL="0">
              <a:buNone/>
            </a:pPr>
            <a:r>
              <a:rPr lang="en-US" sz="1600" dirty="0">
                <a:solidFill>
                  <a:srgbClr val="6B7177"/>
                </a:solidFill>
                <a:latin typeface="Arial" pitchFamily="34" charset="0"/>
                <a:ea typeface="Arial" pitchFamily="34" charset="-122"/>
                <a:cs typeface="Arial" pitchFamily="34" charset="-120"/>
              </a:rPr>
              <a:t>Three discovered items matched by this rule on the development instance will be shown here, one per page, each with the scanned values, the steps the rule took and the CI it returned.</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SERIAL NUMBER</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Serial Number Hardware Match</a:t>
            </a:r>
            <a:endParaRPr lang="en-US" sz="2800" dirty="0"/>
          </a:p>
        </p:txBody>
      </p:sp>
      <p:sp>
        <p:nvSpPr>
          <p:cNvPr id="4" name="Shape 2"/>
          <p:cNvSpPr/>
          <p:nvPr/>
        </p:nvSpPr>
        <p:spPr>
          <a:xfrm>
            <a:off x="457200" y="1325880"/>
            <a:ext cx="7223760" cy="3931920"/>
          </a:xfrm>
          <a:prstGeom prst="roundRect">
            <a:avLst>
              <a:gd name="adj" fmla="val 116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50876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DOES</a:t>
            </a:r>
            <a:endParaRPr lang="en-US" sz="950" dirty="0"/>
          </a:p>
        </p:txBody>
      </p:sp>
      <p:sp>
        <p:nvSpPr>
          <p:cNvPr id="6" name="Text 4"/>
          <p:cNvSpPr txBox="1"/>
          <p:nvPr/>
        </p:nvSpPr>
        <p:spPr>
          <a:xfrm>
            <a:off x="731520" y="1783080"/>
            <a:ext cx="6675120" cy="1371600"/>
          </a:xfrm>
          <a:prstGeom prst="rect">
            <a:avLst/>
          </a:prstGeom>
          <a:noFill/>
          <a:ln/>
        </p:spPr>
        <p:txBody>
          <a:bodyPr wrap="square" lIns="0" tIns="0" rIns="0" bIns="0" rtlCol="0" anchor="t">
            <a:normAutofit/>
          </a:bodyPr>
          <a:lstStyle/>
          <a:p>
            <a:pPr indent="0" marL="0">
              <a:buNone/>
            </a:pPr>
            <a:r>
              <a:rPr lang="en-US" sz="1500" dirty="0">
                <a:solidFill>
                  <a:srgbClr val="24272A"/>
                </a:solidFill>
                <a:latin typeface="Arial" pitchFamily="34" charset="0"/>
                <a:ea typeface="Arial" pitchFamily="34" charset="-122"/>
                <a:cs typeface="Arial" pitchFamily="34" charset="-120"/>
              </a:rPr>
              <a:t>The same serial search across the whole hardware tree. It exists for hosts whose OS gives no usable class, and for CIs that sit in a different class than the OS suggests.</a:t>
            </a:r>
            <a:endParaRPr lang="en-US" sz="1500" dirty="0"/>
          </a:p>
        </p:txBody>
      </p:sp>
      <p:sp>
        <p:nvSpPr>
          <p:cNvPr id="7" name="Text 5"/>
          <p:cNvSpPr txBox="1"/>
          <p:nvPr/>
        </p:nvSpPr>
        <p:spPr>
          <a:xfrm>
            <a:off x="731520" y="324612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IT MATCHES</a:t>
            </a:r>
            <a:endParaRPr lang="en-US" sz="950" dirty="0"/>
          </a:p>
        </p:txBody>
      </p:sp>
      <p:sp>
        <p:nvSpPr>
          <p:cNvPr id="8" name="Text 6"/>
          <p:cNvSpPr txBox="1"/>
          <p:nvPr/>
        </p:nvSpPr>
        <p:spPr>
          <a:xfrm>
            <a:off x="731520" y="3520440"/>
            <a:ext cx="6675120" cy="1645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Same guard on the value</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Search the whole hardware tree</a:t>
            </a:r>
            <a:endParaRPr lang="en-US" sz="1500" dirty="0"/>
          </a:p>
        </p:txBody>
      </p:sp>
      <p:sp>
        <p:nvSpPr>
          <p:cNvPr id="9" name="Shape 7"/>
          <p:cNvSpPr/>
          <p:nvPr/>
        </p:nvSpPr>
        <p:spPr>
          <a:xfrm>
            <a:off x="7955280" y="1325880"/>
            <a:ext cx="3776472" cy="3931920"/>
          </a:xfrm>
          <a:prstGeom prst="roundRect">
            <a:avLst>
              <a:gd name="adj" fmla="val 121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8183880" y="1536192"/>
            <a:ext cx="3337560" cy="3566160"/>
          </a:xfrm>
          <a:prstGeom prst="rect">
            <a:avLst/>
          </a:prstGeom>
          <a:noFill/>
          <a:ln/>
        </p:spPr>
        <p:txBody>
          <a:bodyPr wrap="square" lIns="0" tIns="0" rIns="0" bIns="0" rtlCol="0" anchor="t">
            <a:normAutofit/>
          </a:bodyPr>
          <a:lstStyle/>
          <a:p>
            <a:pPr indent="0" marL="0">
              <a:buNone/>
            </a:pPr>
            <a:r>
              <a:rPr lang="en-US" sz="950" b="1" spc="120" kern="0" dirty="0">
                <a:solidFill>
                  <a:srgbClr val="012169"/>
                </a:solidFill>
                <a:latin typeface="Arial" pitchFamily="34" charset="0"/>
                <a:ea typeface="Arial" pitchFamily="34" charset="-122"/>
                <a:cs typeface="Arial" pitchFamily="34" charset="-120"/>
              </a:rPr>
              <a:t>READS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SERIAL_NUMBER</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RETURNS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one hardware CI carrying the serial, else null</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RUNS AFTER</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class-scoped serial rule already tried the serial inside the OS class.</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HANDS OVER TO</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phone rule and then the name rules.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EXAMPLES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Three matched discovered items</a:t>
            </a:r>
            <a:endParaRPr lang="en-US" sz="2800" dirty="0"/>
          </a:p>
        </p:txBody>
      </p:sp>
      <p:sp>
        <p:nvSpPr>
          <p:cNvPr id="4" name="Shape 2"/>
          <p:cNvSpPr/>
          <p:nvPr/>
        </p:nvSpPr>
        <p:spPr>
          <a:xfrm>
            <a:off x="457200" y="1325880"/>
            <a:ext cx="11274552" cy="2011680"/>
          </a:xfrm>
          <a:prstGeom prst="roundRect">
            <a:avLst>
              <a:gd name="adj" fmla="val 227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77240" y="1645920"/>
            <a:ext cx="10607040" cy="1463040"/>
          </a:xfrm>
          <a:prstGeom prst="rect">
            <a:avLst/>
          </a:prstGeom>
          <a:noFill/>
          <a:ln/>
        </p:spPr>
        <p:txBody>
          <a:bodyPr wrap="square" lIns="0" tIns="0" rIns="0" bIns="0" rtlCol="0" anchor="t"/>
          <a:lstStyle/>
          <a:p>
            <a:pPr indent="0" marL="0">
              <a:buNone/>
            </a:pPr>
            <a:r>
              <a:rPr lang="en-US" sz="1600" dirty="0">
                <a:solidFill>
                  <a:srgbClr val="6B7177"/>
                </a:solidFill>
                <a:latin typeface="Arial" pitchFamily="34" charset="0"/>
                <a:ea typeface="Arial" pitchFamily="34" charset="-122"/>
                <a:cs typeface="Arial" pitchFamily="34" charset="-120"/>
              </a:rPr>
              <a:t>Three discovered items matched by this rule on the development instance will be shown here, one per page, each with the scanned values, the steps the rule took and the CI it returned.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PHONE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Cisco IP Phone MAC</a:t>
            </a:r>
            <a:endParaRPr lang="en-US" sz="2800" dirty="0"/>
          </a:p>
        </p:txBody>
      </p:sp>
      <p:sp>
        <p:nvSpPr>
          <p:cNvPr id="4" name="Shape 2"/>
          <p:cNvSpPr/>
          <p:nvPr/>
        </p:nvSpPr>
        <p:spPr>
          <a:xfrm>
            <a:off x="457200" y="1325880"/>
            <a:ext cx="7223760" cy="3931920"/>
          </a:xfrm>
          <a:prstGeom prst="roundRect">
            <a:avLst>
              <a:gd name="adj" fmla="val 116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50876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DOES</a:t>
            </a:r>
            <a:endParaRPr lang="en-US" sz="950" dirty="0"/>
          </a:p>
        </p:txBody>
      </p:sp>
      <p:sp>
        <p:nvSpPr>
          <p:cNvPr id="6" name="Text 4"/>
          <p:cNvSpPr txBox="1"/>
          <p:nvPr/>
        </p:nvSpPr>
        <p:spPr>
          <a:xfrm>
            <a:off x="731520" y="1783080"/>
            <a:ext cx="6675120" cy="1371600"/>
          </a:xfrm>
          <a:prstGeom prst="rect">
            <a:avLst/>
          </a:prstGeom>
          <a:noFill/>
          <a:ln/>
        </p:spPr>
        <p:txBody>
          <a:bodyPr wrap="square" lIns="0" tIns="0" rIns="0" bIns="0" rtlCol="0" anchor="t">
            <a:normAutofit/>
          </a:bodyPr>
          <a:lstStyle/>
          <a:p>
            <a:pPr indent="0" marL="0">
              <a:buNone/>
            </a:pPr>
            <a:r>
              <a:rPr lang="en-US" sz="1500" dirty="0">
                <a:solidFill>
                  <a:srgbClr val="24272A"/>
                </a:solidFill>
                <a:latin typeface="Arial" pitchFamily="34" charset="0"/>
                <a:ea typeface="Arial" pitchFamily="34" charset="-122"/>
                <a:cs typeface="Arial" pitchFamily="34" charset="-120"/>
              </a:rPr>
              <a:t>Unified Communications Manager names every phone "SEP" followed by its MAC address, and Qualys reports that name as the DNS label. The rule turns the label back into a MAC and finds the one IP Phone CI that carries it.</a:t>
            </a:r>
            <a:endParaRPr lang="en-US" sz="1500" dirty="0"/>
          </a:p>
        </p:txBody>
      </p:sp>
      <p:sp>
        <p:nvSpPr>
          <p:cNvPr id="7" name="Text 5"/>
          <p:cNvSpPr txBox="1"/>
          <p:nvPr/>
        </p:nvSpPr>
        <p:spPr>
          <a:xfrm>
            <a:off x="731520" y="324612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IT MATCHES</a:t>
            </a:r>
            <a:endParaRPr lang="en-US" sz="950" dirty="0"/>
          </a:p>
        </p:txBody>
      </p:sp>
      <p:sp>
        <p:nvSpPr>
          <p:cNvPr id="8" name="Text 6"/>
          <p:cNvSpPr txBox="1"/>
          <p:nvPr/>
        </p:nvSpPr>
        <p:spPr>
          <a:xfrm>
            <a:off x="731520" y="3520440"/>
            <a:ext cx="6675120" cy="1645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Strict label, four MAC spellings</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Adapter first, then the phone record</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Last resort: the device name</a:t>
            </a:r>
            <a:endParaRPr lang="en-US" sz="1500" dirty="0"/>
          </a:p>
        </p:txBody>
      </p:sp>
      <p:sp>
        <p:nvSpPr>
          <p:cNvPr id="9" name="Shape 7"/>
          <p:cNvSpPr/>
          <p:nvPr/>
        </p:nvSpPr>
        <p:spPr>
          <a:xfrm>
            <a:off x="7955280" y="1325880"/>
            <a:ext cx="3776472" cy="3931920"/>
          </a:xfrm>
          <a:prstGeom prst="roundRect">
            <a:avLst>
              <a:gd name="adj" fmla="val 121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8183880" y="1536192"/>
            <a:ext cx="3337560" cy="3566160"/>
          </a:xfrm>
          <a:prstGeom prst="rect">
            <a:avLst/>
          </a:prstGeom>
          <a:noFill/>
          <a:ln/>
        </p:spPr>
        <p:txBody>
          <a:bodyPr wrap="square" lIns="0" tIns="0" rIns="0" bIns="0" rtlCol="0" anchor="t">
            <a:normAutofit/>
          </a:bodyPr>
          <a:lstStyle/>
          <a:p>
            <a:pPr indent="0" marL="0">
              <a:buNone/>
            </a:pPr>
            <a:r>
              <a:rPr lang="en-US" sz="950" b="1" spc="120" kern="0" dirty="0">
                <a:solidFill>
                  <a:srgbClr val="012169"/>
                </a:solidFill>
                <a:latin typeface="Arial" pitchFamily="34" charset="0"/>
                <a:ea typeface="Arial" pitchFamily="34" charset="-122"/>
                <a:cs typeface="Arial" pitchFamily="34" charset="-120"/>
              </a:rPr>
              <a:t>READS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DNS</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RETURNS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one IP Phone CI carrying that MAC, else null</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RUNS AFTER</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serial rules; phones report no serial.</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HANDS OVER TO</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FQDN and hostname rules, which never see a phone label.</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EXAMPLES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Three matched discovered items</a:t>
            </a:r>
            <a:endParaRPr lang="en-US" sz="2800" dirty="0"/>
          </a:p>
        </p:txBody>
      </p:sp>
      <p:sp>
        <p:nvSpPr>
          <p:cNvPr id="4" name="Shape 2"/>
          <p:cNvSpPr/>
          <p:nvPr/>
        </p:nvSpPr>
        <p:spPr>
          <a:xfrm>
            <a:off x="457200" y="1325880"/>
            <a:ext cx="11274552" cy="2011680"/>
          </a:xfrm>
          <a:prstGeom prst="roundRect">
            <a:avLst>
              <a:gd name="adj" fmla="val 227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77240" y="1645920"/>
            <a:ext cx="10607040" cy="1463040"/>
          </a:xfrm>
          <a:prstGeom prst="rect">
            <a:avLst/>
          </a:prstGeom>
          <a:noFill/>
          <a:ln/>
        </p:spPr>
        <p:txBody>
          <a:bodyPr wrap="square" lIns="0" tIns="0" rIns="0" bIns="0" rtlCol="0" anchor="t"/>
          <a:lstStyle/>
          <a:p>
            <a:pPr indent="0" marL="0">
              <a:buNone/>
            </a:pPr>
            <a:r>
              <a:rPr lang="en-US" sz="1600" dirty="0">
                <a:solidFill>
                  <a:srgbClr val="6B7177"/>
                </a:solidFill>
                <a:latin typeface="Arial" pitchFamily="34" charset="0"/>
                <a:ea typeface="Arial" pitchFamily="34" charset="-122"/>
                <a:cs typeface="Arial" pitchFamily="34" charset="-120"/>
              </a:rPr>
              <a:t>Three discovered items matched by this rule on the development instance will be shown here, one per page, each with the scanned values, the steps the rule took and the CI it returned.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Class Match</a:t>
            </a:r>
            <a:endParaRPr lang="en-US" sz="2800" dirty="0"/>
          </a:p>
        </p:txBody>
      </p:sp>
      <p:sp>
        <p:nvSpPr>
          <p:cNvPr id="4" name="Shape 2"/>
          <p:cNvSpPr/>
          <p:nvPr/>
        </p:nvSpPr>
        <p:spPr>
          <a:xfrm>
            <a:off x="457200" y="1325880"/>
            <a:ext cx="7223760" cy="3931920"/>
          </a:xfrm>
          <a:prstGeom prst="roundRect">
            <a:avLst>
              <a:gd name="adj" fmla="val 116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50876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DOES</a:t>
            </a:r>
            <a:endParaRPr lang="en-US" sz="950" dirty="0"/>
          </a:p>
        </p:txBody>
      </p:sp>
      <p:sp>
        <p:nvSpPr>
          <p:cNvPr id="6" name="Text 4"/>
          <p:cNvSpPr txBox="1"/>
          <p:nvPr/>
        </p:nvSpPr>
        <p:spPr>
          <a:xfrm>
            <a:off x="731520" y="1783080"/>
            <a:ext cx="6675120" cy="1371600"/>
          </a:xfrm>
          <a:prstGeom prst="rect">
            <a:avLst/>
          </a:prstGeom>
          <a:noFill/>
          <a:ln/>
        </p:spPr>
        <p:txBody>
          <a:bodyPr wrap="square" lIns="0" tIns="0" rIns="0" bIns="0" rtlCol="0" anchor="t">
            <a:normAutofit/>
          </a:bodyPr>
          <a:lstStyle/>
          <a:p>
            <a:pPr indent="0" marL="0">
              <a:buNone/>
            </a:pPr>
            <a:r>
              <a:rPr lang="en-US" sz="1500" dirty="0">
                <a:solidFill>
                  <a:srgbClr val="24272A"/>
                </a:solidFill>
                <a:latin typeface="Arial" pitchFamily="34" charset="0"/>
                <a:ea typeface="Arial" pitchFamily="34" charset="-122"/>
                <a:cs typeface="Arial" pitchFamily="34" charset="-120"/>
              </a:rPr>
              <a:t>The first name rule. An exact FQDN on the CI record is the most precise name evidence there is, so it is matched before any hostname handling, inside the class the OS points at.</a:t>
            </a:r>
            <a:endParaRPr lang="en-US" sz="1500" dirty="0"/>
          </a:p>
        </p:txBody>
      </p:sp>
      <p:sp>
        <p:nvSpPr>
          <p:cNvPr id="7" name="Text 5"/>
          <p:cNvSpPr txBox="1"/>
          <p:nvPr/>
        </p:nvSpPr>
        <p:spPr>
          <a:xfrm>
            <a:off x="731520" y="324612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IT MATCHES</a:t>
            </a:r>
            <a:endParaRPr lang="en-US" sz="950" dirty="0"/>
          </a:p>
        </p:txBody>
      </p:sp>
      <p:sp>
        <p:nvSpPr>
          <p:cNvPr id="8" name="Text 6"/>
          <p:cNvSpPr txBox="1"/>
          <p:nvPr/>
        </p:nvSpPr>
        <p:spPr>
          <a:xfrm>
            <a:off x="731520" y="3520440"/>
            <a:ext cx="6675120" cy="1645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Class from the scanned OS</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Exact fqdn match</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One hit, or the IP breaks the tie</a:t>
            </a:r>
            <a:endParaRPr lang="en-US" sz="1500" dirty="0"/>
          </a:p>
        </p:txBody>
      </p:sp>
      <p:sp>
        <p:nvSpPr>
          <p:cNvPr id="9" name="Shape 7"/>
          <p:cNvSpPr/>
          <p:nvPr/>
        </p:nvSpPr>
        <p:spPr>
          <a:xfrm>
            <a:off x="7955280" y="1325880"/>
            <a:ext cx="3776472" cy="3931920"/>
          </a:xfrm>
          <a:prstGeom prst="roundRect">
            <a:avLst>
              <a:gd name="adj" fmla="val 121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8183880" y="1536192"/>
            <a:ext cx="3337560" cy="3566160"/>
          </a:xfrm>
          <a:prstGeom prst="rect">
            <a:avLst/>
          </a:prstGeom>
          <a:noFill/>
          <a:ln/>
        </p:spPr>
        <p:txBody>
          <a:bodyPr wrap="square" lIns="0" tIns="0" rIns="0" bIns="0" rtlCol="0" anchor="t">
            <a:normAutofit/>
          </a:bodyPr>
          <a:lstStyle/>
          <a:p>
            <a:pPr indent="0" marL="0">
              <a:buNone/>
            </a:pPr>
            <a:r>
              <a:rPr lang="en-US" sz="950" b="1" spc="120" kern="0" dirty="0">
                <a:solidFill>
                  <a:srgbClr val="012169"/>
                </a:solidFill>
                <a:latin typeface="Arial" pitchFamily="34" charset="0"/>
                <a:ea typeface="Arial" pitchFamily="34" charset="-122"/>
                <a:cs typeface="Arial" pitchFamily="34" charset="-120"/>
              </a:rPr>
              <a:t>READS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DNS, plus the OS and the IP</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RETURNS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one CI of that class whose fqdn equals the scanned name</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RUNS AFTER</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serial rules and the phone rule found nothing.</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HANDS OVER TO</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hardware-wide FQDN rule, then hostname plus domain.</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EXAMPLES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Three matched discovered items</a:t>
            </a:r>
            <a:endParaRPr lang="en-US" sz="2800" dirty="0"/>
          </a:p>
        </p:txBody>
      </p:sp>
      <p:sp>
        <p:nvSpPr>
          <p:cNvPr id="4" name="Shape 2"/>
          <p:cNvSpPr/>
          <p:nvPr/>
        </p:nvSpPr>
        <p:spPr>
          <a:xfrm>
            <a:off x="457200" y="1325880"/>
            <a:ext cx="11274552" cy="2011680"/>
          </a:xfrm>
          <a:prstGeom prst="roundRect">
            <a:avLst>
              <a:gd name="adj" fmla="val 227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77240" y="1645920"/>
            <a:ext cx="10607040" cy="1463040"/>
          </a:xfrm>
          <a:prstGeom prst="rect">
            <a:avLst/>
          </a:prstGeom>
          <a:noFill/>
          <a:ln/>
        </p:spPr>
        <p:txBody>
          <a:bodyPr wrap="square" lIns="0" tIns="0" rIns="0" bIns="0" rtlCol="0" anchor="t"/>
          <a:lstStyle/>
          <a:p>
            <a:pPr indent="0" marL="0">
              <a:buNone/>
            </a:pPr>
            <a:r>
              <a:rPr lang="en-US" sz="1600" dirty="0">
                <a:solidFill>
                  <a:srgbClr val="6B7177"/>
                </a:solidFill>
                <a:latin typeface="Arial" pitchFamily="34" charset="0"/>
                <a:ea typeface="Arial" pitchFamily="34" charset="-122"/>
                <a:cs typeface="Arial" pitchFamily="34" charset="-120"/>
              </a:rPr>
              <a:t>Three discovered items matched by this rule on the development instance will be shown here, one per page, each with the scanned values, the steps the rule took and the CI it returned.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Hardware Match</a:t>
            </a:r>
            <a:endParaRPr lang="en-US" sz="2800" dirty="0"/>
          </a:p>
        </p:txBody>
      </p:sp>
      <p:sp>
        <p:nvSpPr>
          <p:cNvPr id="4" name="Shape 2"/>
          <p:cNvSpPr/>
          <p:nvPr/>
        </p:nvSpPr>
        <p:spPr>
          <a:xfrm>
            <a:off x="457200" y="1325880"/>
            <a:ext cx="7223760" cy="3931920"/>
          </a:xfrm>
          <a:prstGeom prst="roundRect">
            <a:avLst>
              <a:gd name="adj" fmla="val 116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50876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DOES</a:t>
            </a:r>
            <a:endParaRPr lang="en-US" sz="950" dirty="0"/>
          </a:p>
        </p:txBody>
      </p:sp>
      <p:sp>
        <p:nvSpPr>
          <p:cNvPr id="6" name="Text 4"/>
          <p:cNvSpPr txBox="1"/>
          <p:nvPr/>
        </p:nvSpPr>
        <p:spPr>
          <a:xfrm>
            <a:off x="731520" y="1783080"/>
            <a:ext cx="6675120" cy="1371600"/>
          </a:xfrm>
          <a:prstGeom prst="rect">
            <a:avLst/>
          </a:prstGeom>
          <a:noFill/>
          <a:ln/>
        </p:spPr>
        <p:txBody>
          <a:bodyPr wrap="square" lIns="0" tIns="0" rIns="0" bIns="0" rtlCol="0" anchor="t">
            <a:normAutofit/>
          </a:bodyPr>
          <a:lstStyle/>
          <a:p>
            <a:pPr indent="0" marL="0">
              <a:buNone/>
            </a:pPr>
            <a:r>
              <a:rPr lang="en-US" sz="1500" dirty="0">
                <a:solidFill>
                  <a:srgbClr val="24272A"/>
                </a:solidFill>
                <a:latin typeface="Arial" pitchFamily="34" charset="0"/>
                <a:ea typeface="Arial" pitchFamily="34" charset="-122"/>
                <a:cs typeface="Arial" pitchFamily="34" charset="-120"/>
              </a:rPr>
              <a:t>The exact FQDN search again, across the whole hardware tree. It picks up the hosts whose OS gives no class and the CIs kept in a generic or different class than the OS suggests.</a:t>
            </a:r>
            <a:endParaRPr lang="en-US" sz="1500" dirty="0"/>
          </a:p>
        </p:txBody>
      </p:sp>
      <p:sp>
        <p:nvSpPr>
          <p:cNvPr id="7" name="Text 5"/>
          <p:cNvSpPr txBox="1"/>
          <p:nvPr/>
        </p:nvSpPr>
        <p:spPr>
          <a:xfrm>
            <a:off x="731520" y="324612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IT MATCHES</a:t>
            </a:r>
            <a:endParaRPr lang="en-US" sz="950" dirty="0"/>
          </a:p>
        </p:txBody>
      </p:sp>
      <p:sp>
        <p:nvSpPr>
          <p:cNvPr id="8" name="Text 6"/>
          <p:cNvSpPr txBox="1"/>
          <p:nvPr/>
        </p:nvSpPr>
        <p:spPr>
          <a:xfrm>
            <a:off x="731520" y="3520440"/>
            <a:ext cx="6675120" cy="1645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Same helper, wider scope</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Collect and decide</a:t>
            </a:r>
            <a:endParaRPr lang="en-US" sz="1500" dirty="0"/>
          </a:p>
        </p:txBody>
      </p:sp>
      <p:sp>
        <p:nvSpPr>
          <p:cNvPr id="9" name="Shape 7"/>
          <p:cNvSpPr/>
          <p:nvPr/>
        </p:nvSpPr>
        <p:spPr>
          <a:xfrm>
            <a:off x="7955280" y="1325880"/>
            <a:ext cx="3776472" cy="3931920"/>
          </a:xfrm>
          <a:prstGeom prst="roundRect">
            <a:avLst>
              <a:gd name="adj" fmla="val 121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8183880" y="1536192"/>
            <a:ext cx="3337560" cy="3566160"/>
          </a:xfrm>
          <a:prstGeom prst="rect">
            <a:avLst/>
          </a:prstGeom>
          <a:noFill/>
          <a:ln/>
        </p:spPr>
        <p:txBody>
          <a:bodyPr wrap="square" lIns="0" tIns="0" rIns="0" bIns="0" rtlCol="0" anchor="t">
            <a:normAutofit/>
          </a:bodyPr>
          <a:lstStyle/>
          <a:p>
            <a:pPr indent="0" marL="0">
              <a:buNone/>
            </a:pPr>
            <a:r>
              <a:rPr lang="en-US" sz="950" b="1" spc="120" kern="0" dirty="0">
                <a:solidFill>
                  <a:srgbClr val="012169"/>
                </a:solidFill>
                <a:latin typeface="Arial" pitchFamily="34" charset="0"/>
                <a:ea typeface="Arial" pitchFamily="34" charset="-122"/>
                <a:cs typeface="Arial" pitchFamily="34" charset="-120"/>
              </a:rPr>
              <a:t>READS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DNS, plus the IP</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RETURNS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one hardware CI whose fqdn equals the scanned name</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RUNS AFTER</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class-scoped FQDN rule tried the same value inside the OS class.</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HANDS OVER TO</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hostname plus domain rules, for CIs with no fqdn value at all.</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EXAMPLES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Three matched discovered items</a:t>
            </a:r>
            <a:endParaRPr lang="en-US" sz="2800" dirty="0"/>
          </a:p>
        </p:txBody>
      </p:sp>
      <p:sp>
        <p:nvSpPr>
          <p:cNvPr id="4" name="Shape 2"/>
          <p:cNvSpPr/>
          <p:nvPr/>
        </p:nvSpPr>
        <p:spPr>
          <a:xfrm>
            <a:off x="457200" y="1325880"/>
            <a:ext cx="11274552" cy="2011680"/>
          </a:xfrm>
          <a:prstGeom prst="roundRect">
            <a:avLst>
              <a:gd name="adj" fmla="val 227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77240" y="1645920"/>
            <a:ext cx="10607040" cy="1463040"/>
          </a:xfrm>
          <a:prstGeom prst="rect">
            <a:avLst/>
          </a:prstGeom>
          <a:noFill/>
          <a:ln/>
        </p:spPr>
        <p:txBody>
          <a:bodyPr wrap="square" lIns="0" tIns="0" rIns="0" bIns="0" rtlCol="0" anchor="t"/>
          <a:lstStyle/>
          <a:p>
            <a:pPr indent="0" marL="0">
              <a:buNone/>
            </a:pPr>
            <a:r>
              <a:rPr lang="en-US" sz="1600" dirty="0">
                <a:solidFill>
                  <a:srgbClr val="6B7177"/>
                </a:solidFill>
                <a:latin typeface="Arial" pitchFamily="34" charset="0"/>
                <a:ea typeface="Arial" pitchFamily="34" charset="-122"/>
                <a:cs typeface="Arial" pitchFamily="34" charset="-120"/>
              </a:rPr>
              <a:t>Three discovered items matched by this rule on the development instance will be shown here, one per page, each with the scanned values, the steps the rule took and the CI it returned.</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Domain Class Match</a:t>
            </a:r>
            <a:endParaRPr lang="en-US" sz="2800" dirty="0"/>
          </a:p>
        </p:txBody>
      </p:sp>
      <p:sp>
        <p:nvSpPr>
          <p:cNvPr id="4" name="Shape 2"/>
          <p:cNvSpPr/>
          <p:nvPr/>
        </p:nvSpPr>
        <p:spPr>
          <a:xfrm>
            <a:off x="457200" y="1325880"/>
            <a:ext cx="7223760" cy="3931920"/>
          </a:xfrm>
          <a:prstGeom prst="roundRect">
            <a:avLst>
              <a:gd name="adj" fmla="val 116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50876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DOES</a:t>
            </a:r>
            <a:endParaRPr lang="en-US" sz="950" dirty="0"/>
          </a:p>
        </p:txBody>
      </p:sp>
      <p:sp>
        <p:nvSpPr>
          <p:cNvPr id="6" name="Text 4"/>
          <p:cNvSpPr txBox="1"/>
          <p:nvPr/>
        </p:nvSpPr>
        <p:spPr>
          <a:xfrm>
            <a:off x="731520" y="1783080"/>
            <a:ext cx="6675120" cy="1371600"/>
          </a:xfrm>
          <a:prstGeom prst="rect">
            <a:avLst/>
          </a:prstGeom>
          <a:noFill/>
          <a:ln/>
        </p:spPr>
        <p:txBody>
          <a:bodyPr wrap="square" lIns="0" tIns="0" rIns="0" bIns="0" rtlCol="0" anchor="t">
            <a:normAutofit/>
          </a:bodyPr>
          <a:lstStyle/>
          <a:p>
            <a:pPr indent="0" marL="0">
              <a:buNone/>
            </a:pPr>
            <a:r>
              <a:rPr lang="en-US" sz="1500" dirty="0">
                <a:solidFill>
                  <a:srgbClr val="24272A"/>
                </a:solidFill>
                <a:latin typeface="Arial" pitchFamily="34" charset="0"/>
                <a:ea typeface="Arial" pitchFamily="34" charset="-122"/>
                <a:cs typeface="Arial" pitchFamily="34" charset="-120"/>
              </a:rPr>
              <a:t>For CIs named with the short hostname that carry the domain somewhere else, in dns_domain or in an fqdn that was never copied into the name. Short name and domain are matched together, inside the class the OS points at.</a:t>
            </a:r>
            <a:endParaRPr lang="en-US" sz="1500" dirty="0"/>
          </a:p>
        </p:txBody>
      </p:sp>
      <p:sp>
        <p:nvSpPr>
          <p:cNvPr id="7" name="Text 5"/>
          <p:cNvSpPr txBox="1"/>
          <p:nvPr/>
        </p:nvSpPr>
        <p:spPr>
          <a:xfrm>
            <a:off x="731520" y="324612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IT MATCHES</a:t>
            </a:r>
            <a:endParaRPr lang="en-US" sz="950" dirty="0"/>
          </a:p>
        </p:txBody>
      </p:sp>
      <p:sp>
        <p:nvSpPr>
          <p:cNvPr id="8" name="Text 6"/>
          <p:cNvSpPr txBox="1"/>
          <p:nvPr/>
        </p:nvSpPr>
        <p:spPr>
          <a:xfrm>
            <a:off x="731520" y="3520440"/>
            <a:ext cx="6675120" cy="1645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Class from the scanned OS</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Name matched, domain confirmed</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One confirmed CI, IP as tie-break</a:t>
            </a:r>
            <a:endParaRPr lang="en-US" sz="1500" dirty="0"/>
          </a:p>
        </p:txBody>
      </p:sp>
      <p:sp>
        <p:nvSpPr>
          <p:cNvPr id="9" name="Shape 7"/>
          <p:cNvSpPr/>
          <p:nvPr/>
        </p:nvSpPr>
        <p:spPr>
          <a:xfrm>
            <a:off x="7955280" y="1325880"/>
            <a:ext cx="3776472" cy="3931920"/>
          </a:xfrm>
          <a:prstGeom prst="roundRect">
            <a:avLst>
              <a:gd name="adj" fmla="val 121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8183880" y="1536192"/>
            <a:ext cx="3337560" cy="3566160"/>
          </a:xfrm>
          <a:prstGeom prst="rect">
            <a:avLst/>
          </a:prstGeom>
          <a:noFill/>
          <a:ln/>
        </p:spPr>
        <p:txBody>
          <a:bodyPr wrap="square" lIns="0" tIns="0" rIns="0" bIns="0" rtlCol="0" anchor="t">
            <a:normAutofit/>
          </a:bodyPr>
          <a:lstStyle/>
          <a:p>
            <a:pPr indent="0" marL="0">
              <a:buNone/>
            </a:pPr>
            <a:r>
              <a:rPr lang="en-US" sz="950" b="1" spc="120" kern="0" dirty="0">
                <a:solidFill>
                  <a:srgbClr val="012169"/>
                </a:solidFill>
                <a:latin typeface="Arial" pitchFamily="34" charset="0"/>
                <a:ea typeface="Arial" pitchFamily="34" charset="-122"/>
                <a:cs typeface="Arial" pitchFamily="34" charset="-120"/>
              </a:rPr>
              <a:t>READS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DNS, plus the OS and the IP</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RETURNS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one CI of that class whose domain evidence agrees</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RUNS AFTER</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FQDN rules looked in the fqdn field and found nothing.</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HANDS OVER TO</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hardware-wide variant, the layered DNS rule, then the plain hostname rules.</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EXAMPLES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Three matched discovered items</a:t>
            </a:r>
            <a:endParaRPr lang="en-US" sz="2800" dirty="0"/>
          </a:p>
        </p:txBody>
      </p:sp>
      <p:sp>
        <p:nvSpPr>
          <p:cNvPr id="4" name="Shape 2"/>
          <p:cNvSpPr/>
          <p:nvPr/>
        </p:nvSpPr>
        <p:spPr>
          <a:xfrm>
            <a:off x="457200" y="1325880"/>
            <a:ext cx="11274552" cy="2011680"/>
          </a:xfrm>
          <a:prstGeom prst="roundRect">
            <a:avLst>
              <a:gd name="adj" fmla="val 227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77240" y="1645920"/>
            <a:ext cx="10607040" cy="1463040"/>
          </a:xfrm>
          <a:prstGeom prst="rect">
            <a:avLst/>
          </a:prstGeom>
          <a:noFill/>
          <a:ln/>
        </p:spPr>
        <p:txBody>
          <a:bodyPr wrap="square" lIns="0" tIns="0" rIns="0" bIns="0" rtlCol="0" anchor="t"/>
          <a:lstStyle/>
          <a:p>
            <a:pPr indent="0" marL="0">
              <a:buNone/>
            </a:pPr>
            <a:r>
              <a:rPr lang="en-US" sz="1600" dirty="0">
                <a:solidFill>
                  <a:srgbClr val="6B7177"/>
                </a:solidFill>
                <a:latin typeface="Arial" pitchFamily="34" charset="0"/>
                <a:ea typeface="Arial" pitchFamily="34" charset="-122"/>
                <a:cs typeface="Arial" pitchFamily="34" charset="-120"/>
              </a:rPr>
              <a:t>Three discovered items matched by this rule on the development instance will be shown here, one per page, each with the scanned values, the steps the rule took and the CI it returned.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Domain Hardware Match</a:t>
            </a:r>
            <a:endParaRPr lang="en-US" sz="2800" dirty="0"/>
          </a:p>
        </p:txBody>
      </p:sp>
      <p:sp>
        <p:nvSpPr>
          <p:cNvPr id="4" name="Shape 2"/>
          <p:cNvSpPr/>
          <p:nvPr/>
        </p:nvSpPr>
        <p:spPr>
          <a:xfrm>
            <a:off x="457200" y="1325880"/>
            <a:ext cx="7223760" cy="3931920"/>
          </a:xfrm>
          <a:prstGeom prst="roundRect">
            <a:avLst>
              <a:gd name="adj" fmla="val 116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50876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DOES</a:t>
            </a:r>
            <a:endParaRPr lang="en-US" sz="950" dirty="0"/>
          </a:p>
        </p:txBody>
      </p:sp>
      <p:sp>
        <p:nvSpPr>
          <p:cNvPr id="6" name="Text 4"/>
          <p:cNvSpPr txBox="1"/>
          <p:nvPr/>
        </p:nvSpPr>
        <p:spPr>
          <a:xfrm>
            <a:off x="731520" y="1783080"/>
            <a:ext cx="6675120" cy="1371600"/>
          </a:xfrm>
          <a:prstGeom prst="rect">
            <a:avLst/>
          </a:prstGeom>
          <a:noFill/>
          <a:ln/>
        </p:spPr>
        <p:txBody>
          <a:bodyPr wrap="square" lIns="0" tIns="0" rIns="0" bIns="0" rtlCol="0" anchor="t">
            <a:normAutofit/>
          </a:bodyPr>
          <a:lstStyle/>
          <a:p>
            <a:pPr indent="0" marL="0">
              <a:buNone/>
            </a:pPr>
            <a:r>
              <a:rPr lang="en-US" sz="1500" dirty="0">
                <a:solidFill>
                  <a:srgbClr val="24272A"/>
                </a:solidFill>
                <a:latin typeface="Arial" pitchFamily="34" charset="0"/>
                <a:ea typeface="Arial" pitchFamily="34" charset="-122"/>
                <a:cs typeface="Arial" pitchFamily="34" charset="-120"/>
              </a:rPr>
              <a:t>Short hostname plus domain evidence again, across the whole hardware tree, for CIs classed generically (Server, Computer) or differently from the scanned OS.</a:t>
            </a:r>
            <a:endParaRPr lang="en-US" sz="1500" dirty="0"/>
          </a:p>
        </p:txBody>
      </p:sp>
      <p:sp>
        <p:nvSpPr>
          <p:cNvPr id="7" name="Text 5"/>
          <p:cNvSpPr txBox="1"/>
          <p:nvPr/>
        </p:nvSpPr>
        <p:spPr>
          <a:xfrm>
            <a:off x="731520" y="324612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IT MATCHES</a:t>
            </a:r>
            <a:endParaRPr lang="en-US" sz="950" dirty="0"/>
          </a:p>
        </p:txBody>
      </p:sp>
      <p:sp>
        <p:nvSpPr>
          <p:cNvPr id="8" name="Text 6"/>
          <p:cNvSpPr txBox="1"/>
          <p:nvPr/>
        </p:nvSpPr>
        <p:spPr>
          <a:xfrm>
            <a:off x="731520" y="3520440"/>
            <a:ext cx="6675120" cy="1645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Same helper, wider scope</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Domain evidence still required</a:t>
            </a:r>
            <a:endParaRPr lang="en-US" sz="1500" dirty="0"/>
          </a:p>
        </p:txBody>
      </p:sp>
      <p:sp>
        <p:nvSpPr>
          <p:cNvPr id="9" name="Shape 7"/>
          <p:cNvSpPr/>
          <p:nvPr/>
        </p:nvSpPr>
        <p:spPr>
          <a:xfrm>
            <a:off x="7955280" y="1325880"/>
            <a:ext cx="3776472" cy="3931920"/>
          </a:xfrm>
          <a:prstGeom prst="roundRect">
            <a:avLst>
              <a:gd name="adj" fmla="val 121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8183880" y="1536192"/>
            <a:ext cx="3337560" cy="3566160"/>
          </a:xfrm>
          <a:prstGeom prst="rect">
            <a:avLst/>
          </a:prstGeom>
          <a:noFill/>
          <a:ln/>
        </p:spPr>
        <p:txBody>
          <a:bodyPr wrap="square" lIns="0" tIns="0" rIns="0" bIns="0" rtlCol="0" anchor="t">
            <a:normAutofit/>
          </a:bodyPr>
          <a:lstStyle/>
          <a:p>
            <a:pPr indent="0" marL="0">
              <a:buNone/>
            </a:pPr>
            <a:r>
              <a:rPr lang="en-US" sz="950" b="1" spc="120" kern="0" dirty="0">
                <a:solidFill>
                  <a:srgbClr val="012169"/>
                </a:solidFill>
                <a:latin typeface="Arial" pitchFamily="34" charset="0"/>
                <a:ea typeface="Arial" pitchFamily="34" charset="-122"/>
                <a:cs typeface="Arial" pitchFamily="34" charset="-120"/>
              </a:rPr>
              <a:t>READS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DNS, plus the IP</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RETURNS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one hardware CI whose domain evidence agrees</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RUNS AFTER</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class-scoped variant tried the same evidence inside the OS class.</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HANDS OVER TO</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layered DNS rule and then the plain hostname rules.</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EXAMPLES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Three matched discovered items</a:t>
            </a:r>
            <a:endParaRPr lang="en-US" sz="2800" dirty="0"/>
          </a:p>
        </p:txBody>
      </p:sp>
      <p:sp>
        <p:nvSpPr>
          <p:cNvPr id="4" name="Shape 2"/>
          <p:cNvSpPr/>
          <p:nvPr/>
        </p:nvSpPr>
        <p:spPr>
          <a:xfrm>
            <a:off x="457200" y="1325880"/>
            <a:ext cx="11274552" cy="2011680"/>
          </a:xfrm>
          <a:prstGeom prst="roundRect">
            <a:avLst>
              <a:gd name="adj" fmla="val 227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77240" y="1645920"/>
            <a:ext cx="10607040" cy="1463040"/>
          </a:xfrm>
          <a:prstGeom prst="rect">
            <a:avLst/>
          </a:prstGeom>
          <a:noFill/>
          <a:ln/>
        </p:spPr>
        <p:txBody>
          <a:bodyPr wrap="square" lIns="0" tIns="0" rIns="0" bIns="0" rtlCol="0" anchor="t"/>
          <a:lstStyle/>
          <a:p>
            <a:pPr indent="0" marL="0">
              <a:buNone/>
            </a:pPr>
            <a:r>
              <a:rPr lang="en-US" sz="1600" dirty="0">
                <a:solidFill>
                  <a:srgbClr val="6B7177"/>
                </a:solidFill>
                <a:latin typeface="Arial" pitchFamily="34" charset="0"/>
                <a:ea typeface="Arial" pitchFamily="34" charset="-122"/>
                <a:cs typeface="Arial" pitchFamily="34" charset="-120"/>
              </a:rPr>
              <a:t>Three discovered items matched by this rule on the development instance will be shown here, one per page, each with the scanned values, the steps the rule took and the CI it returned.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Layered DNS Match</a:t>
            </a:r>
            <a:endParaRPr lang="en-US" sz="2800" dirty="0"/>
          </a:p>
        </p:txBody>
      </p:sp>
      <p:sp>
        <p:nvSpPr>
          <p:cNvPr id="4" name="Shape 2"/>
          <p:cNvSpPr/>
          <p:nvPr/>
        </p:nvSpPr>
        <p:spPr>
          <a:xfrm>
            <a:off x="457200" y="1325880"/>
            <a:ext cx="7223760" cy="3931920"/>
          </a:xfrm>
          <a:prstGeom prst="roundRect">
            <a:avLst>
              <a:gd name="adj" fmla="val 116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50876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DOES</a:t>
            </a:r>
            <a:endParaRPr lang="en-US" sz="950" dirty="0"/>
          </a:p>
        </p:txBody>
      </p:sp>
      <p:sp>
        <p:nvSpPr>
          <p:cNvPr id="6" name="Text 4"/>
          <p:cNvSpPr txBox="1"/>
          <p:nvPr/>
        </p:nvSpPr>
        <p:spPr>
          <a:xfrm>
            <a:off x="731520" y="1783080"/>
            <a:ext cx="6675120" cy="1371600"/>
          </a:xfrm>
          <a:prstGeom prst="rect">
            <a:avLst/>
          </a:prstGeom>
          <a:noFill/>
          <a:ln/>
        </p:spPr>
        <p:txBody>
          <a:bodyPr wrap="square" lIns="0" tIns="0" rIns="0" bIns="0" rtlCol="0" anchor="t">
            <a:normAutofit/>
          </a:bodyPr>
          <a:lstStyle/>
          <a:p>
            <a:pPr indent="0" marL="0">
              <a:buNone/>
            </a:pPr>
            <a:r>
              <a:rPr lang="en-US" sz="1500" dirty="0">
                <a:solidFill>
                  <a:srgbClr val="24272A"/>
                </a:solidFill>
                <a:latin typeface="Arial" pitchFamily="34" charset="0"/>
                <a:ea typeface="Arial" pitchFamily="34" charset="-122"/>
                <a:cs typeface="Arial" pitchFamily="34" charset="-120"/>
              </a:rPr>
              <a:t>Discovery keeps names and addresses as their own records linked to the device. This rule follows that chain, the only way to find a host whose name is not written on the CI record at all, and it resolves aliases to the real machine.</a:t>
            </a:r>
            <a:endParaRPr lang="en-US" sz="1500" dirty="0"/>
          </a:p>
        </p:txBody>
      </p:sp>
      <p:sp>
        <p:nvSpPr>
          <p:cNvPr id="7" name="Text 5"/>
          <p:cNvSpPr txBox="1"/>
          <p:nvPr/>
        </p:nvSpPr>
        <p:spPr>
          <a:xfrm>
            <a:off x="731520" y="324612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IT MATCHES</a:t>
            </a:r>
            <a:endParaRPr lang="en-US" sz="950" dirty="0"/>
          </a:p>
        </p:txBody>
      </p:sp>
      <p:sp>
        <p:nvSpPr>
          <p:cNvPr id="8" name="Text 6"/>
          <p:cNvSpPr txBox="1"/>
          <p:nvPr/>
        </p:nvSpPr>
        <p:spPr>
          <a:xfrm>
            <a:off x="731520" y="3520440"/>
            <a:ext cx="6675120" cy="1645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Follow the chain in one query</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Count owners, note the IP path</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One CI, or the IP decides</a:t>
            </a:r>
            <a:endParaRPr lang="en-US" sz="1500" dirty="0"/>
          </a:p>
        </p:txBody>
      </p:sp>
      <p:sp>
        <p:nvSpPr>
          <p:cNvPr id="9" name="Shape 7"/>
          <p:cNvSpPr/>
          <p:nvPr/>
        </p:nvSpPr>
        <p:spPr>
          <a:xfrm>
            <a:off x="7955280" y="1325880"/>
            <a:ext cx="3776472" cy="3931920"/>
          </a:xfrm>
          <a:prstGeom prst="roundRect">
            <a:avLst>
              <a:gd name="adj" fmla="val 121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8183880" y="1536192"/>
            <a:ext cx="3337560" cy="3566160"/>
          </a:xfrm>
          <a:prstGeom prst="rect">
            <a:avLst/>
          </a:prstGeom>
          <a:noFill/>
          <a:ln/>
        </p:spPr>
        <p:txBody>
          <a:bodyPr wrap="square" lIns="0" tIns="0" rIns="0" bIns="0" rtlCol="0" anchor="t">
            <a:normAutofit/>
          </a:bodyPr>
          <a:lstStyle/>
          <a:p>
            <a:pPr indent="0" marL="0">
              <a:buNone/>
            </a:pPr>
            <a:r>
              <a:rPr lang="en-US" sz="950" b="1" spc="120" kern="0" dirty="0">
                <a:solidFill>
                  <a:srgbClr val="012169"/>
                </a:solidFill>
                <a:latin typeface="Arial" pitchFamily="34" charset="0"/>
                <a:ea typeface="Arial" pitchFamily="34" charset="-122"/>
                <a:cs typeface="Arial" pitchFamily="34" charset="-120"/>
              </a:rPr>
              <a:t>READS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DNS, plus the IP</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RETURNS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CI at the end of DNS Name to IP Address to adapter to CI</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RUNS AFTER</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FQDN and hostname-plus-domain rules read fields on the CI record.</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HANDS OVER TO</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plain hostname rules and the full-FQDN name rule.</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EXAMPLES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Three matched discovered items</a:t>
            </a:r>
            <a:endParaRPr lang="en-US" sz="2800" dirty="0"/>
          </a:p>
        </p:txBody>
      </p:sp>
      <p:sp>
        <p:nvSpPr>
          <p:cNvPr id="4" name="Shape 2"/>
          <p:cNvSpPr/>
          <p:nvPr/>
        </p:nvSpPr>
        <p:spPr>
          <a:xfrm>
            <a:off x="457200" y="1325880"/>
            <a:ext cx="11274552" cy="2011680"/>
          </a:xfrm>
          <a:prstGeom prst="roundRect">
            <a:avLst>
              <a:gd name="adj" fmla="val 227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77240" y="1645920"/>
            <a:ext cx="10607040" cy="1463040"/>
          </a:xfrm>
          <a:prstGeom prst="rect">
            <a:avLst/>
          </a:prstGeom>
          <a:noFill/>
          <a:ln/>
        </p:spPr>
        <p:txBody>
          <a:bodyPr wrap="square" lIns="0" tIns="0" rIns="0" bIns="0" rtlCol="0" anchor="t"/>
          <a:lstStyle/>
          <a:p>
            <a:pPr indent="0" marL="0">
              <a:buNone/>
            </a:pPr>
            <a:r>
              <a:rPr lang="en-US" sz="1600" dirty="0">
                <a:solidFill>
                  <a:srgbClr val="6B7177"/>
                </a:solidFill>
                <a:latin typeface="Arial" pitchFamily="34" charset="0"/>
                <a:ea typeface="Arial" pitchFamily="34" charset="-122"/>
                <a:cs typeface="Arial" pitchFamily="34" charset="-120"/>
              </a:rPr>
              <a:t>Three discovered items matched by this rule on the development instance will be shown here, one per page, each with the scanned values, the steps the rule took and the CI it returned.</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Class Match</a:t>
            </a:r>
            <a:endParaRPr lang="en-US" sz="2800" dirty="0"/>
          </a:p>
        </p:txBody>
      </p:sp>
      <p:sp>
        <p:nvSpPr>
          <p:cNvPr id="4" name="Shape 2"/>
          <p:cNvSpPr/>
          <p:nvPr/>
        </p:nvSpPr>
        <p:spPr>
          <a:xfrm>
            <a:off x="457200" y="1325880"/>
            <a:ext cx="7223760" cy="3931920"/>
          </a:xfrm>
          <a:prstGeom prst="roundRect">
            <a:avLst>
              <a:gd name="adj" fmla="val 116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50876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DOES</a:t>
            </a:r>
            <a:endParaRPr lang="en-US" sz="950" dirty="0"/>
          </a:p>
        </p:txBody>
      </p:sp>
      <p:sp>
        <p:nvSpPr>
          <p:cNvPr id="6" name="Text 4"/>
          <p:cNvSpPr txBox="1"/>
          <p:nvPr/>
        </p:nvSpPr>
        <p:spPr>
          <a:xfrm>
            <a:off x="731520" y="1783080"/>
            <a:ext cx="6675120" cy="1371600"/>
          </a:xfrm>
          <a:prstGeom prst="rect">
            <a:avLst/>
          </a:prstGeom>
          <a:noFill/>
          <a:ln/>
        </p:spPr>
        <p:txBody>
          <a:bodyPr wrap="square" lIns="0" tIns="0" rIns="0" bIns="0" rtlCol="0" anchor="t">
            <a:normAutofit/>
          </a:bodyPr>
          <a:lstStyle/>
          <a:p>
            <a:pPr indent="0" marL="0">
              <a:buNone/>
            </a:pPr>
            <a:r>
              <a:rPr lang="en-US" sz="1500" dirty="0">
                <a:solidFill>
                  <a:srgbClr val="24272A"/>
                </a:solidFill>
                <a:latin typeface="Arial" pitchFamily="34" charset="0"/>
                <a:ea typeface="Arial" pitchFamily="34" charset="-122"/>
                <a:cs typeface="Arial" pitchFamily="34" charset="-120"/>
              </a:rPr>
              <a:t>The short hostname alone, inside the class the scanned OS points at. For CIs that carry only a short name and no domain information; the agreement between CI class and scanned OS stands in for the missing domain evidence.</a:t>
            </a:r>
            <a:endParaRPr lang="en-US" sz="1500" dirty="0"/>
          </a:p>
        </p:txBody>
      </p:sp>
      <p:sp>
        <p:nvSpPr>
          <p:cNvPr id="7" name="Text 5"/>
          <p:cNvSpPr txBox="1"/>
          <p:nvPr/>
        </p:nvSpPr>
        <p:spPr>
          <a:xfrm>
            <a:off x="731520" y="324612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IT MATCHES</a:t>
            </a:r>
            <a:endParaRPr lang="en-US" sz="950" dirty="0"/>
          </a:p>
        </p:txBody>
      </p:sp>
      <p:sp>
        <p:nvSpPr>
          <p:cNvPr id="8" name="Text 6"/>
          <p:cNvSpPr txBox="1"/>
          <p:nvPr/>
        </p:nvSpPr>
        <p:spPr>
          <a:xfrm>
            <a:off x="731520" y="3520440"/>
            <a:ext cx="6675120" cy="1645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Short label only</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Class from the scanned OS</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Name search, exactly one CI</a:t>
            </a:r>
            <a:endParaRPr lang="en-US" sz="1500" dirty="0"/>
          </a:p>
        </p:txBody>
      </p:sp>
      <p:sp>
        <p:nvSpPr>
          <p:cNvPr id="9" name="Shape 7"/>
          <p:cNvSpPr/>
          <p:nvPr/>
        </p:nvSpPr>
        <p:spPr>
          <a:xfrm>
            <a:off x="7955280" y="1325880"/>
            <a:ext cx="3776472" cy="3931920"/>
          </a:xfrm>
          <a:prstGeom prst="roundRect">
            <a:avLst>
              <a:gd name="adj" fmla="val 121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8183880" y="1536192"/>
            <a:ext cx="3337560" cy="3566160"/>
          </a:xfrm>
          <a:prstGeom prst="rect">
            <a:avLst/>
          </a:prstGeom>
          <a:noFill/>
          <a:ln/>
        </p:spPr>
        <p:txBody>
          <a:bodyPr wrap="square" lIns="0" tIns="0" rIns="0" bIns="0" rtlCol="0" anchor="t">
            <a:normAutofit/>
          </a:bodyPr>
          <a:lstStyle/>
          <a:p>
            <a:pPr indent="0" marL="0">
              <a:buNone/>
            </a:pPr>
            <a:r>
              <a:rPr lang="en-US" sz="950" b="1" spc="120" kern="0" dirty="0">
                <a:solidFill>
                  <a:srgbClr val="012169"/>
                </a:solidFill>
                <a:latin typeface="Arial" pitchFamily="34" charset="0"/>
                <a:ea typeface="Arial" pitchFamily="34" charset="-122"/>
                <a:cs typeface="Arial" pitchFamily="34" charset="-120"/>
              </a:rPr>
              <a:t>READS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DNS, plus the OS</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RETURNS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one CI of that class named with the short hostname</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RUNS AFTER</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every rule so far needed domain evidence on the CI.</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HANDS OVER TO</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hardware-wide short name rule with a class sanity check.</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EXAMPLES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Three matched discovered items</a:t>
            </a:r>
            <a:endParaRPr lang="en-US" sz="2800" dirty="0"/>
          </a:p>
        </p:txBody>
      </p:sp>
      <p:sp>
        <p:nvSpPr>
          <p:cNvPr id="4" name="Shape 2"/>
          <p:cNvSpPr/>
          <p:nvPr/>
        </p:nvSpPr>
        <p:spPr>
          <a:xfrm>
            <a:off x="457200" y="1325880"/>
            <a:ext cx="11274552" cy="2011680"/>
          </a:xfrm>
          <a:prstGeom prst="roundRect">
            <a:avLst>
              <a:gd name="adj" fmla="val 227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77240" y="1645920"/>
            <a:ext cx="10607040" cy="1463040"/>
          </a:xfrm>
          <a:prstGeom prst="rect">
            <a:avLst/>
          </a:prstGeom>
          <a:noFill/>
          <a:ln/>
        </p:spPr>
        <p:txBody>
          <a:bodyPr wrap="square" lIns="0" tIns="0" rIns="0" bIns="0" rtlCol="0" anchor="t"/>
          <a:lstStyle/>
          <a:p>
            <a:pPr indent="0" marL="0">
              <a:buNone/>
            </a:pPr>
            <a:r>
              <a:rPr lang="en-US" sz="1600" dirty="0">
                <a:solidFill>
                  <a:srgbClr val="6B7177"/>
                </a:solidFill>
                <a:latin typeface="Arial" pitchFamily="34" charset="0"/>
                <a:ea typeface="Arial" pitchFamily="34" charset="-122"/>
                <a:cs typeface="Arial" pitchFamily="34" charset="-120"/>
              </a:rPr>
              <a:t>Three discovered items matched by this rule on the development instance will be shown here, one per page, each with the scanned values, the steps the rule took and the CI it returned.</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Hardware Match</a:t>
            </a:r>
            <a:endParaRPr lang="en-US" sz="2800" dirty="0"/>
          </a:p>
        </p:txBody>
      </p:sp>
      <p:sp>
        <p:nvSpPr>
          <p:cNvPr id="4" name="Shape 2"/>
          <p:cNvSpPr/>
          <p:nvPr/>
        </p:nvSpPr>
        <p:spPr>
          <a:xfrm>
            <a:off x="457200" y="1325880"/>
            <a:ext cx="7223760" cy="3931920"/>
          </a:xfrm>
          <a:prstGeom prst="roundRect">
            <a:avLst>
              <a:gd name="adj" fmla="val 116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50876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DOES</a:t>
            </a:r>
            <a:endParaRPr lang="en-US" sz="950" dirty="0"/>
          </a:p>
        </p:txBody>
      </p:sp>
      <p:sp>
        <p:nvSpPr>
          <p:cNvPr id="6" name="Text 4"/>
          <p:cNvSpPr txBox="1"/>
          <p:nvPr/>
        </p:nvSpPr>
        <p:spPr>
          <a:xfrm>
            <a:off x="731520" y="1783080"/>
            <a:ext cx="6675120" cy="1371600"/>
          </a:xfrm>
          <a:prstGeom prst="rect">
            <a:avLst/>
          </a:prstGeom>
          <a:noFill/>
          <a:ln/>
        </p:spPr>
        <p:txBody>
          <a:bodyPr wrap="square" lIns="0" tIns="0" rIns="0" bIns="0" rtlCol="0" anchor="t">
            <a:normAutofit/>
          </a:bodyPr>
          <a:lstStyle/>
          <a:p>
            <a:pPr indent="0" marL="0">
              <a:buNone/>
            </a:pPr>
            <a:r>
              <a:rPr lang="en-US" sz="1500" dirty="0">
                <a:solidFill>
                  <a:srgbClr val="24272A"/>
                </a:solidFill>
                <a:latin typeface="Arial" pitchFamily="34" charset="0"/>
                <a:ea typeface="Arial" pitchFamily="34" charset="-122"/>
                <a:cs typeface="Arial" pitchFamily="34" charset="-120"/>
              </a:rPr>
              <a:t>The short hostname across the whole hardware tree, with a check that the CI found does not contradict the scanned OS. For CIs classed generically (Server, Computer, UNIX Server) or differently from the OS.</a:t>
            </a:r>
            <a:endParaRPr lang="en-US" sz="1500" dirty="0"/>
          </a:p>
        </p:txBody>
      </p:sp>
      <p:sp>
        <p:nvSpPr>
          <p:cNvPr id="7" name="Text 5"/>
          <p:cNvSpPr txBox="1"/>
          <p:nvPr/>
        </p:nvSpPr>
        <p:spPr>
          <a:xfrm>
            <a:off x="731520" y="324612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IT MATCHES</a:t>
            </a:r>
            <a:endParaRPr lang="en-US" sz="950" dirty="0"/>
          </a:p>
        </p:txBody>
      </p:sp>
      <p:sp>
        <p:nvSpPr>
          <p:cNvPr id="8" name="Text 6"/>
          <p:cNvSpPr txBox="1"/>
          <p:nvPr/>
        </p:nvSpPr>
        <p:spPr>
          <a:xfrm>
            <a:off x="731520" y="3520440"/>
            <a:ext cx="6675120" cy="1645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Class becomes a preference</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One CI carries the name</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Veto a contradicting class</a:t>
            </a:r>
            <a:endParaRPr lang="en-US" sz="1500" dirty="0"/>
          </a:p>
        </p:txBody>
      </p:sp>
      <p:sp>
        <p:nvSpPr>
          <p:cNvPr id="9" name="Shape 7"/>
          <p:cNvSpPr/>
          <p:nvPr/>
        </p:nvSpPr>
        <p:spPr>
          <a:xfrm>
            <a:off x="7955280" y="1325880"/>
            <a:ext cx="3776472" cy="3931920"/>
          </a:xfrm>
          <a:prstGeom prst="roundRect">
            <a:avLst>
              <a:gd name="adj" fmla="val 121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8183880" y="1536192"/>
            <a:ext cx="3337560" cy="3566160"/>
          </a:xfrm>
          <a:prstGeom prst="rect">
            <a:avLst/>
          </a:prstGeom>
          <a:noFill/>
          <a:ln/>
        </p:spPr>
        <p:txBody>
          <a:bodyPr wrap="square" lIns="0" tIns="0" rIns="0" bIns="0" rtlCol="0" anchor="t">
            <a:normAutofit/>
          </a:bodyPr>
          <a:lstStyle/>
          <a:p>
            <a:pPr indent="0" marL="0">
              <a:buNone/>
            </a:pPr>
            <a:r>
              <a:rPr lang="en-US" sz="950" b="1" spc="120" kern="0" dirty="0">
                <a:solidFill>
                  <a:srgbClr val="012169"/>
                </a:solidFill>
                <a:latin typeface="Arial" pitchFamily="34" charset="0"/>
                <a:ea typeface="Arial" pitchFamily="34" charset="-122"/>
                <a:cs typeface="Arial" pitchFamily="34" charset="-120"/>
              </a:rPr>
              <a:t>READS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DNS, plus the OS</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RETURNS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one hardware CI named with the hostname, class permitting</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RUNS AFTER</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class-scoped rule required the name to be unique inside the OS class.</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HANDS OVER TO</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full-FQDN name rule, then the address rules.</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EXAMPLES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Three matched discovered items</a:t>
            </a:r>
            <a:endParaRPr lang="en-US" sz="2800" dirty="0"/>
          </a:p>
        </p:txBody>
      </p:sp>
      <p:sp>
        <p:nvSpPr>
          <p:cNvPr id="4" name="Shape 2"/>
          <p:cNvSpPr/>
          <p:nvPr/>
        </p:nvSpPr>
        <p:spPr>
          <a:xfrm>
            <a:off x="457200" y="1325880"/>
            <a:ext cx="11274552" cy="2011680"/>
          </a:xfrm>
          <a:prstGeom prst="roundRect">
            <a:avLst>
              <a:gd name="adj" fmla="val 227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77240" y="1645920"/>
            <a:ext cx="10607040" cy="1463040"/>
          </a:xfrm>
          <a:prstGeom prst="rect">
            <a:avLst/>
          </a:prstGeom>
          <a:noFill/>
          <a:ln/>
        </p:spPr>
        <p:txBody>
          <a:bodyPr wrap="square" lIns="0" tIns="0" rIns="0" bIns="0" rtlCol="0" anchor="t"/>
          <a:lstStyle/>
          <a:p>
            <a:pPr indent="0" marL="0">
              <a:buNone/>
            </a:pPr>
            <a:r>
              <a:rPr lang="en-US" sz="1600" dirty="0">
                <a:solidFill>
                  <a:srgbClr val="6B7177"/>
                </a:solidFill>
                <a:latin typeface="Arial" pitchFamily="34" charset="0"/>
                <a:ea typeface="Arial" pitchFamily="34" charset="-122"/>
                <a:cs typeface="Arial" pitchFamily="34" charset="-120"/>
              </a:rPr>
              <a:t>Three discovered items matched by this rule on the development instance will be shown here, one per page, each with the scanned values, the steps the rule took and the CI it returned.</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Device Name Match</a:t>
            </a:r>
            <a:endParaRPr lang="en-US" sz="2800" dirty="0"/>
          </a:p>
        </p:txBody>
      </p:sp>
      <p:sp>
        <p:nvSpPr>
          <p:cNvPr id="4" name="Shape 2"/>
          <p:cNvSpPr/>
          <p:nvPr/>
        </p:nvSpPr>
        <p:spPr>
          <a:xfrm>
            <a:off x="457200" y="1325880"/>
            <a:ext cx="7223760" cy="3931920"/>
          </a:xfrm>
          <a:prstGeom prst="roundRect">
            <a:avLst>
              <a:gd name="adj" fmla="val 116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50876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DOES</a:t>
            </a:r>
            <a:endParaRPr lang="en-US" sz="950" dirty="0"/>
          </a:p>
        </p:txBody>
      </p:sp>
      <p:sp>
        <p:nvSpPr>
          <p:cNvPr id="6" name="Text 4"/>
          <p:cNvSpPr txBox="1"/>
          <p:nvPr/>
        </p:nvSpPr>
        <p:spPr>
          <a:xfrm>
            <a:off x="731520" y="1783080"/>
            <a:ext cx="6675120" cy="1371600"/>
          </a:xfrm>
          <a:prstGeom prst="rect">
            <a:avLst/>
          </a:prstGeom>
          <a:noFill/>
          <a:ln/>
        </p:spPr>
        <p:txBody>
          <a:bodyPr wrap="square" lIns="0" tIns="0" rIns="0" bIns="0" rtlCol="0" anchor="t">
            <a:normAutofit/>
          </a:bodyPr>
          <a:lstStyle/>
          <a:p>
            <a:pPr indent="0" marL="0">
              <a:buNone/>
            </a:pPr>
            <a:r>
              <a:rPr lang="en-US" sz="1500" dirty="0">
                <a:solidFill>
                  <a:srgbClr val="24272A"/>
                </a:solidFill>
                <a:latin typeface="Arial" pitchFamily="34" charset="0"/>
                <a:ea typeface="Arial" pitchFamily="34" charset="-122"/>
                <a:cs typeface="Arial" pitchFamily="34" charset="-120"/>
              </a:rPr>
              <a:t>IP Phones and Scanners sit outside the Hardware tree, so the hardware-wide name rules never see them, and they report no OS. This rule looks for the scanned host name in exactly those two classes.</a:t>
            </a:r>
            <a:endParaRPr lang="en-US" sz="1500" dirty="0"/>
          </a:p>
        </p:txBody>
      </p:sp>
      <p:sp>
        <p:nvSpPr>
          <p:cNvPr id="7" name="Text 5"/>
          <p:cNvSpPr txBox="1"/>
          <p:nvPr/>
        </p:nvSpPr>
        <p:spPr>
          <a:xfrm>
            <a:off x="731520" y="324612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IT MATCHES</a:t>
            </a:r>
            <a:endParaRPr lang="en-US" sz="950" dirty="0"/>
          </a:p>
        </p:txBody>
      </p:sp>
      <p:sp>
        <p:nvSpPr>
          <p:cNvPr id="8" name="Text 6"/>
          <p:cNvSpPr txBox="1"/>
          <p:nvPr/>
        </p:nvSpPr>
        <p:spPr>
          <a:xfrm>
            <a:off x="731520" y="3520440"/>
            <a:ext cx="6675120" cy="1645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Refuse when the OS names a server or desktop</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Host name searched in IP Phone and Imaging Hardware</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One device, else the scanned address breaks the tie</a:t>
            </a:r>
            <a:endParaRPr lang="en-US" sz="1500" dirty="0"/>
          </a:p>
        </p:txBody>
      </p:sp>
      <p:sp>
        <p:nvSpPr>
          <p:cNvPr id="9" name="Shape 7"/>
          <p:cNvSpPr/>
          <p:nvPr/>
        </p:nvSpPr>
        <p:spPr>
          <a:xfrm>
            <a:off x="7955280" y="1325880"/>
            <a:ext cx="3776472" cy="3931920"/>
          </a:xfrm>
          <a:prstGeom prst="roundRect">
            <a:avLst>
              <a:gd name="adj" fmla="val 121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8183880" y="1536192"/>
            <a:ext cx="3337560" cy="3566160"/>
          </a:xfrm>
          <a:prstGeom prst="rect">
            <a:avLst/>
          </a:prstGeom>
          <a:noFill/>
          <a:ln/>
        </p:spPr>
        <p:txBody>
          <a:bodyPr wrap="square" lIns="0" tIns="0" rIns="0" bIns="0" rtlCol="0" anchor="t">
            <a:normAutofit/>
          </a:bodyPr>
          <a:lstStyle/>
          <a:p>
            <a:pPr indent="0" marL="0">
              <a:buNone/>
            </a:pPr>
            <a:r>
              <a:rPr lang="en-US" sz="950" b="1" spc="120" kern="0" dirty="0">
                <a:solidFill>
                  <a:srgbClr val="012169"/>
                </a:solidFill>
                <a:latin typeface="Arial" pitchFamily="34" charset="0"/>
                <a:ea typeface="Arial" pitchFamily="34" charset="-122"/>
                <a:cs typeface="Arial" pitchFamily="34" charset="-120"/>
              </a:rPr>
              <a:t>READS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DNS, plus the OS and the IP</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RETURNS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one IP Phone or Imaging Hardware CI named with the host name; the scanned address breaks a tie</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RUNS AFTER</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USEM Hostname Hardware Match, which searches the Hardware tree only.</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HANDS OVER TO</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USEM Management Interface Match.</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EXAMPLES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Three matched discovered items</a:t>
            </a:r>
            <a:endParaRPr lang="en-US" sz="2800" dirty="0"/>
          </a:p>
        </p:txBody>
      </p:sp>
      <p:sp>
        <p:nvSpPr>
          <p:cNvPr id="4" name="Shape 2"/>
          <p:cNvSpPr/>
          <p:nvPr/>
        </p:nvSpPr>
        <p:spPr>
          <a:xfrm>
            <a:off x="457200" y="1325880"/>
            <a:ext cx="11274552" cy="2011680"/>
          </a:xfrm>
          <a:prstGeom prst="roundRect">
            <a:avLst>
              <a:gd name="adj" fmla="val 227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77240" y="1645920"/>
            <a:ext cx="10607040" cy="1463040"/>
          </a:xfrm>
          <a:prstGeom prst="rect">
            <a:avLst/>
          </a:prstGeom>
          <a:noFill/>
          <a:ln/>
        </p:spPr>
        <p:txBody>
          <a:bodyPr wrap="square" lIns="0" tIns="0" rIns="0" bIns="0" rtlCol="0" anchor="t"/>
          <a:lstStyle/>
          <a:p>
            <a:pPr indent="0" marL="0">
              <a:buNone/>
            </a:pPr>
            <a:r>
              <a:rPr lang="en-US" sz="1600" dirty="0">
                <a:solidFill>
                  <a:srgbClr val="6B7177"/>
                </a:solidFill>
                <a:latin typeface="Arial" pitchFamily="34" charset="0"/>
                <a:ea typeface="Arial" pitchFamily="34" charset="-122"/>
                <a:cs typeface="Arial" pitchFamily="34" charset="-120"/>
              </a:rPr>
              <a:t>Three discovered items matched by this rule on the development instance will be shown here, one per page, each with the scanned values, the steps the rule took and the CI it returned.</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Management Interface Match</a:t>
            </a:r>
            <a:endParaRPr lang="en-US" sz="2800" dirty="0"/>
          </a:p>
        </p:txBody>
      </p:sp>
      <p:sp>
        <p:nvSpPr>
          <p:cNvPr id="4" name="Shape 2"/>
          <p:cNvSpPr/>
          <p:nvPr/>
        </p:nvSpPr>
        <p:spPr>
          <a:xfrm>
            <a:off x="457200" y="1325880"/>
            <a:ext cx="7223760" cy="3931920"/>
          </a:xfrm>
          <a:prstGeom prst="roundRect">
            <a:avLst>
              <a:gd name="adj" fmla="val 116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50876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DOES</a:t>
            </a:r>
            <a:endParaRPr lang="en-US" sz="950" dirty="0"/>
          </a:p>
        </p:txBody>
      </p:sp>
      <p:sp>
        <p:nvSpPr>
          <p:cNvPr id="6" name="Text 4"/>
          <p:cNvSpPr txBox="1"/>
          <p:nvPr/>
        </p:nvSpPr>
        <p:spPr>
          <a:xfrm>
            <a:off x="731520" y="1783080"/>
            <a:ext cx="6675120" cy="1371600"/>
          </a:xfrm>
          <a:prstGeom prst="rect">
            <a:avLst/>
          </a:prstGeom>
          <a:noFill/>
          <a:ln/>
        </p:spPr>
        <p:txBody>
          <a:bodyPr wrap="square" lIns="0" tIns="0" rIns="0" bIns="0" rtlCol="0" anchor="t">
            <a:normAutofit/>
          </a:bodyPr>
          <a:lstStyle/>
          <a:p>
            <a:pPr indent="0" marL="0">
              <a:buNone/>
            </a:pPr>
            <a:r>
              <a:rPr lang="en-US" sz="1500" dirty="0">
                <a:solidFill>
                  <a:srgbClr val="24272A"/>
                </a:solidFill>
                <a:latin typeface="Arial" pitchFamily="34" charset="0"/>
                <a:ea typeface="Arial" pitchFamily="34" charset="-122"/>
                <a:cs typeface="Arial" pitchFamily="34" charset="-120"/>
              </a:rPr>
              <a:t>Server management controllers (HP iLO, Oracle ILOM, Dell iDRAC, IBM IMM, Cisco CIMC, BMC, IPMI) are scanned under their own label, the server name plus a suffix. The findings belong to the server, so the rule strips the suffix and matches the server.</a:t>
            </a:r>
            <a:endParaRPr lang="en-US" sz="1500" dirty="0"/>
          </a:p>
        </p:txBody>
      </p:sp>
      <p:sp>
        <p:nvSpPr>
          <p:cNvPr id="7" name="Text 5"/>
          <p:cNvSpPr txBox="1"/>
          <p:nvPr/>
        </p:nvSpPr>
        <p:spPr>
          <a:xfrm>
            <a:off x="731520" y="324612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IT MATCHES</a:t>
            </a:r>
            <a:endParaRPr lang="en-US" sz="950" dirty="0"/>
          </a:p>
        </p:txBody>
      </p:sp>
      <p:sp>
        <p:nvSpPr>
          <p:cNvPr id="8" name="Text 6"/>
          <p:cNvSpPr txBox="1"/>
          <p:nvPr/>
        </p:nvSpPr>
        <p:spPr>
          <a:xfrm>
            <a:off x="731520" y="3520440"/>
            <a:ext cx="6675120" cy="1645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Two ways to recognise a controller</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The server, uniquely named</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Never a load balancer</a:t>
            </a:r>
            <a:endParaRPr lang="en-US" sz="1500" dirty="0"/>
          </a:p>
        </p:txBody>
      </p:sp>
      <p:sp>
        <p:nvSpPr>
          <p:cNvPr id="9" name="Shape 7"/>
          <p:cNvSpPr/>
          <p:nvPr/>
        </p:nvSpPr>
        <p:spPr>
          <a:xfrm>
            <a:off x="7955280" y="1325880"/>
            <a:ext cx="3776472" cy="3931920"/>
          </a:xfrm>
          <a:prstGeom prst="roundRect">
            <a:avLst>
              <a:gd name="adj" fmla="val 121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8183880" y="1536192"/>
            <a:ext cx="3337560" cy="3566160"/>
          </a:xfrm>
          <a:prstGeom prst="rect">
            <a:avLst/>
          </a:prstGeom>
          <a:noFill/>
          <a:ln/>
        </p:spPr>
        <p:txBody>
          <a:bodyPr wrap="square" lIns="0" tIns="0" rIns="0" bIns="0" rtlCol="0" anchor="t">
            <a:normAutofit/>
          </a:bodyPr>
          <a:lstStyle/>
          <a:p>
            <a:pPr indent="0" marL="0">
              <a:buNone/>
            </a:pPr>
            <a:r>
              <a:rPr lang="en-US" sz="950" b="1" spc="120" kern="0" dirty="0">
                <a:solidFill>
                  <a:srgbClr val="012169"/>
                </a:solidFill>
                <a:latin typeface="Arial" pitchFamily="34" charset="0"/>
                <a:ea typeface="Arial" pitchFamily="34" charset="-122"/>
                <a:cs typeface="Arial" pitchFamily="34" charset="-120"/>
              </a:rPr>
              <a:t>READS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DNS, plus the OS</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RETURNS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one hardware CI named like the label without its suffix</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RUNS AFTER</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hostname rules tried the whole label and found nothing.</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HANDS OVER TO</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network interface rule and the full-FQDN name rule.</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EXAMPLES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Three matched discovered items</a:t>
            </a:r>
            <a:endParaRPr lang="en-US" sz="2800" dirty="0"/>
          </a:p>
        </p:txBody>
      </p:sp>
      <p:sp>
        <p:nvSpPr>
          <p:cNvPr id="4" name="Shape 2"/>
          <p:cNvSpPr/>
          <p:nvPr/>
        </p:nvSpPr>
        <p:spPr>
          <a:xfrm>
            <a:off x="457200" y="1325880"/>
            <a:ext cx="11274552" cy="2011680"/>
          </a:xfrm>
          <a:prstGeom prst="roundRect">
            <a:avLst>
              <a:gd name="adj" fmla="val 227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77240" y="1645920"/>
            <a:ext cx="10607040" cy="1463040"/>
          </a:xfrm>
          <a:prstGeom prst="rect">
            <a:avLst/>
          </a:prstGeom>
          <a:noFill/>
          <a:ln/>
        </p:spPr>
        <p:txBody>
          <a:bodyPr wrap="square" lIns="0" tIns="0" rIns="0" bIns="0" rtlCol="0" anchor="t"/>
          <a:lstStyle/>
          <a:p>
            <a:pPr indent="0" marL="0">
              <a:buNone/>
            </a:pPr>
            <a:r>
              <a:rPr lang="en-US" sz="1600" dirty="0">
                <a:solidFill>
                  <a:srgbClr val="6B7177"/>
                </a:solidFill>
                <a:latin typeface="Arial" pitchFamily="34" charset="0"/>
                <a:ea typeface="Arial" pitchFamily="34" charset="-122"/>
                <a:cs typeface="Arial" pitchFamily="34" charset="-120"/>
              </a:rPr>
              <a:t>Three discovered items matched by this rule on the development instance will be shown here, one per page, each with the scanned values, the steps the rule took and the CI it returned.</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Network Interface Name Match</a:t>
            </a:r>
            <a:endParaRPr lang="en-US" sz="2800" dirty="0"/>
          </a:p>
        </p:txBody>
      </p:sp>
      <p:sp>
        <p:nvSpPr>
          <p:cNvPr id="4" name="Shape 2"/>
          <p:cNvSpPr/>
          <p:nvPr/>
        </p:nvSpPr>
        <p:spPr>
          <a:xfrm>
            <a:off x="457200" y="1325880"/>
            <a:ext cx="7223760" cy="3931920"/>
          </a:xfrm>
          <a:prstGeom prst="roundRect">
            <a:avLst>
              <a:gd name="adj" fmla="val 116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50876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DOES</a:t>
            </a:r>
            <a:endParaRPr lang="en-US" sz="950" dirty="0"/>
          </a:p>
        </p:txBody>
      </p:sp>
      <p:sp>
        <p:nvSpPr>
          <p:cNvPr id="6" name="Text 4"/>
          <p:cNvSpPr txBox="1"/>
          <p:nvPr/>
        </p:nvSpPr>
        <p:spPr>
          <a:xfrm>
            <a:off x="731520" y="1783080"/>
            <a:ext cx="6675120" cy="1371600"/>
          </a:xfrm>
          <a:prstGeom prst="rect">
            <a:avLst/>
          </a:prstGeom>
          <a:noFill/>
          <a:ln/>
        </p:spPr>
        <p:txBody>
          <a:bodyPr wrap="square" lIns="0" tIns="0" rIns="0" bIns="0" rtlCol="0" anchor="t">
            <a:normAutofit/>
          </a:bodyPr>
          <a:lstStyle/>
          <a:p>
            <a:pPr indent="0" marL="0">
              <a:buNone/>
            </a:pPr>
            <a:r>
              <a:rPr lang="en-US" sz="1500" dirty="0">
                <a:solidFill>
                  <a:srgbClr val="24272A"/>
                </a:solidFill>
                <a:latin typeface="Arial" pitchFamily="34" charset="0"/>
                <a:ea typeface="Arial" pitchFamily="34" charset="-122"/>
                <a:cs typeface="Arial" pitchFamily="34" charset="-120"/>
              </a:rPr>
              <a:t>Network devices are scanned through their interface and VLAN addresses, each carrying a label of the device name plus an interface tail. The device CI is named with the leading part only, so the rule walks the label prefix by prefix.</a:t>
            </a:r>
            <a:endParaRPr lang="en-US" sz="1500" dirty="0"/>
          </a:p>
        </p:txBody>
      </p:sp>
      <p:sp>
        <p:nvSpPr>
          <p:cNvPr id="7" name="Text 5"/>
          <p:cNvSpPr txBox="1"/>
          <p:nvPr/>
        </p:nvSpPr>
        <p:spPr>
          <a:xfrm>
            <a:off x="731520" y="324612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IT MATCHES</a:t>
            </a:r>
            <a:endParaRPr lang="en-US" sz="950" dirty="0"/>
          </a:p>
        </p:txBody>
      </p:sp>
      <p:sp>
        <p:nvSpPr>
          <p:cNvPr id="8" name="Text 6"/>
          <p:cNvSpPr txBox="1"/>
          <p:nvPr/>
        </p:nvSpPr>
        <p:spPr>
          <a:xfrm>
            <a:off x="731520" y="3520440"/>
            <a:ext cx="6675120" cy="1645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Interface evidence first</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Longest prefix first</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First prefix that hits decides</a:t>
            </a:r>
            <a:endParaRPr lang="en-US" sz="1500" dirty="0"/>
          </a:p>
        </p:txBody>
      </p:sp>
      <p:sp>
        <p:nvSpPr>
          <p:cNvPr id="9" name="Shape 7"/>
          <p:cNvSpPr/>
          <p:nvPr/>
        </p:nvSpPr>
        <p:spPr>
          <a:xfrm>
            <a:off x="7955280" y="1325880"/>
            <a:ext cx="3776472" cy="3931920"/>
          </a:xfrm>
          <a:prstGeom prst="roundRect">
            <a:avLst>
              <a:gd name="adj" fmla="val 121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8183880" y="1536192"/>
            <a:ext cx="3337560" cy="3566160"/>
          </a:xfrm>
          <a:prstGeom prst="rect">
            <a:avLst/>
          </a:prstGeom>
          <a:noFill/>
          <a:ln/>
        </p:spPr>
        <p:txBody>
          <a:bodyPr wrap="square" lIns="0" tIns="0" rIns="0" bIns="0" rtlCol="0" anchor="t">
            <a:normAutofit/>
          </a:bodyPr>
          <a:lstStyle/>
          <a:p>
            <a:pPr indent="0" marL="0">
              <a:buNone/>
            </a:pPr>
            <a:r>
              <a:rPr lang="en-US" sz="950" b="1" spc="120" kern="0" dirty="0">
                <a:solidFill>
                  <a:srgbClr val="012169"/>
                </a:solidFill>
                <a:latin typeface="Arial" pitchFamily="34" charset="0"/>
                <a:ea typeface="Arial" pitchFamily="34" charset="-122"/>
                <a:cs typeface="Arial" pitchFamily="34" charset="-120"/>
              </a:rPr>
              <a:t>READS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DNS, plus the OS</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RETURNS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one Network Gear or Load Balancer device named by a prefix</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RUNS AFTER</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hostname rules tried the whole label; the controller rule found no suffix.</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HANDS OVER TO</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full-FQDN name rule and the load balancer service rule.</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EXAMPLES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Three matched discovered items</a:t>
            </a:r>
            <a:endParaRPr lang="en-US" sz="2800" dirty="0"/>
          </a:p>
        </p:txBody>
      </p:sp>
      <p:sp>
        <p:nvSpPr>
          <p:cNvPr id="4" name="Shape 2"/>
          <p:cNvSpPr/>
          <p:nvPr/>
        </p:nvSpPr>
        <p:spPr>
          <a:xfrm>
            <a:off x="457200" y="1325880"/>
            <a:ext cx="11274552" cy="2011680"/>
          </a:xfrm>
          <a:prstGeom prst="roundRect">
            <a:avLst>
              <a:gd name="adj" fmla="val 227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77240" y="1645920"/>
            <a:ext cx="10607040" cy="1463040"/>
          </a:xfrm>
          <a:prstGeom prst="rect">
            <a:avLst/>
          </a:prstGeom>
          <a:noFill/>
          <a:ln/>
        </p:spPr>
        <p:txBody>
          <a:bodyPr wrap="square" lIns="0" tIns="0" rIns="0" bIns="0" rtlCol="0" anchor="t"/>
          <a:lstStyle/>
          <a:p>
            <a:pPr indent="0" marL="0">
              <a:buNone/>
            </a:pPr>
            <a:r>
              <a:rPr lang="en-US" sz="1600" dirty="0">
                <a:solidFill>
                  <a:srgbClr val="6B7177"/>
                </a:solidFill>
                <a:latin typeface="Arial" pitchFamily="34" charset="0"/>
                <a:ea typeface="Arial" pitchFamily="34" charset="-122"/>
                <a:cs typeface="Arial" pitchFamily="34" charset="-120"/>
              </a:rPr>
              <a:t>Three discovered items matched by this rule on the development instance will be shown here, one per page, each with the scanned values, the steps the rule took and the CI it returned.</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Name Hardware Match</a:t>
            </a:r>
            <a:endParaRPr lang="en-US" sz="2800" dirty="0"/>
          </a:p>
        </p:txBody>
      </p:sp>
      <p:sp>
        <p:nvSpPr>
          <p:cNvPr id="4" name="Shape 2"/>
          <p:cNvSpPr/>
          <p:nvPr/>
        </p:nvSpPr>
        <p:spPr>
          <a:xfrm>
            <a:off x="457200" y="1325880"/>
            <a:ext cx="7223760" cy="3931920"/>
          </a:xfrm>
          <a:prstGeom prst="roundRect">
            <a:avLst>
              <a:gd name="adj" fmla="val 116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50876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DOES</a:t>
            </a:r>
            <a:endParaRPr lang="en-US" sz="950" dirty="0"/>
          </a:p>
        </p:txBody>
      </p:sp>
      <p:sp>
        <p:nvSpPr>
          <p:cNvPr id="6" name="Text 4"/>
          <p:cNvSpPr txBox="1"/>
          <p:nvPr/>
        </p:nvSpPr>
        <p:spPr>
          <a:xfrm>
            <a:off x="731520" y="1783080"/>
            <a:ext cx="6675120" cy="1371600"/>
          </a:xfrm>
          <a:prstGeom prst="rect">
            <a:avLst/>
          </a:prstGeom>
          <a:noFill/>
          <a:ln/>
        </p:spPr>
        <p:txBody>
          <a:bodyPr wrap="square" lIns="0" tIns="0" rIns="0" bIns="0" rtlCol="0" anchor="t">
            <a:normAutofit/>
          </a:bodyPr>
          <a:lstStyle/>
          <a:p>
            <a:pPr indent="0" marL="0">
              <a:buNone/>
            </a:pPr>
            <a:r>
              <a:rPr lang="en-US" sz="1500" dirty="0">
                <a:solidFill>
                  <a:srgbClr val="24272A"/>
                </a:solidFill>
                <a:latin typeface="Arial" pitchFamily="34" charset="0"/>
                <a:ea typeface="Arial" pitchFamily="34" charset="-122"/>
                <a:cs typeface="Arial" pitchFamily="34" charset="-120"/>
              </a:rPr>
              <a:t>Some loads name the CI with the whole FQDN string instead of the short hostname, typically the appliance domains ending in .rpg, so a short name search can never find them.</a:t>
            </a:r>
            <a:endParaRPr lang="en-US" sz="1500" dirty="0"/>
          </a:p>
        </p:txBody>
      </p:sp>
      <p:sp>
        <p:nvSpPr>
          <p:cNvPr id="7" name="Text 5"/>
          <p:cNvSpPr txBox="1"/>
          <p:nvPr/>
        </p:nvSpPr>
        <p:spPr>
          <a:xfrm>
            <a:off x="731520" y="324612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IT MATCHES</a:t>
            </a:r>
            <a:endParaRPr lang="en-US" sz="950" dirty="0"/>
          </a:p>
        </p:txBody>
      </p:sp>
      <p:sp>
        <p:nvSpPr>
          <p:cNvPr id="8" name="Text 6"/>
          <p:cNvSpPr txBox="1"/>
          <p:nvPr/>
        </p:nvSpPr>
        <p:spPr>
          <a:xfrm>
            <a:off x="731520" y="3520440"/>
            <a:ext cx="6675120" cy="1645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Compare the whole string</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Hardware tree, exactly one CI</a:t>
            </a:r>
            <a:endParaRPr lang="en-US" sz="1500" dirty="0"/>
          </a:p>
        </p:txBody>
      </p:sp>
      <p:sp>
        <p:nvSpPr>
          <p:cNvPr id="9" name="Shape 7"/>
          <p:cNvSpPr/>
          <p:nvPr/>
        </p:nvSpPr>
        <p:spPr>
          <a:xfrm>
            <a:off x="7955280" y="1325880"/>
            <a:ext cx="3776472" cy="3931920"/>
          </a:xfrm>
          <a:prstGeom prst="roundRect">
            <a:avLst>
              <a:gd name="adj" fmla="val 121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8183880" y="1536192"/>
            <a:ext cx="3337560" cy="3566160"/>
          </a:xfrm>
          <a:prstGeom prst="rect">
            <a:avLst/>
          </a:prstGeom>
          <a:noFill/>
          <a:ln/>
        </p:spPr>
        <p:txBody>
          <a:bodyPr wrap="square" lIns="0" tIns="0" rIns="0" bIns="0" rtlCol="0" anchor="t">
            <a:normAutofit/>
          </a:bodyPr>
          <a:lstStyle/>
          <a:p>
            <a:pPr indent="0" marL="0">
              <a:buNone/>
            </a:pPr>
            <a:r>
              <a:rPr lang="en-US" sz="950" b="1" spc="120" kern="0" dirty="0">
                <a:solidFill>
                  <a:srgbClr val="012169"/>
                </a:solidFill>
                <a:latin typeface="Arial" pitchFamily="34" charset="0"/>
                <a:ea typeface="Arial" pitchFamily="34" charset="-122"/>
                <a:cs typeface="Arial" pitchFamily="34" charset="-120"/>
              </a:rPr>
              <a:t>READS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DNS</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RETURNS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one hardware CI whose name is exactly the scanned FQDN</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RUNS AFTER</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every rule so far compared the short hostname or the fqdn field.</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HANDS OVER TO</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address rules, and finally the broad name rule.</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450  ·  EXAMPLES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Three matched discovered items</a:t>
            </a:r>
            <a:endParaRPr lang="en-US" sz="2800" dirty="0"/>
          </a:p>
        </p:txBody>
      </p:sp>
      <p:sp>
        <p:nvSpPr>
          <p:cNvPr id="4" name="Shape 2"/>
          <p:cNvSpPr/>
          <p:nvPr/>
        </p:nvSpPr>
        <p:spPr>
          <a:xfrm>
            <a:off x="457200" y="1325880"/>
            <a:ext cx="11274552" cy="2011680"/>
          </a:xfrm>
          <a:prstGeom prst="roundRect">
            <a:avLst>
              <a:gd name="adj" fmla="val 227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77240" y="1645920"/>
            <a:ext cx="10607040" cy="1463040"/>
          </a:xfrm>
          <a:prstGeom prst="rect">
            <a:avLst/>
          </a:prstGeom>
          <a:noFill/>
          <a:ln/>
        </p:spPr>
        <p:txBody>
          <a:bodyPr wrap="square" lIns="0" tIns="0" rIns="0" bIns="0" rtlCol="0" anchor="t"/>
          <a:lstStyle/>
          <a:p>
            <a:pPr indent="0" marL="0">
              <a:buNone/>
            </a:pPr>
            <a:r>
              <a:rPr lang="en-US" sz="1600" dirty="0">
                <a:solidFill>
                  <a:srgbClr val="6B7177"/>
                </a:solidFill>
                <a:latin typeface="Arial" pitchFamily="34" charset="0"/>
                <a:ea typeface="Arial" pitchFamily="34" charset="-122"/>
                <a:cs typeface="Arial" pitchFamily="34" charset="-120"/>
              </a:rPr>
              <a:t>Three discovered items matched by this rule on the development instance will be shown here, one per page, each with the scanned values, the steps the rule took and the CI it returned.</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Load Balancer Member Match</a:t>
            </a:r>
            <a:endParaRPr lang="en-US" sz="2800" dirty="0"/>
          </a:p>
        </p:txBody>
      </p:sp>
      <p:sp>
        <p:nvSpPr>
          <p:cNvPr id="4" name="Shape 2"/>
          <p:cNvSpPr/>
          <p:nvPr/>
        </p:nvSpPr>
        <p:spPr>
          <a:xfrm>
            <a:off x="457200" y="1325880"/>
            <a:ext cx="7223760" cy="3931920"/>
          </a:xfrm>
          <a:prstGeom prst="roundRect">
            <a:avLst>
              <a:gd name="adj" fmla="val 116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50876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DOES</a:t>
            </a:r>
            <a:endParaRPr lang="en-US" sz="950" dirty="0"/>
          </a:p>
        </p:txBody>
      </p:sp>
      <p:sp>
        <p:nvSpPr>
          <p:cNvPr id="6" name="Text 4"/>
          <p:cNvSpPr txBox="1"/>
          <p:nvPr/>
        </p:nvSpPr>
        <p:spPr>
          <a:xfrm>
            <a:off x="731520" y="1783080"/>
            <a:ext cx="6675120" cy="1371600"/>
          </a:xfrm>
          <a:prstGeom prst="rect">
            <a:avLst/>
          </a:prstGeom>
          <a:noFill/>
          <a:ln/>
        </p:spPr>
        <p:txBody>
          <a:bodyPr wrap="square" lIns="0" tIns="0" rIns="0" bIns="0" rtlCol="0" anchor="t">
            <a:normAutofit/>
          </a:bodyPr>
          <a:lstStyle/>
          <a:p>
            <a:pPr indent="0" marL="0">
              <a:buNone/>
            </a:pPr>
            <a:r>
              <a:rPr lang="en-US" sz="1500" dirty="0">
                <a:solidFill>
                  <a:srgbClr val="24272A"/>
                </a:solidFill>
                <a:latin typeface="Arial" pitchFamily="34" charset="0"/>
                <a:ea typeface="Arial" pitchFamily="34" charset="-122"/>
                <a:cs typeface="Arial" pitchFamily="34" charset="-120"/>
              </a:rPr>
              <a:t>Many virtual servers front exactly one real server. When the CMDB holds the pool behind the virtual server and every member leads to one and the same machine, the findings belong to that machine.</a:t>
            </a:r>
            <a:endParaRPr lang="en-US" sz="1500" dirty="0"/>
          </a:p>
        </p:txBody>
      </p:sp>
      <p:sp>
        <p:nvSpPr>
          <p:cNvPr id="7" name="Text 5"/>
          <p:cNvSpPr txBox="1"/>
          <p:nvPr/>
        </p:nvSpPr>
        <p:spPr>
          <a:xfrm>
            <a:off x="731520" y="324612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IT MATCHES</a:t>
            </a:r>
            <a:endParaRPr lang="en-US" sz="950" dirty="0"/>
          </a:p>
        </p:txBody>
      </p:sp>
      <p:sp>
        <p:nvSpPr>
          <p:cNvPr id="8" name="Text 6"/>
          <p:cNvSpPr txBox="1"/>
          <p:nvPr/>
        </p:nvSpPr>
        <p:spPr>
          <a:xfrm>
            <a:off x="731520" y="3520440"/>
            <a:ext cx="6675120" cy="1645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VIP sign: load balancer OS or a VIP marker in the name</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Virtual server found on fqdn, then name, then address</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Service to Pool to Pool Member to server</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One machine behind the whole pool, else decline</a:t>
            </a:r>
            <a:endParaRPr lang="en-US" sz="1500" dirty="0"/>
          </a:p>
        </p:txBody>
      </p:sp>
      <p:sp>
        <p:nvSpPr>
          <p:cNvPr id="9" name="Shape 7"/>
          <p:cNvSpPr/>
          <p:nvPr/>
        </p:nvSpPr>
        <p:spPr>
          <a:xfrm>
            <a:off x="7955280" y="1325880"/>
            <a:ext cx="3776472" cy="3931920"/>
          </a:xfrm>
          <a:prstGeom prst="roundRect">
            <a:avLst>
              <a:gd name="adj" fmla="val 121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8183880" y="1536192"/>
            <a:ext cx="3337560" cy="3566160"/>
          </a:xfrm>
          <a:prstGeom prst="rect">
            <a:avLst/>
          </a:prstGeom>
          <a:noFill/>
          <a:ln/>
        </p:spPr>
        <p:txBody>
          <a:bodyPr wrap="square" lIns="0" tIns="0" rIns="0" bIns="0" rtlCol="0" anchor="t">
            <a:normAutofit/>
          </a:bodyPr>
          <a:lstStyle/>
          <a:p>
            <a:pPr indent="0" marL="0">
              <a:buNone/>
            </a:pPr>
            <a:r>
              <a:rPr lang="en-US" sz="950" b="1" spc="120" kern="0" dirty="0">
                <a:solidFill>
                  <a:srgbClr val="012169"/>
                </a:solidFill>
                <a:latin typeface="Arial" pitchFamily="34" charset="0"/>
                <a:ea typeface="Arial" pitchFamily="34" charset="-122"/>
                <a:cs typeface="Arial" pitchFamily="34" charset="-120"/>
              </a:rPr>
              <a:t>READS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IP, plus the OS and the DNS name</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RETURNS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one real server behind the virtual server; null with several machines, a member the CMDB cannot place, or no pool data</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RUNS AFTER</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hardware rules, which decline a virtual address.</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HANDS OVER TO</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USEM Load Balancer Service Match, which attaches the virtual server record when the CMDB does not show several servers behind it.</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ccgw-l7-vip2.sit1.gwimnp.rpg</a:t>
            </a:r>
            <a:endParaRPr lang="en-US" sz="2400" dirty="0"/>
          </a:p>
        </p:txBody>
      </p:sp>
      <p:sp>
        <p:nvSpPr>
          <p:cNvPr id="4" name="Shape 2"/>
          <p:cNvSpPr/>
          <p:nvPr/>
        </p:nvSpPr>
        <p:spPr>
          <a:xfrm>
            <a:off x="457200" y="1325880"/>
            <a:ext cx="3611880" cy="4297680"/>
          </a:xfrm>
          <a:prstGeom prst="roundRect">
            <a:avLst>
              <a:gd name="adj" fmla="val 1266"/>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315468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315468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SDI000002418623</a:t>
            </a:r>
            <a:endParaRPr lang="en-US" sz="1900" dirty="0"/>
          </a:p>
        </p:txBody>
      </p:sp>
      <p:sp>
        <p:nvSpPr>
          <p:cNvPr id="7" name="Text 5"/>
          <p:cNvSpPr txBox="1"/>
          <p:nvPr/>
        </p:nvSpPr>
        <p:spPr>
          <a:xfrm>
            <a:off x="685800" y="2286000"/>
            <a:ext cx="315468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ccgw-l7-vip2.sit1.gwimnp.rpg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10.143.52.217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2026-09-17 02:11:52</a:t>
            </a:r>
            <a:endParaRPr lang="en-US" sz="1250" dirty="0"/>
          </a:p>
        </p:txBody>
      </p:sp>
      <p:sp>
        <p:nvSpPr>
          <p:cNvPr id="8" name="Text 6">
            <a:hlinkClick r:id="rId1" tooltip="https://bofasecopsdev.service-now.com/sn_sec_cmn_src_ci_list.do?sysparm_query=number=SDI000002418623"/>
          </p:cNvPr>
          <p:cNvSpPr txBox="1"/>
          <p:nvPr/>
        </p:nvSpPr>
        <p:spPr>
          <a:xfrm>
            <a:off x="685800" y="5239512"/>
            <a:ext cx="31546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41862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4288536" y="1325880"/>
            <a:ext cx="4069080" cy="4297680"/>
          </a:xfrm>
          <a:prstGeom prst="roundRect">
            <a:avLst>
              <a:gd name="adj" fmla="val 1124"/>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4517136" y="1490472"/>
            <a:ext cx="361188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4517136" y="1801368"/>
            <a:ext cx="3611880" cy="361188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VIP sign: OS "F5 Networks Big-IP" or a VIP marker in "ccgw-l7-vip2.sit1.gwimnp.rpg"</a:t>
            </a:r>
            <a:endParaRPr lang="en-US" sz="1350" dirty="0"/>
          </a:p>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Virtual server /Common/ihscore-sit1-ccgw-6011-vip on 10.143.52.217, pool /Common/ihscore-sit1-ccgw-443-pool, 1 member</a:t>
            </a:r>
            <a:endParaRPr lang="en-US" sz="1350" dirty="0"/>
          </a:p>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Every member (10.143.72.200) leads to the same machine</a:t>
            </a:r>
            <a:endParaRPr lang="en-US" sz="1350" dirty="0"/>
          </a:p>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Server returned: lva71pwbolcc01v [Linux Server]</a:t>
            </a:r>
            <a:endParaRPr lang="en-US" sz="1350" dirty="0"/>
          </a:p>
        </p:txBody>
      </p:sp>
      <p:sp>
        <p:nvSpPr>
          <p:cNvPr id="12" name="Shape 10"/>
          <p:cNvSpPr/>
          <p:nvPr/>
        </p:nvSpPr>
        <p:spPr>
          <a:xfrm>
            <a:off x="8577072" y="1325880"/>
            <a:ext cx="3154680" cy="4297680"/>
          </a:xfrm>
          <a:prstGeom prst="roundRect">
            <a:avLst>
              <a:gd name="adj" fmla="val 144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3" name="Shape 11"/>
          <p:cNvSpPr/>
          <p:nvPr/>
        </p:nvSpPr>
        <p:spPr>
          <a:xfrm>
            <a:off x="8577072" y="1325880"/>
            <a:ext cx="82296" cy="4297680"/>
          </a:xfrm>
          <a:prstGeom prst="rect">
            <a:avLst/>
          </a:prstGeom>
          <a:solidFill>
            <a:srgbClr val="E31837"/>
          </a:solidFill>
          <a:ln w="12700">
            <a:solidFill>
              <a:srgbClr val="333333"/>
            </a:solidFill>
            <a:prstDash val="solid"/>
          </a:ln>
        </p:spPr>
      </p:sp>
      <p:sp>
        <p:nvSpPr>
          <p:cNvPr id="14" name="Text 12"/>
          <p:cNvSpPr txBox="1"/>
          <p:nvPr/>
        </p:nvSpPr>
        <p:spPr>
          <a:xfrm>
            <a:off x="8851392" y="1490472"/>
            <a:ext cx="269748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5" name="Text 13"/>
          <p:cNvSpPr txBox="1"/>
          <p:nvPr/>
        </p:nvSpPr>
        <p:spPr>
          <a:xfrm>
            <a:off x="8851392" y="1764792"/>
            <a:ext cx="265176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lva71pwbolcc01v</a:t>
            </a:r>
            <a:endParaRPr lang="en-US" sz="1700" dirty="0"/>
          </a:p>
        </p:txBody>
      </p:sp>
      <p:sp>
        <p:nvSpPr>
          <p:cNvPr id="16" name="Text 14"/>
          <p:cNvSpPr txBox="1"/>
          <p:nvPr/>
        </p:nvSpPr>
        <p:spPr>
          <a:xfrm>
            <a:off x="8851392" y="2468880"/>
            <a:ext cx="265176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17" name="Text 15"/>
          <p:cNvSpPr txBox="1"/>
          <p:nvPr/>
        </p:nvSpPr>
        <p:spPr>
          <a:xfrm>
            <a:off x="8851392" y="2880360"/>
            <a:ext cx="2651760" cy="2286000"/>
          </a:xfrm>
          <a:prstGeom prst="rect">
            <a:avLst/>
          </a:prstGeom>
          <a:noFill/>
          <a:ln/>
        </p:spPr>
        <p:txBody>
          <a:bodyPr wrap="square" lIns="0" tIns="0" rIns="0" bIns="0" rtlCol="0" anchor="t">
            <a:normAutofit/>
          </a:bodyPr>
          <a:lstStyle/>
          <a:p>
            <a:pPr indent="0" marL="0">
              <a:buNone/>
            </a:pPr>
            <a:endParaRPr lang="en-US" sz="1250" dirty="0"/>
          </a:p>
        </p:txBody>
      </p:sp>
      <p:sp>
        <p:nvSpPr>
          <p:cNvPr id="18" name="Text 16">
            <a:hlinkClick r:id="rId2" tooltip="https://bofasecopsdev.service-now.com/cmdb_ci_linux_server.do?sys_id=ddcdddf02b462294d50dffbdbe91bf9b"/>
          </p:cNvPr>
          <p:cNvSpPr txBox="1"/>
          <p:nvPr/>
        </p:nvSpPr>
        <p:spPr>
          <a:xfrm>
            <a:off x="8851392" y="5239512"/>
            <a:ext cx="265176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ddcdddf02b462294d50dffbdbe91bf9b"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ccgw-l7-vip2.dev.gwimnp.rpg</a:t>
            </a:r>
            <a:endParaRPr lang="en-US" sz="2400" dirty="0"/>
          </a:p>
        </p:txBody>
      </p:sp>
      <p:sp>
        <p:nvSpPr>
          <p:cNvPr id="4" name="Shape 2"/>
          <p:cNvSpPr/>
          <p:nvPr/>
        </p:nvSpPr>
        <p:spPr>
          <a:xfrm>
            <a:off x="457200" y="1325880"/>
            <a:ext cx="3611880" cy="4297680"/>
          </a:xfrm>
          <a:prstGeom prst="roundRect">
            <a:avLst>
              <a:gd name="adj" fmla="val 1266"/>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315468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315468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SDI000002411394</a:t>
            </a:r>
            <a:endParaRPr lang="en-US" sz="1900" dirty="0"/>
          </a:p>
        </p:txBody>
      </p:sp>
      <p:sp>
        <p:nvSpPr>
          <p:cNvPr id="7" name="Text 5"/>
          <p:cNvSpPr txBox="1"/>
          <p:nvPr/>
        </p:nvSpPr>
        <p:spPr>
          <a:xfrm>
            <a:off x="685800" y="2286000"/>
            <a:ext cx="315468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ccgw-l7-vip2.dev.gwimnp.rpg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10.143.52.163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2026-09-17 02:08:45</a:t>
            </a:r>
            <a:endParaRPr lang="en-US" sz="1250" dirty="0"/>
          </a:p>
        </p:txBody>
      </p:sp>
      <p:sp>
        <p:nvSpPr>
          <p:cNvPr id="8" name="Text 6">
            <a:hlinkClick r:id="rId1" tooltip="https://bofasecopsdev.service-now.com/sn_sec_cmn_src_ci_list.do?sysparm_query=number=SDI000002411394"/>
          </p:cNvPr>
          <p:cNvSpPr txBox="1"/>
          <p:nvPr/>
        </p:nvSpPr>
        <p:spPr>
          <a:xfrm>
            <a:off x="685800" y="5239512"/>
            <a:ext cx="31546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41139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4288536" y="1325880"/>
            <a:ext cx="4069080" cy="4297680"/>
          </a:xfrm>
          <a:prstGeom prst="roundRect">
            <a:avLst>
              <a:gd name="adj" fmla="val 1124"/>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4517136" y="1490472"/>
            <a:ext cx="361188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4517136" y="1801368"/>
            <a:ext cx="3611880" cy="361188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VIP sign: OS "F5 Networks Big-IP" or a VIP marker in "ccgw-l7-vip2.dev.gwimnp.rpg"</a:t>
            </a:r>
            <a:endParaRPr lang="en-US" sz="1350" dirty="0"/>
          </a:p>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Virtual server /Common/ihscore-dev-ccgw-6011-vip on 10.143.52.163, pool /Common/ihscore-dev-ccgw-443-pool, 1 member</a:t>
            </a:r>
            <a:endParaRPr lang="en-US" sz="1350" dirty="0"/>
          </a:p>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Every member (10.143.72.198) leads to the same machine</a:t>
            </a:r>
            <a:endParaRPr lang="en-US" sz="1350" dirty="0"/>
          </a:p>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Server returned: lva68pwbolcc01v [Linux Server]</a:t>
            </a:r>
            <a:endParaRPr lang="en-US" sz="1350" dirty="0"/>
          </a:p>
        </p:txBody>
      </p:sp>
      <p:sp>
        <p:nvSpPr>
          <p:cNvPr id="12" name="Shape 10"/>
          <p:cNvSpPr/>
          <p:nvPr/>
        </p:nvSpPr>
        <p:spPr>
          <a:xfrm>
            <a:off x="8577072" y="1325880"/>
            <a:ext cx="3154680" cy="4297680"/>
          </a:xfrm>
          <a:prstGeom prst="roundRect">
            <a:avLst>
              <a:gd name="adj" fmla="val 144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3" name="Shape 11"/>
          <p:cNvSpPr/>
          <p:nvPr/>
        </p:nvSpPr>
        <p:spPr>
          <a:xfrm>
            <a:off x="8577072" y="1325880"/>
            <a:ext cx="82296" cy="4297680"/>
          </a:xfrm>
          <a:prstGeom prst="rect">
            <a:avLst/>
          </a:prstGeom>
          <a:solidFill>
            <a:srgbClr val="E31837"/>
          </a:solidFill>
          <a:ln w="12700">
            <a:solidFill>
              <a:srgbClr val="333333"/>
            </a:solidFill>
            <a:prstDash val="solid"/>
          </a:ln>
        </p:spPr>
      </p:sp>
      <p:sp>
        <p:nvSpPr>
          <p:cNvPr id="14" name="Text 12"/>
          <p:cNvSpPr txBox="1"/>
          <p:nvPr/>
        </p:nvSpPr>
        <p:spPr>
          <a:xfrm>
            <a:off x="8851392" y="1490472"/>
            <a:ext cx="269748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5" name="Text 13"/>
          <p:cNvSpPr txBox="1"/>
          <p:nvPr/>
        </p:nvSpPr>
        <p:spPr>
          <a:xfrm>
            <a:off x="8851392" y="1764792"/>
            <a:ext cx="265176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lva68pwbolcc01v</a:t>
            </a:r>
            <a:endParaRPr lang="en-US" sz="1700" dirty="0"/>
          </a:p>
        </p:txBody>
      </p:sp>
      <p:sp>
        <p:nvSpPr>
          <p:cNvPr id="16" name="Text 14"/>
          <p:cNvSpPr txBox="1"/>
          <p:nvPr/>
        </p:nvSpPr>
        <p:spPr>
          <a:xfrm>
            <a:off x="8851392" y="2468880"/>
            <a:ext cx="265176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17" name="Text 15"/>
          <p:cNvSpPr txBox="1"/>
          <p:nvPr/>
        </p:nvSpPr>
        <p:spPr>
          <a:xfrm>
            <a:off x="8851392" y="2880360"/>
            <a:ext cx="2651760" cy="2286000"/>
          </a:xfrm>
          <a:prstGeom prst="rect">
            <a:avLst/>
          </a:prstGeom>
          <a:noFill/>
          <a:ln/>
        </p:spPr>
        <p:txBody>
          <a:bodyPr wrap="square" lIns="0" tIns="0" rIns="0" bIns="0" rtlCol="0" anchor="t">
            <a:normAutofit/>
          </a:bodyPr>
          <a:lstStyle/>
          <a:p>
            <a:pPr indent="0" marL="0">
              <a:buNone/>
            </a:pPr>
            <a:endParaRPr lang="en-US" sz="1250" dirty="0"/>
          </a:p>
        </p:txBody>
      </p:sp>
      <p:sp>
        <p:nvSpPr>
          <p:cNvPr id="18" name="Text 16">
            <a:hlinkClick r:id="rId2" tooltip="https://bofasecopsdev.service-now.com/cmdb_ci_linux_server.do?sys_id=d78e25b82b8e2294d50dffbdbe91bf32"/>
          </p:cNvPr>
          <p:cNvSpPr txBox="1"/>
          <p:nvPr/>
        </p:nvSpPr>
        <p:spPr>
          <a:xfrm>
            <a:off x="8851392" y="5239512"/>
            <a:ext cx="265176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d78e25b82b8e2294d50dffbdbe91bf32"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multi-benefits-l7-vip2.dev.gwimnp.rpg</a:t>
            </a:r>
            <a:endParaRPr lang="en-US" sz="2400" dirty="0"/>
          </a:p>
        </p:txBody>
      </p:sp>
      <p:sp>
        <p:nvSpPr>
          <p:cNvPr id="4" name="Shape 2"/>
          <p:cNvSpPr/>
          <p:nvPr/>
        </p:nvSpPr>
        <p:spPr>
          <a:xfrm>
            <a:off x="457200" y="1325880"/>
            <a:ext cx="3611880" cy="4297680"/>
          </a:xfrm>
          <a:prstGeom prst="roundRect">
            <a:avLst>
              <a:gd name="adj" fmla="val 1266"/>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315468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315468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SDI000002375027</a:t>
            </a:r>
            <a:endParaRPr lang="en-US" sz="1900" dirty="0"/>
          </a:p>
        </p:txBody>
      </p:sp>
      <p:sp>
        <p:nvSpPr>
          <p:cNvPr id="7" name="Text 5"/>
          <p:cNvSpPr txBox="1"/>
          <p:nvPr/>
        </p:nvSpPr>
        <p:spPr>
          <a:xfrm>
            <a:off x="685800" y="2286000"/>
            <a:ext cx="315468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multi-benefits-l7-vip2.dev.gwimnp.rpg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10.143.52.154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2026-09-17 01:55:40</a:t>
            </a:r>
            <a:endParaRPr lang="en-US" sz="1250" dirty="0"/>
          </a:p>
        </p:txBody>
      </p:sp>
      <p:sp>
        <p:nvSpPr>
          <p:cNvPr id="8" name="Text 6">
            <a:hlinkClick r:id="rId1" tooltip="https://bofasecopsdev.service-now.com/sn_sec_cmn_src_ci_list.do?sysparm_query=number=SDI000002375027"/>
          </p:cNvPr>
          <p:cNvSpPr txBox="1"/>
          <p:nvPr/>
        </p:nvSpPr>
        <p:spPr>
          <a:xfrm>
            <a:off x="685800" y="5239512"/>
            <a:ext cx="31546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7502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4288536" y="1325880"/>
            <a:ext cx="4069080" cy="4297680"/>
          </a:xfrm>
          <a:prstGeom prst="roundRect">
            <a:avLst>
              <a:gd name="adj" fmla="val 1124"/>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4517136" y="1490472"/>
            <a:ext cx="361188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4517136" y="1801368"/>
            <a:ext cx="3611880" cy="361188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VIP sign: OS "F5 Networks Big-IP" or a VIP marker in "multi-benefits-l7-vip2.dev.gwimnp.rpg"</a:t>
            </a:r>
            <a:endParaRPr lang="en-US" sz="1350" dirty="0"/>
          </a:p>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Virtual server /Common/ihscore-dev-multilang_benefits-6011-vip on 10.143.52.154, pool /Common/ihscore-dev-de_benefits-444-pool, 1 member</a:t>
            </a:r>
            <a:endParaRPr lang="en-US" sz="1350" dirty="0"/>
          </a:p>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Every member (10.143.72.171) leads to the same machine</a:t>
            </a:r>
            <a:endParaRPr lang="en-US" sz="1350" dirty="0"/>
          </a:p>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Server returned: wva68pwbolts51v [Windows Server]</a:t>
            </a:r>
            <a:endParaRPr lang="en-US" sz="1350" dirty="0"/>
          </a:p>
        </p:txBody>
      </p:sp>
      <p:sp>
        <p:nvSpPr>
          <p:cNvPr id="12" name="Shape 10"/>
          <p:cNvSpPr/>
          <p:nvPr/>
        </p:nvSpPr>
        <p:spPr>
          <a:xfrm>
            <a:off x="8577072" y="1325880"/>
            <a:ext cx="3154680" cy="4297680"/>
          </a:xfrm>
          <a:prstGeom prst="roundRect">
            <a:avLst>
              <a:gd name="adj" fmla="val 144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3" name="Shape 11"/>
          <p:cNvSpPr/>
          <p:nvPr/>
        </p:nvSpPr>
        <p:spPr>
          <a:xfrm>
            <a:off x="8577072" y="1325880"/>
            <a:ext cx="82296" cy="4297680"/>
          </a:xfrm>
          <a:prstGeom prst="rect">
            <a:avLst/>
          </a:prstGeom>
          <a:solidFill>
            <a:srgbClr val="E31837"/>
          </a:solidFill>
          <a:ln w="12700">
            <a:solidFill>
              <a:srgbClr val="333333"/>
            </a:solidFill>
            <a:prstDash val="solid"/>
          </a:ln>
        </p:spPr>
      </p:sp>
      <p:sp>
        <p:nvSpPr>
          <p:cNvPr id="14" name="Text 12"/>
          <p:cNvSpPr txBox="1"/>
          <p:nvPr/>
        </p:nvSpPr>
        <p:spPr>
          <a:xfrm>
            <a:off x="8851392" y="1490472"/>
            <a:ext cx="269748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5" name="Text 13"/>
          <p:cNvSpPr txBox="1"/>
          <p:nvPr/>
        </p:nvSpPr>
        <p:spPr>
          <a:xfrm>
            <a:off x="8851392" y="1764792"/>
            <a:ext cx="265176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wva68pwbolts51v</a:t>
            </a:r>
            <a:endParaRPr lang="en-US" sz="1700" dirty="0"/>
          </a:p>
        </p:txBody>
      </p:sp>
      <p:sp>
        <p:nvSpPr>
          <p:cNvPr id="16" name="Text 14"/>
          <p:cNvSpPr txBox="1"/>
          <p:nvPr/>
        </p:nvSpPr>
        <p:spPr>
          <a:xfrm>
            <a:off x="8851392" y="2468880"/>
            <a:ext cx="265176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17" name="Text 15"/>
          <p:cNvSpPr txBox="1"/>
          <p:nvPr/>
        </p:nvSpPr>
        <p:spPr>
          <a:xfrm>
            <a:off x="8851392" y="2880360"/>
            <a:ext cx="2651760" cy="2286000"/>
          </a:xfrm>
          <a:prstGeom prst="rect">
            <a:avLst/>
          </a:prstGeom>
          <a:noFill/>
          <a:ln/>
        </p:spPr>
        <p:txBody>
          <a:bodyPr wrap="square" lIns="0" tIns="0" rIns="0" bIns="0" rtlCol="0" anchor="t">
            <a:normAutofit/>
          </a:bodyPr>
          <a:lstStyle/>
          <a:p>
            <a:pPr indent="0" marL="0">
              <a:buNone/>
            </a:pPr>
            <a:endParaRPr lang="en-US" sz="1250" dirty="0"/>
          </a:p>
        </p:txBody>
      </p:sp>
      <p:sp>
        <p:nvSpPr>
          <p:cNvPr id="18" name="Text 16">
            <a:hlinkClick r:id="rId2" tooltip="https://bofasecopsdev.service-now.com/cmdb_ci_win_server.do?sys_id=813bd5383b0e6254a052e71864e45a35"/>
          </p:cNvPr>
          <p:cNvSpPr txBox="1"/>
          <p:nvPr/>
        </p:nvSpPr>
        <p:spPr>
          <a:xfrm>
            <a:off x="8851392" y="5239512"/>
            <a:ext cx="265176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813bd5383b0e6254a052e71864e45a35"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Load Balancer Service Match</a:t>
            </a:r>
            <a:endParaRPr lang="en-US" sz="2800" dirty="0"/>
          </a:p>
        </p:txBody>
      </p:sp>
      <p:sp>
        <p:nvSpPr>
          <p:cNvPr id="4" name="Shape 2"/>
          <p:cNvSpPr/>
          <p:nvPr/>
        </p:nvSpPr>
        <p:spPr>
          <a:xfrm>
            <a:off x="457200" y="1325880"/>
            <a:ext cx="7223760" cy="3931920"/>
          </a:xfrm>
          <a:prstGeom prst="roundRect">
            <a:avLst>
              <a:gd name="adj" fmla="val 116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50876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DOES</a:t>
            </a:r>
            <a:endParaRPr lang="en-US" sz="950" dirty="0"/>
          </a:p>
        </p:txBody>
      </p:sp>
      <p:sp>
        <p:nvSpPr>
          <p:cNvPr id="6" name="Text 4"/>
          <p:cNvSpPr txBox="1"/>
          <p:nvPr/>
        </p:nvSpPr>
        <p:spPr>
          <a:xfrm>
            <a:off x="731520" y="1783080"/>
            <a:ext cx="6675120" cy="1371600"/>
          </a:xfrm>
          <a:prstGeom prst="rect">
            <a:avLst/>
          </a:prstGeom>
          <a:noFill/>
          <a:ln/>
        </p:spPr>
        <p:txBody>
          <a:bodyPr wrap="square" lIns="0" tIns="0" rIns="0" bIns="0" rtlCol="0" anchor="t">
            <a:normAutofit/>
          </a:bodyPr>
          <a:lstStyle/>
          <a:p>
            <a:pPr indent="0" marL="0">
              <a:buNone/>
            </a:pPr>
            <a:r>
              <a:rPr lang="en-US" sz="1500" dirty="0">
                <a:solidFill>
                  <a:srgbClr val="24272A"/>
                </a:solidFill>
                <a:latin typeface="Arial" pitchFamily="34" charset="0"/>
                <a:ea typeface="Arial" pitchFamily="34" charset="-122"/>
                <a:cs typeface="Arial" pitchFamily="34" charset="-120"/>
              </a:rPr>
              <a:t>A virtual IP answered by a load balancer is not the balancer, and the hardware rules refuse the balancer device on purpose. Such hosts belong to the Load Balancer Service CI that models the VIP.</a:t>
            </a:r>
            <a:endParaRPr lang="en-US" sz="1500" dirty="0"/>
          </a:p>
        </p:txBody>
      </p:sp>
      <p:sp>
        <p:nvSpPr>
          <p:cNvPr id="7" name="Text 5"/>
          <p:cNvSpPr txBox="1"/>
          <p:nvPr/>
        </p:nvSpPr>
        <p:spPr>
          <a:xfrm>
            <a:off x="731520" y="324612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IT MATCHES</a:t>
            </a:r>
            <a:endParaRPr lang="en-US" sz="950" dirty="0"/>
          </a:p>
        </p:txBody>
      </p:sp>
      <p:sp>
        <p:nvSpPr>
          <p:cNvPr id="8" name="Text 6"/>
          <p:cNvSpPr txBox="1"/>
          <p:nvPr/>
        </p:nvSpPr>
        <p:spPr>
          <a:xfrm>
            <a:off x="731520" y="3520440"/>
            <a:ext cx="6675120" cy="1645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VIP evidence first</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Strongest evidence first</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Ambiguity stops the rule</a:t>
            </a:r>
            <a:endParaRPr lang="en-US" sz="1500" dirty="0"/>
          </a:p>
        </p:txBody>
      </p:sp>
      <p:sp>
        <p:nvSpPr>
          <p:cNvPr id="9" name="Shape 7"/>
          <p:cNvSpPr/>
          <p:nvPr/>
        </p:nvSpPr>
        <p:spPr>
          <a:xfrm>
            <a:off x="7955280" y="1325880"/>
            <a:ext cx="3776472" cy="3931920"/>
          </a:xfrm>
          <a:prstGeom prst="roundRect">
            <a:avLst>
              <a:gd name="adj" fmla="val 121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8183880" y="1536192"/>
            <a:ext cx="3337560" cy="3566160"/>
          </a:xfrm>
          <a:prstGeom prst="rect">
            <a:avLst/>
          </a:prstGeom>
          <a:noFill/>
          <a:ln/>
        </p:spPr>
        <p:txBody>
          <a:bodyPr wrap="square" lIns="0" tIns="0" rIns="0" bIns="0" rtlCol="0" anchor="t">
            <a:normAutofit/>
          </a:bodyPr>
          <a:lstStyle/>
          <a:p>
            <a:pPr indent="0" marL="0">
              <a:buNone/>
            </a:pPr>
            <a:r>
              <a:rPr lang="en-US" sz="950" b="1" spc="120" kern="0" dirty="0">
                <a:solidFill>
                  <a:srgbClr val="012169"/>
                </a:solidFill>
                <a:latin typeface="Arial" pitchFamily="34" charset="0"/>
                <a:ea typeface="Arial" pitchFamily="34" charset="-122"/>
                <a:cs typeface="Arial" pitchFamily="34" charset="-120"/>
              </a:rPr>
              <a:t>READS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IP, plus the OS and the DNS name</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RETURNS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one Load Balancer Service CI for that VIP</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RUNS AFTER</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hardware rules declined: no serial, no server name, address on a balancer.</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HANDS OVER TO</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ordinary address rules, for hosts that are not VIPs.</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171.159.246.128</a:t>
            </a:r>
            <a:endParaRPr lang="en-US" sz="2400" dirty="0"/>
          </a:p>
        </p:txBody>
      </p:sp>
      <p:sp>
        <p:nvSpPr>
          <p:cNvPr id="4" name="Shape 2"/>
          <p:cNvSpPr/>
          <p:nvPr/>
        </p:nvSpPr>
        <p:spPr>
          <a:xfrm>
            <a:off x="457200" y="1325880"/>
            <a:ext cx="3611880" cy="4297680"/>
          </a:xfrm>
          <a:prstGeom prst="roundRect">
            <a:avLst>
              <a:gd name="adj" fmla="val 1266"/>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315468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315468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SDI000003028240</a:t>
            </a:r>
            <a:endParaRPr lang="en-US" sz="1900" dirty="0"/>
          </a:p>
        </p:txBody>
      </p:sp>
      <p:sp>
        <p:nvSpPr>
          <p:cNvPr id="7" name="Text 5"/>
          <p:cNvSpPr txBox="1"/>
          <p:nvPr/>
        </p:nvSpPr>
        <p:spPr>
          <a:xfrm>
            <a:off x="685800" y="2286000"/>
            <a:ext cx="315468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171.159.246.128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2026-09-15 22:22:39</a:t>
            </a:r>
            <a:endParaRPr lang="en-US" sz="1250" dirty="0"/>
          </a:p>
        </p:txBody>
      </p:sp>
      <p:sp>
        <p:nvSpPr>
          <p:cNvPr id="8" name="Text 6">
            <a:hlinkClick r:id="rId1" tooltip="https://bofasecopsdev.service-now.com/sn_sec_cmn_src_ci_list.do?sysparm_query=number=SDI000003028240"/>
          </p:cNvPr>
          <p:cNvSpPr txBox="1"/>
          <p:nvPr/>
        </p:nvSpPr>
        <p:spPr>
          <a:xfrm>
            <a:off x="685800" y="5239512"/>
            <a:ext cx="31546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2824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4288536" y="1325880"/>
            <a:ext cx="4069080" cy="4297680"/>
          </a:xfrm>
          <a:prstGeom prst="roundRect">
            <a:avLst>
              <a:gd name="adj" fmla="val 1124"/>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4517136" y="1490472"/>
            <a:ext cx="361188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4517136" y="1801368"/>
            <a:ext cx="3611880" cy="361188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VIP sign: OS "F5 Networks Big-IP" or a VIP marker in ""</a:t>
            </a:r>
            <a:endParaRPr lang="en-US" sz="1350" dirty="0"/>
          </a:p>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Load Balancer Service record looked up on fqdn, then name, then the address 171.159.246.128; the pool is not read</a:t>
            </a:r>
            <a:endParaRPr lang="en-US" sz="1350" dirty="0"/>
          </a:p>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One live record for that virtual server: /Common/ait71454-pt1-mlonefeeui-443-vip</a:t>
            </a:r>
            <a:endParaRPr lang="en-US" sz="1350" dirty="0"/>
          </a:p>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The virtual server record stands for the host</a:t>
            </a:r>
            <a:endParaRPr lang="en-US" sz="1350" dirty="0"/>
          </a:p>
        </p:txBody>
      </p:sp>
      <p:sp>
        <p:nvSpPr>
          <p:cNvPr id="12" name="Shape 10"/>
          <p:cNvSpPr/>
          <p:nvPr/>
        </p:nvSpPr>
        <p:spPr>
          <a:xfrm>
            <a:off x="8577072" y="1325880"/>
            <a:ext cx="3154680" cy="4297680"/>
          </a:xfrm>
          <a:prstGeom prst="roundRect">
            <a:avLst>
              <a:gd name="adj" fmla="val 144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3" name="Shape 11"/>
          <p:cNvSpPr/>
          <p:nvPr/>
        </p:nvSpPr>
        <p:spPr>
          <a:xfrm>
            <a:off x="8577072" y="1325880"/>
            <a:ext cx="82296" cy="4297680"/>
          </a:xfrm>
          <a:prstGeom prst="rect">
            <a:avLst/>
          </a:prstGeom>
          <a:solidFill>
            <a:srgbClr val="E31837"/>
          </a:solidFill>
          <a:ln w="12700">
            <a:solidFill>
              <a:srgbClr val="333333"/>
            </a:solidFill>
            <a:prstDash val="solid"/>
          </a:ln>
        </p:spPr>
      </p:sp>
      <p:sp>
        <p:nvSpPr>
          <p:cNvPr id="14" name="Text 12"/>
          <p:cNvSpPr txBox="1"/>
          <p:nvPr/>
        </p:nvSpPr>
        <p:spPr>
          <a:xfrm>
            <a:off x="8851392" y="1490472"/>
            <a:ext cx="269748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5" name="Text 13"/>
          <p:cNvSpPr txBox="1"/>
          <p:nvPr/>
        </p:nvSpPr>
        <p:spPr>
          <a:xfrm>
            <a:off x="8851392" y="1764792"/>
            <a:ext cx="265176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/Common/ait71454-pt1-mlonefeeui-443-vip</a:t>
            </a:r>
            <a:endParaRPr lang="en-US" sz="1700" dirty="0"/>
          </a:p>
        </p:txBody>
      </p:sp>
      <p:sp>
        <p:nvSpPr>
          <p:cNvPr id="16" name="Text 14"/>
          <p:cNvSpPr txBox="1"/>
          <p:nvPr/>
        </p:nvSpPr>
        <p:spPr>
          <a:xfrm>
            <a:off x="8851392" y="2468880"/>
            <a:ext cx="265176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 Service</a:t>
            </a:r>
            <a:endParaRPr lang="en-US" sz="1300" dirty="0"/>
          </a:p>
        </p:txBody>
      </p:sp>
      <p:sp>
        <p:nvSpPr>
          <p:cNvPr id="17" name="Text 15"/>
          <p:cNvSpPr txBox="1"/>
          <p:nvPr/>
        </p:nvSpPr>
        <p:spPr>
          <a:xfrm>
            <a:off x="8851392" y="2880360"/>
            <a:ext cx="265176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171.159.246.128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Load balancer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sveqbt1rp1lb02b</a:t>
            </a:r>
            <a:endParaRPr lang="en-US" sz="1250" dirty="0"/>
          </a:p>
        </p:txBody>
      </p:sp>
      <p:sp>
        <p:nvSpPr>
          <p:cNvPr id="18" name="Text 16">
            <a:hlinkClick r:id="rId2" tooltip="https://bofasecopsdev.service-now.com/cmdb_ci_lb_service.do?sys_id=a029dc43931183d03854f05ea903d6b7"/>
          </p:cNvPr>
          <p:cNvSpPr txBox="1"/>
          <p:nvPr/>
        </p:nvSpPr>
        <p:spPr>
          <a:xfrm>
            <a:off x="8851392" y="5239512"/>
            <a:ext cx="265176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a029dc43931183d03854f05ea903d6b7"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prsapp-va-vip.pt1.gwimnp.rpg</a:t>
            </a:r>
            <a:endParaRPr lang="en-US" sz="2400" dirty="0"/>
          </a:p>
        </p:txBody>
      </p:sp>
      <p:sp>
        <p:nvSpPr>
          <p:cNvPr id="4" name="Shape 2"/>
          <p:cNvSpPr/>
          <p:nvPr/>
        </p:nvSpPr>
        <p:spPr>
          <a:xfrm>
            <a:off x="457200" y="1325880"/>
            <a:ext cx="3611880" cy="4297680"/>
          </a:xfrm>
          <a:prstGeom prst="roundRect">
            <a:avLst>
              <a:gd name="adj" fmla="val 1266"/>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315468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315468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SDI000003069763</a:t>
            </a:r>
            <a:endParaRPr lang="en-US" sz="1900" dirty="0"/>
          </a:p>
        </p:txBody>
      </p:sp>
      <p:sp>
        <p:nvSpPr>
          <p:cNvPr id="7" name="Text 5"/>
          <p:cNvSpPr txBox="1"/>
          <p:nvPr/>
        </p:nvSpPr>
        <p:spPr>
          <a:xfrm>
            <a:off x="685800" y="2286000"/>
            <a:ext cx="315468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prsapp-va-vip.pt1.gwimnp.rpg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171.159.246.4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2026-09-15 21:48:23</a:t>
            </a:r>
            <a:endParaRPr lang="en-US" sz="1250" dirty="0"/>
          </a:p>
        </p:txBody>
      </p:sp>
      <p:sp>
        <p:nvSpPr>
          <p:cNvPr id="8" name="Text 6">
            <a:hlinkClick r:id="rId1" tooltip="https://bofasecopsdev.service-now.com/sn_sec_cmn_src_ci_list.do?sysparm_query=number=SDI000003069763"/>
          </p:cNvPr>
          <p:cNvSpPr txBox="1"/>
          <p:nvPr/>
        </p:nvSpPr>
        <p:spPr>
          <a:xfrm>
            <a:off x="685800" y="5239512"/>
            <a:ext cx="31546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6976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4288536" y="1325880"/>
            <a:ext cx="4069080" cy="4297680"/>
          </a:xfrm>
          <a:prstGeom prst="roundRect">
            <a:avLst>
              <a:gd name="adj" fmla="val 1124"/>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4517136" y="1490472"/>
            <a:ext cx="361188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4517136" y="1801368"/>
            <a:ext cx="3611880" cy="361188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VIP sign: OS "F5 Networks Big-IP" or a VIP marker in "prsapp-va-vip.pt1.gwimnp.rpg"</a:t>
            </a:r>
            <a:endParaRPr lang="en-US" sz="1350" dirty="0"/>
          </a:p>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Load Balancer Service record looked up on fqdn, then name, then the address 171.159.246.4; the pool is not read</a:t>
            </a:r>
            <a:endParaRPr lang="en-US" sz="1350" dirty="0"/>
          </a:p>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One live record for that virtual server: /Common/ait71551-pt1-prsapp-443-vip</a:t>
            </a:r>
            <a:endParaRPr lang="en-US" sz="1350" dirty="0"/>
          </a:p>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The virtual server record stands for the host</a:t>
            </a:r>
            <a:endParaRPr lang="en-US" sz="1350" dirty="0"/>
          </a:p>
        </p:txBody>
      </p:sp>
      <p:sp>
        <p:nvSpPr>
          <p:cNvPr id="12" name="Shape 10"/>
          <p:cNvSpPr/>
          <p:nvPr/>
        </p:nvSpPr>
        <p:spPr>
          <a:xfrm>
            <a:off x="8577072" y="1325880"/>
            <a:ext cx="3154680" cy="4297680"/>
          </a:xfrm>
          <a:prstGeom prst="roundRect">
            <a:avLst>
              <a:gd name="adj" fmla="val 144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3" name="Shape 11"/>
          <p:cNvSpPr/>
          <p:nvPr/>
        </p:nvSpPr>
        <p:spPr>
          <a:xfrm>
            <a:off x="8577072" y="1325880"/>
            <a:ext cx="82296" cy="4297680"/>
          </a:xfrm>
          <a:prstGeom prst="rect">
            <a:avLst/>
          </a:prstGeom>
          <a:solidFill>
            <a:srgbClr val="E31837"/>
          </a:solidFill>
          <a:ln w="12700">
            <a:solidFill>
              <a:srgbClr val="333333"/>
            </a:solidFill>
            <a:prstDash val="solid"/>
          </a:ln>
        </p:spPr>
      </p:sp>
      <p:sp>
        <p:nvSpPr>
          <p:cNvPr id="14" name="Text 12"/>
          <p:cNvSpPr txBox="1"/>
          <p:nvPr/>
        </p:nvSpPr>
        <p:spPr>
          <a:xfrm>
            <a:off x="8851392" y="1490472"/>
            <a:ext cx="269748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5" name="Text 13"/>
          <p:cNvSpPr txBox="1"/>
          <p:nvPr/>
        </p:nvSpPr>
        <p:spPr>
          <a:xfrm>
            <a:off x="8851392" y="1764792"/>
            <a:ext cx="265176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/Common/ait71551-pt1-prsapp-443-vip</a:t>
            </a:r>
            <a:endParaRPr lang="en-US" sz="1700" dirty="0"/>
          </a:p>
        </p:txBody>
      </p:sp>
      <p:sp>
        <p:nvSpPr>
          <p:cNvPr id="16" name="Text 14"/>
          <p:cNvSpPr txBox="1"/>
          <p:nvPr/>
        </p:nvSpPr>
        <p:spPr>
          <a:xfrm>
            <a:off x="8851392" y="2468880"/>
            <a:ext cx="265176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 Service</a:t>
            </a:r>
            <a:endParaRPr lang="en-US" sz="1300" dirty="0"/>
          </a:p>
        </p:txBody>
      </p:sp>
      <p:sp>
        <p:nvSpPr>
          <p:cNvPr id="17" name="Text 15"/>
          <p:cNvSpPr txBox="1"/>
          <p:nvPr/>
        </p:nvSpPr>
        <p:spPr>
          <a:xfrm>
            <a:off x="8851392" y="2880360"/>
            <a:ext cx="265176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171.159.246.4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Load balancer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sveqbt1rp1lb02b</a:t>
            </a:r>
            <a:endParaRPr lang="en-US" sz="1250" dirty="0"/>
          </a:p>
        </p:txBody>
      </p:sp>
      <p:sp>
        <p:nvSpPr>
          <p:cNvPr id="18" name="Text 16">
            <a:hlinkClick r:id="rId2" tooltip="https://bofasecopsdev.service-now.com/cmdb_ci_lb_service.do?sys_id=917ce0282f9e87103819983fafa4e37e"/>
          </p:cNvPr>
          <p:cNvSpPr txBox="1"/>
          <p:nvPr/>
        </p:nvSpPr>
        <p:spPr>
          <a:xfrm>
            <a:off x="8851392" y="5239512"/>
            <a:ext cx="265176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917ce0282f9e87103819983fafa4e37e"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lki-nao-flash-svc-tt-mw.ecnp.bankofamerica.com</a:t>
            </a:r>
            <a:endParaRPr lang="en-US" sz="2400" dirty="0"/>
          </a:p>
        </p:txBody>
      </p:sp>
      <p:sp>
        <p:nvSpPr>
          <p:cNvPr id="4" name="Shape 2"/>
          <p:cNvSpPr/>
          <p:nvPr/>
        </p:nvSpPr>
        <p:spPr>
          <a:xfrm>
            <a:off x="457200" y="1325880"/>
            <a:ext cx="3611880" cy="4297680"/>
          </a:xfrm>
          <a:prstGeom prst="roundRect">
            <a:avLst>
              <a:gd name="adj" fmla="val 1266"/>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315468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315468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SDI000003069406</a:t>
            </a:r>
            <a:endParaRPr lang="en-US" sz="1900" dirty="0"/>
          </a:p>
        </p:txBody>
      </p:sp>
      <p:sp>
        <p:nvSpPr>
          <p:cNvPr id="7" name="Text 5"/>
          <p:cNvSpPr txBox="1"/>
          <p:nvPr/>
        </p:nvSpPr>
        <p:spPr>
          <a:xfrm>
            <a:off x="685800" y="2286000"/>
            <a:ext cx="315468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lki-nao-flash-svc-tt-mw.ecnp.bankofamerica.com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171.176.215.217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2026-09-15 21:48:46</a:t>
            </a:r>
            <a:endParaRPr lang="en-US" sz="1250" dirty="0"/>
          </a:p>
        </p:txBody>
      </p:sp>
      <p:sp>
        <p:nvSpPr>
          <p:cNvPr id="8" name="Text 6">
            <a:hlinkClick r:id="rId1" tooltip="https://bofasecopsdev.service-now.com/sn_sec_cmn_src_ci_list.do?sysparm_query=number=SDI000003069406"/>
          </p:cNvPr>
          <p:cNvSpPr txBox="1"/>
          <p:nvPr/>
        </p:nvSpPr>
        <p:spPr>
          <a:xfrm>
            <a:off x="685800" y="5239512"/>
            <a:ext cx="31546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6940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4288536" y="1325880"/>
            <a:ext cx="4069080" cy="4297680"/>
          </a:xfrm>
          <a:prstGeom prst="roundRect">
            <a:avLst>
              <a:gd name="adj" fmla="val 1124"/>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4517136" y="1490472"/>
            <a:ext cx="361188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4517136" y="1801368"/>
            <a:ext cx="3611880" cy="361188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VIP sign: OS "F5 Networks Big-IP" or a VIP marker in "lki-nao-flash-svc-tt-mw.ecnp.bankofamerica.com"</a:t>
            </a:r>
            <a:endParaRPr lang="en-US" sz="1350" dirty="0"/>
          </a:p>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Load Balancer Service record looked up on fqdn, then name, then the address 171.176.215.217; the pool is not read</a:t>
            </a:r>
            <a:endParaRPr lang="en-US" sz="1350" dirty="0"/>
          </a:p>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One live record for that virtual server: /Common/LKI-NAO-FLASH-SVC-TT-443</a:t>
            </a:r>
            <a:endParaRPr lang="en-US" sz="1350" dirty="0"/>
          </a:p>
          <a:p>
            <a:pPr marL="342900" indent="-342900">
              <a:spcAft>
                <a:spcPts val="800"/>
              </a:spcAft>
              <a:buSzPct val="100000"/>
              <a:buFont typeface="+mj-lt"/>
              <a:buAutoNum type="arabicPeriod" startAt="1"/>
            </a:pPr>
            <a:r>
              <a:rPr lang="en-US" sz="1350" dirty="0">
                <a:solidFill>
                  <a:srgbClr val="24272A"/>
                </a:solidFill>
                <a:latin typeface="Arial" pitchFamily="34" charset="0"/>
                <a:ea typeface="Arial" pitchFamily="34" charset="-122"/>
                <a:cs typeface="Arial" pitchFamily="34" charset="-120"/>
              </a:rPr>
              <a:t>The virtual server record stands for the host</a:t>
            </a:r>
            <a:endParaRPr lang="en-US" sz="1350" dirty="0"/>
          </a:p>
        </p:txBody>
      </p:sp>
      <p:sp>
        <p:nvSpPr>
          <p:cNvPr id="12" name="Shape 10"/>
          <p:cNvSpPr/>
          <p:nvPr/>
        </p:nvSpPr>
        <p:spPr>
          <a:xfrm>
            <a:off x="8577072" y="1325880"/>
            <a:ext cx="3154680" cy="4297680"/>
          </a:xfrm>
          <a:prstGeom prst="roundRect">
            <a:avLst>
              <a:gd name="adj" fmla="val 144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3" name="Shape 11"/>
          <p:cNvSpPr/>
          <p:nvPr/>
        </p:nvSpPr>
        <p:spPr>
          <a:xfrm>
            <a:off x="8577072" y="1325880"/>
            <a:ext cx="82296" cy="4297680"/>
          </a:xfrm>
          <a:prstGeom prst="rect">
            <a:avLst/>
          </a:prstGeom>
          <a:solidFill>
            <a:srgbClr val="E31837"/>
          </a:solidFill>
          <a:ln w="12700">
            <a:solidFill>
              <a:srgbClr val="333333"/>
            </a:solidFill>
            <a:prstDash val="solid"/>
          </a:ln>
        </p:spPr>
      </p:sp>
      <p:sp>
        <p:nvSpPr>
          <p:cNvPr id="14" name="Text 12"/>
          <p:cNvSpPr txBox="1"/>
          <p:nvPr/>
        </p:nvSpPr>
        <p:spPr>
          <a:xfrm>
            <a:off x="8851392" y="1490472"/>
            <a:ext cx="269748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5" name="Text 13"/>
          <p:cNvSpPr txBox="1"/>
          <p:nvPr/>
        </p:nvSpPr>
        <p:spPr>
          <a:xfrm>
            <a:off x="8851392" y="1764792"/>
            <a:ext cx="265176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/Common/LKI-NAO-FLASH-SVC-TT-443</a:t>
            </a:r>
            <a:endParaRPr lang="en-US" sz="1700" dirty="0"/>
          </a:p>
        </p:txBody>
      </p:sp>
      <p:sp>
        <p:nvSpPr>
          <p:cNvPr id="16" name="Text 14"/>
          <p:cNvSpPr txBox="1"/>
          <p:nvPr/>
        </p:nvSpPr>
        <p:spPr>
          <a:xfrm>
            <a:off x="8851392" y="2468880"/>
            <a:ext cx="265176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 Service</a:t>
            </a:r>
            <a:endParaRPr lang="en-US" sz="1300" dirty="0"/>
          </a:p>
        </p:txBody>
      </p:sp>
      <p:sp>
        <p:nvSpPr>
          <p:cNvPr id="17" name="Text 15"/>
          <p:cNvSpPr txBox="1"/>
          <p:nvPr/>
        </p:nvSpPr>
        <p:spPr>
          <a:xfrm>
            <a:off x="8851392" y="2880360"/>
            <a:ext cx="265176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171.176.215.217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Load balancer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rtxqbt1conlb03a</a:t>
            </a:r>
            <a:endParaRPr lang="en-US" sz="1250" dirty="0"/>
          </a:p>
        </p:txBody>
      </p:sp>
      <p:sp>
        <p:nvSpPr>
          <p:cNvPr id="18" name="Text 16">
            <a:hlinkClick r:id="rId2" tooltip="https://bofasecopsdev.service-now.com/cmdb_ci_lb_service.do?sys_id=31ccec6c2f56871006a8a93fafa4e397"/>
          </p:cNvPr>
          <p:cNvSpPr txBox="1"/>
          <p:nvPr/>
        </p:nvSpPr>
        <p:spPr>
          <a:xfrm>
            <a:off x="8851392" y="5239512"/>
            <a:ext cx="265176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31ccec6c2f56871006a8a93fafa4e397"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700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Class Match</a:t>
            </a:r>
            <a:endParaRPr lang="en-US" sz="2800" dirty="0"/>
          </a:p>
        </p:txBody>
      </p:sp>
      <p:sp>
        <p:nvSpPr>
          <p:cNvPr id="4" name="Shape 2"/>
          <p:cNvSpPr/>
          <p:nvPr/>
        </p:nvSpPr>
        <p:spPr>
          <a:xfrm>
            <a:off x="457200" y="1325880"/>
            <a:ext cx="7223760" cy="3931920"/>
          </a:xfrm>
          <a:prstGeom prst="roundRect">
            <a:avLst>
              <a:gd name="adj" fmla="val 116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50876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DOES</a:t>
            </a:r>
            <a:endParaRPr lang="en-US" sz="950" dirty="0"/>
          </a:p>
        </p:txBody>
      </p:sp>
      <p:sp>
        <p:nvSpPr>
          <p:cNvPr id="6" name="Text 4"/>
          <p:cNvSpPr txBox="1"/>
          <p:nvPr/>
        </p:nvSpPr>
        <p:spPr>
          <a:xfrm>
            <a:off x="731520" y="1783080"/>
            <a:ext cx="6675120" cy="1371600"/>
          </a:xfrm>
          <a:prstGeom prst="rect">
            <a:avLst/>
          </a:prstGeom>
          <a:noFill/>
          <a:ln/>
        </p:spPr>
        <p:txBody>
          <a:bodyPr wrap="square" lIns="0" tIns="0" rIns="0" bIns="0" rtlCol="0" anchor="t">
            <a:normAutofit/>
          </a:bodyPr>
          <a:lstStyle/>
          <a:p>
            <a:pPr indent="0" marL="0">
              <a:buNone/>
            </a:pPr>
            <a:r>
              <a:rPr lang="en-US" sz="1500" dirty="0">
                <a:solidFill>
                  <a:srgbClr val="24272A"/>
                </a:solidFill>
                <a:latin typeface="Arial" pitchFamily="34" charset="0"/>
                <a:ea typeface="Arial" pitchFamily="34" charset="-122"/>
                <a:cs typeface="Arial" pitchFamily="34" charset="-120"/>
              </a:rPr>
              <a:t>The first address rule. An address is the least trustworthy identifier: addresses move between machines and are shared by load balancers. It is used only for hosts with no serial and no usable name, inside the class the OS points at.</a:t>
            </a:r>
            <a:endParaRPr lang="en-US" sz="1500" dirty="0"/>
          </a:p>
        </p:txBody>
      </p:sp>
      <p:sp>
        <p:nvSpPr>
          <p:cNvPr id="7" name="Text 5"/>
          <p:cNvSpPr txBox="1"/>
          <p:nvPr/>
        </p:nvSpPr>
        <p:spPr>
          <a:xfrm>
            <a:off x="731520" y="324612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IT MATCHES</a:t>
            </a:r>
            <a:endParaRPr lang="en-US" sz="950" dirty="0"/>
          </a:p>
        </p:txBody>
      </p:sp>
      <p:sp>
        <p:nvSpPr>
          <p:cNvPr id="8" name="Text 6"/>
          <p:cNvSpPr txBox="1"/>
          <p:nvPr/>
        </p:nvSpPr>
        <p:spPr>
          <a:xfrm>
            <a:off x="731520" y="3520440"/>
            <a:ext cx="6675120" cy="1645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Addresses that identify nothing</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Class from the scanned OS</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Address search, exactly one CI</a:t>
            </a:r>
            <a:endParaRPr lang="en-US" sz="1500" dirty="0"/>
          </a:p>
        </p:txBody>
      </p:sp>
      <p:sp>
        <p:nvSpPr>
          <p:cNvPr id="9" name="Shape 7"/>
          <p:cNvSpPr/>
          <p:nvPr/>
        </p:nvSpPr>
        <p:spPr>
          <a:xfrm>
            <a:off x="7955280" y="1325880"/>
            <a:ext cx="3776472" cy="3931920"/>
          </a:xfrm>
          <a:prstGeom prst="roundRect">
            <a:avLst>
              <a:gd name="adj" fmla="val 121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8183880" y="1536192"/>
            <a:ext cx="3337560" cy="3566160"/>
          </a:xfrm>
          <a:prstGeom prst="rect">
            <a:avLst/>
          </a:prstGeom>
          <a:noFill/>
          <a:ln/>
        </p:spPr>
        <p:txBody>
          <a:bodyPr wrap="square" lIns="0" tIns="0" rIns="0" bIns="0" rtlCol="0" anchor="t">
            <a:normAutofit/>
          </a:bodyPr>
          <a:lstStyle/>
          <a:p>
            <a:pPr indent="0" marL="0">
              <a:buNone/>
            </a:pPr>
            <a:r>
              <a:rPr lang="en-US" sz="950" b="1" spc="120" kern="0" dirty="0">
                <a:solidFill>
                  <a:srgbClr val="012169"/>
                </a:solidFill>
                <a:latin typeface="Arial" pitchFamily="34" charset="0"/>
                <a:ea typeface="Arial" pitchFamily="34" charset="-122"/>
                <a:cs typeface="Arial" pitchFamily="34" charset="-120"/>
              </a:rPr>
              <a:t>READS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IP, plus the OS</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RETURNS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one CI of that class whose ip_address equals the scanned address</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RUNS AFTER</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every serial and name rule; a host with no DNS name makes them all decline.</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HANDS OVER TO</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hardware-wide address rule, then the adapter and layered rules.</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700  ·  EXAMPLES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Three matched discovered items</a:t>
            </a:r>
            <a:endParaRPr lang="en-US" sz="2800" dirty="0"/>
          </a:p>
        </p:txBody>
      </p:sp>
      <p:sp>
        <p:nvSpPr>
          <p:cNvPr id="4" name="Shape 2"/>
          <p:cNvSpPr/>
          <p:nvPr/>
        </p:nvSpPr>
        <p:spPr>
          <a:xfrm>
            <a:off x="457200" y="1325880"/>
            <a:ext cx="11274552" cy="2011680"/>
          </a:xfrm>
          <a:prstGeom prst="roundRect">
            <a:avLst>
              <a:gd name="adj" fmla="val 227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77240" y="1645920"/>
            <a:ext cx="10607040" cy="1463040"/>
          </a:xfrm>
          <a:prstGeom prst="rect">
            <a:avLst/>
          </a:prstGeom>
          <a:noFill/>
          <a:ln/>
        </p:spPr>
        <p:txBody>
          <a:bodyPr wrap="square" lIns="0" tIns="0" rIns="0" bIns="0" rtlCol="0" anchor="t"/>
          <a:lstStyle/>
          <a:p>
            <a:pPr indent="0" marL="0">
              <a:buNone/>
            </a:pPr>
            <a:r>
              <a:rPr lang="en-US" sz="1600" dirty="0">
                <a:solidFill>
                  <a:srgbClr val="6B7177"/>
                </a:solidFill>
                <a:latin typeface="Arial" pitchFamily="34" charset="0"/>
                <a:ea typeface="Arial" pitchFamily="34" charset="-122"/>
                <a:cs typeface="Arial" pitchFamily="34" charset="-120"/>
              </a:rPr>
              <a:t>Three discovered items matched by this rule on the development instance will be shown here, one per page, each with the scanned values, the steps the rule took and the CI it returned.</a:t>
            </a:r>
            <a:endParaRPr lang="en-US" sz="16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705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Hardware Match</a:t>
            </a:r>
            <a:endParaRPr lang="en-US" sz="2800" dirty="0"/>
          </a:p>
        </p:txBody>
      </p:sp>
      <p:sp>
        <p:nvSpPr>
          <p:cNvPr id="4" name="Shape 2"/>
          <p:cNvSpPr/>
          <p:nvPr/>
        </p:nvSpPr>
        <p:spPr>
          <a:xfrm>
            <a:off x="457200" y="1325880"/>
            <a:ext cx="7223760" cy="3931920"/>
          </a:xfrm>
          <a:prstGeom prst="roundRect">
            <a:avLst>
              <a:gd name="adj" fmla="val 116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50876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DOES</a:t>
            </a:r>
            <a:endParaRPr lang="en-US" sz="950" dirty="0"/>
          </a:p>
        </p:txBody>
      </p:sp>
      <p:sp>
        <p:nvSpPr>
          <p:cNvPr id="6" name="Text 4"/>
          <p:cNvSpPr txBox="1"/>
          <p:nvPr/>
        </p:nvSpPr>
        <p:spPr>
          <a:xfrm>
            <a:off x="731520" y="1783080"/>
            <a:ext cx="6675120" cy="1371600"/>
          </a:xfrm>
          <a:prstGeom prst="rect">
            <a:avLst/>
          </a:prstGeom>
          <a:noFill/>
          <a:ln/>
        </p:spPr>
        <p:txBody>
          <a:bodyPr wrap="square" lIns="0" tIns="0" rIns="0" bIns="0" rtlCol="0" anchor="t">
            <a:normAutofit/>
          </a:bodyPr>
          <a:lstStyle/>
          <a:p>
            <a:pPr indent="0" marL="0">
              <a:buNone/>
            </a:pPr>
            <a:r>
              <a:rPr lang="en-US" sz="1500" dirty="0">
                <a:solidFill>
                  <a:srgbClr val="24272A"/>
                </a:solidFill>
                <a:latin typeface="Arial" pitchFamily="34" charset="0"/>
                <a:ea typeface="Arial" pitchFamily="34" charset="-122"/>
                <a:cs typeface="Arial" pitchFamily="34" charset="-120"/>
              </a:rPr>
              <a:t>The address across the whole hardware tree, with two extra safety checks: the CI must not be a load balancer, and its class must not contradict the scanned OS.</a:t>
            </a:r>
            <a:endParaRPr lang="en-US" sz="1500" dirty="0"/>
          </a:p>
        </p:txBody>
      </p:sp>
      <p:sp>
        <p:nvSpPr>
          <p:cNvPr id="7" name="Text 5"/>
          <p:cNvSpPr txBox="1"/>
          <p:nvPr/>
        </p:nvSpPr>
        <p:spPr>
          <a:xfrm>
            <a:off x="731520" y="324612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IT MATCHES</a:t>
            </a:r>
            <a:endParaRPr lang="en-US" sz="950" dirty="0"/>
          </a:p>
        </p:txBody>
      </p:sp>
      <p:sp>
        <p:nvSpPr>
          <p:cNvPr id="8" name="Text 6"/>
          <p:cNvSpPr txBox="1"/>
          <p:nvPr/>
        </p:nvSpPr>
        <p:spPr>
          <a:xfrm>
            <a:off x="731520" y="3520440"/>
            <a:ext cx="6675120" cy="1645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One CI on the address</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Reject a load balancer</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Veto a contradicting class</a:t>
            </a:r>
            <a:endParaRPr lang="en-US" sz="1500" dirty="0"/>
          </a:p>
        </p:txBody>
      </p:sp>
      <p:sp>
        <p:nvSpPr>
          <p:cNvPr id="9" name="Shape 7"/>
          <p:cNvSpPr/>
          <p:nvPr/>
        </p:nvSpPr>
        <p:spPr>
          <a:xfrm>
            <a:off x="7955280" y="1325880"/>
            <a:ext cx="3776472" cy="3931920"/>
          </a:xfrm>
          <a:prstGeom prst="roundRect">
            <a:avLst>
              <a:gd name="adj" fmla="val 121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8183880" y="1536192"/>
            <a:ext cx="3337560" cy="3566160"/>
          </a:xfrm>
          <a:prstGeom prst="rect">
            <a:avLst/>
          </a:prstGeom>
          <a:noFill/>
          <a:ln/>
        </p:spPr>
        <p:txBody>
          <a:bodyPr wrap="square" lIns="0" tIns="0" rIns="0" bIns="0" rtlCol="0" anchor="t">
            <a:normAutofit/>
          </a:bodyPr>
          <a:lstStyle/>
          <a:p>
            <a:pPr indent="0" marL="0">
              <a:buNone/>
            </a:pPr>
            <a:r>
              <a:rPr lang="en-US" sz="950" b="1" spc="120" kern="0" dirty="0">
                <a:solidFill>
                  <a:srgbClr val="012169"/>
                </a:solidFill>
                <a:latin typeface="Arial" pitchFamily="34" charset="0"/>
                <a:ea typeface="Arial" pitchFamily="34" charset="-122"/>
                <a:cs typeface="Arial" pitchFamily="34" charset="-120"/>
              </a:rPr>
              <a:t>READS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IP, plus the OS</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RETURNS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one hardware CI on that address, balancer and class permitting</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RUNS AFTER</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class-scoped address rule required a CI of the OS class.</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HANDS OVER TO</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adapter rule and the layered address rule.</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705  ·  EXAMPLES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Three matched discovered items</a:t>
            </a:r>
            <a:endParaRPr lang="en-US" sz="2800" dirty="0"/>
          </a:p>
        </p:txBody>
      </p:sp>
      <p:sp>
        <p:nvSpPr>
          <p:cNvPr id="4" name="Shape 2"/>
          <p:cNvSpPr/>
          <p:nvPr/>
        </p:nvSpPr>
        <p:spPr>
          <a:xfrm>
            <a:off x="457200" y="1325880"/>
            <a:ext cx="11274552" cy="2011680"/>
          </a:xfrm>
          <a:prstGeom prst="roundRect">
            <a:avLst>
              <a:gd name="adj" fmla="val 227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77240" y="1645920"/>
            <a:ext cx="10607040" cy="1463040"/>
          </a:xfrm>
          <a:prstGeom prst="rect">
            <a:avLst/>
          </a:prstGeom>
          <a:noFill/>
          <a:ln/>
        </p:spPr>
        <p:txBody>
          <a:bodyPr wrap="square" lIns="0" tIns="0" rIns="0" bIns="0" rtlCol="0" anchor="t"/>
          <a:lstStyle/>
          <a:p>
            <a:pPr indent="0" marL="0">
              <a:buNone/>
            </a:pPr>
            <a:r>
              <a:rPr lang="en-US" sz="1600" dirty="0">
                <a:solidFill>
                  <a:srgbClr val="6B7177"/>
                </a:solidFill>
                <a:latin typeface="Arial" pitchFamily="34" charset="0"/>
                <a:ea typeface="Arial" pitchFamily="34" charset="-122"/>
                <a:cs typeface="Arial" pitchFamily="34" charset="-120"/>
              </a:rPr>
              <a:t>Three discovered items matched by this rule on the development instance will be shown here, one per page, each with the scanned values, the steps the rule took and the CI it returned.</a:t>
            </a:r>
            <a:endParaRPr lang="en-US" sz="16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Adapter Match</a:t>
            </a:r>
            <a:endParaRPr lang="en-US" sz="2800" dirty="0"/>
          </a:p>
        </p:txBody>
      </p:sp>
      <p:sp>
        <p:nvSpPr>
          <p:cNvPr id="4" name="Shape 2"/>
          <p:cNvSpPr/>
          <p:nvPr/>
        </p:nvSpPr>
        <p:spPr>
          <a:xfrm>
            <a:off x="457200" y="1325880"/>
            <a:ext cx="7223760" cy="3931920"/>
          </a:xfrm>
          <a:prstGeom prst="roundRect">
            <a:avLst>
              <a:gd name="adj" fmla="val 116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50876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DOES</a:t>
            </a:r>
            <a:endParaRPr lang="en-US" sz="950" dirty="0"/>
          </a:p>
        </p:txBody>
      </p:sp>
      <p:sp>
        <p:nvSpPr>
          <p:cNvPr id="6" name="Text 4"/>
          <p:cNvSpPr txBox="1"/>
          <p:nvPr/>
        </p:nvSpPr>
        <p:spPr>
          <a:xfrm>
            <a:off x="731520" y="1783080"/>
            <a:ext cx="6675120" cy="1371600"/>
          </a:xfrm>
          <a:prstGeom prst="rect">
            <a:avLst/>
          </a:prstGeom>
          <a:noFill/>
          <a:ln/>
        </p:spPr>
        <p:txBody>
          <a:bodyPr wrap="square" lIns="0" tIns="0" rIns="0" bIns="0" rtlCol="0" anchor="t">
            <a:normAutofit/>
          </a:bodyPr>
          <a:lstStyle/>
          <a:p>
            <a:pPr indent="0" marL="0">
              <a:buNone/>
            </a:pPr>
            <a:r>
              <a:rPr lang="en-US" sz="1500" dirty="0">
                <a:solidFill>
                  <a:srgbClr val="24272A"/>
                </a:solidFill>
                <a:latin typeface="Arial" pitchFamily="34" charset="0"/>
                <a:ea typeface="Arial" pitchFamily="34" charset="-122"/>
                <a:cs typeface="Arial" pitchFamily="34" charset="-120"/>
              </a:rPr>
              <a:t>Discovery stores one Network Adapter record per network card, and a multi-homed server keeps its addresses there rather than on the CI record. This rule finds the adapter carrying the address and takes its owning CI.</a:t>
            </a:r>
            <a:endParaRPr lang="en-US" sz="1500" dirty="0"/>
          </a:p>
        </p:txBody>
      </p:sp>
      <p:sp>
        <p:nvSpPr>
          <p:cNvPr id="7" name="Text 5"/>
          <p:cNvSpPr txBox="1"/>
          <p:nvPr/>
        </p:nvSpPr>
        <p:spPr>
          <a:xfrm>
            <a:off x="731520" y="324612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IT MATCHES</a:t>
            </a:r>
            <a:endParaRPr lang="en-US" sz="950" dirty="0"/>
          </a:p>
        </p:txBody>
      </p:sp>
      <p:sp>
        <p:nvSpPr>
          <p:cNvPr id="8" name="Text 6"/>
          <p:cNvSpPr txBox="1"/>
          <p:nvPr/>
        </p:nvSpPr>
        <p:spPr>
          <a:xfrm>
            <a:off x="731520" y="3520440"/>
            <a:ext cx="6675120" cy="1645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Adapters, not CIs</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Count owners, not rows</a:t>
            </a:r>
            <a:endParaRPr lang="en-US" sz="1500" dirty="0"/>
          </a:p>
        </p:txBody>
      </p:sp>
      <p:sp>
        <p:nvSpPr>
          <p:cNvPr id="9" name="Shape 7"/>
          <p:cNvSpPr/>
          <p:nvPr/>
        </p:nvSpPr>
        <p:spPr>
          <a:xfrm>
            <a:off x="7955280" y="1325880"/>
            <a:ext cx="3776472" cy="3931920"/>
          </a:xfrm>
          <a:prstGeom prst="roundRect">
            <a:avLst>
              <a:gd name="adj" fmla="val 121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8183880" y="1536192"/>
            <a:ext cx="3337560" cy="3566160"/>
          </a:xfrm>
          <a:prstGeom prst="rect">
            <a:avLst/>
          </a:prstGeom>
          <a:noFill/>
          <a:ln/>
        </p:spPr>
        <p:txBody>
          <a:bodyPr wrap="square" lIns="0" tIns="0" rIns="0" bIns="0" rtlCol="0" anchor="t">
            <a:normAutofit/>
          </a:bodyPr>
          <a:lstStyle/>
          <a:p>
            <a:pPr indent="0" marL="0">
              <a:buNone/>
            </a:pPr>
            <a:r>
              <a:rPr lang="en-US" sz="950" b="1" spc="120" kern="0" dirty="0">
                <a:solidFill>
                  <a:srgbClr val="012169"/>
                </a:solidFill>
                <a:latin typeface="Arial" pitchFamily="34" charset="0"/>
                <a:ea typeface="Arial" pitchFamily="34" charset="-122"/>
                <a:cs typeface="Arial" pitchFamily="34" charset="-120"/>
              </a:rPr>
              <a:t>READS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IP</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RETURNS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CI that owns the adapter carrying the scanned address</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RUNS AFTER</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address rules so far read the ip_address field of the CI record.</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HANDS OVER TO</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layered address rule and then the broad name rule.</a:t>
            </a:r>
            <a:endParaRPr lang="en-US" sz="9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EXAMPLES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Three matched discovered items</a:t>
            </a:r>
            <a:endParaRPr lang="en-US" sz="2800" dirty="0"/>
          </a:p>
        </p:txBody>
      </p:sp>
      <p:sp>
        <p:nvSpPr>
          <p:cNvPr id="4" name="Shape 2"/>
          <p:cNvSpPr/>
          <p:nvPr/>
        </p:nvSpPr>
        <p:spPr>
          <a:xfrm>
            <a:off x="457200" y="1325880"/>
            <a:ext cx="11274552" cy="2011680"/>
          </a:xfrm>
          <a:prstGeom prst="roundRect">
            <a:avLst>
              <a:gd name="adj" fmla="val 227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77240" y="1645920"/>
            <a:ext cx="10607040" cy="1463040"/>
          </a:xfrm>
          <a:prstGeom prst="rect">
            <a:avLst/>
          </a:prstGeom>
          <a:noFill/>
          <a:ln/>
        </p:spPr>
        <p:txBody>
          <a:bodyPr wrap="square" lIns="0" tIns="0" rIns="0" bIns="0" rtlCol="0" anchor="t"/>
          <a:lstStyle/>
          <a:p>
            <a:pPr indent="0" marL="0">
              <a:buNone/>
            </a:pPr>
            <a:r>
              <a:rPr lang="en-US" sz="1600" dirty="0">
                <a:solidFill>
                  <a:srgbClr val="6B7177"/>
                </a:solidFill>
                <a:latin typeface="Arial" pitchFamily="34" charset="0"/>
                <a:ea typeface="Arial" pitchFamily="34" charset="-122"/>
                <a:cs typeface="Arial" pitchFamily="34" charset="-120"/>
              </a:rPr>
              <a:t>Three discovered items matched by this rule on the development instance will be shown here, one per page, each with the scanned values, the steps the rule took and the CI it returned.</a:t>
            </a:r>
            <a:endParaRPr lang="en-US" sz="16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740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Layered Match</a:t>
            </a:r>
            <a:endParaRPr lang="en-US" sz="2800" dirty="0"/>
          </a:p>
        </p:txBody>
      </p:sp>
      <p:sp>
        <p:nvSpPr>
          <p:cNvPr id="4" name="Shape 2"/>
          <p:cNvSpPr/>
          <p:nvPr/>
        </p:nvSpPr>
        <p:spPr>
          <a:xfrm>
            <a:off x="457200" y="1325880"/>
            <a:ext cx="7223760" cy="3931920"/>
          </a:xfrm>
          <a:prstGeom prst="roundRect">
            <a:avLst>
              <a:gd name="adj" fmla="val 116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50876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DOES</a:t>
            </a:r>
            <a:endParaRPr lang="en-US" sz="950" dirty="0"/>
          </a:p>
        </p:txBody>
      </p:sp>
      <p:sp>
        <p:nvSpPr>
          <p:cNvPr id="6" name="Text 4"/>
          <p:cNvSpPr txBox="1"/>
          <p:nvPr/>
        </p:nvSpPr>
        <p:spPr>
          <a:xfrm>
            <a:off x="731520" y="1783080"/>
            <a:ext cx="6675120" cy="1371600"/>
          </a:xfrm>
          <a:prstGeom prst="rect">
            <a:avLst/>
          </a:prstGeom>
          <a:noFill/>
          <a:ln/>
        </p:spPr>
        <p:txBody>
          <a:bodyPr wrap="square" lIns="0" tIns="0" rIns="0" bIns="0" rtlCol="0" anchor="t">
            <a:normAutofit/>
          </a:bodyPr>
          <a:lstStyle/>
          <a:p>
            <a:pPr indent="0" marL="0">
              <a:buNone/>
            </a:pPr>
            <a:r>
              <a:rPr lang="en-US" sz="1500" dirty="0">
                <a:solidFill>
                  <a:srgbClr val="24272A"/>
                </a:solidFill>
                <a:latin typeface="Arial" pitchFamily="34" charset="0"/>
                <a:ea typeface="Arial" pitchFamily="34" charset="-122"/>
                <a:cs typeface="Arial" pitchFamily="34" charset="-120"/>
              </a:rPr>
              <a:t>Newer discovery writes each address as its own IP Address record linked to the adapter, and the adapter record itself may carry no address. This rule reads those records, two links from the CI.</a:t>
            </a:r>
            <a:endParaRPr lang="en-US" sz="1500" dirty="0"/>
          </a:p>
        </p:txBody>
      </p:sp>
      <p:sp>
        <p:nvSpPr>
          <p:cNvPr id="7" name="Text 5"/>
          <p:cNvSpPr txBox="1"/>
          <p:nvPr/>
        </p:nvSpPr>
        <p:spPr>
          <a:xfrm>
            <a:off x="731520" y="324612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IT MATCHES</a:t>
            </a:r>
            <a:endParaRPr lang="en-US" sz="950" dirty="0"/>
          </a:p>
        </p:txBody>
      </p:sp>
      <p:sp>
        <p:nvSpPr>
          <p:cNvPr id="8" name="Text 6"/>
          <p:cNvSpPr txBox="1"/>
          <p:nvPr/>
        </p:nvSpPr>
        <p:spPr>
          <a:xfrm>
            <a:off x="731520" y="3520440"/>
            <a:ext cx="6675120" cy="1645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Two links away</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One owner, and not a balancer</a:t>
            </a:r>
            <a:endParaRPr lang="en-US" sz="1500" dirty="0"/>
          </a:p>
        </p:txBody>
      </p:sp>
      <p:sp>
        <p:nvSpPr>
          <p:cNvPr id="9" name="Shape 7"/>
          <p:cNvSpPr/>
          <p:nvPr/>
        </p:nvSpPr>
        <p:spPr>
          <a:xfrm>
            <a:off x="7955280" y="1325880"/>
            <a:ext cx="3776472" cy="3931920"/>
          </a:xfrm>
          <a:prstGeom prst="roundRect">
            <a:avLst>
              <a:gd name="adj" fmla="val 121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8183880" y="1536192"/>
            <a:ext cx="3337560" cy="3566160"/>
          </a:xfrm>
          <a:prstGeom prst="rect">
            <a:avLst/>
          </a:prstGeom>
          <a:noFill/>
          <a:ln/>
        </p:spPr>
        <p:txBody>
          <a:bodyPr wrap="square" lIns="0" tIns="0" rIns="0" bIns="0" rtlCol="0" anchor="t">
            <a:normAutofit/>
          </a:bodyPr>
          <a:lstStyle/>
          <a:p>
            <a:pPr indent="0" marL="0">
              <a:buNone/>
            </a:pPr>
            <a:r>
              <a:rPr lang="en-US" sz="950" b="1" spc="120" kern="0" dirty="0">
                <a:solidFill>
                  <a:srgbClr val="012169"/>
                </a:solidFill>
                <a:latin typeface="Arial" pitchFamily="34" charset="0"/>
                <a:ea typeface="Arial" pitchFamily="34" charset="-122"/>
                <a:cs typeface="Arial" pitchFamily="34" charset="-120"/>
              </a:rPr>
              <a:t>READS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IP</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RETURNS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CI at the end of IP Address to adapter to CI</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RUNS AFTER</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adapter rule looked for the address on the adapter records.</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HANDS OVER TO</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broad name rule, and after that the out-of-box Qualys rules.</a:t>
            </a:r>
            <a:endParaRPr lang="en-US" sz="9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740  ·  EXAMPLES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Three matched discovered items</a:t>
            </a:r>
            <a:endParaRPr lang="en-US" sz="2800" dirty="0"/>
          </a:p>
        </p:txBody>
      </p:sp>
      <p:sp>
        <p:nvSpPr>
          <p:cNvPr id="4" name="Shape 2"/>
          <p:cNvSpPr/>
          <p:nvPr/>
        </p:nvSpPr>
        <p:spPr>
          <a:xfrm>
            <a:off x="457200" y="1325880"/>
            <a:ext cx="11274552" cy="2011680"/>
          </a:xfrm>
          <a:prstGeom prst="roundRect">
            <a:avLst>
              <a:gd name="adj" fmla="val 227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77240" y="1645920"/>
            <a:ext cx="10607040" cy="1463040"/>
          </a:xfrm>
          <a:prstGeom prst="rect">
            <a:avLst/>
          </a:prstGeom>
          <a:noFill/>
          <a:ln/>
        </p:spPr>
        <p:txBody>
          <a:bodyPr wrap="square" lIns="0" tIns="0" rIns="0" bIns="0" rtlCol="0" anchor="t"/>
          <a:lstStyle/>
          <a:p>
            <a:pPr indent="0" marL="0">
              <a:buNone/>
            </a:pPr>
            <a:r>
              <a:rPr lang="en-US" sz="1600" dirty="0">
                <a:solidFill>
                  <a:srgbClr val="6B7177"/>
                </a:solidFill>
                <a:latin typeface="Arial" pitchFamily="34" charset="0"/>
                <a:ea typeface="Arial" pitchFamily="34" charset="-122"/>
                <a:cs typeface="Arial" pitchFamily="34" charset="-120"/>
              </a:rPr>
              <a:t>Three discovered items matched by this rule on the development instance will be shown here, one per page, each with the scanned values, the steps the rule took and the CI it returned.</a:t>
            </a:r>
            <a:endParaRPr lang="en-US" sz="16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BROAD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Name Broad Match</a:t>
            </a:r>
            <a:endParaRPr lang="en-US" sz="2800" dirty="0"/>
          </a:p>
        </p:txBody>
      </p:sp>
      <p:sp>
        <p:nvSpPr>
          <p:cNvPr id="4" name="Shape 2"/>
          <p:cNvSpPr/>
          <p:nvPr/>
        </p:nvSpPr>
        <p:spPr>
          <a:xfrm>
            <a:off x="457200" y="1325880"/>
            <a:ext cx="7223760" cy="3931920"/>
          </a:xfrm>
          <a:prstGeom prst="roundRect">
            <a:avLst>
              <a:gd name="adj" fmla="val 116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50876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DOES</a:t>
            </a:r>
            <a:endParaRPr lang="en-US" sz="950" dirty="0"/>
          </a:p>
        </p:txBody>
      </p:sp>
      <p:sp>
        <p:nvSpPr>
          <p:cNvPr id="6" name="Text 4"/>
          <p:cNvSpPr txBox="1"/>
          <p:nvPr/>
        </p:nvSpPr>
        <p:spPr>
          <a:xfrm>
            <a:off x="731520" y="1783080"/>
            <a:ext cx="6675120" cy="1371600"/>
          </a:xfrm>
          <a:prstGeom prst="rect">
            <a:avLst/>
          </a:prstGeom>
          <a:noFill/>
          <a:ln/>
        </p:spPr>
        <p:txBody>
          <a:bodyPr wrap="square" lIns="0" tIns="0" rIns="0" bIns="0" rtlCol="0" anchor="t">
            <a:normAutofit/>
          </a:bodyPr>
          <a:lstStyle/>
          <a:p>
            <a:pPr indent="0" marL="0">
              <a:buNone/>
            </a:pPr>
            <a:r>
              <a:rPr lang="en-US" sz="1500" dirty="0">
                <a:solidFill>
                  <a:srgbClr val="24272A"/>
                </a:solidFill>
                <a:latin typeface="Arial" pitchFamily="34" charset="0"/>
                <a:ea typeface="Arial" pitchFamily="34" charset="-122"/>
                <a:cs typeface="Arial" pitchFamily="34" charset="-120"/>
              </a:rPr>
              <a:t>The one deliberately late, broad fallback: a CI named with the full FQDN anywhere in the CI table, classes outside the hardware tree included, such as a virtual machine instance.</a:t>
            </a:r>
            <a:endParaRPr lang="en-US" sz="1500" dirty="0"/>
          </a:p>
        </p:txBody>
      </p:sp>
      <p:sp>
        <p:nvSpPr>
          <p:cNvPr id="7" name="Text 5"/>
          <p:cNvSpPr txBox="1"/>
          <p:nvPr/>
        </p:nvSpPr>
        <p:spPr>
          <a:xfrm>
            <a:off x="731520" y="3246120"/>
            <a:ext cx="6400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IT MATCHES</a:t>
            </a:r>
            <a:endParaRPr lang="en-US" sz="950" dirty="0"/>
          </a:p>
        </p:txBody>
      </p:sp>
      <p:sp>
        <p:nvSpPr>
          <p:cNvPr id="8" name="Text 6"/>
          <p:cNvSpPr txBox="1"/>
          <p:nvPr/>
        </p:nvSpPr>
        <p:spPr>
          <a:xfrm>
            <a:off x="731520" y="3520440"/>
            <a:ext cx="6675120" cy="1645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Why it runs last</a:t>
            </a:r>
            <a:endParaRPr lang="en-US" sz="1500" dirty="0"/>
          </a:p>
          <a:p>
            <a:pPr marL="177800" indent="-177800">
              <a:spcAft>
                <a:spcPts val="600"/>
              </a:spcAft>
              <a:buSzPct val="100000"/>
              <a:buChar char="•"/>
            </a:pPr>
            <a:r>
              <a:rPr lang="en-US" sz="1500" dirty="0">
                <a:solidFill>
                  <a:srgbClr val="24272A"/>
                </a:solidFill>
                <a:latin typeface="Arial" pitchFamily="34" charset="0"/>
                <a:ea typeface="Arial" pitchFamily="34" charset="-122"/>
                <a:cs typeface="Arial" pitchFamily="34" charset="-120"/>
              </a:rPr>
              <a:t>Root CI table, exactly one CI</a:t>
            </a:r>
            <a:endParaRPr lang="en-US" sz="1500" dirty="0"/>
          </a:p>
        </p:txBody>
      </p:sp>
      <p:sp>
        <p:nvSpPr>
          <p:cNvPr id="9" name="Shape 7"/>
          <p:cNvSpPr/>
          <p:nvPr/>
        </p:nvSpPr>
        <p:spPr>
          <a:xfrm>
            <a:off x="7955280" y="1325880"/>
            <a:ext cx="3776472" cy="3931920"/>
          </a:xfrm>
          <a:prstGeom prst="roundRect">
            <a:avLst>
              <a:gd name="adj" fmla="val 121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8183880" y="1536192"/>
            <a:ext cx="3337560" cy="3566160"/>
          </a:xfrm>
          <a:prstGeom prst="rect">
            <a:avLst/>
          </a:prstGeom>
          <a:noFill/>
          <a:ln/>
        </p:spPr>
        <p:txBody>
          <a:bodyPr wrap="square" lIns="0" tIns="0" rIns="0" bIns="0" rtlCol="0" anchor="t">
            <a:normAutofit/>
          </a:bodyPr>
          <a:lstStyle/>
          <a:p>
            <a:pPr indent="0" marL="0">
              <a:buNone/>
            </a:pPr>
            <a:r>
              <a:rPr lang="en-US" sz="950" b="1" spc="120" kern="0" dirty="0">
                <a:solidFill>
                  <a:srgbClr val="012169"/>
                </a:solidFill>
                <a:latin typeface="Arial" pitchFamily="34" charset="0"/>
                <a:ea typeface="Arial" pitchFamily="34" charset="-122"/>
                <a:cs typeface="Arial" pitchFamily="34" charset="-120"/>
              </a:rPr>
              <a:t>READS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DNS</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RETURNS</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one CI in any class named exactly with the scanned FQDN</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RUNS AFTER</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every hardware-scoped rule has declined for this host.</a:t>
            </a:r>
            <a:endParaRPr lang="en-US" sz="950" dirty="0"/>
          </a:p>
          <a:p>
            <a:pPr indent="0" marL="0">
              <a:buNone/>
            </a:pPr>
            <a:r>
              <a:rPr lang="en-US" sz="950" b="1" spc="120" kern="0" dirty="0">
                <a:solidFill>
                  <a:srgbClr val="012169"/>
                </a:solidFill>
                <a:latin typeface="Arial" pitchFamily="34" charset="0"/>
                <a:ea typeface="Arial" pitchFamily="34" charset="-122"/>
                <a:cs typeface="Arial" pitchFamily="34" charset="-120"/>
              </a:rPr>
              <a:t>HANDS OVER TO</a:t>
            </a:r>
            <a:endParaRPr lang="en-US" sz="950" dirty="0"/>
          </a:p>
          <a:p>
            <a:pPr indent="0" marL="0">
              <a:spcAft>
                <a:spcPts val="1200"/>
              </a:spcAft>
              <a:buNone/>
            </a:pPr>
            <a:r>
              <a:rPr lang="en-US" sz="1250" dirty="0">
                <a:solidFill>
                  <a:srgbClr val="24272A"/>
                </a:solidFill>
                <a:latin typeface="Arial" pitchFamily="34" charset="0"/>
                <a:ea typeface="Arial" pitchFamily="34" charset="-122"/>
                <a:cs typeface="Arial" pitchFamily="34" charset="-120"/>
              </a:rPr>
              <a:t>the out-of-box Qualys rules: host id, cloud resource id, FQDN, NetBIOS, DNS.</a:t>
            </a:r>
            <a:endParaRPr lang="en-US" sz="9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EXAMPLES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Three matched discovered items</a:t>
            </a:r>
            <a:endParaRPr lang="en-US" sz="2800" dirty="0"/>
          </a:p>
        </p:txBody>
      </p:sp>
      <p:sp>
        <p:nvSpPr>
          <p:cNvPr id="4" name="Shape 2"/>
          <p:cNvSpPr/>
          <p:nvPr/>
        </p:nvSpPr>
        <p:spPr>
          <a:xfrm>
            <a:off x="457200" y="1325880"/>
            <a:ext cx="11274552" cy="2011680"/>
          </a:xfrm>
          <a:prstGeom prst="roundRect">
            <a:avLst>
              <a:gd name="adj" fmla="val 227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77240" y="1645920"/>
            <a:ext cx="10607040" cy="1463040"/>
          </a:xfrm>
          <a:prstGeom prst="rect">
            <a:avLst/>
          </a:prstGeom>
          <a:noFill/>
          <a:ln/>
        </p:spPr>
        <p:txBody>
          <a:bodyPr wrap="square" lIns="0" tIns="0" rIns="0" bIns="0" rtlCol="0" anchor="t"/>
          <a:lstStyle/>
          <a:p>
            <a:pPr indent="0" marL="0">
              <a:buNone/>
            </a:pPr>
            <a:r>
              <a:rPr lang="en-US" sz="1600" dirty="0">
                <a:solidFill>
                  <a:srgbClr val="6B7177"/>
                </a:solidFill>
                <a:latin typeface="Arial" pitchFamily="34" charset="0"/>
                <a:ea typeface="Arial" pitchFamily="34" charset="-122"/>
                <a:cs typeface="Arial" pitchFamily="34" charset="-120"/>
              </a:rPr>
              <a:t>Three discovered items matched by this rule on the development instance will be shown here, one per page, each with the scanned values, the steps the rule took and the CI it returned.</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Qualys CI Lookup Rules - CMDB Team Demo</dc:title>
  <dc:subject>PptxGenJS Presentation</dc:subject>
  <dc:creator>Mihir Kumar Singh</dc:creator>
  <cp:lastModifiedBy>Mihir Kumar Singh</cp:lastModifiedBy>
  <cp:revision>1</cp:revision>
  <dcterms:created xsi:type="dcterms:W3CDTF">2026-09-19T12:47:59Z</dcterms:created>
  <dcterms:modified xsi:type="dcterms:W3CDTF">2026-09-19T12:47:59Z</dcterms:modified>
</cp:coreProperties>
</file>