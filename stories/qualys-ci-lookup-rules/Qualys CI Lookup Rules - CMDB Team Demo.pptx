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Lst>
  <p:notesMasterIdLst>
    <p:notesMasterId r:id="rId8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11" TargetMode="External"/><Relationship Id="rId2" Type="http://schemas.openxmlformats.org/officeDocument/2006/relationships/hyperlink" Target="https://bofasecopsdev.service-now.com/cmdb_ci_win_server.do?sys_id=7e63ec2a3b84e250d5062b64c3e45a11"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09" TargetMode="External"/><Relationship Id="rId2" Type="http://schemas.openxmlformats.org/officeDocument/2006/relationships/hyperlink" Target="https://bofasecopsdev.service-now.com/cmdb_ci_win_server.do?sys_id=b663ec2a3b84e250d5062b64c3e45a0e"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06" TargetMode="External"/><Relationship Id="rId2" Type="http://schemas.openxmlformats.org/officeDocument/2006/relationships/hyperlink" Target="https://bofasecopsdev.service-now.com/cmdb_ci_win_server.do?sys_id=f663ec2a3b84e250d5062b64c3e45a04"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68092" TargetMode="External"/><Relationship Id="rId2" Type="http://schemas.openxmlformats.org/officeDocument/2006/relationships/hyperlink" Target="https://bofasecopsdev.service-now.com/cmdb_ci_printer.do?sys_id=694be8342bc6ae54d50dffbdbe91bf87"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26199" TargetMode="External"/><Relationship Id="rId2" Type="http://schemas.openxmlformats.org/officeDocument/2006/relationships/hyperlink" Target="https://bofasecopsdev.service-now.com/cmdb_ci_hardware.do?sys_id=9a3819182ba72e54d28af8a4ce91bfa1"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90879" TargetMode="External"/><Relationship Id="rId2" Type="http://schemas.openxmlformats.org/officeDocument/2006/relationships/hyperlink" Target="https://bofasecopsdev.service-now.com/cmdb_ci_printer.do?sys_id=084b28342bc6ae54d50dffbdbe91bfc9"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27752" TargetMode="External"/><Relationship Id="rId2" Type="http://schemas.openxmlformats.org/officeDocument/2006/relationships/hyperlink" Target="https://bofasecopsdev.service-now.com/cmdb_ci_ip_phone.do?sys_id=df221eb33be96210df0f0c54c3e45adf"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7321" TargetMode="External"/><Relationship Id="rId2" Type="http://schemas.openxmlformats.org/officeDocument/2006/relationships/hyperlink" Target="https://bofasecopsdev.service-now.com/cmdb_ci_ip_phone.do?sys_id=3e7fc2bf3b696210df0f0c54c3e45abd" TargetMode="Externa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9434" TargetMode="External"/><Relationship Id="rId2" Type="http://schemas.openxmlformats.org/officeDocument/2006/relationships/hyperlink" Target="https://bofasecopsdev.service-now.com/cmdb_ci_ip_phone.do?sys_id=57a9c2b33be56210df0f0c54c3e45a65" TargetMode="Externa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51366" TargetMode="External"/><Relationship Id="rId2" Type="http://schemas.openxmlformats.org/officeDocument/2006/relationships/hyperlink" Target="https://bofasecopsdev.service-now.com/cmdb_ci_win_server.do?sys_id=2127d1bb3bd8ea90d5062b64c3e45ab9" TargetMode="Externa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6655" TargetMode="External"/><Relationship Id="rId2" Type="http://schemas.openxmlformats.org/officeDocument/2006/relationships/hyperlink" Target="https://bofasecopsdev.service-now.com/cmdb_ci_linux_server.do?sys_id=0873ca94fbf0ee502fe7f7ad5eefdc48" TargetMode="Externa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59" TargetMode="External"/><Relationship Id="rId2" Type="http://schemas.openxmlformats.org/officeDocument/2006/relationships/hyperlink" Target="https://bofasecopsdev.service-now.com/cmdb_ci_win_server.do?sys_id=b3cab1bb93d8ee5007a4f84958373cba" TargetMode="Externa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953" TargetMode="External"/><Relationship Id="rId2" Type="http://schemas.openxmlformats.org/officeDocument/2006/relationships/hyperlink" Target="https://bofasecopsdev.service-now.com/cmdb_ci_linux_server.do?sys_id=e43c52133b146a90d5062b64c3e45a25" TargetMode="Externa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438418" TargetMode="External"/><Relationship Id="rId2" Type="http://schemas.openxmlformats.org/officeDocument/2006/relationships/hyperlink" Target="https://bofasecopsdev.service-now.com/cmdb_ci_win_server.do?sys_id=7e20daa72bac22546d55ff5fe291bf63"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444611" TargetMode="External"/><Relationship Id="rId2" Type="http://schemas.openxmlformats.org/officeDocument/2006/relationships/hyperlink" Target="https://bofasecopsdev.service-now.com/cmdb_ci_win_server.do?sys_id=f3e5f0f09782f29834bfb65de053af5e" TargetMode="Externa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701" TargetMode="External"/><Relationship Id="rId2" Type="http://schemas.openxmlformats.org/officeDocument/2006/relationships/hyperlink" Target="https://bofasecopsdev.service-now.com/cmdb_ci_linux_server.do?sys_id=30c82e632b91aa14d50dffbdbe91bfa9" TargetMode="Externa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699" TargetMode="External"/><Relationship Id="rId2" Type="http://schemas.openxmlformats.org/officeDocument/2006/relationships/hyperlink" Target="https://bofasecopsdev.service-now.com/cmdb_ci_linux_server.do?sys_id=44e8b6fd47cd3a90b5da45ac026d438f" TargetMode="Externa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697" TargetMode="External"/><Relationship Id="rId2" Type="http://schemas.openxmlformats.org/officeDocument/2006/relationships/hyperlink" Target="https://bofasecopsdev.service-now.com/cmdb_ci_linux_server.do?sys_id=15cec45c3b742e14055e3b64c3e45a73"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283" TargetMode="External"/><Relationship Id="rId2" Type="http://schemas.openxmlformats.org/officeDocument/2006/relationships/hyperlink" Target="https://bofasecopsdev.service-now.com/cmdb_ci_server.do?sys_id=35485a949310fe1026fbfbb4ed03d640"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73" TargetMode="External"/><Relationship Id="rId2" Type="http://schemas.openxmlformats.org/officeDocument/2006/relationships/hyperlink" Target="https://bofasecopsdev.service-now.com/cmdb_ci_server.do?sys_id=502f97033b417ed04826a7ae53e45a4c" TargetMode="Externa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70" TargetMode="External"/><Relationship Id="rId2" Type="http://schemas.openxmlformats.org/officeDocument/2006/relationships/hyperlink" Target="https://bofasecopsdev.service-now.com/cmdb_ci_server.do?sys_id=7a3896949310fe1026fbfbb4ed03d695" TargetMode="Externa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82887" TargetMode="External"/><Relationship Id="rId2" Type="http://schemas.openxmlformats.org/officeDocument/2006/relationships/hyperlink" Target="https://bofasecopsdev.service-now.com/cmdb_ci_printer.do?sys_id=b38a64fc2b86ae54d50dffbdbe91bf08" TargetMode="Externa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2286" TargetMode="External"/><Relationship Id="rId2" Type="http://schemas.openxmlformats.org/officeDocument/2006/relationships/hyperlink" Target="https://bofasecopsdev.service-now.com/cmdb_ci_printer.do?sys_id=e4b9ac382b86ae54d50dffbdbe91bfe3" TargetMode="Externa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85182" TargetMode="External"/><Relationship Id="rId2" Type="http://schemas.openxmlformats.org/officeDocument/2006/relationships/hyperlink" Target="https://bofasecopsdev.service-now.com/cmdb_ci_printer.do?sys_id=a18a20fc2b86ae54d50dffbdbe91bf86"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64" TargetMode="External"/><Relationship Id="rId2" Type="http://schemas.openxmlformats.org/officeDocument/2006/relationships/hyperlink" Target="https://bofasecopsdev.service-now.com/cmdb_ci_win_server.do?sys_id=27e62ee33b5022d0055e3b64c3e45ae1" TargetMode="Externa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309" TargetMode="External"/><Relationship Id="rId2" Type="http://schemas.openxmlformats.org/officeDocument/2006/relationships/hyperlink" Target="https://bofasecopsdev.service-now.com/cmdb_ci_linux_server.do?sys_id=a1194c903bbc2614d5062b64c3e45a71" TargetMode="Externa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60" TargetMode="External"/><Relationship Id="rId2" Type="http://schemas.openxmlformats.org/officeDocument/2006/relationships/hyperlink" Target="https://bofasecopsdev.service-now.com/cmdb_ci_win_server.do?sys_id=0a7265773bd062d0055e3b64c3e45a23" TargetMode="Externa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0853" TargetMode="External"/><Relationship Id="rId2" Type="http://schemas.openxmlformats.org/officeDocument/2006/relationships/hyperlink" Target="https://bofasecopsdev.service-now.com/cmdb_ci_server.do?sys_id=2b66dbe59348b254b096f35e1dba1064" TargetMode="External"/><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05570" TargetMode="External"/><Relationship Id="rId2" Type="http://schemas.openxmlformats.org/officeDocument/2006/relationships/hyperlink" Target="https://bofasecopsdev.service-now.com/cmdb_ci_computer.do?sys_id=215ec3123b046e10055e3b64c3e45af6"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0834" TargetMode="External"/><Relationship Id="rId2" Type="http://schemas.openxmlformats.org/officeDocument/2006/relationships/hyperlink" Target="https://bofasecopsdev.service-now.com/cmdb_ci_server.do?sys_id=c4b557ed9388321499fa7dd548373c4d"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41" TargetMode="External"/><Relationship Id="rId2" Type="http://schemas.openxmlformats.org/officeDocument/2006/relationships/hyperlink" Target="https://bofasecopsdev.service-now.com/cmdb_ci_ip_phone.do?sys_id=e07817742b062694d50dffbdbe91bf38" TargetMode="External"/><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2" TargetMode="External"/><Relationship Id="rId2" Type="http://schemas.openxmlformats.org/officeDocument/2006/relationships/hyperlink" Target="https://bofasecopsdev.service-now.com/cmdb_ci_ip_phone.do?sys_id=19b683b83b4e2254860863b693e45a0e" TargetMode="Externa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469" TargetMode="External"/><Relationship Id="rId2" Type="http://schemas.openxmlformats.org/officeDocument/2006/relationships/hyperlink" Target="https://bofasecopsdev.service-now.com/cmdb_ci_ip_phone.do?sys_id=50f767343bce6254860863b693e45a2b" TargetMode="External"/><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47592" TargetMode="External"/><Relationship Id="rId2" Type="http://schemas.openxmlformats.org/officeDocument/2006/relationships/hyperlink" Target="https://bofasecopsdev.service-now.com/cmdb_ci_linux_server.do?sys_id=a53749b02b062e54d28af8a4ce91bf65" TargetMode="External"/><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30819" TargetMode="External"/><Relationship Id="rId2" Type="http://schemas.openxmlformats.org/officeDocument/2006/relationships/hyperlink" Target="https://bofasecopsdev.service-now.com/cmdb_ci_linux_server.do?sys_id=a8cf49353b4e6a90be6d95c964e45a24" TargetMode="External"/><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3867" TargetMode="External"/><Relationship Id="rId2" Type="http://schemas.openxmlformats.org/officeDocument/2006/relationships/hyperlink" Target="https://bofasecopsdev.service-now.com/cmdb_ci_ip_firewall.do?sys_id=f7300d7d3b466a90be6d95c964e45a21"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800077" TargetMode="External"/><Relationship Id="rId2" Type="http://schemas.openxmlformats.org/officeDocument/2006/relationships/hyperlink" Target="https://bofasecopsdev.service-now.com/cmdb_ci_ip_switch.do?sys_id=aaac6f842b256610cca5f39ec891bf8d" TargetMode="External"/><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800075" TargetMode="External"/><Relationship Id="rId2" Type="http://schemas.openxmlformats.org/officeDocument/2006/relationships/hyperlink" Target="https://bofasecopsdev.service-now.com/cmdb_ci_ip_switch.do?sys_id=28acb0423bd00754a052e71864e45a01" TargetMode="External"/><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3" TargetMode="External"/><Relationship Id="rId2" Type="http://schemas.openxmlformats.org/officeDocument/2006/relationships/hyperlink" Target="https://bofasecopsdev.service-now.com/cmdb_ci_lb.do?sys_id=fedb74f52bc6ae94d28af8a4ce91bf69" TargetMode="External"/><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3157" TargetMode="External"/><Relationship Id="rId2" Type="http://schemas.openxmlformats.org/officeDocument/2006/relationships/hyperlink" Target="https://bofasecopsdev.service-now.com/cmdb_ci_printer.do?sys_id=7ed9e0b82b86ae54d50dffbdbe91bf4b" TargetMode="External"/><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93687" TargetMode="External"/><Relationship Id="rId2" Type="http://schemas.openxmlformats.org/officeDocument/2006/relationships/hyperlink" Target="https://bofasecopsdev.service-now.com/cmdb_ci_linux_server.do?sys_id=f2130b8693966a107fb5f842ed03d653" TargetMode="External"/><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86277" TargetMode="External"/><Relationship Id="rId2" Type="http://schemas.openxmlformats.org/officeDocument/2006/relationships/hyperlink" Target="https://bofasecopsdev.service-now.com/cmdb_ci_linux_server.do?sys_id=6dba925b2b1ca210e9c1f4cdce91bf42" TargetMode="External"/><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18623" TargetMode="External"/><Relationship Id="rId2" Type="http://schemas.openxmlformats.org/officeDocument/2006/relationships/hyperlink" Target="https://bofasecopsdev.service-now.com/cmdb_ci_linux_server.do?sys_id=ddcdddf02b462294d50dffbdbe91bf9b" TargetMode="External"/><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5580" TargetMode="External"/><Relationship Id="rId2" Type="http://schemas.openxmlformats.org/officeDocument/2006/relationships/hyperlink" Target="https://bofasecopsdev.service-now.com/cmdb_ci_lb_service.do?sys_id=84466888930e0b50205fb5627cba107c" TargetMode="External"/><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36490" TargetMode="External"/><Relationship Id="rId2" Type="http://schemas.openxmlformats.org/officeDocument/2006/relationships/hyperlink" Target="https://bofasecopsdev.service-now.com/cmdb_ci_lb_service.do?sys_id=0a6f146b2bed4354412af1f7d891bf68" TargetMode="External"/><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8717" TargetMode="External"/><Relationship Id="rId2" Type="http://schemas.openxmlformats.org/officeDocument/2006/relationships/hyperlink" Target="https://bofasecopsdev.service-now.com/cmdb_ci_lb_service.do?sys_id=3ff610aa2b8d871032e4f5cdc891bf75" TargetMode="External"/><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3964" TargetMode="External"/><Relationship Id="rId2" Type="http://schemas.openxmlformats.org/officeDocument/2006/relationships/hyperlink" Target="https://bofasecopsdev.service-now.com/cmdb_ci_win_server.do?sys_id=c785e52bfbddc7d0f40ef34c5eefdccf"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3886" TargetMode="External"/><Relationship Id="rId2" Type="http://schemas.openxmlformats.org/officeDocument/2006/relationships/hyperlink" Target="https://bofasecopsdev.service-now.com/cmdb_ci_win_server.do?sys_id=3fb5a1633bd90754ef3892e643e45ade" TargetMode="External"/><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70780" TargetMode="External"/><Relationship Id="rId2" Type="http://schemas.openxmlformats.org/officeDocument/2006/relationships/hyperlink" Target="https://bofasecopsdev.service-now.com/cmdb_ci_win_server.do?sys_id=8bfab94747d18714b5da45ac026d434c" TargetMode="External"/><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7215" TargetMode="External"/><Relationship Id="rId2" Type="http://schemas.openxmlformats.org/officeDocument/2006/relationships/hyperlink" Target="https://bofasecopsdev.service-now.com/cmdb_ci_computer.do?sys_id=f1593dbd3b74c710ef3892e643e45a81" TargetMode="External"/><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4392" TargetMode="External"/><Relationship Id="rId2" Type="http://schemas.openxmlformats.org/officeDocument/2006/relationships/hyperlink" Target="https://bofasecopsdev.service-now.com/cmdb_ci_server.do?sys_id=671eaa82935e2a107fb5f842ed03d6e0" TargetMode="External"/><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07396" TargetMode="External"/><Relationship Id="rId2" Type="http://schemas.openxmlformats.org/officeDocument/2006/relationships/hyperlink" Target="https://bofasecopsdev.service-now.com/cmdb_ci_ups.do?sys_id=4966fb582ba7e614d50dffbdbe91bf76"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813895" TargetMode="External"/><Relationship Id="rId2" Type="http://schemas.openxmlformats.org/officeDocument/2006/relationships/hyperlink" Target="https://bofasecopsdev.service-now.com/cmdb_ci_esx_server.do?sys_id=abb100a52b976e908afbf3b28191bf4f" TargetMode="External"/><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78917" TargetMode="External"/><Relationship Id="rId2" Type="http://schemas.openxmlformats.org/officeDocument/2006/relationships/hyperlink" Target="https://bofasecopsdev.service-now.com/cmdb_ci_esx_server.do?sys_id=2e0ed1d1ebccb254986cffd6bad0cdf6" TargetMode="External"/><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82383" TargetMode="External"/><Relationship Id="rId2" Type="http://schemas.openxmlformats.org/officeDocument/2006/relationships/hyperlink" Target="https://bofasecopsdev.service-now.com/cmdb_ci_esx_server.do?sys_id=c5fad55d3b8cf25cdf0f0c54c3e45ac8" TargetMode="External"/><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76737" TargetMode="External"/><Relationship Id="rId2" Type="http://schemas.openxmlformats.org/officeDocument/2006/relationships/hyperlink" Target="https://bofasecopsdev.service-now.com/cmdb_ci_ip_switch.do?sys_id=c835c6e83ba822d0670e839704e45ae8" TargetMode="External"/><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54915" TargetMode="External"/><Relationship Id="rId2" Type="http://schemas.openxmlformats.org/officeDocument/2006/relationships/hyperlink" Target="https://bofasecopsdev.service-now.com/cmdb_ci_ip_switch.do?sys_id=04f4cae0fba82e102fe7f7ad5eefdcd3" TargetMode="External"/><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62461" TargetMode="External"/><Relationship Id="rId2" Type="http://schemas.openxmlformats.org/officeDocument/2006/relationships/hyperlink" Target="https://bofasecopsdev.service-now.com/cmdb_ci_computer.do?sys_id=587f01782b0eee54d50dffbdbe91bf2d" TargetMode="External"/><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91" TargetMode="External"/><Relationship Id="rId2" Type="http://schemas.openxmlformats.org/officeDocument/2006/relationships/hyperlink" Target="https://bofasecopsdev.service-now.com/cmdb_ci_kubernetes_node.do?sys_id=b0da27023beba690dee4bcdc73e45a10"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0195" TargetMode="External"/><Relationship Id="rId2" Type="http://schemas.openxmlformats.org/officeDocument/2006/relationships/hyperlink" Target="https://bofasecopsdev.service-now.com/cmdb_ci_kubernetes_node.do?sys_id=33e5941293c507103854f05ea903d6aa" TargetMode="External"/><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0186" TargetMode="External"/><Relationship Id="rId2" Type="http://schemas.openxmlformats.org/officeDocument/2006/relationships/hyperlink" Target="https://bofasecopsdev.service-now.com/cmdb_ci_kubernetes_node.do?sys_id=29d51c922b09071022b7fcded391bff8" TargetMode="External"/><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16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E31837"/>
          </a:solidFill>
          <a:ln w="12700">
            <a:solidFill>
              <a:srgbClr val="333333"/>
            </a:solidFill>
            <a:prstDash val="solid"/>
          </a:ln>
        </p:spPr>
      </p:sp>
      <p:sp>
        <p:nvSpPr>
          <p:cNvPr id="3" name="Text 1"/>
          <p:cNvSpPr txBox="1"/>
          <p:nvPr/>
        </p:nvSpPr>
        <p:spPr>
          <a:xfrm>
            <a:off x="914400" y="2011680"/>
            <a:ext cx="10058400" cy="274320"/>
          </a:xfrm>
          <a:prstGeom prst="rect">
            <a:avLst/>
          </a:prstGeom>
          <a:noFill/>
          <a:ln/>
        </p:spPr>
        <p:txBody>
          <a:bodyPr wrap="square" lIns="0" tIns="0" rIns="0" bIns="0" rtlCol="0" anchor="ctr"/>
          <a:lstStyle/>
          <a:p>
            <a:pPr indent="0" marL="0">
              <a:buNone/>
            </a:pPr>
            <a:r>
              <a:rPr lang="en-US" sz="1200" b="1" spc="200" kern="0" dirty="0">
                <a:solidFill>
                  <a:srgbClr val="C9D1E3"/>
                </a:solidFill>
                <a:latin typeface="Arial" pitchFamily="34" charset="0"/>
                <a:ea typeface="Arial" pitchFamily="34" charset="-122"/>
                <a:cs typeface="Arial" pitchFamily="34" charset="-120"/>
              </a:rPr>
              <a:t>USEM  ·  VULNERABILITY RESPONSE</a:t>
            </a:r>
            <a:endParaRPr lang="en-US" sz="1200" dirty="0"/>
          </a:p>
        </p:txBody>
      </p:sp>
      <p:sp>
        <p:nvSpPr>
          <p:cNvPr id="4" name="Text 2"/>
          <p:cNvSpPr txBox="1"/>
          <p:nvPr/>
        </p:nvSpPr>
        <p:spPr>
          <a:xfrm>
            <a:off x="914400" y="2377440"/>
            <a:ext cx="100584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Qualys CI Lookup Rules</a:t>
            </a:r>
            <a:endParaRPr lang="en-US" sz="4000" dirty="0"/>
          </a:p>
        </p:txBody>
      </p:sp>
      <p:sp>
        <p:nvSpPr>
          <p:cNvPr id="5" name="Text 3"/>
          <p:cNvSpPr txBox="1"/>
          <p:nvPr/>
        </p:nvSpPr>
        <p:spPr>
          <a:xfrm>
            <a:off x="914400" y="3291840"/>
            <a:ext cx="10058400" cy="457200"/>
          </a:xfrm>
          <a:prstGeom prst="rect">
            <a:avLst/>
          </a:prstGeom>
          <a:noFill/>
          <a:ln/>
        </p:spPr>
        <p:txBody>
          <a:bodyPr wrap="square" lIns="0" tIns="0" rIns="0" bIns="0" rtlCol="0" anchor="ctr"/>
          <a:lstStyle/>
          <a:p>
            <a:pPr indent="0" marL="0">
              <a:buNone/>
            </a:pPr>
            <a:r>
              <a:rPr lang="en-US" sz="2000" dirty="0">
                <a:solidFill>
                  <a:srgbClr val="E4E8F0"/>
                </a:solidFill>
                <a:latin typeface="Arial" pitchFamily="34" charset="0"/>
                <a:ea typeface="Arial" pitchFamily="34" charset="-122"/>
                <a:cs typeface="Arial" pitchFamily="34" charset="-120"/>
              </a:rPr>
              <a:t>How a scanned host finds its CI</a:t>
            </a:r>
            <a:endParaRPr lang="en-US" sz="2000" dirty="0"/>
          </a:p>
        </p:txBody>
      </p:sp>
      <p:sp>
        <p:nvSpPr>
          <p:cNvPr id="6" name="Text 4"/>
          <p:cNvSpPr txBox="1"/>
          <p:nvPr/>
        </p:nvSpPr>
        <p:spPr>
          <a:xfrm>
            <a:off x="914400" y="5120640"/>
            <a:ext cx="10058400" cy="274320"/>
          </a:xfrm>
          <a:prstGeom prst="rect">
            <a:avLst/>
          </a:prstGeom>
          <a:noFill/>
          <a:ln/>
        </p:spPr>
        <p:txBody>
          <a:bodyPr wrap="square" lIns="0" tIns="0" rIns="0" bIns="0" rtlCol="0" anchor="ctr"/>
          <a:lstStyle/>
          <a:p>
            <a:pPr indent="0" marL="0">
              <a:buNone/>
            </a:pPr>
            <a:r>
              <a:rPr lang="en-US" sz="1200" dirty="0">
                <a:solidFill>
                  <a:srgbClr val="C9D1E3"/>
                </a:solidFill>
                <a:latin typeface="Arial" pitchFamily="34" charset="0"/>
                <a:ea typeface="Arial" pitchFamily="34" charset="-122"/>
                <a:cs typeface="Arial" pitchFamily="34" charset="-120"/>
              </a:rPr>
              <a:t>Demo for the CMDB team  ·  21 September 2026  ·  Mihir Kumar Singh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How every script runs</a:t>
            </a:r>
            <a:endParaRPr lang="en-US" sz="2800" dirty="0"/>
          </a:p>
        </p:txBody>
      </p:sp>
      <p:sp>
        <p:nvSpPr>
          <p:cNvPr id="4" name="Shape 2"/>
          <p:cNvSpPr/>
          <p:nvPr/>
        </p:nvSpPr>
        <p:spPr>
          <a:xfrm>
            <a:off x="457200"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THE CONTRACT AND THE SEARCH</a:t>
            </a:r>
            <a:endParaRPr lang="en-US" sz="950" dirty="0"/>
          </a:p>
        </p:txBody>
      </p:sp>
      <p:sp>
        <p:nvSpPr>
          <p:cNvPr id="6" name="Text 4"/>
          <p:cNvSpPr txBox="1"/>
          <p:nvPr/>
        </p:nvSpPr>
        <p:spPr>
          <a:xfrm>
            <a:off x="731520"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Contract.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process(rule, sourceValue, sourcePayload) returns one sys_id or null. sourceValue is the rule's source field (SERIAL_NUMBER, DNS or IP); the OS, DNS and IP come from the payload.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Normalisation.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value is coerced to a string and trimmed; names are lower-cased; the text before the first dot is the short host; an absent DNS or OS reads as empty, never as the string "undefined".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Ignored classes.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framework's _ignoreClass, else sn_sec_cmn.ignoreCIClass, added as sys_class_name NOT IN on every search. Exact class names, no hierarchy.</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Exactly one.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query() with no setLimit, then next() and hasNext(): a second row declines. The rules that walk records count distinct owning CIs instead, and two owners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Address tie-break.  </a:t>
            </a:r>
            <a:pPr indent="0" marL="0">
              <a:spcAft>
                <a:spcPts val="500"/>
              </a:spcAft>
              <a:buNone/>
            </a:pPr>
            <a:r>
              <a:rPr lang="en-US" sz="1050" dirty="0">
                <a:solidFill>
                  <a:srgbClr val="24272A"/>
                </a:solidFill>
                <a:latin typeface="Arial" pitchFamily="34" charset="0"/>
                <a:ea typeface="Arial" pitchFamily="34" charset="-122"/>
                <a:cs typeface="Arial" pitchFamily="34" charset="-120"/>
              </a:rPr>
              <a:t>Only the FQDN, host name with domain, layered DNS and device name rules break several candidates with the scanned IP. The address rules never tie-break.</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Loopback and link-local.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address and virtual server rules refuse 127. and 169.254. before reading anything else.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Retired records.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retired(): install_status 7, operational_status 6 or life cycle stage Retired. The virtual server rules set a retired twin aside; the platform property filterOutDecommissionedCI drops retired CIs after any rule.</a:t>
            </a:r>
            <a:endParaRPr lang="en-US" sz="1050" dirty="0"/>
          </a:p>
        </p:txBody>
      </p:sp>
      <p:sp>
        <p:nvSpPr>
          <p:cNvPr id="7" name="Shape 5"/>
          <p:cNvSpPr/>
          <p:nvPr/>
        </p:nvSpPr>
        <p:spPr>
          <a:xfrm>
            <a:off x="6231636"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8" name="Text 6"/>
          <p:cNvSpPr txBox="1"/>
          <p:nvPr/>
        </p:nvSpPr>
        <p:spPr>
          <a:xfrm>
            <a:off x="6505956"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CLASS FROM THE SCANNED OS</a:t>
            </a:r>
            <a:endParaRPr lang="en-US" sz="950" dirty="0"/>
          </a:p>
        </p:txBody>
      </p:sp>
      <p:sp>
        <p:nvSpPr>
          <p:cNvPr id="9" name="Text 7"/>
          <p:cNvSpPr txBox="1"/>
          <p:nvPr/>
        </p:nvSpPr>
        <p:spPr>
          <a:xfrm>
            <a:off x="6505956"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classFor(OS).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Lower-cased OS text; three or more "/"-separated guesses give no class. Keywords in order, first hit wins: esx; windows (with server) / windows; aix; solaris, sunos; hp-ux; netapp, ontap; printer, laserjet, jetdirect; red hat, linux, centos, ubuntu, suse, debian, fedora, euleros, oracle enterprise, amazon; nx-os, catos, cisco.</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ESX Server, Windows Server or Computer, AIX Server, Solaris Server, HP-UX Server, Storage Server, Printer, Linux Server, Network Gear. Anything else: no class.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 rules.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Search the OS class and its sub-classes only, and decline without a class. Hardware rules search the whole cmdb_ci_hardware tree and keep the OS class as a preference.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 agreement.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agrees(cls): the CI class equals the OS class, sits beneath it or above it (parentsOf through sys_db_object.super_class). A Cisco IOS router therefore never lands on a Computer.</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Appliances.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In Layered DNS Match and Hostname Hardware Match a Linux fingerprint also agrees with Network Gear, Load Balancer and Storage Server records, because appliances answer scans as Linux.</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Load balancer devices.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A cmdb_ci_lb record is never accepted as the host behind a name or an address; the virtual server rules handle those addresses instead.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Host name agreement.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IP rules also require the CI's first name label to equal the scanned label, or to differ from it only by a hyphenated suffix such as -mgmt.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signs the scripts look for</a:t>
            </a:r>
            <a:endParaRPr lang="en-US" sz="2800" dirty="0"/>
          </a:p>
        </p:txBody>
      </p:sp>
      <p:sp>
        <p:nvSpPr>
          <p:cNvPr id="4" name="Shape 2"/>
          <p:cNvSpPr/>
          <p:nvPr/>
        </p:nvSpPr>
        <p:spPr>
          <a:xfrm>
            <a:off x="457200"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SERIALS, PHONES, CONTROLLERS</a:t>
            </a:r>
            <a:endParaRPr lang="en-US" sz="950" dirty="0"/>
          </a:p>
        </p:txBody>
      </p:sp>
      <p:sp>
        <p:nvSpPr>
          <p:cNvPr id="6" name="Text 4"/>
          <p:cNvSpPr txBox="1"/>
          <p:nvPr/>
        </p:nvSpPr>
        <p:spPr>
          <a:xfrm>
            <a:off x="731520"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Placeholder serials.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Refused when shorter than four characters or one of: 0, none, n/a, na, unknown, empty, not specified, not available, no serial, default string, to be filled by o.e.m., system serial number, chassis serial number, 0123456789, 1234567890.</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Cisco phones.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DNS label ^sep([0-9a-f]{12})$: the twelve hex characters are the MAC, rebuilt in four spellings (64:F6:9D:D5:C9:B0, lower case, 64F69DD5C9B0, lower case). Search: a network adapter with that MAC owned by an IP Phone, then the phone's own mac_address, then the Unified CM device name SEP... in upper case.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Other phones and scanners.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No MAC in the name (Avaya avx... stations, scanners). The host label is searched by name in IP Phone and Imaging Hardware only, outside the hardware tree. Declined when the OS gives a server or desktop class (Linux excepted) unless the OS text says phone; several hits: the one on the scanned address.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Management controllers.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Label tail after the last hyphen in ilo, ilom, idrac, drac, ipmi, bmc, oob, mgmt, imm, cimc, rmm, con, or OS text with ilo, ilom, idrac, drac, remote access controller, imm, cimc, bmc, ipmi, lights out. The label before the hyphen is the server name, searched hardware-wide; a load balancer device is refused.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Network interfaces.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DNS in a .network. domain, or a hyphen segment that is an interface marker: vlan, v, hsrp, vrrp, po, eth, gi, te, lo, mgmt, aom, vs, fab, whole or followed by digits. Prefixes are tried longest first on Network Gear and Load Balancer devices; two hits decline.</a:t>
            </a:r>
            <a:endParaRPr lang="en-US" sz="1050" dirty="0"/>
          </a:p>
        </p:txBody>
      </p:sp>
      <p:sp>
        <p:nvSpPr>
          <p:cNvPr id="7" name="Shape 5"/>
          <p:cNvSpPr/>
          <p:nvPr/>
        </p:nvSpPr>
        <p:spPr>
          <a:xfrm>
            <a:off x="6231636"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8" name="Text 6"/>
          <p:cNvSpPr txBox="1"/>
          <p:nvPr/>
        </p:nvSpPr>
        <p:spPr>
          <a:xfrm>
            <a:off x="6505956"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VIRTUAL SERVERS, NAMES, ADDRESSES</a:t>
            </a:r>
            <a:endParaRPr lang="en-US" sz="950" dirty="0"/>
          </a:p>
        </p:txBody>
      </p:sp>
      <p:sp>
        <p:nvSpPr>
          <p:cNvPr id="9" name="Text 7"/>
          <p:cNvSpPr txBox="1"/>
          <p:nvPr/>
        </p:nvSpPr>
        <p:spPr>
          <a:xfrm>
            <a:off x="6505956"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Virtual server sign.  </a:t>
            </a:r>
            <a:pPr indent="0" marL="0">
              <a:spcAft>
                <a:spcPts val="500"/>
              </a:spcAft>
              <a:buNone/>
            </a:pPr>
            <a:r>
              <a:rPr lang="en-US" sz="1050" dirty="0">
                <a:solidFill>
                  <a:srgbClr val="24272A"/>
                </a:solidFill>
                <a:latin typeface="Arial" pitchFamily="34" charset="0"/>
                <a:ea typeface="Arial" pitchFamily="34" charset="-122"/>
                <a:cs typeface="Arial" pitchFamily="34" charset="-120"/>
              </a:rPr>
              <a:t>OS text with f5, big-ip, big ip or netscaler, or a label segment vip or vs (vip, vip2, ...-vip, vs1). Load Balancer Service searched on fqdn, then name, then the label, then ip_address.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Twins.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Several service records of one name are one virtual server recorded more than once (HA pair, test copy): kept to the one on the scanned address, then the live one. Two different names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Member rule.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Service to pools to pool members through cmdb_rel_ci, each member to its server record (in cmdb_ci_hardware, not ignored, not a balancer). One machine behind every member returns the server; a member the CMDB cannot place, several machines or two live records of one machine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Service rule.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Never reads the pool. Attaches the one live virtual server record; two live twins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Names.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FQDN rules: the whole dotted name on fqdn. FQDN Name rules: the whole dotted name on the name field. Host name rules: the first label on name. Domain rules: the first label on name and the rest on dns_domain. A bare label without a dot declines the FQDN rules.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Addresses.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ip_address on the OS class, then on the hardware tree; then the adapter walk (cmdb_ci_network_adapter.ip_address to cmdb_ci) and the IP Address record walk (cmdb_ci_ip_address to nic.cmdb_ci), distinct owners counted, class and host name agreement on the one owner.</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Last resort.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FQDN Name Broad Match searches the whole cmdb_ci table by name when everything else declined, still one record only.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chain at a glance: first rule to answer wins</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640080"/>
                <a:gridCol w="2743200"/>
                <a:gridCol w="2651760"/>
                <a:gridCol w="5239512"/>
              </a:tblGrid>
              <a:tr h="214884">
                <a:tc>
                  <a:txBody>
                    <a:bodyPr/>
                    <a:lstStyle/>
                    <a:p>
                      <a:pPr indent="0" marL="0">
                        <a:buNone/>
                      </a:pPr>
                      <a:r>
                        <a:rPr lang="en-US" sz="900" b="1" dirty="0">
                          <a:solidFill>
                            <a:srgbClr val="FFFFFF"/>
                          </a:solidFill>
                          <a:latin typeface="Arial" pitchFamily="34" charset="0"/>
                          <a:ea typeface="Arial" pitchFamily="34" charset="-122"/>
                          <a:cs typeface="Arial" pitchFamily="34" charset="-120"/>
                        </a:rPr>
                        <a:t>Order</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Rule</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Reads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Returns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175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the OS class carrying the serial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180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carrying the serial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Cisco IP Phone MAC</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label sep + MAC</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IP Phone owning that MAC</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OS,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the OS class whose fqdn is the name; IP breaks a tie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whose fqdn is the name; IP breaks a tie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OS,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the OS class named with the label and the domain</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named with the label and the domain</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Layered DNS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OS,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reached through DNS Name, IP Address and adapter records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the OS class named with the label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named with the label whose class agrees with the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Device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OS, IP</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IP Phone or Imaging Hardware CI named with the label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420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Management Interface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named with the label minus its controller suffix</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Network Interface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Network Gear or Load Balancer named with the longest prefix</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named with the whole fqdn</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Member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 DNS,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real server behind every member of the virtual server</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Service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 DNS, OS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live Load Balancer Service record of the virtual server</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 OS, DNS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the OS class carrying the address, name agreeing</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 OS, DNS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hardware CI carrying the address, class and name agreeing</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Adapter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 OS, DNS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owning an adapter on the address, class and name agreeing</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740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Layered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IP, OS, DNS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behind an IP Address record on the address, class and name agreeing</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850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Broad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one CI of any class named with the whole fqdn</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11247120" cy="182880"/>
          </a:xfrm>
          <a:prstGeom prst="rect">
            <a:avLst/>
          </a:prstGeom>
          <a:noFill/>
          <a:ln/>
        </p:spPr>
        <p:txBody>
          <a:bodyPr wrap="square" lIns="0" tIns="0" rIns="0" bIns="0" rtlCol="0" anchor="ctr"/>
          <a:lstStyle/>
          <a:p>
            <a:pPr indent="0" marL="0">
              <a:buNone/>
            </a:pPr>
            <a:r>
              <a:rPr lang="en-US" sz="800" dirty="0">
                <a:solidFill>
                  <a:srgbClr val="6B7177"/>
                </a:solidFill>
                <a:latin typeface="Arial" pitchFamily="34" charset="0"/>
                <a:ea typeface="Arial" pitchFamily="34" charset="-122"/>
                <a:cs typeface="Arial" pitchFamily="34" charset="-120"/>
              </a:rPr>
              <a:t>After the USEM rules the platform's own rules run (FQDN, NetBIOS, DNS). Rules that return nothing hand the host to the next one.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SERIAL_NUMBER (sourceValue) plus sourcePayload.OS; the IP and DNS fields are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none, it opens the chain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Serial Number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25,257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Qualys SERIAL_NUMBER, the one identifier that stays with a machine while names and addresses get reused, but only inside the CMDB class the scanned OS text points at, so a Red Hat host can land only on a Linux Server and a Windows Server carrying the same serial is never seen. It opens the chain because a unique serial inside the right class is the strongest identifier the feed offers.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serial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Trim the serial.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sourceValue is coerced to a string and trimmed; that trimmed value, with its case unchanged, is the value the search uses. Sample: 'VMware-42 1a 9c 3f 7d 2e 61 b8-55 04 e2 91 6a 27 c3 08' passes through untouched.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Placeholder and length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ignored classes.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classFor(sourcePayload.OS) casts the OS to a lower-cased string; more than two '/'-separated parts gives no class; else the first keyword hit in order (esx, windows, aix, solaris, hp-ux, netapp, printer, linux, cisco) names the class. No class: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Open the class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is opened on the class chosen; its sub-classes come along by table inheritance. If gr.isValid() is false the class is not installed on the instance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serial inside the class.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addQuery('serial_number', serial) as an exact match, plus addQuery('sys_class_name', 'NOT IN', ignore) when the ignore list is non-empty; then query() with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getUniqueValue() is held; if hasNext() is true a second CI in the class carries the same serial (cloned VM, serial typed on the wrong record) and the rule returns null; else the held sys_id is returned.</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serial is shorter than four characters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serial is one of the placeholder tokens in the junk list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sourcePayload.OS is empty or contains none of the classFor keywords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OS text holds three or more '/'-separated guesses (split('/').length &gt; 2)</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named by classFor is not valid on the instance (gr.isValid()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in that class (sub-classes included, ignored classes excluded) carries the serial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in that class carry the serial (hasNext() true), whatever their state, class depth or address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usvmapcftmrc15.ssc.ext.bankofamerica.com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SDI000002148411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usvmapcftmrc15.ssc.ext.bankofamerica.com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30.122.224.209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2016 Standard 64 bit Edition Version 1607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39 43 40 ea 20 22-2b 99 7d 0f 4e e1 9e 59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06:05:16</a:t>
            </a:r>
            <a:endParaRPr lang="en-US" sz="1250" dirty="0"/>
          </a:p>
        </p:txBody>
      </p:sp>
      <p:sp>
        <p:nvSpPr>
          <p:cNvPr id="8" name="Text 6">
            <a:hlinkClick r:id="rId1" tooltip="https://bofasecopsdev.service-now.com/sn_sec_cmn_src_ci_list.do?sysparm_query=number=SDI00000214841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36118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First rule of the chain: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serial is searched inside the OS class before any name or address is read</a:t>
            </a:r>
            <a:endParaRPr lang="en-US" sz="950" dirty="0"/>
          </a:p>
        </p:txBody>
      </p:sp>
      <p:sp>
        <p:nvSpPr>
          <p:cNvPr id="12" name="Shape 10"/>
          <p:cNvSpPr/>
          <p:nvPr/>
        </p:nvSpPr>
        <p:spPr>
          <a:xfrm>
            <a:off x="3922776" y="2189988"/>
            <a:ext cx="4617720" cy="0"/>
          </a:xfrm>
          <a:prstGeom prst="line">
            <a:avLst/>
          </a:prstGeom>
          <a:noFill/>
          <a:ln w="9525">
            <a:solidFill>
              <a:srgbClr val="DDE0E3"/>
            </a:solidFill>
            <a:prstDash val="solid"/>
          </a:ln>
        </p:spPr>
      </p:sp>
      <p:sp>
        <p:nvSpPr>
          <p:cNvPr id="13" name="Text 11"/>
          <p:cNvSpPr txBox="1"/>
          <p:nvPr/>
        </p:nvSpPr>
        <p:spPr>
          <a:xfrm>
            <a:off x="3922776" y="228142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555748"/>
            <a:ext cx="4617720" cy="302209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"VMware-42 0c 39 43 40 ea 20 22-2b 99 7d 0f 4e e1 9e 59"</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"Windows Server 2016 Standard 64 bit Edition Version 1607"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usvmapcftmrc15 [win_server] ip 30.122.224.209 -&gt;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usvmapcftmrc15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usvmapcftmrc15.ssc.ext.bankofamerica.com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30.122.224.209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39 43 40 ea 20 22-2b 99 7d 0f 4e e1 9e 59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7e63ec2a3b84e250d5062b64c3e45a11"/>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7e63ec2a3b84e250d5062b64c3e45a11"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usvmapcftmrc19.ssc.ext.bankofamerica.com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SDI000002148409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usvmapcftmrc19.ssc.ext.bankofamerica.com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30.122.225.90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2016 Standard 64 bit Edition Version 1607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a4 1f 8c fb 62 d6-3c 2e 16 0e 2d ed 1d 56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06:05:15</a:t>
            </a:r>
            <a:endParaRPr lang="en-US" sz="1250" dirty="0"/>
          </a:p>
        </p:txBody>
      </p:sp>
      <p:sp>
        <p:nvSpPr>
          <p:cNvPr id="8" name="Text 6">
            <a:hlinkClick r:id="rId1" tooltip="https://bofasecopsdev.service-now.com/sn_sec_cmn_src_ci_list.do?sysparm_query=number=SDI00000214840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0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36118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First rule of the chain: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serial is searched inside the OS class before any name or address is read</a:t>
            </a:r>
            <a:endParaRPr lang="en-US" sz="950" dirty="0"/>
          </a:p>
        </p:txBody>
      </p:sp>
      <p:sp>
        <p:nvSpPr>
          <p:cNvPr id="12" name="Shape 10"/>
          <p:cNvSpPr/>
          <p:nvPr/>
        </p:nvSpPr>
        <p:spPr>
          <a:xfrm>
            <a:off x="3922776" y="2189988"/>
            <a:ext cx="4617720" cy="0"/>
          </a:xfrm>
          <a:prstGeom prst="line">
            <a:avLst/>
          </a:prstGeom>
          <a:noFill/>
          <a:ln w="9525">
            <a:solidFill>
              <a:srgbClr val="DDE0E3"/>
            </a:solidFill>
            <a:prstDash val="solid"/>
          </a:ln>
        </p:spPr>
      </p:sp>
      <p:sp>
        <p:nvSpPr>
          <p:cNvPr id="13" name="Text 11"/>
          <p:cNvSpPr txBox="1"/>
          <p:nvPr/>
        </p:nvSpPr>
        <p:spPr>
          <a:xfrm>
            <a:off x="3922776" y="228142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555748"/>
            <a:ext cx="4617720" cy="302209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"VMware-42 0c a4 1f 8c fb 62 d6-3c 2e 16 0e 2d ed 1d 56"</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"Windows Server 2016 Standard 64 bit Edition Version 1607"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usvmapcftmrc19 [win_server] ip 30.122.225.90 -&gt;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usvmapcftmrc19</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usvmapcftmrc19.ssc.ext.bankofamerica.com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30.122.225.90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a4 1f 8c fb 62 d6-3c 2e 16 0e 2d ed 1d 56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b663ec2a3b84e250d5062b64c3e45a0e"/>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b663ec2a3b84e250d5062b64c3e45a0e"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usvmapcftmrc16.ssc.ext.bankofamerica.com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SDI000002148406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usvmapcftmrc16.ssc.ext.bankofamerica.com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30.122.227.184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2016 Standard 64 bit Edition Version 1607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68 79 99 0f 5a 53-34 17 7f 27 62 10 6e de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06:05:14</a:t>
            </a:r>
            <a:endParaRPr lang="en-US" sz="1250" dirty="0"/>
          </a:p>
        </p:txBody>
      </p:sp>
      <p:sp>
        <p:nvSpPr>
          <p:cNvPr id="8" name="Text 6">
            <a:hlinkClick r:id="rId1" tooltip="https://bofasecopsdev.service-now.com/sn_sec_cmn_src_ci_list.do?sysparm_query=number=SDI00000214840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0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36118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First rule of the chain: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serial is searched inside the OS class before any name or address is read</a:t>
            </a:r>
            <a:endParaRPr lang="en-US" sz="950" dirty="0"/>
          </a:p>
        </p:txBody>
      </p:sp>
      <p:sp>
        <p:nvSpPr>
          <p:cNvPr id="12" name="Shape 10"/>
          <p:cNvSpPr/>
          <p:nvPr/>
        </p:nvSpPr>
        <p:spPr>
          <a:xfrm>
            <a:off x="3922776" y="2189988"/>
            <a:ext cx="4617720" cy="0"/>
          </a:xfrm>
          <a:prstGeom prst="line">
            <a:avLst/>
          </a:prstGeom>
          <a:noFill/>
          <a:ln w="9525">
            <a:solidFill>
              <a:srgbClr val="DDE0E3"/>
            </a:solidFill>
            <a:prstDash val="solid"/>
          </a:ln>
        </p:spPr>
      </p:sp>
      <p:sp>
        <p:nvSpPr>
          <p:cNvPr id="13" name="Text 11"/>
          <p:cNvSpPr txBox="1"/>
          <p:nvPr/>
        </p:nvSpPr>
        <p:spPr>
          <a:xfrm>
            <a:off x="3922776" y="228142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555748"/>
            <a:ext cx="4617720" cy="302209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"VMware-42 0c 68 79 99 0f 5a 53-34 17 7f 27 62 10 6e de"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"Windows Server 2016 Standard 64 bit Edition Version 1607"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usvmapcftmrc16 [win_server] ip 30.122.227.184 -&gt;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usvmapcftmrc16</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usvmapcftmrc16.ssc.ext.bankofamerica.com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30.122.227.184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68 79 99 0f 5a 53-34 17 7f 27 62 10 6e de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f663ec2a3b84e250d5062b64c3e45a04"/>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f663ec2a3b84e250d5062b64c3e45a04"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SERIAL_NUMBER (sourceValue) only; the OS, IP and DNS fields of the payload are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Serial Number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Cisco IP Phone MAC</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574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Second and last serial rule: the same serial search, but across the whole hardware tree (cmdb_ci_hardware and every class beneath it: servers, computers, network gear, storage, printers). It exists for hosts whose OS gives no usable class (unauthenticated scans listing several guesses) and for CIs that sit in a different class than the OS suggests; its only safety is that the serial must belong to exactly one CI in the whole tree.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serial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Trim the serial.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sourceValue is coerced to a string and trimmed; that trimmed value, with its case unchanged, is the value the search uses. Sample: 'MXQ13005TC'.</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Placeholder and length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ignored classes.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serial across the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on cmdb_ci_hardware (no isValid check, no class restriction, the OS never consulted): addQuery('serial_number', serial) exact match, addQuery('sys_class_name', 'NOT IN', ignore) when the list is non-empty, then query(),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getUniqueValue() is held; if hasNext() is true a second hardware CI of any class carries the serial (say a Storage Server with that value) and the rule returns null; else the held sys_id is returned.</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serial is shorter than four characters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serial is one of the placeholder tokens in the junk list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(ignored classes excluded) carries the serial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under cmdb_ci_hardware carry the serial, in the same or different classes, whatever their state or address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wb9492p203.gwm.bankofamerica.com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SDI000002368092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wb9492p203.gwm.bankofamerica.com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30.218.145.248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MXBCS730XY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02:19:45</a:t>
            </a:r>
            <a:endParaRPr lang="en-US" sz="1250" dirty="0"/>
          </a:p>
        </p:txBody>
      </p:sp>
      <p:sp>
        <p:nvSpPr>
          <p:cNvPr id="8" name="Text 6">
            <a:hlinkClick r:id="rId1" tooltip="https://bofasecopsdev.service-now.com/sn_sec_cmn_src_ci_list.do?sysparm_query=number=SDI00000236809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680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carries the serial</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"MXBCS730XY"</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the whole hardware tree, the OS is not read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npifdcd73 [printer] ip 30.218.145.248 -&gt;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npifdcd73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30.218.145.248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MXBCS730XY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Color LaserJet MFP X57945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694be8342bc6ae54d50dffbdbe91bf87"/>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694be8342bc6ae54d50dffbdbe91bf87"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azgndgd01p02.bankofamerica.com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SDI000002326199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azgndgd01p02.bankofamerica.com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10.136.88.137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VNCCSB20Y7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02:18:50</a:t>
            </a:r>
            <a:endParaRPr lang="en-US" sz="1250" dirty="0"/>
          </a:p>
        </p:txBody>
      </p:sp>
      <p:sp>
        <p:nvSpPr>
          <p:cNvPr id="8" name="Text 6">
            <a:hlinkClick r:id="rId1" tooltip="https://bofasecopsdev.service-now.com/sn_sec_cmn_src_ci_list.do?sysparm_query=number=SDI00000232619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261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printer carries the serial</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"VNCCSB20Y7"</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the whole hardware tree, the OS is not read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VNCCSB20Y7 - LASERJET ENT M507DN [hardware]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hardware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VNCCSB20Y7 - LASERJET ENT M507DN</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Hardware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VNCCSB20Y7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LASERJET ENT M507DN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hardware.do?sys_id=9a3819182ba72e54d28af8a4ce91bfa1"/>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hardware.do?sys_id=9a3819182ba72e54d28af8a4ce91bfa1"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ny1-100-33-p103.bankofamerica.com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SDI000002390879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ny1-100-33-p103.bankofamerica.com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171.199.58.251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MXBCS6D1LS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02:18:29</a:t>
            </a:r>
            <a:endParaRPr lang="en-US" sz="1250" dirty="0"/>
          </a:p>
        </p:txBody>
      </p:sp>
      <p:sp>
        <p:nvSpPr>
          <p:cNvPr id="8" name="Text 6">
            <a:hlinkClick r:id="rId1" tooltip="https://bofasecopsdev.service-now.com/sn_sec_cmn_src_ci_list.do?sysparm_query=number=SDI00000239087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9087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carries the serial</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"MXBCS6D1LS"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the whole hardware tree, the OS is not read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ny1-100-33-p103 [printer] ip 171.199.58.251 -&gt;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ny1-100-33-p103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171.199.58.251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MXBCS6D1LS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Color LaserJet MFP X57945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084b28342bc6ae54d50dffbdbe91bfc9"/>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084b28342bc6ae54d50dffbdbe91bfc9"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PHONE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Cisco IP Phone MAC</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Serial Number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196,849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Cisco Unified CM device-name convention: the first DNS label is SEP followed by the phone's MAC address. It sits after the serial number rules (phones report no serial) and before the FQDN and hostname rules so a phone label is never tried as a server name; it searches only IP Phone CIs, so a MAC clash can never pull in a switch or a server.</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at once when sourceValue (the DNS field) is empty. sourcePayload is never read: the rule works from the DNS name alone, so OS and IP play no part.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Phone label test.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String-coerces the DNS value (no trim), takes the first label before the first dot and lower-cases it. The label must match ^sep([0-9a-f]{12})$ exactly: literal sep plus twelve hex characters; anything else (a server named sepulveda01)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MAC rebuilt in four spellings.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twelve hex characters are cut into six two-character pairs joined with colons. Four candidates are built in this order: colon form upper case, colon form lower case, plain hex upper case, plain hex lower case (64:F6:9D:D5:C9:B0 to 64f69dd5c9b0).</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the ignored classes from the framework variable _ignoreClass when defined and non-empty, otherwise from gs.getProperty sn_sec_cmn.ignoreCIClass with an empty default. Applied to the second and third attempts only, not to the adapter attempt.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1: adapter owned by an IP phone.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cmdb_ci_network_adapter where mac_address IN the four candidates and cmdb_ci is not empty. Each adapter's owner sys_id is tested with a GlideRecord get on cmdb_ci_ip_phone; distinct IP Phone owners are counted once each in a map.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1 decision.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distinct IP Phone owner returns that owner's sys_id. Zero owners, or two or more phones sharing the MAC on adapters, fall through to the next attempt. An adapter owned by a switch or server is skipped because the get on cmdb_ci_ip_phone fails.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2: MAC on the phone record.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cmdb_ci_ip_phone (sub-classes included) where mac_address IN the four candidates, with sys_class_name NOT IN the ignore list when it is non-empty. next() then hasNext(): one row returns its sys_id; none or several rows fall through to the name attempt.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3: Unified CM device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cmdb_ci_ip_phone where name equals the label upper-cased (SEP64F69DD5C9B0), sys_class_name NOT IN the ignore list when non-empty. No row returns null; next() then hasNext() true returns null; one row returns its sys_id. No setLimit anywhere.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(DNS)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first DNS label does not match ^sep([0-9a-f]{12})$: not a Cisco Unified CM phone label; the host passes to the next rule untouched.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IP Phone is found by adapter MAC, by the mac_address field or by the device 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name attempt finds two or more cmdb_ci_ip_phone records named with the device name (hasNext true).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phones share the MAC on adapters or on mac_address and the name attempt then finds none or several: a shared MAC never declines by itself.</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sep6c710d8adc3b.ipt.bofa.com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SDI000002627752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sep6c710d8adc3b.ipt.bofa.com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03:28:09</a:t>
            </a:r>
            <a:endParaRPr lang="en-US" sz="1250" dirty="0"/>
          </a:p>
        </p:txBody>
      </p:sp>
      <p:sp>
        <p:nvSpPr>
          <p:cNvPr id="8" name="Text 6">
            <a:hlinkClick r:id="rId1" tooltip="https://bofasecopsdev.service-now.com/sn_sec_cmn_src_ci_list.do?sysparm_query=number=SDI00000262775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277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"sep6c710d8adc3b" matches sep plus twelve hex characters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6C:71:0D:8A:DC:3B, 6c:71:0d:8a:dc:3b, 6C710D8ADC3B, 6c710d8adc3b</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0 adapters -&gt; 0 phone owners, next attempt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SEP6C710D8ADC3B [ip_phone] ip 10.188.95.168 -&gt; exactly one, accepted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SEP6C710D8ADC3B [ip_phone] ip 10.188.95.168 -&gt;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SEP6C710D8ADC3B</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FCH2346EAUJ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6c:71:0d:8a:dc:3b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df221eb33be96210df0f0c54c3e45adf"/>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df221eb33be96210df0f0c54c3e45adf"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sep6026aa8f08cd.ipt.bofa.com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SDI000002617321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sep6026aa8f08cd.ipt.bofa.com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10.188.41.140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03:28:02</a:t>
            </a:r>
            <a:endParaRPr lang="en-US" sz="1250" dirty="0"/>
          </a:p>
        </p:txBody>
      </p:sp>
      <p:sp>
        <p:nvSpPr>
          <p:cNvPr id="8" name="Text 6">
            <a:hlinkClick r:id="rId1" tooltip="https://bofasecopsdev.service-now.com/sn_sec_cmn_src_ci_list.do?sysparm_query=number=SDI00000261732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732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"sep6026aa8f08cd" matches sep plus twelve hex characters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60:26:AA:8F:08:CD, 60:26:aa:8f:08:cd, 6026AA8F08CD, 6026aa8f08cd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0 adapters -&gt; 0 phone owners, next attempt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SEP6026AA8F08CD [ip_phone] ip 10.188.41.140 -&gt; exactly one, accepted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SEP6026AA8F08CD [ip_phone] ip 10.188.41.140 -&gt;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SEP6026AA8F08CD</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10.188.41.140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FCH26223JSR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60:26:aa:8f:08:cd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3e7fc2bf3b696210df0f0c54c3e45ab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3e7fc2bf3b696210df0f0c54c3e45ab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sep3c26e4a7cb09.ipt.bofa.com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SDI000002619434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sep3c26e4a7cb09.ipt.bofa.com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03:27:03</a:t>
            </a:r>
            <a:endParaRPr lang="en-US" sz="1250" dirty="0"/>
          </a:p>
        </p:txBody>
      </p:sp>
      <p:sp>
        <p:nvSpPr>
          <p:cNvPr id="8" name="Text 6">
            <a:hlinkClick r:id="rId1" tooltip="https://bofasecopsdev.service-now.com/sn_sec_cmn_src_ci_list.do?sysparm_query=number=SDI00000261943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94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"sep3c26e4a7cb09" matches sep plus twelve hex characters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3C:26:E4:A7:CB:09, 3c:26:e4:a7:cb:09, 3C26E4A7CB09, 3c26e4a7cb09</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0 adapters -&gt; 0 phone owners, next attempt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SEP3C26E4A7CB09 [ip_phone] ip 10.188.95.137 -&gt; exactly one, accepted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SEP3C26E4A7CB09 [ip_phone] ip 10.188.95.137 -&gt;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SEP3C26E4A7CB09</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FCH263122ZJ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3c:26:e4:a7:cb:09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57a9c2b33be56210df0f0c54c3e45a65"/>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57a9c2b33be56210df0f0c54c3e45a65"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Cisco IP Phone MAC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298,764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an exact fqdn value on a CI, but only inside the CMDB class the scanned OS text implies (sub-classes included), so a Red Hat host can never land on a Windows Server that carries the same fqdn. It is the first name rule because an exact fqdn is the most precise name identifier available once the serial number and Cisco phone rules have declined.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classFor(sourcePayload.OS) returns '' for an absent OS; else it lower-cases the string, returns '' when splitting on '/' yields more than two parts, then tests fixed substrings in order (esx, windows, aix, ...). An empty result returns null before any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OS class for the exact fqdn.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the class table classFor returned (null when isValid() is false), addQuery('fqdn', normalised name), the NOT IN ignore condition when set, then query(). Sub-classes come in through the table hierarchy;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hit and every IP-confirmed hit.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retired, twin or agreement handling.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script tests neither install_status nor operational_status and never compares the CI's sys_class_name with the OS class after the query: a retired CI with the same fqdn is an ordinary duplicate that only the IP can separate.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returns '': OS absent, OS with more than two '/'-separated parts, or no keyword found in the OS text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classFor named is not a valid table (gr.isValid() is false)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outside the ignored classes carries the scanned name in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the payload has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none of them has 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two or more of them have ip_address equal to the scanned IP</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wrdne67svtsrv.bankofamerica.com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SDI000002151366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wrdne67svtsrv.bankofamerica.com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171.206.171.82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2016 Standard 64 bit Edition Version 1607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WRDNE67SVTSRV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06:07:36</a:t>
            </a:r>
            <a:endParaRPr lang="en-US" sz="1250" dirty="0"/>
          </a:p>
        </p:txBody>
      </p:sp>
      <p:sp>
        <p:nvSpPr>
          <p:cNvPr id="8" name="Text 6">
            <a:hlinkClick r:id="rId1" tooltip="https://bofasecopsdev.service-now.com/sn_sec_cmn_src_ci_list.do?sysparm_query=number=SDI00000215136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5136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"wrdne67svtsrv" is not sep + 12 hex</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"wrdne67svtsrv.bankofamerica.com"; OS "Windows Server 2016 Standard 64 bit Edition Version 1607"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wrdne67svtsrv [win_server] ip 171.206.171.82 -&gt;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wrdne67svtsrv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wrdne67svtsrv.bankofamerica.com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171.206.171.82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06 ac f5 2d c4 52 26-24 14 b8 b2 8c 6d ee 91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2127d1bb3bd8ea90d5062b64c3e45ab9"/>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2127d1bb3bd8ea90d5062b64c3e45ab9"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lrdnab68xsdi008.sdi.corp.bankofamerica.com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SDI000003676655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lrdnab68xsdi008.sdi.corp.bankofamerica.com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30.164.8.51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06:07:36</a:t>
            </a:r>
            <a:endParaRPr lang="en-US" sz="1250" dirty="0"/>
          </a:p>
        </p:txBody>
      </p:sp>
      <p:sp>
        <p:nvSpPr>
          <p:cNvPr id="8" name="Text 6">
            <a:hlinkClick r:id="rId1" tooltip="https://bofasecopsdev.service-now.com/sn_sec_cmn_src_ci_list.do?sysparm_query=number=SDI00000367665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665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"lrdnab68xsdi008" is not sep + 12 hex</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"lrdnab68xsdi008.sdi.corp.bankofamerica.com"; OS "Red Hat Enterprise Linux CoreOS 4.18"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lrdnab68xsdi008 [linux_server] ip 30.164.8.51 -&gt;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lrdnab68xsdi008</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lrdnab68xsdi008.sdi.corp.bankofamerica.com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30.164.8.51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1VBSVM3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0873ca94fbf0ee502fe7f7ad5eefdc48"/>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0873ca94fbf0ee502fe7f7ad5eefdc48"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usvmsqhalc01.corp.bankofamerica.com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SDI000003129659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usvmsqhalc01.corp.bankofamerica.com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30.57.56.14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USVMSQHALC01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06:07:36</a:t>
            </a:r>
            <a:endParaRPr lang="en-US" sz="1250" dirty="0"/>
          </a:p>
        </p:txBody>
      </p:sp>
      <p:sp>
        <p:nvSpPr>
          <p:cNvPr id="8" name="Text 6">
            <a:hlinkClick r:id="rId1" tooltip="https://bofasecopsdev.service-now.com/sn_sec_cmn_src_ci_list.do?sysparm_query=number=SDI00000312965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5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"usvmsqhalc01" is not sep + 12 hex</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"usvmsqhalc01.corp.bankofamerica.com"; OS "Windows Server 2019 Standard 64 bit Edition Version 1809 Build 17763"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usvmsqhalc01 [win_server] ip 30.57.56.14 -&gt;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usvmsqhalc01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usvmsqhalc01.corp.bankofamerica.com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30.57.56.14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1f c2 f2 64 7c 62 54-97 5f 7a e1 cb 6d 08 42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b3cab1bb93d8ee5007a4f84958373cba"/>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b3cab1bb93d8ee5007a4f84958373cba"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 IP (tie-break between duplicate fqdn rows only). OS is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Domain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82,224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an exact fqdn value on any CI under cmdb_ci_hardware without consulting the OS, so hosts whose OS gives no class (multi-guess fingerprints) or whose CI is kept in a generic or different class still match on the fqdn field. It follows USEM FQDN Class Match because the class-restricted search is the more precise of the two.</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for the exact fqdn.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GlideRecord('cmdb_ci_hardware') (null when isValid() is false), addQuery('fqdn', normalised name), the NOT IN ignore condition when set, then query(). Hardware and every class beneath it are searched; the OS is not consulted;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hit and every IP-confirmed hit.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retired, twin or agreement handling.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No status test and no class agreement: a Windows Server, a Linux Server and a retired duplicate all carrying the fqdn are equal duplicates that only the scanned IP can separate.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GlideRecord('cmdb_ci_hardware').isValid() is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outside the ignored classes carries the scanned name in fqdn</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the payload has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none of them has 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two or more of them have ip_address equal to the scanned IP</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lclte0ln.bankofamerica.com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SDI000003651953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lclte0ln.bankofamerica.com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171.206.171.75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EulerOS / Ubuntu / Fedora / Tiny Core Linux / Linux 3.x / IBM / FortiSOAR / F5 Networks Big-IP / Paloalto networks Global Protect PAN-OS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05:58:21</a:t>
            </a:r>
            <a:endParaRPr lang="en-US" sz="1250" dirty="0"/>
          </a:p>
        </p:txBody>
      </p:sp>
      <p:sp>
        <p:nvSpPr>
          <p:cNvPr id="8" name="Text 6">
            <a:hlinkClick r:id="rId1" tooltip="https://bofasecopsdev.service-now.com/sn_sec_cmn_src_ci_list.do?sysparm_query=number=SDI00000365195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9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75438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"lclte0ln"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"EulerOS / Ubuntu / Fedora / Tiny Core Linux / Linux 3.x / IBM / FortiSOAR / F5 Networks Big-IP / Paloalto networks Global Protect PAN-OS" gives no class</a:t>
            </a:r>
            <a:endParaRPr lang="en-US" sz="950" dirty="0"/>
          </a:p>
        </p:txBody>
      </p:sp>
      <p:sp>
        <p:nvSpPr>
          <p:cNvPr id="12" name="Shape 10"/>
          <p:cNvSpPr/>
          <p:nvPr/>
        </p:nvSpPr>
        <p:spPr>
          <a:xfrm>
            <a:off x="3922776" y="2583180"/>
            <a:ext cx="4617720" cy="0"/>
          </a:xfrm>
          <a:prstGeom prst="line">
            <a:avLst/>
          </a:prstGeom>
          <a:noFill/>
          <a:ln w="9525">
            <a:solidFill>
              <a:srgbClr val="DDE0E3"/>
            </a:solidFill>
            <a:prstDash val="solid"/>
          </a:ln>
        </p:spPr>
      </p:sp>
      <p:sp>
        <p:nvSpPr>
          <p:cNvPr id="13" name="Text 11"/>
          <p:cNvSpPr txBox="1"/>
          <p:nvPr/>
        </p:nvSpPr>
        <p:spPr>
          <a:xfrm>
            <a:off x="3922776" y="267462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948940"/>
            <a:ext cx="4617720" cy="262890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"lclte0ln.bankofamerica.com";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lclte0ln [linux_server] ip 171.206.171.75 -&gt;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lclte0ln</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lclte0ln.bankofamerica.com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171.206.171.75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06 87 31 94 93 a6 2d-b6 4d 9a dc 9e ef a3 6c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e43c52133b146a90d5062b64c3e45a25"/>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e43c52133b146a90d5062b64c3e45a25"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hpuwrsubsql02.corp.bankofamerica.com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SDI000003438418</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hpuwrsubsql02.corp.bankofamerica.com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30.51.208.52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HPUWRSUBSQL02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05:56:42</a:t>
            </a:r>
            <a:endParaRPr lang="en-US" sz="1250" dirty="0"/>
          </a:p>
        </p:txBody>
      </p:sp>
      <p:sp>
        <p:nvSpPr>
          <p:cNvPr id="8" name="Text 6">
            <a:hlinkClick r:id="rId1" tooltip="https://bofasecopsdev.service-now.com/sn_sec_cmn_src_ci_list.do?sysparm_query=number=SDI000003438418"/>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438418"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"hpuwrsubsql02"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"hpuwrsubsql02.corp.bankofamerica.com";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hpuwrsubsql02 [win_server] ip 30.51.208.52 -&gt;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hpuwrsubsql02</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hpuwrsubsql02.corp.bankofamerica.com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30.51.208.52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7647-2393-1030-8839-4672-4447-06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Microsoft Corporation Virtual Machine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7e20daa72bac22546d55ff5fe291bf63"/>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7e20daa72bac22546d55ff5fe291bf63"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usvmsrelecp20.corp.bankofamerica.com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SDI000003444611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usvmsrelecp20.corp.bankofamerica.com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30.52.240.133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USVMSRELECP20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05:56:30</a:t>
            </a:r>
            <a:endParaRPr lang="en-US" sz="1250" dirty="0"/>
          </a:p>
        </p:txBody>
      </p:sp>
      <p:sp>
        <p:nvSpPr>
          <p:cNvPr id="8" name="Text 6">
            <a:hlinkClick r:id="rId1" tooltip="https://bofasecopsdev.service-now.com/sn_sec_cmn_src_ci_list.do?sysparm_query=number=SDI00000344461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4446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"usvmsrelecp20"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"usvmsrelecp20.corp.bankofamerica.com";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usvmsrelecp20 [win_server] ip 30.52.240.133 -&gt;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usvmsrelecp20</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usvmsrelecp20.corp.bankofamerica.com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30.52.240.133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1b fa f5 9d 26 24 ef-5d 1f a7 59 51 ef 95 b9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f3e5f0f09782f29834bfb65de053af5e"/>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f3e5f0f09782f29834bfb65de053af5e"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Domain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133,745</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DNS name split into a short hostname and a domain, and requires the CI's own fqdn or dns_domain to agree with that domain, searching only the CMDB class the scanned OS text implies so a namesake in another domain or class is never taken. It sits right after the exact-fqdn rules because it is the strictest name-based search that still tolerates a CI that never had the fqdn copied into its name.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Source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(the DNS field) is empty. Otherwise coerces it to a string, trims it and lower-cases it; sample 'ah-1047132-001.sdi.corp.bankofamerica.com'.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Split into short hostname and domain.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('ah-1047132-001'), domain everything after it ('sdi.corp.bankofamerica.com').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IP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 gives no class for an empty OS or three or more '/'-separated guesses; otherwise ordered keyword tests pick ESX, Windows Server or Computer, AIX, Solaris, HP-UX, Storage Server, Printer, Linux Server or Network Gear. No class returns null.</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class table by short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the chosen class table (its subclasses included by the table hierarchy); an invalid table returns null. Query: name equals host (case-insensitive), and sys_class_name NOT IN the ignore list when that list is non-empty.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test domain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IP hits in the same pass.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(the DNS field)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name has no dot, or its first character is a dot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 gives no class: OS empty, OS with three or more '/'-separated guesses, or OS text matching none of the keywords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GlideRecord for the OS-implied class table is not valid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(ignore-listed classes excluded) named with the short hostname has fqdn or dns_domain agreeing with the scanned domain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agree and the scanned IP does not single out exactly one of them (no payload IP, no ip_address hit, or several hits)</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lsdnab00xsdi001.sdi.corp.bankofamerica.com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SDI000003576701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lsdnab00xsdi001.sdi.corp.bankofamerica.com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30.39.246.10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06:07:37</a:t>
            </a:r>
            <a:endParaRPr lang="en-US" sz="1250" dirty="0"/>
          </a:p>
        </p:txBody>
      </p:sp>
      <p:sp>
        <p:nvSpPr>
          <p:cNvPr id="8" name="Text 6">
            <a:hlinkClick r:id="rId1" tooltip="https://bofasecopsdev.service-now.com/sn_sec_cmn_src_ci_list.do?sysparm_query=number=SDI00000357670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70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"lsdnab00xsdi001"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"lsdnab00xsdi001", domain "sdi.corp.bankofamerica.com";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lsdnab00xsdi001 [linux_server] ip 30.39.246.10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lsdnab00xsdi001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30.39.246.10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MXQ2500GNX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30c82e632b91aa14d50dffbdbe91bfa9"/>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30c82e632b91aa14d50dffbdbe91bfa9"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ltx14a31xsdi001.sdi.corp.bankofamerica.com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SDI000003576699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ltx14a31xsdi001.sdi.corp.bankofamerica.com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30.25.18.11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06:07:35</a:t>
            </a:r>
            <a:endParaRPr lang="en-US" sz="1250" dirty="0"/>
          </a:p>
        </p:txBody>
      </p:sp>
      <p:sp>
        <p:nvSpPr>
          <p:cNvPr id="8" name="Text 6">
            <a:hlinkClick r:id="rId1" tooltip="https://bofasecopsdev.service-now.com/sn_sec_cmn_src_ci_list.do?sysparm_query=number=SDI00000357669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6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"ltx14a31xsdi001"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"ltx14a31xsdi001", domain "sdi.corp.bankofamerica.com";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ltx14a31xsdi001 [linux_server] ip 30.25.18.11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ltx14a31xsdi001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30.25.18.11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2M2D3900RB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DL380 Gen11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44e8b6fd47cd3a90b5da45ac026d438f"/>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44e8b6fd47cd3a90b5da45ac026d438f"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lrchac11xsdi001.sdi.corp.bankofamerica.com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SDI000003576697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lrchac11xsdi001.sdi.corp.bankofamerica.com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30.35.4.10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06:07:34</a:t>
            </a:r>
            <a:endParaRPr lang="en-US" sz="1250" dirty="0"/>
          </a:p>
        </p:txBody>
      </p:sp>
      <p:sp>
        <p:nvSpPr>
          <p:cNvPr id="8" name="Text 6">
            <a:hlinkClick r:id="rId1" tooltip="https://bofasecopsdev.service-now.com/sn_sec_cmn_src_ci_list.do?sysparm_query=number=SDI00000357669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69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"lrchac11xsdi001"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"lrchac11xsdi001", domain "sdi.corp.bankofamerica.com";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lrchac11xsdi001 [linux_server] ip 30.35.4.10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lrchac11xsdi001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30.35.4.10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MXQ24923W9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15cec45c3b742e14055e3b64c3e45a73"/>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15cec45c3b742e14055e3b64c3e45a73"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Domain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Layered DNS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97,445</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The same short-hostname-plus-domain agreement, but across all of cmdb_ci_hardware, for CIs classed generically (Server, Computer) or differently from what the scanned OS implies. It follows the class-scoped variant so a class-consistent hit always wins first, and precedes the layered DNS and plain hostname rules, which need less.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Source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(the DNS field) is empty. Otherwise coerces it to a string, trims it and lower-cases it; sample 'lrche01xtrapd01.sdi.corp.bankofamerica.com'.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Split into short hostname and domain.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('lrche01xtrapd01'), domain everything after it ('sdi.corp.bankofamerica.com').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IP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 No class is derived; the OS is never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by short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cmdb_ci_hardware (an invalid table returns null), so every hardware subclass is searched regardless of the scanned OS. Query: name equals host (case-insensitive); sys_class_name NOT IN ignore when non-empty. No setLimit.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test domain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IP hits in the same pass.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(the DNS field)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name has no dot, or its first character is a dot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GlideRecord for cmdb_ci_hardware is not valid</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hardware CI (ignore-listed classes excluded) named with the short hostname has fqdn or dns_domain agreeing with the scanned domain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agree and the scanned IP does not single out exactly one of them (no payload IP, no ip_address hit, or several hits)</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lsdnab03xsdi009.sdi.corp.bankofamerica.com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SDI000003576283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lsdnab03xsdi009.sdi.corp.bankofamerica.com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30.39.240.18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06:06:29</a:t>
            </a:r>
            <a:endParaRPr lang="en-US" sz="1250" dirty="0"/>
          </a:p>
        </p:txBody>
      </p:sp>
      <p:sp>
        <p:nvSpPr>
          <p:cNvPr id="8" name="Text 6">
            <a:hlinkClick r:id="rId1" tooltip="https://bofasecopsdev.service-now.com/sn_sec_cmn_src_ci_list.do?sysparm_query=number=SDI00000357628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2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"lsdnab03xsdi009"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"lsdnab03xsdi009"</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"lsdnab03xsdi009", domain "sdi.corp.bankofamerica.com";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lsdnab03xsdi009 [server] ip 30.39.240.18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lsdnab03xsdi009</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30.39.240.18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2M2D2R024K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HPE ProLiant DL380 Gen11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35485a949310fe1026fbfbb4ed03d640"/>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35485a949310fe1026fbfbb4ed03d640"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lsdnab05xsdi005.sdi.corp.bankofamerica.com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SDI000003669773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lsdnab05xsdi005.sdi.corp.bankofamerica.com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30.39.244.14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06:06:23</a:t>
            </a:r>
            <a:endParaRPr lang="en-US" sz="1250" dirty="0"/>
          </a:p>
        </p:txBody>
      </p:sp>
      <p:sp>
        <p:nvSpPr>
          <p:cNvPr id="8" name="Text 6">
            <a:hlinkClick r:id="rId1" tooltip="https://bofasecopsdev.service-now.com/sn_sec_cmn_src_ci_list.do?sysparm_query=number=SDI00000366977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7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"lsdnab05xsdi005"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"lsdnab05xsdi005"</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"lsdnab05xsdi005", domain "sdi.corp.bankofamerica.com";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lsdnab05xsdi005 [server] ip 30.39.244.14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lsdnab05xsdi005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30.39.244.14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2M2D2R025L</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HPE ProLiant DL380 Gen11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502f97033b417ed04826a7ae53e45a4c"/>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502f97033b417ed04826a7ae53e45a4c"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lsdnab03xsdi004.sdi.corp.bankofamerica.com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SDI000003669770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lsdnab03xsdi004.sdi.corp.bankofamerica.com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30.39.240.13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06:06:11</a:t>
            </a:r>
            <a:endParaRPr lang="en-US" sz="1250" dirty="0"/>
          </a:p>
        </p:txBody>
      </p:sp>
      <p:sp>
        <p:nvSpPr>
          <p:cNvPr id="8" name="Text 6">
            <a:hlinkClick r:id="rId1" tooltip="https://bofasecopsdev.service-now.com/sn_sec_cmn_src_ci_list.do?sysparm_query=number=SDI00000366977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7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"lsdnab03xsdi004"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"lsdnab03xsdi004"</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"lsdnab03xsdi004", domain "sdi.corp.bankofamerica.com";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lsdnab03xsdi004 [server] ip 30.39.240.13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lsdnab03xsdi004</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30.39.240.13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2M2D2R0231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HPE ProLiant DL380 Gen11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7a3896949310fe1026fbfbb4ed03d695"/>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7a3896949310fe1026fbfbb4ed03d695"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Layered DNS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Domain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114,574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DNS name as it is kept in the discovery layered records (DNS Name -&gt; IP Address -&gt; Network Adapter -&gt; CI) rather than in a name field on the CI record, so it finds hosts whose name is not written on the CI at all and resolves an alias to the real machine. It sits between the rules that read fqdn / hostname-plus-domain on the CI record itself and the plain hostname rules; the scanned OS is only a preference applied to the CI at the end of the chain, never a query filter.</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Normalise the DNS value and guard bare labels.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when sourceValue is empty or absent. Coerces the DNS field to a string, trims it and lower-cases it into fqdn. Declines when the result holds no '.', a bare label being left to the hostname rules. Nothing is stripped: the whole name is matched as is.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sourcePayload.IP coerced to a string, or an empty string when the payload has none. The address is never a filter on the query; it only decides between several CIs that answer to the same name later in the walk.</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Load the 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_ignoreClass when the framework passes it non-empty, else gs.getProperty('sn_sec_cmn.ignoreCIClass', ''). When non-empty it is applied as a NOT IN on the class of the CI at the end of the chain, so placeholder and technical CIs are never reached.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preferred 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lower-cased OS text matched on keywords gives a class (Red Hat Enterprise Linux Server 7.9 gives cmdb_ci_linux_server). An unknown OS or three or more '/'-separated guesses give '' and then nothing is refused on class.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DNS Name to IP Address link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when cmdb_ip_address_dns_name is not a valid table. Else addQuery('dns_name.name', fqdn), addNotNullQuery('ip_address.nic.cmdb_ci') so the chain ends on a CI, and when ignore is non-empty ip_address.nic.cmdb_ci.sys_class_name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count distinct agreeing CIs.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All rows are read, no setLimit or hasNext. owner is ip_address.nic.cmdb_ci; a row failing agrees() is skipped, not counted or marked. Distinct owners count once, first kept. With ip set, a row whose ip_address.ip_address equals ip marks its owner in ipOwners.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One CI: return it unless it is a load balancer.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count is 1 the rule returns the first owner, but returns null when isLoadBalancer(first) finds that sys_id on cmdb_ci_lb: the name then belongs to a virtual address the balancer answers on, the host sits behind it and the load balancer rules take over.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Several CIs: the scanned IP breaks the tie.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count is above 1, confirmed = Object.keys(ipOwners). Exactly one CI reached through the scanned address, and not on cmdb_ci_lb, is returned. None, two or more, or a load balancer as the one confirmed CI gives null; no fitness heuristic is applied.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CI: decline.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count 0 (no DNS Name row for the name, no CI at the end of any chain, every CI on the ignore list, or every CI of a class the OS rules out) returns null and the host goes on to the next rule.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lower-cased value holds no '.' (a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cmdb_ip_address_dns_name is not a valid table on the instance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cmdb_ip_address_dns_name row has dns_name.name equal to the value with a CI at ip_address.nic.cmdb_ci</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CI reached is of a class on sn_sec_cmn.ignoreCIClass (or _ignoreClass) or fails agrees() against the class the OS implies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exactly one CI is reached but its sys_id exists on cmdb_ci_lb (load balancer device)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the payload has no IP, or none of their chains runs through ip_address.ip_address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two or more of them are reached through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the single one reached through the scanned IP exists on cmdb_ci_lb</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ca6-229-01-m01.bankofamerica.com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SDI000003582887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ca6-229-01-m01.bankofamerica.com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10.166.185.8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JetDirect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05:57:10</a:t>
            </a:r>
            <a:endParaRPr lang="en-US" sz="1250" dirty="0"/>
          </a:p>
        </p:txBody>
      </p:sp>
      <p:sp>
        <p:nvSpPr>
          <p:cNvPr id="8" name="Text 6">
            <a:hlinkClick r:id="rId1" tooltip="https://bofasecopsdev.service-now.com/sn_sec_cmn_src_ci_list.do?sysparm_query=number=SDI0000035828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828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"ca6-229-01-m01"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1 named "ca6-229-01-m01", none with the domain "bankofamerica.com"</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"ca6-229-01-m01.bankofamerica.com"; OS "HP JetDirect" gives the class printer (agreement includes appliances for a Linux fingerprint)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row: address 10.166.185.8 -&gt; adapter HP ETHERNET MULTI-ENVIRONMENT,ROM none,JETDIRECT,JD153,EEPROM JSI25080326 -&gt; ca6-229-01-m01 [printer]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agreeing CI</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ca6-229-01-m01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10.166.185.8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MXBCR4L0F3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Flow MFP E52645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b38a64fc2b86ae54d50dffbdbe91bf08"/>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b38a64fc2b86ae54d50dffbdbe91bf08"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ca3-166-01-m02-c.bankofamerica.com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SDI000003052286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ca3-166-01-m02-c.bankofamerica.com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10.169.205.12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05:56:07</a:t>
            </a:r>
            <a:endParaRPr lang="en-US" sz="1250" dirty="0"/>
          </a:p>
        </p:txBody>
      </p:sp>
      <p:sp>
        <p:nvSpPr>
          <p:cNvPr id="8" name="Text 6">
            <a:hlinkClick r:id="rId1" tooltip="https://bofasecopsdev.service-now.com/sn_sec_cmn_src_ci_list.do?sysparm_query=number=SDI00000305228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22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"ca3-166-01-m02-c"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"ca3-166-01-m02-c"</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"ca3-166-01-m02-c.bankofamerica.com"; OS "HP LaserJet Printer" gives the class printer (agreement includes appliances for a Linux fingerprint)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row: address 10.169.205.12 -&gt; adapter HP ETHERNET MULTI-ENVIRONMENT,ROM none,JETDIRECT,JD153,EEPROM JSI25080326 -&gt; npi443e42 [printer]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agreeing CI</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npi443e42</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10.169.205.12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MXBCQ800NY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Flow MFP E52645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 Stock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printer.do?sys_id=e4b9ac382b86ae54d50dffbdbe91bfe3"/>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e4b9ac382b86ae54d50dffbdbe91bfe3"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ca6-168-02-p200.bankofamerica.com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SDI000003085182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ca6-168-02-p200.bankofamerica.com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10.166.40.10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05:56:06</a:t>
            </a:r>
            <a:endParaRPr lang="en-US" sz="1250" dirty="0"/>
          </a:p>
        </p:txBody>
      </p:sp>
      <p:sp>
        <p:nvSpPr>
          <p:cNvPr id="8" name="Text 6">
            <a:hlinkClick r:id="rId1" tooltip="https://bofasecopsdev.service-now.com/sn_sec_cmn_src_ci_list.do?sysparm_query=number=SDI00000308518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8518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"ca6-168-02-p200"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1 named "ca6-168-02-p200", none with the domain "bankofamerica.com"</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"ca6-168-02-p200.bankofamerica.com"; OS "HP LaserJet Printer" gives the class printer (agreement includes appliances for a Linux fingerprint)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row: address 10.166.40.10 -&gt; adapter HP ETHERNET MULTI-ENVIRONMENT,ROM none,JETDIRECT,JD153,EEPROM JSI25080326 -&gt; ca6-168-02-p200 [printer]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agreeing CI</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ca6-168-02-p200</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10.166.40.10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MXBCR3F187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Flow MFP E52645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a18a20fc2b86ae54d50dffbdbe91bf86"/>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a18a20fc2b86ae54d50dffbdbe91bf86"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Layered DNS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144,102</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short hostname (first DNS label) only inside the CMDB class the scanned OS implies, so the OS-to-class agreement stands in for the domain agreement the CI lacks. It sits right after the domain rules because it is the first rule that accepts a CI carrying only a short name.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at once when sourceValue is empty. Otherwise coerces it to a string, trims it and lower-cases it (sample: wsaoi01zeapd1.sdi.corp.bankofamerica.com).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label as the short host.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Splits the lowered value on '.' and keeps element 0 (wsaoi01zeapd1). Everything after the first dot is dropped; no suffix list is consulted. An empty first label (value starting with a dot)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Used later as an exact class-name NOT IN filter.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(shared helper). Sample: 'Windows Server 2016 Standard 64 bit Edition Version 1607' gives cmdb_ci_win_server. An empty pref (empty OS, no keyword hit, or a multi-guess '/' fingerprint) declines the rule.</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Open the class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new GlideRecord(pref): the search stays inside that class and its sub-classes, so a Red Hat host can only land on a Linux Server and a Windows Server of the same name is never seen. If isValid() is false (class not installed) the rule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Filter by name and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addQuery('name', host) with the lowered short host; the platform compares name case-insensitively, so the CI named WSAOI01ZEAPD1 matches. When the ignore list is non-empty, addQuery('sys_class_name', 'NOT IN', ignore) removes placeholder and technical classes.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query(); a false next() declines. The first row's sys_id is kept with getUniqueValue(); a true hasNext() (a second CI of that class with the same name) declines. No setLimit, no orderBy, no tie-break on the scanned address, no retired or twin handling.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sys_id.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the kept sys_id. Class restriction plus uniqueness of the name inside the class are the only safeguards: the domain of the CI is never read here.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label of the trimmed, lowered DNS 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returns '' (empty OS, no keyword hit, or an OS text split by '/' into three or more segments)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named by classFor is not valid on the instance (gr.isValid()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or its sub-classes, outside the ignored classes, is named with the short host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CI of that class carries the same name (gr.hasNext() true)</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wsina1cdreapp</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SDI000003129664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wsina1cdreapp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165.40.136.234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WSINA1CDREAPP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06:07:38</a:t>
            </a:r>
            <a:endParaRPr lang="en-US" sz="1250" dirty="0"/>
          </a:p>
        </p:txBody>
      </p:sp>
      <p:sp>
        <p:nvSpPr>
          <p:cNvPr id="8" name="Text 6">
            <a:hlinkClick r:id="rId1" tooltip="https://bofasecopsdev.service-now.com/sn_sec_cmn_src_ci_list.do?sysparm_query=number=SDI00000312966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6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07442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"wsina1cdreapp"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dot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domain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"wsina1cdreapp"</a:t>
            </a:r>
            <a:endParaRPr lang="en-US" sz="950" dirty="0"/>
          </a:p>
        </p:txBody>
      </p:sp>
      <p:sp>
        <p:nvSpPr>
          <p:cNvPr id="12" name="Shape 10"/>
          <p:cNvSpPr/>
          <p:nvPr/>
        </p:nvSpPr>
        <p:spPr>
          <a:xfrm>
            <a:off x="3922776" y="2903220"/>
            <a:ext cx="4617720" cy="0"/>
          </a:xfrm>
          <a:prstGeom prst="line">
            <a:avLst/>
          </a:prstGeom>
          <a:noFill/>
          <a:ln w="9525">
            <a:solidFill>
              <a:srgbClr val="DDE0E3"/>
            </a:solidFill>
            <a:prstDash val="solid"/>
          </a:ln>
        </p:spPr>
      </p:sp>
      <p:sp>
        <p:nvSpPr>
          <p:cNvPr id="13" name="Text 11"/>
          <p:cNvSpPr txBox="1"/>
          <p:nvPr/>
        </p:nvSpPr>
        <p:spPr>
          <a:xfrm>
            <a:off x="3922776" y="299466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268980"/>
            <a:ext cx="4617720" cy="23088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"wsina1cdreapp"; OS "Windows Server 2019 Standard 64 bit Edition Version 1809 Build 17763"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wsina1cdreapp [win_server] ip 165.40.136.234 -&gt;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wsina1cdreapp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wsina1cdreapp.corp.bankofamerica.com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165.40.136.234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17 39 9b 05 4e a1 dd-98 64 d1 69 bb e9 0f 2f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27e62ee33b5022d0055e3b64c3e45ae1"/>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27e62ee33b5022d0055e3b64c3e45ae1"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lrchab85xsdi015.sdi.corp.bankofamerica.com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SDI000003576309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lrchab85xsdi015.sdi.corp.bankofamerica.com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30.93.134.24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06:07:38</a:t>
            </a:r>
            <a:endParaRPr lang="en-US" sz="1250" dirty="0"/>
          </a:p>
        </p:txBody>
      </p:sp>
      <p:sp>
        <p:nvSpPr>
          <p:cNvPr id="8" name="Text 6">
            <a:hlinkClick r:id="rId1" tooltip="https://bofasecopsdev.service-now.com/sn_sec_cmn_src_ci_list.do?sysparm_query=number=SDI00000357630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30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14757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"lrchab85xsdi015"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1 named "lrchab85xsdi015", none with the domain "sdi.corp.bankofamerica.com"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"lrchab85xsdi015.sdi.corp.bankofamerica.com"</a:t>
            </a:r>
            <a:endParaRPr lang="en-US" sz="950" dirty="0"/>
          </a:p>
        </p:txBody>
      </p:sp>
      <p:sp>
        <p:nvSpPr>
          <p:cNvPr id="12" name="Shape 10"/>
          <p:cNvSpPr/>
          <p:nvPr/>
        </p:nvSpPr>
        <p:spPr>
          <a:xfrm>
            <a:off x="3922776" y="2976372"/>
            <a:ext cx="4617720" cy="0"/>
          </a:xfrm>
          <a:prstGeom prst="line">
            <a:avLst/>
          </a:prstGeom>
          <a:noFill/>
          <a:ln w="9525">
            <a:solidFill>
              <a:srgbClr val="DDE0E3"/>
            </a:solidFill>
            <a:prstDash val="solid"/>
          </a:ln>
        </p:spPr>
      </p:sp>
      <p:sp>
        <p:nvSpPr>
          <p:cNvPr id="13" name="Text 11"/>
          <p:cNvSpPr txBox="1"/>
          <p:nvPr/>
        </p:nvSpPr>
        <p:spPr>
          <a:xfrm>
            <a:off x="3922776" y="306781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342132"/>
            <a:ext cx="4617720" cy="223570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"lrchab85xsdi015";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lrchab85xsdi015 [linux_server] ip 30.93.134.24 -&gt;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lrchab85xsdi015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30.93.134.24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MXQ2430HMW</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a1194c903bbc2614d5062b64c3e45a71"/>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a1194c903bbc2614d5062b64c3e45a71"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wva20bmcvlfs21v</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SDI000003129660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wva20bmcvlfs21v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30.244.24.249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WVA20BMCVLFS21V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06:07:37</a:t>
            </a:r>
            <a:endParaRPr lang="en-US" sz="1250" dirty="0"/>
          </a:p>
        </p:txBody>
      </p:sp>
      <p:sp>
        <p:nvSpPr>
          <p:cNvPr id="8" name="Text 6">
            <a:hlinkClick r:id="rId1" tooltip="https://bofasecopsdev.service-now.com/sn_sec_cmn_src_ci_list.do?sysparm_query=number=SDI00000312966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6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07442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"wva20bmcvlfs21v"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dot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domain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"wva20bmcvlfs21v"</a:t>
            </a:r>
            <a:endParaRPr lang="en-US" sz="950" dirty="0"/>
          </a:p>
        </p:txBody>
      </p:sp>
      <p:sp>
        <p:nvSpPr>
          <p:cNvPr id="12" name="Shape 10"/>
          <p:cNvSpPr/>
          <p:nvPr/>
        </p:nvSpPr>
        <p:spPr>
          <a:xfrm>
            <a:off x="3922776" y="2903220"/>
            <a:ext cx="4617720" cy="0"/>
          </a:xfrm>
          <a:prstGeom prst="line">
            <a:avLst/>
          </a:prstGeom>
          <a:noFill/>
          <a:ln w="9525">
            <a:solidFill>
              <a:srgbClr val="DDE0E3"/>
            </a:solidFill>
            <a:prstDash val="solid"/>
          </a:ln>
        </p:spPr>
      </p:sp>
      <p:sp>
        <p:nvSpPr>
          <p:cNvPr id="13" name="Text 11"/>
          <p:cNvSpPr txBox="1"/>
          <p:nvPr/>
        </p:nvSpPr>
        <p:spPr>
          <a:xfrm>
            <a:off x="3922776" y="299466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268980"/>
            <a:ext cx="4617720" cy="23088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"wva20bmcvlfs21v"; OS "Windows Server 2019 Standard 64 bit Edition Version 1809 Build 17763"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wva20bmcvlfs21v [win_server] ip 30.244.24.249 -&gt;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wva20bmcvlfs21v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wva20bmcvlfs21v.corp.bankofamerica.com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30.244.24.249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0d e0 9e 88 e6 71 8e-d4 4b b7 b0 1f 2a d0 6f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0a7265773bd062d0055e3b64c3e45a23"/>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0a7265773bd062d0055e3b64c3e45a23"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Device Name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106,626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short hostname across the whole cmdb_ci_hardware tree and, instead of filtering by class, rejects afterwards any CI whose class contradicts the scanned OS. It follows USEM Hostname Class Match to reach CIs kept in a parent class (Server, Computer, Hardware) or whose OS gave no class.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at once when sourceValue is empty. Otherwise coerces it to a string, trims it and lower-cases it (sample: va2ausapabw0.bankofamerica.com).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label as the short host.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Splits the lowered value on '.' and keeps element 0 (va2ausapabw0). Everything after the first dot is dropped; no suffix list is consulted. An empty first label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Applied as an exact class-name NOT IN filter on the search.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OS class as a preference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(shared helper). Sample: 'AIX 7.3 TL3' gives cmdb_ci_aix_server. An empty pref does not decline here: it only switches the final class check off, so an unknown or multi-guess OS still matches by name alone.</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whole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new GlideRecord('cmdb_ci_hardware') (Hardware and every class beneath it, no class filter, no isValid() guard). addQuery('name', host) with the lowered short host, compared case-insensitively; sys_class_name NOT IN ignore when the list is non-empty;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false next() declines. The first row's sys_id (getUniqueValue) and sys_class_name (coerced to a string) are kept; a true hasNext() means two hardware CIs share the short name (test and production, retired and rebuilt): decline. No setLimit or orderBy.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Check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agrees(cls) (shared helper): true when pref is empty or cls equals pref; when pref is cmdb_ci_linux_server and cls or an ancestor is cmdb_ci_netgear, cmdb_ci_lb or cmdb_ci_storage_server; when pref is an ancestor of cls or cls of pref. False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sys_id.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the kept sys_id. Sample: cls cmdb_ci_server is an ancestor of cmdb_ci_aix_server, accepted. A Windows Server or IP Router of that name declines. An IP Switch named cncnshasd03sae0002 scanned as 'Ubuntu/Linux' is accepted through the appliance clause.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label of the trimmed, lowered DNS 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in cmdb_ci_hardware or beneath it, outside the ignored classes, is named with the short host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hardware CI carries the same name (gr.hasNext() true), whatever its class or retired state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pref is set and cls is not pref, a sub-class or ancestor of it, nor (Linux pref) cmdb_ci_netgear, cmdb_ci_lb, cmdb_ci_storage_server or a class beneath one</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lrchac09xsdi013.sdi.corp.bankofamerica.com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SDI000003650853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lrchac09xsdi013.sdi.corp.bankofamerica.com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30.239.5.150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06:01:50</a:t>
            </a:r>
            <a:endParaRPr lang="en-US" sz="1250" dirty="0"/>
          </a:p>
        </p:txBody>
      </p:sp>
      <p:sp>
        <p:nvSpPr>
          <p:cNvPr id="8" name="Text 6">
            <a:hlinkClick r:id="rId1" tooltip="https://bofasecopsdev.service-now.com/sn_sec_cmn_src_ci_list.do?sysparm_query=number=SDI00000365085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08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"lrchac09xsdi013"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"lrchac09xsdi013" / 1 named "lrchac09xsdi013", none with the domain "sdi.corp.bankofamerica.com"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"lrchac09xsdi013.sdi.corp.bankofamerica.com"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named "lrchac09xsdi013"</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"lrchac09xsdi013";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lrchac09xsdi013 [server] -&gt; exactly one, accepted; class server agrees with the OS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lrchac09xsdi013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MXQ24509LF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2b66dbe59348b254b096f35e1dba1064"/>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2b66dbe59348b254b096f35e1dba1064"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d011e580110bmac</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SDI000003605570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d011e580110bmac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30.247.36.123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macOS 26.6.2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D011E580110BMAC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05:59:19</a:t>
            </a:r>
            <a:endParaRPr lang="en-US" sz="1250" dirty="0"/>
          </a:p>
        </p:txBody>
      </p:sp>
      <p:sp>
        <p:nvSpPr>
          <p:cNvPr id="8" name="Text 6">
            <a:hlinkClick r:id="rId1" tooltip="https://bofasecopsdev.service-now.com/sn_sec_cmn_src_ci_list.do?sysparm_query=number=SDI00000360557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0557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27101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"d011e580110bmac"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dot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domain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"d011e580110bmac"</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"macOS 26.6.2" gives no class</a:t>
            </a:r>
            <a:endParaRPr lang="en-US" sz="950" dirty="0"/>
          </a:p>
        </p:txBody>
      </p:sp>
      <p:sp>
        <p:nvSpPr>
          <p:cNvPr id="12" name="Shape 10"/>
          <p:cNvSpPr/>
          <p:nvPr/>
        </p:nvSpPr>
        <p:spPr>
          <a:xfrm>
            <a:off x="3922776" y="3099816"/>
            <a:ext cx="4617720" cy="0"/>
          </a:xfrm>
          <a:prstGeom prst="line">
            <a:avLst/>
          </a:prstGeom>
          <a:noFill/>
          <a:ln w="9525">
            <a:solidFill>
              <a:srgbClr val="DDE0E3"/>
            </a:solidFill>
            <a:prstDash val="solid"/>
          </a:ln>
        </p:spPr>
      </p:sp>
      <p:sp>
        <p:nvSpPr>
          <p:cNvPr id="13" name="Text 11"/>
          <p:cNvSpPr txBox="1"/>
          <p:nvPr/>
        </p:nvSpPr>
        <p:spPr>
          <a:xfrm>
            <a:off x="3922776" y="319125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465576"/>
            <a:ext cx="4617720" cy="211226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"d011e580110bmac";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d011e580110bmac [computer] ip 30.247.57.19 -&gt; exactly one, accepted; class computer agrees with the OS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d011e580110bmac</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30.247.57.19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XKYQ4RWLG6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d0:11:e5:90:82:ea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Apple MAC MINI (2024)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 Stock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computer.do?sys_id=215ec3123b046e10055e3b64c3e45af6"/>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215ec3123b046e10055e3b64c3e45af6"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lrchac09xsdi003.sdi.corp.bankofamerica.com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SDI000003650834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lrchac09xsdi003.sdi.corp.bankofamerica.com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30.239.5.140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06:01:14</a:t>
            </a:r>
            <a:endParaRPr lang="en-US" sz="1250" dirty="0"/>
          </a:p>
        </p:txBody>
      </p:sp>
      <p:sp>
        <p:nvSpPr>
          <p:cNvPr id="8" name="Text 6">
            <a:hlinkClick r:id="rId1" tooltip="https://bofasecopsdev.service-now.com/sn_sec_cmn_src_ci_list.do?sysparm_query=number=SDI00000365083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08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"lrchac09xsdi003"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"lrchac09xsdi003" / 1 named "lrchac09xsdi003", none with the domain "sdi.corp.bankofamerica.com"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"lrchac09xsdi003.sdi.corp.bankofamerica.com"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named "lrchac09xsdi003"</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"lrchac09xsdi003";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lrchac09xsdi003 [server] -&gt; exactly one, accepted; class server agrees with the OS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lrchac09xsdi003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MXQ2440FP4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c4b557ed9388321499fa7dd548373c4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c4b557ed9388321499fa7dd548373c4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Device Name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Management Interface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25,733</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host name for the two device classes outside the Hardware tree, IP Phone (extends cmdb_ci directly) and Imaging Hardware (scanners), which the hardware-wide name rules never see and which report no OS to an unauthenticated scan. It sits right after USEM Hostname Hardware Match so ordinary hosts are already resolved and only OS-less devices such as Avaya stations (avx plus the tail of the MAC) and scanners reach it.</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guard and host label.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(DNS) is empty. The value is string-coerced, trimmed and lower-cased; the host is the first label before the first dot (avxdd008a). An empty first label returns null. No suffix or domain is used in the search.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Scanned address.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sourcePayload.IP as a string ('' + IP), or an empty string when the payload carries none. It is used only to break a tie between several records of one name and is never a search key.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the ignored classes from _ignoreClass when defined and non-empty, otherwise from gs.getProperty sn_sec_cmn.ignoreCIClass with an empty default; applied as sys_class_name NOT IN on both class queries whenever the list is non-empty.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OS guard through classFor.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Lower-cases sourcePayload.OS (empty when absent) and calls classFor. Null when the class is non-empty, not cmdb_ci_linux_server and the whole OS text lacks the word phone. No OS, Unknown OS, a keyword-free vendor name or a Linux fingerprint passes.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What the OS guard rules out.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Every classFor class except empty and cmdb_ci_linux_server declines: ESX, Windows (server or computer), AIX, Solaris/SunOS, HP-UX, NetApp/ONTAP, printer/LaserJet/JetDirect, NX-OS/CatOS/Cisco. Cisco alone declines; Cisco IP Phone passes on phone.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two classes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Loops over ['cmdb_ci_ip_phone', 'cmdb_ci_imaging_hardware'], skipping a class whose isValid() is false. Each query: name equals host (platform equality, not case-sensitive), sys_class_name NOT IN the ignore list when non-empty; sub-classes included.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Every matching row's sys_id is pushed to found; a row whose ip_address, string-coerced, equals the scanned IP is also pushed to onAddress (only when an IP was supplied). All rows are read: no next/hasNext short-circuit and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Decision and address tie-break.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found spans both classes. One entry is returned regardless of its ip_address. Two or more with exactly one in onAddress return that one. Otherwise null: none, or several with none or more than one on the scanned address. No retired or class agreement test.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(DNS) is empty, or its first label before the dot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yields a class other than empty or cmdb_ci_linux_server and the lower-cased OS text does not contain the word phone.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cmdb_ci_ip_phone or cmdb_ci_imaging_hardware record (sub-classes included, ignored classes excluded) is named with the host label.</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records carry the name and none has ip_address equal to sourcePayload.IP, or the payload carries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records carry the name and two or more of them have ip_address equal to the scanned IP.</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avxef52fb.asia.bankofamerica.com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SDI000003799341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avxef52fb.asia.bankofamerica.com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10.158.139.134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05:56:35</a:t>
            </a:r>
            <a:endParaRPr lang="en-US" sz="1250" dirty="0"/>
          </a:p>
        </p:txBody>
      </p:sp>
      <p:sp>
        <p:nvSpPr>
          <p:cNvPr id="8" name="Text 6">
            <a:hlinkClick r:id="rId1" tooltip="https://bofasecopsdev.service-now.com/sn_sec_cmn_src_ci_list.do?sysparm_query=number=SDI00000379934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4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"avxef52fb"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"avxef52fb"</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"avxef52fb.asia.bankofamerica.com"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"avxef52fb"</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"not reported" gives no class: no server or desktop class, the search runs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cmdb_ci_ip_phone: 1 record: AVXEF52FB [ip_phone] ip 10.158.139.117 | cmdb_ci_imaging_hardware: 0 records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device,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AVXEF52FB</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10.158.139.117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21WZ5040045X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c8:1f:ea:ef:52:fb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Avaya J100 Series J179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e07817742b062694d50dffbdbe91bf38"/>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e07817742b062694d50dffbdbe91bf38"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avxef5783.asia.bankofamerica.com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SDI000003799352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avxef5783.asia.bankofamerica.com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10.158.139.78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05:56:09</a:t>
            </a:r>
            <a:endParaRPr lang="en-US" sz="1250" dirty="0"/>
          </a:p>
        </p:txBody>
      </p:sp>
      <p:sp>
        <p:nvSpPr>
          <p:cNvPr id="8" name="Text 6">
            <a:hlinkClick r:id="rId1" tooltip="https://bofasecopsdev.service-now.com/sn_sec_cmn_src_ci_list.do?sysparm_query=number=SDI00000379935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"avxef5783"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"avxef5783"</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"avxef5783.asia.bankofamerica.com"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"avxef5783"</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"not reported" gives no class: no server or desktop class, the search runs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cmdb_ci_ip_phone: 1 record: AVXEF5783 [ip_phone] ip 10.158.139.153 | cmdb_ci_imaging_hardware: 0 records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device,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AVXEF5783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10.158.139.153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21WZ504005PW</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c8:1f:ea:ef:57:83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Avaya J100 Series J179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19b683b83b4e2254860863b693e45a0e"/>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19b683b83b4e2254860863b693e45a0e"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avxf1efdf.asia.bankofamerica.com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SDI000003799469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avxf1efdf.asia.bankofamerica.com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10.163.73.213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05:55:59</a:t>
            </a:r>
            <a:endParaRPr lang="en-US" sz="1250" dirty="0"/>
          </a:p>
        </p:txBody>
      </p:sp>
      <p:sp>
        <p:nvSpPr>
          <p:cNvPr id="8" name="Text 6">
            <a:hlinkClick r:id="rId1" tooltip="https://bofasecopsdev.service-now.com/sn_sec_cmn_src_ci_list.do?sysparm_query=number=SDI00000379946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46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"avxf1efdf"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"avxf1efdf"</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"avxf1efdf.asia.bankofamerica.com"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"avxf1efdf"</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"not reported" gives no class: no server or desktop class, the search runs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cmdb_ci_ip_phone: 1 record: AVXF1EFDF [ip_phone] ip 10.163.73.124 | cmdb_ci_imaging_hardware: 0 records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device,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AVXF1EFDF</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10.163.73.124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22WZ035007YL</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c8:1f:ea:f1:ef:df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Avaya J100 Series J179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50f767343bce6254860863b693e45a2b"/>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50f767343bce6254860863b693e45a2b"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Management Interface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Device Name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Network Interface Name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9,556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DNS label of a server management controller (HP iLO, Oracle ILOM, Dell iDRAC, IBM IMM, Cisco CIMC, generic BMC or IPMI), which is the server name plus a controller suffix, and returns the server CI named by the label without that suffix. It sits after the hostname rules because they have already shown that no CI carries the full controller label, and before the interface-name rule so that a '-mgmt' controller resolves to its server before any prefix walk on network devices.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the input.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Otherwise coerces it to a string, trims it and lower-cases it; the label is the text before the first dot, so the domain part never takes part in the match.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Locate the last hyphen.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dash is the position of the last hyphen in the label; the rule declines when dash is below 1, that is no hyphen at all or a hyphen in first position. Exactly one segment, the one after that hyphen, can ever be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OS text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os is sourcePayload.OS coerced to a string (empty when absent) and lower-cased; sourcePayload itself is not guarded. ignore is _ignoreClass when the framework fills it, else gs.getProperty('sn_sec_cmn.ignoreCIClass', ''). The IP field is never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Controller sign and the server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tail is the segment after the last hyphen. If tail is in suffixes, base is the label up to that hyphen. Otherwise, if any markers entry is a substring of os, base is the same cut whatever the tail. Neither sign: base stays empty, null is returned.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whole hardware tree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One GlideRecord on cmdb_ci_hardware with addQuery('name', base) and, when ignore is non-empty, addQuery('sys_class_name', 'NOT IN', ignore). No setLimit, no active, status, address or OS condition; Hardware itself and every class beneath it are included.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sys_id is taken with getUniqueValue(); if hasNext() is then true a second CI carries the server name and the rule returns null rather than choose. Retired records count like any other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Refuse a load balancer.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on cmdb_ci_lb is opened; when the table is valid and get(match) finds the chosen sys_id there (cmdb_ci_lb or a class beneath it) the rule returns null. An invalid table skips the check. Otherwise the sys_id is returned as the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label has no hyphen, or its only hyphen is in first position (lastIndexOf('-') &lt; 1)</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last segment is not in suffixes and no markers word appears as a substring of the OS text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cmdb_ci_hardware row outside the ignore classes is named like the stripped label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cmdb_ci_hardware rows carry the stripped name (hasNext() true after the first)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row found is a record of cmdb_ci_lb or a class beneath it (load balancer device)</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lva10regbxch0j-r.ecomm.device.rpg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SDI000002647592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lva10regbxch0j-r.ecomm.device.rpg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10.41.200.226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Integrated Dell Remote Access Controller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05:55:07</a:t>
            </a:r>
            <a:endParaRPr lang="en-US" sz="1250" dirty="0"/>
          </a:p>
        </p:txBody>
      </p:sp>
      <p:sp>
        <p:nvSpPr>
          <p:cNvPr id="8" name="Text 6">
            <a:hlinkClick r:id="rId1" tooltip="https://bofasecopsdev.service-now.com/sn_sec_cmn_src_ci_list.do?sysparm_query=number=SDI00000264759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475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870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"lva10regbxch0j-r"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"Integrated Dell Remote Access Controller"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"Integrated Dell Remote Access Controller" gives no class / no record named "lva10regbxch0j-r"</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"lva10regbxch0j-r.ecomm.device.rpg"</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"Integrated Dell Remote Access Controller" gives no class / no record in the hardware tree named "lva10regbxch0j-r"</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"lva10regbxch0j-r" in IP Phone or Imaging Hardware</a:t>
            </a:r>
            <a:endParaRPr lang="en-US" sz="950" dirty="0"/>
          </a:p>
        </p:txBody>
      </p:sp>
      <p:sp>
        <p:nvSpPr>
          <p:cNvPr id="12" name="Shape 10"/>
          <p:cNvSpPr/>
          <p:nvPr/>
        </p:nvSpPr>
        <p:spPr>
          <a:xfrm>
            <a:off x="3922776" y="3515868"/>
            <a:ext cx="4617720" cy="0"/>
          </a:xfrm>
          <a:prstGeom prst="line">
            <a:avLst/>
          </a:prstGeom>
          <a:noFill/>
          <a:ln w="9525">
            <a:solidFill>
              <a:srgbClr val="DDE0E3"/>
            </a:solidFill>
            <a:prstDash val="solid"/>
          </a:ln>
        </p:spPr>
      </p:sp>
      <p:sp>
        <p:nvSpPr>
          <p:cNvPr id="13" name="Text 11"/>
          <p:cNvSpPr txBox="1"/>
          <p:nvPr/>
        </p:nvSpPr>
        <p:spPr>
          <a:xfrm>
            <a:off x="3922776" y="36073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881628"/>
            <a:ext cx="4617720" cy="16962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word "remote access controller" on "lva10regbxch0j-r"; server name "lva10regbxch0j"</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lva10regbxch0j [linux_server] ip 171.155.93.82 -&gt;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os word / linux_server</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lva10regbxch0j</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lva10regbxch0j.ecomm.device.rpg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ECOMM.DEVICE.RPG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171.155.93.82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4NYW2L3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R740xd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a53749b02b062e54d28af8a4ce91bf65"/>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a53749b02b062e54d28af8a4ce91bf65"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xvu46dbm07-ilom.sdi.corp.bankofamerica.com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SDI000002530819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xvu46dbm07-ilom.sdi.corp.bankofamerica.com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30.52.3.160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 / Linux 3.x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05:54:56</a:t>
            </a:r>
            <a:endParaRPr lang="en-US" sz="1250" dirty="0"/>
          </a:p>
        </p:txBody>
      </p:sp>
      <p:sp>
        <p:nvSpPr>
          <p:cNvPr id="8" name="Text 6">
            <a:hlinkClick r:id="rId1" tooltip="https://bofasecopsdev.service-now.com/sn_sec_cmn_src_ci_list.do?sysparm_query=number=SDI00000253081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3081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1391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"xvu46dbm07-ilom"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"xvu46dbm07-ilom" / 1 named "xvu46dbm07-ilom", none with the domain "sdi.corp.bankofamerica.com"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"xvu46dbm07-ilom.sdi.corp.bankofamerica.com"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named "xvu46dbm07-ilom" / 1 record in the hardware tree named "xvu46dbm07-ilom" (class outofband_device disagrees with the OS)</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"xvu46dbm07-ilom" in IP Phone or Imaging Hardware</a:t>
            </a:r>
            <a:endParaRPr lang="en-US" sz="950" dirty="0"/>
          </a:p>
        </p:txBody>
      </p:sp>
      <p:sp>
        <p:nvSpPr>
          <p:cNvPr id="12" name="Shape 10"/>
          <p:cNvSpPr/>
          <p:nvPr/>
        </p:nvSpPr>
        <p:spPr>
          <a:xfrm>
            <a:off x="3922776" y="3442716"/>
            <a:ext cx="4617720" cy="0"/>
          </a:xfrm>
          <a:prstGeom prst="line">
            <a:avLst/>
          </a:prstGeom>
          <a:noFill/>
          <a:ln w="9525">
            <a:solidFill>
              <a:srgbClr val="DDE0E3"/>
            </a:solidFill>
            <a:prstDash val="solid"/>
          </a:ln>
        </p:spPr>
      </p:sp>
      <p:sp>
        <p:nvSpPr>
          <p:cNvPr id="13" name="Text 11"/>
          <p:cNvSpPr txBox="1"/>
          <p:nvPr/>
        </p:nvSpPr>
        <p:spPr>
          <a:xfrm>
            <a:off x="3922776" y="353415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808476"/>
            <a:ext cx="4617720" cy="176936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suffix "-ilom" on "xvu46dbm07-ilom"; server name "xvu46dbm07"</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xvu46dbm07 [linux_server] ip 30.52.3.138 -&gt;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suffix ilom / linux_server</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xvu46dbm07</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xvu46dbm07.sdi.corp.bankofamerica.com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30.52.3.138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2345XLD01C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Oracle Sun x86 Systems X9-2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a8cf49353b4e6a90be6d95c964e45a24"/>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a8cf49353b4e6a90be6d95c964e45a24"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sgcpap1mbl11-rmm.network.asia.bankofamerica.com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SDI000003103867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sgcpap1mbl11-rmm.network.asia.bankofamerica.com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171.147.167.59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iDRAC Device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05:53:56</a:t>
            </a:r>
            <a:endParaRPr lang="en-US" sz="1250" dirty="0"/>
          </a:p>
        </p:txBody>
      </p:sp>
      <p:sp>
        <p:nvSpPr>
          <p:cNvPr id="8" name="Text 6">
            <a:hlinkClick r:id="rId1" tooltip="https://bofasecopsdev.service-now.com/sn_sec_cmn_src_ci_list.do?sysparm_query=number=SDI00000310386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386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54076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"sgcpap1mbl11-rmm"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"iDRAC Device"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"iDRAC Device" gives no class / no record named "sgcpap1mbl11-rmm"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"sgcpap1mbl11-rmm.network.asia.bankofamerica.com"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"iDRAC Device" gives no class / no record in the hardware tree named "sgcpap1mbl11-rmm"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"sgcpap1mbl11-rmm" in IP Phone or Imaging Hardware</a:t>
            </a:r>
            <a:endParaRPr lang="en-US" sz="950" dirty="0"/>
          </a:p>
        </p:txBody>
      </p:sp>
      <p:sp>
        <p:nvSpPr>
          <p:cNvPr id="12" name="Shape 10"/>
          <p:cNvSpPr/>
          <p:nvPr/>
        </p:nvSpPr>
        <p:spPr>
          <a:xfrm>
            <a:off x="3922776" y="3369564"/>
            <a:ext cx="4617720" cy="0"/>
          </a:xfrm>
          <a:prstGeom prst="line">
            <a:avLst/>
          </a:prstGeom>
          <a:noFill/>
          <a:ln w="9525">
            <a:solidFill>
              <a:srgbClr val="DDE0E3"/>
            </a:solidFill>
            <a:prstDash val="solid"/>
          </a:ln>
        </p:spPr>
      </p:sp>
      <p:sp>
        <p:nvSpPr>
          <p:cNvPr id="13" name="Text 11"/>
          <p:cNvSpPr txBox="1"/>
          <p:nvPr/>
        </p:nvSpPr>
        <p:spPr>
          <a:xfrm>
            <a:off x="3922776" y="346100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735324"/>
            <a:ext cx="4617720" cy="184251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suffix "-rmm" on "sgcpap1mbl11-rmm"; server name "sgcpap1mbl11"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SGCPAP1MBL11 [ip_firewall] ip 171.147.167.57 -&gt;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suffix rmm / ip_firewall</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SGCPAP1MBL11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Firewall</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171.147.167.57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G0D8446024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Musarubra US LLC F-Series WBG-5500-F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firewall.do?sys_id=f7300d7d3b466a90be6d95c964e45a21"/>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firewall.do?sys_id=f7300d7d3b466a90be6d95c964e45a21"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Network Interface Name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Management Interface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Name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8,786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DNS label of a network device scanned through an interface or VLAN address, which is the device name plus an interface tail, and returns the device named by the longest hyphen prefix of the label that names exactly one Network Gear or Load Balancer CI. It sits after USEM Management Interface Match so controller labels resolve to servers first, and before the FQDN name and load balancer rules.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Otherwise coerces to a string, trims and lower-cases it; label is the text before the first dot; segments is the label split on '-'. Fewer than two segments (no hyphen) means no interface tail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_ignoreClass when the framework defines and fills it, otherwise gs.getProperty('sn_sec_cmn.ignoreCIClass', ''). When non-empty every name search below adds sys_class_name NOT IN ignore.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isMarker: recognise an interface segment.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segment is a marker when it equals a listed word, or starts with the word and the rest is digits only (/^[0-9]+$/, so 'vlan705', 'v201', 'po10', 'lo0'), or, for words of three letters or more, is longer than the word and ends with it ('fasteth').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interface sign.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sign is present when the full DNS string contains a domains entry ('.network.') or any segment after the first is a marker; the first segment is never tested. Without it the rule returns null, so hyphenated hostnames like ah-1047132-001 are never cut.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the prefixes, longest first.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k runs from segments.length - 1 down to 1; base is the first k segments joined by '-'. The full label is never tried, and the single first segment is the last prefix tried. Sample order: '...-cz04-hsrp', '...-cz04', 'uspaltwrr01drm0119'.</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Network Gear and Load Balancer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Per prefix a fresh empty hits array, then one GlideRecord per table (cmdb_ci_netgear, then cmdb_ci_lb; a table failing isValid() is skipped): addQuery('name', base) plus the ignore filter; both tables push sys_ids into that array while under two.</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the first prefix that finds anything.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Zero hits: continue with the next shorter prefix. Two hits, whether in one table or one per table: return null and never guess. One hit: return that sys_id. No setLimit, no active, status, address, OS or retired test; a retired record counts as a hit.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Exhausted walk.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no prefix down to the first segment names any Network Gear or Load Balancer record, the loop ends and the rule returns null; the host passes to USEM FQDN Name Hardware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label has no hyphen (segments.length &lt; 2)</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interface sign: the DNS contains no '.network.' and no segment after the first is a listed marker</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prefix that names anything names two or more CIs across cmdb_ci_netgear and cmdb_ci_lb together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prefix from the longest down to the first segment names any CI in either table (a table failing isValid() contributes nothing)</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twtwtpett48bdm0002-eth1-18.network.asia.bankofamerica.com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SDI000003800077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twtwtpett48bdm0002-eth1-18.network.asia.bankofamerica.com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165.46.245.162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Nexus Switch</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06:00:29</a:t>
            </a:r>
            <a:endParaRPr lang="en-US" sz="1250" dirty="0"/>
          </a:p>
        </p:txBody>
      </p:sp>
      <p:sp>
        <p:nvSpPr>
          <p:cNvPr id="8" name="Text 6">
            <a:hlinkClick r:id="rId1" tooltip="https://bofasecopsdev.service-now.com/sn_sec_cmn_src_ci_list.do?sysparm_query=number=SDI00000380007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8000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73736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"twtwtpett48bdm0002-eth1-18"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"twtwtpett48bdm0002-eth1-18"</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"twtwtpett48bdm0002-eth1-18.network.asia.bankofamerica.com"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named "twtwtpett48bdm0002-eth1-18"</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gives the class netgear</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controller suffix or OS word</a:t>
            </a:r>
            <a:endParaRPr lang="en-US" sz="950" dirty="0"/>
          </a:p>
        </p:txBody>
      </p:sp>
      <p:sp>
        <p:nvSpPr>
          <p:cNvPr id="12" name="Shape 10"/>
          <p:cNvSpPr/>
          <p:nvPr/>
        </p:nvSpPr>
        <p:spPr>
          <a:xfrm>
            <a:off x="3922776" y="3566160"/>
            <a:ext cx="4617720" cy="0"/>
          </a:xfrm>
          <a:prstGeom prst="line">
            <a:avLst/>
          </a:prstGeom>
          <a:noFill/>
          <a:ln w="9525">
            <a:solidFill>
              <a:srgbClr val="DDE0E3"/>
            </a:solidFill>
            <a:prstDash val="solid"/>
          </a:ln>
        </p:spPr>
      </p:sp>
      <p:sp>
        <p:nvSpPr>
          <p:cNvPr id="13" name="Text 11"/>
          <p:cNvSpPr txBox="1"/>
          <p:nvPr/>
        </p:nvSpPr>
        <p:spPr>
          <a:xfrm>
            <a:off x="3922776" y="36576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931920"/>
            <a:ext cx="4617720" cy="16459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domain ".network.", segment "eth1"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"twtwtpett48bdm0002-eth1": nothing | "twtwtpett48bdm0002": twtwtpett48bdm0002 [ip_switch] ip 165.46.245.65 -&gt; one device at prefix "twtwtpett48bdm0002",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ip_switch</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twtwtpett48bdm0002</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165.46.245.65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FDO23011EPA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Nexus 9300-EX Series 93180YC-EX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switch.do?sys_id=aaac6f842b256610cca5f39ec891bf8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aaac6f842b256610cca5f39ec891bf8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sgsgsings07drm0156-cz01-v800.network.asia.bankofamerica.com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SDI000003800075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sgsgsings07drm0156-cz01-v800.network.asia.bankofamerica.com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165.40.76.3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05:55:44</a:t>
            </a:r>
            <a:endParaRPr lang="en-US" sz="1250" dirty="0"/>
          </a:p>
        </p:txBody>
      </p:sp>
      <p:sp>
        <p:nvSpPr>
          <p:cNvPr id="8" name="Text 6">
            <a:hlinkClick r:id="rId1" tooltip="https://bofasecopsdev.service-now.com/sn_sec_cmn_src_ci_list.do?sysparm_query=number=SDI00000380007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80007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88366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"sgsgsings07drm0156-cz01-v800"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"sgsgsings07drm0156-cz01-v800"</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"sgsgsings07drm0156-cz01-v800.network.asia.bankofamerica.com"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"sgsgsings07drm0156-cz01-v800"</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"sgsgsings07drm0156-cz01-v800" in IP Phone or Imaging Hardware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controller suffix or OS word</a:t>
            </a:r>
            <a:endParaRPr lang="en-US" sz="950" dirty="0"/>
          </a:p>
        </p:txBody>
      </p:sp>
      <p:sp>
        <p:nvSpPr>
          <p:cNvPr id="12" name="Shape 10"/>
          <p:cNvSpPr/>
          <p:nvPr/>
        </p:nvSpPr>
        <p:spPr>
          <a:xfrm>
            <a:off x="3922776" y="3712464"/>
            <a:ext cx="4617720" cy="0"/>
          </a:xfrm>
          <a:prstGeom prst="line">
            <a:avLst/>
          </a:prstGeom>
          <a:noFill/>
          <a:ln w="9525">
            <a:solidFill>
              <a:srgbClr val="DDE0E3"/>
            </a:solidFill>
            <a:prstDash val="solid"/>
          </a:ln>
        </p:spPr>
      </p:sp>
      <p:sp>
        <p:nvSpPr>
          <p:cNvPr id="13" name="Text 11"/>
          <p:cNvSpPr txBox="1"/>
          <p:nvPr/>
        </p:nvSpPr>
        <p:spPr>
          <a:xfrm>
            <a:off x="3922776" y="380390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078224"/>
            <a:ext cx="4617720" cy="149961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domain ".network.", segment "v800"</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"sgsgsings07drm0156-cz01": SGSGSINGS07DRM0156-CZ01 [ip_switch] ip 10.214.82.151 -&gt; one device at prefix "sgsgsings07drm0156-cz01",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2 / ip_switch</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SGSGSINGS07DRM0156-CZ01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10.214.82.151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JPN2607P6E5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ARISTA DCS-7280SR3M-48YC8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ip_switch.do?sys_id=28acb0423bd00754a052e71864e45a01"/>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28acb0423bd00754a052e71864e45a01"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sgcppz1utilb01a-aom.asia.bankofamerica.com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SDI000003799353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sgcppz1utilb01a-aom.asia.bankofamerica.com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171.147.168.145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JetDirect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05:51:47</a:t>
            </a:r>
            <a:endParaRPr lang="en-US" sz="1250" dirty="0"/>
          </a:p>
        </p:txBody>
      </p:sp>
      <p:sp>
        <p:nvSpPr>
          <p:cNvPr id="8" name="Text 6">
            <a:hlinkClick r:id="rId1" tooltip="https://bofasecopsdev.service-now.com/sn_sec_cmn_src_ci_list.do?sysparm_query=number=SDI00000379935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6420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"sgcppz1utilb01a-aom"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"sgcppz1utilb01a-aom"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"sgcppz1utilb01a-aom.asia.bankofamerica.com"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named "sgcppz1utilb01a-aom"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gives the class printer</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controller suffix or OS word</a:t>
            </a:r>
            <a:endParaRPr lang="en-US" sz="950" dirty="0"/>
          </a:p>
        </p:txBody>
      </p:sp>
      <p:sp>
        <p:nvSpPr>
          <p:cNvPr id="12" name="Shape 10"/>
          <p:cNvSpPr/>
          <p:nvPr/>
        </p:nvSpPr>
        <p:spPr>
          <a:xfrm>
            <a:off x="3922776" y="3493008"/>
            <a:ext cx="4617720" cy="0"/>
          </a:xfrm>
          <a:prstGeom prst="line">
            <a:avLst/>
          </a:prstGeom>
          <a:noFill/>
          <a:ln w="9525">
            <a:solidFill>
              <a:srgbClr val="DDE0E3"/>
            </a:solidFill>
            <a:prstDash val="solid"/>
          </a:ln>
        </p:spPr>
      </p:sp>
      <p:sp>
        <p:nvSpPr>
          <p:cNvPr id="13" name="Text 11"/>
          <p:cNvSpPr txBox="1"/>
          <p:nvPr/>
        </p:nvSpPr>
        <p:spPr>
          <a:xfrm>
            <a:off x="3922776" y="358444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858768"/>
            <a:ext cx="4617720" cy="171907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segment "aom"</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"sgcppz1utilb01a": SGCPPZ1UTILB01A [lb] ip 171.147.168.144 -&gt; one device at prefix "sgcppz1utilb01a",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lb</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SGCPPZ1UTILB01A</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171.147.168.144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F5-MYIJ-FDDE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INC BIG-IP 10350F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b.do?sys_id=fedb74f52bc6ae94d28af8a4ce91bf69"/>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do?sys_id=fedb74f52bc6ae94d28af8a4ce91bf69"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Network Interface Name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Load Balancer Member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29,770</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 CI whose name field holds the complete scanned FQDN (loads that named the CI with the whole string, typically the appliance domains ending in .rpg) anywhere under cmdb_ci_hardware. It sits after the fqdn-field and short-hostname rules because those cover normal naming; this one only rescues CIs that none of them can see.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on the name field.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GlideRecord('cmdb_ci_hardware'), addQuery('name', normalised FQDN), the NOT IN ignore condition when set, then query(). The whole string including the domain is compared; Hardware and every class beneath it are searched. No setLimit, no isValid() guard.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row with 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gr.next() is false the rule returns null. Otherwise match holds gr.getUniqueValue() of that first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Reject a second row with hasNext().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gr.hasNext() is true a second CI carries the same name and the rule returns null; the scanned IP, the class or a retired status never break the tie.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single match.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outside the ignored classes has name equal to the scanned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such CIs share that name (gr.hasNext() true), whatever their IP, class or status</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EXAMPLE 1 OF 1</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ca9-107-01-m02.bankofamerica.com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SDI000003103157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ca9-107-01-m02.bankofamerica.com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10.165.133.9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05:52:39</a:t>
            </a:r>
            <a:endParaRPr lang="en-US" sz="1250" dirty="0"/>
          </a:p>
        </p:txBody>
      </p:sp>
      <p:sp>
        <p:nvSpPr>
          <p:cNvPr id="8" name="Text 6">
            <a:hlinkClick r:id="rId1" tooltip="https://bofasecopsdev.service-now.com/sn_sec_cmn_src_ci_list.do?sysparm_query=number=SDI00000310315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315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860804"/>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"ca9-107-01-m02"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"ca9-107-01-m02"</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"ca9-107-01-m02.bankofamerica.com"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"ca9-107-01-m02"</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printer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p:txBody>
      </p:sp>
      <p:sp>
        <p:nvSpPr>
          <p:cNvPr id="12" name="Shape 10"/>
          <p:cNvSpPr/>
          <p:nvPr/>
        </p:nvSpPr>
        <p:spPr>
          <a:xfrm>
            <a:off x="3922776" y="3689604"/>
            <a:ext cx="4617720" cy="0"/>
          </a:xfrm>
          <a:prstGeom prst="line">
            <a:avLst/>
          </a:prstGeom>
          <a:noFill/>
          <a:ln w="9525">
            <a:solidFill>
              <a:srgbClr val="DDE0E3"/>
            </a:solidFill>
            <a:prstDash val="solid"/>
          </a:ln>
        </p:spPr>
      </p:sp>
      <p:sp>
        <p:nvSpPr>
          <p:cNvPr id="13" name="Text 11"/>
          <p:cNvSpPr txBox="1"/>
          <p:nvPr/>
        </p:nvSpPr>
        <p:spPr>
          <a:xfrm>
            <a:off x="3922776" y="378104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055364"/>
            <a:ext cx="4617720" cy="152247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"ca9-107-01-m02.bankofamerica.com" searched on the name field of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CA9-107-01-M02.BANKOFAMERICA.COM [printer]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CA9-107-01-M02.BANKOFAMERICA.COM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MXBCQBV0FZ</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HP E52645c MFP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7ed9e0b82b86ae54d50dffbdbe91bf4b"/>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7ed9e0b82b86ae54d50dffbdbe91bf4b"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Member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Name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Load Balancer Service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CMDB's own load balancer model rather than any host identifier: when the virtual server the scan hit has a fully known pool whose every member leads to one and the same machine, that machine owns the findings. It sits after the hardware rules, which find no server for a VIP, and before USEM Load Balancer Service Match so that a real server is preferred to the VIP record.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ignore classes come from the framework variable _ignoreClass when defined and non-empty, else gs.getProperty('sn_sec_cmn.ignoreCIClass', ''); when non-empty, applied as sys_class_name NOT IN on each service query and by exact class name in isRealServer.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VIP sign.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The virtual server in cmdb_ci_lb_service.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Four steps, stopping at the first that finds rows: fqdn = dns, name = dns, name = label, ip_address = ip, with sys_class_name NOT IN the ignore list when it is non-empty. An empty search value skips its step; an invalid cmdb_ci_lb_service table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Twins of one virtual server.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step reads all rows with next() and collects trimmed lower-cased names before narrowing; two distinct names return null. Rows narrow to those whose ip_address equals the scanned IP, then, if more than one remains, to the live ones; all left are twins.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Pools behind every twin.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For each twin: the pool reference field on cmdb_ci_lb_service, every cmdb_ci_lb_pool whose service field is the twin, and every cmdb_ci_lb_pool tied to the twin through cmdb_rel_ci in either direction. No pool at all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Members and their addresses.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Members are cmdb_ci_lb_pool_member rows (table valid) with pool IN the pool ids, plus members tied to a pool through cmdb_rel_ci, one already listed skipped; each is kept with its ip_address, an empty one as '' so no address search runs. None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Placing each member on a server.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address is looked for in cmdb_ci_hardware.ip_address, cmdb_ci_network_adapter.ip_address (cmdb_ci not empty) and cmdb_ci_ip_address.ip_address (nic.cmdb_ci not empty); each member also follows cmdb_rel_ci to hardware. Hits pass isRealServer through keep.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Deciding the one machine.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Servers are keyed by the first label of their lower-cased name; a member leading to none counts as unplaced. Any unplaced member, or not exactly one name, returns null. One record is returned; of several records of one name, a single live one, else null.</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IP is empty or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cmdb_ci_lb_service is not a valid table on the instance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search step returns cmdb_ci_lb_service records with two or more distinct names (trimmed, lower-cased)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pool reached from any kept service record: empty pool field, no cmdb_ci_lb_pool with service = that record, no pool related through cmdb_rel_ci</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pools have no cmdb_ci_lb_pool_member, neither by the member's pool field nor by a cmdb_rel_ci relationship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Any member leads to no real server (unresolved count above zero), leaving the pool partly unknown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servers found carry zero, or two or more, distinct name labels (no server, or two different machines)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one machine is recorded more than once and the live (not retired) records among them number zero or more than one</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boluiv4-dev2-benefits-l7-vip1.dev.gwimnp.rpg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SDI000002993687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boluiv4-dev2-benefits-l7-vip1.dev.gwimnp.rpg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10.143.53.96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10:40:47</a:t>
            </a:r>
            <a:endParaRPr lang="en-US" sz="1250" dirty="0"/>
          </a:p>
        </p:txBody>
      </p:sp>
      <p:sp>
        <p:nvSpPr>
          <p:cNvPr id="8" name="Text 6">
            <a:hlinkClick r:id="rId1" tooltip="https://bofasecopsdev.service-now.com/sn_sec_cmn_src_ci_list.do?sysparm_query=number=SDI0000029936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936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00200"/>
          </a:xfrm>
          <a:prstGeom prst="rect">
            <a:avLst/>
          </a:prstGeom>
          <a:noFill/>
          <a:ln/>
        </p:spPr>
        <p:txBody>
          <a:bodyPr wrap="square" lIns="0" tIns="0" rIns="0" bIns="0" rtlCol="0" anchor="t">
            <a:normAutofit/>
          </a:bodyPr>
          <a:lstStyle/>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serial reported</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label "boluiv4-dev2-benefits-l7-vip1" is not sep + 12 hex</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OS "F5 Networks Big-IP" gives no class / no record named "boluiv4-dev2-benefits-l7-vip1"</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DNS Name record for "boluiv4-dev2-benefits-l7-vip1.dev.gwimnp.rpg"</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OS "F5 Networks Big-IP" gives no class / no record in the hardware tree named "boluiv4-dev2-benefits-l7-vip1"</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none named "boluiv4-dev2-benefits-l7-vip1" in IP Phone or Imaging Hardware</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controller suffix or OS word</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interface domain or marker</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record in the hardware tree named "boluiv4-dev2-benefits-l7-vip1.dev.gwimnp.rpg"</a:t>
            </a:r>
            <a:endParaRPr lang="en-US" sz="800" dirty="0"/>
          </a:p>
        </p:txBody>
      </p:sp>
      <p:sp>
        <p:nvSpPr>
          <p:cNvPr id="12" name="Shape 10"/>
          <p:cNvSpPr/>
          <p:nvPr/>
        </p:nvSpPr>
        <p:spPr>
          <a:xfrm>
            <a:off x="3922776" y="3429000"/>
            <a:ext cx="4617720" cy="0"/>
          </a:xfrm>
          <a:prstGeom prst="line">
            <a:avLst/>
          </a:prstGeom>
          <a:noFill/>
          <a:ln w="9525">
            <a:solidFill>
              <a:srgbClr val="DDE0E3"/>
            </a:solidFill>
            <a:prstDash val="solid"/>
          </a:ln>
        </p:spPr>
      </p:sp>
      <p:sp>
        <p:nvSpPr>
          <p:cNvPr id="13" name="Text 11"/>
          <p:cNvSpPr txBox="1"/>
          <p:nvPr/>
        </p:nvSpPr>
        <p:spPr>
          <a:xfrm>
            <a:off x="3922776" y="352044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794760"/>
            <a:ext cx="4617720" cy="178308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950" dirty="0">
                <a:solidFill>
                  <a:srgbClr val="24272A"/>
                </a:solidFill>
                <a:latin typeface="Arial" pitchFamily="34" charset="0"/>
                <a:ea typeface="Arial" pitchFamily="34" charset="-122"/>
                <a:cs typeface="Arial" pitchFamily="34" charset="-120"/>
              </a:rPr>
              <a:t>OS has "f5", OS has "big-ip", label segment "vip1"</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950" dirty="0">
                <a:solidFill>
                  <a:srgbClr val="24272A"/>
                </a:solidFill>
                <a:latin typeface="Arial" pitchFamily="34" charset="0"/>
                <a:ea typeface="Arial" pitchFamily="34" charset="-122"/>
                <a:cs typeface="Arial" pitchFamily="34" charset="-120"/>
              </a:rPr>
              <a:t>no service record; next clue</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 4: ip_address = "10.143.53.96"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service record: /Common/ihscore-dev2-boluiv4_benefits-6011-vip on 10.143.53.96 (svedpz1rp1lb12)</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/Common/ihscore-dev2-boluiv4_benefits-6011-pool (pool field)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/Common/ihscore-dev2-lva62pwbolws51v-node 171.184.193.14 -&gt; lva62pwbolws51v (device record, adapter, IP Address record)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member(s), 1 server record(s), 1 machine(s) by name; one machine, one record: the member rule returns it</a:t>
            </a:r>
            <a:endParaRPr lang="en-US" sz="9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service / 1 member / 1 machine</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lva62pwbolws51v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lva62pwbolws51v.sdi.ssc3.ext3.bankofamerica3.com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171.184.193.14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27 25 b9 6c 36 c0 37-53 0a ac 92 8d 40 9f 3c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f2130b8693966a107fb5f842ed03d653"/>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f2130b8693966a107fb5f842ed03d653"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aim-xfer-dev-ltwbt1-vip.bankofamerica.com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SDI000003786277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aim-xfer-dev-ltwbt1-vip.bankofamerica.com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171.206.7.25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2026-09-19 23:40:12</a:t>
            </a:r>
            <a:endParaRPr lang="en-US" sz="1250" dirty="0"/>
          </a:p>
        </p:txBody>
      </p:sp>
      <p:sp>
        <p:nvSpPr>
          <p:cNvPr id="8" name="Text 6">
            <a:hlinkClick r:id="rId1" tooltip="https://bofasecopsdev.service-now.com/sn_sec_cmn_src_ci_list.do?sysparm_query=number=SDI00000378627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862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00200"/>
          </a:xfrm>
          <a:prstGeom prst="rect">
            <a:avLst/>
          </a:prstGeom>
          <a:noFill/>
          <a:ln/>
        </p:spPr>
        <p:txBody>
          <a:bodyPr wrap="square" lIns="0" tIns="0" rIns="0" bIns="0" rtlCol="0" anchor="t">
            <a:normAutofit/>
          </a:bodyPr>
          <a:lstStyle/>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serial reported</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label "aim-xfer-dev-ltwbt1-vip" is not sep + 12 hex</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record in the hardware tree carries the fqdn</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record named "aim-xfer-dev-ltwbt1-vip"</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DNS Name record for "aim-xfer-dev-ltwbt1-vip.bankofamerica.com"</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record in the hardware tree named "aim-xfer-dev-ltwbt1-vip"</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none named "aim-xfer-dev-ltwbt1-vip" in IP Phone or Imaging Hardware</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controller suffix or OS word</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interface domain or marker</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record in the hardware tree named "aim-xfer-dev-ltwbt1-vip.bankofamerica.com"</a:t>
            </a:r>
            <a:endParaRPr lang="en-US" sz="800" dirty="0"/>
          </a:p>
        </p:txBody>
      </p:sp>
      <p:sp>
        <p:nvSpPr>
          <p:cNvPr id="12" name="Shape 10"/>
          <p:cNvSpPr/>
          <p:nvPr/>
        </p:nvSpPr>
        <p:spPr>
          <a:xfrm>
            <a:off x="3922776" y="3429000"/>
            <a:ext cx="4617720" cy="0"/>
          </a:xfrm>
          <a:prstGeom prst="line">
            <a:avLst/>
          </a:prstGeom>
          <a:noFill/>
          <a:ln w="9525">
            <a:solidFill>
              <a:srgbClr val="DDE0E3"/>
            </a:solidFill>
            <a:prstDash val="solid"/>
          </a:ln>
        </p:spPr>
      </p:sp>
      <p:sp>
        <p:nvSpPr>
          <p:cNvPr id="13" name="Text 11"/>
          <p:cNvSpPr txBox="1"/>
          <p:nvPr/>
        </p:nvSpPr>
        <p:spPr>
          <a:xfrm>
            <a:off x="3922776" y="352044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794760"/>
            <a:ext cx="4617720" cy="178308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950" dirty="0">
                <a:solidFill>
                  <a:srgbClr val="24272A"/>
                </a:solidFill>
                <a:latin typeface="Arial" pitchFamily="34" charset="0"/>
                <a:ea typeface="Arial" pitchFamily="34" charset="-122"/>
                <a:cs typeface="Arial" pitchFamily="34" charset="-120"/>
              </a:rPr>
              <a:t>label segment "vip"</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950" dirty="0">
                <a:solidFill>
                  <a:srgbClr val="24272A"/>
                </a:solidFill>
                <a:latin typeface="Arial" pitchFamily="34" charset="0"/>
                <a:ea typeface="Arial" pitchFamily="34" charset="-122"/>
                <a:cs typeface="Arial" pitchFamily="34" charset="-120"/>
              </a:rPr>
              <a:t>no service record; next clue</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 4: ip_address = "171.206.7.25"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service records: /Common/aim-xfer-dev_t_22 on 171.206.7.25 (ltwqbt1utilb01a) ; /Common/aim-xfer-dev_t_22 on 171.206.7.25 (ltwqbt1utilb01b) ; /Common/aim-xfer-dev_t_22 on 171.206.7.25 (ltwqbt1utilb01b) ; ...</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Twins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records of one name are one virtual server recorded more than once: 4 kept on the scanned address; the member rule walks the pools of all 4, the service rule declines on 4 live records</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all the twins point at the one pool /Common/aim-xfer-dev_t_22</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/Common/30.123.135.170 30.123.135.170, every one leads to ah-1062287-001 (device record, adapter, IP Address record)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member(s), 1 server record(s), 1 machine(s) by name; one machine, one record: the member rule returns it</a:t>
            </a:r>
            <a:endParaRPr lang="en-US" sz="9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twins / 4 members / 1 machine</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ah-1062287-001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ah-1062287-001.sdi.corp.bankofamerica.com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30.123.135.170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13 33 b1 97 f0 9e 97-b1 a0 ca 1b 8a 2c fc 7b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6dba925b2b1ca210e9c1f4cdce91bf42"/>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6dba925b2b1ca210e9c1f4cdce91bf42"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ccgw-l7-vip2.sit1.gwimnp.rpg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SDI000002418623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ccgw-l7-vip2.sit1.gwimnp.rpg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03:12:39</a:t>
            </a:r>
            <a:endParaRPr lang="en-US" sz="1250" dirty="0"/>
          </a:p>
        </p:txBody>
      </p:sp>
      <p:sp>
        <p:nvSpPr>
          <p:cNvPr id="8" name="Text 6">
            <a:hlinkClick r:id="rId1" tooltip="https://bofasecopsdev.service-now.com/sn_sec_cmn_src_ci_list.do?sysparm_query=number=SDI00000241862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1862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00200"/>
          </a:xfrm>
          <a:prstGeom prst="rect">
            <a:avLst/>
          </a:prstGeom>
          <a:noFill/>
          <a:ln/>
        </p:spPr>
        <p:txBody>
          <a:bodyPr wrap="square" lIns="0" tIns="0" rIns="0" bIns="0" rtlCol="0" anchor="t">
            <a:normAutofit/>
          </a:bodyPr>
          <a:lstStyle/>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serial reported</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label "ccgw-l7-vip2" is not sep + 12 hex</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OS "F5 Networks Big-IP" gives no class / no record named "ccgw-l7-vip2"</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DNS Name record for "ccgw-l7-vip2.sit1.gwimnp.rpg"</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800" dirty="0">
                <a:solidFill>
                  <a:srgbClr val="24272A"/>
                </a:solidFill>
                <a:latin typeface="Arial" pitchFamily="34" charset="0"/>
                <a:ea typeface="Arial" pitchFamily="34" charset="-122"/>
                <a:cs typeface="Arial" pitchFamily="34" charset="-120"/>
              </a:rPr>
              <a:t>OS "F5 Networks Big-IP" gives no class / no record in the hardware tree named "ccgw-l7-vip2"</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none named "ccgw-l7-vip2" in IP Phone or Imaging Hardware</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controller suffix or OS word</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interface domain or marker</a:t>
            </a:r>
            <a:endParaRPr lang="en-US" sz="800" dirty="0"/>
          </a:p>
          <a:p>
            <a:pPr marL="152400" indent="-152400">
              <a:buSzPct val="100000"/>
              <a:buChar char="•"/>
            </a:pPr>
            <a:r>
              <a:rPr lang="en-US" sz="8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800" dirty="0">
                <a:solidFill>
                  <a:srgbClr val="24272A"/>
                </a:solidFill>
                <a:latin typeface="Arial" pitchFamily="34" charset="0"/>
                <a:ea typeface="Arial" pitchFamily="34" charset="-122"/>
                <a:cs typeface="Arial" pitchFamily="34" charset="-120"/>
              </a:rPr>
              <a:t>no record in the hardware tree named "ccgw-l7-vip2.sit1.gwimnp.rpg"</a:t>
            </a:r>
            <a:endParaRPr lang="en-US" sz="800" dirty="0"/>
          </a:p>
        </p:txBody>
      </p:sp>
      <p:sp>
        <p:nvSpPr>
          <p:cNvPr id="12" name="Shape 10"/>
          <p:cNvSpPr/>
          <p:nvPr/>
        </p:nvSpPr>
        <p:spPr>
          <a:xfrm>
            <a:off x="3922776" y="3429000"/>
            <a:ext cx="4617720" cy="0"/>
          </a:xfrm>
          <a:prstGeom prst="line">
            <a:avLst/>
          </a:prstGeom>
          <a:noFill/>
          <a:ln w="9525">
            <a:solidFill>
              <a:srgbClr val="DDE0E3"/>
            </a:solidFill>
            <a:prstDash val="solid"/>
          </a:ln>
        </p:spPr>
      </p:sp>
      <p:sp>
        <p:nvSpPr>
          <p:cNvPr id="13" name="Text 11"/>
          <p:cNvSpPr txBox="1"/>
          <p:nvPr/>
        </p:nvSpPr>
        <p:spPr>
          <a:xfrm>
            <a:off x="3922776" y="352044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794760"/>
            <a:ext cx="4617720" cy="178308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950" dirty="0">
                <a:solidFill>
                  <a:srgbClr val="24272A"/>
                </a:solidFill>
                <a:latin typeface="Arial" pitchFamily="34" charset="0"/>
                <a:ea typeface="Arial" pitchFamily="34" charset="-122"/>
                <a:cs typeface="Arial" pitchFamily="34" charset="-120"/>
              </a:rPr>
              <a:t>OS has "f5", OS has "big-ip", label segment "vip2"</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950" dirty="0">
                <a:solidFill>
                  <a:srgbClr val="24272A"/>
                </a:solidFill>
                <a:latin typeface="Arial" pitchFamily="34" charset="0"/>
                <a:ea typeface="Arial" pitchFamily="34" charset="-122"/>
                <a:cs typeface="Arial" pitchFamily="34" charset="-120"/>
              </a:rPr>
              <a:t>no service record; next clue</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 4: ip_address = "10.143.52.217"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service record: /Common/ihscore-sit1-ccgw-6011-vip on 10.143.52.217 (svedpz1rp4lb10)</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/Common/ihscore-sit1-ccgw-443-pool (pool field)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/Common/ihscore-sit1-lva71pwbolcc01v-node 10.143.72.200 -&gt; lva71pwbolcc01v (device record, adapter, IP Address record)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member(s), 1 server record(s), 1 machine(s) by name; one machine, one record: the member rule returns it</a:t>
            </a:r>
            <a:endParaRPr lang="en-US" sz="9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service / 1 member / 1 machine</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lva71pwbolcc01v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lva71pwbolcc01v.sdi.ssc3.ext3.bankofamerica3.com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10.143.72.200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27 ff a8 e9 3d 0e ce-24 f6 1e f2 a0 ea 46 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ddcdddf02b462294d50dffbdbe91bf9b"/>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ddcdddf02b462294d50dffbdbe91bf9b"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Service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Load Balancer Member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634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Load Balancer Service CI that models the virtual IP: a VIP is not the balancer device, which the hardware rules refuse on purpose, so the host is attached to the service record found by fqdn, then name, then address. It runs on the IP field so VIPs without a DNS name are covered, after USEM Load Balancer Member Match so a real server is preferred, and before the IP address rules.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ignore classes come from the framework variable _ignoreClass when defined and non-empty, else from gs.getProperty('sn_sec_cmn.ignoreCIClass', ''); when non-empty it is added as sys_class_name NOT IN on every cmdb_ci_lb_service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VIP sign.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Four search steps in cmdb_ci_lb_service.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In order: fqdn = dns, name = dns, name = label, ip_address = ip, with sys_class_name NOT IN the ignore list when non-empty. An empty search value skips its step; a step with no rows hands over to the next; an invalid cmdb_ci_lb_service table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Narrowing the rows of a step.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Rows are read with next(); names (trimmed, lower-cased) are collected before narrowing; two distinct names return null. Rows narrow to those with ip_address equal to the scanned IP, then, if more than one remains, to the live ones; more than one left is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Result.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single row left in the first step that found anything is returned as its sys_id. When all four steps find nothing the rule returns null and the host passes to the IP address rules.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IP is empty or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cmdb_ci_lb_service is not a valid table on the instance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search step returns cmdb_ci_lb_service records with two or more distinct names (trimmed, lower-cased)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More than one record of the one virtual server survives narrowing by scanned address and then by live status (both devices of a pair live)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olmerrillweb-review1-l7-vip1.gwimnp.rpg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SDI000003055580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olmerrillweb-review1-l7-vip1.gwimnp.rpg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11:16:34</a:t>
            </a:r>
            <a:endParaRPr lang="en-US" sz="1250" dirty="0"/>
          </a:p>
        </p:txBody>
      </p:sp>
      <p:sp>
        <p:nvSpPr>
          <p:cNvPr id="8" name="Text 6">
            <a:hlinkClick r:id="rId1" tooltip="https://bofasecopsdev.service-now.com/sn_sec_cmn_src_ci_list.do?sysparm_query=number=SDI00000305558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55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"olmerrillweb-review1-l7-vip1"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"olmerrillweb-review1-l7-vip1"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"olmerrillweb-review1-l7-vip1.gwimnp.rpg"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"olmerrillweb-review1-l7-vip1"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"olmerrillweb-review1-l7-vip1"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"olmerrillweb-review1-l7-vip1.gwimnp.rpg"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Members: none: the member rule declines</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has "f5", OS has "big-ip", label segment "vip1"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no service record; next clue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 4: ip_address = "10.143.52.113"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service record: /Common/ait74300-review1-origin_mymerrill_cdn-6001-vip on 10.143.52.113 (svedpz1rp2lb10)</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/Common/ait74300-review1-origin_mymerrill_cdn-6001-vip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svedpz1rp2lb10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lb_service.do?sys_id=84466888930e0b50205fb5627cba107c"/>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84466888930e0b50205fb5627cba107c"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olmerrillweb-preview1-l7-vip1.gwimnp.rpg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SDI000003036490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olmerrillweb-preview1-l7-vip1.gwimnp.rpg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10.143.52.108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11:05:41</a:t>
            </a:r>
            <a:endParaRPr lang="en-US" sz="1250" dirty="0"/>
          </a:p>
        </p:txBody>
      </p:sp>
      <p:sp>
        <p:nvSpPr>
          <p:cNvPr id="8" name="Text 6">
            <a:hlinkClick r:id="rId1" tooltip="https://bofasecopsdev.service-now.com/sn_sec_cmn_src_ci_list.do?sysparm_query=number=SDI00000303649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3649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"olmerrillweb-preview1-l7-vip1"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"olmerrillweb-preview1-l7-vip1"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"olmerrillweb-preview1-l7-vip1.gwimnp.rpg"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"olmerrillweb-preview1-l7-vip1"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"olmerrillweb-preview1-l7-vip1"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"olmerrillweb-preview1-l7-vip1.gwimnp.rpg"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1 member(s), 2 server record(s), 2 machine(s) by name; 2 machines behind the virtual server: the member rule declines</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has "f5", OS has "big-ip", label segment "vip1"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no service record; next clue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 4: ip_address = "10.143.52.108"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service record: /Common/ait74300-preview1-origin_mymerrill_cdn-6001-vip on 10.143.52.108 (svedpz1rp2lb10)</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/Common/ait74300-preview1-origin_mymerrill_cdn-6001-vip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10.143.52.108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svedpz1rp2lb10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b_service.do?sys_id=0a6f146b2bed4354412af1f7d891bf68"/>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0a6f146b2bed4354412af1f7d891bf68"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pbui-va2-vip.gwim.rpg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SDI000003008717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pbui-va2-vip.gwim.rpg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158.171.199.147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10:48:18</a:t>
            </a:r>
            <a:endParaRPr lang="en-US" sz="1250" dirty="0"/>
          </a:p>
        </p:txBody>
      </p:sp>
      <p:sp>
        <p:nvSpPr>
          <p:cNvPr id="8" name="Text 6">
            <a:hlinkClick r:id="rId1" tooltip="https://bofasecopsdev.service-now.com/sn_sec_cmn_src_ci_list.do?sysparm_query=number=SDI00000300871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87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"pbui-va2-vip"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"pbui-va2-vip"</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"pbui-va2-vip.gwim.rpg"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"pbui-va2-vip"</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"pbui-va2-vip"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"pbui-va2-vip.gwim.rpg"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4 member(s), 4 server record(s), 4 machine(s) by name; 4 machines behind the virtual server: the member rule declines</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has "f5", OS has "big-ip", label segment "vip"</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no service record; next clue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 4: ip_address = "158.171.199.147"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service record: /Common/ait32589-rvcpbt2-pbui-443-vip on 158.171.199.147 (svedbt1gwmlb01a)</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/Common/ait32589-rvcpbt2-pbui-443-vip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158.171.199.147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svedbt1gwmlb01a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Absent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b_service.do?sys_id=3ff610aa2b8d871032e4f5cdc891bf75"/>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3ff610aa2b8d871032e4f5cdc891bf75"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Load Balancer Service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15,674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only inside the CMDB class the scanned OS implies, and only when exactly one CI of that class (sub-classes included) carries it on ip_address. It is the first address rule: every serial and name rule has already declined, and an address is the weakest identifier (addresses move between machines and are shared by load balancers), so the class restriction plus host-name agreement make it safe.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OS text lower-cased, '' when it splits on '/' into more than two guesses, otherwise the first keyword hit in fixed order. An empty pref ends the rule with null and USEM IP Hardware Match takes the host.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inside that class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gr = new GlideRecord(pref) covers the class and its sub-classes; null when gr.isValid() is false (class not installed). addQuery('ip_address', ip); when ignore is non-empty addQuery('sys_class_name',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null. match = getUniqueValue() of the first row. If hasNext() is true a second CI of the class carries the address (an address reused after a rebuild) and the rule returns null. No setLimit, no ordering, no tie-break.</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Host-name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nameAgrees(match): label = DNS trimmed, lower-cased, first dot label; empty label passes. name = cmdb_ci.name of the CI, same normalisation; empty passes. Pass when name == label or one starts with the other plus '-' ('&lt;name&gt;-mgmt', '&lt;name&gt;-a').</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match when the name agrees; null when the CI is named after another machine, which is what a reused address (a moved lease, a decommissioned host whose address was handed on) produces.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 gives '': OS empty, more than two '/'-separated guesses, or no keyword matched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table classFor returned is not valid on the instance (gr.isValid() false)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or its sub-classes, outside the ignore list, carries the address on ip_address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CI of that class carries the same address (hasNext() true)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CI name's first label neither equals it nor differs from it only by a hyphenated tail on either side</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wpa11bwmleas05v</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SDI000003093964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wpa11bwmleas05v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30.30.58.0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WPA11BWMLEAS05V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05:57:44</a:t>
            </a:r>
            <a:endParaRPr lang="en-US" sz="1250" dirty="0"/>
          </a:p>
        </p:txBody>
      </p:sp>
      <p:sp>
        <p:nvSpPr>
          <p:cNvPr id="8" name="Text 6">
            <a:hlinkClick r:id="rId1" tooltip="https://bofasecopsdev.service-now.com/sn_sec_cmn_src_ci_list.do?sysparm_query=number=SDI00000309396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396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523744"/>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"wpa11bwmleas05v"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dot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domain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"wpa11bwmleas05v"</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win_server named "wpa11bwmleas05v": a tie / 2 records in the hardware tree named "wpa11bwmleas05v":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win_server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the hardware tree named "wpa11bwmleas05v":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p:txBody>
      </p:sp>
      <p:sp>
        <p:nvSpPr>
          <p:cNvPr id="12" name="Shape 10"/>
          <p:cNvSpPr/>
          <p:nvPr/>
        </p:nvSpPr>
        <p:spPr>
          <a:xfrm>
            <a:off x="3922776" y="4352544"/>
            <a:ext cx="4617720" cy="0"/>
          </a:xfrm>
          <a:prstGeom prst="line">
            <a:avLst/>
          </a:prstGeom>
          <a:noFill/>
          <a:ln w="9525">
            <a:solidFill>
              <a:srgbClr val="DDE0E3"/>
            </a:solidFill>
            <a:prstDash val="solid"/>
          </a:ln>
        </p:spPr>
      </p:sp>
      <p:sp>
        <p:nvSpPr>
          <p:cNvPr id="13" name="Text 11"/>
          <p:cNvSpPr txBox="1"/>
          <p:nvPr/>
        </p:nvSpPr>
        <p:spPr>
          <a:xfrm>
            <a:off x="3922776" y="444398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718304"/>
            <a:ext cx="4617720" cy="85953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"30.30.58.0"; OS "Windows Server 2022 Standard 64 bit Edition Version 21H2"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wpa11bwmleas05v [win_server] ip 30.30.58.0 -&gt; exactly one, accepted; name agrees with the scanned label "wpa11bwmleas05v"</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wpa11bwmleas05v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wpa11bwmleas05v.corp.bankofamerica.com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30.30.58.0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07 19 b9 17 fe fc 88-df 6e bb 05 d3 04 0c f5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win_server.do?sys_id=c785e52bfbddc7d0f40ef34c5eefdccf"/>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c785e52bfbddc7d0f40ef34c5eefdccf"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wpa11bwmleas06v</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SDI000003093886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wpa11bwmleas06v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30.30.58.3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WPA11BWMLEAS06V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05:57:24</a:t>
            </a:r>
            <a:endParaRPr lang="en-US" sz="1250" dirty="0"/>
          </a:p>
        </p:txBody>
      </p:sp>
      <p:sp>
        <p:nvSpPr>
          <p:cNvPr id="8" name="Text 6">
            <a:hlinkClick r:id="rId1" tooltip="https://bofasecopsdev.service-now.com/sn_sec_cmn_src_ci_list.do?sysparm_query=number=SDI00000309388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38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523744"/>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"wpa11bwmleas06v"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dot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domain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"wpa11bwmleas06v"</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win_server named "wpa11bwmleas06v": a tie / 2 records in the hardware tree named "wpa11bwmleas06v":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win_server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the hardware tree named "wpa11bwmleas06v":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p:txBody>
      </p:sp>
      <p:sp>
        <p:nvSpPr>
          <p:cNvPr id="12" name="Shape 10"/>
          <p:cNvSpPr/>
          <p:nvPr/>
        </p:nvSpPr>
        <p:spPr>
          <a:xfrm>
            <a:off x="3922776" y="4352544"/>
            <a:ext cx="4617720" cy="0"/>
          </a:xfrm>
          <a:prstGeom prst="line">
            <a:avLst/>
          </a:prstGeom>
          <a:noFill/>
          <a:ln w="9525">
            <a:solidFill>
              <a:srgbClr val="DDE0E3"/>
            </a:solidFill>
            <a:prstDash val="solid"/>
          </a:ln>
        </p:spPr>
      </p:sp>
      <p:sp>
        <p:nvSpPr>
          <p:cNvPr id="13" name="Text 11"/>
          <p:cNvSpPr txBox="1"/>
          <p:nvPr/>
        </p:nvSpPr>
        <p:spPr>
          <a:xfrm>
            <a:off x="3922776" y="444398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718304"/>
            <a:ext cx="4617720" cy="85953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"30.30.58.3"; OS "Windows Server 2022 Standard 64 bit Edition Version 21H2"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wpa11bwmleas06v [win_server] ip 30.30.58.3 -&gt; exactly one, accepted; name agrees with the scanned label "wpa11bwmleas06v"</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wpa11bwmleas06v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wpa11bwmleas06v.corp.bankofamerica.com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30.30.58.3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07 9d 6e b9 4f cd 61-da 4a 3a 49 38 36 6e 59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win_server.do?sys_id=3fb5a1633bd90754ef3892e643e45ade"/>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3fb5a1633bd90754ef3892e643e45ade"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wva42bwtmias01v</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SDI000003070780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wva42bwtmias01v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30.133.68.211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WVA42BWTMIAS01V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05:38:51</a:t>
            </a:r>
            <a:endParaRPr lang="en-US" sz="1250" dirty="0"/>
          </a:p>
        </p:txBody>
      </p:sp>
      <p:sp>
        <p:nvSpPr>
          <p:cNvPr id="8" name="Text 6">
            <a:hlinkClick r:id="rId1" tooltip="https://bofasecopsdev.service-now.com/sn_sec_cmn_src_ci_list.do?sysparm_query=number=SDI00000307078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707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523744"/>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"wva42bwtmias01v"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dot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domain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"wva42bwtmias01v"</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win_server named "wva42bwtmias01v": a tie / 2 records in the hardware tree named "wva42bwtmias01v":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win_server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the hardware tree named "wva42bwtmias01v":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p:txBody>
      </p:sp>
      <p:sp>
        <p:nvSpPr>
          <p:cNvPr id="12" name="Shape 10"/>
          <p:cNvSpPr/>
          <p:nvPr/>
        </p:nvSpPr>
        <p:spPr>
          <a:xfrm>
            <a:off x="3922776" y="4352544"/>
            <a:ext cx="4617720" cy="0"/>
          </a:xfrm>
          <a:prstGeom prst="line">
            <a:avLst/>
          </a:prstGeom>
          <a:noFill/>
          <a:ln w="9525">
            <a:solidFill>
              <a:srgbClr val="DDE0E3"/>
            </a:solidFill>
            <a:prstDash val="solid"/>
          </a:ln>
        </p:spPr>
      </p:sp>
      <p:sp>
        <p:nvSpPr>
          <p:cNvPr id="13" name="Text 11"/>
          <p:cNvSpPr txBox="1"/>
          <p:nvPr/>
        </p:nvSpPr>
        <p:spPr>
          <a:xfrm>
            <a:off x="3922776" y="444398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718304"/>
            <a:ext cx="4617720" cy="85953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"30.133.68.211"; OS "Windows Server 2019 Standard 64 bit Edition Version 1809 Build 17763"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wva42bwtmias01v [win_server] ip 30.133.68.211 -&gt; exactly one, accepted; name agrees with the scanned label "wva42bwtmias01v"</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wva42bwtmias01v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wva42bwtmias01v.corp.bankofamerica.com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30.133.68.211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02 75 00 ff 30 5e ef-a0 e2 1b d8 5f e7 e4 f0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win_server.do?sys_id=8bfab94747d18714b5da45ac026d434c"/>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8bfab94747d18714b5da45ac026d434c"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Adapter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20,422</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across the whole hardware tree (cmdb_ci_hardware and every class beneath it) when exactly one hardware CI carries it on ip_address; safety comes from four checks after the query: one row, not a load balancer, name agreement, class agreement with the scanned OS. It sits after the class-restricted rule to reach CIs kept in a parent class or hosts whose OS gave no class.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same mapping as USEM IP Class Match. An empty pref does not end the rule here: it only means agrees() refuses nothing in the last stage (the sample's seven-guess fingerprint gives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across the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gr = new GlideRecord('cmdb_ci_hardware'), which covers Hardware and every class beneath it, with no isValid() guard; addQuery('ip_address', ip); when ignore is non-empty addQuery('sys_class_name', 'NOT IN', ignore); query(). No class filter beyond the tree.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null. id = getUniqueValue() and cls = '' + getValue('sys_class_name') of the first row. If hasNext() is true (a shared virtual IP, an address reused after a rebuild) the rule returns null. No setLimit, no tie-break.</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Load balancer refusal.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isLoadBalancer(id): new GlideRecord('cmdb_ci_lb'), isValid() &amp;&amp; get(id), so a CI of cmdb_ci_lb or any class beneath it counts. True means the address is a virtual IP answered for the pool members behind the balancer,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Host-name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nameAgrees(id): label = DNS trimmed, lower-cased, first dot label; empty label passes. name = cmdb_ci.name of the CI, same normalisation; empty passes. Pass when name == label or one starts with the other plus '-'. A failure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agrees(cls): true when pref is '' or cls == pref; true when parentsOf(cls) contains pref (cls is a sub-class); true when parentsOf(pref) contains cls (cls is a parent, e.g. cmdb_ci_server for an ESXi host). Any other class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id once all four checks pass, in this order: a single hardware row, not a load balancer, name agreeing with the scan, class agreeing with the OS.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cmdb_ci_hardware row outside the ignore list carries the address on ip_address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hardware row carries the same address (hasNext() true), whatever the classes involved</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CI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CI name's first label neither equals it nor differs from it only by a hyphenated tail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OS gave a class and the CI's sys_class_name is neither that class, a sub-class of it, nor a parent of it</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wva20bmsendb01v.corp.bankofamerica.com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SDI000003007215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wva20bmsendb01v.corp.bankofamerica.com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30.37.248.149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WVA20BMSENDB01V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05:37:59</a:t>
            </a:r>
            <a:endParaRPr lang="en-US" sz="1250" dirty="0"/>
          </a:p>
        </p:txBody>
      </p:sp>
      <p:sp>
        <p:nvSpPr>
          <p:cNvPr id="8" name="Text 6">
            <a:hlinkClick r:id="rId1" tooltip="https://bofasecopsdev.service-now.com/sn_sec_cmn_src_ci_list.do?sysparm_query=number=SDI00000300721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72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"wva20bmsendb01v"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3 records in win_server carry the fqdn: a tie / 3 records in the hardware tree carry the fqdn: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3 named "wva20bmsendb01v", 3 with the domain "corp.bankofamerica.com": a tie / 4 named "wva20bmsendb01v", 3 with the domain "corp.bankofamerica.com":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"wva20bmsendb01v.corp.bankofamerica.com"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3 records in win_server named "wva20bmsendb01v": a tie / 4 records in the hardware tree named "wva20bmsendb01v":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win_server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"wva20bmsendb01v.corp.bankofamerica.com"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win_server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"30.37.248.149";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wva20bmsendb01v [computer] ip 30.37.248.149 -&gt; exactly one, accepted; not a load balancer device; class agrees with the OS; name agrees with the scanned label "wva20bmsendb01v"</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wva20bmsendb01v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30.37.248.149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VMware-423fcfe1-4c6f-62ab-ff9d-e6861bc33d2c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computer.do?sys_id=f1593dbd3b74c710ef3892e643e45a81"/>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f1593dbd3b74c710ef3892e643e45a81"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wva40bwoexad04v.olexauthn.fsqa.ml.com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SDI000003054392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wva40bwoexad04v.olexauthn.fsqa.ml.com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30.129.149.101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2016 Standard 64 bit Edition AD Version 1607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WVA40BWOEXAD04V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05:35:39</a:t>
            </a:r>
            <a:endParaRPr lang="en-US" sz="1250" dirty="0"/>
          </a:p>
        </p:txBody>
      </p:sp>
      <p:sp>
        <p:nvSpPr>
          <p:cNvPr id="8" name="Text 6">
            <a:hlinkClick r:id="rId1" tooltip="https://bofasecopsdev.service-now.com/sn_sec_cmn_src_ci_list.do?sysparm_query=number=SDI00000305439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43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"wva40bwoexad04v"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"wva40bwoexad04v" / 2 named "wva40bwoexad04v", none with the domain "olexauthn.fsqa.ml.com"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"wva40bwoexad04v.olexauthn.fsqa.ml.com"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win_server named "wva40bwoexad04v" / 2 records in the hardware tree named "wva40bwoexad04v":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win_server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"wva40bwoexad04v.olexauthn.fsqa.ml.com"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win_server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"30.129.149.101";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WVA40BWOEXAD04V [server] ip 30.129.149.101 -&gt; exactly one, accepted; not a load balancer device; class agrees with the OS; name agrees with the scanned label "wva40bwoexad04v"</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WVA40BWOEXAD04V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30.129.149.101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0A 18 C6 C1 B5 0B 64-8F 94 A7 07 E2 1A B9 80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671eaa82935e2a107fb5f842ed03d6e0"/>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671eaa82935e2a107fb5f842ed03d6e0"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crpflmiaups58.bankofamerica.com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SDI000002907396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crpflmiaups58.bankofamerica.com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10.77.57.21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04:27:51</a:t>
            </a:r>
            <a:endParaRPr lang="en-US" sz="1250" dirty="0"/>
          </a:p>
        </p:txBody>
      </p:sp>
      <p:sp>
        <p:nvSpPr>
          <p:cNvPr id="8" name="Text 6">
            <a:hlinkClick r:id="rId1" tooltip="https://bofasecopsdev.service-now.com/sn_sec_cmn_src_ci_list.do?sysparm_query=number=SDI00000290739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0739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"crpflmiaups58"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"not reported" gives no class / 2 named "crpflmiaups58", none with the domain "bankofamerica.com"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"crpflmiaups58.bankofamerica.com"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"not reported" gives no class / 2 records in the hardware tree named "crpflmiaups58":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"crpflmiaups58"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"crpflmiaups58.bankofamerica.com"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"not reported" gives no class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"10.77.57.21";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CRPFLMIAUPS58 [ups] ip 10.77.57.21 -&gt; exactly one, accepted; not a load balancer device; class agrees with the OS; name agrees with the scanned label "crpflmiaups58"</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ups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CRPFLMIAUPS58</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UPS</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10.77.57.21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N12244110057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Schneider Electric Smart-UPS Smart-UPS 2200VA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ups.do?sys_id=4966fb582ba7e614d50dffbdbe91bf76"/>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ups.do?sys_id=4966fb582ba7e614d50dffbdbe91bf76"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Adapter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Layered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46,195</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as recorded on a Network Adapter (cmdb_ci_network_adapter.ip_address) and takes the adapter's owning CI (its cmdb_ci reference). It sits after the two rules that read the CI record because a multi-homed server keeps its addresses on adapter records rather than in its own ip_address field.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Not a filter: it is consulted inside the owner loop to skip an owning CI whose class contradicts the scan. An empty pref (unknown or multi-guess OS, as in the sample) skips nothing.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Adapter query.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nic = new GlideRecord('cmdb_ci_network_adapter'), no isValid() guard; addQuery('ip_address', ip); addNotNullQuery('cmdb_ci') so the adapter must belong to a CI; when ignore is non-empty addQuery('cmdb_ci.sys_class_name',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Distinct owners with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Walk every row with next(): owner = getValue('cmdb_ci'); continue when agrees('' + nic.cmdb_ci.sys_class_name) is false; each new owner sys_id is recorded once in an object, count is incremented and first keeps the first distinct owner.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Decided by count == 1 over the whole result set, not by hasNext(): one server with two adapters on the address counts once, two servers count twice and the rule declines. A load balancer owner counts too when agrees() accepted its class (always with pref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Refusals on the single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first only when !isLoadBalancer(first) (no row of cmdb_ci_lb with that sys_id) and nameAgrees(first) (scanned first label equals the CI name's first label or differs by a hyphenated tail). Otherwise null.</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cmdb_ci_network_adapter row with that ip_address has a non-empty cmdb_ci owner outside the ignore list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owning CI has a class agrees() refuses, so count stays 0</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adapters of two or more distinct CIs (after the class skip) carry the 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owner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owner's name does not agree with it</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a-vjp2d000i0175-nfs.apac.sdi.corp.bankofamerica.com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SDI000002813895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a-vjp2d000i0175-nfs.apac.sdi.corp.bankofamerica.com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165.38.176.81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ESXi 8.0.3 build 25205845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05:54:28</a:t>
            </a:r>
            <a:endParaRPr lang="en-US" sz="1250" dirty="0"/>
          </a:p>
        </p:txBody>
      </p:sp>
      <p:sp>
        <p:nvSpPr>
          <p:cNvPr id="8" name="Text 6">
            <a:hlinkClick r:id="rId1" tooltip="https://bofasecopsdev.service-now.com/sn_sec_cmn_src_ci_list.do?sysparm_query=number=SDI00000281389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8138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"a-vjp2d000i0175-nfs"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"a-vjp2d000i0175-nfs"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"a-vjp2d000i0175-nfs.apac.sdi.corp.bankofamerica.com"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"a-vjp2d000i0175-nfs"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esx_server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"a-vjp2d000i0175-nfs.apac.sdi.corp.bankofamerica.com"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"165.38.176.81"; OS "VMware ESXi 8.0.3 build 25205845" gives the class esx_server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adapter vmk3 -&gt; a-vjp2d000i0175 [esx_server]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name agrees with "a-vjp2d000i0175-nfs"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a-vjp2d000i0175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a-vjp2d000i0175.apac.sdi.corp.bankofamerica.com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165.38.175.81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8Z7QHB4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R7615 210-BHRH</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esx_server.do?sys_id=abb100a52b976e908afbf3b28191bf4f"/>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abb100a52b976e908afbf3b28191bf4f"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a-vsg2d000i0326-nfs.apac.sdi.corp.bankofamerica.com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SDI000002578917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a-vsg2d000i0326-nfs.apac.sdi.corp.bankofamerica.com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30.184.129.84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ESXi 8.0.3 build 25205845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05:50:42</a:t>
            </a:r>
            <a:endParaRPr lang="en-US" sz="1250" dirty="0"/>
          </a:p>
        </p:txBody>
      </p:sp>
      <p:sp>
        <p:nvSpPr>
          <p:cNvPr id="8" name="Text 6">
            <a:hlinkClick r:id="rId1" tooltip="https://bofasecopsdev.service-now.com/sn_sec_cmn_src_ci_list.do?sysparm_query=number=SDI00000257891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789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"a-vsg2d000i0326-nfs"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"a-vsg2d000i0326-nfs"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"a-vsg2d000i0326-nfs.apac.sdi.corp.bankofamerica.com"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"a-vsg2d000i0326-nfs"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esx_server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"a-vsg2d000i0326-nfs.apac.sdi.corp.bankofamerica.com"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"30.184.129.84"; OS "VMware ESXi 8.0.3 build 25205845" gives the class esx_server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adapter vmk3 -&gt; a-vsg2d000i0326 [esx_server]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name agrees with "a-vsg2d000i0326-nfs"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a-vsg2d000i0326</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a-vsg2d000i0326.apac.sdi.corp.bankofamerica.com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30.188.216.106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2Z8VNW3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esx_server.do?sys_id=2e0ed1d1ebccb254986cffd6bad0cdf6"/>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2e0ed1d1ebccb254986cffd6bad0cdf6"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a-vsg2d000i0291-nfs.apac.sdi.corp.bankofamerica.com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SDI000002582383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a-vsg2d000i0291-nfs.apac.sdi.corp.bankofamerica.com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30.184.129.17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ESXi 8.0.3 build 25205845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05:23:25</a:t>
            </a:r>
            <a:endParaRPr lang="en-US" sz="1250" dirty="0"/>
          </a:p>
        </p:txBody>
      </p:sp>
      <p:sp>
        <p:nvSpPr>
          <p:cNvPr id="8" name="Text 6">
            <a:hlinkClick r:id="rId1" tooltip="https://bofasecopsdev.service-now.com/sn_sec_cmn_src_ci_list.do?sysparm_query=number=SDI00000258238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823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"a-vsg2d000i0291-nfs"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"a-vsg2d000i0291-nfs"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"a-vsg2d000i0291-nfs.apac.sdi.corp.bankofamerica.com"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"a-vsg2d000i0291-nfs"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esx_server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"a-vsg2d000i0291-nfs.apac.sdi.corp.bankofamerica.com"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"30.184.129.17"; OS "VMware ESXi 8.0.3 build 25205845" gives the class esx_server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adapter vmk3 -&gt; a-vsg2d000i0291 [esx_server]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name agrees with "a-vsg2d000i0291-nfs"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a-vsg2d000i0291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a-vsg2d000i0291.apac.sdi.corp.bankofamerica.com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30.188.216.14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9H81LQ3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esx_server.do?sys_id=c5fad55d3b8cf25cdf0f0c54c3e45ac8"/>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c5fad55d3b8cf25cdf0f0c54c3e45ac8"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Layered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Adapter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Name Broad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7,968</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recorded as its own IP Address record (cmdb_ci_ip_address) linked through nic to a Network Adapter that links to a CI. It is the last address rule because newer discovery writes each address there and may leave the adapter's own ip_address empty, so the previous three rules find nothing.</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Not a filter: it is consulted inside the owner loop to skip a CI at the end of the chain whose class contradicts the scan. An empty pref (unknown or multi-guess OS, as in the sample) skips nothing.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IP Address record query.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ipGr = new GlideRecord('cmdb_ci_ip_address'); null when isValid() is false. addQuery('ip_address', ip); addNotNullQuery('nic.cmdb_ci') so the chain ends on a CI; when ignore is non-empty addQuery('nic.cmdb_ci.sys_class_name',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Distinct owners with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Walk every row: owner = '' + ipGr.nic.cmdb_ci (IP Address -&gt; adapter -&gt; CI, two dot-walks); continue when agrees('' + ipGr.nic.cmdb_ci.sys_class_name) is false; each new owner recorded once in an object, count incremented, first kept.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count == 1 over the whole result set, not hasNext(): one device with two address records counts once, two devices count twice and the rule declines. A load balancer owner counts too whenever agrees() accepted its class (always when pref is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Refusals on the single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first only when !isLoadBalancer(first) (no cmdb_ci_lb row with that sys_id) and nameAgrees(first). Otherwise null, and the host passes to USEM FQDN Name Broad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cmdb_ci_ip_address table is not valid on the instance (ipGr.isValid()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cmdb_ci_ip_address row with that ip_address reaches a CI (nic.cmdb_ci empty) outside the ignore list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CI reached has a class agrees() refuses, so count stays 0</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address records of two or more distinct CIs (after the class skip) carry the 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owner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owner's name does not agree with it</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ididjktnx07sdm0001-vl603.asia.bankofamerica.com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SDI000002376737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ididjktnx07sdm0001-vl603.asia.bankofamerica.com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165.40.253.178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Nexus Switch</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08:47:59</a:t>
            </a:r>
            <a:endParaRPr lang="en-US" sz="1250" dirty="0"/>
          </a:p>
        </p:txBody>
      </p:sp>
      <p:sp>
        <p:nvSpPr>
          <p:cNvPr id="8" name="Text 6">
            <a:hlinkClick r:id="rId1" tooltip="https://bofasecopsdev.service-now.com/sn_sec_cmn_src_ci_list.do?sysparm_query=number=SDI00000237673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7673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"ididjktnx07sdm0001-vl603"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"ididjktnx07sdm0001-vl603"</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"ididjktnx07sdm0001-vl603.asia.bankofamerica.com"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"ididjktnx07sdm0001-vl603"</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netgear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"ididjktnx07sdm0001-vl603.asia.bankofamerica.com"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address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adapter on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"165.40.253.178"; OS "Cisco Nexus Switch" gives the class netgear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IP Address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IP Address record -&gt; adapter Vlan603 -&gt; ididjktnx07sdm0001 [ip_switch]</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name agrees with "ididjktnx07sdm0001-vl603"</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ididjktnx07sdm0001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10.214.35.6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FDO23390LQU</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Nexus 9300-EX Series 93180YC-EX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switch.do?sys_id=c835c6e83ba822d0670e839704e45ae8"/>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c835c6e83ba822d0670e839704e45ae8"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171.151.214.18</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SDI000002354915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171.151.214.18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IOS 11-15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09:29:23</a:t>
            </a:r>
            <a:endParaRPr lang="en-US" sz="1250" dirty="0"/>
          </a:p>
        </p:txBody>
      </p:sp>
      <p:sp>
        <p:nvSpPr>
          <p:cNvPr id="8" name="Text 6">
            <a:hlinkClick r:id="rId1" tooltip="https://bofasecopsdev.service-now.com/sn_sec_cmn_src_ci_list.do?sysparm_query=number=SDI00000235491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549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27101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No DNS name: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scan reports only the address, so no phone or name rule could run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VIP sign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VIP sign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address</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adapter on the address</a:t>
            </a:r>
            <a:endParaRPr lang="en-US" sz="950" dirty="0"/>
          </a:p>
        </p:txBody>
      </p:sp>
      <p:sp>
        <p:nvSpPr>
          <p:cNvPr id="12" name="Shape 10"/>
          <p:cNvSpPr/>
          <p:nvPr/>
        </p:nvSpPr>
        <p:spPr>
          <a:xfrm>
            <a:off x="3922776" y="3099816"/>
            <a:ext cx="4617720" cy="0"/>
          </a:xfrm>
          <a:prstGeom prst="line">
            <a:avLst/>
          </a:prstGeom>
          <a:noFill/>
          <a:ln w="9525">
            <a:solidFill>
              <a:srgbClr val="DDE0E3"/>
            </a:solidFill>
            <a:prstDash val="solid"/>
          </a:ln>
        </p:spPr>
      </p:sp>
      <p:sp>
        <p:nvSpPr>
          <p:cNvPr id="13" name="Text 11"/>
          <p:cNvSpPr txBox="1"/>
          <p:nvPr/>
        </p:nvSpPr>
        <p:spPr>
          <a:xfrm>
            <a:off x="3922776" y="319125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465576"/>
            <a:ext cx="4617720" cy="211226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"171.151.214.18"; OS "Cisco IOS 11-15" gives the class netgear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IP Address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IP Address record -&gt; adapter Vlan1851 -&gt; ththbkkt133vdm0001 [ip_switch]</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no scanned label to compare</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ththbkkt133vdm0001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165.46.74.3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FDO2313F05X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cat36xxstack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switch.do?sys_id=04f4cae0fba82e102fe7f7ad5eefdcd3"/>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04f4cae0fba82e102fe7f7ad5eefdcd3"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172.24.5.68</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SDI000002962461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172.24.5.68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Linux 2.4-2.6 / Embedded Device / F5 Networks Big-IP / ArubaOS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09:18:12</a:t>
            </a:r>
            <a:endParaRPr lang="en-US" sz="1250" dirty="0"/>
          </a:p>
        </p:txBody>
      </p:sp>
      <p:sp>
        <p:nvSpPr>
          <p:cNvPr id="8" name="Text 6">
            <a:hlinkClick r:id="rId1" tooltip="https://bofasecopsdev.service-now.com/sn_sec_cmn_src_ci_list.do?sysparm_query=number=SDI00000296246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6246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No DNS name: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scan reports only the address, so no phone or name rule could run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service record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service record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"Linux 2.4-2.6 / Embedded Device / F5 Networks Big-IP / ArubaOS" gives no class / no record in the hardware tree carries the address</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adapter on the address</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"172.24.5.68"; OS "Linux 2.4-2.6 / Embedded Device / F5 Networks Big-IP / ArubaOS" gives no class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IP Address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IP Address record -&gt; adapter bc:38:98:ab:e3:f2 -&gt; kbc3898abe3f2 [computer]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no scanned label to compare</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kbc3898abe3f2</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30.179.235.185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5CD451CT4T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ELITEBOOK 630 G11 GWIM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computer.do?sys_id=587f01782b0eee54d50dffbdbe91bf2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587f01782b0eee54d50dffbdbe91bf2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BROAD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Broad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Layered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the platform's own rules (FQDN, NetBIOS, DNS)</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2,500</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The last USEM rule and the only one that searches the root cmdb_ci table: a CI whose name is the complete scanned FQDN in any class (a virtual machine instance or another logical CI), still requiring a single row outside the ignored classes. It runs last so every more precise rule has had its chance.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root cmdb_ci table on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 addQuery('name', normalised FQDN), the NOT IN ignore condition when set, then query(). Every class is searched, hardware and logical alike; only the ignore list keeps placeholder classes out. No setLimit, no isValid() guard.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row with 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gr.next() is false the rule returns null. Otherwise match holds gr.getUniqueValue() of that first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Reject a second row with hasNext().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gr.hasNext() is true a second CI of any class carries the same name and the rule returns null; the scanned IP, the class or a retired status never break the tie.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single match.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 row outside the ignored classes has name equal to the scanned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cmdb_ci rows share that name (gr.hasNext() true), whatever their class, IP or status</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lrchac13xsdi001.sdi.corp.bankofamerica.com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SDI000003669791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lrchac13xsdi001.sdi.corp.bankofamerica.com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30.38.246.10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06:07:25</a:t>
            </a:r>
            <a:endParaRPr lang="en-US" sz="1250" dirty="0"/>
          </a:p>
        </p:txBody>
      </p:sp>
      <p:sp>
        <p:nvSpPr>
          <p:cNvPr id="8" name="Text 6">
            <a:hlinkClick r:id="rId1" tooltip="https://bofasecopsdev.service-now.com/sn_sec_cmn_src_ci_list.do?sysparm_query=number=SDI00000366979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"lrchac13xsdi001"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named "lrchac13xsdi001", none with the domain "sdi.corp.bankofamerica.com"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"lrchac13xsdi001.sdi.corp.bankofamerica.com"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named "lrchac13xsdi001": a tie / 2 records in the hardware tree named "lrchac13xsdi001":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"lrchac13xsdi001"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"lrchac13xsdi001.sdi.corp.bankofamerica.com"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carry the address: a tie / 2 records in the hardware tree carry the address: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adapter on the address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IP Address record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IP Address record on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"lrchac13xsdi001.sdi.corp.bankofamerica.com" searched on the name field of every CI class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lrchac13xsdi001.sdi.corp.bankofamerica.com [kubernetes_node] ip 30.38.246.10 -&gt;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lrchac13xsdi001.sdi.corp.bankofamerica.com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30.38.246.10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kubernetes_node.do?sys_id=b0da27023beba690dee4bcdc73e45a10"/>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b0da27023beba690dee4bcdc73e45a10"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lrchac14xsdi005.sdi.corp.bankofamerica.com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SDI000003670195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lrchac14xsdi005.sdi.corp.bankofamerica.com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06:07:21</a:t>
            </a:r>
            <a:endParaRPr lang="en-US" sz="1250" dirty="0"/>
          </a:p>
        </p:txBody>
      </p:sp>
      <p:sp>
        <p:nvSpPr>
          <p:cNvPr id="8" name="Text 6">
            <a:hlinkClick r:id="rId1" tooltip="https://bofasecopsdev.service-now.com/sn_sec_cmn_src_ci_list.do?sysparm_query=number=SDI00000367019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01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"lrchac14xsdi005"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named "lrchac14xsdi005", none with the domain "sdi.corp.bankofamerica.com"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"lrchac14xsdi005.sdi.corp.bankofamerica.com"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named "lrchac14xsdi005": a tie / 2 records in the hardware tree named "lrchac14xsdi005":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"lrchac14xsdi005"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"lrchac14xsdi005.sdi.corp.bankofamerica.com"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carry the address: a tie / 2 records in the hardware tree carry the address: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adapter on the address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IP Address record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IP Address record on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"lrchac14xsdi005.sdi.corp.bankofamerica.com" searched on the name field of every CI class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lrchac14xsdi005.sdi.corp.bankofamerica.com [kubernetes_node] ip 30.38.244.14 -&gt;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lrchac14xsdi005.sdi.corp.bankofamerica.com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kubernetes_node.do?sys_id=33e5941293c507103854f05ea903d6aa"/>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33e5941293c507103854f05ea903d6aa"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lrchac14xsdi013.sdi.corp.bankofamerica.com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SDI000003670186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lrchac14xsdi013.sdi.corp.bankofamerica.com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06:07:05</a:t>
            </a:r>
            <a:endParaRPr lang="en-US" sz="1250" dirty="0"/>
          </a:p>
        </p:txBody>
      </p:sp>
      <p:sp>
        <p:nvSpPr>
          <p:cNvPr id="8" name="Text 6">
            <a:hlinkClick r:id="rId1" tooltip="https://bofasecopsdev.service-now.com/sn_sec_cmn_src_ci_list.do?sysparm_query=number=SDI00000367018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01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"lrchac14xsdi013"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named "lrchac14xsdi013", none with the domain "sdi.corp.bankofamerica.com"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"lrchac14xsdi013.sdi.corp.bankofamerica.com"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named "lrchac14xsdi013": a tie / 2 records in the hardware tree named "lrchac14xsdi013":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"lrchac14xsdi013"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"lrchac14xsdi013.sdi.corp.bankofamerica.com"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carry the address: a tie / 2 records in the hardware tree carry the address: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adapter on the address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IP Address record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IP Address record on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"lrchac14xsdi013.sdi.corp.bankofamerica.com" searched on the name field of every CI class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lrchac14xsdi013.sdi.corp.bankofamerica.com [kubernetes_node] ip 30.38.244.22 -&gt;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lrchac14xsdi013.sdi.corp.bankofamerica.com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kubernetes_node.do?sys_id=29d51c922b09071022b7fcded391bff8"/>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29d51c922b09071022b7fcded391bff8"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86</Slides>
  <Notes>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CMDB Team Demo</dc:title>
  <dc:subject>PptxGenJS Presentation</dc:subject>
  <dc:creator>Mihir Kumar Singh</dc:creator>
  <cp:lastModifiedBy>Mihir Kumar Singh</cp:lastModifiedBy>
  <cp:revision>1</cp:revision>
  <dcterms:created xsi:type="dcterms:W3CDTF">2026-09-21T10:09:48Z</dcterms:created>
  <dcterms:modified xsi:type="dcterms:W3CDTF">2026-09-21T10:09:48Z</dcterms:modified>
</cp:coreProperties>
</file>