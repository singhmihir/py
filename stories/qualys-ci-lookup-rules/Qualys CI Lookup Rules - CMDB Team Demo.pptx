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Lst>
  <p:notesMasterIdLst>
    <p:notesMasterId r:id="rId1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notesMaster" Target="notesMasters/notesMaster1.xml"/><Relationship Id="rId137" Type="http://schemas.openxmlformats.org/officeDocument/2006/relationships/presProps" Target="presProps.xml"/><Relationship Id="rId138" Type="http://schemas.openxmlformats.org/officeDocument/2006/relationships/viewProps" Target="viewProps.xml"/><Relationship Id="rId139" Type="http://schemas.openxmlformats.org/officeDocument/2006/relationships/theme" Target="theme/theme1.xml"/><Relationship Id="rId1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11" TargetMode="External"/><Relationship Id="rId2" Type="http://schemas.openxmlformats.org/officeDocument/2006/relationships/hyperlink" Target="https://bofasecopsdev.service-now.com/cmdb_ci_win_server.do?sys_id=7e63ec2a3b84e250d5062b64c3e45a11"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9" TargetMode="External"/><Relationship Id="rId2" Type="http://schemas.openxmlformats.org/officeDocument/2006/relationships/hyperlink" Target="https://bofasecopsdev.service-now.com/cmdb_ci_win_server.do?sys_id=b663ec2a3b84e250d5062b64c3e45a0e"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6" TargetMode="External"/><Relationship Id="rId2" Type="http://schemas.openxmlformats.org/officeDocument/2006/relationships/hyperlink" Target="https://bofasecopsdev.service-now.com/cmdb_ci_win_server.do?sys_id=f663ec2a3b84e250d5062b64c3e45a0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694be8342bc6ae54d50dffbdbe91bf87"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9a3819182ba72e54d28af8a4ce91bfa1" TargetMode="Externa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0879" TargetMode="External"/><Relationship Id="rId2" Type="http://schemas.openxmlformats.org/officeDocument/2006/relationships/hyperlink" Target="https://bofasecopsdev.service-now.com/cmdb_ci_printer.do?sys_id=084b28342bc6ae54d50dffbdbe91bfc9"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df221eb33be96210df0f0c54c3e45adf"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3e7fc2bf3b696210df0f0c54c3e45abd" TargetMode="Externa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57a9c2b33be56210df0f0c54c3e45a65" TargetMode="Externa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1366" TargetMode="External"/><Relationship Id="rId2" Type="http://schemas.openxmlformats.org/officeDocument/2006/relationships/hyperlink" Target="https://bofasecopsdev.service-now.com/cmdb_ci_win_server.do?sys_id=2127d1bb3bd8ea90d5062b64c3e45ab9" TargetMode="Externa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6655" TargetMode="External"/><Relationship Id="rId2" Type="http://schemas.openxmlformats.org/officeDocument/2006/relationships/hyperlink" Target="https://bofasecopsdev.service-now.com/cmdb_ci_linux_server.do?sys_id=0873ca94fbf0ee502fe7f7ad5eefdc48"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59" TargetMode="External"/><Relationship Id="rId2" Type="http://schemas.openxmlformats.org/officeDocument/2006/relationships/hyperlink" Target="https://bofasecopsdev.service-now.com/cmdb_ci_win_server.do?sys_id=b3cab1bb93d8ee5007a4f84958373cba"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953" TargetMode="External"/><Relationship Id="rId2" Type="http://schemas.openxmlformats.org/officeDocument/2006/relationships/hyperlink" Target="https://bofasecopsdev.service-now.com/cmdb_ci_linux_server.do?sys_id=e43c52133b146a90d5062b64c3e45a25"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38418" TargetMode="External"/><Relationship Id="rId2" Type="http://schemas.openxmlformats.org/officeDocument/2006/relationships/hyperlink" Target="https://bofasecopsdev.service-now.com/cmdb_ci_win_server.do?sys_id=7e20daa72bac22546d55ff5fe291bf63"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44611" TargetMode="External"/><Relationship Id="rId2" Type="http://schemas.openxmlformats.org/officeDocument/2006/relationships/hyperlink" Target="https://bofasecopsdev.service-now.com/cmdb_ci_win_server.do?sys_id=f3e5f0f09782f29834bfb65de053af5e"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701" TargetMode="External"/><Relationship Id="rId2" Type="http://schemas.openxmlformats.org/officeDocument/2006/relationships/hyperlink" Target="https://bofasecopsdev.service-now.com/cmdb_ci_linux_server.do?sys_id=30c82e632b91aa14d50dffbdbe91bfa9" TargetMode="Externa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9" TargetMode="External"/><Relationship Id="rId2" Type="http://schemas.openxmlformats.org/officeDocument/2006/relationships/hyperlink" Target="https://bofasecopsdev.service-now.com/cmdb_ci_linux_server.do?sys_id=44e8b6fd47cd3a90b5da45ac026d438f"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7" TargetMode="External"/><Relationship Id="rId2" Type="http://schemas.openxmlformats.org/officeDocument/2006/relationships/hyperlink" Target="https://bofasecopsdev.service-now.com/cmdb_ci_linux_server.do?sys_id=15cec45c3b742e14055e3b64c3e45a73"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283" TargetMode="External"/><Relationship Id="rId2" Type="http://schemas.openxmlformats.org/officeDocument/2006/relationships/hyperlink" Target="https://bofasecopsdev.service-now.com/cmdb_ci_server.do?sys_id=35485a949310fe1026fbfbb4ed03d640"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3" TargetMode="External"/><Relationship Id="rId2" Type="http://schemas.openxmlformats.org/officeDocument/2006/relationships/hyperlink" Target="https://bofasecopsdev.service-now.com/cmdb_ci_server.do?sys_id=502f97033b417ed04826a7ae53e45a4c" TargetMode="Externa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0" TargetMode="External"/><Relationship Id="rId2" Type="http://schemas.openxmlformats.org/officeDocument/2006/relationships/hyperlink" Target="https://bofasecopsdev.service-now.com/cmdb_ci_server.do?sys_id=7a3896949310fe1026fbfbb4ed03d695" TargetMode="External"/><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82887" TargetMode="External"/><Relationship Id="rId2" Type="http://schemas.openxmlformats.org/officeDocument/2006/relationships/hyperlink" Target="https://bofasecopsdev.service-now.com/cmdb_ci_printer.do?sys_id=b38a64fc2b86ae54d50dffbdbe91bf08" TargetMode="Externa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2286" TargetMode="External"/><Relationship Id="rId2" Type="http://schemas.openxmlformats.org/officeDocument/2006/relationships/hyperlink" Target="https://bofasecopsdev.service-now.com/cmdb_ci_printer.do?sys_id=e4b9ac382b86ae54d50dffbdbe91bfe3"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5182" TargetMode="External"/><Relationship Id="rId2" Type="http://schemas.openxmlformats.org/officeDocument/2006/relationships/hyperlink" Target="https://bofasecopsdev.service-now.com/cmdb_ci_printer.do?sys_id=a18a20fc2b86ae54d50dffbdbe91bf86"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4" TargetMode="External"/><Relationship Id="rId2" Type="http://schemas.openxmlformats.org/officeDocument/2006/relationships/hyperlink" Target="https://bofasecopsdev.service-now.com/cmdb_ci_win_server.do?sys_id=27e62ee33b5022d0055e3b64c3e45ae1"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309" TargetMode="External"/><Relationship Id="rId2" Type="http://schemas.openxmlformats.org/officeDocument/2006/relationships/hyperlink" Target="https://bofasecopsdev.service-now.com/cmdb_ci_linux_server.do?sys_id=a1194c903bbc2614d5062b64c3e45a71" TargetMode="External"/><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0" TargetMode="External"/><Relationship Id="rId2" Type="http://schemas.openxmlformats.org/officeDocument/2006/relationships/hyperlink" Target="https://bofasecopsdev.service-now.com/cmdb_ci_win_server.do?sys_id=0a7265773bd062d0055e3b64c3e45a23" TargetMode="External"/><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53" TargetMode="External"/><Relationship Id="rId2" Type="http://schemas.openxmlformats.org/officeDocument/2006/relationships/hyperlink" Target="https://bofasecopsdev.service-now.com/cmdb_ci_server.do?sys_id=2b66dbe59348b254b096f35e1dba1064" TargetMode="External"/><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05570" TargetMode="External"/><Relationship Id="rId2" Type="http://schemas.openxmlformats.org/officeDocument/2006/relationships/hyperlink" Target="https://bofasecopsdev.service-now.com/cmdb_ci_computer.do?sys_id=215ec3123b046e10055e3b64c3e45af6" TargetMode="External"/><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34" TargetMode="External"/><Relationship Id="rId2" Type="http://schemas.openxmlformats.org/officeDocument/2006/relationships/hyperlink" Target="https://bofasecopsdev.service-now.com/cmdb_ci_server.do?sys_id=c4b557ed9388321499fa7dd548373c4d"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41" TargetMode="External"/><Relationship Id="rId2" Type="http://schemas.openxmlformats.org/officeDocument/2006/relationships/hyperlink" Target="https://bofasecopsdev.service-now.com/cmdb_ci_ip_phone.do?sys_id=e07817742b062694d50dffbdbe91bf38" TargetMode="External"/><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2" TargetMode="External"/><Relationship Id="rId2" Type="http://schemas.openxmlformats.org/officeDocument/2006/relationships/hyperlink" Target="https://bofasecopsdev.service-now.com/cmdb_ci_ip_phone.do?sys_id=19b683b83b4e2254860863b693e45a0e"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469" TargetMode="External"/><Relationship Id="rId2" Type="http://schemas.openxmlformats.org/officeDocument/2006/relationships/hyperlink" Target="https://bofasecopsdev.service-now.com/cmdb_ci_ip_phone.do?sys_id=50f767343bce6254860863b693e45a2b" TargetMode="External"/><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47592" TargetMode="External"/><Relationship Id="rId2" Type="http://schemas.openxmlformats.org/officeDocument/2006/relationships/hyperlink" Target="https://bofasecopsdev.service-now.com/cmdb_ci_linux_server.do?sys_id=a53749b02b062e54d28af8a4ce91bf65" TargetMode="External"/><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30819" TargetMode="External"/><Relationship Id="rId2" Type="http://schemas.openxmlformats.org/officeDocument/2006/relationships/hyperlink" Target="https://bofasecopsdev.service-now.com/cmdb_ci_linux_server.do?sys_id=a8cf49353b4e6a90be6d95c964e45a24" TargetMode="External"/><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867" TargetMode="External"/><Relationship Id="rId2" Type="http://schemas.openxmlformats.org/officeDocument/2006/relationships/hyperlink" Target="https://bofasecopsdev.service-now.com/cmdb_ci_ip_firewall.do?sys_id=f7300d7d3b466a90be6d95c964e45a21" TargetMode="External"/><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7" TargetMode="External"/><Relationship Id="rId2" Type="http://schemas.openxmlformats.org/officeDocument/2006/relationships/hyperlink" Target="https://bofasecopsdev.service-now.com/cmdb_ci_ip_switch.do?sys_id=aaac6f842b256610cca5f39ec891bf8d" TargetMode="External"/><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5" TargetMode="External"/><Relationship Id="rId2" Type="http://schemas.openxmlformats.org/officeDocument/2006/relationships/hyperlink" Target="https://bofasecopsdev.service-now.com/cmdb_ci_ip_switch.do?sys_id=28acb0423bd00754a052e71864e45a01" TargetMode="External"/><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3" TargetMode="External"/><Relationship Id="rId2" Type="http://schemas.openxmlformats.org/officeDocument/2006/relationships/hyperlink" Target="https://bofasecopsdev.service-now.com/cmdb_ci_lb.do?sys_id=fedb74f52bc6ae94d28af8a4ce91bf69" TargetMode="External"/><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157" TargetMode="External"/><Relationship Id="rId2" Type="http://schemas.openxmlformats.org/officeDocument/2006/relationships/hyperlink" Target="https://bofasecopsdev.service-now.com/cmdb_ci_printer.do?sys_id=7ed9e0b82b86ae54d50dffbdbe91bf4b" TargetMode="External"/><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f2130b8693966a107fb5f842ed03d653" TargetMode="External"/><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6dba925b2b1ca210e9c1f4cdce91bf42"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ddcdddf02b462294d50dffbdbe91bf9b" TargetMode="External"/><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84466888930e0b50205fb5627cba107c" TargetMode="External"/><Relationship Id="rId3" Type="http://schemas.openxmlformats.org/officeDocument/2006/relationships/slideLayout" Target="../slideLayouts/slideLayout1.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0a6f146b2bed4354412af1f7d891bf68" TargetMode="External"/><Relationship Id="rId3" Type="http://schemas.openxmlformats.org/officeDocument/2006/relationships/slideLayout" Target="../slideLayouts/slideLayout1.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3ff610aa2b8d871032e4f5cdc891bf75" TargetMode="External"/><Relationship Id="rId3" Type="http://schemas.openxmlformats.org/officeDocument/2006/relationships/slideLayout" Target="../slideLayouts/slideLayout1.xm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964" TargetMode="External"/><Relationship Id="rId2" Type="http://schemas.openxmlformats.org/officeDocument/2006/relationships/hyperlink" Target="https://bofasecopsdev.service-now.com/cmdb_ci_win_server.do?sys_id=c785e52bfbddc7d0f40ef34c5eefdccf" TargetMode="External"/><Relationship Id="rId3" Type="http://schemas.openxmlformats.org/officeDocument/2006/relationships/slideLayout" Target="../slideLayouts/slideLayout1.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886" TargetMode="External"/><Relationship Id="rId2" Type="http://schemas.openxmlformats.org/officeDocument/2006/relationships/hyperlink" Target="https://bofasecopsdev.service-now.com/cmdb_ci_win_server.do?sys_id=3fb5a1633bd90754ef3892e643e45ade" TargetMode="External"/><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70780" TargetMode="External"/><Relationship Id="rId2" Type="http://schemas.openxmlformats.org/officeDocument/2006/relationships/hyperlink" Target="https://bofasecopsdev.service-now.com/cmdb_ci_win_server.do?sys_id=8bfab94747d18714b5da45ac026d434c" TargetMode="External"/><Relationship Id="rId3" Type="http://schemas.openxmlformats.org/officeDocument/2006/relationships/slideLayout" Target="../slideLayouts/slideLayout1.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7215" TargetMode="External"/><Relationship Id="rId2" Type="http://schemas.openxmlformats.org/officeDocument/2006/relationships/hyperlink" Target="https://bofasecopsdev.service-now.com/cmdb_ci_computer.do?sys_id=f1593dbd3b74c710ef3892e643e45a81" TargetMode="External"/><Relationship Id="rId3" Type="http://schemas.openxmlformats.org/officeDocument/2006/relationships/slideLayout" Target="../slideLayouts/slideLayout1.xml"/><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4392" TargetMode="External"/><Relationship Id="rId2" Type="http://schemas.openxmlformats.org/officeDocument/2006/relationships/hyperlink" Target="https://bofasecopsdev.service-now.com/cmdb_ci_server.do?sys_id=671eaa82935e2a107fb5f842ed03d6e0" TargetMode="External"/><Relationship Id="rId3" Type="http://schemas.openxmlformats.org/officeDocument/2006/relationships/slideLayout" Target="../slideLayouts/slideLayout1.xml"/><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7396" TargetMode="External"/><Relationship Id="rId2" Type="http://schemas.openxmlformats.org/officeDocument/2006/relationships/hyperlink" Target="https://bofasecopsdev.service-now.com/cmdb_ci_ups.do?sys_id=4966fb582ba7e614d50dffbdbe91bf76" TargetMode="External"/><Relationship Id="rId3" Type="http://schemas.openxmlformats.org/officeDocument/2006/relationships/slideLayout" Target="../slideLayouts/slideLayout1.xml"/><Relationship Id="rId4"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13895" TargetMode="External"/><Relationship Id="rId2" Type="http://schemas.openxmlformats.org/officeDocument/2006/relationships/hyperlink" Target="https://bofasecopsdev.service-now.com/cmdb_ci_esx_server.do?sys_id=abb100a52b976e908afbf3b28191bf4f" TargetMode="External"/><Relationship Id="rId3" Type="http://schemas.openxmlformats.org/officeDocument/2006/relationships/slideLayout" Target="../slideLayouts/slideLayout1.xml"/><Relationship Id="rId4"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78917" TargetMode="External"/><Relationship Id="rId2" Type="http://schemas.openxmlformats.org/officeDocument/2006/relationships/hyperlink" Target="https://bofasecopsdev.service-now.com/cmdb_ci_esx_server.do?sys_id=2e0ed1d1ebccb254986cffd6bad0cdf6" TargetMode="External"/><Relationship Id="rId3" Type="http://schemas.openxmlformats.org/officeDocument/2006/relationships/slideLayout" Target="../slideLayouts/slideLayout1.xml"/><Relationship Id="rId4"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82383" TargetMode="External"/><Relationship Id="rId2" Type="http://schemas.openxmlformats.org/officeDocument/2006/relationships/hyperlink" Target="https://bofasecopsdev.service-now.com/cmdb_ci_esx_server.do?sys_id=c5fad55d3b8cf25cdf0f0c54c3e45ac8" TargetMode="External"/><Relationship Id="rId3" Type="http://schemas.openxmlformats.org/officeDocument/2006/relationships/slideLayout" Target="../slideLayouts/slideLayout1.xml"/><Relationship Id="rId4"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6737" TargetMode="External"/><Relationship Id="rId2" Type="http://schemas.openxmlformats.org/officeDocument/2006/relationships/hyperlink" Target="https://bofasecopsdev.service-now.com/cmdb_ci_ip_switch.do?sys_id=c835c6e83ba822d0670e839704e45ae8" TargetMode="External"/><Relationship Id="rId3" Type="http://schemas.openxmlformats.org/officeDocument/2006/relationships/slideLayout" Target="../slideLayouts/slideLayout1.xml"/><Relationship Id="rId4"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54915" TargetMode="External"/><Relationship Id="rId2" Type="http://schemas.openxmlformats.org/officeDocument/2006/relationships/hyperlink" Target="https://bofasecopsdev.service-now.com/cmdb_ci_ip_switch.do?sys_id=04f4cae0fba82e102fe7f7ad5eefdcd3" TargetMode="External"/><Relationship Id="rId3" Type="http://schemas.openxmlformats.org/officeDocument/2006/relationships/slideLayout" Target="../slideLayouts/slideLayout1.xml"/><Relationship Id="rId4"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2461" TargetMode="External"/><Relationship Id="rId2" Type="http://schemas.openxmlformats.org/officeDocument/2006/relationships/hyperlink" Target="https://bofasecopsdev.service-now.com/cmdb_ci_computer.do?sys_id=587f01782b0eee54d50dffbdbe91bf2d" TargetMode="External"/><Relationship Id="rId3" Type="http://schemas.openxmlformats.org/officeDocument/2006/relationships/slideLayout" Target="../slideLayouts/slideLayout1.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91" TargetMode="External"/><Relationship Id="rId2" Type="http://schemas.openxmlformats.org/officeDocument/2006/relationships/hyperlink" Target="https://bofasecopsdev.service-now.com/cmdb_ci_kubernetes_node.do?sys_id=b0da27023beba690dee4bcdc73e45a10" TargetMode="External"/><Relationship Id="rId3" Type="http://schemas.openxmlformats.org/officeDocument/2006/relationships/slideLayout" Target="../slideLayouts/slideLayout1.xml"/><Relationship Id="rId4"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95" TargetMode="External"/><Relationship Id="rId2" Type="http://schemas.openxmlformats.org/officeDocument/2006/relationships/hyperlink" Target="https://bofasecopsdev.service-now.com/cmdb_ci_kubernetes_node.do?sys_id=33e5941293c507103854f05ea903d6aa" TargetMode="External"/><Relationship Id="rId3" Type="http://schemas.openxmlformats.org/officeDocument/2006/relationships/slideLayout" Target="../slideLayouts/slideLayout1.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86" TargetMode="External"/><Relationship Id="rId2" Type="http://schemas.openxmlformats.org/officeDocument/2006/relationships/hyperlink" Target="https://bofasecopsdev.service-now.com/cmdb_ci_kubernetes_node.do?sys_id=29d51c922b09071022b7fcded391bff8" TargetMode="External"/><Relationship Id="rId3" Type="http://schemas.openxmlformats.org/officeDocument/2006/relationships/slideLayout" Target="../slideLayouts/slideLayout1.xml"/><Relationship Id="rId4" Type="http://schemas.openxmlformats.org/officeDocument/2006/relationships/notesSlide" Target="../notesSlides/notesSlide1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E31837"/>
          </a:solidFill>
          <a:ln w="12700">
            <a:solidFill>
              <a:srgbClr val="333333"/>
            </a:solidFill>
            <a:prstDash val="solid"/>
          </a:ln>
        </p:spPr>
      </p:sp>
      <p:sp>
        <p:nvSpPr>
          <p:cNvPr id="3" name="Shape 1"/>
          <p:cNvSpPr/>
          <p:nvPr/>
        </p:nvSpPr>
        <p:spPr>
          <a:xfrm>
            <a:off x="960120" y="1874520"/>
            <a:ext cx="1097280" cy="54864"/>
          </a:xfrm>
          <a:prstGeom prst="rect">
            <a:avLst/>
          </a:prstGeom>
          <a:solidFill>
            <a:srgbClr val="E31837"/>
          </a:solidFill>
          <a:ln w="12700">
            <a:solidFill>
              <a:srgbClr val="333333"/>
            </a:solidFill>
            <a:prstDash val="solid"/>
          </a:ln>
        </p:spPr>
      </p:sp>
      <p:sp>
        <p:nvSpPr>
          <p:cNvPr id="4" name="Text 2"/>
          <p:cNvSpPr txBox="1"/>
          <p:nvPr/>
        </p:nvSpPr>
        <p:spPr>
          <a:xfrm>
            <a:off x="960120" y="2057400"/>
            <a:ext cx="10058400" cy="274320"/>
          </a:xfrm>
          <a:prstGeom prst="rect">
            <a:avLst/>
          </a:prstGeom>
          <a:noFill/>
          <a:ln/>
        </p:spPr>
        <p:txBody>
          <a:bodyPr wrap="square" lIns="0" tIns="0" rIns="0" bIns="0" rtlCol="0" anchor="ctr"/>
          <a:lstStyle/>
          <a:p>
            <a:pPr indent="0" marL="0">
              <a:buNone/>
            </a:pPr>
            <a:r>
              <a:rPr lang="en-US" sz="1200" b="1" spc="22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5" name="Text 3"/>
          <p:cNvSpPr txBox="1"/>
          <p:nvPr/>
        </p:nvSpPr>
        <p:spPr>
          <a:xfrm>
            <a:off x="960120" y="2423160"/>
            <a:ext cx="10058400" cy="91440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Qualys CI Lookup Rules</a:t>
            </a:r>
            <a:endParaRPr lang="en-US" sz="4200" dirty="0"/>
          </a:p>
        </p:txBody>
      </p:sp>
      <p:sp>
        <p:nvSpPr>
          <p:cNvPr id="6" name="Text 4"/>
          <p:cNvSpPr txBox="1"/>
          <p:nvPr/>
        </p:nvSpPr>
        <p:spPr>
          <a:xfrm>
            <a:off x="960120" y="333756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7" name="Text 5"/>
          <p:cNvSpPr txBox="1"/>
          <p:nvPr/>
        </p:nvSpPr>
        <p:spPr>
          <a:xfrm>
            <a:off x="960120" y="521208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HOW EVERY SCRIPT RUNS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The contract and the search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1 of 2  ·  How every script runs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51400"/>
          </a:xfrm>
          <a:prstGeom prst="roundRect">
            <a:avLst>
              <a:gd name="adj" fmla="val 113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302760"/>
          </a:xfrm>
          <a:prstGeom prst="rect">
            <a:avLst/>
          </a:prstGeom>
          <a:noFill/>
          <a:ln/>
        </p:spPr>
        <p:txBody>
          <a:bodyPr wrap="square" lIns="0" tIns="0" rIns="0" bIns="0" rtlCol="0" anchor="t"/>
          <a:lstStyle/>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Contract.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Normalisation.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Ignored classes.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Exactly one.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500" dirty="0"/>
          </a:p>
        </p:txBody>
      </p:sp>
      <p:sp>
        <p:nvSpPr>
          <p:cNvPr id="10" name="Text 8"/>
          <p:cNvSpPr txBox="1"/>
          <p:nvPr/>
        </p:nvSpPr>
        <p:spPr>
          <a:xfrm>
            <a:off x="6277356" y="1764792"/>
            <a:ext cx="5088636" cy="4302760"/>
          </a:xfrm>
          <a:prstGeom prst="rect">
            <a:avLst/>
          </a:prstGeom>
          <a:noFill/>
          <a:ln/>
        </p:spPr>
        <p:txBody>
          <a:bodyPr wrap="square" lIns="0" tIns="0" rIns="0" bIns="0" rtlCol="0" anchor="t"/>
          <a:lstStyle/>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Address tie-break.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Loopback and link-local.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The address and virtual server rules refuse 127. and 169.254. before reading anything else.</a:t>
            </a:r>
            <a:endParaRPr lang="en-US" sz="1500" dirty="0"/>
          </a:p>
          <a:p>
            <a:pPr marL="177800" indent="-177800">
              <a:lnSpc>
                <a:spcPct val="100000"/>
              </a:lnSpc>
              <a:buSzPct val="100000"/>
              <a:buChar char="•"/>
            </a:pPr>
            <a:r>
              <a:rPr lang="en-US" sz="1500" b="1" dirty="0">
                <a:solidFill>
                  <a:srgbClr val="012169"/>
                </a:solidFill>
                <a:latin typeface="Arial" pitchFamily="34" charset="0"/>
                <a:ea typeface="Arial" pitchFamily="34" charset="-122"/>
                <a:cs typeface="Arial" pitchFamily="34" charset="-120"/>
              </a:rPr>
              <a:t>Retired records.  </a:t>
            </a:r>
            <a:pPr indent="0" marL="0">
              <a:lnSpc>
                <a:spcPct val="100000"/>
              </a:lnSpc>
              <a:spcAft>
                <a:spcPts val="1000"/>
              </a:spcAft>
              <a:buNone/>
            </a:pPr>
            <a:r>
              <a:rPr lang="en-US" sz="1500" dirty="0">
                <a:solidFill>
                  <a:srgbClr val="4D4F53"/>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HOW EVERY SCRIPT RUNS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Class from the scanned OS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2 of 2  ·  How every script runs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267200"/>
          </a:xfrm>
          <a:prstGeom prst="roundRect">
            <a:avLst>
              <a:gd name="adj" fmla="val 128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371856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classFor(OS).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 rules.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400" dirty="0"/>
          </a:p>
        </p:txBody>
      </p:sp>
      <p:sp>
        <p:nvSpPr>
          <p:cNvPr id="10" name="Text 8"/>
          <p:cNvSpPr txBox="1"/>
          <p:nvPr/>
        </p:nvSpPr>
        <p:spPr>
          <a:xfrm>
            <a:off x="6277356" y="1764792"/>
            <a:ext cx="5088636" cy="371856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Class agreement.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Appliances.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Load balancer devices.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Host name agreement.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THE SIGNS THE SCRIPTS LOOK FOR</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Serials, phones, controllers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1 of 2  ·  The signs the scripts look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93920"/>
          </a:xfrm>
          <a:prstGeom prst="roundRect">
            <a:avLst>
              <a:gd name="adj" fmla="val 116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14528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Placeholder serials.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Cisco phones.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Other phones and scanners.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400" dirty="0"/>
          </a:p>
        </p:txBody>
      </p:sp>
      <p:sp>
        <p:nvSpPr>
          <p:cNvPr id="10" name="Text 8"/>
          <p:cNvSpPr txBox="1"/>
          <p:nvPr/>
        </p:nvSpPr>
        <p:spPr>
          <a:xfrm>
            <a:off x="6277356" y="1764792"/>
            <a:ext cx="5088636" cy="4145280"/>
          </a:xfrm>
          <a:prstGeom prst="rect">
            <a:avLst/>
          </a:prstGeom>
          <a:noFill/>
          <a:ln/>
        </p:spPr>
        <p:txBody>
          <a:bodyPr wrap="square" lIns="0" tIns="0" rIns="0" bIns="0" rtlCol="0" anchor="t"/>
          <a:lstStyle/>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Management controllers.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400" dirty="0"/>
          </a:p>
          <a:p>
            <a:pPr marL="177800" indent="-177800">
              <a:lnSpc>
                <a:spcPct val="100000"/>
              </a:lnSpc>
              <a:buSzPct val="100000"/>
              <a:buChar char="•"/>
            </a:pPr>
            <a:r>
              <a:rPr lang="en-US" sz="1400" b="1" dirty="0">
                <a:solidFill>
                  <a:srgbClr val="012169"/>
                </a:solidFill>
                <a:latin typeface="Arial" pitchFamily="34" charset="0"/>
                <a:ea typeface="Arial" pitchFamily="34" charset="-122"/>
                <a:cs typeface="Arial" pitchFamily="34" charset="-120"/>
              </a:rPr>
              <a:t>Network interfaces.  </a:t>
            </a:r>
            <a:pPr indent="0" marL="0">
              <a:lnSpc>
                <a:spcPct val="100000"/>
              </a:lnSpc>
              <a:spcAft>
                <a:spcPts val="1000"/>
              </a:spcAft>
              <a:buNone/>
            </a:pPr>
            <a:r>
              <a:rPr lang="en-US" sz="1400" dirty="0">
                <a:solidFill>
                  <a:srgbClr val="4D4F53"/>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  ·  THE SIGNS THE SCRIPTS LOOK FOR</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Virtual servers, names, addresses</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2 of 2  ·  The signs the scripts look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729480"/>
          </a:xfrm>
          <a:prstGeom prst="roundRect">
            <a:avLst>
              <a:gd name="adj" fmla="val 116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64792"/>
            <a:ext cx="5088636" cy="4180840"/>
          </a:xfrm>
          <a:prstGeom prst="rect">
            <a:avLst/>
          </a:prstGeom>
          <a:noFill/>
          <a:ln/>
        </p:spPr>
        <p:txBody>
          <a:bodyPr wrap="square" lIns="0" tIns="0" rIns="0" bIns="0" rtlCol="0" anchor="t"/>
          <a:lstStyle/>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Virtual server sign.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Twins.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Member rule.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Service rule.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Never reads the pool. Attaches the one live virtual server record; two live twins decline.</a:t>
            </a:r>
            <a:endParaRPr lang="en-US" sz="1450" dirty="0"/>
          </a:p>
        </p:txBody>
      </p:sp>
      <p:sp>
        <p:nvSpPr>
          <p:cNvPr id="10" name="Text 8"/>
          <p:cNvSpPr txBox="1"/>
          <p:nvPr/>
        </p:nvSpPr>
        <p:spPr>
          <a:xfrm>
            <a:off x="6277356" y="1764792"/>
            <a:ext cx="5088636" cy="4180840"/>
          </a:xfrm>
          <a:prstGeom prst="rect">
            <a:avLst/>
          </a:prstGeom>
          <a:noFill/>
          <a:ln/>
        </p:spPr>
        <p:txBody>
          <a:bodyPr wrap="square" lIns="0" tIns="0" rIns="0" bIns="0" rtlCol="0" anchor="t"/>
          <a:lstStyle/>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Names.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Addresses.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450" dirty="0"/>
          </a:p>
          <a:p>
            <a:pPr marL="177800" indent="-177800">
              <a:lnSpc>
                <a:spcPct val="100000"/>
              </a:lnSpc>
              <a:buSzPct val="100000"/>
              <a:buChar char="•"/>
            </a:pPr>
            <a:r>
              <a:rPr lang="en-US" sz="1450" b="1" dirty="0">
                <a:solidFill>
                  <a:srgbClr val="012169"/>
                </a:solidFill>
                <a:latin typeface="Arial" pitchFamily="34" charset="0"/>
                <a:ea typeface="Arial" pitchFamily="34" charset="-122"/>
                <a:cs typeface="Arial" pitchFamily="34" charset="-120"/>
              </a:rPr>
              <a:t>Last resort.  </a:t>
            </a:r>
            <a:pPr indent="0" marL="0">
              <a:lnSpc>
                <a:spcPct val="100000"/>
              </a:lnSpc>
              <a:spcAft>
                <a:spcPts val="1000"/>
              </a:spcAft>
              <a:buNone/>
            </a:pPr>
            <a:r>
              <a:rPr lang="en-US" sz="1450" dirty="0">
                <a:solidFill>
                  <a:srgbClr val="4D4F53"/>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4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The chain at a glance: first rule to answer wins</a:t>
            </a:r>
            <a:endParaRPr lang="en-US" sz="2300" dirty="0"/>
          </a:p>
        </p:txBody>
      </p:sp>
      <p:sp>
        <p:nvSpPr>
          <p:cNvPr id="6" name="Text 4"/>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914400"/>
        </p:xfrm>
        <a:graphic>
          <a:graphicData uri="http://schemas.openxmlformats.org/drawingml/2006/table">
            <a:tbl>
              <a:tblPr/>
              <a:tblGrid>
                <a:gridCol w="640080"/>
                <a:gridCol w="2743200"/>
                <a:gridCol w="2103120"/>
                <a:gridCol w="5696712"/>
              </a:tblGrid>
              <a:tr h="224028">
                <a:tc>
                  <a:txBody>
                    <a:bodyPr/>
                    <a:lstStyle/>
                    <a:p>
                      <a:pPr indent="0" marL="0">
                        <a:buNone/>
                      </a:pPr>
                      <a:r>
                        <a:rPr lang="en-US" sz="1000" b="1" dirty="0">
                          <a:solidFill>
                            <a:srgbClr val="FFFFFF"/>
                          </a:solidFill>
                          <a:latin typeface="Arial" pitchFamily="34" charset="0"/>
                          <a:ea typeface="Arial" pitchFamily="34" charset="-122"/>
                          <a:cs typeface="Arial" pitchFamily="34" charset="-120"/>
                        </a:rPr>
                        <a:t>Order</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Rule</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Reads</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Returns</a:t>
                      </a:r>
                      <a:endParaRPr lang="en-US" sz="10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012169"/>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175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Number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Serial,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carrying the 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180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Serial Number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carrying the serial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Cisco IP Phone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label sep +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IP Phone owning that MAC</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whose fqdn is the name; IP breaks a tie</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260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whose fqdn is the name; IP breaks a tie</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Domain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named with the label and the domain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310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Domain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and the domain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350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Layered DNS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reached through DNS Name, IP Address and adapter records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named with the label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410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Hostname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whose class agrees with the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415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Device Name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 IP</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IP Phone or Imaging Hardware CI named with the label</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420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Management Interface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label minus its controller suffix</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430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Network Interface Name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Network Gear or Load Balancer named with the longest prefix</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Name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named with the whole fqdn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Load Balancer Member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real server behind every member of the virtual server</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460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Load Balancer Service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DNS, OS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live Load Balancer Service record of the virtual server</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Class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the OS class carrying the address,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705</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Hardware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hardware CI carrying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730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Adapter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owning an adapter on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740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IP Layered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IP, OS, 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behind an IP Address record on the address, class and name agreeing</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EAF0F8"/>
                    </a:solidFill>
                  </a:tcPr>
                </a:tc>
              </a:tr>
              <a:tr h="224028">
                <a:tc>
                  <a:txBody>
                    <a:bodyPr/>
                    <a:lstStyle/>
                    <a:p>
                      <a:pPr indent="0" marL="0">
                        <a:buNone/>
                      </a:pPr>
                      <a:r>
                        <a:rPr lang="en-US" sz="900" b="1" dirty="0">
                          <a:solidFill>
                            <a:srgbClr val="E31837"/>
                          </a:solidFill>
                          <a:latin typeface="Arial" pitchFamily="34" charset="0"/>
                          <a:ea typeface="Arial" pitchFamily="34" charset="-122"/>
                          <a:cs typeface="Arial" pitchFamily="34" charset="-120"/>
                        </a:rPr>
                        <a:t>850</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b="1" dirty="0">
                          <a:solidFill>
                            <a:srgbClr val="1F2A44"/>
                          </a:solidFill>
                          <a:latin typeface="Arial" pitchFamily="34" charset="0"/>
                          <a:ea typeface="Arial" pitchFamily="34" charset="-122"/>
                          <a:cs typeface="Arial" pitchFamily="34" charset="-120"/>
                        </a:rPr>
                        <a:t>FQDN Name Broad Match</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DNS</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c>
                  <a:txBody>
                    <a:bodyPr/>
                    <a:lstStyle/>
                    <a:p>
                      <a:pPr indent="0" marL="0">
                        <a:buNone/>
                      </a:pPr>
                      <a:r>
                        <a:rPr lang="en-US" sz="900" dirty="0">
                          <a:solidFill>
                            <a:srgbClr val="4D4F53"/>
                          </a:solidFill>
                          <a:latin typeface="Arial" pitchFamily="34" charset="0"/>
                          <a:ea typeface="Arial" pitchFamily="34" charset="-122"/>
                          <a:cs typeface="Arial" pitchFamily="34" charset="-120"/>
                        </a:rPr>
                        <a:t>the one CI of any class named with the whole fqdn</a:t>
                      </a:r>
                      <a:endParaRPr lang="en-US" sz="900" dirty="0">
                        <a:latin typeface="Arial" charset="0"/>
                        <a:ea typeface="Arial" charset="0"/>
                        <a:cs typeface="Arial" charset="0"/>
                      </a:endParaRPr>
                    </a:p>
                  </a:txBody>
                  <a:tcPr marL="27432" marR="27432" marT="27432" marB="27432" anchor="ctr">
                    <a:lnL w="6350" cap="flat" cmpd="sng" algn="ctr">
                      <a:solidFill>
                        <a:srgbClr val="D8DDE6"/>
                      </a:solidFill>
                      <a:prstDash val="solid"/>
                      <a:round/>
                      <a:headEnd type="none" w="med" len="med"/>
                      <a:tailEnd type="none" w="med" len="med"/>
                    </a:lnL>
                    <a:lnR w="6350" cap="flat" cmpd="sng" algn="ctr">
                      <a:solidFill>
                        <a:srgbClr val="D8DDE6"/>
                      </a:solidFill>
                      <a:prstDash val="solid"/>
                      <a:round/>
                      <a:headEnd type="none" w="med" len="med"/>
                      <a:tailEnd type="none" w="med" len="med"/>
                    </a:lnR>
                    <a:lnT w="6350" cap="flat" cmpd="sng" algn="ctr">
                      <a:solidFill>
                        <a:srgbClr val="D8DDE6"/>
                      </a:solidFill>
                      <a:prstDash val="solid"/>
                      <a:round/>
                      <a:headEnd type="none" w="med" len="med"/>
                      <a:tailEnd type="none" w="med" len="med"/>
                    </a:lnT>
                    <a:lnB w="6350" cap="flat" cmpd="sng" algn="ctr">
                      <a:solidFill>
                        <a:srgbClr val="D8DDE6"/>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02920" y="6217920"/>
            <a:ext cx="11183112" cy="219456"/>
          </a:xfrm>
          <a:prstGeom prst="rect">
            <a:avLst/>
          </a:prstGeom>
          <a:noFill/>
          <a:ln/>
        </p:spPr>
        <p:txBody>
          <a:bodyPr wrap="square" lIns="0" tIns="0" rIns="0" bIns="0" rtlCol="0" anchor="ctr"/>
          <a:lstStyle/>
          <a:p>
            <a:pPr indent="0" marL="0">
              <a:buNone/>
            </a:pPr>
            <a:r>
              <a:rPr lang="en-US" sz="950" dirty="0">
                <a:solidFill>
                  <a:srgbClr val="6E7279"/>
                </a:solidFill>
                <a:latin typeface="Arial" pitchFamily="34" charset="0"/>
                <a:ea typeface="Arial" pitchFamily="34" charset="-122"/>
                <a:cs typeface="Arial" pitchFamily="34" charset="-120"/>
              </a:rPr>
              <a:t>After the USEM rules the platform's own rules run (FQDN, NetBIOS, DNS). A rule that returns nothing hands the host to the next one.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opens the chain because a unique serial inside the right class is the strongest identifier the feed offers.</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SERIAL_NUMBER (sourceValue) plus sourcePayload.OS; the IP and DNS fields are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none, it opens the chain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Serial Number Hardware Match</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25,257</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86960"/>
          </a:xfrm>
          <a:prstGeom prst="roundRect">
            <a:avLst>
              <a:gd name="adj" fmla="val 11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3383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1   Empty serial guard.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2   Trim the serial.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3   Placeholder and length guard.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4   Resolve the ignored classes.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400" dirty="0"/>
          </a:p>
        </p:txBody>
      </p:sp>
      <p:sp>
        <p:nvSpPr>
          <p:cNvPr id="10" name="Text 8"/>
          <p:cNvSpPr txBox="1"/>
          <p:nvPr/>
        </p:nvSpPr>
        <p:spPr>
          <a:xfrm>
            <a:off x="6277356" y="1746504"/>
            <a:ext cx="5088636" cy="43383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5   Class from the OS.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6   Open the class table.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7   Query the serial inside the class.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8   Exactly one row.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4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177540"/>
          </a:xfrm>
          <a:prstGeom prst="roundRect">
            <a:avLst>
              <a:gd name="adj" fmla="val 172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8483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serial is shorter than four characters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serial is one of the placeholder tokens in the junk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SourcePayload.OS is empty or contains none of the classFor keywords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OS text holds three or more '/'-separated guesses (split('/').length &gt; 2)</a:t>
            </a:r>
            <a:endParaRPr lang="en-US" sz="1500" dirty="0"/>
          </a:p>
        </p:txBody>
      </p:sp>
      <p:sp>
        <p:nvSpPr>
          <p:cNvPr id="13" name="Text 11"/>
          <p:cNvSpPr txBox="1"/>
          <p:nvPr/>
        </p:nvSpPr>
        <p:spPr>
          <a:xfrm>
            <a:off x="6277356"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named by classFor is not valid on the instance (gr.isValid()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in that class (sub-classes included, ignored classes excluded) carries the serial</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1500" dirty="0"/>
          </a:p>
        </p:txBody>
      </p:sp>
      <p:sp>
        <p:nvSpPr>
          <p:cNvPr id="14" name="Shape 12"/>
          <p:cNvSpPr/>
          <p:nvPr/>
        </p:nvSpPr>
        <p:spPr>
          <a:xfrm>
            <a:off x="502920" y="48508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8508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Serial Number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usvmapcftmrc15.ssc.ext.bankofamerica.com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SDI000002148411</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usvmapcftmrc15.ssc.ext.bankofamerica.com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30.122.224.209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39 43 40 ea 20 22-2b 99 7d 0f 4e e1 9e 59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USVMAPCFTMRC15</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06:05:16</a:t>
            </a:r>
            <a:endParaRPr lang="en-US" sz="1050" dirty="0"/>
          </a:p>
        </p:txBody>
      </p:sp>
      <p:sp>
        <p:nvSpPr>
          <p:cNvPr id="17" name="Text 15">
            <a:hlinkClick r:id="rId1" tooltip="https://bofasecopsdev.service-now.com/sn_sec_cmn_src_ci_list.do?sysparm_query=number=SDI00000214841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39 43 40 ea 20 22-2b 99 7d 0f 4e e1 9e 59"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usvmapcftmrc15 [win_server] ip 30.122.224.209 -&gt;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usvmapcftmrc15</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usvmapcftmrc15.ssc.ext.bankofamerica.com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30.122.224.209</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39 43 40 ea 20 22-2b 99 7d 0f 4e e1 9e 59</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7e63ec2a3b84e250d5062b64c3e45a1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usvmapcftmrc19.ssc.ext.bankofamerica.com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SDI000002148409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usvmapcftmrc19.ssc.ext.bankofamerica.com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30.122.225.90</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a4 1f 8c fb 62 d6-3c 2e 16 0e 2d ed 1d 56</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USVMAPCFTMRC19</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06:05:15</a:t>
            </a:r>
            <a:endParaRPr lang="en-US" sz="1050" dirty="0"/>
          </a:p>
        </p:txBody>
      </p:sp>
      <p:sp>
        <p:nvSpPr>
          <p:cNvPr id="17" name="Text 15">
            <a:hlinkClick r:id="rId1" tooltip="https://bofasecopsdev.service-now.com/sn_sec_cmn_src_ci_list.do?sysparm_query=number=SDI00000214840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a4 1f 8c fb 62 d6-3c 2e 16 0e 2d ed 1d 56"</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usvmapcftmrc19 [win_server] ip 30.122.225.90 -&gt;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usvmapcftmrc19</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usvmapcftmrc19.ssc.ext.bankofamerica.com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30.122.225.90</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a4 1f 8c fb 62 d6-3c 2e 16 0e 2d ed 1d 56</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b663ec2a3b84e250d5062b64c3e45a0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b663ec2a3b84e250d5062b64c3e45a0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175  ·  SERIAL NUMBER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usvmapcftmrc16.ssc.ext.bankofamerica.com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First rule of the chain: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serial is searched inside the OS class before any name or address is read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SDI000002148406</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usvmapcftmrc16.ssc.ext.bankofamerica.com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30.122.227.184</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Windows Server 2016 Standard 64 bit Edition Version 1607</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VMware-42 0c 68 79 99 0f 5a 53-34 17 7f 27 62 10 6e de</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USVMAPCFTMRC16</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Cloud Agent</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06:05:14</a:t>
            </a:r>
            <a:endParaRPr lang="en-US" sz="1050" dirty="0"/>
          </a:p>
        </p:txBody>
      </p:sp>
      <p:sp>
        <p:nvSpPr>
          <p:cNvPr id="17" name="Text 15">
            <a:hlinkClick r:id="rId1" tooltip="https://bofasecopsdev.service-now.com/sn_sec_cmn_src_ci_list.do?sysparm_query=number=SDI00000214840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"VMware-42 0c 68 79 99 0f 5a 53-34 17 7f 27 62 10 6e de"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usvmapcftmrc16 [win_server] ip 30.122.227.184 -&gt;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usvmapcftmrc16</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usvmapcftmrc16.ssc.ext.bankofamerica.com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50" dirty="0">
                <a:solidFill>
                  <a:srgbClr val="4D4F53"/>
                </a:solidFill>
                <a:latin typeface="Arial" pitchFamily="34" charset="0"/>
                <a:ea typeface="Arial" pitchFamily="34" charset="-122"/>
                <a:cs typeface="Arial" pitchFamily="34" charset="-120"/>
              </a:rPr>
              <a:t>ssc.ext.bankofamerica.com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30.122.227.184</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0c 68 79 99 0f 5a 53-34 17 7f 27 62 10 6e de</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Inc.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win_server.do?sys_id=f663ec2a3b84e250d5062b64c3e45a0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f663ec2a3b84e250d5062b64c3e45a0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exists for hosts whose OS gives no usable class (unauthenticated scans listing several guesses) and for CIs that sit in a different class than the OS suggests; its only safety is that the serial must belong to exactly one CI in the whole tree.</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SERIAL_NUMBER (sourceValue) only; the OS, IP and DNS fields of the payload are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Serial Number Class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Cisco IP Phone MAC</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574</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32680"/>
          </a:xfrm>
          <a:prstGeom prst="roundRect">
            <a:avLst>
              <a:gd name="adj" fmla="val 111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3840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serial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Trim the serial.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Placeholder and length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Resolve the ignored classes.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500" dirty="0"/>
          </a:p>
        </p:txBody>
      </p:sp>
      <p:sp>
        <p:nvSpPr>
          <p:cNvPr id="10" name="Text 8"/>
          <p:cNvSpPr txBox="1"/>
          <p:nvPr/>
        </p:nvSpPr>
        <p:spPr>
          <a:xfrm>
            <a:off x="6277356" y="1746504"/>
            <a:ext cx="5088636" cy="43840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Query the serial across the hardware tree.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Exactly one row.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Serial Number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606040"/>
          </a:xfrm>
          <a:prstGeom prst="roundRect">
            <a:avLst>
              <a:gd name="adj" fmla="val 21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2768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9659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serial is shorter than four characters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serial is one of the placeholder tokens in the junk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(ignored classes excluded) carries the serial</a:t>
            </a:r>
            <a:endParaRPr lang="en-US" sz="1500" dirty="0"/>
          </a:p>
        </p:txBody>
      </p:sp>
      <p:sp>
        <p:nvSpPr>
          <p:cNvPr id="13" name="Text 11"/>
          <p:cNvSpPr txBox="1"/>
          <p:nvPr/>
        </p:nvSpPr>
        <p:spPr>
          <a:xfrm>
            <a:off x="6277356" y="1975104"/>
            <a:ext cx="5088636" cy="19659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1500" dirty="0"/>
          </a:p>
        </p:txBody>
      </p:sp>
      <p:sp>
        <p:nvSpPr>
          <p:cNvPr id="14" name="Shape 12"/>
          <p:cNvSpPr/>
          <p:nvPr/>
        </p:nvSpPr>
        <p:spPr>
          <a:xfrm>
            <a:off x="502920" y="42793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2793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Cisco IP Phone MAC</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wb9492p203.gwm.bankofamerica.com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linux_server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SDI000002368092</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wb9492p203.gwm.bankofamerica.com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30.218.145.248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Ubuntu/Linux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MXBCS730XY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02:19:45</a:t>
            </a:r>
            <a:endParaRPr lang="en-US" sz="1200" dirty="0"/>
          </a:p>
        </p:txBody>
      </p:sp>
      <p:sp>
        <p:nvSpPr>
          <p:cNvPr id="17" name="Text 15">
            <a:hlinkClick r:id="rId1" tooltip="https://bofasecopsdev.service-now.com/sn_sec_cmn_src_ci_list.do?sysparm_query=number=SDI0000023680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"MXBCS730XY"</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npifdcd73 [printer] ip 30.218.145.248 -&gt;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npifdcd73</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30.218.145.248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MXBCS730XY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Color LaserJet MFP X57945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694be8342bc6ae54d50dffbdbe91bf87"/>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azgndgd01p02.bankofamerica.com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hardware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printer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SDI000002326199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azgndgd01p02.bankofamerica.com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10.136.88.137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VNCCSB20Y7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02:18:50</a:t>
            </a:r>
            <a:endParaRPr lang="en-US" sz="1200" dirty="0"/>
          </a:p>
        </p:txBody>
      </p:sp>
      <p:sp>
        <p:nvSpPr>
          <p:cNvPr id="17" name="Text 15">
            <a:hlinkClick r:id="rId1" tooltip="https://bofasecopsdev.service-now.com/sn_sec_cmn_src_ci_list.do?sysparm_query=number=SDI00000232619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"VNCCSB20Y7"</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VNCCSB20Y7 - LASERJET ENT M507DN [hardware]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VNCCSB20Y7 - LASERJET ENT M507DN</a:t>
            </a:r>
            <a:endParaRPr lang="en-US" sz="12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Hardware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VNCCSB20Y7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LASERJET ENT M507DN</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hardware.do?sys_id=9a3819182ba72e54d28af8a4ce91bfa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9a3819182ba72e54d28af8a4ce91bfa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180  ·  SERIAL NUMBER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ny1-100-33-p103.bankofamerica.com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record in linux_server carries the serial)</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SDI000002390879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ny1-100-33-p103.bankofamerica.com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171.199.58.251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Ubuntu/Linux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MXBCS6D1LS</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02:18:29</a:t>
            </a:r>
            <a:endParaRPr lang="en-US" sz="1200" dirty="0"/>
          </a:p>
        </p:txBody>
      </p:sp>
      <p:sp>
        <p:nvSpPr>
          <p:cNvPr id="17" name="Text 15">
            <a:hlinkClick r:id="rId1" tooltip="https://bofasecopsdev.service-now.com/sn_sec_cmn_src_ci_list.do?sysparm_query=number=SDI00000239087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087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Serial read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"MXBCS6D1LS"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Class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the whole hardware tree, the OS is not read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Records carrying the serial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ny1-100-33-p103 [printer] ip 171.199.58.251 -&gt;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ny1-100-33-p103</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171.199.58.251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MXBCS6D1LS</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Color LaserJet MFP X57945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084b28342bc6ae54d50dffbdbe91bfc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084b28342bc6ae54d50dffbdbe91bfc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Cisco Unified CM device-name convention: the first DNS label is SEP followed by the phone's MAC 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serial number rules (phones report no serial) and before the FQDN and hostname rules so a phone label is never tried as a server name; it searches only IP Phone CIs, so a MAC clash can never pull in a switch or a server.</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Serial Number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Class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196,849</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4</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02480"/>
          </a:xfrm>
          <a:prstGeom prst="roundRect">
            <a:avLst>
              <a:gd name="adj" fmla="val 119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guard.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Phone label test.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MAC rebuilt in four spellings.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500" dirty="0"/>
          </a:p>
        </p:txBody>
      </p:sp>
      <p:sp>
        <p:nvSpPr>
          <p:cNvPr id="10" name="Text 8"/>
          <p:cNvSpPr txBox="1"/>
          <p:nvPr/>
        </p:nvSpPr>
        <p:spPr>
          <a:xfrm>
            <a:off x="6277356"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5 to 8</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Attempt 1: adapter owned by an IP phone.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Attempt 1 decision.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Attempt 2: MAC on the phone record.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Attempt 3: Unified CM device name.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PHONE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Cisco IP Phone 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491740"/>
          </a:xfrm>
          <a:prstGeom prst="roundRect">
            <a:avLst>
              <a:gd name="adj" fmla="val 220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1625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(DNS)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IP Phone is found by adapter MAC, by the mac_address field or by the device name.</a:t>
            </a:r>
            <a:endParaRPr lang="en-US" sz="1500" dirty="0"/>
          </a:p>
        </p:txBody>
      </p:sp>
      <p:sp>
        <p:nvSpPr>
          <p:cNvPr id="13" name="Text 11"/>
          <p:cNvSpPr txBox="1"/>
          <p:nvPr/>
        </p:nvSpPr>
        <p:spPr>
          <a:xfrm>
            <a:off x="6277356"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name attempt finds two or more cmdb_ci_ip_phone records named with the device name (hasNext true).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1500" dirty="0"/>
          </a:p>
        </p:txBody>
      </p:sp>
      <p:sp>
        <p:nvSpPr>
          <p:cNvPr id="14" name="Shape 12"/>
          <p:cNvSpPr/>
          <p:nvPr/>
        </p:nvSpPr>
        <p:spPr>
          <a:xfrm>
            <a:off x="502920" y="41650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1650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sep6c710d8adc3b.ipt.bofa.com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SDI000002627752</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sep6c710d8adc3b.ipt.bofa.com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03:28:09</a:t>
            </a:r>
            <a:endParaRPr lang="en-US" sz="1200" dirty="0"/>
          </a:p>
        </p:txBody>
      </p:sp>
      <p:sp>
        <p:nvSpPr>
          <p:cNvPr id="17" name="Text 15">
            <a:hlinkClick r:id="rId1" tooltip="https://bofasecopsdev.service-now.com/sn_sec_cmn_src_ci_list.do?sysparm_query=number=SDI00000262775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"sep6c710d8adc3b"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6C:71:0D:8A:DC:3B, 6c:71:0d:8a:dc:3b, 6C710D8ADC3B, 6c710d8adc3b</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SEP6C710D8ADC3B [ip_phone] ip 10.188.95.168 -&gt;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SEP6C710D8ADC3B [ip_phone] ip 10.188.95.168 -&gt;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SEP6C710D8ADC3B</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FCH2346EAUJ</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6c:71:0d:8a:dc:3b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df221eb33be96210df0f0c54c3e45ad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sep6026aa8f08cd.ipt.bofa.com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SDI000002617321</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sep6026aa8f08cd.ipt.bofa.com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10.188.41.140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03:28:02</a:t>
            </a:r>
            <a:endParaRPr lang="en-US" sz="1200" dirty="0"/>
          </a:p>
        </p:txBody>
      </p:sp>
      <p:sp>
        <p:nvSpPr>
          <p:cNvPr id="17" name="Text 15">
            <a:hlinkClick r:id="rId1" tooltip="https://bofasecopsdev.service-now.com/sn_sec_cmn_src_ci_list.do?sysparm_query=number=SDI00000261732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"sep6026aa8f08cd"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60:26:AA:8F:08:CD, 60:26:aa:8f:08:cd, 6026AA8F08CD, 6026aa8f08cd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SEP6026AA8F08CD [ip_phone] ip 10.188.41.140 -&gt;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SEP6026AA8F08CD [ip_phone] ip 10.188.41.140 -&gt;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SEP6026AA8F08CD</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10.188.41.140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FCH26223JSR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60:26:aa:8f:08:cd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3e7fc2bf3b696210df0f0c54c3e45ab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3e7fc2bf3b696210df0f0c54c3e45ab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200  ·  CISCO IP PHONE MAC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sep3c26e4a7cb09.ipt.bofa.com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phone mac</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SDI000002619434</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sep3c26e4a7cb09.ipt.bofa.com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10.188.95.137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IP Phone CP-8861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03:27:03</a:t>
            </a:r>
            <a:endParaRPr lang="en-US" sz="1200" dirty="0"/>
          </a:p>
        </p:txBody>
      </p:sp>
      <p:sp>
        <p:nvSpPr>
          <p:cNvPr id="17" name="Text 15">
            <a:hlinkClick r:id="rId1" tooltip="https://bofasecopsdev.service-now.com/sn_sec_cmn_src_ci_list.do?sysparm_query=number=SDI00000261943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Phone label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"sep3c26e4a7cb09" matches sep plus twelve hex characters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MAC rebuilt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3C:26:E4:A7:CB:09, 3c:26:e4:a7:cb:09, 3C26E4A7CB09, 3c26e4a7cb09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Attempt 1: adapter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0 adapters -&gt; 0 phone owners, next attempt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Attempt 2: phone record with the MAC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SEP3C26E4A7CB09 [ip_phone] ip 10.188.95.137 -&gt; exactly one, accepted</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Attempt 3: Unified CM device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SEP3C26E4A7CB09 [ip_phone] ip 10.188.95.137 -&gt;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SEP3C26E4A7CB09</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10.188.95.137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FCH263122ZJ</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3c:26:e4:a7:cb:09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IP Phone 8800 Series 8861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57a9c2b33be56210df0f0c54c3e45a6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57a9c2b33be56210df0f0c54c3e45a6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first name rule because an exact fqdn is the most precise name identifier available once the serial number and Cisco phone rules have declined.</a:t>
            </a:r>
            <a:endParaRPr lang="en-US" sz="1500" dirty="0"/>
          </a:p>
        </p:txBody>
      </p:sp>
      <p:sp>
        <p:nvSpPr>
          <p:cNvPr id="13" name="Shape 11"/>
          <p:cNvSpPr/>
          <p:nvPr/>
        </p:nvSpPr>
        <p:spPr>
          <a:xfrm>
            <a:off x="502920" y="33802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1400" dirty="0"/>
          </a:p>
        </p:txBody>
      </p:sp>
      <p:sp>
        <p:nvSpPr>
          <p:cNvPr id="17" name="Shape 15"/>
          <p:cNvSpPr/>
          <p:nvPr/>
        </p:nvSpPr>
        <p:spPr>
          <a:xfrm>
            <a:off x="7665049" y="33802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Cisco IP Phone MAC</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Hardware Match</a:t>
            </a:r>
            <a:endParaRPr lang="en-US" sz="1300" dirty="0"/>
          </a:p>
        </p:txBody>
      </p:sp>
      <p:sp>
        <p:nvSpPr>
          <p:cNvPr id="21" name="Text 19"/>
          <p:cNvSpPr txBox="1"/>
          <p:nvPr/>
        </p:nvSpPr>
        <p:spPr>
          <a:xfrm>
            <a:off x="7985089" y="46349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298,764</a:t>
            </a:r>
            <a:endParaRPr lang="en-US" sz="2800" dirty="0"/>
          </a:p>
        </p:txBody>
      </p:sp>
      <p:sp>
        <p:nvSpPr>
          <p:cNvPr id="22" name="Text 20"/>
          <p:cNvSpPr txBox="1"/>
          <p:nvPr/>
        </p:nvSpPr>
        <p:spPr>
          <a:xfrm>
            <a:off x="7985089" y="52019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3   Read the scanned IP for the tie-break only.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4   Build the ignored-class list.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5   Derive the class from the scanned OS.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25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6   Query the OS class for the exact fqdn.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7   Collect every hit and every IP-confirmed hit.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8   Decide exactly one.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9   No retired, twin or agreement handling.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classFor named is not a valid table (gr.isValid() is false)</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outside the ignored classes carries the scanned name in fqdn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the payload has no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none of them has 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carry the fqdn and two or more of them have ip_address equal to the scanned IP</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wrdne67svtsrv.bankofamerica.com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"wrdne67svtsrv"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SDI000002151366</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171.206.171.82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2016 Standard 64 bit Edition Version 1607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215136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136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wrdne67svtsrv [win_server] ip 171.206.171.82 -&gt;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wrdne67svtsrv</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wrdne67svtsrv.bankofamerica.com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171.206.171.82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VMware-42 06 ac f5 2d c4 52 26-24 14 b8 b2 8c 6d ee 91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 Inc. VMware Virtual Platform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win_server.do?sys_id=2127d1bb3bd8ea90d5062b64c3e45ab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lrdnab68xsdi008.sdi.corp.bankofamerica.com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"lrdnab68xsdi008"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SDI000003676655</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lrdnab68xsdi008.sdi.corp.bankofamerica.com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30.164.8.51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367665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66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"lrdnab68xsdi008.sdi.corp.bankofamerica.com"; OS "Red Hat Enterprise Linux CoreOS 4.18"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lrdnab68xsdi008 [linux_server] ip 30.164.8.51 -&gt;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lrdnab68xsdi008</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lrdnab68xsdi008.sdi.corp.bankofamerica.com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30.164.8.51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1VBSVM3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Dell Inc. POWEREDGE R640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0873ca94fbf0ee502fe7f7ad5eefdc4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0873ca94fbf0ee502fe7f7ad5eefdc4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250  ·  FQDN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usvmsqhalc01.corp.bankofamerica.com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821944"/>
          </a:xfrm>
          <a:prstGeom prst="roundRect">
            <a:avLst>
              <a:gd name="adj" fmla="val 667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309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"usvmsqhalc01" is not sep + 12 hex)</a:t>
            </a:r>
            <a:endParaRPr lang="en-US" sz="1100" dirty="0"/>
          </a:p>
        </p:txBody>
      </p:sp>
      <p:sp>
        <p:nvSpPr>
          <p:cNvPr id="12" name="Shape 10"/>
          <p:cNvSpPr/>
          <p:nvPr/>
        </p:nvSpPr>
        <p:spPr>
          <a:xfrm>
            <a:off x="502920" y="2413000"/>
            <a:ext cx="2788920" cy="3987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568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2842768"/>
            <a:ext cx="457200" cy="0"/>
          </a:xfrm>
          <a:prstGeom prst="line">
            <a:avLst/>
          </a:prstGeom>
          <a:noFill/>
          <a:ln w="19050">
            <a:solidFill>
              <a:srgbClr val="E31837"/>
            </a:solidFill>
            <a:prstDash val="solid"/>
          </a:ln>
        </p:spPr>
      </p:sp>
      <p:sp>
        <p:nvSpPr>
          <p:cNvPr id="15" name="Text 13"/>
          <p:cNvSpPr txBox="1"/>
          <p:nvPr/>
        </p:nvSpPr>
        <p:spPr>
          <a:xfrm>
            <a:off x="740664" y="2888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SDI000003129659</a:t>
            </a:r>
            <a:endParaRPr lang="en-US" sz="1500" dirty="0"/>
          </a:p>
        </p:txBody>
      </p:sp>
      <p:sp>
        <p:nvSpPr>
          <p:cNvPr id="16" name="Text 14"/>
          <p:cNvSpPr txBox="1"/>
          <p:nvPr/>
        </p:nvSpPr>
        <p:spPr>
          <a:xfrm>
            <a:off x="740664" y="3254248"/>
            <a:ext cx="2313432" cy="24333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usvmsqhalc01.corp.bankofamerica.com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30.57.56.14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USVMSQHALC01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06:07:36</a:t>
            </a:r>
            <a:endParaRPr lang="en-US" sz="1200" dirty="0"/>
          </a:p>
        </p:txBody>
      </p:sp>
      <p:sp>
        <p:nvSpPr>
          <p:cNvPr id="17" name="Text 15">
            <a:hlinkClick r:id="rId1" tooltip="https://bofasecopsdev.service-now.com/sn_sec_cmn_src_ci_list.do?sysparm_query=number=SDI00000312965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5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413000"/>
            <a:ext cx="4745736" cy="3987800"/>
          </a:xfrm>
          <a:prstGeom prst="roundRect">
            <a:avLst>
              <a:gd name="adj" fmla="val 137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568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2842768"/>
            <a:ext cx="457200" cy="0"/>
          </a:xfrm>
          <a:prstGeom prst="line">
            <a:avLst/>
          </a:prstGeom>
          <a:noFill/>
          <a:ln w="19050">
            <a:solidFill>
              <a:srgbClr val="E31837"/>
            </a:solidFill>
            <a:prstDash val="solid"/>
          </a:ln>
        </p:spPr>
      </p:sp>
      <p:sp>
        <p:nvSpPr>
          <p:cNvPr id="21" name="Text 19"/>
          <p:cNvSpPr txBox="1"/>
          <p:nvPr/>
        </p:nvSpPr>
        <p:spPr>
          <a:xfrm>
            <a:off x="3749040" y="2915920"/>
            <a:ext cx="4233672" cy="3329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"usvmsqhalc01.corp.bankofamerica.com";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usvmsqhalc01 [win_server] ip 30.57.56.14 -&gt; exactly one, accepted</a:t>
            </a:r>
            <a:endParaRPr lang="en-US" sz="1300" dirty="0"/>
          </a:p>
        </p:txBody>
      </p:sp>
      <p:sp>
        <p:nvSpPr>
          <p:cNvPr id="22" name="Shape 20"/>
          <p:cNvSpPr/>
          <p:nvPr/>
        </p:nvSpPr>
        <p:spPr>
          <a:xfrm>
            <a:off x="8439912" y="2413000"/>
            <a:ext cx="3246120" cy="398780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577592"/>
            <a:ext cx="64008" cy="3658616"/>
          </a:xfrm>
          <a:prstGeom prst="rect">
            <a:avLst/>
          </a:prstGeom>
          <a:solidFill>
            <a:srgbClr val="E31837"/>
          </a:solidFill>
          <a:ln w="12700">
            <a:solidFill>
              <a:srgbClr val="333333"/>
            </a:solidFill>
            <a:prstDash val="solid"/>
          </a:ln>
        </p:spPr>
      </p:sp>
      <p:sp>
        <p:nvSpPr>
          <p:cNvPr id="24" name="Text 22"/>
          <p:cNvSpPr txBox="1"/>
          <p:nvPr/>
        </p:nvSpPr>
        <p:spPr>
          <a:xfrm>
            <a:off x="8714232" y="2568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2842768"/>
            <a:ext cx="457200" cy="0"/>
          </a:xfrm>
          <a:prstGeom prst="line">
            <a:avLst/>
          </a:prstGeom>
          <a:noFill/>
          <a:ln w="19050">
            <a:solidFill>
              <a:srgbClr val="E31837"/>
            </a:solidFill>
            <a:prstDash val="solid"/>
          </a:ln>
        </p:spPr>
      </p:sp>
      <p:sp>
        <p:nvSpPr>
          <p:cNvPr id="26" name="Text 24"/>
          <p:cNvSpPr txBox="1"/>
          <p:nvPr/>
        </p:nvSpPr>
        <p:spPr>
          <a:xfrm>
            <a:off x="8714232" y="2888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usvmsqhalc01</a:t>
            </a:r>
            <a:endParaRPr lang="en-US" sz="1500" dirty="0"/>
          </a:p>
        </p:txBody>
      </p:sp>
      <p:sp>
        <p:nvSpPr>
          <p:cNvPr id="27" name="Text 25"/>
          <p:cNvSpPr txBox="1"/>
          <p:nvPr/>
        </p:nvSpPr>
        <p:spPr>
          <a:xfrm>
            <a:off x="8714232" y="3208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528568"/>
            <a:ext cx="2715768" cy="215900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usvmsqhalc01.corp.bankofamerica.com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SDI.CORP.BANKOFAMERICA.COM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30.57.56.14</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VMware-42 1f c2 f2 64 7c 62 54-97 5f 7a e1 cb 6d 08 42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 Inc. VMware Virtual Platform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Installed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Operational</a:t>
            </a:r>
            <a:endParaRPr lang="en-US" sz="1100" dirty="0"/>
          </a:p>
        </p:txBody>
      </p:sp>
      <p:sp>
        <p:nvSpPr>
          <p:cNvPr id="29" name="Text 27">
            <a:hlinkClick r:id="rId2" tooltip="https://bofasecopsdev.service-now.com/cmdb_ci_win_server.do?sys_id=b3cab1bb93d8ee5007a4f84958373cba"/>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b3cab1bb93d8ee5007a4f84958373cba"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USEM FQDN Class Match because the class-restricted search is the more precise of the two.</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FQDN Class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Hostname Domain Class Match</a:t>
            </a:r>
            <a:endParaRPr lang="en-US" sz="11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82,224</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3   Read the scanned IP for the tie-break only.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4   Build the ignored-class list.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5   Query cmdb_ci_hardware for the exact fqdn.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25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6   Collect every hit and every IP-confirmed hit.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7   Decide exactly one.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8   No retired, twin or agreement handling.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177540"/>
          </a:xfrm>
          <a:prstGeom prst="roundRect">
            <a:avLst>
              <a:gd name="adj" fmla="val 172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8483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GlideRecord('cmdb_ci_hardware').isValid() is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outside the ignored classes carries the scanned name in fqdn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the payload has no IP</a:t>
            </a:r>
            <a:endParaRPr lang="en-US" sz="1500" dirty="0"/>
          </a:p>
        </p:txBody>
      </p:sp>
      <p:sp>
        <p:nvSpPr>
          <p:cNvPr id="13" name="Text 11"/>
          <p:cNvSpPr txBox="1"/>
          <p:nvPr/>
        </p:nvSpPr>
        <p:spPr>
          <a:xfrm>
            <a:off x="6277356" y="1975104"/>
            <a:ext cx="5088636" cy="25374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none of them has 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1500" dirty="0"/>
          </a:p>
        </p:txBody>
      </p:sp>
      <p:sp>
        <p:nvSpPr>
          <p:cNvPr id="14" name="Shape 12"/>
          <p:cNvSpPr/>
          <p:nvPr/>
        </p:nvSpPr>
        <p:spPr>
          <a:xfrm>
            <a:off x="502920" y="48508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8508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Domain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lclte0ln.bankofamerica.com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"lclte0ln" is not sep + 12 hex)  ·  FQDN (OS "EulerOS / Ubuntu / Fedora / Tiny Core Linux / Linux 3.x / IBM / FortiSOAR / F5 Networks Big-IP / Paloalto networks Global Protect PAN-OS"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SDI000003651953</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50" dirty="0">
                <a:solidFill>
                  <a:srgbClr val="4D4F53"/>
                </a:solidFill>
                <a:latin typeface="Arial" pitchFamily="34" charset="0"/>
                <a:ea typeface="Arial" pitchFamily="34" charset="-122"/>
                <a:cs typeface="Arial" pitchFamily="34" charset="-120"/>
              </a:rPr>
              <a:t>lclte0ln.bankofamerica.com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171.206.171.75</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50" dirty="0">
                <a:solidFill>
                  <a:srgbClr val="4D4F53"/>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50" dirty="0">
                <a:solidFill>
                  <a:srgbClr val="4D4F53"/>
                </a:solidFill>
                <a:latin typeface="Arial" pitchFamily="34" charset="0"/>
                <a:ea typeface="Arial" pitchFamily="34" charset="-122"/>
                <a:cs typeface="Arial" pitchFamily="34" charset="-120"/>
              </a:rPr>
              <a:t>2026-09-21 05:58:21</a:t>
            </a:r>
            <a:endParaRPr lang="en-US" sz="1150" dirty="0"/>
          </a:p>
        </p:txBody>
      </p:sp>
      <p:sp>
        <p:nvSpPr>
          <p:cNvPr id="17" name="Text 15">
            <a:hlinkClick r:id="rId1" tooltip="https://bofasecopsdev.service-now.com/sn_sec_cmn_src_ci_list.do?sysparm_query=number=SDI0000036519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9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"lclte0ln.bankofamerica.com";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lclte0ln [linux_server] ip 171.206.171.75 -&gt;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lclte0ln</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lclte0ln.bankofamerica.com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171.206.171.75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VMware-42 06 87 31 94 93 a6 2d-b6 4d 9a dc 9e ef a3 6c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VMware, Inc. VMware Virtual Platform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e43c52133b146a90d5062b64c3e45a2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hpuwrsubsql02.corp.bankofamerica.com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"hpuwrsubsql02" is not sep + 12 hex)  ·  FQDN (OS "not reported"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SDI000003438418</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hpuwrsubsql02.corp.bankofamerica.com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30.51.208.52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HPUWRSUBSQL02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05:56:42</a:t>
            </a:r>
            <a:endParaRPr lang="en-US" sz="1200" dirty="0"/>
          </a:p>
        </p:txBody>
      </p:sp>
      <p:sp>
        <p:nvSpPr>
          <p:cNvPr id="17" name="Text 15">
            <a:hlinkClick r:id="rId1" tooltip="https://bofasecopsdev.service-now.com/sn_sec_cmn_src_ci_list.do?sysparm_query=number=SDI000003438418"/>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384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"hpuwrsubsql02.corp.bankofamerica.com";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hpuwrsubsql02 [win_server] ip 30.51.208.52 -&gt;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hpuwrsubsql02</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hpuwrsubsql02.corp.bankofamerica.com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30.51.208.52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00" dirty="0">
                <a:solidFill>
                  <a:srgbClr val="4D4F53"/>
                </a:solidFill>
                <a:latin typeface="Arial" pitchFamily="34" charset="0"/>
                <a:ea typeface="Arial" pitchFamily="34" charset="-122"/>
                <a:cs typeface="Arial" pitchFamily="34" charset="-120"/>
              </a:rPr>
              <a:t>7647-2393-1030-8839-4672-4447-06</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00" dirty="0">
                <a:solidFill>
                  <a:srgbClr val="4D4F53"/>
                </a:solidFill>
                <a:latin typeface="Arial" pitchFamily="34" charset="0"/>
                <a:ea typeface="Arial" pitchFamily="34" charset="-122"/>
                <a:cs typeface="Arial" pitchFamily="34" charset="-120"/>
              </a:rPr>
              <a:t>Microsoft Corporation Virtual Machine</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Installed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Operational</a:t>
            </a:r>
            <a:endParaRPr lang="en-US" sz="1100" dirty="0"/>
          </a:p>
        </p:txBody>
      </p:sp>
      <p:sp>
        <p:nvSpPr>
          <p:cNvPr id="29" name="Text 27">
            <a:hlinkClick r:id="rId2" tooltip="https://bofasecopsdev.service-now.com/cmdb_ci_win_server.do?sys_id=7e20daa72bac22546d55ff5fe291bf6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20daa72bac22546d55ff5fe291bf6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260  ·  FQDN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usvmsrelecp20.corp.bankofamerica.com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989584"/>
          </a:xfrm>
          <a:prstGeom prst="roundRect">
            <a:avLst>
              <a:gd name="adj" fmla="val 554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477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"usvmsrelecp20" is not sep + 12 hex)  ·  FQDN (OS "not reported" gives no class)</a:t>
            </a:r>
            <a:endParaRPr lang="en-US" sz="1100" dirty="0"/>
          </a:p>
        </p:txBody>
      </p:sp>
      <p:sp>
        <p:nvSpPr>
          <p:cNvPr id="12" name="Shape 10"/>
          <p:cNvSpPr/>
          <p:nvPr/>
        </p:nvSpPr>
        <p:spPr>
          <a:xfrm>
            <a:off x="502920" y="2580640"/>
            <a:ext cx="2788920" cy="3820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36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10408"/>
            <a:ext cx="457200" cy="0"/>
          </a:xfrm>
          <a:prstGeom prst="line">
            <a:avLst/>
          </a:prstGeom>
          <a:noFill/>
          <a:ln w="19050">
            <a:solidFill>
              <a:srgbClr val="E31837"/>
            </a:solidFill>
            <a:prstDash val="solid"/>
          </a:ln>
        </p:spPr>
      </p:sp>
      <p:sp>
        <p:nvSpPr>
          <p:cNvPr id="15" name="Text 13"/>
          <p:cNvSpPr txBox="1"/>
          <p:nvPr/>
        </p:nvSpPr>
        <p:spPr>
          <a:xfrm>
            <a:off x="740664" y="3056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SDI000003444611</a:t>
            </a:r>
            <a:endParaRPr lang="en-US" sz="1500" dirty="0"/>
          </a:p>
        </p:txBody>
      </p:sp>
      <p:sp>
        <p:nvSpPr>
          <p:cNvPr id="16" name="Text 14"/>
          <p:cNvSpPr txBox="1"/>
          <p:nvPr/>
        </p:nvSpPr>
        <p:spPr>
          <a:xfrm>
            <a:off x="740664" y="3421888"/>
            <a:ext cx="2313432" cy="22656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usvmsrelecp20.corp.bankofamerica.com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30.52.240.133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USVMSRELECP20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05:56:30</a:t>
            </a:r>
            <a:endParaRPr lang="en-US" sz="1200" dirty="0"/>
          </a:p>
        </p:txBody>
      </p:sp>
      <p:sp>
        <p:nvSpPr>
          <p:cNvPr id="17" name="Text 15">
            <a:hlinkClick r:id="rId1" tooltip="https://bofasecopsdev.service-now.com/sn_sec_cmn_src_ci_list.do?sysparm_query=number=SDI00000344461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446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580640"/>
            <a:ext cx="4745736" cy="3820160"/>
          </a:xfrm>
          <a:prstGeom prst="roundRect">
            <a:avLst>
              <a:gd name="adj" fmla="val 14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36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10408"/>
            <a:ext cx="457200" cy="0"/>
          </a:xfrm>
          <a:prstGeom prst="line">
            <a:avLst/>
          </a:prstGeom>
          <a:noFill/>
          <a:ln w="19050">
            <a:solidFill>
              <a:srgbClr val="E31837"/>
            </a:solidFill>
            <a:prstDash val="solid"/>
          </a:ln>
        </p:spPr>
      </p:sp>
      <p:sp>
        <p:nvSpPr>
          <p:cNvPr id="21" name="Text 19"/>
          <p:cNvSpPr txBox="1"/>
          <p:nvPr/>
        </p:nvSpPr>
        <p:spPr>
          <a:xfrm>
            <a:off x="3749040" y="3083560"/>
            <a:ext cx="4233672" cy="3161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"usvmsrelecp20.corp.bankofamerica.com";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usvmsrelecp20 [win_server] ip 30.52.240.133 -&gt; exactly one, accepted</a:t>
            </a:r>
            <a:endParaRPr lang="en-US" sz="1300" dirty="0"/>
          </a:p>
        </p:txBody>
      </p:sp>
      <p:sp>
        <p:nvSpPr>
          <p:cNvPr id="22" name="Shape 20"/>
          <p:cNvSpPr/>
          <p:nvPr/>
        </p:nvSpPr>
        <p:spPr>
          <a:xfrm>
            <a:off x="8439912" y="2580640"/>
            <a:ext cx="3246120" cy="38201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45232"/>
            <a:ext cx="64008" cy="3490976"/>
          </a:xfrm>
          <a:prstGeom prst="rect">
            <a:avLst/>
          </a:prstGeom>
          <a:solidFill>
            <a:srgbClr val="E31837"/>
          </a:solidFill>
          <a:ln w="12700">
            <a:solidFill>
              <a:srgbClr val="333333"/>
            </a:solidFill>
            <a:prstDash val="solid"/>
          </a:ln>
        </p:spPr>
      </p:sp>
      <p:sp>
        <p:nvSpPr>
          <p:cNvPr id="24" name="Text 22"/>
          <p:cNvSpPr txBox="1"/>
          <p:nvPr/>
        </p:nvSpPr>
        <p:spPr>
          <a:xfrm>
            <a:off x="8714232" y="2736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10408"/>
            <a:ext cx="457200" cy="0"/>
          </a:xfrm>
          <a:prstGeom prst="line">
            <a:avLst/>
          </a:prstGeom>
          <a:noFill/>
          <a:ln w="19050">
            <a:solidFill>
              <a:srgbClr val="E31837"/>
            </a:solidFill>
            <a:prstDash val="solid"/>
          </a:ln>
        </p:spPr>
      </p:sp>
      <p:sp>
        <p:nvSpPr>
          <p:cNvPr id="26" name="Text 24"/>
          <p:cNvSpPr txBox="1"/>
          <p:nvPr/>
        </p:nvSpPr>
        <p:spPr>
          <a:xfrm>
            <a:off x="8714232" y="3056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usvmsrelecp20</a:t>
            </a:r>
            <a:endParaRPr lang="en-US" sz="1500" dirty="0"/>
          </a:p>
        </p:txBody>
      </p:sp>
      <p:sp>
        <p:nvSpPr>
          <p:cNvPr id="27" name="Text 25"/>
          <p:cNvSpPr txBox="1"/>
          <p:nvPr/>
        </p:nvSpPr>
        <p:spPr>
          <a:xfrm>
            <a:off x="8714232" y="3376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696208"/>
            <a:ext cx="2715768" cy="19913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usvmsrelecp20.corp.bankofamerica.com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100" dirty="0">
                <a:solidFill>
                  <a:srgbClr val="4D4F53"/>
                </a:solidFill>
                <a:latin typeface="Arial" pitchFamily="34" charset="0"/>
                <a:ea typeface="Arial" pitchFamily="34" charset="-122"/>
                <a:cs typeface="Arial" pitchFamily="34" charset="-120"/>
              </a:rPr>
              <a:t>sdi.corp.bankofamerica.com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30.52.240.133</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VMware-42 1b fa f5 9d 26 24 ef-5d 1f a7 59 51 ef 95 b9</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00" dirty="0">
                <a:solidFill>
                  <a:srgbClr val="4D4F53"/>
                </a:solidFill>
                <a:latin typeface="Arial" pitchFamily="34" charset="0"/>
                <a:ea typeface="Arial" pitchFamily="34" charset="-122"/>
                <a:cs typeface="Arial" pitchFamily="34" charset="-120"/>
              </a:rPr>
              <a:t>VMware, Inc. VMware Virtual Platform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Installed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Operational</a:t>
            </a:r>
            <a:endParaRPr lang="en-US" sz="1100" dirty="0"/>
          </a:p>
        </p:txBody>
      </p:sp>
      <p:sp>
        <p:nvSpPr>
          <p:cNvPr id="29" name="Text 27">
            <a:hlinkClick r:id="rId2" tooltip="https://bofasecopsdev.service-now.com/cmdb_ci_win_server.do?sys_id=f3e5f0f09782f29834bfb65de053af5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f3e5f0f09782f29834bfb65de053af5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the exact-fqdn rules because it is the strictest name-based search that still tolerates a CI that never had the fqdn copied into its name.</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Hardware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133,745</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Source guard and normalisation.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Split into short hostname and domain.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the IP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Class from the scanned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Query the class table by short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Walk every row and test domain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Collect IP hits in the same pass.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8   Decide.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291840"/>
          </a:xfrm>
          <a:prstGeom prst="roundRect">
            <a:avLst>
              <a:gd name="adj" fmla="val 16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9626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6517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(the DNS field)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name has no dot, or its first character is a dot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GlideRecord for the OS-implied class table is not valid</a:t>
            </a:r>
            <a:endParaRPr lang="en-US" sz="1500" dirty="0"/>
          </a:p>
        </p:txBody>
      </p:sp>
      <p:sp>
        <p:nvSpPr>
          <p:cNvPr id="13" name="Text 11"/>
          <p:cNvSpPr txBox="1"/>
          <p:nvPr/>
        </p:nvSpPr>
        <p:spPr>
          <a:xfrm>
            <a:off x="6277356" y="1975104"/>
            <a:ext cx="5088636" cy="26517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1500" dirty="0"/>
          </a:p>
        </p:txBody>
      </p:sp>
      <p:sp>
        <p:nvSpPr>
          <p:cNvPr id="14" name="Shape 12"/>
          <p:cNvSpPr/>
          <p:nvPr/>
        </p:nvSpPr>
        <p:spPr>
          <a:xfrm>
            <a:off x="502920" y="49651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9651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Domain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lsdnab00xsdi001.sdi.corp.bankofamerica.com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"lsdnab00xsdi001"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SDI000003576701</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lsdnab00xsdi001.sdi.corp.bankofamerica.com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06:07:37</a:t>
            </a:r>
            <a:endParaRPr lang="en-US" sz="1200" dirty="0"/>
          </a:p>
        </p:txBody>
      </p:sp>
      <p:sp>
        <p:nvSpPr>
          <p:cNvPr id="17" name="Text 15">
            <a:hlinkClick r:id="rId1" tooltip="https://bofasecopsdev.service-now.com/sn_sec_cmn_src_ci_list.do?sysparm_query=number=SDI00000357670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7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lsdnab00xsdi001 [linux_server] ip 30.39.246.10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lsdnab00xsdi001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MXQ2500GNX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30c82e632b91aa14d50dffbdbe91bfa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ltx14a31xsdi001.sdi.corp.bankofamerica.com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"ltx14a31xsdi001"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SDI000003576699</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ltx14a31xsdi001.sdi.corp.bankofamerica.com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30.25.18.11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06:07:35</a:t>
            </a:r>
            <a:endParaRPr lang="en-US" sz="1200" dirty="0"/>
          </a:p>
        </p:txBody>
      </p:sp>
      <p:sp>
        <p:nvSpPr>
          <p:cNvPr id="17" name="Text 15">
            <a:hlinkClick r:id="rId1" tooltip="https://bofasecopsdev.service-now.com/sn_sec_cmn_src_ci_list.do?sysparm_query=number=SDI00000357669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"ltx14a31xsdi001",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ltx14a31xsdi001 [linux_server] ip 30.25.18.11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ltx14a31xsdi001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30.25.18.11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2M2D3900RB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44e8b6fd47cd3a90b5da45ac026d438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44e8b6fd47cd3a90b5da45ac026d438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300  ·  HOSTNAME DOMAIN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lrchac11xsdi001.sdi.corp.bankofamerica.com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"lrchac11xsdi001"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SDI000003576697</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lrchac11xsdi001.sdi.corp.bankofamerica.com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30.35.4.10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06:07:34</a:t>
            </a:r>
            <a:endParaRPr lang="en-US" sz="1200" dirty="0"/>
          </a:p>
        </p:txBody>
      </p:sp>
      <p:sp>
        <p:nvSpPr>
          <p:cNvPr id="17" name="Text 15">
            <a:hlinkClick r:id="rId1" tooltip="https://bofasecopsdev.service-now.com/sn_sec_cmn_src_ci_list.do?sysparm_query=number=SDI00000357669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"lrchac11xsdi001", domain "sdi.corp.bankofamerica.com";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lrchac11xsdi001 [linux_server] ip 30.35.4.10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lrchac11xsdi001</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30.35.4.10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MXQ24923W9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15cec45c3b742e14055e3b64c3e45a7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15cec45c3b742e14055e3b64c3e45a7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The same short-hostname-plus-domain agreement, but across all of cmdb_ci_hardware, for CIs classed generically (Server, Computer) or differently from what the scanned OS implies.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the class-scoped variant so a class-consistent hit always wins first, and precedes the layered DNS and plain hostname rules, which need less.</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Layered DNS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97,445</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Source guard and normalisation.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Split into short hostname and domain.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the IP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cmdb_ci_hardware by short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Walk every row and test domain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Collect IP hits in the same pass.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Decide.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Domain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(the DNS field)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lower-cased name has no dot, or its first character is a dot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GlideRecord for cmdb_ci_hardware is not valid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Layered DNS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lsdnab03xsdi009.sdi.corp.bankofamerica.com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"lsdnab03xsdi009"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"lsdnab03xsdi009")</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SDI000003576283</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lsdnab03xsdi009.sdi.corp.bankofamerica.com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06:06:29</a:t>
            </a:r>
            <a:endParaRPr lang="en-US" sz="1200" dirty="0"/>
          </a:p>
        </p:txBody>
      </p:sp>
      <p:sp>
        <p:nvSpPr>
          <p:cNvPr id="17" name="Text 15">
            <a:hlinkClick r:id="rId1" tooltip="https://bofasecopsdev.service-now.com/sn_sec_cmn_src_ci_list.do?sysparm_query=number=SDI00000357628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"lsdnab03xsdi009",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lsdnab03xsdi009 [server] ip 30.39.240.18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lsdnab03xsdi009</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2M2D2R024K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35485a949310fe1026fbfbb4ed03d64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lsdnab05xsdi005.sdi.corp.bankofamerica.com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"lsdnab05xsdi005"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"lsdnab05xsdi005")</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SDI000003669773</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lsdnab05xsdi005.sdi.corp.bankofamerica.com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30.39.244.14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06:06:23</a:t>
            </a:r>
            <a:endParaRPr lang="en-US" sz="1200" dirty="0"/>
          </a:p>
        </p:txBody>
      </p:sp>
      <p:sp>
        <p:nvSpPr>
          <p:cNvPr id="17" name="Text 15">
            <a:hlinkClick r:id="rId1" tooltip="https://bofasecopsdev.service-now.com/sn_sec_cmn_src_ci_list.do?sysparm_query=number=SDI00000366977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"lsdnab05xsdi005",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lsdnab05xsdi005 [server] ip 30.39.244.14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lsdnab05xsdi005</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30.39.244.14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2M2D2R025L</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502f97033b417ed04826a7ae53e45a4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502f97033b417ed04826a7ae53e45a4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310  ·  HOSTNAME DOMAIN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lsdnab03xsdi004.sdi.corp.bankofamerica.com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"lsdnab03xsdi004"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"lsdnab03xsdi004")</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SDI000003669770</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lsdnab03xsdi004.sdi.corp.bankofamerica.com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06:06:11</a:t>
            </a:r>
            <a:endParaRPr lang="en-US" sz="1200" dirty="0"/>
          </a:p>
        </p:txBody>
      </p:sp>
      <p:sp>
        <p:nvSpPr>
          <p:cNvPr id="17" name="Text 15">
            <a:hlinkClick r:id="rId1" tooltip="https://bofasecopsdev.service-now.com/sn_sec_cmn_src_ci_list.do?sysparm_query=number=SDI00000366977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Split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host "lsdnab03xsdi004", domain "sdi.corp.bankofamerica.com";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lsdnab03xsdi004 [server] ip 30.39.240.13 domain "sdi.corp.bankofamerica.com" agrees -&gt; 1 agree on the domain</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lsdnab03xsdi004</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30.39.240.13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2M2D2R0231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HPE ProLiant DL380 Gen11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7a3896949310fe1026fbfbb4ed03d69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7a3896949310fe1026fbfbb4ed03d69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164080"/>
          </a:xfrm>
          <a:prstGeom prst="roundRect">
            <a:avLst>
              <a:gd name="adj" fmla="val 25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8348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5240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between the rules that read fqdn / hostname-plus-domain on the CI record itself and the plain hostname rules; the scanned OS is only a preference applied to the CI at the end of the chain, never a query filter.</a:t>
            </a:r>
            <a:endParaRPr lang="en-US" sz="1500" dirty="0"/>
          </a:p>
        </p:txBody>
      </p:sp>
      <p:sp>
        <p:nvSpPr>
          <p:cNvPr id="13" name="Shape 11"/>
          <p:cNvSpPr/>
          <p:nvPr/>
        </p:nvSpPr>
        <p:spPr>
          <a:xfrm>
            <a:off x="502920" y="3837432"/>
            <a:ext cx="6933529" cy="2563368"/>
          </a:xfrm>
          <a:prstGeom prst="roundRect">
            <a:avLst>
              <a:gd name="adj" fmla="val 2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40203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294632"/>
            <a:ext cx="457200" cy="0"/>
          </a:xfrm>
          <a:prstGeom prst="line">
            <a:avLst/>
          </a:prstGeom>
          <a:noFill/>
          <a:ln w="19050">
            <a:solidFill>
              <a:srgbClr val="E31837"/>
            </a:solidFill>
            <a:prstDash val="solid"/>
          </a:ln>
        </p:spPr>
      </p:sp>
      <p:sp>
        <p:nvSpPr>
          <p:cNvPr id="16" name="Text 14"/>
          <p:cNvSpPr txBox="1"/>
          <p:nvPr/>
        </p:nvSpPr>
        <p:spPr>
          <a:xfrm>
            <a:off x="822960" y="4386072"/>
            <a:ext cx="6293449" cy="1831848"/>
          </a:xfrm>
          <a:prstGeom prst="rect">
            <a:avLst/>
          </a:prstGeom>
          <a:noFill/>
          <a:ln/>
        </p:spPr>
        <p:txBody>
          <a:bodyPr wrap="square" lIns="0" tIns="0" rIns="0" bIns="0" rtlCol="0" anchor="t"/>
          <a:lstStyle/>
          <a:p>
            <a:pPr indent="0" marL="0">
              <a:lnSpc>
                <a:spcPct val="100000"/>
              </a:lnSpc>
              <a:buNone/>
            </a:pPr>
            <a:r>
              <a:rPr lang="en-US" sz="115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150" dirty="0">
                <a:solidFill>
                  <a:srgbClr val="4D4F53"/>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1150" dirty="0"/>
          </a:p>
          <a:p>
            <a:pPr indent="0" marL="0">
              <a:lnSpc>
                <a:spcPct val="100000"/>
              </a:lnSpc>
              <a:buNone/>
            </a:pPr>
            <a:r>
              <a:rPr lang="en-US" sz="115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150" dirty="0">
                <a:solidFill>
                  <a:srgbClr val="4D4F53"/>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1150" dirty="0"/>
          </a:p>
        </p:txBody>
      </p:sp>
      <p:sp>
        <p:nvSpPr>
          <p:cNvPr id="17" name="Shape 15"/>
          <p:cNvSpPr/>
          <p:nvPr/>
        </p:nvSpPr>
        <p:spPr>
          <a:xfrm>
            <a:off x="7665049" y="3837432"/>
            <a:ext cx="4020983" cy="2563368"/>
          </a:xfrm>
          <a:prstGeom prst="roundRect">
            <a:avLst>
              <a:gd name="adj" fmla="val 214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40203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294632"/>
            <a:ext cx="457200" cy="0"/>
          </a:xfrm>
          <a:prstGeom prst="line">
            <a:avLst/>
          </a:prstGeom>
          <a:noFill/>
          <a:ln w="19050">
            <a:solidFill>
              <a:srgbClr val="E31837"/>
            </a:solidFill>
            <a:prstDash val="solid"/>
          </a:ln>
        </p:spPr>
      </p:sp>
      <p:sp>
        <p:nvSpPr>
          <p:cNvPr id="20" name="Text 18"/>
          <p:cNvSpPr txBox="1"/>
          <p:nvPr/>
        </p:nvSpPr>
        <p:spPr>
          <a:xfrm>
            <a:off x="7985089" y="4386072"/>
            <a:ext cx="3380903" cy="826008"/>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Domain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Class Match</a:t>
            </a:r>
            <a:endParaRPr lang="en-US" sz="1300" dirty="0"/>
          </a:p>
        </p:txBody>
      </p:sp>
      <p:sp>
        <p:nvSpPr>
          <p:cNvPr id="21" name="Text 19"/>
          <p:cNvSpPr txBox="1"/>
          <p:nvPr/>
        </p:nvSpPr>
        <p:spPr>
          <a:xfrm>
            <a:off x="7985089" y="5303520"/>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114,574</a:t>
            </a:r>
            <a:endParaRPr lang="en-US" sz="2800" dirty="0"/>
          </a:p>
        </p:txBody>
      </p:sp>
      <p:sp>
        <p:nvSpPr>
          <p:cNvPr id="22" name="Text 20"/>
          <p:cNvSpPr txBox="1"/>
          <p:nvPr/>
        </p:nvSpPr>
        <p:spPr>
          <a:xfrm>
            <a:off x="7985089" y="5870448"/>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5</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Normalise the DNS value and guard bare labels.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Read the scanned IP for the tie-break only.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Load the ignored class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Derive the preferred class from the OS.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Query the DNS Name to IP Address link table.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6 to 9</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Walk every row and count distinct agreeing CIs.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One CI: return it unless it is a load balancer.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Several CIs: the scanned IP breaks the tie.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9   No CI: decline.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NAME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Layered DNS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863340"/>
          </a:xfrm>
          <a:prstGeom prst="roundRect">
            <a:avLst>
              <a:gd name="adj" fmla="val 142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5341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32232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trimmed, lower-cased value holds no '.' (a bare label, left to the hostname rules)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Cmdb_ip_address_dns_name is not a valid table on the instance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cmdb_ip_address_dns_name row has dns_name.name equal to the value with a CI at ip_address.nic.cmdb_ci</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1500" dirty="0"/>
          </a:p>
        </p:txBody>
      </p:sp>
      <p:sp>
        <p:nvSpPr>
          <p:cNvPr id="13" name="Text 11"/>
          <p:cNvSpPr txBox="1"/>
          <p:nvPr/>
        </p:nvSpPr>
        <p:spPr>
          <a:xfrm>
            <a:off x="6277356" y="1975104"/>
            <a:ext cx="5088636" cy="32232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Exactly one CI is reached but its sys_id exists on cmdb_ci_lb (load balancer device)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two or more of them are reached through the scanned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CIs answer to the name and the single one reached through the scanned IP exists on cmdb_ci_lb</a:t>
            </a:r>
            <a:endParaRPr lang="en-US" sz="1500" dirty="0"/>
          </a:p>
        </p:txBody>
      </p:sp>
      <p:sp>
        <p:nvSpPr>
          <p:cNvPr id="14" name="Shape 12"/>
          <p:cNvSpPr/>
          <p:nvPr/>
        </p:nvSpPr>
        <p:spPr>
          <a:xfrm>
            <a:off x="502920" y="55366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5366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ca6-229-01-m01.bankofamerica.com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"ca6-229-01-m01"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"ca6-229-01-m01", none with the domain "bankofamerica.com")</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SDI000003582887</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ca6-229-01-m01.bankofamerica.com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10.166.185.8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JetDirect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05:57:10</a:t>
            </a:r>
            <a:endParaRPr lang="en-US" sz="1200" dirty="0"/>
          </a:p>
        </p:txBody>
      </p:sp>
      <p:sp>
        <p:nvSpPr>
          <p:cNvPr id="17" name="Text 15">
            <a:hlinkClick r:id="rId1" tooltip="https://bofasecopsdev.service-now.com/sn_sec_cmn_src_ci_list.do?sysparm_query=number=SDI00000358288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828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ca6-229-01-m01</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10.166.185.8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MXBCR4L0F3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b38a64fc2b86ae54d50dffbdbe91bf0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ca3-166-01-m02-c.bankofamerica.com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040384"/>
          </a:xfrm>
          <a:prstGeom prst="roundRect">
            <a:avLst>
              <a:gd name="adj" fmla="val 527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5283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"ca3-166-01-m02-c"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"ca3-166-01-m02-c")</a:t>
            </a:r>
            <a:endParaRPr lang="en-US" sz="1100" dirty="0"/>
          </a:p>
        </p:txBody>
      </p:sp>
      <p:sp>
        <p:nvSpPr>
          <p:cNvPr id="12" name="Shape 10"/>
          <p:cNvSpPr/>
          <p:nvPr/>
        </p:nvSpPr>
        <p:spPr>
          <a:xfrm>
            <a:off x="502920" y="2631440"/>
            <a:ext cx="2788920" cy="37693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7868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061208"/>
            <a:ext cx="457200" cy="0"/>
          </a:xfrm>
          <a:prstGeom prst="line">
            <a:avLst/>
          </a:prstGeom>
          <a:noFill/>
          <a:ln w="19050">
            <a:solidFill>
              <a:srgbClr val="E31837"/>
            </a:solidFill>
            <a:prstDash val="solid"/>
          </a:ln>
        </p:spPr>
      </p:sp>
      <p:sp>
        <p:nvSpPr>
          <p:cNvPr id="15" name="Text 13"/>
          <p:cNvSpPr txBox="1"/>
          <p:nvPr/>
        </p:nvSpPr>
        <p:spPr>
          <a:xfrm>
            <a:off x="740664" y="31069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SDI000003052286</a:t>
            </a:r>
            <a:endParaRPr lang="en-US" sz="1500" dirty="0"/>
          </a:p>
        </p:txBody>
      </p:sp>
      <p:sp>
        <p:nvSpPr>
          <p:cNvPr id="16" name="Text 14"/>
          <p:cNvSpPr txBox="1"/>
          <p:nvPr/>
        </p:nvSpPr>
        <p:spPr>
          <a:xfrm>
            <a:off x="740664" y="3472688"/>
            <a:ext cx="2313432" cy="22148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ca3-166-01-m02-c.bankofamerica.com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10.169.205.12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05:56:07</a:t>
            </a:r>
            <a:endParaRPr lang="en-US" sz="1200" dirty="0"/>
          </a:p>
        </p:txBody>
      </p:sp>
      <p:sp>
        <p:nvSpPr>
          <p:cNvPr id="17" name="Text 15">
            <a:hlinkClick r:id="rId1" tooltip="https://bofasecopsdev.service-now.com/sn_sec_cmn_src_ci_list.do?sysparm_query=number=SDI00000305228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22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631440"/>
            <a:ext cx="4745736" cy="3769360"/>
          </a:xfrm>
          <a:prstGeom prst="roundRect">
            <a:avLst>
              <a:gd name="adj" fmla="val 145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7868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061208"/>
            <a:ext cx="457200" cy="0"/>
          </a:xfrm>
          <a:prstGeom prst="line">
            <a:avLst/>
          </a:prstGeom>
          <a:noFill/>
          <a:ln w="19050">
            <a:solidFill>
              <a:srgbClr val="E31837"/>
            </a:solidFill>
            <a:prstDash val="solid"/>
          </a:ln>
        </p:spPr>
      </p:sp>
      <p:sp>
        <p:nvSpPr>
          <p:cNvPr id="21" name="Text 19"/>
          <p:cNvSpPr txBox="1"/>
          <p:nvPr/>
        </p:nvSpPr>
        <p:spPr>
          <a:xfrm>
            <a:off x="3749040" y="3134360"/>
            <a:ext cx="4233672" cy="31109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"ca3-166-01-m02-c.bankofamerica.com"; OS "HP LaserJet Printer"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10.169.205.12 -&gt; adapter HP ETHERNET MULTI-ENVIRONMENT,ROM none,JETDIRECT,JD153,EEPROM JSI25080326 -&gt; npi443e42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631440"/>
            <a:ext cx="3246120" cy="376936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796032"/>
            <a:ext cx="64008" cy="3440176"/>
          </a:xfrm>
          <a:prstGeom prst="rect">
            <a:avLst/>
          </a:prstGeom>
          <a:solidFill>
            <a:srgbClr val="E31837"/>
          </a:solidFill>
          <a:ln w="12700">
            <a:solidFill>
              <a:srgbClr val="333333"/>
            </a:solidFill>
            <a:prstDash val="solid"/>
          </a:ln>
        </p:spPr>
      </p:sp>
      <p:sp>
        <p:nvSpPr>
          <p:cNvPr id="24" name="Text 22"/>
          <p:cNvSpPr txBox="1"/>
          <p:nvPr/>
        </p:nvSpPr>
        <p:spPr>
          <a:xfrm>
            <a:off x="8714232" y="27868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061208"/>
            <a:ext cx="457200" cy="0"/>
          </a:xfrm>
          <a:prstGeom prst="line">
            <a:avLst/>
          </a:prstGeom>
          <a:noFill/>
          <a:ln w="19050">
            <a:solidFill>
              <a:srgbClr val="E31837"/>
            </a:solidFill>
            <a:prstDash val="solid"/>
          </a:ln>
        </p:spPr>
      </p:sp>
      <p:sp>
        <p:nvSpPr>
          <p:cNvPr id="26" name="Text 24"/>
          <p:cNvSpPr txBox="1"/>
          <p:nvPr/>
        </p:nvSpPr>
        <p:spPr>
          <a:xfrm>
            <a:off x="8714232" y="31069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npi443e42</a:t>
            </a:r>
            <a:endParaRPr lang="en-US" sz="1500" dirty="0"/>
          </a:p>
        </p:txBody>
      </p:sp>
      <p:sp>
        <p:nvSpPr>
          <p:cNvPr id="27" name="Text 25"/>
          <p:cNvSpPr txBox="1"/>
          <p:nvPr/>
        </p:nvSpPr>
        <p:spPr>
          <a:xfrm>
            <a:off x="8714232" y="34269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747008"/>
            <a:ext cx="2715768" cy="19405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10.169.205.12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MXBCQ800NY</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 Stock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printer.do?sys_id=e4b9ac382b86ae54d50dffbdbe91bfe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e4b9ac382b86ae54d50dffbdbe91bfe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350  ·  LAYERED DNS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ca6-168-02-p200.bankofamerica.com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owner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"ca6-168-02-p200"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"ca6-168-02-p200", none with the domain "bankofamerica.com")</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SDI000003085182</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ca6-168-02-p200.bankofamerica.com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10.166.40.10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05:56:06</a:t>
            </a:r>
            <a:endParaRPr lang="en-US" sz="1200" dirty="0"/>
          </a:p>
        </p:txBody>
      </p:sp>
      <p:sp>
        <p:nvSpPr>
          <p:cNvPr id="17" name="Text 15">
            <a:hlinkClick r:id="rId1" tooltip="https://bofasecopsdev.service-now.com/sn_sec_cmn_src_ci_list.do?sysparm_query=number=SDI00000308518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518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"ca6-168-02-p200.bankofamerica.com"; OS "HP LaserJet Printer" gives the class printer (agreement includes appliances for a Linux fingerprint)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DNS Name -&gt; IP Address -&gt; adapter -&gt; CI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row: address 10.166.40.10 -&gt; adapter HP ETHERNET MULTI-ENVIRONMENT,ROM none,JETDIRECT,JD153,EEPROM JSI25080326 -&gt; ca6-168-02-p200 [printer]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agreeing CI</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ca6-168-02-p200</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10.166.40.10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MXBCR3F187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HP LaserJet Flow MFP E52645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a18a20fc2b86ae54d50dffbdbe91bf8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a18a20fc2b86ae54d50dffbdbe91bf8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agreement the CI lacks.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the domain rules because it is the first rule that accepts a CI carrying only a short name.</a:t>
            </a:r>
            <a:endParaRPr lang="en-US" sz="1500" dirty="0"/>
          </a:p>
        </p:txBody>
      </p:sp>
      <p:sp>
        <p:nvSpPr>
          <p:cNvPr id="13" name="Shape 11"/>
          <p:cNvSpPr/>
          <p:nvPr/>
        </p:nvSpPr>
        <p:spPr>
          <a:xfrm>
            <a:off x="502920" y="33802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1400" dirty="0"/>
          </a:p>
        </p:txBody>
      </p:sp>
      <p:sp>
        <p:nvSpPr>
          <p:cNvPr id="17" name="Shape 15"/>
          <p:cNvSpPr/>
          <p:nvPr/>
        </p:nvSpPr>
        <p:spPr>
          <a:xfrm>
            <a:off x="7665049" y="33802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Layered DNS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Hardware Match</a:t>
            </a:r>
            <a:endParaRPr lang="en-US" sz="1300" dirty="0"/>
          </a:p>
        </p:txBody>
      </p:sp>
      <p:sp>
        <p:nvSpPr>
          <p:cNvPr id="21" name="Text 19"/>
          <p:cNvSpPr txBox="1"/>
          <p:nvPr/>
        </p:nvSpPr>
        <p:spPr>
          <a:xfrm>
            <a:off x="7985089" y="46349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144,102</a:t>
            </a:r>
            <a:endParaRPr lang="en-US" sz="2800" dirty="0"/>
          </a:p>
        </p:txBody>
      </p:sp>
      <p:sp>
        <p:nvSpPr>
          <p:cNvPr id="22" name="Text 20"/>
          <p:cNvSpPr txBox="1"/>
          <p:nvPr/>
        </p:nvSpPr>
        <p:spPr>
          <a:xfrm>
            <a:off x="7985089" y="52019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Take the first label as the short host.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Resolve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Derive the class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Open the class table.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Filter by name and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Decide exactly one.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8   Return the sys_id.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491740"/>
          </a:xfrm>
          <a:prstGeom prst="roundRect">
            <a:avLst>
              <a:gd name="adj" fmla="val 220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1625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label of the trimmed, lowered DNS 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returns '' (empty OS, no keyword hit, or an OS text split by '/' into three or more segments)</a:t>
            </a:r>
            <a:endParaRPr lang="en-US" sz="1500" dirty="0"/>
          </a:p>
        </p:txBody>
      </p:sp>
      <p:sp>
        <p:nvSpPr>
          <p:cNvPr id="13" name="Text 11"/>
          <p:cNvSpPr txBox="1"/>
          <p:nvPr/>
        </p:nvSpPr>
        <p:spPr>
          <a:xfrm>
            <a:off x="6277356" y="1975104"/>
            <a:ext cx="5088636" cy="18516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class table named by classFor is not valid on the instance (gr.isValid()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or its sub-classes, outside the ignored classes, is named with the short host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CI of that class carries the same name (gr.hasNext() true)</a:t>
            </a:r>
            <a:endParaRPr lang="en-US" sz="1500" dirty="0"/>
          </a:p>
        </p:txBody>
      </p:sp>
      <p:sp>
        <p:nvSpPr>
          <p:cNvPr id="14" name="Shape 12"/>
          <p:cNvSpPr/>
          <p:nvPr/>
        </p:nvSpPr>
        <p:spPr>
          <a:xfrm>
            <a:off x="502920" y="41650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1650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Hostname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wsina1cdreapp</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"wsina1cdreapp" is not sep + 12 hex)  ·  FQDN (no dot in the name)  ·  name + domain (no domain in the name)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"wsina1cdreapp")</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SDI000003129664</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wsina1cdreapp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165.40.136.234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WSINA1CDREAPP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06:07:38</a:t>
            </a:r>
            <a:endParaRPr lang="en-US" sz="1200" dirty="0"/>
          </a:p>
        </p:txBody>
      </p:sp>
      <p:sp>
        <p:nvSpPr>
          <p:cNvPr id="17" name="Text 15">
            <a:hlinkClick r:id="rId1" tooltip="https://bofasecopsdev.service-now.com/sn_sec_cmn_src_ci_list.do?sysparm_query=number=SDI00000312966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wsina1cdreapp [win_server] ip 165.40.136.234 -&gt; exactly one, accepted</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wsina1cdreapp</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wsina1cdreapp.corp.bankofamerica.com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950" dirty="0">
                <a:solidFill>
                  <a:srgbClr val="4D4F53"/>
                </a:solidFill>
                <a:latin typeface="Arial" pitchFamily="34" charset="0"/>
                <a:ea typeface="Arial" pitchFamily="34" charset="-122"/>
                <a:cs typeface="Arial" pitchFamily="34" charset="-120"/>
              </a:rPr>
              <a:t>APAC.SDI.CORP.BANKOFAMERICA.COM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165.40.136.234</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VMware-42 17 39 9b 05 4e a1 dd-98 64 d1 69 bb e9 0f 2f</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 Inc. VMware Virtual Platform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win_server.do?sys_id=27e62ee33b5022d0055e3b64c3e45ae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lrchab85xsdi015.sdi.corp.bankofamerica.com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linux_server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426464"/>
          </a:xfrm>
          <a:prstGeom prst="roundRect">
            <a:avLst>
              <a:gd name="adj" fmla="val 3846"/>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9144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"lrchab85xsdi015"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"lrchab85xsdi015.sdi.corp.bankofamerica.com")</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(1 named "lrchab85xsdi015", none with the domain "sdi.corp.bankofamerica.com")</a:t>
            </a:r>
            <a:endParaRPr lang="en-US" sz="1100" dirty="0"/>
          </a:p>
        </p:txBody>
      </p:sp>
      <p:sp>
        <p:nvSpPr>
          <p:cNvPr id="12" name="Shape 10"/>
          <p:cNvSpPr/>
          <p:nvPr/>
        </p:nvSpPr>
        <p:spPr>
          <a:xfrm>
            <a:off x="502920" y="3017520"/>
            <a:ext cx="2788920" cy="33832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729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447288"/>
            <a:ext cx="457200" cy="0"/>
          </a:xfrm>
          <a:prstGeom prst="line">
            <a:avLst/>
          </a:prstGeom>
          <a:noFill/>
          <a:ln w="19050">
            <a:solidFill>
              <a:srgbClr val="E31837"/>
            </a:solidFill>
            <a:prstDash val="solid"/>
          </a:ln>
        </p:spPr>
      </p:sp>
      <p:sp>
        <p:nvSpPr>
          <p:cNvPr id="15" name="Text 13"/>
          <p:cNvSpPr txBox="1"/>
          <p:nvPr/>
        </p:nvSpPr>
        <p:spPr>
          <a:xfrm>
            <a:off x="740664" y="34930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SDI000003576309</a:t>
            </a:r>
            <a:endParaRPr lang="en-US" sz="1500" dirty="0"/>
          </a:p>
        </p:txBody>
      </p:sp>
      <p:sp>
        <p:nvSpPr>
          <p:cNvPr id="16" name="Text 14"/>
          <p:cNvSpPr txBox="1"/>
          <p:nvPr/>
        </p:nvSpPr>
        <p:spPr>
          <a:xfrm>
            <a:off x="740664" y="3858768"/>
            <a:ext cx="2313432" cy="18288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lrchab85xsdi015.sdi.corp.bankofamerica.com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30.93.134.24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4.20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06:07:38</a:t>
            </a:r>
            <a:endParaRPr lang="en-US" sz="1200" dirty="0"/>
          </a:p>
        </p:txBody>
      </p:sp>
      <p:sp>
        <p:nvSpPr>
          <p:cNvPr id="17" name="Text 15">
            <a:hlinkClick r:id="rId1" tooltip="https://bofasecopsdev.service-now.com/sn_sec_cmn_src_ci_list.do?sysparm_query=number=SDI00000357630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3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017520"/>
            <a:ext cx="4745736" cy="3383280"/>
          </a:xfrm>
          <a:prstGeom prst="roundRect">
            <a:avLst>
              <a:gd name="adj" fmla="val 162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729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447288"/>
            <a:ext cx="457200" cy="0"/>
          </a:xfrm>
          <a:prstGeom prst="line">
            <a:avLst/>
          </a:prstGeom>
          <a:noFill/>
          <a:ln w="19050">
            <a:solidFill>
              <a:srgbClr val="E31837"/>
            </a:solidFill>
            <a:prstDash val="solid"/>
          </a:ln>
        </p:spPr>
      </p:sp>
      <p:sp>
        <p:nvSpPr>
          <p:cNvPr id="21" name="Text 19"/>
          <p:cNvSpPr txBox="1"/>
          <p:nvPr/>
        </p:nvSpPr>
        <p:spPr>
          <a:xfrm>
            <a:off x="3749040" y="3520440"/>
            <a:ext cx="4233672" cy="27249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"lrchab85xsdi015"; OS "Red Hat Enterprise Linux CoreOS 4.20" gives the class linux_server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lrchab85xsdi015 [linux_server] ip 30.93.134.24 -&gt; exactly one, accepted</a:t>
            </a:r>
            <a:endParaRPr lang="en-US" sz="1300" dirty="0"/>
          </a:p>
        </p:txBody>
      </p:sp>
      <p:sp>
        <p:nvSpPr>
          <p:cNvPr id="22" name="Shape 20"/>
          <p:cNvSpPr/>
          <p:nvPr/>
        </p:nvSpPr>
        <p:spPr>
          <a:xfrm>
            <a:off x="8439912" y="3017520"/>
            <a:ext cx="3246120" cy="33832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82112"/>
            <a:ext cx="64008" cy="3054096"/>
          </a:xfrm>
          <a:prstGeom prst="rect">
            <a:avLst/>
          </a:prstGeom>
          <a:solidFill>
            <a:srgbClr val="E31837"/>
          </a:solidFill>
          <a:ln w="12700">
            <a:solidFill>
              <a:srgbClr val="333333"/>
            </a:solidFill>
            <a:prstDash val="solid"/>
          </a:ln>
        </p:spPr>
      </p:sp>
      <p:sp>
        <p:nvSpPr>
          <p:cNvPr id="24" name="Text 22"/>
          <p:cNvSpPr txBox="1"/>
          <p:nvPr/>
        </p:nvSpPr>
        <p:spPr>
          <a:xfrm>
            <a:off x="8714232" y="31729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447288"/>
            <a:ext cx="457200" cy="0"/>
          </a:xfrm>
          <a:prstGeom prst="line">
            <a:avLst/>
          </a:prstGeom>
          <a:noFill/>
          <a:ln w="19050">
            <a:solidFill>
              <a:srgbClr val="E31837"/>
            </a:solidFill>
            <a:prstDash val="solid"/>
          </a:ln>
        </p:spPr>
      </p:sp>
      <p:sp>
        <p:nvSpPr>
          <p:cNvPr id="26" name="Text 24"/>
          <p:cNvSpPr txBox="1"/>
          <p:nvPr/>
        </p:nvSpPr>
        <p:spPr>
          <a:xfrm>
            <a:off x="8714232" y="34930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lrchab85xsdi015</a:t>
            </a:r>
            <a:endParaRPr lang="en-US" sz="1500" dirty="0"/>
          </a:p>
        </p:txBody>
      </p:sp>
      <p:sp>
        <p:nvSpPr>
          <p:cNvPr id="27" name="Text 25"/>
          <p:cNvSpPr txBox="1"/>
          <p:nvPr/>
        </p:nvSpPr>
        <p:spPr>
          <a:xfrm>
            <a:off x="8714232" y="38130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133088"/>
            <a:ext cx="2715768" cy="15544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30.93.134.24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MXQ2430HMW</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inux_server.do?sys_id=a1194c903bbc2614d5062b64c3e45a7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1194c903bbc2614d5062b64c3e45a7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400  ·  HOSTNAME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wva20bmcvlfs21v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"wva20bmcvlfs21v" is not sep + 12 hex)  ·  FQDN (no dot in the name)  ·  name + domain (no domain in the name)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"wva20bmcvlfs21v")</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SDI000003129660</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wva20bmcvlfs21v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30.244.24.249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WVA20BMCVLFS21V</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06:07:37</a:t>
            </a:r>
            <a:endParaRPr lang="en-US" sz="1200" dirty="0"/>
          </a:p>
        </p:txBody>
      </p:sp>
      <p:sp>
        <p:nvSpPr>
          <p:cNvPr id="17" name="Text 15">
            <a:hlinkClick r:id="rId1" tooltip="https://bofasecopsdev.service-now.com/sn_sec_cmn_src_ci_list.do?sysparm_query=number=SDI00000312966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"wva20bmcvlfs21v";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wva20bmcvlfs21v [win_server] ip 30.244.24.249 -&gt; exactly one, accepted</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wva20bmcvlfs21v</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wva20bmcvlfs21v.corp.bankofamerica.com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950" dirty="0">
                <a:solidFill>
                  <a:srgbClr val="4D4F53"/>
                </a:solidFill>
                <a:latin typeface="Arial" pitchFamily="34" charset="0"/>
                <a:ea typeface="Arial" pitchFamily="34" charset="-122"/>
                <a:cs typeface="Arial" pitchFamily="34" charset="-120"/>
              </a:rPr>
              <a:t>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30.244.24.249</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VMware-42 0d e0 9e 88 e6 71 8e-d4 4b b7 b0 1f 2a d0 6f</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VMware, Inc. VMware Virtual Platform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win_server.do?sys_id=0a7265773bd062d0055e3b64c3e45a2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0a7265773bd062d0055e3b64c3e45a2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follows USEM Hostname Class Match to reach CIs kept in a parent class (Server, Computer, Hardware) or whose OS gave no class.</a:t>
            </a:r>
            <a:endParaRPr lang="en-US" sz="1500" dirty="0"/>
          </a:p>
        </p:txBody>
      </p:sp>
      <p:sp>
        <p:nvSpPr>
          <p:cNvPr id="13" name="Shape 11"/>
          <p:cNvSpPr/>
          <p:nvPr/>
        </p:nvSpPr>
        <p:spPr>
          <a:xfrm>
            <a:off x="502920" y="3380232"/>
            <a:ext cx="6933529" cy="2992120"/>
          </a:xfrm>
          <a:prstGeom prst="roundRect">
            <a:avLst>
              <a:gd name="adj" fmla="val 183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226060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1400" dirty="0"/>
          </a:p>
        </p:txBody>
      </p:sp>
      <p:sp>
        <p:nvSpPr>
          <p:cNvPr id="17" name="Shape 15"/>
          <p:cNvSpPr/>
          <p:nvPr/>
        </p:nvSpPr>
        <p:spPr>
          <a:xfrm>
            <a:off x="7665049" y="3380232"/>
            <a:ext cx="4020983" cy="2992120"/>
          </a:xfrm>
          <a:prstGeom prst="roundRect">
            <a:avLst>
              <a:gd name="adj" fmla="val 183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125476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Device Name Match</a:t>
            </a:r>
            <a:endParaRPr lang="en-US" sz="1300" dirty="0"/>
          </a:p>
        </p:txBody>
      </p:sp>
      <p:sp>
        <p:nvSpPr>
          <p:cNvPr id="21" name="Text 19"/>
          <p:cNvSpPr txBox="1"/>
          <p:nvPr/>
        </p:nvSpPr>
        <p:spPr>
          <a:xfrm>
            <a:off x="7985089" y="527507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106,626</a:t>
            </a:r>
            <a:endParaRPr lang="en-US" sz="2800" dirty="0"/>
          </a:p>
        </p:txBody>
      </p:sp>
      <p:sp>
        <p:nvSpPr>
          <p:cNvPr id="22" name="Text 20"/>
          <p:cNvSpPr txBox="1"/>
          <p:nvPr/>
        </p:nvSpPr>
        <p:spPr>
          <a:xfrm>
            <a:off x="7985089" y="584200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2   Take the first label as the short host.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3   Resolve the ignore list.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4   Derive the OS class as a preference only.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5   Search the whole hardware tree.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20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6   Decide exactly one.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7   Check class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8   Return the sys_id.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2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Hostname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label of the trimmed, lowered DNS 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in cmdb_ci_hardware or beneath it, outside the ignored classes, is named with the short host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hardware CI carries the same name (gr.hasNext() true), whatever its class or retired state</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Device Name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lrchac09xsdi013.sdi.corp.bankofamerica.com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94104"/>
          </a:xfrm>
          <a:prstGeom prst="roundRect">
            <a:avLst>
              <a:gd name="adj" fmla="val 34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820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"lrchac09xsdi013"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"lrchac09xsdi013.sdi.corp.bankofamerica.com")  ·  host name (no record in linux_server named "lrchac09xsdi013")</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"lrchac09xsdi013" / 1 named "lrchac09xsdi013", none with the domain "sdi.corp.bankofamerica.com")</a:t>
            </a:r>
            <a:endParaRPr lang="en-US" sz="1100" dirty="0"/>
          </a:p>
        </p:txBody>
      </p:sp>
      <p:sp>
        <p:nvSpPr>
          <p:cNvPr id="12" name="Shape 10"/>
          <p:cNvSpPr/>
          <p:nvPr/>
        </p:nvSpPr>
        <p:spPr>
          <a:xfrm>
            <a:off x="502920" y="3185160"/>
            <a:ext cx="2788920" cy="3215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340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614928"/>
            <a:ext cx="457200" cy="0"/>
          </a:xfrm>
          <a:prstGeom prst="line">
            <a:avLst/>
          </a:prstGeom>
          <a:noFill/>
          <a:ln w="19050">
            <a:solidFill>
              <a:srgbClr val="E31837"/>
            </a:solidFill>
            <a:prstDash val="solid"/>
          </a:ln>
        </p:spPr>
      </p:sp>
      <p:sp>
        <p:nvSpPr>
          <p:cNvPr id="15" name="Text 13"/>
          <p:cNvSpPr txBox="1"/>
          <p:nvPr/>
        </p:nvSpPr>
        <p:spPr>
          <a:xfrm>
            <a:off x="740664" y="3660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SDI000003650853</a:t>
            </a:r>
            <a:endParaRPr lang="en-US" sz="1500" dirty="0"/>
          </a:p>
        </p:txBody>
      </p:sp>
      <p:sp>
        <p:nvSpPr>
          <p:cNvPr id="16" name="Text 14"/>
          <p:cNvSpPr txBox="1"/>
          <p:nvPr/>
        </p:nvSpPr>
        <p:spPr>
          <a:xfrm>
            <a:off x="740664" y="4026408"/>
            <a:ext cx="2313432" cy="16611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lrchac09xsdi013.sdi.corp.bankofamerica.com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30.239.5.150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06:01:50</a:t>
            </a:r>
            <a:endParaRPr lang="en-US" sz="1200" dirty="0"/>
          </a:p>
        </p:txBody>
      </p:sp>
      <p:sp>
        <p:nvSpPr>
          <p:cNvPr id="17" name="Text 15">
            <a:hlinkClick r:id="rId1" tooltip="https://bofasecopsdev.service-now.com/sn_sec_cmn_src_ci_list.do?sysparm_query=number=SDI0000036508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85160"/>
            <a:ext cx="4745736"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340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614928"/>
            <a:ext cx="457200" cy="0"/>
          </a:xfrm>
          <a:prstGeom prst="line">
            <a:avLst/>
          </a:prstGeom>
          <a:noFill/>
          <a:ln w="19050">
            <a:solidFill>
              <a:srgbClr val="E31837"/>
            </a:solidFill>
            <a:prstDash val="solid"/>
          </a:ln>
        </p:spPr>
      </p:sp>
      <p:sp>
        <p:nvSpPr>
          <p:cNvPr id="21" name="Text 19"/>
          <p:cNvSpPr txBox="1"/>
          <p:nvPr/>
        </p:nvSpPr>
        <p:spPr>
          <a:xfrm>
            <a:off x="3749040" y="3688080"/>
            <a:ext cx="4233672" cy="2557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"lrchac09xsdi013";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lrchac09xsdi013 [server] -&gt; exactly one, accepted; class server agrees with the OS</a:t>
            </a:r>
            <a:endParaRPr lang="en-US" sz="1300" dirty="0"/>
          </a:p>
        </p:txBody>
      </p:sp>
      <p:sp>
        <p:nvSpPr>
          <p:cNvPr id="22" name="Shape 20"/>
          <p:cNvSpPr/>
          <p:nvPr/>
        </p:nvSpPr>
        <p:spPr>
          <a:xfrm>
            <a:off x="8439912" y="3185160"/>
            <a:ext cx="3246120"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349752"/>
            <a:ext cx="64008" cy="2886456"/>
          </a:xfrm>
          <a:prstGeom prst="rect">
            <a:avLst/>
          </a:prstGeom>
          <a:solidFill>
            <a:srgbClr val="E31837"/>
          </a:solidFill>
          <a:ln w="12700">
            <a:solidFill>
              <a:srgbClr val="333333"/>
            </a:solidFill>
            <a:prstDash val="solid"/>
          </a:ln>
        </p:spPr>
      </p:sp>
      <p:sp>
        <p:nvSpPr>
          <p:cNvPr id="24" name="Text 22"/>
          <p:cNvSpPr txBox="1"/>
          <p:nvPr/>
        </p:nvSpPr>
        <p:spPr>
          <a:xfrm>
            <a:off x="8714232" y="3340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614928"/>
            <a:ext cx="457200" cy="0"/>
          </a:xfrm>
          <a:prstGeom prst="line">
            <a:avLst/>
          </a:prstGeom>
          <a:noFill/>
          <a:ln w="19050">
            <a:solidFill>
              <a:srgbClr val="E31837"/>
            </a:solidFill>
            <a:prstDash val="solid"/>
          </a:ln>
        </p:spPr>
      </p:sp>
      <p:sp>
        <p:nvSpPr>
          <p:cNvPr id="26" name="Text 24"/>
          <p:cNvSpPr txBox="1"/>
          <p:nvPr/>
        </p:nvSpPr>
        <p:spPr>
          <a:xfrm>
            <a:off x="8714232" y="36606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lrchac09xsdi013</a:t>
            </a:r>
            <a:endParaRPr lang="en-US" sz="1500" dirty="0"/>
          </a:p>
        </p:txBody>
      </p:sp>
      <p:sp>
        <p:nvSpPr>
          <p:cNvPr id="27" name="Text 25"/>
          <p:cNvSpPr txBox="1"/>
          <p:nvPr/>
        </p:nvSpPr>
        <p:spPr>
          <a:xfrm>
            <a:off x="8714232" y="39806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300728"/>
            <a:ext cx="2715768" cy="13868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MXQ24509LF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2b66dbe59348b254b096f35e1dba106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d011e580110bmac</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computer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08024"/>
          </a:xfrm>
          <a:prstGeom prst="roundRect">
            <a:avLst>
              <a:gd name="adj" fmla="val 45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6959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"d011e580110bmac" is not sep + 12 hex)  ·  FQDN (no dot in the name)  ·  name + domain (no domain in the name)  ·  host name (OS "macOS 26.6.2" gives no class)</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"d011e580110bmac")</a:t>
            </a:r>
            <a:endParaRPr lang="en-US" sz="1100" dirty="0"/>
          </a:p>
        </p:txBody>
      </p:sp>
      <p:sp>
        <p:nvSpPr>
          <p:cNvPr id="12" name="Shape 10"/>
          <p:cNvSpPr/>
          <p:nvPr/>
        </p:nvSpPr>
        <p:spPr>
          <a:xfrm>
            <a:off x="502920" y="2799080"/>
            <a:ext cx="2788920" cy="3601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2954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28848"/>
            <a:ext cx="457200" cy="0"/>
          </a:xfrm>
          <a:prstGeom prst="line">
            <a:avLst/>
          </a:prstGeom>
          <a:noFill/>
          <a:ln w="19050">
            <a:solidFill>
              <a:srgbClr val="E31837"/>
            </a:solidFill>
            <a:prstDash val="solid"/>
          </a:ln>
        </p:spPr>
      </p:sp>
      <p:sp>
        <p:nvSpPr>
          <p:cNvPr id="15" name="Text 13"/>
          <p:cNvSpPr txBox="1"/>
          <p:nvPr/>
        </p:nvSpPr>
        <p:spPr>
          <a:xfrm>
            <a:off x="740664" y="3274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SDI000003605570</a:t>
            </a:r>
            <a:endParaRPr lang="en-US" sz="1500" dirty="0"/>
          </a:p>
        </p:txBody>
      </p:sp>
      <p:sp>
        <p:nvSpPr>
          <p:cNvPr id="16" name="Text 14"/>
          <p:cNvSpPr txBox="1"/>
          <p:nvPr/>
        </p:nvSpPr>
        <p:spPr>
          <a:xfrm>
            <a:off x="740664" y="3640328"/>
            <a:ext cx="2313432" cy="20472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d011e580110bmac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30.247.36.123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macOS 26.6.2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D011E580110BMAC</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05:59:19</a:t>
            </a:r>
            <a:endParaRPr lang="en-US" sz="1200" dirty="0"/>
          </a:p>
        </p:txBody>
      </p:sp>
      <p:sp>
        <p:nvSpPr>
          <p:cNvPr id="17" name="Text 15">
            <a:hlinkClick r:id="rId1" tooltip="https://bofasecopsdev.service-now.com/sn_sec_cmn_src_ci_list.do?sysparm_query=number=SDI00000360557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055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799080"/>
            <a:ext cx="4745736" cy="3601720"/>
          </a:xfrm>
          <a:prstGeom prst="roundRect">
            <a:avLst>
              <a:gd name="adj" fmla="val 152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2954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28848"/>
            <a:ext cx="457200" cy="0"/>
          </a:xfrm>
          <a:prstGeom prst="line">
            <a:avLst/>
          </a:prstGeom>
          <a:noFill/>
          <a:ln w="19050">
            <a:solidFill>
              <a:srgbClr val="E31837"/>
            </a:solidFill>
            <a:prstDash val="solid"/>
          </a:ln>
        </p:spPr>
      </p:sp>
      <p:sp>
        <p:nvSpPr>
          <p:cNvPr id="21" name="Text 19"/>
          <p:cNvSpPr txBox="1"/>
          <p:nvPr/>
        </p:nvSpPr>
        <p:spPr>
          <a:xfrm>
            <a:off x="3749040" y="3302000"/>
            <a:ext cx="4233672" cy="2943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"d011e580110bmac";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d011e580110bmac [computer] ip 30.247.57.19 -&gt; exactly one, accepted; class computer agrees with the OS</a:t>
            </a:r>
            <a:endParaRPr lang="en-US" sz="1300" dirty="0"/>
          </a:p>
        </p:txBody>
      </p:sp>
      <p:sp>
        <p:nvSpPr>
          <p:cNvPr id="22" name="Shape 20"/>
          <p:cNvSpPr/>
          <p:nvPr/>
        </p:nvSpPr>
        <p:spPr>
          <a:xfrm>
            <a:off x="8439912" y="2799080"/>
            <a:ext cx="3246120" cy="36017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2963672"/>
            <a:ext cx="64008" cy="3272536"/>
          </a:xfrm>
          <a:prstGeom prst="rect">
            <a:avLst/>
          </a:prstGeom>
          <a:solidFill>
            <a:srgbClr val="E31837"/>
          </a:solidFill>
          <a:ln w="12700">
            <a:solidFill>
              <a:srgbClr val="333333"/>
            </a:solidFill>
            <a:prstDash val="solid"/>
          </a:ln>
        </p:spPr>
      </p:sp>
      <p:sp>
        <p:nvSpPr>
          <p:cNvPr id="24" name="Text 22"/>
          <p:cNvSpPr txBox="1"/>
          <p:nvPr/>
        </p:nvSpPr>
        <p:spPr>
          <a:xfrm>
            <a:off x="8714232" y="2954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28848"/>
            <a:ext cx="457200" cy="0"/>
          </a:xfrm>
          <a:prstGeom prst="line">
            <a:avLst/>
          </a:prstGeom>
          <a:noFill/>
          <a:ln w="19050">
            <a:solidFill>
              <a:srgbClr val="E31837"/>
            </a:solidFill>
            <a:prstDash val="solid"/>
          </a:ln>
        </p:spPr>
      </p:sp>
      <p:sp>
        <p:nvSpPr>
          <p:cNvPr id="26" name="Text 24"/>
          <p:cNvSpPr txBox="1"/>
          <p:nvPr/>
        </p:nvSpPr>
        <p:spPr>
          <a:xfrm>
            <a:off x="8714232" y="3274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d011e580110bmac</a:t>
            </a:r>
            <a:endParaRPr lang="en-US" sz="1500" dirty="0"/>
          </a:p>
        </p:txBody>
      </p:sp>
      <p:sp>
        <p:nvSpPr>
          <p:cNvPr id="27" name="Text 25"/>
          <p:cNvSpPr txBox="1"/>
          <p:nvPr/>
        </p:nvSpPr>
        <p:spPr>
          <a:xfrm>
            <a:off x="8714232" y="3594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3914648"/>
            <a:ext cx="2715768" cy="17729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30.247.57.19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XKYQ4RWLG6</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d0:11:e5:90:82:ea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Apple MAC MINI (2024)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 Stock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computer.do?sys_id=215ec3123b046e10055e3b64c3e45af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215ec3123b046e10055e3b64c3e45af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410  ·  HOSTNAME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lrchac09xsdi003.sdi.corp.bankofamerica.com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94104"/>
          </a:xfrm>
          <a:prstGeom prst="roundRect">
            <a:avLst>
              <a:gd name="adj" fmla="val 3442"/>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820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"lrchac09xsdi003"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"lrchac09xsdi003.sdi.corp.bankofamerica.com")  ·  host name (no record in linux_server named "lrchac09xsdi003")</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"lrchac09xsdi003" / 1 named "lrchac09xsdi003", none with the domain "sdi.corp.bankofamerica.com")</a:t>
            </a:r>
            <a:endParaRPr lang="en-US" sz="1100" dirty="0"/>
          </a:p>
        </p:txBody>
      </p:sp>
      <p:sp>
        <p:nvSpPr>
          <p:cNvPr id="12" name="Shape 10"/>
          <p:cNvSpPr/>
          <p:nvPr/>
        </p:nvSpPr>
        <p:spPr>
          <a:xfrm>
            <a:off x="502920" y="3185160"/>
            <a:ext cx="2788920" cy="3215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340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614928"/>
            <a:ext cx="457200" cy="0"/>
          </a:xfrm>
          <a:prstGeom prst="line">
            <a:avLst/>
          </a:prstGeom>
          <a:noFill/>
          <a:ln w="19050">
            <a:solidFill>
              <a:srgbClr val="E31837"/>
            </a:solidFill>
            <a:prstDash val="solid"/>
          </a:ln>
        </p:spPr>
      </p:sp>
      <p:sp>
        <p:nvSpPr>
          <p:cNvPr id="15" name="Text 13"/>
          <p:cNvSpPr txBox="1"/>
          <p:nvPr/>
        </p:nvSpPr>
        <p:spPr>
          <a:xfrm>
            <a:off x="740664" y="3660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SDI000003650834</a:t>
            </a:r>
            <a:endParaRPr lang="en-US" sz="1500" dirty="0"/>
          </a:p>
        </p:txBody>
      </p:sp>
      <p:sp>
        <p:nvSpPr>
          <p:cNvPr id="16" name="Text 14"/>
          <p:cNvSpPr txBox="1"/>
          <p:nvPr/>
        </p:nvSpPr>
        <p:spPr>
          <a:xfrm>
            <a:off x="740664" y="4026408"/>
            <a:ext cx="2313432" cy="16611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lrchac09xsdi003.sdi.corp.bankofamerica.com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30.239.5.140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Red Hat Enterprise Linux CoreOS 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AGENT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06:01:14</a:t>
            </a:r>
            <a:endParaRPr lang="en-US" sz="1200" dirty="0"/>
          </a:p>
        </p:txBody>
      </p:sp>
      <p:sp>
        <p:nvSpPr>
          <p:cNvPr id="17" name="Text 15">
            <a:hlinkClick r:id="rId1" tooltip="https://bofasecopsdev.service-now.com/sn_sec_cmn_src_ci_list.do?sysparm_query=number=SDI00000365083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85160"/>
            <a:ext cx="4745736"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340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614928"/>
            <a:ext cx="457200" cy="0"/>
          </a:xfrm>
          <a:prstGeom prst="line">
            <a:avLst/>
          </a:prstGeom>
          <a:noFill/>
          <a:ln w="19050">
            <a:solidFill>
              <a:srgbClr val="E31837"/>
            </a:solidFill>
            <a:prstDash val="solid"/>
          </a:ln>
        </p:spPr>
      </p:sp>
      <p:sp>
        <p:nvSpPr>
          <p:cNvPr id="21" name="Text 19"/>
          <p:cNvSpPr txBox="1"/>
          <p:nvPr/>
        </p:nvSpPr>
        <p:spPr>
          <a:xfrm>
            <a:off x="3749040" y="3688080"/>
            <a:ext cx="4233672" cy="2557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Host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"lrchac09xsdi003";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lrchac09xsdi003 [server] -&gt; exactly one, accepted; class server agrees with the OS</a:t>
            </a:r>
            <a:endParaRPr lang="en-US" sz="1300" dirty="0"/>
          </a:p>
        </p:txBody>
      </p:sp>
      <p:sp>
        <p:nvSpPr>
          <p:cNvPr id="22" name="Shape 20"/>
          <p:cNvSpPr/>
          <p:nvPr/>
        </p:nvSpPr>
        <p:spPr>
          <a:xfrm>
            <a:off x="8439912" y="3185160"/>
            <a:ext cx="3246120" cy="3215640"/>
          </a:xfrm>
          <a:prstGeom prst="roundRect">
            <a:avLst>
              <a:gd name="adj" fmla="val 170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349752"/>
            <a:ext cx="64008" cy="2886456"/>
          </a:xfrm>
          <a:prstGeom prst="rect">
            <a:avLst/>
          </a:prstGeom>
          <a:solidFill>
            <a:srgbClr val="E31837"/>
          </a:solidFill>
          <a:ln w="12700">
            <a:solidFill>
              <a:srgbClr val="333333"/>
            </a:solidFill>
            <a:prstDash val="solid"/>
          </a:ln>
        </p:spPr>
      </p:sp>
      <p:sp>
        <p:nvSpPr>
          <p:cNvPr id="24" name="Text 22"/>
          <p:cNvSpPr txBox="1"/>
          <p:nvPr/>
        </p:nvSpPr>
        <p:spPr>
          <a:xfrm>
            <a:off x="8714232" y="3340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614928"/>
            <a:ext cx="457200" cy="0"/>
          </a:xfrm>
          <a:prstGeom prst="line">
            <a:avLst/>
          </a:prstGeom>
          <a:noFill/>
          <a:ln w="19050">
            <a:solidFill>
              <a:srgbClr val="E31837"/>
            </a:solidFill>
            <a:prstDash val="solid"/>
          </a:ln>
        </p:spPr>
      </p:sp>
      <p:sp>
        <p:nvSpPr>
          <p:cNvPr id="26" name="Text 24"/>
          <p:cNvSpPr txBox="1"/>
          <p:nvPr/>
        </p:nvSpPr>
        <p:spPr>
          <a:xfrm>
            <a:off x="8714232" y="36606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lrchac09xsdi003</a:t>
            </a:r>
            <a:endParaRPr lang="en-US" sz="1500" dirty="0"/>
          </a:p>
        </p:txBody>
      </p:sp>
      <p:sp>
        <p:nvSpPr>
          <p:cNvPr id="27" name="Text 25"/>
          <p:cNvSpPr txBox="1"/>
          <p:nvPr/>
        </p:nvSpPr>
        <p:spPr>
          <a:xfrm>
            <a:off x="8714232" y="39806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300728"/>
            <a:ext cx="2715768" cy="13868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MXQ2440FP4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Hewlett-Packard ProLiant DL360 Gen10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server.do?sys_id=c4b557ed9388321499fa7dd548373c4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c4b557ed9388321499fa7dd548373c4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right after USEM Hostname Hardware Match so ordinary hosts are already resolved and only OS-less devices such as Avaya stations (avx plus the tail of the MAC) and scanners reach it.</a:t>
            </a:r>
            <a:endParaRPr lang="en-US" sz="1500" dirty="0"/>
          </a:p>
        </p:txBody>
      </p:sp>
      <p:sp>
        <p:nvSpPr>
          <p:cNvPr id="13" name="Shape 11"/>
          <p:cNvSpPr/>
          <p:nvPr/>
        </p:nvSpPr>
        <p:spPr>
          <a:xfrm>
            <a:off x="502920" y="3608832"/>
            <a:ext cx="6933529" cy="2778760"/>
          </a:xfrm>
          <a:prstGeom prst="roundRect">
            <a:avLst>
              <a:gd name="adj" fmla="val 197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204724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1400" dirty="0"/>
          </a:p>
        </p:txBody>
      </p:sp>
      <p:sp>
        <p:nvSpPr>
          <p:cNvPr id="17" name="Shape 15"/>
          <p:cNvSpPr/>
          <p:nvPr/>
        </p:nvSpPr>
        <p:spPr>
          <a:xfrm>
            <a:off x="7665049" y="3608832"/>
            <a:ext cx="4020983" cy="2778760"/>
          </a:xfrm>
          <a:prstGeom prst="roundRect">
            <a:avLst>
              <a:gd name="adj" fmla="val 197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104140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Hostname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Management Interface Match</a:t>
            </a:r>
            <a:endParaRPr lang="en-US" sz="1300" dirty="0"/>
          </a:p>
        </p:txBody>
      </p:sp>
      <p:sp>
        <p:nvSpPr>
          <p:cNvPr id="21" name="Text 19"/>
          <p:cNvSpPr txBox="1"/>
          <p:nvPr/>
        </p:nvSpPr>
        <p:spPr>
          <a:xfrm>
            <a:off x="7985089" y="529031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25,733</a:t>
            </a:r>
            <a:endParaRPr lang="en-US" sz="2800" dirty="0"/>
          </a:p>
        </p:txBody>
      </p:sp>
      <p:sp>
        <p:nvSpPr>
          <p:cNvPr id="22" name="Text 20"/>
          <p:cNvSpPr txBox="1"/>
          <p:nvPr/>
        </p:nvSpPr>
        <p:spPr>
          <a:xfrm>
            <a:off x="7985089" y="585724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4</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373880"/>
          </a:xfrm>
          <a:prstGeom prst="roundRect">
            <a:avLst>
              <a:gd name="adj" fmla="val 125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8252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Empty guard and host label.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Scanned address.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500" dirty="0"/>
          </a:p>
        </p:txBody>
      </p:sp>
      <p:sp>
        <p:nvSpPr>
          <p:cNvPr id="10" name="Text 8"/>
          <p:cNvSpPr txBox="1"/>
          <p:nvPr/>
        </p:nvSpPr>
        <p:spPr>
          <a:xfrm>
            <a:off x="6277356" y="1746504"/>
            <a:ext cx="5088636" cy="38252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OS guard through classFor.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5 to 8</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86480"/>
          </a:xfrm>
          <a:prstGeom prst="roundRect">
            <a:avLst>
              <a:gd name="adj" fmla="val 153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What the OS guard rules out.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Search the two classes by name.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500" dirty="0"/>
          </a:p>
        </p:txBody>
      </p:sp>
      <p:sp>
        <p:nvSpPr>
          <p:cNvPr id="10" name="Text 8"/>
          <p:cNvSpPr txBox="1"/>
          <p:nvPr/>
        </p:nvSpPr>
        <p:spPr>
          <a:xfrm>
            <a:off x="6277356" y="1746504"/>
            <a:ext cx="5088636" cy="3037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Collect every row.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Decision and address tie-break.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NAME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Device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948940"/>
          </a:xfrm>
          <a:prstGeom prst="roundRect">
            <a:avLst>
              <a:gd name="adj" fmla="val 186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6197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3088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(DNS) is empty, or its first label before the dot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1500" dirty="0"/>
          </a:p>
        </p:txBody>
      </p:sp>
      <p:sp>
        <p:nvSpPr>
          <p:cNvPr id="13" name="Text 11"/>
          <p:cNvSpPr txBox="1"/>
          <p:nvPr/>
        </p:nvSpPr>
        <p:spPr>
          <a:xfrm>
            <a:off x="6277356" y="1975104"/>
            <a:ext cx="5088636" cy="23088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Several records carry the name and two or more of them have ip_address equal to the scanned IP.</a:t>
            </a:r>
            <a:endParaRPr lang="en-US" sz="1500" dirty="0"/>
          </a:p>
        </p:txBody>
      </p:sp>
      <p:sp>
        <p:nvSpPr>
          <p:cNvPr id="14" name="Shape 12"/>
          <p:cNvSpPr/>
          <p:nvPr/>
        </p:nvSpPr>
        <p:spPr>
          <a:xfrm>
            <a:off x="502920" y="46222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6222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Management Interface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avxef52fb.asia.bankofamerica.com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"avxef52fb"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"avxef52fb")  ·  layered DNS (no DNS Name record for "avxef52fb.asia.bankofamerica.com")  ·  host name (OS "not reported" gives no class / no record in the hardware tree named "avxef52fb")</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SDI000003799341</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avxef52fb.asia.bankofamerica.com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10.158.139.134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05:56:35</a:t>
            </a:r>
            <a:endParaRPr lang="en-US" sz="1200" dirty="0"/>
          </a:p>
        </p:txBody>
      </p:sp>
      <p:sp>
        <p:nvSpPr>
          <p:cNvPr id="17" name="Text 15">
            <a:hlinkClick r:id="rId1" tooltip="https://bofasecopsdev.service-now.com/sn_sec_cmn_src_ci_list.do?sysparm_query=number=SDI00000379934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AVXEF52FB [ip_phone] ip 10.158.139.117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AVXEF52FB</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10.158.139.117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21WZ5040045X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c8:1f:ea:ef:52:fb</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e07817742b062694d50dffbdbe91bf3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avxef5783.asia.bankofamerica.com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"avxef5783"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"avxef5783")  ·  layered DNS (no DNS Name record for "avxef5783.asia.bankofamerica.com")  ·  host name (OS "not reported" gives no class / no record in the hardware tree named "avxef5783")</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SDI000003799352</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avxef5783.asia.bankofamerica.com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10.158.139.78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05:56:09</a:t>
            </a:r>
            <a:endParaRPr lang="en-US" sz="1200" dirty="0"/>
          </a:p>
        </p:txBody>
      </p:sp>
      <p:sp>
        <p:nvSpPr>
          <p:cNvPr id="17" name="Text 15">
            <a:hlinkClick r:id="rId1" tooltip="https://bofasecopsdev.service-now.com/sn_sec_cmn_src_ci_list.do?sysparm_query=number=SDI00000379935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AVXEF5783 [ip_phone] ip 10.158.139.153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AVXEF5783</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10.158.139.153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21WZ504005PW</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c8:1f:ea:ef:57:83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19b683b83b4e2254860863b693e45a0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19b683b83b4e2254860863b693e45a0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415  ·  DEVICE NAME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avxf1efdf.asia.bankofamerica.com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ip_phone / one row</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"avxf1efdf"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"avxf1efdf")  ·  layered DNS (no DNS Name record for "avxf1efdf.asia.bankofamerica.com")  ·  host name (OS "not reported" gives no class / no record in the hardware tree named "avxf1efdf")</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SDI000003799469</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avxf1efdf.asia.bankofamerica.com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10.163.73.213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(not reported)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05:55:59</a:t>
            </a:r>
            <a:endParaRPr lang="en-US" sz="1200" dirty="0"/>
          </a:p>
        </p:txBody>
      </p:sp>
      <p:sp>
        <p:nvSpPr>
          <p:cNvPr id="17" name="Text 15">
            <a:hlinkClick r:id="rId1" tooltip="https://bofasecopsdev.service-now.com/sn_sec_cmn_src_ci_list.do?sysparm_query=number=SDI00000379946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4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OS guard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"not reported" gives no class: no server or desktop class, the search runs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Name searched in IP Phone and Imaging Hardware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cmdb_ci_ip_phone: 1 record: AVXF1EFDF [ip_phone] ip 10.163.73.124 | cmdb_ci_imaging_hardware: 0 records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device,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AVXF1EFDF</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Phone</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10.163.73.124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22WZ035007YL</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MAC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c8:1f:ea:f1:ef:df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Avaya J100 Series J179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phone.do?sys_id=50f767343bce6254860863b693e45a2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50f767343bce6254860863b693e45a2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164080"/>
          </a:xfrm>
          <a:prstGeom prst="roundRect">
            <a:avLst>
              <a:gd name="adj" fmla="val 25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8348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5240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hostname rules because they have already shown that no CI carries the full controller label, and before the interface-name rule so that a '-mgmt' controller resolves to its server before any prefix walk on network devices.</a:t>
            </a:r>
            <a:endParaRPr lang="en-US" sz="1500" dirty="0"/>
          </a:p>
        </p:txBody>
      </p:sp>
      <p:sp>
        <p:nvSpPr>
          <p:cNvPr id="13" name="Shape 11"/>
          <p:cNvSpPr/>
          <p:nvPr/>
        </p:nvSpPr>
        <p:spPr>
          <a:xfrm>
            <a:off x="502920" y="3837432"/>
            <a:ext cx="6933529" cy="2563368"/>
          </a:xfrm>
          <a:prstGeom prst="roundRect">
            <a:avLst>
              <a:gd name="adj" fmla="val 2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40203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294632"/>
            <a:ext cx="457200" cy="0"/>
          </a:xfrm>
          <a:prstGeom prst="line">
            <a:avLst/>
          </a:prstGeom>
          <a:noFill/>
          <a:ln w="19050">
            <a:solidFill>
              <a:srgbClr val="E31837"/>
            </a:solidFill>
            <a:prstDash val="solid"/>
          </a:ln>
        </p:spPr>
      </p:sp>
      <p:sp>
        <p:nvSpPr>
          <p:cNvPr id="16" name="Text 14"/>
          <p:cNvSpPr txBox="1"/>
          <p:nvPr/>
        </p:nvSpPr>
        <p:spPr>
          <a:xfrm>
            <a:off x="822960" y="4386072"/>
            <a:ext cx="6293449" cy="1831848"/>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1400" dirty="0"/>
          </a:p>
        </p:txBody>
      </p:sp>
      <p:sp>
        <p:nvSpPr>
          <p:cNvPr id="17" name="Shape 15"/>
          <p:cNvSpPr/>
          <p:nvPr/>
        </p:nvSpPr>
        <p:spPr>
          <a:xfrm>
            <a:off x="7665049" y="3837432"/>
            <a:ext cx="4020983" cy="2563368"/>
          </a:xfrm>
          <a:prstGeom prst="roundRect">
            <a:avLst>
              <a:gd name="adj" fmla="val 214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40203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294632"/>
            <a:ext cx="457200" cy="0"/>
          </a:xfrm>
          <a:prstGeom prst="line">
            <a:avLst/>
          </a:prstGeom>
          <a:noFill/>
          <a:ln w="19050">
            <a:solidFill>
              <a:srgbClr val="E31837"/>
            </a:solidFill>
            <a:prstDash val="solid"/>
          </a:ln>
        </p:spPr>
      </p:sp>
      <p:sp>
        <p:nvSpPr>
          <p:cNvPr id="20" name="Text 18"/>
          <p:cNvSpPr txBox="1"/>
          <p:nvPr/>
        </p:nvSpPr>
        <p:spPr>
          <a:xfrm>
            <a:off x="7985089" y="4386072"/>
            <a:ext cx="3380903" cy="826008"/>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Device Name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Network Interface Name Match</a:t>
            </a:r>
            <a:endParaRPr lang="en-US" sz="1300" dirty="0"/>
          </a:p>
        </p:txBody>
      </p:sp>
      <p:sp>
        <p:nvSpPr>
          <p:cNvPr id="21" name="Text 19"/>
          <p:cNvSpPr txBox="1"/>
          <p:nvPr/>
        </p:nvSpPr>
        <p:spPr>
          <a:xfrm>
            <a:off x="7985089" y="5303520"/>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9,556</a:t>
            </a:r>
            <a:endParaRPr lang="en-US" sz="2800" dirty="0"/>
          </a:p>
        </p:txBody>
      </p:sp>
      <p:sp>
        <p:nvSpPr>
          <p:cNvPr id="22" name="Text 20"/>
          <p:cNvSpPr txBox="1"/>
          <p:nvPr/>
        </p:nvSpPr>
        <p:spPr>
          <a:xfrm>
            <a:off x="7985089" y="5870448"/>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the input.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Locate the last hyphen.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Read OS text and the ignore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Controller sign and the server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Search the whole hardware tree by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Decide exactly one.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Refuse a load balancer.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Management Interface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label has no hyphen, or its only hyphen is in first position (lastIndexOf('-') &lt; 1)</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last segment is not in suffixes and no markers word appears as a substring of the OS text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cmdb_ci_hardware row outside the ignore classes is named like the stripped label</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cmdb_ci_hardware rows carry the stripped name (hasNext() true after the first)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row found is a record of cmdb_ci_lb or a class beneath it (load balancer device)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Network Interface Name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lva10regbxch0j-r.ecomm.device.rpg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os word / linux_server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"lva10regbxch0j-r"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"Integrated Dell Remote Access Controller" gives no class / no record in the hardware tree carries the fqdn)  ·  name + domain (OS "Integrated Dell Remote Access Controller" gives no class / no record named "lva10regbxch0j-r")  ·  layered DNS (no DNS Name record for "lva10regbxch0j-r.ecomm.device.rpg")  ·  host name (OS "Integrated Dell Remote Access Controller" gives no class / no record in the hardware tree named "lva10regbxch0j-r")  ·  device name (none named "lva10regbxch0j-r" in IP Phone or Imaging Hardware)</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SDI000002647592</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lva10regbxch0j-r.ecomm.device.rpg</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10.41.200.226</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Integrated Dell Remote Access Controller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05:55:07</a:t>
            </a:r>
            <a:endParaRPr lang="en-US" sz="1200" dirty="0"/>
          </a:p>
        </p:txBody>
      </p:sp>
      <p:sp>
        <p:nvSpPr>
          <p:cNvPr id="17" name="Text 15">
            <a:hlinkClick r:id="rId1" tooltip="https://bofasecopsdev.service-now.com/sn_sec_cmn_src_ci_list.do?sysparm_query=number=SDI0000026475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475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word "remote access controller" on "lva10regbxch0j-r"; server name "lva10regbxch0j"</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lva10regbxch0j [linux_server] ip 171.155.93.82 -&gt; exactly one,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lva10regbxch0j</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1050" dirty="0">
                <a:solidFill>
                  <a:srgbClr val="4D4F53"/>
                </a:solidFill>
                <a:latin typeface="Arial" pitchFamily="34" charset="0"/>
                <a:ea typeface="Arial" pitchFamily="34" charset="-122"/>
                <a:cs typeface="Arial" pitchFamily="34" charset="-120"/>
              </a:rPr>
              <a:t>lva10regbxch0j.ecomm.device.rpg</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050" dirty="0">
                <a:solidFill>
                  <a:srgbClr val="4D4F53"/>
                </a:solidFill>
                <a:latin typeface="Arial" pitchFamily="34" charset="0"/>
                <a:ea typeface="Arial" pitchFamily="34" charset="-122"/>
                <a:cs typeface="Arial" pitchFamily="34" charset="-120"/>
              </a:rPr>
              <a:t>ECOMM.DEVICE.RPG</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171.155.93.82</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050" dirty="0">
                <a:solidFill>
                  <a:srgbClr val="4D4F53"/>
                </a:solidFill>
                <a:latin typeface="Arial" pitchFamily="34" charset="0"/>
                <a:ea typeface="Arial" pitchFamily="34" charset="-122"/>
                <a:cs typeface="Arial" pitchFamily="34" charset="-120"/>
              </a:rPr>
              <a:t>4NYW2L3</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050" dirty="0">
                <a:solidFill>
                  <a:srgbClr val="4D4F53"/>
                </a:solidFill>
                <a:latin typeface="Arial" pitchFamily="34" charset="0"/>
                <a:ea typeface="Arial" pitchFamily="34" charset="-122"/>
                <a:cs typeface="Arial" pitchFamily="34" charset="-120"/>
              </a:rPr>
              <a:t>Dell Inc. PowerEdge R740xd</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Installed</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Operational</a:t>
            </a:r>
            <a:endParaRPr lang="en-US" sz="1050" dirty="0"/>
          </a:p>
        </p:txBody>
      </p:sp>
      <p:sp>
        <p:nvSpPr>
          <p:cNvPr id="29" name="Text 27">
            <a:hlinkClick r:id="rId2" tooltip="https://bofasecopsdev.service-now.com/cmdb_ci_linux_server.do?sys_id=a53749b02b062e54d28af8a4ce91bf6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xvu46dbm07-ilom.sdi.corp.bankofamerica.com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suffix ilom / linux_server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"xvu46dbm07-ilom"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layered DNS (no DNS Name record for "xvu46dbm07-ilom.sdi.corp.bankofamerica.com")  ·  device name (none named "xvu46dbm07-ilom" in IP Phone or Imaging Hardware)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name + domain (no record named "xvu46dbm07-ilom" / 1 named "xvu46dbm07-ilom", none with the domain "sdi.corp.bankofamerica.com")  ·  host name (no record in linux_server named "xvu46dbm07-ilom" / 1 record in the hardware tree named "xvu46dbm07-ilom" (class outofband_device disagrees with the OS))</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SDI000002530819</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50" dirty="0">
                <a:solidFill>
                  <a:srgbClr val="4D4F53"/>
                </a:solidFill>
                <a:latin typeface="Arial" pitchFamily="34" charset="0"/>
                <a:ea typeface="Arial" pitchFamily="34" charset="-122"/>
                <a:cs typeface="Arial" pitchFamily="34" charset="-120"/>
              </a:rPr>
              <a:t>xvu46dbm07-ilom.sdi.corp.bankofamerica.com</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50" dirty="0">
                <a:solidFill>
                  <a:srgbClr val="4D4F53"/>
                </a:solidFill>
                <a:latin typeface="Arial" pitchFamily="34" charset="0"/>
                <a:ea typeface="Arial" pitchFamily="34" charset="-122"/>
                <a:cs typeface="Arial" pitchFamily="34" charset="-120"/>
              </a:rPr>
              <a:t>30.52.3.160</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50" dirty="0">
                <a:solidFill>
                  <a:srgbClr val="4D4F53"/>
                </a:solidFill>
                <a:latin typeface="Arial" pitchFamily="34" charset="0"/>
                <a:ea typeface="Arial" pitchFamily="34" charset="-122"/>
                <a:cs typeface="Arial" pitchFamily="34" charset="-120"/>
              </a:rPr>
              <a:t>Ubuntu / Linux 3.x</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50" dirty="0">
                <a:solidFill>
                  <a:srgbClr val="4D4F53"/>
                </a:solidFill>
                <a:latin typeface="Arial" pitchFamily="34" charset="0"/>
                <a:ea typeface="Arial" pitchFamily="34" charset="-122"/>
                <a:cs typeface="Arial" pitchFamily="34" charset="-120"/>
              </a:rPr>
              <a:t>IP</a:t>
            </a:r>
            <a:endParaRPr lang="en-US" sz="1050" dirty="0"/>
          </a:p>
          <a:p>
            <a:pPr indent="0" marL="0">
              <a:buNone/>
            </a:pPr>
            <a:r>
              <a:rPr lang="en-US" sz="10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50" dirty="0">
                <a:solidFill>
                  <a:srgbClr val="4D4F53"/>
                </a:solidFill>
                <a:latin typeface="Arial" pitchFamily="34" charset="0"/>
                <a:ea typeface="Arial" pitchFamily="34" charset="-122"/>
                <a:cs typeface="Arial" pitchFamily="34" charset="-120"/>
              </a:rPr>
              <a:t>2026-09-21 05:54:56</a:t>
            </a:r>
            <a:endParaRPr lang="en-US" sz="1050" dirty="0"/>
          </a:p>
        </p:txBody>
      </p:sp>
      <p:sp>
        <p:nvSpPr>
          <p:cNvPr id="17" name="Text 15">
            <a:hlinkClick r:id="rId1" tooltip="https://bofasecopsdev.service-now.com/sn_sec_cmn_src_ci_list.do?sysparm_query=number=SDI000002530819"/>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3081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suffix "-ilom" on "xvu46dbm07-ilom"; server name "xvu46dbm07"</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xvu46dbm07 [linux_server] ip 30.52.3.138 -&gt; exactly one, accepted</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xvu46dbm07</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950" dirty="0">
                <a:solidFill>
                  <a:srgbClr val="4D4F53"/>
                </a:solidFill>
                <a:latin typeface="Arial" pitchFamily="34" charset="0"/>
                <a:ea typeface="Arial" pitchFamily="34" charset="-122"/>
                <a:cs typeface="Arial" pitchFamily="34" charset="-120"/>
              </a:rPr>
              <a:t>xvu46dbm07.sdi.corp.bankofamerica.com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30.52.3.138</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2345XLD01C</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Oracle Sun x86 Systems X9-2</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linux_server.do?sys_id=a8cf49353b4e6a90be6d95c964e45a24"/>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8cf49353b4e6a90be6d95c964e45a24"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420  ·  MANAGEMENT INTERFACE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sgcpap1mbl11-rmm.network.asia.bankofamerica.com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suffix rmm / ip_firewall</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"sgcpap1mbl11-rmm" is not sep + 12 hex)</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"iDRAC Device" gives no class / no record in the hardware tree carries the fqdn)  ·  name + domain (OS "iDRAC Device" gives no class / no record named "sgcpap1mbl11-rmm")  ·  layered DNS (no DNS Name record for "sgcpap1mbl11-rmm.network.asia.bankofamerica.com")  ·  host name (OS "iDRAC Device" gives no class / no record in the hardware tree named "sgcpap1mbl11-rmm")  ·  device name (none named "sgcpap1mbl11-rmm" in IP Phone or Imaging Hardware)</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SDI000003103867</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sgcpap1mbl11-rmm.network.asia.bankofamerica.com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171.147.167.59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iDRAC Device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05:53:56</a:t>
            </a:r>
            <a:endParaRPr lang="en-US" sz="1200" dirty="0"/>
          </a:p>
        </p:txBody>
      </p:sp>
      <p:sp>
        <p:nvSpPr>
          <p:cNvPr id="17" name="Text 15">
            <a:hlinkClick r:id="rId1" tooltip="https://bofasecopsdev.service-now.com/sn_sec_cmn_src_ci_list.do?sysparm_query=number=SDI00000310386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8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Controller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suffix "-rmm" on "sgcpap1mbl11-rmm"; server name "sgcpap1mbl11"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server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SGCPAP1MBL11 [ip_firewall] ip 171.147.167.57 -&gt; exactly one,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SGCPAP1MBL11</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Firewall</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171.147.167.57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G0D8446024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Musarubra US LLC F-Series WBG-5500-F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firewall.do?sys_id=f7300d7d3b466a90be6d95c964e45a2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firewall.do?sys_id=f7300d7d3b466a90be6d95c964e45a2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USEM Management Interface Match so controller labels resolve to servers first, and before the FQDN name and load balancer rules.</a:t>
            </a:r>
            <a:endParaRPr lang="en-US" sz="1500" dirty="0"/>
          </a:p>
        </p:txBody>
      </p:sp>
      <p:sp>
        <p:nvSpPr>
          <p:cNvPr id="13" name="Shape 11"/>
          <p:cNvSpPr/>
          <p:nvPr/>
        </p:nvSpPr>
        <p:spPr>
          <a:xfrm>
            <a:off x="502920" y="36088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1400" dirty="0"/>
          </a:p>
        </p:txBody>
      </p:sp>
      <p:sp>
        <p:nvSpPr>
          <p:cNvPr id="17" name="Shape 15"/>
          <p:cNvSpPr/>
          <p:nvPr/>
        </p:nvSpPr>
        <p:spPr>
          <a:xfrm>
            <a:off x="7665049" y="36088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Management Interface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Name Hardware Match</a:t>
            </a:r>
            <a:endParaRPr lang="en-US" sz="1300" dirty="0"/>
          </a:p>
        </p:txBody>
      </p:sp>
      <p:sp>
        <p:nvSpPr>
          <p:cNvPr id="21" name="Text 19"/>
          <p:cNvSpPr txBox="1"/>
          <p:nvPr/>
        </p:nvSpPr>
        <p:spPr>
          <a:xfrm>
            <a:off x="7985089" y="5076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8,786</a:t>
            </a:r>
            <a:endParaRPr lang="en-US" sz="2800" dirty="0"/>
          </a:p>
        </p:txBody>
      </p:sp>
      <p:sp>
        <p:nvSpPr>
          <p:cNvPr id="22" name="Text 20"/>
          <p:cNvSpPr txBox="1"/>
          <p:nvPr/>
        </p:nvSpPr>
        <p:spPr>
          <a:xfrm>
            <a:off x="7985089" y="5643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10760"/>
          </a:xfrm>
          <a:prstGeom prst="roundRect">
            <a:avLst>
              <a:gd name="adj" fmla="val 114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6212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Read the ignore list.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isMarker: recognise an interface segment.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Require interface sign.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the sign is present when the full DNS string contains a domains entry ('.network.') or any segment after the first is a marker; the first segment is never tested. Without it the rule returns null, so hyphenated hostnames like ah-1047132-001 are never cut.</a:t>
            </a:r>
            <a:endParaRPr lang="en-US" sz="1300" dirty="0"/>
          </a:p>
        </p:txBody>
      </p:sp>
      <p:sp>
        <p:nvSpPr>
          <p:cNvPr id="10" name="Text 8"/>
          <p:cNvSpPr txBox="1"/>
          <p:nvPr/>
        </p:nvSpPr>
        <p:spPr>
          <a:xfrm>
            <a:off x="6277356" y="1746504"/>
            <a:ext cx="5088636" cy="426212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5   Walk the prefixes, longest first.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6   Search Network Gear and Load Balancer by name.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7   Decide at the first prefix that finds anything.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8   Exhausted walk.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3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Network Interface Name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label has no hyphen (segments.length &lt; 2)</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interface sign: the DNS contains no '.network.' and no segment after the first is a listed marker</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Name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twtwtpett48bdm0002-eth1-18.network.asia.bankofamerica.com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1 / ip_switch</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543304"/>
          </a:xfrm>
          <a:prstGeom prst="roundRect">
            <a:avLst>
              <a:gd name="adj" fmla="val 3555"/>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0312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"twtwtpett48bdm0002-eth1-18" is not sep + 12 hex)  ·  device name (OS gives the class netgear)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"twtwtpett48bdm0002-eth1-18")  ·  layered DNS (no DNS Name record for "twtwtpett48bdm0002-eth1-18.network.asia.bankofamerica.com")  ·  host name (no record in the hardware tree named "twtwtpett48bdm0002-eth1-18")</a:t>
            </a:r>
            <a:endParaRPr lang="en-US" sz="1100" dirty="0"/>
          </a:p>
        </p:txBody>
      </p:sp>
      <p:sp>
        <p:nvSpPr>
          <p:cNvPr id="12" name="Shape 10"/>
          <p:cNvSpPr/>
          <p:nvPr/>
        </p:nvSpPr>
        <p:spPr>
          <a:xfrm>
            <a:off x="502920" y="3134360"/>
            <a:ext cx="2788920" cy="32664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2898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564128"/>
            <a:ext cx="457200" cy="0"/>
          </a:xfrm>
          <a:prstGeom prst="line">
            <a:avLst/>
          </a:prstGeom>
          <a:noFill/>
          <a:ln w="19050">
            <a:solidFill>
              <a:srgbClr val="E31837"/>
            </a:solidFill>
            <a:prstDash val="solid"/>
          </a:ln>
        </p:spPr>
      </p:sp>
      <p:sp>
        <p:nvSpPr>
          <p:cNvPr id="15" name="Text 13"/>
          <p:cNvSpPr txBox="1"/>
          <p:nvPr/>
        </p:nvSpPr>
        <p:spPr>
          <a:xfrm>
            <a:off x="740664" y="36098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SDI000003800077</a:t>
            </a:r>
            <a:endParaRPr lang="en-US" sz="1500" dirty="0"/>
          </a:p>
        </p:txBody>
      </p:sp>
      <p:sp>
        <p:nvSpPr>
          <p:cNvPr id="16" name="Text 14"/>
          <p:cNvSpPr txBox="1"/>
          <p:nvPr/>
        </p:nvSpPr>
        <p:spPr>
          <a:xfrm>
            <a:off x="740664" y="3975608"/>
            <a:ext cx="2313432" cy="171196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twtwtpett48bdm0002-eth1-18.network.asia.bankofamerica.com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165.46.245.162</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Cisco Nexus Switch</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06:00:29</a:t>
            </a:r>
            <a:endParaRPr lang="en-US" sz="1100" dirty="0"/>
          </a:p>
        </p:txBody>
      </p:sp>
      <p:sp>
        <p:nvSpPr>
          <p:cNvPr id="17" name="Text 15">
            <a:hlinkClick r:id="rId1" tooltip="https://bofasecopsdev.service-now.com/sn_sec_cmn_src_ci_list.do?sysparm_query=number=SDI00000380007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134360"/>
            <a:ext cx="4745736" cy="3266440"/>
          </a:xfrm>
          <a:prstGeom prst="roundRect">
            <a:avLst>
              <a:gd name="adj" fmla="val 168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2898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564128"/>
            <a:ext cx="457200" cy="0"/>
          </a:xfrm>
          <a:prstGeom prst="line">
            <a:avLst/>
          </a:prstGeom>
          <a:noFill/>
          <a:ln w="19050">
            <a:solidFill>
              <a:srgbClr val="E31837"/>
            </a:solidFill>
            <a:prstDash val="solid"/>
          </a:ln>
        </p:spPr>
      </p:sp>
      <p:sp>
        <p:nvSpPr>
          <p:cNvPr id="21" name="Text 19"/>
          <p:cNvSpPr txBox="1"/>
          <p:nvPr/>
        </p:nvSpPr>
        <p:spPr>
          <a:xfrm>
            <a:off x="3749040" y="3637280"/>
            <a:ext cx="4233672" cy="26080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domain ".network.", segment "eth1"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1300" dirty="0"/>
          </a:p>
        </p:txBody>
      </p:sp>
      <p:sp>
        <p:nvSpPr>
          <p:cNvPr id="22" name="Shape 20"/>
          <p:cNvSpPr/>
          <p:nvPr/>
        </p:nvSpPr>
        <p:spPr>
          <a:xfrm>
            <a:off x="8439912" y="3134360"/>
            <a:ext cx="3246120" cy="326644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298952"/>
            <a:ext cx="64008" cy="2937256"/>
          </a:xfrm>
          <a:prstGeom prst="rect">
            <a:avLst/>
          </a:prstGeom>
          <a:solidFill>
            <a:srgbClr val="E31837"/>
          </a:solidFill>
          <a:ln w="12700">
            <a:solidFill>
              <a:srgbClr val="333333"/>
            </a:solidFill>
            <a:prstDash val="solid"/>
          </a:ln>
        </p:spPr>
      </p:sp>
      <p:sp>
        <p:nvSpPr>
          <p:cNvPr id="24" name="Text 22"/>
          <p:cNvSpPr txBox="1"/>
          <p:nvPr/>
        </p:nvSpPr>
        <p:spPr>
          <a:xfrm>
            <a:off x="8714232" y="32898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564128"/>
            <a:ext cx="457200" cy="0"/>
          </a:xfrm>
          <a:prstGeom prst="line">
            <a:avLst/>
          </a:prstGeom>
          <a:noFill/>
          <a:ln w="19050">
            <a:solidFill>
              <a:srgbClr val="E31837"/>
            </a:solidFill>
            <a:prstDash val="solid"/>
          </a:ln>
        </p:spPr>
      </p:sp>
      <p:sp>
        <p:nvSpPr>
          <p:cNvPr id="26" name="Text 24"/>
          <p:cNvSpPr txBox="1"/>
          <p:nvPr/>
        </p:nvSpPr>
        <p:spPr>
          <a:xfrm>
            <a:off x="8714232" y="360984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twtwtpett48bdm0002</a:t>
            </a:r>
            <a:endParaRPr lang="en-US" sz="1500" dirty="0"/>
          </a:p>
        </p:txBody>
      </p:sp>
      <p:sp>
        <p:nvSpPr>
          <p:cNvPr id="27" name="Text 25"/>
          <p:cNvSpPr txBox="1"/>
          <p:nvPr/>
        </p:nvSpPr>
        <p:spPr>
          <a:xfrm>
            <a:off x="8714232" y="392988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249928"/>
            <a:ext cx="2715768" cy="14376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165.46.245.65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FDO23011EPA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Inc. Nexus 9300-EX Series 93180YC-EX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switch.do?sys_id=aaac6f842b256610cca5f39ec891bf8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000" b="1" dirty="0">
                <a:solidFill>
                  <a:srgbClr val="1F2A44"/>
                </a:solidFill>
                <a:latin typeface="Arial" pitchFamily="34" charset="0"/>
                <a:ea typeface="Arial" pitchFamily="34" charset="-122"/>
                <a:cs typeface="Arial" pitchFamily="34" charset="-120"/>
              </a:rPr>
              <a:t>sgsgsings07drm0156-cz01-v800.network.asia.bankofamerica.com</a:t>
            </a:r>
            <a:endParaRPr lang="en-US" sz="20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2 / ip_switch</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0944"/>
          </a:xfrm>
          <a:prstGeom prst="roundRect">
            <a:avLst>
              <a:gd name="adj" fmla="val 320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198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"sgsgsings07drm0156-cz01-v800" is not sep + 12 hex)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"not reported" gives no class / no record in the hardware tree carries the fqdn)  ·  name + domain (OS "not reported" gives no class / no record named "sgsgsings07drm0156-cz01-v800")  ·  layered DNS (no DNS Name record for "sgsgsings07drm0156-cz01-v800.network.asia.bankofamerica.com")  ·  host name (OS "not reported" gives no class / no record in the hardware tree named "sgsgsings07drm0156-cz01-v800")  ·  device name (none named "sgsgsings07drm0156-cz01-v800" in IP Phone or Imaging Hardware)</a:t>
            </a:r>
            <a:endParaRPr lang="en-US" sz="1100" dirty="0"/>
          </a:p>
        </p:txBody>
      </p:sp>
      <p:sp>
        <p:nvSpPr>
          <p:cNvPr id="12" name="Shape 10"/>
          <p:cNvSpPr/>
          <p:nvPr/>
        </p:nvSpPr>
        <p:spPr>
          <a:xfrm>
            <a:off x="502920" y="3302000"/>
            <a:ext cx="2788920" cy="3098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57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1768"/>
            <a:ext cx="457200" cy="0"/>
          </a:xfrm>
          <a:prstGeom prst="line">
            <a:avLst/>
          </a:prstGeom>
          <a:noFill/>
          <a:ln w="19050">
            <a:solidFill>
              <a:srgbClr val="E31837"/>
            </a:solidFill>
            <a:prstDash val="solid"/>
          </a:ln>
        </p:spPr>
      </p:sp>
      <p:sp>
        <p:nvSpPr>
          <p:cNvPr id="15" name="Text 13"/>
          <p:cNvSpPr txBox="1"/>
          <p:nvPr/>
        </p:nvSpPr>
        <p:spPr>
          <a:xfrm>
            <a:off x="740664" y="3777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SDI000003800075</a:t>
            </a:r>
            <a:endParaRPr lang="en-US" sz="1500" dirty="0"/>
          </a:p>
        </p:txBody>
      </p:sp>
      <p:sp>
        <p:nvSpPr>
          <p:cNvPr id="16" name="Text 14"/>
          <p:cNvSpPr txBox="1"/>
          <p:nvPr/>
        </p:nvSpPr>
        <p:spPr>
          <a:xfrm>
            <a:off x="740664" y="4143248"/>
            <a:ext cx="2313432" cy="15443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sgsgsings07drm0156-cz01-v800.network.asia.bankofamerica.com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165.40.76.3</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(not reported)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05:55:44</a:t>
            </a:r>
            <a:endParaRPr lang="en-US" sz="1100" dirty="0"/>
          </a:p>
        </p:txBody>
      </p:sp>
      <p:sp>
        <p:nvSpPr>
          <p:cNvPr id="17" name="Text 15">
            <a:hlinkClick r:id="rId1" tooltip="https://bofasecopsdev.service-now.com/sn_sec_cmn_src_ci_list.do?sysparm_query=number=SDI00000380007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02000"/>
            <a:ext cx="4745736"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457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31768"/>
            <a:ext cx="457200" cy="0"/>
          </a:xfrm>
          <a:prstGeom prst="line">
            <a:avLst/>
          </a:prstGeom>
          <a:noFill/>
          <a:ln w="19050">
            <a:solidFill>
              <a:srgbClr val="E31837"/>
            </a:solidFill>
            <a:prstDash val="solid"/>
          </a:ln>
        </p:spPr>
      </p:sp>
      <p:sp>
        <p:nvSpPr>
          <p:cNvPr id="21" name="Text 19"/>
          <p:cNvSpPr txBox="1"/>
          <p:nvPr/>
        </p:nvSpPr>
        <p:spPr>
          <a:xfrm>
            <a:off x="3749040" y="3804920"/>
            <a:ext cx="4233672" cy="24404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domain ".network.", segment "v800"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"sgsgsings07drm0156-cz01": SGSGSINGS07DRM0156-CZ01 [ip_switch] ip 10.214.82.151 -&gt; one device at prefix "sgsgsings07drm0156-cz01", accepted</a:t>
            </a:r>
            <a:endParaRPr lang="en-US" sz="1300" dirty="0"/>
          </a:p>
        </p:txBody>
      </p:sp>
      <p:sp>
        <p:nvSpPr>
          <p:cNvPr id="22" name="Shape 20"/>
          <p:cNvSpPr/>
          <p:nvPr/>
        </p:nvSpPr>
        <p:spPr>
          <a:xfrm>
            <a:off x="8439912" y="3302000"/>
            <a:ext cx="3246120"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466592"/>
            <a:ext cx="64008" cy="2769616"/>
          </a:xfrm>
          <a:prstGeom prst="rect">
            <a:avLst/>
          </a:prstGeom>
          <a:solidFill>
            <a:srgbClr val="E31837"/>
          </a:solidFill>
          <a:ln w="12700">
            <a:solidFill>
              <a:srgbClr val="333333"/>
            </a:solidFill>
            <a:prstDash val="solid"/>
          </a:ln>
        </p:spPr>
      </p:sp>
      <p:sp>
        <p:nvSpPr>
          <p:cNvPr id="24" name="Text 22"/>
          <p:cNvSpPr txBox="1"/>
          <p:nvPr/>
        </p:nvSpPr>
        <p:spPr>
          <a:xfrm>
            <a:off x="8714232" y="3457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31768"/>
            <a:ext cx="457200" cy="0"/>
          </a:xfrm>
          <a:prstGeom prst="line">
            <a:avLst/>
          </a:prstGeom>
          <a:noFill/>
          <a:ln w="19050">
            <a:solidFill>
              <a:srgbClr val="E31837"/>
            </a:solidFill>
            <a:prstDash val="solid"/>
          </a:ln>
        </p:spPr>
      </p:sp>
      <p:sp>
        <p:nvSpPr>
          <p:cNvPr id="26" name="Text 24"/>
          <p:cNvSpPr txBox="1"/>
          <p:nvPr/>
        </p:nvSpPr>
        <p:spPr>
          <a:xfrm>
            <a:off x="8714232" y="3777488"/>
            <a:ext cx="2715768" cy="292608"/>
          </a:xfrm>
          <a:prstGeom prst="rect">
            <a:avLst/>
          </a:prstGeom>
          <a:noFill/>
          <a:ln/>
        </p:spPr>
        <p:txBody>
          <a:bodyPr wrap="square" lIns="0" tIns="0" rIns="0" bIns="0" rtlCol="0" anchor="t"/>
          <a:lstStyle/>
          <a:p>
            <a:pPr indent="0" marL="0">
              <a:buNone/>
            </a:pPr>
            <a:r>
              <a:rPr lang="en-US" sz="1350" b="1" dirty="0">
                <a:solidFill>
                  <a:srgbClr val="012169"/>
                </a:solidFill>
                <a:latin typeface="Arial" pitchFamily="34" charset="0"/>
                <a:ea typeface="Arial" pitchFamily="34" charset="-122"/>
                <a:cs typeface="Arial" pitchFamily="34" charset="-120"/>
              </a:rPr>
              <a:t>SGSGSINGS07DRM0156-CZ01</a:t>
            </a:r>
            <a:endParaRPr lang="en-US" sz="1350" dirty="0"/>
          </a:p>
        </p:txBody>
      </p:sp>
      <p:sp>
        <p:nvSpPr>
          <p:cNvPr id="27" name="Text 25"/>
          <p:cNvSpPr txBox="1"/>
          <p:nvPr/>
        </p:nvSpPr>
        <p:spPr>
          <a:xfrm>
            <a:off x="8714232" y="4097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417568"/>
            <a:ext cx="2715768" cy="12700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10.214.82.151</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JPN2607P6E5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ARISTA DCS-7280SR3M-48YC8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ip_switch.do?sys_id=28acb0423bd00754a052e71864e45a0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28acb0423bd00754a052e71864e45a0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430  ·  NETWORK INTERFACE NAME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sgcppz1utilb01a-aom.asia.bankofamerica.com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prefix depth 1 / lb</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"sgcppz1utilb01a-aom" is not sep + 12 hex)  ·  device name (OS gives the class printer)  ·  controller (no controller suffix or OS word)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"sgcppz1utilb01a-aom")  ·  layered DNS (no DNS Name record for "sgcppz1utilb01a-aom.asia.bankofamerica.com")  ·  host name (no record in the hardware tree named "sgcppz1utilb01a-aom")</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SDI000003799353</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sgcppz1utilb01a-aom.asia.bankofamerica.com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171.147.168.145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JetDirect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05:51:47</a:t>
            </a:r>
            <a:endParaRPr lang="en-US" sz="1200" dirty="0"/>
          </a:p>
        </p:txBody>
      </p:sp>
      <p:sp>
        <p:nvSpPr>
          <p:cNvPr id="17" name="Text 15">
            <a:hlinkClick r:id="rId1" tooltip="https://bofasecopsdev.service-now.com/sn_sec_cmn_src_ci_list.do?sysparm_query=number=SDI00000379935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Interface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segment "aom"</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Prefixes tried, longest first, on Network Gear and Load Balancer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"sgcppz1utilb01a": SGCPPZ1UTILB01A [lb] ip 171.147.168.144 -&gt; one device at prefix "sgcppz1utilb01a",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SGCPPZ1UTILB01A</a:t>
            </a:r>
            <a:endParaRPr lang="en-US" sz="15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171.147.168.144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F5-MYIJ-FDDE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F5 NETWORKS INC BIG-IP 10350F</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b.do?sys_id=fedb74f52bc6ae94d28af8a4ce91bf69"/>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fedb74f52bc6ae94d28af8a4ce91bf69"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fqdn-field and short-hostname rules because those cover normal naming; this one only rescues CIs that none of them can see.</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No payload field is read: neither IP nor OS influences the result.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Network Interface Name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Load Balancer Member Match</a:t>
            </a:r>
            <a:endParaRPr lang="en-US" sz="11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29,770</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Build the ignored-class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cmdb_ci_hardware on the name field.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Take the first row with 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gr.next() is false the rule returns null. Otherwise match holds gr.getUniqueValue() of that first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Reject a second row with hasNext().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the single match.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263140"/>
          </a:xfrm>
          <a:prstGeom prst="roundRect">
            <a:avLst>
              <a:gd name="adj" fmla="val 242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933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under cmdb_ci_hardware outside the ignored classes has name equal to the scanned FQDN</a:t>
            </a:r>
            <a:endParaRPr lang="en-US" sz="1500" dirty="0"/>
          </a:p>
        </p:txBody>
      </p:sp>
      <p:sp>
        <p:nvSpPr>
          <p:cNvPr id="13" name="Text 11"/>
          <p:cNvSpPr txBox="1"/>
          <p:nvPr/>
        </p:nvSpPr>
        <p:spPr>
          <a:xfrm>
            <a:off x="6277356"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such CIs share that name (gr.hasNext() true), whatever their IP, class or status</a:t>
            </a:r>
            <a:endParaRPr lang="en-US" sz="1500" dirty="0"/>
          </a:p>
        </p:txBody>
      </p:sp>
      <p:sp>
        <p:nvSpPr>
          <p:cNvPr id="14" name="Shape 12"/>
          <p:cNvSpPr/>
          <p:nvPr/>
        </p:nvSpPr>
        <p:spPr>
          <a:xfrm>
            <a:off x="502920" y="3936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3936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Load Balancer Member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450  ·  FQDN NAME HARDWARE MATCH  ·  EXAMPLE 1 OF 1</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ca9-107-01-m02.bankofamerica.com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printer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375664"/>
          </a:xfrm>
          <a:prstGeom prst="roundRect">
            <a:avLst>
              <a:gd name="adj" fmla="val 398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8636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"ca9-107-01-m02" is not sep + 12 hex)  ·  device name (OS gives the class printer)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"ca9-107-01-m02")  ·  layered DNS (no DNS Name record for "ca9-107-01-m02.bankofamerica.com")  ·  host name (no record in the hardware tree named "ca9-107-01-m02")</a:t>
            </a:r>
            <a:endParaRPr lang="en-US" sz="1100" dirty="0"/>
          </a:p>
        </p:txBody>
      </p:sp>
      <p:sp>
        <p:nvSpPr>
          <p:cNvPr id="12" name="Shape 10"/>
          <p:cNvSpPr/>
          <p:nvPr/>
        </p:nvSpPr>
        <p:spPr>
          <a:xfrm>
            <a:off x="502920" y="2966720"/>
            <a:ext cx="2788920" cy="34340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221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396488"/>
            <a:ext cx="457200" cy="0"/>
          </a:xfrm>
          <a:prstGeom prst="line">
            <a:avLst/>
          </a:prstGeom>
          <a:noFill/>
          <a:ln w="19050">
            <a:solidFill>
              <a:srgbClr val="E31837"/>
            </a:solidFill>
            <a:prstDash val="solid"/>
          </a:ln>
        </p:spPr>
      </p:sp>
      <p:sp>
        <p:nvSpPr>
          <p:cNvPr id="15" name="Text 13"/>
          <p:cNvSpPr txBox="1"/>
          <p:nvPr/>
        </p:nvSpPr>
        <p:spPr>
          <a:xfrm>
            <a:off x="740664" y="34422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SDI000003103157</a:t>
            </a:r>
            <a:endParaRPr lang="en-US" sz="1500" dirty="0"/>
          </a:p>
        </p:txBody>
      </p:sp>
      <p:sp>
        <p:nvSpPr>
          <p:cNvPr id="16" name="Text 14"/>
          <p:cNvSpPr txBox="1"/>
          <p:nvPr/>
        </p:nvSpPr>
        <p:spPr>
          <a:xfrm>
            <a:off x="740664" y="3807968"/>
            <a:ext cx="2313432" cy="18796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ca9-107-01-m02.bankofamerica.com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10.165.133.9</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HP LaserJet Printer</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05:52:39</a:t>
            </a:r>
            <a:endParaRPr lang="en-US" sz="1200" dirty="0"/>
          </a:p>
        </p:txBody>
      </p:sp>
      <p:sp>
        <p:nvSpPr>
          <p:cNvPr id="17" name="Text 15">
            <a:hlinkClick r:id="rId1" tooltip="https://bofasecopsdev.service-now.com/sn_sec_cmn_src_ci_list.do?sysparm_query=number=SDI00000310315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15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966720"/>
            <a:ext cx="4745736" cy="3434080"/>
          </a:xfrm>
          <a:prstGeom prst="roundRect">
            <a:avLst>
              <a:gd name="adj" fmla="val 159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221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396488"/>
            <a:ext cx="457200" cy="0"/>
          </a:xfrm>
          <a:prstGeom prst="line">
            <a:avLst/>
          </a:prstGeom>
          <a:noFill/>
          <a:ln w="19050">
            <a:solidFill>
              <a:srgbClr val="E31837"/>
            </a:solidFill>
            <a:prstDash val="solid"/>
          </a:ln>
        </p:spPr>
      </p:sp>
      <p:sp>
        <p:nvSpPr>
          <p:cNvPr id="21" name="Text 19"/>
          <p:cNvSpPr txBox="1"/>
          <p:nvPr/>
        </p:nvSpPr>
        <p:spPr>
          <a:xfrm>
            <a:off x="3749040" y="3469640"/>
            <a:ext cx="4233672" cy="27757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"ca9-107-01-m02.bankofamerica.com" searched on the name field of the whole hardware tree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CA9-107-01-M02.BANKOFAMERICA.COM [printer] -&gt; exactly one, accepted</a:t>
            </a:r>
            <a:endParaRPr lang="en-US" sz="1300" dirty="0"/>
          </a:p>
        </p:txBody>
      </p:sp>
      <p:sp>
        <p:nvSpPr>
          <p:cNvPr id="22" name="Shape 20"/>
          <p:cNvSpPr/>
          <p:nvPr/>
        </p:nvSpPr>
        <p:spPr>
          <a:xfrm>
            <a:off x="8439912" y="2966720"/>
            <a:ext cx="3246120" cy="34340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31312"/>
            <a:ext cx="64008" cy="3104896"/>
          </a:xfrm>
          <a:prstGeom prst="rect">
            <a:avLst/>
          </a:prstGeom>
          <a:solidFill>
            <a:srgbClr val="E31837"/>
          </a:solidFill>
          <a:ln w="12700">
            <a:solidFill>
              <a:srgbClr val="333333"/>
            </a:solidFill>
            <a:prstDash val="solid"/>
          </a:ln>
        </p:spPr>
      </p:sp>
      <p:sp>
        <p:nvSpPr>
          <p:cNvPr id="24" name="Text 22"/>
          <p:cNvSpPr txBox="1"/>
          <p:nvPr/>
        </p:nvSpPr>
        <p:spPr>
          <a:xfrm>
            <a:off x="8714232" y="31221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396488"/>
            <a:ext cx="457200" cy="0"/>
          </a:xfrm>
          <a:prstGeom prst="line">
            <a:avLst/>
          </a:prstGeom>
          <a:noFill/>
          <a:ln w="19050">
            <a:solidFill>
              <a:srgbClr val="E31837"/>
            </a:solidFill>
            <a:prstDash val="solid"/>
          </a:ln>
        </p:spPr>
      </p:sp>
      <p:sp>
        <p:nvSpPr>
          <p:cNvPr id="26" name="Text 24"/>
          <p:cNvSpPr txBox="1"/>
          <p:nvPr/>
        </p:nvSpPr>
        <p:spPr>
          <a:xfrm>
            <a:off x="8714232" y="3442208"/>
            <a:ext cx="2715768" cy="292608"/>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CA9-107-01-M02.BANKOFAMERICA.COM</a:t>
            </a:r>
            <a:endParaRPr lang="en-US" sz="1200" dirty="0"/>
          </a:p>
        </p:txBody>
      </p:sp>
      <p:sp>
        <p:nvSpPr>
          <p:cNvPr id="27" name="Text 25"/>
          <p:cNvSpPr txBox="1"/>
          <p:nvPr/>
        </p:nvSpPr>
        <p:spPr>
          <a:xfrm>
            <a:off x="8714232" y="37622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Printer</a:t>
            </a:r>
            <a:endParaRPr lang="en-US" sz="1100" dirty="0"/>
          </a:p>
        </p:txBody>
      </p:sp>
      <p:sp>
        <p:nvSpPr>
          <p:cNvPr id="28" name="Text 26"/>
          <p:cNvSpPr txBox="1"/>
          <p:nvPr/>
        </p:nvSpPr>
        <p:spPr>
          <a:xfrm>
            <a:off x="8714232" y="4082288"/>
            <a:ext cx="2715768" cy="16052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MXBCQBV0FZ</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HP E52645c MFP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printer.do?sys_id=7ed9e0b82b86ae54d50dffbdbe91bf4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1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hardware rules, which find no server for a VIP, and before USEM Load Balancer Service Match so that a real server is preferred to the VIP record.</a:t>
            </a:r>
            <a:endParaRPr lang="en-US" sz="1500" dirty="0"/>
          </a:p>
        </p:txBody>
      </p:sp>
      <p:sp>
        <p:nvSpPr>
          <p:cNvPr id="13" name="Shape 11"/>
          <p:cNvSpPr/>
          <p:nvPr/>
        </p:nvSpPr>
        <p:spPr>
          <a:xfrm>
            <a:off x="502920" y="36088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1400" dirty="0"/>
          </a:p>
        </p:txBody>
      </p:sp>
      <p:sp>
        <p:nvSpPr>
          <p:cNvPr id="17" name="Shape 15"/>
          <p:cNvSpPr/>
          <p:nvPr/>
        </p:nvSpPr>
        <p:spPr>
          <a:xfrm>
            <a:off x="7665049" y="36088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614680"/>
          </a:xfrm>
          <a:prstGeom prst="rect">
            <a:avLst/>
          </a:prstGeom>
          <a:noFill/>
          <a:ln/>
        </p:spPr>
        <p:txBody>
          <a:bodyPr wrap="square" lIns="0" tIns="0" rIns="0" bIns="0" rtlCol="0" anchor="t"/>
          <a:lstStyle/>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FQDN Name Hardware Match</a:t>
            </a:r>
            <a:endParaRPr lang="en-US" sz="1250" dirty="0"/>
          </a:p>
          <a:p>
            <a:pPr indent="0" marL="0">
              <a:lnSpc>
                <a:spcPct val="100000"/>
              </a:lnSpc>
              <a:buNone/>
            </a:pPr>
            <a:r>
              <a:rPr lang="en-US" sz="125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250" dirty="0">
                <a:solidFill>
                  <a:srgbClr val="4D4F53"/>
                </a:solidFill>
                <a:latin typeface="Arial" pitchFamily="34" charset="0"/>
                <a:ea typeface="Arial" pitchFamily="34" charset="-122"/>
                <a:cs typeface="Arial" pitchFamily="34" charset="-120"/>
              </a:rPr>
              <a:t>Load Balancer Service Match</a:t>
            </a:r>
            <a:endParaRPr lang="en-US" sz="1250" dirty="0"/>
          </a:p>
        </p:txBody>
      </p:sp>
      <p:sp>
        <p:nvSpPr>
          <p:cNvPr id="21" name="Text 19"/>
          <p:cNvSpPr txBox="1"/>
          <p:nvPr/>
        </p:nvSpPr>
        <p:spPr>
          <a:xfrm>
            <a:off x="7985089" y="48635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7</a:t>
            </a:r>
            <a:endParaRPr lang="en-US" sz="2800" dirty="0"/>
          </a:p>
        </p:txBody>
      </p:sp>
      <p:sp>
        <p:nvSpPr>
          <p:cNvPr id="22" name="Text 20"/>
          <p:cNvSpPr txBox="1"/>
          <p:nvPr/>
        </p:nvSpPr>
        <p:spPr>
          <a:xfrm>
            <a:off x="7985089" y="54305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2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1 to 5</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Address guard and normalisation.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VIP sign.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The virtual server in cmdb_ci_lb_service.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Twins of one virtual server.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3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  ·  steps 6 to 9</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831080"/>
          </a:xfrm>
          <a:prstGeom prst="roundRect">
            <a:avLst>
              <a:gd name="adj" fmla="val 1136"/>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Pools behind every twin.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7   Members and their addresses.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8   Placing each member on a server.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500" dirty="0"/>
          </a:p>
        </p:txBody>
      </p:sp>
      <p:sp>
        <p:nvSpPr>
          <p:cNvPr id="10" name="Text 8"/>
          <p:cNvSpPr txBox="1"/>
          <p:nvPr/>
        </p:nvSpPr>
        <p:spPr>
          <a:xfrm>
            <a:off x="6277356" y="1746504"/>
            <a:ext cx="5088636" cy="42824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9   Deciding the one machine.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CONTROLLERS, INTERFACES, VIRTUAL SERVERS  ·  4 OF 4</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Member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087368"/>
          </a:xfrm>
          <a:prstGeom prst="roundRect">
            <a:avLst>
              <a:gd name="adj" fmla="val 134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758184"/>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3447288"/>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SourceValue is empty, or the trimmed IP is empty or starts with "127." or "169.254."</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Cmdb_ci_lb_service is not a valid table on the instance</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A search step returns cmdb_ci_lb_service records with two or more distinct names (trimmed, lower-cased)</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1350" dirty="0"/>
          </a:p>
        </p:txBody>
      </p:sp>
      <p:sp>
        <p:nvSpPr>
          <p:cNvPr id="13" name="Text 11"/>
          <p:cNvSpPr txBox="1"/>
          <p:nvPr/>
        </p:nvSpPr>
        <p:spPr>
          <a:xfrm>
            <a:off x="6277356" y="1975104"/>
            <a:ext cx="5088636" cy="3447288"/>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Any member leads to no real server (unresolved count above zero), leaving the pool partly unknown</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servers found carry zero, or two or more, distinct name labels (no server, or two different machines)</a:t>
            </a:r>
            <a:endParaRPr lang="en-US" sz="1350" dirty="0"/>
          </a:p>
          <a:p>
            <a:pPr marL="177800" indent="-177800">
              <a:lnSpc>
                <a:spcPct val="100000"/>
              </a:lnSpc>
              <a:spcAft>
                <a:spcPts val="900"/>
              </a:spcAft>
              <a:buSzPct val="100000"/>
              <a:buChar char="•"/>
            </a:pPr>
            <a:r>
              <a:rPr lang="en-US" sz="1350" dirty="0">
                <a:solidFill>
                  <a:srgbClr val="4D4F53"/>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1350" dirty="0"/>
          </a:p>
        </p:txBody>
      </p:sp>
      <p:sp>
        <p:nvSpPr>
          <p:cNvPr id="14" name="Shape 12"/>
          <p:cNvSpPr/>
          <p:nvPr/>
        </p:nvSpPr>
        <p:spPr>
          <a:xfrm>
            <a:off x="502920" y="5760720"/>
            <a:ext cx="11183112" cy="640080"/>
          </a:xfrm>
          <a:prstGeom prst="roundRect">
            <a:avLst>
              <a:gd name="adj" fmla="val 8571"/>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760720"/>
            <a:ext cx="10543032" cy="640080"/>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Load Balancer Service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boluiv4-dev2-benefits-l7-vip1.dev.gwimnp.rpg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service / 1 member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"boluiv4-dev2-benefits-l7-vip1"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"boluiv4-dev2-benefits-l7-vip1")  ·  layered DNS (no DNS Name record for "boluiv4-dev2-benefits-l7-vip1.dev.gwimnp.rpg")  ·  host name (OS "F5 Networks Big-IP" gives no class / no record in the hardware tree named "boluiv4-dev2-benefits-l7-vip1")  ·  device name (none named "boluiv4-dev2-benefits-l7-vip1" in IP Phone or Imaging Hardware)  ·  whole-fqdn name (no record in the hardware tree named "boluiv4-dev2-benefits-l7-vip1.dev.gwimnp.rpg")</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SDI000002993687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boluiv4-dev2-benefits-l7-vip1.dev.gwimnp.rpg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10.143.53.96</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10:40:47</a:t>
            </a:r>
            <a:endParaRPr lang="en-US" sz="1000" dirty="0"/>
          </a:p>
        </p:txBody>
      </p:sp>
      <p:sp>
        <p:nvSpPr>
          <p:cNvPr id="17" name="Text 15">
            <a:hlinkClick r:id="rId1" tooltip="https://bofasecopsdev.service-now.com/sn_sec_cmn_src_ci_list.do?sysparm_query=number=SDI00000299368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OS has "f5", OS has "big-ip", label segment "vip1"</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no service record; next clue</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3   Clue 4: ip_address = "10.143.53.96"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service record: /Common/ihscore-dev2-boluiv4_benefits-6011-vip on 10.143.53.96 (svedpz1rp1lb12)</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4   Pools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/Common/ihscore-dev2-boluiv4_benefits-6011-pool (pool field)</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5   Members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6   Decision  </a:t>
            </a:r>
            <a:pPr indent="0" marL="0">
              <a:lnSpc>
                <a:spcPct val="100000"/>
              </a:lnSpc>
              <a:spcAft>
                <a:spcPts val="700"/>
              </a:spcAft>
              <a:buNone/>
            </a:pPr>
            <a:r>
              <a:rPr lang="en-US" sz="10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endParaRPr lang="en-US" sz="10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lva62pwbolws51v</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lva62pwbolws51v.sdi.ssc3.ext3.bankofamerica3.com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171.184.193.14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27 25 b9 6c 36 c0 37-53 0a ac 92 8d 40 9f 3c</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f2130b8693966a107fb5f842ed03d65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aim-xfer-dev-ltwbt1-vip.bankofamerica.com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twins / 4 members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0944"/>
          </a:xfrm>
          <a:prstGeom prst="roundRect">
            <a:avLst>
              <a:gd name="adj" fmla="val 320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198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"aim-xfer-dev-ltwbt1-vip"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"aim-xfer-dev-ltwbt1-vip")  ·  layered DNS (no DNS Name record for "aim-xfer-dev-ltwbt1-vip.bankofamerica.com")  ·  host name (no record in the hardware tree named "aim-xfer-dev-ltwbt1-vip")  ·  device name (none named "aim-xfer-dev-ltwbt1-vip" in IP Phone or Imaging Hardware)  ·  whole-fqdn name (no record in the hardware tree named "aim-xfer-dev-ltwbt1-vip.bankofamerica.com")</a:t>
            </a:r>
            <a:endParaRPr lang="en-US" sz="1100" dirty="0"/>
          </a:p>
        </p:txBody>
      </p:sp>
      <p:sp>
        <p:nvSpPr>
          <p:cNvPr id="12" name="Shape 10"/>
          <p:cNvSpPr/>
          <p:nvPr/>
        </p:nvSpPr>
        <p:spPr>
          <a:xfrm>
            <a:off x="502920" y="3302000"/>
            <a:ext cx="2606040" cy="3098800"/>
          </a:xfrm>
          <a:prstGeom prst="roundRect">
            <a:avLst>
              <a:gd name="adj" fmla="val 21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57448"/>
            <a:ext cx="213055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1768"/>
            <a:ext cx="457200" cy="0"/>
          </a:xfrm>
          <a:prstGeom prst="line">
            <a:avLst/>
          </a:prstGeom>
          <a:noFill/>
          <a:ln w="19050">
            <a:solidFill>
              <a:srgbClr val="E31837"/>
            </a:solidFill>
            <a:prstDash val="solid"/>
          </a:ln>
        </p:spPr>
      </p:sp>
      <p:sp>
        <p:nvSpPr>
          <p:cNvPr id="15" name="Text 13"/>
          <p:cNvSpPr txBox="1"/>
          <p:nvPr/>
        </p:nvSpPr>
        <p:spPr>
          <a:xfrm>
            <a:off x="740664" y="3777488"/>
            <a:ext cx="213055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SDI000003786277</a:t>
            </a:r>
            <a:endParaRPr lang="en-US" sz="1500" dirty="0"/>
          </a:p>
        </p:txBody>
      </p:sp>
      <p:sp>
        <p:nvSpPr>
          <p:cNvPr id="16" name="Text 14"/>
          <p:cNvSpPr txBox="1"/>
          <p:nvPr/>
        </p:nvSpPr>
        <p:spPr>
          <a:xfrm>
            <a:off x="740664" y="4143248"/>
            <a:ext cx="2130552" cy="15443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aim-xfer-dev-ltwbt1-vip.bankofamerica.com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171.206.7.25</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Ubuntu/Linux</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2026-09-19 23:40:12</a:t>
            </a:r>
            <a:endParaRPr lang="en-US" sz="1100" dirty="0"/>
          </a:p>
        </p:txBody>
      </p:sp>
      <p:sp>
        <p:nvSpPr>
          <p:cNvPr id="17" name="Text 15">
            <a:hlinkClick r:id="rId1" tooltip="https://bofasecopsdev.service-now.com/sn_sec_cmn_src_ci_list.do?sysparm_query=number=SDI000003786277"/>
          </p:cNvPr>
          <p:cNvSpPr txBox="1"/>
          <p:nvPr/>
        </p:nvSpPr>
        <p:spPr>
          <a:xfrm>
            <a:off x="740664" y="6035040"/>
            <a:ext cx="213055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310128" y="3302000"/>
            <a:ext cx="5294376"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566160" y="3457448"/>
            <a:ext cx="478231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566160" y="3731768"/>
            <a:ext cx="457200" cy="0"/>
          </a:xfrm>
          <a:prstGeom prst="line">
            <a:avLst/>
          </a:prstGeom>
          <a:noFill/>
          <a:ln w="19050">
            <a:solidFill>
              <a:srgbClr val="E31837"/>
            </a:solidFill>
            <a:prstDash val="solid"/>
          </a:ln>
        </p:spPr>
      </p:sp>
      <p:sp>
        <p:nvSpPr>
          <p:cNvPr id="21" name="Text 19"/>
          <p:cNvSpPr txBox="1"/>
          <p:nvPr/>
        </p:nvSpPr>
        <p:spPr>
          <a:xfrm>
            <a:off x="3566160" y="3804920"/>
            <a:ext cx="4782312" cy="2440432"/>
          </a:xfrm>
          <a:prstGeom prst="rect">
            <a:avLst/>
          </a:prstGeom>
          <a:noFill/>
          <a:ln/>
        </p:spPr>
        <p:txBody>
          <a:bodyPr wrap="square" lIns="0" tIns="0" rIns="0" bIns="0" rtlCol="0" anchor="t"/>
          <a:lstStyle/>
          <a:p>
            <a:pPr indent="0" marL="0">
              <a:lnSpc>
                <a:spcPct val="100000"/>
              </a:lnSpc>
              <a:buNone/>
            </a:pPr>
            <a:r>
              <a:rPr lang="en-US" sz="9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label segment "vip"</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no service record; next clue</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3   Clue 4: ip_address = "171.206.7.25"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4   Twins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5   Pools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all the twins point at the one pool /Common/aim-xfer-dev_t_22</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6   Members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/Common/30.123.135.170 30.123.135.170, every one leads to ah-1062287-001 (device record, adapter, IP Address record)</a:t>
            </a:r>
            <a:endParaRPr lang="en-US" sz="900" dirty="0"/>
          </a:p>
          <a:p>
            <a:pPr indent="0" marL="0">
              <a:lnSpc>
                <a:spcPct val="100000"/>
              </a:lnSpc>
              <a:buNone/>
            </a:pPr>
            <a:r>
              <a:rPr lang="en-US" sz="900" b="1" dirty="0">
                <a:solidFill>
                  <a:srgbClr val="012169"/>
                </a:solidFill>
                <a:latin typeface="Arial" pitchFamily="34" charset="0"/>
                <a:ea typeface="Arial" pitchFamily="34" charset="-122"/>
                <a:cs typeface="Arial" pitchFamily="34" charset="-120"/>
              </a:rPr>
              <a:t>7   Decision  </a:t>
            </a:r>
            <a:pPr indent="0" marL="0">
              <a:lnSpc>
                <a:spcPct val="100000"/>
              </a:lnSpc>
              <a:spcAft>
                <a:spcPts val="700"/>
              </a:spcAft>
              <a:buNone/>
            </a:pPr>
            <a:r>
              <a:rPr lang="en-US" sz="900" dirty="0">
                <a:solidFill>
                  <a:srgbClr val="4D4F53"/>
                </a:solidFill>
                <a:latin typeface="Arial" pitchFamily="34" charset="0"/>
                <a:ea typeface="Arial" pitchFamily="34" charset="-122"/>
                <a:cs typeface="Arial" pitchFamily="34" charset="-120"/>
              </a:rPr>
              <a:t>4 member(s), 1 server record(s), 1 machine(s) by name; one machine, one record: the member rule returns it</a:t>
            </a:r>
            <a:endParaRPr lang="en-US" sz="900" dirty="0"/>
          </a:p>
        </p:txBody>
      </p:sp>
      <p:sp>
        <p:nvSpPr>
          <p:cNvPr id="22" name="Shape 20"/>
          <p:cNvSpPr/>
          <p:nvPr/>
        </p:nvSpPr>
        <p:spPr>
          <a:xfrm>
            <a:off x="8805672" y="3302000"/>
            <a:ext cx="2880360" cy="3098800"/>
          </a:xfrm>
          <a:prstGeom prst="roundRect">
            <a:avLst>
              <a:gd name="adj" fmla="val 190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805672" y="3466592"/>
            <a:ext cx="64008" cy="2769616"/>
          </a:xfrm>
          <a:prstGeom prst="rect">
            <a:avLst/>
          </a:prstGeom>
          <a:solidFill>
            <a:srgbClr val="E31837"/>
          </a:solidFill>
          <a:ln w="12700">
            <a:solidFill>
              <a:srgbClr val="333333"/>
            </a:solidFill>
            <a:prstDash val="solid"/>
          </a:ln>
        </p:spPr>
      </p:sp>
      <p:sp>
        <p:nvSpPr>
          <p:cNvPr id="24" name="Text 22"/>
          <p:cNvSpPr txBox="1"/>
          <p:nvPr/>
        </p:nvSpPr>
        <p:spPr>
          <a:xfrm>
            <a:off x="9079992" y="3457448"/>
            <a:ext cx="236829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9079992" y="3731768"/>
            <a:ext cx="457200" cy="0"/>
          </a:xfrm>
          <a:prstGeom prst="line">
            <a:avLst/>
          </a:prstGeom>
          <a:noFill/>
          <a:ln w="19050">
            <a:solidFill>
              <a:srgbClr val="E31837"/>
            </a:solidFill>
            <a:prstDash val="solid"/>
          </a:ln>
        </p:spPr>
      </p:sp>
      <p:sp>
        <p:nvSpPr>
          <p:cNvPr id="26" name="Text 24"/>
          <p:cNvSpPr txBox="1"/>
          <p:nvPr/>
        </p:nvSpPr>
        <p:spPr>
          <a:xfrm>
            <a:off x="9079992" y="3777488"/>
            <a:ext cx="235000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ah-1062287-001</a:t>
            </a:r>
            <a:endParaRPr lang="en-US" sz="1500" dirty="0"/>
          </a:p>
        </p:txBody>
      </p:sp>
      <p:sp>
        <p:nvSpPr>
          <p:cNvPr id="27" name="Text 25"/>
          <p:cNvSpPr txBox="1"/>
          <p:nvPr/>
        </p:nvSpPr>
        <p:spPr>
          <a:xfrm>
            <a:off x="9079992" y="4097528"/>
            <a:ext cx="235000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9079992" y="4417568"/>
            <a:ext cx="2350008" cy="12700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ah-1062287-001.sdi.corp.bankofamerica.com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30.123.135.170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13 33 b1 97 f0 9e 97-b1 a0 ca 1b 8a 2c fc 7b</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6dba925b2b1ca210e9c1f4cdce91bf42"/>
          </p:cNvPr>
          <p:cNvSpPr txBox="1"/>
          <p:nvPr/>
        </p:nvSpPr>
        <p:spPr>
          <a:xfrm>
            <a:off x="9079992" y="6035040"/>
            <a:ext cx="235000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455  ·  LOAD BALANCER MEMBER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ccgw-l7-vip2.sit1.gwimnp.rpg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one service / 1 member / 1 machine</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0944"/>
          </a:xfrm>
          <a:prstGeom prst="roundRect">
            <a:avLst>
              <a:gd name="adj" fmla="val 320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1988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"ccgw-l7-vip2" is not sep + 12 hex)  ·  controller (no controller suffix or OS word)  ·  interface (no interface domain or marker)</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"ccgw-l7-vip2")  ·  layered DNS (no DNS Name record for "ccgw-l7-vip2.sit1.gwimnp.rpg")  ·  host name (OS "F5 Networks Big-IP" gives no class / no record in the hardware tree named "ccgw-l7-vip2")  ·  device name (none named "ccgw-l7-vip2" in IP Phone or Imaging Hardware)  ·  whole-fqdn name (no record in the hardware tree named "ccgw-l7-vip2.sit1.gwimnp.rpg")</a:t>
            </a:r>
            <a:endParaRPr lang="en-US" sz="1100" dirty="0"/>
          </a:p>
        </p:txBody>
      </p:sp>
      <p:sp>
        <p:nvSpPr>
          <p:cNvPr id="12" name="Shape 10"/>
          <p:cNvSpPr/>
          <p:nvPr/>
        </p:nvSpPr>
        <p:spPr>
          <a:xfrm>
            <a:off x="502920" y="3302000"/>
            <a:ext cx="2788920" cy="30988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574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1768"/>
            <a:ext cx="457200" cy="0"/>
          </a:xfrm>
          <a:prstGeom prst="line">
            <a:avLst/>
          </a:prstGeom>
          <a:noFill/>
          <a:ln w="19050">
            <a:solidFill>
              <a:srgbClr val="E31837"/>
            </a:solidFill>
            <a:prstDash val="solid"/>
          </a:ln>
        </p:spPr>
      </p:sp>
      <p:sp>
        <p:nvSpPr>
          <p:cNvPr id="15" name="Text 13"/>
          <p:cNvSpPr txBox="1"/>
          <p:nvPr/>
        </p:nvSpPr>
        <p:spPr>
          <a:xfrm>
            <a:off x="740664" y="37774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SDI000002418623</a:t>
            </a:r>
            <a:endParaRPr lang="en-US" sz="1500" dirty="0"/>
          </a:p>
        </p:txBody>
      </p:sp>
      <p:sp>
        <p:nvSpPr>
          <p:cNvPr id="16" name="Text 14"/>
          <p:cNvSpPr txBox="1"/>
          <p:nvPr/>
        </p:nvSpPr>
        <p:spPr>
          <a:xfrm>
            <a:off x="740664" y="4143248"/>
            <a:ext cx="2313432" cy="15443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ccgw-l7-vip2.sit1.gwimnp.rpg</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10.143.52.217</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F5 Networks Big-IP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2026-09-20 03:12:39</a:t>
            </a:r>
            <a:endParaRPr lang="en-US" sz="1100" dirty="0"/>
          </a:p>
        </p:txBody>
      </p:sp>
      <p:sp>
        <p:nvSpPr>
          <p:cNvPr id="17" name="Text 15">
            <a:hlinkClick r:id="rId1" tooltip="https://bofasecopsdev.service-now.com/sn_sec_cmn_src_ci_list.do?sysparm_query=number=SDI00000241862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02000"/>
            <a:ext cx="4745736"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4574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31768"/>
            <a:ext cx="457200" cy="0"/>
          </a:xfrm>
          <a:prstGeom prst="line">
            <a:avLst/>
          </a:prstGeom>
          <a:noFill/>
          <a:ln w="19050">
            <a:solidFill>
              <a:srgbClr val="E31837"/>
            </a:solidFill>
            <a:prstDash val="solid"/>
          </a:ln>
        </p:spPr>
      </p:sp>
      <p:sp>
        <p:nvSpPr>
          <p:cNvPr id="21" name="Text 19"/>
          <p:cNvSpPr txBox="1"/>
          <p:nvPr/>
        </p:nvSpPr>
        <p:spPr>
          <a:xfrm>
            <a:off x="3749040" y="3804920"/>
            <a:ext cx="4233672" cy="2440432"/>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OS has "f5", OS has "big-ip", label segment "vip2"</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no service record; next clue</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3   Clue 4: ip_address = "10.143.52.217"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service record: /Common/ihscore-sit1-ccgw-6011-vip on 10.143.52.217 (svedpz1rp4lb10)</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4   Pools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/Common/ihscore-sit1-ccgw-443-pool (pool field)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5   Members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6   Decision  </a:t>
            </a:r>
            <a:pPr indent="0" marL="0">
              <a:lnSpc>
                <a:spcPct val="100000"/>
              </a:lnSpc>
              <a:spcAft>
                <a:spcPts val="700"/>
              </a:spcAft>
              <a:buNone/>
            </a:pPr>
            <a:r>
              <a:rPr lang="en-US" sz="1100" dirty="0">
                <a:solidFill>
                  <a:srgbClr val="4D4F53"/>
                </a:solidFill>
                <a:latin typeface="Arial" pitchFamily="34" charset="0"/>
                <a:ea typeface="Arial" pitchFamily="34" charset="-122"/>
                <a:cs typeface="Arial" pitchFamily="34" charset="-120"/>
              </a:rPr>
              <a:t>1 member(s), 1 server record(s), 1 machine(s) by name; one machine, one record: the member rule returns it</a:t>
            </a:r>
            <a:endParaRPr lang="en-US" sz="1100" dirty="0"/>
          </a:p>
        </p:txBody>
      </p:sp>
      <p:sp>
        <p:nvSpPr>
          <p:cNvPr id="22" name="Shape 20"/>
          <p:cNvSpPr/>
          <p:nvPr/>
        </p:nvSpPr>
        <p:spPr>
          <a:xfrm>
            <a:off x="8439912" y="3302000"/>
            <a:ext cx="3246120" cy="3098800"/>
          </a:xfrm>
          <a:prstGeom prst="roundRect">
            <a:avLst>
              <a:gd name="adj" fmla="val 17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466592"/>
            <a:ext cx="64008" cy="2769616"/>
          </a:xfrm>
          <a:prstGeom prst="rect">
            <a:avLst/>
          </a:prstGeom>
          <a:solidFill>
            <a:srgbClr val="E31837"/>
          </a:solidFill>
          <a:ln w="12700">
            <a:solidFill>
              <a:srgbClr val="333333"/>
            </a:solidFill>
            <a:prstDash val="solid"/>
          </a:ln>
        </p:spPr>
      </p:sp>
      <p:sp>
        <p:nvSpPr>
          <p:cNvPr id="24" name="Text 22"/>
          <p:cNvSpPr txBox="1"/>
          <p:nvPr/>
        </p:nvSpPr>
        <p:spPr>
          <a:xfrm>
            <a:off x="8714232" y="34574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31768"/>
            <a:ext cx="457200" cy="0"/>
          </a:xfrm>
          <a:prstGeom prst="line">
            <a:avLst/>
          </a:prstGeom>
          <a:noFill/>
          <a:ln w="19050">
            <a:solidFill>
              <a:srgbClr val="E31837"/>
            </a:solidFill>
            <a:prstDash val="solid"/>
          </a:ln>
        </p:spPr>
      </p:sp>
      <p:sp>
        <p:nvSpPr>
          <p:cNvPr id="26" name="Text 24"/>
          <p:cNvSpPr txBox="1"/>
          <p:nvPr/>
        </p:nvSpPr>
        <p:spPr>
          <a:xfrm>
            <a:off x="8714232" y="37774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lva71pwbolcc01v</a:t>
            </a:r>
            <a:endParaRPr lang="en-US" sz="1500" dirty="0"/>
          </a:p>
        </p:txBody>
      </p:sp>
      <p:sp>
        <p:nvSpPr>
          <p:cNvPr id="27" name="Text 25"/>
          <p:cNvSpPr txBox="1"/>
          <p:nvPr/>
        </p:nvSpPr>
        <p:spPr>
          <a:xfrm>
            <a:off x="8714232" y="40975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Linux Server</a:t>
            </a:r>
            <a:endParaRPr lang="en-US" sz="1100" dirty="0"/>
          </a:p>
        </p:txBody>
      </p:sp>
      <p:sp>
        <p:nvSpPr>
          <p:cNvPr id="28" name="Text 26"/>
          <p:cNvSpPr txBox="1"/>
          <p:nvPr/>
        </p:nvSpPr>
        <p:spPr>
          <a:xfrm>
            <a:off x="8714232" y="4417568"/>
            <a:ext cx="2715768" cy="12700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lva71pwbolcc01v.sdi.ssc3.ext3.bankofamerica3.com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SDI.SSC3.EXT3.BANKOFAMERICA3.COM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10.143.72.200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27 ff a8 e9 3d 0e ce-24 f6 1e f2 a0 ea 46 11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linux_server.do?sys_id=ddcdddf02b462294d50dffbdbe91bf9b"/>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runs on the IP field so VIPs without a DNS name are covered, after USEM Load Balancer Member Match so a real server is preferred, and before the IP address rules.</a:t>
            </a:r>
            <a:endParaRPr lang="en-US" sz="1500" dirty="0"/>
          </a:p>
        </p:txBody>
      </p:sp>
      <p:sp>
        <p:nvSpPr>
          <p:cNvPr id="13" name="Shape 11"/>
          <p:cNvSpPr/>
          <p:nvPr/>
        </p:nvSpPr>
        <p:spPr>
          <a:xfrm>
            <a:off x="502920" y="36088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1400" dirty="0"/>
          </a:p>
        </p:txBody>
      </p:sp>
      <p:sp>
        <p:nvSpPr>
          <p:cNvPr id="17" name="Shape 15"/>
          <p:cNvSpPr/>
          <p:nvPr/>
        </p:nvSpPr>
        <p:spPr>
          <a:xfrm>
            <a:off x="7665049" y="36088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54864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Load Balancer Member Match</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100" dirty="0">
                <a:solidFill>
                  <a:srgbClr val="4D4F53"/>
                </a:solidFill>
                <a:latin typeface="Arial" pitchFamily="34" charset="0"/>
                <a:ea typeface="Arial" pitchFamily="34" charset="-122"/>
                <a:cs typeface="Arial" pitchFamily="34" charset="-120"/>
              </a:rPr>
              <a:t>IP Class Match</a:t>
            </a:r>
            <a:endParaRPr lang="en-US" sz="1100" dirty="0"/>
          </a:p>
        </p:txBody>
      </p:sp>
      <p:sp>
        <p:nvSpPr>
          <p:cNvPr id="21" name="Text 19"/>
          <p:cNvSpPr txBox="1"/>
          <p:nvPr/>
        </p:nvSpPr>
        <p:spPr>
          <a:xfrm>
            <a:off x="7985089" y="47975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634</a:t>
            </a:r>
            <a:endParaRPr lang="en-US" sz="2800" dirty="0"/>
          </a:p>
        </p:txBody>
      </p:sp>
      <p:sp>
        <p:nvSpPr>
          <p:cNvPr id="22" name="Text 20"/>
          <p:cNvSpPr txBox="1"/>
          <p:nvPr/>
        </p:nvSpPr>
        <p:spPr>
          <a:xfrm>
            <a:off x="7985089" y="53644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602480"/>
          </a:xfrm>
          <a:prstGeom prst="roundRect">
            <a:avLst>
              <a:gd name="adj" fmla="val 119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1   Address guard and normalisation.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2   Ignore list.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3   VIP sign.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500" dirty="0"/>
          </a:p>
        </p:txBody>
      </p:sp>
      <p:sp>
        <p:nvSpPr>
          <p:cNvPr id="10" name="Text 8"/>
          <p:cNvSpPr txBox="1"/>
          <p:nvPr/>
        </p:nvSpPr>
        <p:spPr>
          <a:xfrm>
            <a:off x="6277356" y="1746504"/>
            <a:ext cx="5088636" cy="4053840"/>
          </a:xfrm>
          <a:prstGeom prst="rect">
            <a:avLst/>
          </a:prstGeom>
          <a:noFill/>
          <a:ln/>
        </p:spPr>
        <p:txBody>
          <a:bodyPr wrap="square" lIns="0" tIns="0" rIns="0" bIns="0" rtlCol="0" anchor="t"/>
          <a:lstStyle/>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4   Four search steps in cmdb_ci_lb_service.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5   Narrowing the rows of a step.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500" dirty="0"/>
          </a:p>
          <a:p>
            <a:pPr indent="0" marL="0">
              <a:lnSpc>
                <a:spcPct val="100000"/>
              </a:lnSpc>
              <a:buNone/>
            </a:pPr>
            <a:r>
              <a:rPr lang="en-US" sz="1500" b="1" dirty="0">
                <a:solidFill>
                  <a:srgbClr val="012169"/>
                </a:solidFill>
                <a:latin typeface="Arial" pitchFamily="34" charset="0"/>
                <a:ea typeface="Arial" pitchFamily="34" charset="-122"/>
                <a:cs typeface="Arial" pitchFamily="34" charset="-120"/>
              </a:rPr>
              <a:t>6   Result.  </a:t>
            </a:r>
            <a:pPr indent="0" marL="0">
              <a:lnSpc>
                <a:spcPct val="100000"/>
              </a:lnSpc>
              <a:spcAft>
                <a:spcPts val="800"/>
              </a:spcAft>
              <a:buNone/>
            </a:pPr>
            <a:r>
              <a:rPr lang="en-US" sz="1500" dirty="0">
                <a:solidFill>
                  <a:srgbClr val="4D4F53"/>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5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CONTROLLERS, INTERFACES, VIRTUAL SERVERS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Load Balancer Service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520440"/>
          </a:xfrm>
          <a:prstGeom prst="roundRect">
            <a:avLst>
              <a:gd name="adj" fmla="val 1558"/>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1912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8803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IP is empty or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Cmdb_ci_lb_service is not a valid table on the instance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search step returns cmdb_ci_lb_service records with two or more distinct names (trimmed, lower-cased)</a:t>
            </a:r>
            <a:endParaRPr lang="en-US" sz="1500" dirty="0"/>
          </a:p>
        </p:txBody>
      </p:sp>
      <p:sp>
        <p:nvSpPr>
          <p:cNvPr id="13" name="Text 11"/>
          <p:cNvSpPr txBox="1"/>
          <p:nvPr/>
        </p:nvSpPr>
        <p:spPr>
          <a:xfrm>
            <a:off x="6277356" y="1975104"/>
            <a:ext cx="5088636" cy="28803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1500" dirty="0"/>
          </a:p>
        </p:txBody>
      </p:sp>
      <p:sp>
        <p:nvSpPr>
          <p:cNvPr id="14" name="Shape 12"/>
          <p:cNvSpPr/>
          <p:nvPr/>
        </p:nvSpPr>
        <p:spPr>
          <a:xfrm>
            <a:off x="502920" y="51937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1937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Class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olmerrillweb-review1-l7-vip1.gwimnp.rpg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"olmerrillweb-review1-l7-vip1" is not sep + 12 hex)  ·  controller (no controller suffix or OS word)  ·  interface (no interface domain or marker)</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"olmerrillweb-review1-l7-vip1")  ·  layered DNS (no DNS Name record for "olmerrillweb-review1-l7-vip1.gwimnp.rpg")  ·  host name (OS "F5 Networks Big-IP" gives no class / no record in the hardware tree named "olmerrillweb-review1-l7-vip1")  ·  device name (none named "olmerrillweb-review1-l7-vip1" in IP Phone or Imaging Hardware)  ·  whole-fqdn name (no record in the hardware tree named "olmerrillweb-review1-l7-vip1.gwimnp.rpg")</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member (Members: none: the member rule declines)</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SDI000003055580</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olmerrillweb-review1-l7-vip1.gwimnp.rpg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10.143.52.113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11:16:34</a:t>
            </a:r>
            <a:endParaRPr lang="en-US" sz="1000" dirty="0"/>
          </a:p>
        </p:txBody>
      </p:sp>
      <p:sp>
        <p:nvSpPr>
          <p:cNvPr id="17" name="Text 15">
            <a:hlinkClick r:id="rId1" tooltip="https://bofasecopsdev.service-now.com/sn_sec_cmn_src_ci_list.do?sysparm_query=number=SDI00000305558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"10.143.52.113"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/Common/ait74300-review1-origin_mymerrill_cdn-6001-vip on 10.143.52.113 (svedpz1rp2lb10)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371856"/>
          </a:xfrm>
          <a:prstGeom prst="rect">
            <a:avLst/>
          </a:prstGeom>
          <a:noFill/>
          <a:ln/>
        </p:spPr>
        <p:txBody>
          <a:bodyPr wrap="square" lIns="0" tIns="0" rIns="0" bIns="0" rtlCol="0" anchor="t"/>
          <a:lstStyle/>
          <a:p>
            <a:pPr indent="0" marL="0">
              <a:buNone/>
            </a:pPr>
            <a:r>
              <a:rPr lang="en-US" sz="1100" b="1" dirty="0">
                <a:solidFill>
                  <a:srgbClr val="012169"/>
                </a:solidFill>
                <a:latin typeface="Arial" pitchFamily="34" charset="0"/>
                <a:ea typeface="Arial" pitchFamily="34" charset="-122"/>
                <a:cs typeface="Arial" pitchFamily="34" charset="-120"/>
              </a:rPr>
              <a:t>/Common/ait74300-review1-origin_mymerrill_cdn-6001-vip</a:t>
            </a:r>
            <a:endParaRPr lang="en-US" sz="1100" dirty="0"/>
          </a:p>
        </p:txBody>
      </p:sp>
      <p:sp>
        <p:nvSpPr>
          <p:cNvPr id="27" name="Text 25"/>
          <p:cNvSpPr txBox="1"/>
          <p:nvPr/>
        </p:nvSpPr>
        <p:spPr>
          <a:xfrm>
            <a:off x="8714232" y="434187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61916"/>
            <a:ext cx="2715768" cy="102565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10.143.52.113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svedpz1rp2lb10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Non-Operational</a:t>
            </a:r>
            <a:endParaRPr lang="en-US" sz="1200" dirty="0"/>
          </a:p>
        </p:txBody>
      </p:sp>
      <p:sp>
        <p:nvSpPr>
          <p:cNvPr id="29" name="Text 27">
            <a:hlinkClick r:id="rId2" tooltip="https://bofasecopsdev.service-now.com/cmdb_ci_lb_service.do?sys_id=84466888930e0b50205fb5627cba107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olmerrillweb-preview1-l7-vip1.gwimnp.rpg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22704"/>
          </a:xfrm>
          <a:prstGeom prst="roundRect">
            <a:avLst>
              <a:gd name="adj" fmla="val 301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10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"olmerrillweb-preview1-l7-vip1" is not sep + 12 hex)  ·  controller (no controller suffix or OS word)  ·  interface (no interface domain or marker)</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"olmerrillweb-preview1-l7-vip1")  ·  layered DNS (no DNS Name record for "olmerrillweb-preview1-l7-vip1.gwimnp.rpg")  ·  host name (OS "F5 Networks Big-IP" gives no class / no record in the hardware tree named "olmerrillweb-preview1-l7-vip1")  ·  device name (none named "olmerrillweb-preview1-l7-vip1" in IP Phone or Imaging Hardware)  ·  whole-fqdn name (no record in the hardware tree named "olmerrillweb-preview1-l7-vip1.gwimnp.rpg")</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member (1 member(s), 2 server record(s), 2 machine(s) by name; 2 machines behind the virtual server: the member rule declines)</a:t>
            </a:r>
            <a:endParaRPr lang="en-US" sz="1000" dirty="0"/>
          </a:p>
        </p:txBody>
      </p:sp>
      <p:sp>
        <p:nvSpPr>
          <p:cNvPr id="12" name="Shape 10"/>
          <p:cNvSpPr/>
          <p:nvPr/>
        </p:nvSpPr>
        <p:spPr>
          <a:xfrm>
            <a:off x="502920" y="3413760"/>
            <a:ext cx="2788920" cy="29870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692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43528"/>
            <a:ext cx="457200" cy="0"/>
          </a:xfrm>
          <a:prstGeom prst="line">
            <a:avLst/>
          </a:prstGeom>
          <a:noFill/>
          <a:ln w="19050">
            <a:solidFill>
              <a:srgbClr val="E31837"/>
            </a:solidFill>
            <a:prstDash val="solid"/>
          </a:ln>
        </p:spPr>
      </p:sp>
      <p:sp>
        <p:nvSpPr>
          <p:cNvPr id="15" name="Text 13"/>
          <p:cNvSpPr txBox="1"/>
          <p:nvPr/>
        </p:nvSpPr>
        <p:spPr>
          <a:xfrm>
            <a:off x="740664" y="38892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SDI000003036490</a:t>
            </a:r>
            <a:endParaRPr lang="en-US" sz="1500" dirty="0"/>
          </a:p>
        </p:txBody>
      </p:sp>
      <p:sp>
        <p:nvSpPr>
          <p:cNvPr id="16" name="Text 14"/>
          <p:cNvSpPr txBox="1"/>
          <p:nvPr/>
        </p:nvSpPr>
        <p:spPr>
          <a:xfrm>
            <a:off x="740664" y="4255008"/>
            <a:ext cx="2313432" cy="14325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olmerrillweb-preview1-l7-vip1.gwimnp.rpg</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10.143.52.108</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F5 Networks Big-IP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2026-09-20 11:05:41</a:t>
            </a:r>
            <a:endParaRPr lang="en-US" sz="1000" dirty="0"/>
          </a:p>
        </p:txBody>
      </p:sp>
      <p:sp>
        <p:nvSpPr>
          <p:cNvPr id="17" name="Text 15">
            <a:hlinkClick r:id="rId1" tooltip="https://bofasecopsdev.service-now.com/sn_sec_cmn_src_ci_list.do?sysparm_query=number=SDI00000303649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13760"/>
            <a:ext cx="4745736"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692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43528"/>
            <a:ext cx="457200" cy="0"/>
          </a:xfrm>
          <a:prstGeom prst="line">
            <a:avLst/>
          </a:prstGeom>
          <a:noFill/>
          <a:ln w="19050">
            <a:solidFill>
              <a:srgbClr val="E31837"/>
            </a:solidFill>
            <a:prstDash val="solid"/>
          </a:ln>
        </p:spPr>
      </p:sp>
      <p:sp>
        <p:nvSpPr>
          <p:cNvPr id="21" name="Text 19"/>
          <p:cNvSpPr txBox="1"/>
          <p:nvPr/>
        </p:nvSpPr>
        <p:spPr>
          <a:xfrm>
            <a:off x="3749040" y="3916680"/>
            <a:ext cx="4233672" cy="23286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"vip1"</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"10.143.52.108"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/Common/ait74300-preview1-origin_mymerrill_cdn-6001-vip on 10.143.52.108 (svedpz1rp2lb10)</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13760"/>
            <a:ext cx="3246120"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78352"/>
            <a:ext cx="64008" cy="2657856"/>
          </a:xfrm>
          <a:prstGeom prst="rect">
            <a:avLst/>
          </a:prstGeom>
          <a:solidFill>
            <a:srgbClr val="E31837"/>
          </a:solidFill>
          <a:ln w="12700">
            <a:solidFill>
              <a:srgbClr val="333333"/>
            </a:solidFill>
            <a:prstDash val="solid"/>
          </a:ln>
        </p:spPr>
      </p:sp>
      <p:sp>
        <p:nvSpPr>
          <p:cNvPr id="24" name="Text 22"/>
          <p:cNvSpPr txBox="1"/>
          <p:nvPr/>
        </p:nvSpPr>
        <p:spPr>
          <a:xfrm>
            <a:off x="8714232" y="35692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43528"/>
            <a:ext cx="457200" cy="0"/>
          </a:xfrm>
          <a:prstGeom prst="line">
            <a:avLst/>
          </a:prstGeom>
          <a:noFill/>
          <a:ln w="19050">
            <a:solidFill>
              <a:srgbClr val="E31837"/>
            </a:solidFill>
            <a:prstDash val="solid"/>
          </a:ln>
        </p:spPr>
      </p:sp>
      <p:sp>
        <p:nvSpPr>
          <p:cNvPr id="26" name="Text 24"/>
          <p:cNvSpPr txBox="1"/>
          <p:nvPr/>
        </p:nvSpPr>
        <p:spPr>
          <a:xfrm>
            <a:off x="8714232" y="3889248"/>
            <a:ext cx="2715768" cy="371856"/>
          </a:xfrm>
          <a:prstGeom prst="rect">
            <a:avLst/>
          </a:prstGeom>
          <a:noFill/>
          <a:ln/>
        </p:spPr>
        <p:txBody>
          <a:bodyPr wrap="square" lIns="0" tIns="0" rIns="0" bIns="0" rtlCol="0" anchor="t"/>
          <a:lstStyle/>
          <a:p>
            <a:pPr indent="0" marL="0">
              <a:buNone/>
            </a:pPr>
            <a:r>
              <a:rPr lang="en-US" sz="1100" b="1" dirty="0">
                <a:solidFill>
                  <a:srgbClr val="012169"/>
                </a:solidFill>
                <a:latin typeface="Arial" pitchFamily="34" charset="0"/>
                <a:ea typeface="Arial" pitchFamily="34" charset="-122"/>
                <a:cs typeface="Arial" pitchFamily="34" charset="-120"/>
              </a:rPr>
              <a:t>/Common/ait74300-preview1-origin_mymerrill_cdn-6001-vip</a:t>
            </a:r>
            <a:endParaRPr lang="en-US" sz="1100" dirty="0"/>
          </a:p>
        </p:txBody>
      </p:sp>
      <p:sp>
        <p:nvSpPr>
          <p:cNvPr id="27" name="Text 25"/>
          <p:cNvSpPr txBox="1"/>
          <p:nvPr/>
        </p:nvSpPr>
        <p:spPr>
          <a:xfrm>
            <a:off x="8714232" y="428853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08576"/>
            <a:ext cx="2715768" cy="107899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10.143.52.108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svedpz1rp2lb10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b_service.do?sys_id=0a6f146b2bed4354412af1f7d891bf6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0a6f146b2bed4354412af1f7d891bf6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460  ·  LOAD BALANCER SERVICE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pbui-va2-vip.gwim.rpg</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ip_address / one record</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22704"/>
          </a:xfrm>
          <a:prstGeom prst="roundRect">
            <a:avLst>
              <a:gd name="adj" fmla="val 301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10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"pbui-va2-vip" is not sep + 12 hex)  ·  controller (no controller suffix or OS word)  ·  interface (no interface domain or marker)</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(OS "F5 Networks Big-IP" gives no class / no record in the hardware tree carries the fqdn)  ·  name + domain (OS "F5 Networks Big-IP" gives no class / no record named "pbui-va2-vip")  ·  layered DNS (no DNS Name record for "pbui-va2-vip.gwim.rpg")  ·  host name (OS "F5 Networks Big-IP" gives no class / no record in the hardware tree named "pbui-va2-vip")  ·  device name (none named "pbui-va2-vip" in IP Phone or Imaging Hardware)  ·  whole-fqdn name (no record in the hardware tree named "pbui-va2-vip.gwim.rpg")</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member (4 member(s), 4 server record(s), 4 machine(s) by name; 4 machines behind the virtual server: the member rule declines)</a:t>
            </a:r>
            <a:endParaRPr lang="en-US" sz="1000" dirty="0"/>
          </a:p>
        </p:txBody>
      </p:sp>
      <p:sp>
        <p:nvSpPr>
          <p:cNvPr id="12" name="Shape 10"/>
          <p:cNvSpPr/>
          <p:nvPr/>
        </p:nvSpPr>
        <p:spPr>
          <a:xfrm>
            <a:off x="502920" y="3413760"/>
            <a:ext cx="2788920" cy="29870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692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43528"/>
            <a:ext cx="457200" cy="0"/>
          </a:xfrm>
          <a:prstGeom prst="line">
            <a:avLst/>
          </a:prstGeom>
          <a:noFill/>
          <a:ln w="19050">
            <a:solidFill>
              <a:srgbClr val="E31837"/>
            </a:solidFill>
            <a:prstDash val="solid"/>
          </a:ln>
        </p:spPr>
      </p:sp>
      <p:sp>
        <p:nvSpPr>
          <p:cNvPr id="15" name="Text 13"/>
          <p:cNvSpPr txBox="1"/>
          <p:nvPr/>
        </p:nvSpPr>
        <p:spPr>
          <a:xfrm>
            <a:off x="740664" y="38892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SDI000003008717</a:t>
            </a:r>
            <a:endParaRPr lang="en-US" sz="1500" dirty="0"/>
          </a:p>
        </p:txBody>
      </p:sp>
      <p:sp>
        <p:nvSpPr>
          <p:cNvPr id="16" name="Text 14"/>
          <p:cNvSpPr txBox="1"/>
          <p:nvPr/>
        </p:nvSpPr>
        <p:spPr>
          <a:xfrm>
            <a:off x="740664" y="4255008"/>
            <a:ext cx="2313432" cy="143256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50" dirty="0">
                <a:solidFill>
                  <a:srgbClr val="4D4F53"/>
                </a:solidFill>
                <a:latin typeface="Arial" pitchFamily="34" charset="0"/>
                <a:ea typeface="Arial" pitchFamily="34" charset="-122"/>
                <a:cs typeface="Arial" pitchFamily="34" charset="-120"/>
              </a:rPr>
              <a:t>pbui-va2-vip.gwim.rpg</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158.171.199.147</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50" dirty="0">
                <a:solidFill>
                  <a:srgbClr val="4D4F53"/>
                </a:solidFill>
                <a:latin typeface="Arial" pitchFamily="34" charset="0"/>
                <a:ea typeface="Arial" pitchFamily="34" charset="-122"/>
                <a:cs typeface="Arial" pitchFamily="34" charset="-120"/>
              </a:rPr>
              <a:t>F5 Networks Big-IP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IP</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50" dirty="0">
                <a:solidFill>
                  <a:srgbClr val="4D4F53"/>
                </a:solidFill>
                <a:latin typeface="Arial" pitchFamily="34" charset="0"/>
                <a:ea typeface="Arial" pitchFamily="34" charset="-122"/>
                <a:cs typeface="Arial" pitchFamily="34" charset="-120"/>
              </a:rPr>
              <a:t>2026-09-20 10:48:18</a:t>
            </a:r>
            <a:endParaRPr lang="en-US" sz="1150" dirty="0"/>
          </a:p>
        </p:txBody>
      </p:sp>
      <p:sp>
        <p:nvSpPr>
          <p:cNvPr id="17" name="Text 15">
            <a:hlinkClick r:id="rId1" tooltip="https://bofasecopsdev.service-now.com/sn_sec_cmn_src_ci_list.do?sysparm_query=number=SDI00000300871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13760"/>
            <a:ext cx="4745736"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692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43528"/>
            <a:ext cx="457200" cy="0"/>
          </a:xfrm>
          <a:prstGeom prst="line">
            <a:avLst/>
          </a:prstGeom>
          <a:noFill/>
          <a:ln w="19050">
            <a:solidFill>
              <a:srgbClr val="E31837"/>
            </a:solidFill>
            <a:prstDash val="solid"/>
          </a:ln>
        </p:spPr>
      </p:sp>
      <p:sp>
        <p:nvSpPr>
          <p:cNvPr id="21" name="Text 19"/>
          <p:cNvSpPr txBox="1"/>
          <p:nvPr/>
        </p:nvSpPr>
        <p:spPr>
          <a:xfrm>
            <a:off x="3749040" y="3916680"/>
            <a:ext cx="4233672" cy="23286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VIP sign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OS has "f5", OS has "big-ip", label segment "vip"</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Clues fqdn, name,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no service record; next clue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Clue 4: ip_address = "158.171.199.147"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service record: /Common/ait32589-rvcpbt2-pbui-443-vip on 158.171.199.147 (svedbt1gwmlb01a)</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4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one live virtual server record left, attached (the pool is not read)</a:t>
            </a:r>
            <a:endParaRPr lang="en-US" sz="1300" dirty="0"/>
          </a:p>
        </p:txBody>
      </p:sp>
      <p:sp>
        <p:nvSpPr>
          <p:cNvPr id="22" name="Shape 20"/>
          <p:cNvSpPr/>
          <p:nvPr/>
        </p:nvSpPr>
        <p:spPr>
          <a:xfrm>
            <a:off x="8439912" y="3413760"/>
            <a:ext cx="3246120" cy="2987040"/>
          </a:xfrm>
          <a:prstGeom prst="roundRect">
            <a:avLst>
              <a:gd name="adj" fmla="val 183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78352"/>
            <a:ext cx="64008" cy="2657856"/>
          </a:xfrm>
          <a:prstGeom prst="rect">
            <a:avLst/>
          </a:prstGeom>
          <a:solidFill>
            <a:srgbClr val="E31837"/>
          </a:solidFill>
          <a:ln w="12700">
            <a:solidFill>
              <a:srgbClr val="333333"/>
            </a:solidFill>
            <a:prstDash val="solid"/>
          </a:ln>
        </p:spPr>
      </p:sp>
      <p:sp>
        <p:nvSpPr>
          <p:cNvPr id="24" name="Text 22"/>
          <p:cNvSpPr txBox="1"/>
          <p:nvPr/>
        </p:nvSpPr>
        <p:spPr>
          <a:xfrm>
            <a:off x="8714232" y="35692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43528"/>
            <a:ext cx="457200" cy="0"/>
          </a:xfrm>
          <a:prstGeom prst="line">
            <a:avLst/>
          </a:prstGeom>
          <a:noFill/>
          <a:ln w="19050">
            <a:solidFill>
              <a:srgbClr val="E31837"/>
            </a:solidFill>
            <a:prstDash val="solid"/>
          </a:ln>
        </p:spPr>
      </p:sp>
      <p:sp>
        <p:nvSpPr>
          <p:cNvPr id="26" name="Text 24"/>
          <p:cNvSpPr txBox="1"/>
          <p:nvPr/>
        </p:nvSpPr>
        <p:spPr>
          <a:xfrm>
            <a:off x="8714232" y="38892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/Common/ait32589-rvcpbt2-pbui-443-vip</a:t>
            </a:r>
            <a:endParaRPr lang="en-US" sz="1200" dirty="0"/>
          </a:p>
        </p:txBody>
      </p:sp>
      <p:sp>
        <p:nvSpPr>
          <p:cNvPr id="27" name="Text 25"/>
          <p:cNvSpPr txBox="1"/>
          <p:nvPr/>
        </p:nvSpPr>
        <p:spPr>
          <a:xfrm>
            <a:off x="8714232" y="43190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Load Balancer Service</a:t>
            </a:r>
            <a:endParaRPr lang="en-US" sz="1100" dirty="0"/>
          </a:p>
        </p:txBody>
      </p:sp>
      <p:sp>
        <p:nvSpPr>
          <p:cNvPr id="28" name="Text 26"/>
          <p:cNvSpPr txBox="1"/>
          <p:nvPr/>
        </p:nvSpPr>
        <p:spPr>
          <a:xfrm>
            <a:off x="8714232" y="4639056"/>
            <a:ext cx="2715768" cy="10485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158.171.199.147</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Load balancer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svedbt1gwmlb01a</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Absent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lb_service.do?sys_id=3ff610aa2b8d871032e4f5cdc891bf75"/>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3ff610aa2b8d871032e4f5cdc891bf75"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935480"/>
          </a:xfrm>
          <a:prstGeom prst="roundRect">
            <a:avLst>
              <a:gd name="adj" fmla="val 28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6062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2954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first address rule: every serial and name rule has already declined, and an address is the weakest identifier (addresses move between machines and are shared by load balancers), so the class restriction plus host-name agreement make it safe.</a:t>
            </a:r>
            <a:endParaRPr lang="en-US" sz="1500" dirty="0"/>
          </a:p>
        </p:txBody>
      </p:sp>
      <p:sp>
        <p:nvSpPr>
          <p:cNvPr id="13" name="Shape 11"/>
          <p:cNvSpPr/>
          <p:nvPr/>
        </p:nvSpPr>
        <p:spPr>
          <a:xfrm>
            <a:off x="502920" y="3608832"/>
            <a:ext cx="6933529" cy="2352040"/>
          </a:xfrm>
          <a:prstGeom prst="roundRect">
            <a:avLst>
              <a:gd name="adj" fmla="val 233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7917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4066032"/>
            <a:ext cx="457200" cy="0"/>
          </a:xfrm>
          <a:prstGeom prst="line">
            <a:avLst/>
          </a:prstGeom>
          <a:noFill/>
          <a:ln w="19050">
            <a:solidFill>
              <a:srgbClr val="E31837"/>
            </a:solidFill>
            <a:prstDash val="solid"/>
          </a:ln>
        </p:spPr>
      </p:sp>
      <p:sp>
        <p:nvSpPr>
          <p:cNvPr id="16" name="Text 14"/>
          <p:cNvSpPr txBox="1"/>
          <p:nvPr/>
        </p:nvSpPr>
        <p:spPr>
          <a:xfrm>
            <a:off x="822960" y="4157472"/>
            <a:ext cx="6293449" cy="162052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1400" dirty="0"/>
          </a:p>
        </p:txBody>
      </p:sp>
      <p:sp>
        <p:nvSpPr>
          <p:cNvPr id="17" name="Shape 15"/>
          <p:cNvSpPr/>
          <p:nvPr/>
        </p:nvSpPr>
        <p:spPr>
          <a:xfrm>
            <a:off x="7665049" y="3608832"/>
            <a:ext cx="4020983" cy="2352040"/>
          </a:xfrm>
          <a:prstGeom prst="roundRect">
            <a:avLst>
              <a:gd name="adj" fmla="val 2333"/>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7917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4066032"/>
            <a:ext cx="457200" cy="0"/>
          </a:xfrm>
          <a:prstGeom prst="line">
            <a:avLst/>
          </a:prstGeom>
          <a:noFill/>
          <a:ln w="19050">
            <a:solidFill>
              <a:srgbClr val="E31837"/>
            </a:solidFill>
            <a:prstDash val="solid"/>
          </a:ln>
        </p:spPr>
      </p:sp>
      <p:sp>
        <p:nvSpPr>
          <p:cNvPr id="20" name="Text 18"/>
          <p:cNvSpPr txBox="1"/>
          <p:nvPr/>
        </p:nvSpPr>
        <p:spPr>
          <a:xfrm>
            <a:off x="7985089" y="4157472"/>
            <a:ext cx="3380903" cy="61468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Load Balancer Service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Hardware Match</a:t>
            </a:r>
            <a:endParaRPr lang="en-US" sz="1300" dirty="0"/>
          </a:p>
        </p:txBody>
      </p:sp>
      <p:sp>
        <p:nvSpPr>
          <p:cNvPr id="21" name="Text 19"/>
          <p:cNvSpPr txBox="1"/>
          <p:nvPr/>
        </p:nvSpPr>
        <p:spPr>
          <a:xfrm>
            <a:off x="7985089" y="486359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15,674</a:t>
            </a:r>
            <a:endParaRPr lang="en-US" sz="2800" dirty="0"/>
          </a:p>
        </p:txBody>
      </p:sp>
      <p:sp>
        <p:nvSpPr>
          <p:cNvPr id="22" name="Text 20"/>
          <p:cNvSpPr txBox="1"/>
          <p:nvPr/>
        </p:nvSpPr>
        <p:spPr>
          <a:xfrm>
            <a:off x="7985089" y="543052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from the scanned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Search inside that class only.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Exactly one row.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Host-name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Class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5054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ClassFor gives '': OS empty, more than two '/'-separated guesses, or no keyword matched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table classFor returned is not valid on the instance (gr.isValid() false)</a:t>
            </a:r>
            <a:endParaRPr lang="en-US" sz="1500" dirty="0"/>
          </a:p>
        </p:txBody>
      </p:sp>
      <p:sp>
        <p:nvSpPr>
          <p:cNvPr id="13" name="Text 11"/>
          <p:cNvSpPr txBox="1"/>
          <p:nvPr/>
        </p:nvSpPr>
        <p:spPr>
          <a:xfrm>
            <a:off x="6277356" y="1975104"/>
            <a:ext cx="5088636" cy="21945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CI of that class or its sub-classes, outside the ignore list, carries the address on ip_address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CI of that class carries the same address (hasNext() true)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1500" dirty="0"/>
          </a:p>
        </p:txBody>
      </p:sp>
      <p:sp>
        <p:nvSpPr>
          <p:cNvPr id="14" name="Shape 12"/>
          <p:cNvSpPr/>
          <p:nvPr/>
        </p:nvSpPr>
        <p:spPr>
          <a:xfrm>
            <a:off x="502920" y="45079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5079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Hardware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wpa11bwmleas05v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"wpa11bwmleas05v"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"wpa11bwmleas05v")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"wpa11bwmleas05v": a tie / 2 records in the hardware tree named "wpa11bwmleas05v": a tie)  ·  whole-fqdn name (2 records in the hardware tree named "wpa11bwmleas05v":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SDI000003093964</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wpa11bwmleas05v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30.30.58.0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2022 Standard 64 bit Edition Version 21H2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WPA11BWMLEAS05V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05:57:44</a:t>
            </a:r>
            <a:endParaRPr lang="en-US" sz="1000" dirty="0"/>
          </a:p>
        </p:txBody>
      </p:sp>
      <p:sp>
        <p:nvSpPr>
          <p:cNvPr id="17" name="Text 15">
            <a:hlinkClick r:id="rId1" tooltip="https://bofasecopsdev.service-now.com/sn_sec_cmn_src_ci_list.do?sysparm_query=number=SDI000003093964"/>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9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"30.30.58.0"; OS "Windows Server 2022 Standard 64 bit Edition Version 21H2"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wpa11bwmleas05v [win_server] ip 30.30.58.0 -&gt; exactly one, accepted; name agrees with the scanned label "wpa11bwmleas05v"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wpa11bwmleas05v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wpa11bwmleas05v.corp.bankofamerica.com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30.30.58.0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07 19 b9 17 fe fc 88-df 6e bb 05 d3 04 0c f5</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c785e52bfbddc7d0f40ef34c5eefdcc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wpa11bwmleas06v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"wpa11bwmleas06v"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"wpa11bwmleas06v")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"wpa11bwmleas06v": a tie / 2 records in the hardware tree named "wpa11bwmleas06v": a tie)  ·  whole-fqdn name (2 records in the hardware tree named "wpa11bwmleas06v":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SDI000003093886</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wpa11bwmleas06v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30.30.58.3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2022 Standard 64 bit Edition Version 21H2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WPA11BWMLEAS06V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05:57:24</a:t>
            </a:r>
            <a:endParaRPr lang="en-US" sz="1000" dirty="0"/>
          </a:p>
        </p:txBody>
      </p:sp>
      <p:sp>
        <p:nvSpPr>
          <p:cNvPr id="17" name="Text 15">
            <a:hlinkClick r:id="rId1" tooltip="https://bofasecopsdev.service-now.com/sn_sec_cmn_src_ci_list.do?sysparm_query=number=SDI00000309388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8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"30.30.58.3"; OS "Windows Server 2022 Standard 64 bit Edition Version 21H2"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wpa11bwmleas06v [win_server] ip 30.30.58.3 -&gt; exactly one, accepted; name agrees with the scanned label "wpa11bwmleas06v"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wpa11bwmleas06v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wpa11bwmleas06v.corp.bankofamerica.com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30.30.58.3</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07 9d 6e b9 4f cd 61-da 4a 3a 49 38 36 6e 59</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3fb5a1633bd90754ef3892e643e45ade"/>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3fb5a1633bd90754ef3892e643e45ade"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700  ·  IP CLASS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wva42bwtmias01v</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win_server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61744"/>
          </a:xfrm>
          <a:prstGeom prst="roundRect">
            <a:avLst>
              <a:gd name="adj" fmla="val 311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4968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"wva42bwtmias01v" is not sep + 12 hex)  ·  FQDN (no dot in the name)  ·  name + domain (no domain in the name)  ·  device name (OS gives the class win_server)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layered DNS (no DNS Name record for "wva42bwtmias01v")</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host name (2 records in win_server named "wva42bwtmias01v": a tie / 2 records in the hardware tree named "wva42bwtmias01v": a tie)  ·  whole-fqdn name (2 records in the hardware tree named "wva42bwtmias01v": a tie)</a:t>
            </a:r>
            <a:endParaRPr lang="en-US" sz="1100" dirty="0"/>
          </a:p>
        </p:txBody>
      </p:sp>
      <p:sp>
        <p:nvSpPr>
          <p:cNvPr id="12" name="Shape 10"/>
          <p:cNvSpPr/>
          <p:nvPr/>
        </p:nvSpPr>
        <p:spPr>
          <a:xfrm>
            <a:off x="502920" y="3352800"/>
            <a:ext cx="2788920" cy="30480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5082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82568"/>
            <a:ext cx="457200" cy="0"/>
          </a:xfrm>
          <a:prstGeom prst="line">
            <a:avLst/>
          </a:prstGeom>
          <a:noFill/>
          <a:ln w="19050">
            <a:solidFill>
              <a:srgbClr val="E31837"/>
            </a:solidFill>
            <a:prstDash val="solid"/>
          </a:ln>
        </p:spPr>
      </p:sp>
      <p:sp>
        <p:nvSpPr>
          <p:cNvPr id="15" name="Text 13"/>
          <p:cNvSpPr txBox="1"/>
          <p:nvPr/>
        </p:nvSpPr>
        <p:spPr>
          <a:xfrm>
            <a:off x="740664" y="38282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SDI000003070780</a:t>
            </a:r>
            <a:endParaRPr lang="en-US" sz="1500" dirty="0"/>
          </a:p>
        </p:txBody>
      </p:sp>
      <p:sp>
        <p:nvSpPr>
          <p:cNvPr id="16" name="Text 14"/>
          <p:cNvSpPr txBox="1"/>
          <p:nvPr/>
        </p:nvSpPr>
        <p:spPr>
          <a:xfrm>
            <a:off x="740664" y="4194048"/>
            <a:ext cx="2313432" cy="149352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wva42bwtmias01v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30.133.68.211</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Windows Server 2019 Standard 64 bit Edition Version 1809 Build 17763</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WVA42BWTMIAS01V</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05:38:51</a:t>
            </a:r>
            <a:endParaRPr lang="en-US" sz="1000" dirty="0"/>
          </a:p>
        </p:txBody>
      </p:sp>
      <p:sp>
        <p:nvSpPr>
          <p:cNvPr id="17" name="Text 15">
            <a:hlinkClick r:id="rId1" tooltip="https://bofasecopsdev.service-now.com/sn_sec_cmn_src_ci_list.do?sysparm_query=number=SDI000003070780"/>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707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52800"/>
            <a:ext cx="4745736"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5082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82568"/>
            <a:ext cx="457200" cy="0"/>
          </a:xfrm>
          <a:prstGeom prst="line">
            <a:avLst/>
          </a:prstGeom>
          <a:noFill/>
          <a:ln w="19050">
            <a:solidFill>
              <a:srgbClr val="E31837"/>
            </a:solidFill>
            <a:prstDash val="solid"/>
          </a:ln>
        </p:spPr>
      </p:sp>
      <p:sp>
        <p:nvSpPr>
          <p:cNvPr id="21" name="Text 19"/>
          <p:cNvSpPr txBox="1"/>
          <p:nvPr/>
        </p:nvSpPr>
        <p:spPr>
          <a:xfrm>
            <a:off x="3749040" y="3855720"/>
            <a:ext cx="4233672" cy="23896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"30.133.68.211"; OS "Windows Server 2019 Standard 64 bit Edition Version 1809 Build 17763" gives the class win_server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wva42bwtmias01v [win_server] ip 30.133.68.211 -&gt; exactly one, accepted; name agrees with the scanned label "wva42bwtmias01v"</a:t>
            </a:r>
            <a:endParaRPr lang="en-US" sz="1300" dirty="0"/>
          </a:p>
        </p:txBody>
      </p:sp>
      <p:sp>
        <p:nvSpPr>
          <p:cNvPr id="22" name="Shape 20"/>
          <p:cNvSpPr/>
          <p:nvPr/>
        </p:nvSpPr>
        <p:spPr>
          <a:xfrm>
            <a:off x="8439912" y="3352800"/>
            <a:ext cx="3246120" cy="3048000"/>
          </a:xfrm>
          <a:prstGeom prst="roundRect">
            <a:avLst>
              <a:gd name="adj" fmla="val 18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517392"/>
            <a:ext cx="64008" cy="2718816"/>
          </a:xfrm>
          <a:prstGeom prst="rect">
            <a:avLst/>
          </a:prstGeom>
          <a:solidFill>
            <a:srgbClr val="E31837"/>
          </a:solidFill>
          <a:ln w="12700">
            <a:solidFill>
              <a:srgbClr val="333333"/>
            </a:solidFill>
            <a:prstDash val="solid"/>
          </a:ln>
        </p:spPr>
      </p:sp>
      <p:sp>
        <p:nvSpPr>
          <p:cNvPr id="24" name="Text 22"/>
          <p:cNvSpPr txBox="1"/>
          <p:nvPr/>
        </p:nvSpPr>
        <p:spPr>
          <a:xfrm>
            <a:off x="8714232" y="35082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82568"/>
            <a:ext cx="457200" cy="0"/>
          </a:xfrm>
          <a:prstGeom prst="line">
            <a:avLst/>
          </a:prstGeom>
          <a:noFill/>
          <a:ln w="19050">
            <a:solidFill>
              <a:srgbClr val="E31837"/>
            </a:solidFill>
            <a:prstDash val="solid"/>
          </a:ln>
        </p:spPr>
      </p:sp>
      <p:sp>
        <p:nvSpPr>
          <p:cNvPr id="26" name="Text 24"/>
          <p:cNvSpPr txBox="1"/>
          <p:nvPr/>
        </p:nvSpPr>
        <p:spPr>
          <a:xfrm>
            <a:off x="8714232" y="38282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wva42bwtmias01v</a:t>
            </a:r>
            <a:endParaRPr lang="en-US" sz="1500" dirty="0"/>
          </a:p>
        </p:txBody>
      </p:sp>
      <p:sp>
        <p:nvSpPr>
          <p:cNvPr id="27" name="Text 25"/>
          <p:cNvSpPr txBox="1"/>
          <p:nvPr/>
        </p:nvSpPr>
        <p:spPr>
          <a:xfrm>
            <a:off x="8714232" y="41483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Windows Server</a:t>
            </a:r>
            <a:endParaRPr lang="en-US" sz="1100" dirty="0"/>
          </a:p>
        </p:txBody>
      </p:sp>
      <p:sp>
        <p:nvSpPr>
          <p:cNvPr id="28" name="Text 26"/>
          <p:cNvSpPr txBox="1"/>
          <p:nvPr/>
        </p:nvSpPr>
        <p:spPr>
          <a:xfrm>
            <a:off x="8714232" y="4468368"/>
            <a:ext cx="2715768" cy="12192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wva42bwtmias01v.corp.bankofamerica.com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30.133.68.211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 02 75 00 ff 30 5e ef-a0 e2 1b d8 5f e7 e4 f0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win_server.do?sys_id=8bfab94747d18714b5da45ac026d434c"/>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8bfab94747d18714b5da45ac026d434c"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class-restricted rule to reach CIs kept in a parent class or hosts whose OS gave no class.</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Class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Adapter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20,422</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6048"/>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4   Search across the hardware tree.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5   Exactly one row.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200" dirty="0"/>
          </a:p>
        </p:txBody>
      </p:sp>
      <p:sp>
        <p:nvSpPr>
          <p:cNvPr id="10" name="Text 8"/>
          <p:cNvSpPr txBox="1"/>
          <p:nvPr/>
        </p:nvSpPr>
        <p:spPr>
          <a:xfrm>
            <a:off x="6277356" y="1746504"/>
            <a:ext cx="5088636" cy="4407408"/>
          </a:xfrm>
          <a:prstGeom prst="rect">
            <a:avLst/>
          </a:prstGeom>
          <a:noFill/>
          <a:ln/>
        </p:spPr>
        <p:txBody>
          <a:bodyPr wrap="square" lIns="0" tIns="0" rIns="0" bIns="0" rtlCol="0" anchor="t"/>
          <a:lstStyle/>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6   Load balancer refusal.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7   Host-name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8   Class agreement.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200" dirty="0"/>
          </a:p>
          <a:p>
            <a:pPr indent="0" marL="0">
              <a:lnSpc>
                <a:spcPct val="100000"/>
              </a:lnSpc>
              <a:buNone/>
            </a:pPr>
            <a:r>
              <a:rPr lang="en-US" sz="1200" b="1" dirty="0">
                <a:solidFill>
                  <a:srgbClr val="012169"/>
                </a:solidFill>
                <a:latin typeface="Arial" pitchFamily="34" charset="0"/>
                <a:ea typeface="Arial" pitchFamily="34" charset="-122"/>
                <a:cs typeface="Arial" pitchFamily="34" charset="-120"/>
              </a:rPr>
              <a:t>9   Return.  </a:t>
            </a:r>
            <a:pPr indent="0" marL="0">
              <a:lnSpc>
                <a:spcPct val="100000"/>
              </a:lnSpc>
              <a:spcAft>
                <a:spcPts val="800"/>
              </a:spcAft>
              <a:buNone/>
            </a:pPr>
            <a:r>
              <a:rPr lang="en-US" sz="1200" dirty="0">
                <a:solidFill>
                  <a:srgbClr val="4D4F53"/>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20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Hardware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406140"/>
          </a:xfrm>
          <a:prstGeom prst="roundRect">
            <a:avLst>
              <a:gd name="adj" fmla="val 161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3076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766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cmdb_ci_hardware row outside the ignore list carries the address on ip_address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 second hardware row carries the same address (hasNext() true), whatever the classes involved</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CI is a load balancer: cmdb_ci_lb is a valid table and cmdb_ci_lb.get(sys_id) succeeds</a:t>
            </a:r>
            <a:endParaRPr lang="en-US" sz="1500" dirty="0"/>
          </a:p>
        </p:txBody>
      </p:sp>
      <p:sp>
        <p:nvSpPr>
          <p:cNvPr id="13" name="Text 11"/>
          <p:cNvSpPr txBox="1"/>
          <p:nvPr/>
        </p:nvSpPr>
        <p:spPr>
          <a:xfrm>
            <a:off x="6277356" y="1975104"/>
            <a:ext cx="5088636" cy="2766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1500" dirty="0"/>
          </a:p>
        </p:txBody>
      </p:sp>
      <p:sp>
        <p:nvSpPr>
          <p:cNvPr id="14" name="Shape 12"/>
          <p:cNvSpPr/>
          <p:nvPr/>
        </p:nvSpPr>
        <p:spPr>
          <a:xfrm>
            <a:off x="502920" y="5079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5079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Adapter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wva20bmsendb01v.corp.bankofamerica.com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computer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"wva20bmsendb01v" is not sep + 12 hex)  ·  device name (OS gives the class win_server)  ·  controller (no controller suffix or OS word)  ·  interface (no interface domain or marker)  ·  member (no VIP sign)  ·  service (no VIP sign)</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layered DNS (no DNS Name record for "wva20bmsendb01v.corp.bankofamerica.com")  ·  whole-fqdn name (no record in the hardware tree named "wva20bmsendb01v.corp.bankofamerica.com")  ·  address (no record in win_server carries the address)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(3 records in win_server carry the fqdn: a tie / 3 records in the hardware tree carry the fqdn: a tie)  ·  name + domain (3 named "wva20bmsendb01v", 3 with the domain "corp.bankofamerica.com": a tie / 4 named "wva20bmsendb01v", 3 with the domain "corp.bankofamerica.com": a tie)  ·  host name (3 records in win_server named "wva20bmsendb01v": a tie / 4 records in the hardware tree named "wva20bmsendb01v": a tie)</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SDI000003007215</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9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900" dirty="0">
                <a:solidFill>
                  <a:srgbClr val="4D4F53"/>
                </a:solidFill>
                <a:latin typeface="Arial" pitchFamily="34" charset="0"/>
                <a:ea typeface="Arial" pitchFamily="34" charset="-122"/>
                <a:cs typeface="Arial" pitchFamily="34" charset="-120"/>
              </a:rPr>
              <a:t>wva20bmsendb01v.corp.bankofamerica.com</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00" dirty="0">
                <a:solidFill>
                  <a:srgbClr val="4D4F53"/>
                </a:solidFill>
                <a:latin typeface="Arial" pitchFamily="34" charset="0"/>
                <a:ea typeface="Arial" pitchFamily="34" charset="-122"/>
                <a:cs typeface="Arial" pitchFamily="34" charset="-120"/>
              </a:rPr>
              <a:t>30.37.248.149</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900" dirty="0">
                <a:solidFill>
                  <a:srgbClr val="4D4F53"/>
                </a:solidFill>
                <a:latin typeface="Arial" pitchFamily="34" charset="0"/>
                <a:ea typeface="Arial" pitchFamily="34" charset="-122"/>
                <a:cs typeface="Arial" pitchFamily="34" charset="-120"/>
              </a:rPr>
              <a:t>Windows Server 2022 Standard 64 bit Edition Version 21H2</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900" dirty="0">
                <a:solidFill>
                  <a:srgbClr val="4D4F53"/>
                </a:solidFill>
                <a:latin typeface="Arial" pitchFamily="34" charset="0"/>
                <a:ea typeface="Arial" pitchFamily="34" charset="-122"/>
                <a:cs typeface="Arial" pitchFamily="34" charset="-120"/>
              </a:rPr>
              <a:t>WVA20BMSENDB01V</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900" dirty="0">
                <a:solidFill>
                  <a:srgbClr val="4D4F53"/>
                </a:solidFill>
                <a:latin typeface="Arial" pitchFamily="34" charset="0"/>
                <a:ea typeface="Arial" pitchFamily="34" charset="-122"/>
                <a:cs typeface="Arial" pitchFamily="34" charset="-120"/>
              </a:rPr>
              <a:t>AGENT</a:t>
            </a:r>
            <a:endParaRPr lang="en-US" sz="900" dirty="0"/>
          </a:p>
          <a:p>
            <a:pPr indent="0" marL="0">
              <a:buNone/>
            </a:pPr>
            <a:r>
              <a:rPr lang="en-US" sz="9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900" dirty="0">
                <a:solidFill>
                  <a:srgbClr val="4D4F53"/>
                </a:solidFill>
                <a:latin typeface="Arial" pitchFamily="34" charset="0"/>
                <a:ea typeface="Arial" pitchFamily="34" charset="-122"/>
                <a:cs typeface="Arial" pitchFamily="34" charset="-120"/>
              </a:rPr>
              <a:t>2026-09-21 05:37:59</a:t>
            </a:r>
            <a:endParaRPr lang="en-US" sz="900" dirty="0"/>
          </a:p>
        </p:txBody>
      </p:sp>
      <p:sp>
        <p:nvSpPr>
          <p:cNvPr id="17" name="Text 15">
            <a:hlinkClick r:id="rId1" tooltip="https://bofasecopsdev.service-now.com/sn_sec_cmn_src_ci_list.do?sysparm_query=number=SDI00000300721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72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"30.37.248.149";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wva20bmsendb01v</a:t>
            </a:r>
            <a:endParaRPr lang="en-US" sz="1500" dirty="0"/>
          </a:p>
        </p:txBody>
      </p:sp>
      <p:sp>
        <p:nvSpPr>
          <p:cNvPr id="27" name="Text 25"/>
          <p:cNvSpPr txBox="1"/>
          <p:nvPr/>
        </p:nvSpPr>
        <p:spPr>
          <a:xfrm>
            <a:off x="8714232" y="42626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4582668"/>
            <a:ext cx="2715768" cy="110490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30.37.248.149</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VMware-423fcfe1-4c6f-62ab-ff9d-e6861bc33d2c</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VMware, Inc. VMware Virtual Platform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Non-Operational</a:t>
            </a:r>
            <a:endParaRPr lang="en-US" sz="850" dirty="0"/>
          </a:p>
        </p:txBody>
      </p:sp>
      <p:sp>
        <p:nvSpPr>
          <p:cNvPr id="29" name="Text 27">
            <a:hlinkClick r:id="rId2" tooltip="https://bofasecopsdev.service-now.com/cmdb_ci_computer.do?sys_id=f1593dbd3b74c710ef3892e643e45a81"/>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wva40bwoexad04v.olexauthn.fsqa.ml.com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server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716024"/>
          </a:xfrm>
          <a:prstGeom prst="roundRect">
            <a:avLst>
              <a:gd name="adj" fmla="val 3197"/>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20396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"wva40bwoexad04v" is not sep + 12 hex)  ·  device name (OS gives the class win_server)  ·  controller (no controller suffix or OS word)  ·  interface (no interface domain or marker)  ·  member (no VIP sign)  ·  service (no VIP sign)</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(no record in the hardware tree carries the fqdn)  ·  layered DNS (no DNS Name record for "wva40bwoexad04v.olexauthn.fsqa.ml.com")  ·  whole-fqdn name (no record in the hardware tree named "wva40bwoexad04v.olexauthn.fsqa.ml.com")  ·  address (no record in win_server carries the address)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name + domain (no record named "wva40bwoexad04v" / 2 named "wva40bwoexad04v", none with the domain "olexauthn.fsqa.ml.com")  ·  host name (no record in win_server named "wva40bwoexad04v" / 2 records in the hardware tree named "wva40bwoexad04v": a tie)</a:t>
            </a:r>
            <a:endParaRPr lang="en-US" sz="1050" dirty="0"/>
          </a:p>
        </p:txBody>
      </p:sp>
      <p:sp>
        <p:nvSpPr>
          <p:cNvPr id="12" name="Shape 10"/>
          <p:cNvSpPr/>
          <p:nvPr/>
        </p:nvSpPr>
        <p:spPr>
          <a:xfrm>
            <a:off x="502920" y="3307080"/>
            <a:ext cx="2788920" cy="30937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4625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736848"/>
            <a:ext cx="457200" cy="0"/>
          </a:xfrm>
          <a:prstGeom prst="line">
            <a:avLst/>
          </a:prstGeom>
          <a:noFill/>
          <a:ln w="19050">
            <a:solidFill>
              <a:srgbClr val="E31837"/>
            </a:solidFill>
            <a:prstDash val="solid"/>
          </a:ln>
        </p:spPr>
      </p:sp>
      <p:sp>
        <p:nvSpPr>
          <p:cNvPr id="15" name="Text 13"/>
          <p:cNvSpPr txBox="1"/>
          <p:nvPr/>
        </p:nvSpPr>
        <p:spPr>
          <a:xfrm>
            <a:off x="740664" y="37825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SDI000003054392</a:t>
            </a:r>
            <a:endParaRPr lang="en-US" sz="1500" dirty="0"/>
          </a:p>
        </p:txBody>
      </p:sp>
      <p:sp>
        <p:nvSpPr>
          <p:cNvPr id="16" name="Text 14"/>
          <p:cNvSpPr txBox="1"/>
          <p:nvPr/>
        </p:nvSpPr>
        <p:spPr>
          <a:xfrm>
            <a:off x="740664" y="4148328"/>
            <a:ext cx="2313432" cy="153924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950" dirty="0">
                <a:solidFill>
                  <a:srgbClr val="4D4F53"/>
                </a:solidFill>
                <a:latin typeface="Arial" pitchFamily="34" charset="0"/>
                <a:ea typeface="Arial" pitchFamily="34" charset="-122"/>
                <a:cs typeface="Arial" pitchFamily="34" charset="-120"/>
              </a:rPr>
              <a:t>wva40bwoexad04v.olexauthn.fsqa.ml.com</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30.129.149.101</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950" dirty="0">
                <a:solidFill>
                  <a:srgbClr val="4D4F53"/>
                </a:solidFill>
                <a:latin typeface="Arial" pitchFamily="34" charset="0"/>
                <a:ea typeface="Arial" pitchFamily="34" charset="-122"/>
                <a:cs typeface="Arial" pitchFamily="34" charset="-120"/>
              </a:rPr>
              <a:t>Windows Server 2016 Standard 64 bit Edition AD Version 1607</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NetBIOS name  </a:t>
            </a:r>
            <a:pPr indent="0" marL="0">
              <a:spcAft>
                <a:spcPts val="300"/>
              </a:spcAft>
              <a:buNone/>
            </a:pPr>
            <a:r>
              <a:rPr lang="en-US" sz="950" dirty="0">
                <a:solidFill>
                  <a:srgbClr val="4D4F53"/>
                </a:solidFill>
                <a:latin typeface="Arial" pitchFamily="34" charset="0"/>
                <a:ea typeface="Arial" pitchFamily="34" charset="-122"/>
                <a:cs typeface="Arial" pitchFamily="34" charset="-120"/>
              </a:rPr>
              <a:t>WVA40BWOEXAD04V</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950" dirty="0">
                <a:solidFill>
                  <a:srgbClr val="4D4F53"/>
                </a:solidFill>
                <a:latin typeface="Arial" pitchFamily="34" charset="0"/>
                <a:ea typeface="Arial" pitchFamily="34" charset="-122"/>
                <a:cs typeface="Arial" pitchFamily="34" charset="-120"/>
              </a:rPr>
              <a:t>AGENT</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950" dirty="0">
                <a:solidFill>
                  <a:srgbClr val="4D4F53"/>
                </a:solidFill>
                <a:latin typeface="Arial" pitchFamily="34" charset="0"/>
                <a:ea typeface="Arial" pitchFamily="34" charset="-122"/>
                <a:cs typeface="Arial" pitchFamily="34" charset="-120"/>
              </a:rPr>
              <a:t>2026-09-21 05:35:39</a:t>
            </a:r>
            <a:endParaRPr lang="en-US" sz="950" dirty="0"/>
          </a:p>
        </p:txBody>
      </p:sp>
      <p:sp>
        <p:nvSpPr>
          <p:cNvPr id="17" name="Text 15">
            <a:hlinkClick r:id="rId1" tooltip="https://bofasecopsdev.service-now.com/sn_sec_cmn_src_ci_list.do?sysparm_query=number=SDI000003054392"/>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43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307080"/>
            <a:ext cx="4745736" cy="3093720"/>
          </a:xfrm>
          <a:prstGeom prst="roundRect">
            <a:avLst>
              <a:gd name="adj" fmla="val 177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4625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736848"/>
            <a:ext cx="457200" cy="0"/>
          </a:xfrm>
          <a:prstGeom prst="line">
            <a:avLst/>
          </a:prstGeom>
          <a:noFill/>
          <a:ln w="19050">
            <a:solidFill>
              <a:srgbClr val="E31837"/>
            </a:solidFill>
            <a:prstDash val="solid"/>
          </a:ln>
        </p:spPr>
      </p:sp>
      <p:sp>
        <p:nvSpPr>
          <p:cNvPr id="21" name="Text 19"/>
          <p:cNvSpPr txBox="1"/>
          <p:nvPr/>
        </p:nvSpPr>
        <p:spPr>
          <a:xfrm>
            <a:off x="3749040" y="3810000"/>
            <a:ext cx="4233672" cy="24353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"30.129.149.101";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WVA40BWOEXAD04V [server] ip 30.129.149.101 -&gt; exactly one, accepted; not a load balancer device; class agrees with the OS; name agrees with the scanned label "wva40bwoexad04v"</a:t>
            </a:r>
            <a:endParaRPr lang="en-US" sz="1300" dirty="0"/>
          </a:p>
        </p:txBody>
      </p:sp>
      <p:sp>
        <p:nvSpPr>
          <p:cNvPr id="22" name="Shape 20"/>
          <p:cNvSpPr/>
          <p:nvPr/>
        </p:nvSpPr>
        <p:spPr>
          <a:xfrm>
            <a:off x="8439912" y="3307080"/>
            <a:ext cx="3246120" cy="3093720"/>
          </a:xfrm>
          <a:prstGeom prst="roundRect">
            <a:avLst>
              <a:gd name="adj" fmla="val 1773"/>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471672"/>
            <a:ext cx="64008" cy="2764536"/>
          </a:xfrm>
          <a:prstGeom prst="rect">
            <a:avLst/>
          </a:prstGeom>
          <a:solidFill>
            <a:srgbClr val="E31837"/>
          </a:solidFill>
          <a:ln w="12700">
            <a:solidFill>
              <a:srgbClr val="333333"/>
            </a:solidFill>
            <a:prstDash val="solid"/>
          </a:ln>
        </p:spPr>
      </p:sp>
      <p:sp>
        <p:nvSpPr>
          <p:cNvPr id="24" name="Text 22"/>
          <p:cNvSpPr txBox="1"/>
          <p:nvPr/>
        </p:nvSpPr>
        <p:spPr>
          <a:xfrm>
            <a:off x="8714232" y="34625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736848"/>
            <a:ext cx="457200" cy="0"/>
          </a:xfrm>
          <a:prstGeom prst="line">
            <a:avLst/>
          </a:prstGeom>
          <a:noFill/>
          <a:ln w="19050">
            <a:solidFill>
              <a:srgbClr val="E31837"/>
            </a:solidFill>
            <a:prstDash val="solid"/>
          </a:ln>
        </p:spPr>
      </p:sp>
      <p:sp>
        <p:nvSpPr>
          <p:cNvPr id="26" name="Text 24"/>
          <p:cNvSpPr txBox="1"/>
          <p:nvPr/>
        </p:nvSpPr>
        <p:spPr>
          <a:xfrm>
            <a:off x="8714232" y="37825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WVA40BWOEXAD04V</a:t>
            </a:r>
            <a:endParaRPr lang="en-US" sz="1500" dirty="0"/>
          </a:p>
        </p:txBody>
      </p:sp>
      <p:sp>
        <p:nvSpPr>
          <p:cNvPr id="27" name="Text 25"/>
          <p:cNvSpPr txBox="1"/>
          <p:nvPr/>
        </p:nvSpPr>
        <p:spPr>
          <a:xfrm>
            <a:off x="8714232" y="41026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Server</a:t>
            </a:r>
            <a:endParaRPr lang="en-US" sz="1100" dirty="0"/>
          </a:p>
        </p:txBody>
      </p:sp>
      <p:sp>
        <p:nvSpPr>
          <p:cNvPr id="28" name="Text 26"/>
          <p:cNvSpPr txBox="1"/>
          <p:nvPr/>
        </p:nvSpPr>
        <p:spPr>
          <a:xfrm>
            <a:off x="8714232" y="4422648"/>
            <a:ext cx="2715768" cy="1264920"/>
          </a:xfrm>
          <a:prstGeom prst="rect">
            <a:avLst/>
          </a:prstGeom>
          <a:noFill/>
          <a:ln/>
        </p:spPr>
        <p:txBody>
          <a:bodyPr wrap="square" lIns="0" tIns="0" rIns="0" bIns="0" rtlCol="0" anchor="t"/>
          <a:lstStyle/>
          <a:p>
            <a:pPr indent="0" marL="0">
              <a:buNone/>
            </a:pPr>
            <a:r>
              <a:rPr lang="en-US" sz="11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30.129.149.101</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VMWARE-42 0A 18 C6 C1 B5 0B 64-8F 94 A7 07 E2 1A B9 80</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150" dirty="0">
                <a:solidFill>
                  <a:srgbClr val="4D4F53"/>
                </a:solidFill>
                <a:latin typeface="Arial" pitchFamily="34" charset="0"/>
                <a:ea typeface="Arial" pitchFamily="34" charset="-122"/>
                <a:cs typeface="Arial" pitchFamily="34" charset="-120"/>
              </a:rPr>
              <a:t>VMware VMWARE VIRTUAL PLATFORM</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Installed</a:t>
            </a:r>
            <a:endParaRPr lang="en-US" sz="1150" dirty="0"/>
          </a:p>
          <a:p>
            <a:pPr indent="0" marL="0">
              <a:buNone/>
            </a:pPr>
            <a:r>
              <a:rPr lang="en-US" sz="11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150" dirty="0">
                <a:solidFill>
                  <a:srgbClr val="4D4F53"/>
                </a:solidFill>
                <a:latin typeface="Arial" pitchFamily="34" charset="0"/>
                <a:ea typeface="Arial" pitchFamily="34" charset="-122"/>
                <a:cs typeface="Arial" pitchFamily="34" charset="-120"/>
              </a:rPr>
              <a:t>Operational</a:t>
            </a:r>
            <a:endParaRPr lang="en-US" sz="1150" dirty="0"/>
          </a:p>
        </p:txBody>
      </p:sp>
      <p:sp>
        <p:nvSpPr>
          <p:cNvPr id="29" name="Text 27">
            <a:hlinkClick r:id="rId2" tooltip="https://bofasecopsdev.service-now.com/cmdb_ci_server.do?sys_id=671eaa82935e2a107fb5f842ed03d6e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671eaa82935e2a107fb5f842ed03d6e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705  ·  IP HARDWARE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crpflmiaups58.bankofamerica.com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ups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6044"/>
          </a:xfrm>
          <a:prstGeom prst="roundRect">
            <a:avLst>
              <a:gd name="adj" fmla="val 2924"/>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3980"/>
          </a:xfrm>
          <a:prstGeom prst="rect">
            <a:avLst/>
          </a:prstGeom>
          <a:noFill/>
          <a:ln/>
        </p:spPr>
        <p:txBody>
          <a:bodyPr wrap="square" lIns="0" tIns="0" rIns="0" bIns="0" rtlCol="0" anchor="t"/>
          <a:lstStyle/>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serial (no serial reported)  ·  phone MAC (label "crpflmiaups58" is not sep + 12 hex)  ·  controller (no controller suffix or OS word)  ·  interface (no interface domain or marker)  ·  member (no VIP sign)  ·  service (no VIP sign)  ·  address (OS "not reported" gives no class)</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FQDN (OS "not reported" gives no class / no record in the hardware tree carries the fqdn)  ·  layered DNS (no DNS Name record for "crpflmiaups58.bankofamerica.com")  ·  device name (none named "crpflmiaups58" in IP Phone or Imaging Hardware)  ·  whole-fqdn name (no record in the hardware tree named "crpflmiaups58.bankofamerica.com")</a:t>
            </a:r>
            <a:endParaRPr lang="en-US" sz="1050" dirty="0"/>
          </a:p>
          <a:p>
            <a:pPr indent="0" marL="0">
              <a:lnSpc>
                <a:spcPct val="100000"/>
              </a:lnSpc>
              <a:buNone/>
            </a:pPr>
            <a:r>
              <a:rPr lang="en-US" sz="105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50" dirty="0">
                <a:solidFill>
                  <a:srgbClr val="4D4F53"/>
                </a:solidFill>
                <a:latin typeface="Arial" pitchFamily="34" charset="0"/>
                <a:ea typeface="Arial" pitchFamily="34" charset="-122"/>
                <a:cs typeface="Arial" pitchFamily="34" charset="-120"/>
              </a:rPr>
              <a:t>name + domain (OS "not reported" gives no class / 2 named "crpflmiaups58", none with the domain "bankofamerica.com")  ·  host name (OS "not reported" gives no class / 2 records in the hardware tree named "crpflmiaups58": a tie)</a:t>
            </a:r>
            <a:endParaRPr lang="en-US" sz="1050" dirty="0"/>
          </a:p>
        </p:txBody>
      </p:sp>
      <p:sp>
        <p:nvSpPr>
          <p:cNvPr id="12" name="Shape 10"/>
          <p:cNvSpPr/>
          <p:nvPr/>
        </p:nvSpPr>
        <p:spPr>
          <a:xfrm>
            <a:off x="502920" y="3467100"/>
            <a:ext cx="2788920" cy="293370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254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6868"/>
            <a:ext cx="457200" cy="0"/>
          </a:xfrm>
          <a:prstGeom prst="line">
            <a:avLst/>
          </a:prstGeom>
          <a:noFill/>
          <a:ln w="19050">
            <a:solidFill>
              <a:srgbClr val="E31837"/>
            </a:solidFill>
            <a:prstDash val="solid"/>
          </a:ln>
        </p:spPr>
      </p:sp>
      <p:sp>
        <p:nvSpPr>
          <p:cNvPr id="15" name="Text 13"/>
          <p:cNvSpPr txBox="1"/>
          <p:nvPr/>
        </p:nvSpPr>
        <p:spPr>
          <a:xfrm>
            <a:off x="740664" y="394258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SDI000002907396</a:t>
            </a:r>
            <a:endParaRPr lang="en-US" sz="1500" dirty="0"/>
          </a:p>
        </p:txBody>
      </p:sp>
      <p:sp>
        <p:nvSpPr>
          <p:cNvPr id="16" name="Text 14"/>
          <p:cNvSpPr txBox="1"/>
          <p:nvPr/>
        </p:nvSpPr>
        <p:spPr>
          <a:xfrm>
            <a:off x="740664" y="4308348"/>
            <a:ext cx="2313432" cy="1379220"/>
          </a:xfrm>
          <a:prstGeom prst="rect">
            <a:avLst/>
          </a:prstGeom>
          <a:noFill/>
          <a:ln/>
        </p:spPr>
        <p:txBody>
          <a:bodyPr wrap="square" lIns="0" tIns="0" rIns="0" bIns="0" rtlCol="0" anchor="t"/>
          <a:lstStyle/>
          <a:p>
            <a:pPr indent="0" marL="0">
              <a:buNone/>
            </a:pPr>
            <a:r>
              <a:rPr lang="en-US" sz="11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100" dirty="0">
                <a:solidFill>
                  <a:srgbClr val="4D4F53"/>
                </a:solidFill>
                <a:latin typeface="Arial" pitchFamily="34" charset="0"/>
                <a:ea typeface="Arial" pitchFamily="34" charset="-122"/>
                <a:cs typeface="Arial" pitchFamily="34" charset="-120"/>
              </a:rPr>
              <a:t>crpflmiaups58.bankofamerica.com</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100" dirty="0">
                <a:solidFill>
                  <a:srgbClr val="4D4F53"/>
                </a:solidFill>
                <a:latin typeface="Arial" pitchFamily="34" charset="0"/>
                <a:ea typeface="Arial" pitchFamily="34" charset="-122"/>
                <a:cs typeface="Arial" pitchFamily="34" charset="-120"/>
              </a:rPr>
              <a:t>10.77.57.21</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100" dirty="0">
                <a:solidFill>
                  <a:srgbClr val="4D4F53"/>
                </a:solidFill>
                <a:latin typeface="Arial" pitchFamily="34" charset="0"/>
                <a:ea typeface="Arial" pitchFamily="34" charset="-122"/>
                <a:cs typeface="Arial" pitchFamily="34" charset="-120"/>
              </a:rPr>
              <a:t>(not reported)</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100" dirty="0">
                <a:solidFill>
                  <a:srgbClr val="4D4F53"/>
                </a:solidFill>
                <a:latin typeface="Arial" pitchFamily="34" charset="0"/>
                <a:ea typeface="Arial" pitchFamily="34" charset="-122"/>
                <a:cs typeface="Arial" pitchFamily="34" charset="-120"/>
              </a:rPr>
              <a:t>IP</a:t>
            </a:r>
            <a:endParaRPr lang="en-US" sz="1100" dirty="0"/>
          </a:p>
          <a:p>
            <a:pPr indent="0" marL="0">
              <a:buNone/>
            </a:pPr>
            <a:r>
              <a:rPr lang="en-US" sz="11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100" dirty="0">
                <a:solidFill>
                  <a:srgbClr val="4D4F53"/>
                </a:solidFill>
                <a:latin typeface="Arial" pitchFamily="34" charset="0"/>
                <a:ea typeface="Arial" pitchFamily="34" charset="-122"/>
                <a:cs typeface="Arial" pitchFamily="34" charset="-120"/>
              </a:rPr>
              <a:t>2026-09-21 04:27:51</a:t>
            </a:r>
            <a:endParaRPr lang="en-US" sz="1100" dirty="0"/>
          </a:p>
        </p:txBody>
      </p:sp>
      <p:sp>
        <p:nvSpPr>
          <p:cNvPr id="17" name="Text 15">
            <a:hlinkClick r:id="rId1" tooltip="https://bofasecopsdev.service-now.com/sn_sec_cmn_src_ci_list.do?sysparm_query=number=SDI00000290739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739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7100"/>
            <a:ext cx="4745736"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254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6868"/>
            <a:ext cx="457200" cy="0"/>
          </a:xfrm>
          <a:prstGeom prst="line">
            <a:avLst/>
          </a:prstGeom>
          <a:noFill/>
          <a:ln w="19050">
            <a:solidFill>
              <a:srgbClr val="E31837"/>
            </a:solidFill>
            <a:prstDash val="solid"/>
          </a:ln>
        </p:spPr>
      </p:sp>
      <p:sp>
        <p:nvSpPr>
          <p:cNvPr id="21" name="Text 19"/>
          <p:cNvSpPr txBox="1"/>
          <p:nvPr/>
        </p:nvSpPr>
        <p:spPr>
          <a:xfrm>
            <a:off x="3749040" y="3970020"/>
            <a:ext cx="4233672" cy="227533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"10.77.57.21"; the whole hardware tree, the OS class kept as a preference</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carrying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CRPFLMIAUPS58 [ups] ip 10.77.57.21 -&gt; exactly one, accepted; not a load balancer device; class agrees with the OS; name agrees with the scanned label "crpflmiaups58"</a:t>
            </a:r>
            <a:endParaRPr lang="en-US" sz="1300" dirty="0"/>
          </a:p>
        </p:txBody>
      </p:sp>
      <p:sp>
        <p:nvSpPr>
          <p:cNvPr id="22" name="Shape 20"/>
          <p:cNvSpPr/>
          <p:nvPr/>
        </p:nvSpPr>
        <p:spPr>
          <a:xfrm>
            <a:off x="8439912" y="3467100"/>
            <a:ext cx="3246120" cy="2933700"/>
          </a:xfrm>
          <a:prstGeom prst="roundRect">
            <a:avLst>
              <a:gd name="adj" fmla="val 187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1692"/>
            <a:ext cx="64008" cy="2604516"/>
          </a:xfrm>
          <a:prstGeom prst="rect">
            <a:avLst/>
          </a:prstGeom>
          <a:solidFill>
            <a:srgbClr val="E31837"/>
          </a:solidFill>
          <a:ln w="12700">
            <a:solidFill>
              <a:srgbClr val="333333"/>
            </a:solidFill>
            <a:prstDash val="solid"/>
          </a:ln>
        </p:spPr>
      </p:sp>
      <p:sp>
        <p:nvSpPr>
          <p:cNvPr id="24" name="Text 22"/>
          <p:cNvSpPr txBox="1"/>
          <p:nvPr/>
        </p:nvSpPr>
        <p:spPr>
          <a:xfrm>
            <a:off x="8714232" y="362254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6868"/>
            <a:ext cx="457200" cy="0"/>
          </a:xfrm>
          <a:prstGeom prst="line">
            <a:avLst/>
          </a:prstGeom>
          <a:noFill/>
          <a:ln w="19050">
            <a:solidFill>
              <a:srgbClr val="E31837"/>
            </a:solidFill>
            <a:prstDash val="solid"/>
          </a:ln>
        </p:spPr>
      </p:sp>
      <p:sp>
        <p:nvSpPr>
          <p:cNvPr id="26" name="Text 24"/>
          <p:cNvSpPr txBox="1"/>
          <p:nvPr/>
        </p:nvSpPr>
        <p:spPr>
          <a:xfrm>
            <a:off x="8714232" y="394258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CRPFLMIAUPS58</a:t>
            </a:r>
            <a:endParaRPr lang="en-US" sz="1500" dirty="0"/>
          </a:p>
        </p:txBody>
      </p:sp>
      <p:sp>
        <p:nvSpPr>
          <p:cNvPr id="27" name="Text 25"/>
          <p:cNvSpPr txBox="1"/>
          <p:nvPr/>
        </p:nvSpPr>
        <p:spPr>
          <a:xfrm>
            <a:off x="8714232" y="426262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UPS</a:t>
            </a:r>
            <a:endParaRPr lang="en-US" sz="1100" dirty="0"/>
          </a:p>
        </p:txBody>
      </p:sp>
      <p:sp>
        <p:nvSpPr>
          <p:cNvPr id="28" name="Text 26"/>
          <p:cNvSpPr txBox="1"/>
          <p:nvPr/>
        </p:nvSpPr>
        <p:spPr>
          <a:xfrm>
            <a:off x="8714232" y="4582668"/>
            <a:ext cx="2715768" cy="110490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10.77.57.21</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N12244110057</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Schneider Electric Smart-UPS Smart-UPS 2200VA</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ups.do?sys_id=4966fb582ba7e614d50dffbdbe91bf7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4966fb582ba7e614d50dffbdbe91bf7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sits after the two rules that read the CI record because a multi-homed server keeps its addresses on adapter records rather than in its own ip_address field.</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Hardware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Layered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46,195</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Adapter query.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Distinct owners with class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Exactly one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Refusals on the single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Adapter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owning CI has a class agrees() refuses, so count stays 0</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Adapters of two or more distinct CIs (after the class skip) carry the 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owner is a load balancer: cmdb_ci_lb is a valid table and cmdb_ci_lb.get(sys_id) succeeds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owner's name does not agree with it</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IP Layered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a-vjp2d000i0175-nfs.apac.sdi.corp.bankofamerica.com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"a-vjp2d000i0175-nfs"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"a-vjp2d000i0175-nfs")  ·  layered DNS (no DNS Name record for "a-vjp2d000i0175-nfs.apac.sdi.corp.bankofamerica.com")  ·  host name (no record in the hardware tree named "a-vjp2d000i0175-nfs")  ·  whole-fqdn name (no record in the hardware tree named "a-vjp2d000i0175-nfs.apac.sdi.corp.bankofamerica.com")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SDI000002813895</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a-vjp2d000i0175-nfs.apac.sdi.corp.bankofamerica.com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165.38.176.81</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05:54:28</a:t>
            </a:r>
            <a:endParaRPr lang="en-US" sz="1000" dirty="0"/>
          </a:p>
        </p:txBody>
      </p:sp>
      <p:sp>
        <p:nvSpPr>
          <p:cNvPr id="17" name="Text 15">
            <a:hlinkClick r:id="rId1" tooltip="https://bofasecopsdev.service-now.com/sn_sec_cmn_src_ci_list.do?sysparm_query=number=SDI00000281389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138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a-vjp2d000i0175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"a-vjp2d000i0175-nfs"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a-vjp2d000i0175</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a-vjp2d000i0175.apac.sdi.corp.bankofamerica.com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165.38.175.81</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8Z7QHB4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R7615 210-BHRH</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abb100a52b976e908afbf3b28191bf4f"/>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a-vsg2d000i0326-nfs.apac.sdi.corp.bankofamerica.com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"a-vsg2d000i0326-nfs"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"a-vsg2d000i0326-nfs")  ·  layered DNS (no DNS Name record for "a-vsg2d000i0326-nfs.apac.sdi.corp.bankofamerica.com")  ·  host name (no record in the hardware tree named "a-vsg2d000i0326-nfs")  ·  whole-fqdn name (no record in the hardware tree named "a-vsg2d000i0326-nfs.apac.sdi.corp.bankofamerica.com")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SDI000002578917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a-vsg2d000i0326-nfs.apac.sdi.corp.bankofamerica.com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30.184.129.84</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05:50:42</a:t>
            </a:r>
            <a:endParaRPr lang="en-US" sz="1000" dirty="0"/>
          </a:p>
        </p:txBody>
      </p:sp>
      <p:sp>
        <p:nvSpPr>
          <p:cNvPr id="17" name="Text 15">
            <a:hlinkClick r:id="rId1" tooltip="https://bofasecopsdev.service-now.com/sn_sec_cmn_src_ci_list.do?sysparm_query=number=SDI00000257891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789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"30.184.129.84";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a-vsg2d000i0326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"a-vsg2d000i0326-nfs"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a-vsg2d000i0326</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a-vsg2d000i0326.apac.sdi.corp.bankofamerica.com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30.188.216.106</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2Z8VNW3</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R640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2e0ed1d1ebccb254986cffd6bad0cdf6"/>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2e0ed1d1ebccb254986cffd6bad0cdf6"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730  ·  IP ADAPTER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a-vsg2d000i0291-nfs.apac.sdi.corp.bankofamerica.com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"a-vsg2d000i0291-nfs" is not sep + 12 hex)  ·  device name (OS gives the class esx_server)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"a-vsg2d000i0291-nfs")  ·  layered DNS (no DNS Name record for "a-vsg2d000i0291-nfs.apac.sdi.corp.bankofamerica.com")  ·  host name (no record in the hardware tree named "a-vsg2d000i0291-nfs")  ·  whole-fqdn name (no record in the hardware tree named "a-vsg2d000i0291-nfs.apac.sdi.corp.bankofamerica.com")  ·  address (no record in the hardware tree carries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SDI000002582383</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a-vsg2d000i0291-nfs.apac.sdi.corp.bankofamerica.com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30.184.129.17</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VMware ESXi 8.0.3 build 25205845</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05:23:25</a:t>
            </a:r>
            <a:endParaRPr lang="en-US" sz="1000" dirty="0"/>
          </a:p>
        </p:txBody>
      </p:sp>
      <p:sp>
        <p:nvSpPr>
          <p:cNvPr id="17" name="Text 15">
            <a:hlinkClick r:id="rId1" tooltip="https://bofasecopsdev.service-now.com/sn_sec_cmn_src_ci_list.do?sysparm_query=number=SDI000002582383"/>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823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"30.184.129.17"; OS "VMware ESXi 8.0.3 build 25205845" gives the class esx_server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Adapter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adapter vmk3 -&gt; a-vsg2d000i0291 [esx_server]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"a-vsg2d000i0291-nfs"</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a-vsg2d000i0291</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ESX Server</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850" b="1" dirty="0">
                <a:solidFill>
                  <a:srgbClr val="6E7279"/>
                </a:solidFill>
                <a:latin typeface="Arial" pitchFamily="34" charset="0"/>
                <a:ea typeface="Arial" pitchFamily="34" charset="-122"/>
                <a:cs typeface="Arial" pitchFamily="34" charset="-120"/>
              </a:rPr>
              <a:t>FQDN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a-vsg2d000i0291.apac.sdi.corp.bankofamerica.com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850" dirty="0">
                <a:solidFill>
                  <a:srgbClr val="4D4F53"/>
                </a:solidFill>
                <a:latin typeface="Arial" pitchFamily="34" charset="0"/>
                <a:ea typeface="Arial" pitchFamily="34" charset="-122"/>
                <a:cs typeface="Arial" pitchFamily="34" charset="-120"/>
              </a:rPr>
              <a:t>apac.sdi.corp.bankofamerica.com</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850" dirty="0">
                <a:solidFill>
                  <a:srgbClr val="4D4F53"/>
                </a:solidFill>
                <a:latin typeface="Arial" pitchFamily="34" charset="0"/>
                <a:ea typeface="Arial" pitchFamily="34" charset="-122"/>
                <a:cs typeface="Arial" pitchFamily="34" charset="-120"/>
              </a:rPr>
              <a:t>30.188.216.14</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850" dirty="0">
                <a:solidFill>
                  <a:srgbClr val="4D4F53"/>
                </a:solidFill>
                <a:latin typeface="Arial" pitchFamily="34" charset="0"/>
                <a:ea typeface="Arial" pitchFamily="34" charset="-122"/>
                <a:cs typeface="Arial" pitchFamily="34" charset="-120"/>
              </a:rPr>
              <a:t>9H81LQ3</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850" dirty="0">
                <a:solidFill>
                  <a:srgbClr val="4D4F53"/>
                </a:solidFill>
                <a:latin typeface="Arial" pitchFamily="34" charset="0"/>
                <a:ea typeface="Arial" pitchFamily="34" charset="-122"/>
                <a:cs typeface="Arial" pitchFamily="34" charset="-120"/>
              </a:rPr>
              <a:t>Dell Inc. POWEREDGE R640</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Installed</a:t>
            </a:r>
            <a:endParaRPr lang="en-US" sz="850" dirty="0"/>
          </a:p>
          <a:p>
            <a:pPr indent="0" marL="0">
              <a:buNone/>
            </a:pPr>
            <a:r>
              <a:rPr lang="en-US" sz="8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850" dirty="0">
                <a:solidFill>
                  <a:srgbClr val="4D4F53"/>
                </a:solidFill>
                <a:latin typeface="Arial" pitchFamily="34" charset="0"/>
                <a:ea typeface="Arial" pitchFamily="34" charset="-122"/>
                <a:cs typeface="Arial" pitchFamily="34" charset="-120"/>
              </a:rPr>
              <a:t>Operational</a:t>
            </a:r>
            <a:endParaRPr lang="en-US" sz="850" dirty="0"/>
          </a:p>
        </p:txBody>
      </p:sp>
      <p:sp>
        <p:nvSpPr>
          <p:cNvPr id="29" name="Text 27">
            <a:hlinkClick r:id="rId2" tooltip="https://bofasecopsdev.service-now.com/cmdb_ci_esx_server.do?sys_id=c5fad55d3b8cf25cdf0f0c54c3e45ac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c5fad55d3b8cf25cdf0f0c54c3e45ac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is the last address rule because newer discovery writes each address there and may leave the adapter's own ip_address empty, so the previous three rules find nothing.</a:t>
            </a:r>
            <a:endParaRPr lang="en-US" sz="1500" dirty="0"/>
          </a:p>
        </p:txBody>
      </p:sp>
      <p:sp>
        <p:nvSpPr>
          <p:cNvPr id="13" name="Shape 11"/>
          <p:cNvSpPr/>
          <p:nvPr/>
        </p:nvSpPr>
        <p:spPr>
          <a:xfrm>
            <a:off x="502920" y="3380232"/>
            <a:ext cx="6933529" cy="2565400"/>
          </a:xfrm>
          <a:prstGeom prst="roundRect">
            <a:avLst>
              <a:gd name="adj" fmla="val 2139"/>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8338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1400" dirty="0"/>
          </a:p>
        </p:txBody>
      </p:sp>
      <p:sp>
        <p:nvSpPr>
          <p:cNvPr id="17" name="Shape 15"/>
          <p:cNvSpPr/>
          <p:nvPr/>
        </p:nvSpPr>
        <p:spPr>
          <a:xfrm>
            <a:off x="7665049" y="3380232"/>
            <a:ext cx="4020983" cy="2565400"/>
          </a:xfrm>
          <a:prstGeom prst="roundRect">
            <a:avLst>
              <a:gd name="adj" fmla="val 2139"/>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828040"/>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IP Adapter Match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300" dirty="0">
                <a:solidFill>
                  <a:srgbClr val="4D4F53"/>
                </a:solidFill>
                <a:latin typeface="Arial" pitchFamily="34" charset="0"/>
                <a:ea typeface="Arial" pitchFamily="34" charset="-122"/>
                <a:cs typeface="Arial" pitchFamily="34" charset="-120"/>
              </a:rPr>
              <a:t>FQDN Name Broad Match</a:t>
            </a:r>
            <a:endParaRPr lang="en-US" sz="1300" dirty="0"/>
          </a:p>
        </p:txBody>
      </p:sp>
      <p:sp>
        <p:nvSpPr>
          <p:cNvPr id="21" name="Text 19"/>
          <p:cNvSpPr txBox="1"/>
          <p:nvPr/>
        </p:nvSpPr>
        <p:spPr>
          <a:xfrm>
            <a:off x="7985089" y="48483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7,968</a:t>
            </a:r>
            <a:endParaRPr lang="en-US" sz="2800" dirty="0"/>
          </a:p>
        </p:txBody>
      </p:sp>
      <p:sp>
        <p:nvSpPr>
          <p:cNvPr id="22" name="Text 20"/>
          <p:cNvSpPr txBox="1"/>
          <p:nvPr/>
        </p:nvSpPr>
        <p:spPr>
          <a:xfrm>
            <a:off x="7985089" y="54152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955540"/>
          </a:xfrm>
          <a:prstGeom prst="roundRect">
            <a:avLst>
              <a:gd name="adj" fmla="val 110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Address guard.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Ignored 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Class preference from the OS.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IP Address record query.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350" dirty="0"/>
          </a:p>
        </p:txBody>
      </p:sp>
      <p:sp>
        <p:nvSpPr>
          <p:cNvPr id="10" name="Text 8"/>
          <p:cNvSpPr txBox="1"/>
          <p:nvPr/>
        </p:nvSpPr>
        <p:spPr>
          <a:xfrm>
            <a:off x="6277356" y="1746504"/>
            <a:ext cx="5088636" cy="440690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Distinct owners with class agreement.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Exactly one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Refusals on the single owner.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ADDRESS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IP Layered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3063240"/>
          </a:xfrm>
          <a:prstGeom prst="roundRect">
            <a:avLst>
              <a:gd name="adj" fmla="val 1791"/>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27340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the trimmed address is empty</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address starts with '127.' or '169.254.'</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cmdb_ci_ip_address table is not valid on the instance (ipGr.isValid() false)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cmdb_ci_ip_address row with that ip_address reaches a CI (nic.cmdb_ci empty) outside the ignore list</a:t>
            </a:r>
            <a:endParaRPr lang="en-US" sz="1500" dirty="0"/>
          </a:p>
        </p:txBody>
      </p:sp>
      <p:sp>
        <p:nvSpPr>
          <p:cNvPr id="13" name="Text 11"/>
          <p:cNvSpPr txBox="1"/>
          <p:nvPr/>
        </p:nvSpPr>
        <p:spPr>
          <a:xfrm>
            <a:off x="6277356" y="1975104"/>
            <a:ext cx="5088636" cy="24231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Every CI reached has a class agrees() refuses, so count stays 0</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Address records of two or more distinct CIs (after the class skip) carry the address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single owner is a load balancer: cmdb_ci_lb is a valid table and cmdb_ci_lb.get(sys_id) succeeds</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payload carries a DNS name and the owner's name does not agree with it</a:t>
            </a:r>
            <a:endParaRPr lang="en-US" sz="1500" dirty="0"/>
          </a:p>
        </p:txBody>
      </p:sp>
      <p:sp>
        <p:nvSpPr>
          <p:cNvPr id="14" name="Shape 12"/>
          <p:cNvSpPr/>
          <p:nvPr/>
        </p:nvSpPr>
        <p:spPr>
          <a:xfrm>
            <a:off x="502920" y="47365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47365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USEM FQDN Name Broad Match</a:t>
            </a:r>
            <a:pPr indent="0" marL="0">
              <a:buNone/>
            </a:pPr>
            <a:r>
              <a:rPr lang="en-US" sz="1250" dirty="0">
                <a:solidFill>
                  <a:srgbClr val="4D4F53"/>
                </a:solidFill>
                <a:latin typeface="Arial" pitchFamily="34" charset="0"/>
                <a:ea typeface="Arial" pitchFamily="34" charset="-122"/>
                <a:cs typeface="Arial" pitchFamily="34" charset="-120"/>
              </a:rPr>
              <a:t>, the next rule in the chain.</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300" b="1" dirty="0">
                <a:solidFill>
                  <a:srgbClr val="1F2A44"/>
                </a:solidFill>
                <a:latin typeface="Arial" pitchFamily="34" charset="0"/>
                <a:ea typeface="Arial" pitchFamily="34" charset="-122"/>
                <a:cs typeface="Arial" pitchFamily="34" charset="-120"/>
              </a:rPr>
              <a:t>ididjktnx07sdm0001-vl603.asia.bankofamerica.com</a:t>
            </a:r>
            <a:endParaRPr lang="en-US" sz="23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878584"/>
          </a:xfrm>
          <a:prstGeom prst="roundRect">
            <a:avLst>
              <a:gd name="adj" fmla="val 292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36652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phone MAC (label "ididjktnx07sdm0001-vl603" is not sep + 12 hex)  ·  device name (OS gives the class netgear)  ·  controller (no controller suffix or OS word)  ·  interface (no interface domain or marker)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FQDN (no record in the hardware tree carries the fqdn)  ·  name + domain (no record named "ididjktnx07sdm0001-vl603")  ·  layered DNS (no DNS Name record for "ididjktnx07sdm0001-vl603.asia.bankofamerica.com")  ·  host name (no record in the hardware tree named "ididjktnx07sdm0001-vl603")  ·  whole-fqdn name (no record in the hardware tree named "ididjktnx07sdm0001-vl603.asia.bankofamerica.com")  ·  address (no record in the hardware tree carries the address)  ·  adapter (no adapter on the address)</a:t>
            </a:r>
            <a:endParaRPr lang="en-US" sz="1100" dirty="0"/>
          </a:p>
        </p:txBody>
      </p:sp>
      <p:sp>
        <p:nvSpPr>
          <p:cNvPr id="12" name="Shape 10"/>
          <p:cNvSpPr/>
          <p:nvPr/>
        </p:nvSpPr>
        <p:spPr>
          <a:xfrm>
            <a:off x="502920" y="3469640"/>
            <a:ext cx="2788920" cy="293116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62508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899408"/>
            <a:ext cx="457200" cy="0"/>
          </a:xfrm>
          <a:prstGeom prst="line">
            <a:avLst/>
          </a:prstGeom>
          <a:noFill/>
          <a:ln w="19050">
            <a:solidFill>
              <a:srgbClr val="E31837"/>
            </a:solidFill>
            <a:prstDash val="solid"/>
          </a:ln>
        </p:spPr>
      </p:sp>
      <p:sp>
        <p:nvSpPr>
          <p:cNvPr id="15" name="Text 13"/>
          <p:cNvSpPr txBox="1"/>
          <p:nvPr/>
        </p:nvSpPr>
        <p:spPr>
          <a:xfrm>
            <a:off x="740664" y="394512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SDI000002376737</a:t>
            </a:r>
            <a:endParaRPr lang="en-US" sz="1500" dirty="0"/>
          </a:p>
        </p:txBody>
      </p:sp>
      <p:sp>
        <p:nvSpPr>
          <p:cNvPr id="16" name="Text 14"/>
          <p:cNvSpPr txBox="1"/>
          <p:nvPr/>
        </p:nvSpPr>
        <p:spPr>
          <a:xfrm>
            <a:off x="740664" y="4310888"/>
            <a:ext cx="2313432" cy="137668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ididjktnx07sdm0001-vl603.asia.bankofamerica.com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165.40.253.178</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Cisco Nexus Switch</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IP</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08:47:59</a:t>
            </a:r>
            <a:endParaRPr lang="en-US" sz="1000" dirty="0"/>
          </a:p>
        </p:txBody>
      </p:sp>
      <p:sp>
        <p:nvSpPr>
          <p:cNvPr id="17" name="Text 15">
            <a:hlinkClick r:id="rId1" tooltip="https://bofasecopsdev.service-now.com/sn_sec_cmn_src_ci_list.do?sysparm_query=number=SDI000002376737"/>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673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469640"/>
            <a:ext cx="4745736"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62508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899408"/>
            <a:ext cx="457200" cy="0"/>
          </a:xfrm>
          <a:prstGeom prst="line">
            <a:avLst/>
          </a:prstGeom>
          <a:noFill/>
          <a:ln w="19050">
            <a:solidFill>
              <a:srgbClr val="E31837"/>
            </a:solidFill>
            <a:prstDash val="solid"/>
          </a:ln>
        </p:spPr>
      </p:sp>
      <p:sp>
        <p:nvSpPr>
          <p:cNvPr id="21" name="Text 19"/>
          <p:cNvSpPr txBox="1"/>
          <p:nvPr/>
        </p:nvSpPr>
        <p:spPr>
          <a:xfrm>
            <a:off x="3749040" y="3972560"/>
            <a:ext cx="4233672" cy="227279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"165.40.253.178"; OS "Cisco Nexus Switch" gives the class netgear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Vlan603 -&gt; ididjktnx07sdm0001 [ip_switch]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name agrees with "ididjktnx07sdm0001-vl603"</a:t>
            </a:r>
            <a:endParaRPr lang="en-US" sz="1300" dirty="0"/>
          </a:p>
        </p:txBody>
      </p:sp>
      <p:sp>
        <p:nvSpPr>
          <p:cNvPr id="22" name="Shape 20"/>
          <p:cNvSpPr/>
          <p:nvPr/>
        </p:nvSpPr>
        <p:spPr>
          <a:xfrm>
            <a:off x="8439912" y="3469640"/>
            <a:ext cx="3246120" cy="2931160"/>
          </a:xfrm>
          <a:prstGeom prst="roundRect">
            <a:avLst>
              <a:gd name="adj" fmla="val 187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634232"/>
            <a:ext cx="64008" cy="2601976"/>
          </a:xfrm>
          <a:prstGeom prst="rect">
            <a:avLst/>
          </a:prstGeom>
          <a:solidFill>
            <a:srgbClr val="E31837"/>
          </a:solidFill>
          <a:ln w="12700">
            <a:solidFill>
              <a:srgbClr val="333333"/>
            </a:solidFill>
            <a:prstDash val="solid"/>
          </a:ln>
        </p:spPr>
      </p:sp>
      <p:sp>
        <p:nvSpPr>
          <p:cNvPr id="24" name="Text 22"/>
          <p:cNvSpPr txBox="1"/>
          <p:nvPr/>
        </p:nvSpPr>
        <p:spPr>
          <a:xfrm>
            <a:off x="8714232" y="362508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899408"/>
            <a:ext cx="457200" cy="0"/>
          </a:xfrm>
          <a:prstGeom prst="line">
            <a:avLst/>
          </a:prstGeom>
          <a:noFill/>
          <a:ln w="19050">
            <a:solidFill>
              <a:srgbClr val="E31837"/>
            </a:solidFill>
            <a:prstDash val="solid"/>
          </a:ln>
        </p:spPr>
      </p:sp>
      <p:sp>
        <p:nvSpPr>
          <p:cNvPr id="26" name="Text 24"/>
          <p:cNvSpPr txBox="1"/>
          <p:nvPr/>
        </p:nvSpPr>
        <p:spPr>
          <a:xfrm>
            <a:off x="8714232" y="394512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ididjktnx07sdm0001</a:t>
            </a:r>
            <a:endParaRPr lang="en-US" sz="1500" dirty="0"/>
          </a:p>
        </p:txBody>
      </p:sp>
      <p:sp>
        <p:nvSpPr>
          <p:cNvPr id="27" name="Text 25"/>
          <p:cNvSpPr txBox="1"/>
          <p:nvPr/>
        </p:nvSpPr>
        <p:spPr>
          <a:xfrm>
            <a:off x="8714232" y="426516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4585208"/>
            <a:ext cx="2715768" cy="1102360"/>
          </a:xfrm>
          <a:prstGeom prst="rect">
            <a:avLst/>
          </a:prstGeom>
          <a:noFill/>
          <a:ln/>
        </p:spPr>
        <p:txBody>
          <a:bodyPr wrap="square" lIns="0" tIns="0" rIns="0" bIns="0" rtlCol="0" anchor="t"/>
          <a:lstStyle/>
          <a:p>
            <a:pPr indent="0" marL="0">
              <a:buNone/>
            </a:pPr>
            <a:r>
              <a:rPr lang="en-US" sz="95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950" dirty="0">
                <a:solidFill>
                  <a:srgbClr val="4D4F53"/>
                </a:solidFill>
                <a:latin typeface="Arial" pitchFamily="34" charset="0"/>
                <a:ea typeface="Arial" pitchFamily="34" charset="-122"/>
                <a:cs typeface="Arial" pitchFamily="34" charset="-120"/>
              </a:rPr>
              <a:t>10.214.35.6</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950" dirty="0">
                <a:solidFill>
                  <a:srgbClr val="4D4F53"/>
                </a:solidFill>
                <a:latin typeface="Arial" pitchFamily="34" charset="0"/>
                <a:ea typeface="Arial" pitchFamily="34" charset="-122"/>
                <a:cs typeface="Arial" pitchFamily="34" charset="-120"/>
              </a:rPr>
              <a:t>FDO23390LQU</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950" dirty="0">
                <a:solidFill>
                  <a:srgbClr val="4D4F53"/>
                </a:solidFill>
                <a:latin typeface="Arial" pitchFamily="34" charset="0"/>
                <a:ea typeface="Arial" pitchFamily="34" charset="-122"/>
                <a:cs typeface="Arial" pitchFamily="34" charset="-120"/>
              </a:rPr>
              <a:t>Cisco Systems, Inc. Nexus 9300-EX Series 93180YC-EX</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Installed</a:t>
            </a:r>
            <a:endParaRPr lang="en-US" sz="950" dirty="0"/>
          </a:p>
          <a:p>
            <a:pPr indent="0" marL="0">
              <a:buNone/>
            </a:pPr>
            <a:r>
              <a:rPr lang="en-US" sz="95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950" dirty="0">
                <a:solidFill>
                  <a:srgbClr val="4D4F53"/>
                </a:solidFill>
                <a:latin typeface="Arial" pitchFamily="34" charset="0"/>
                <a:ea typeface="Arial" pitchFamily="34" charset="-122"/>
                <a:cs typeface="Arial" pitchFamily="34" charset="-120"/>
              </a:rPr>
              <a:t>Operational</a:t>
            </a:r>
            <a:endParaRPr lang="en-US" sz="950" dirty="0"/>
          </a:p>
        </p:txBody>
      </p:sp>
      <p:sp>
        <p:nvSpPr>
          <p:cNvPr id="29" name="Text 27">
            <a:hlinkClick r:id="rId2" tooltip="https://bofasecopsdev.service-now.com/cmdb_ci_ip_switch.do?sys_id=c835c6e83ba822d0670e839704e45ae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171.151.214.18</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258824"/>
          </a:xfrm>
          <a:prstGeom prst="roundRect">
            <a:avLst>
              <a:gd name="adj" fmla="val 435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74676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No DNS name: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scan reports only the address, so no phone or name rule could run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  ·  member (no VIP sign)  ·  service (no VIP sign)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address (no record in the hardware tree carries the address)  ·  adapter (no adapter on the address)</a:t>
            </a:r>
            <a:endParaRPr lang="en-US" sz="1100" dirty="0"/>
          </a:p>
        </p:txBody>
      </p:sp>
      <p:sp>
        <p:nvSpPr>
          <p:cNvPr id="12" name="Shape 10"/>
          <p:cNvSpPr/>
          <p:nvPr/>
        </p:nvSpPr>
        <p:spPr>
          <a:xfrm>
            <a:off x="502920" y="2849880"/>
            <a:ext cx="2788920" cy="355092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00532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279648"/>
            <a:ext cx="457200" cy="0"/>
          </a:xfrm>
          <a:prstGeom prst="line">
            <a:avLst/>
          </a:prstGeom>
          <a:noFill/>
          <a:ln w="19050">
            <a:solidFill>
              <a:srgbClr val="E31837"/>
            </a:solidFill>
            <a:prstDash val="solid"/>
          </a:ln>
        </p:spPr>
      </p:sp>
      <p:sp>
        <p:nvSpPr>
          <p:cNvPr id="15" name="Text 13"/>
          <p:cNvSpPr txBox="1"/>
          <p:nvPr/>
        </p:nvSpPr>
        <p:spPr>
          <a:xfrm>
            <a:off x="740664" y="332536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SDI000002354915</a:t>
            </a:r>
            <a:endParaRPr lang="en-US" sz="1500" dirty="0"/>
          </a:p>
        </p:txBody>
      </p:sp>
      <p:sp>
        <p:nvSpPr>
          <p:cNvPr id="16" name="Text 14"/>
          <p:cNvSpPr txBox="1"/>
          <p:nvPr/>
        </p:nvSpPr>
        <p:spPr>
          <a:xfrm>
            <a:off x="740664" y="3691128"/>
            <a:ext cx="2313432" cy="199644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171.151.214.18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IOS 11-15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09:29:23</a:t>
            </a:r>
            <a:endParaRPr lang="en-US" sz="1200" dirty="0"/>
          </a:p>
        </p:txBody>
      </p:sp>
      <p:sp>
        <p:nvSpPr>
          <p:cNvPr id="17" name="Text 15">
            <a:hlinkClick r:id="rId1" tooltip="https://bofasecopsdev.service-now.com/sn_sec_cmn_src_ci_list.do?sysparm_query=number=SDI00000235491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549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2849880"/>
            <a:ext cx="4745736" cy="3550920"/>
          </a:xfrm>
          <a:prstGeom prst="roundRect">
            <a:avLst>
              <a:gd name="adj" fmla="val 154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00532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279648"/>
            <a:ext cx="457200" cy="0"/>
          </a:xfrm>
          <a:prstGeom prst="line">
            <a:avLst/>
          </a:prstGeom>
          <a:noFill/>
          <a:ln w="19050">
            <a:solidFill>
              <a:srgbClr val="E31837"/>
            </a:solidFill>
            <a:prstDash val="solid"/>
          </a:ln>
        </p:spPr>
      </p:sp>
      <p:sp>
        <p:nvSpPr>
          <p:cNvPr id="21" name="Text 19"/>
          <p:cNvSpPr txBox="1"/>
          <p:nvPr/>
        </p:nvSpPr>
        <p:spPr>
          <a:xfrm>
            <a:off x="3749040" y="3352800"/>
            <a:ext cx="4233672" cy="289255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"171.151.214.18"; OS "Cisco IOS 11-15" gives the class netgear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Vlan1851 -&gt; ththbkkt133vdm0001 [ip_switch]</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no scanned label to compare</a:t>
            </a:r>
            <a:endParaRPr lang="en-US" sz="1300" dirty="0"/>
          </a:p>
        </p:txBody>
      </p:sp>
      <p:sp>
        <p:nvSpPr>
          <p:cNvPr id="22" name="Shape 20"/>
          <p:cNvSpPr/>
          <p:nvPr/>
        </p:nvSpPr>
        <p:spPr>
          <a:xfrm>
            <a:off x="8439912" y="2849880"/>
            <a:ext cx="3246120" cy="355092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014472"/>
            <a:ext cx="64008" cy="3221736"/>
          </a:xfrm>
          <a:prstGeom prst="rect">
            <a:avLst/>
          </a:prstGeom>
          <a:solidFill>
            <a:srgbClr val="E31837"/>
          </a:solidFill>
          <a:ln w="12700">
            <a:solidFill>
              <a:srgbClr val="333333"/>
            </a:solidFill>
            <a:prstDash val="solid"/>
          </a:ln>
        </p:spPr>
      </p:sp>
      <p:sp>
        <p:nvSpPr>
          <p:cNvPr id="24" name="Text 22"/>
          <p:cNvSpPr txBox="1"/>
          <p:nvPr/>
        </p:nvSpPr>
        <p:spPr>
          <a:xfrm>
            <a:off x="8714232" y="300532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279648"/>
            <a:ext cx="457200" cy="0"/>
          </a:xfrm>
          <a:prstGeom prst="line">
            <a:avLst/>
          </a:prstGeom>
          <a:noFill/>
          <a:ln w="19050">
            <a:solidFill>
              <a:srgbClr val="E31837"/>
            </a:solidFill>
            <a:prstDash val="solid"/>
          </a:ln>
        </p:spPr>
      </p:sp>
      <p:sp>
        <p:nvSpPr>
          <p:cNvPr id="26" name="Text 24"/>
          <p:cNvSpPr txBox="1"/>
          <p:nvPr/>
        </p:nvSpPr>
        <p:spPr>
          <a:xfrm>
            <a:off x="8714232" y="332536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ththbkkt133vdm0001</a:t>
            </a:r>
            <a:endParaRPr lang="en-US" sz="1500" dirty="0"/>
          </a:p>
        </p:txBody>
      </p:sp>
      <p:sp>
        <p:nvSpPr>
          <p:cNvPr id="27" name="Text 25"/>
          <p:cNvSpPr txBox="1"/>
          <p:nvPr/>
        </p:nvSpPr>
        <p:spPr>
          <a:xfrm>
            <a:off x="8714232" y="364540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IP Switch</a:t>
            </a:r>
            <a:endParaRPr lang="en-US" sz="1100" dirty="0"/>
          </a:p>
        </p:txBody>
      </p:sp>
      <p:sp>
        <p:nvSpPr>
          <p:cNvPr id="28" name="Text 26"/>
          <p:cNvSpPr txBox="1"/>
          <p:nvPr/>
        </p:nvSpPr>
        <p:spPr>
          <a:xfrm>
            <a:off x="8714232" y="3965448"/>
            <a:ext cx="2715768" cy="172212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165.46.74.3</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FDO2313F05X</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Cisco Systems cat36xxstack</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ip_switch.do?sys_id=04f4cae0fba82e102fe7f7ad5eefdcd3"/>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04f4cae0fba82e102fe7f7ad5eefdcd3"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740  ·  IP LAYERED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172.24.5.68</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1 records / 1 owners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426464"/>
          </a:xfrm>
          <a:prstGeom prst="roundRect">
            <a:avLst>
              <a:gd name="adj" fmla="val 3846"/>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914400"/>
          </a:xfrm>
          <a:prstGeom prst="rect">
            <a:avLst/>
          </a:prstGeom>
          <a:noFill/>
          <a:ln/>
        </p:spPr>
        <p:txBody>
          <a:bodyPr wrap="square" lIns="0" tIns="0" rIns="0" bIns="0" rtlCol="0" anchor="t"/>
          <a:lstStyle/>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No DNS name: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the scan reports only the address, so no phone or name rule could run</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serial (no serial reported)</a:t>
            </a:r>
            <a:endParaRPr lang="en-US" sz="1100" dirty="0"/>
          </a:p>
          <a:p>
            <a:pPr indent="0" marL="0">
              <a:lnSpc>
                <a:spcPct val="100000"/>
              </a:lnSpc>
              <a:buNone/>
            </a:pPr>
            <a:r>
              <a:rPr lang="en-US" sz="11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100" dirty="0">
                <a:solidFill>
                  <a:srgbClr val="4D4F53"/>
                </a:solidFill>
                <a:latin typeface="Arial" pitchFamily="34" charset="0"/>
                <a:ea typeface="Arial" pitchFamily="34" charset="-122"/>
                <a:cs typeface="Arial" pitchFamily="34" charset="-120"/>
              </a:rPr>
              <a:t>member (no service record)  ·  service (no service record)  ·  address (OS "Linux 2.4-2.6 / Embedded Device / F5 Networks Big-IP / ArubaOS" gives no class / no record in the hardware tree carries the address)  ·  adapter (no adapter on the address)</a:t>
            </a:r>
            <a:endParaRPr lang="en-US" sz="1100" dirty="0"/>
          </a:p>
        </p:txBody>
      </p:sp>
      <p:sp>
        <p:nvSpPr>
          <p:cNvPr id="12" name="Shape 10"/>
          <p:cNvSpPr/>
          <p:nvPr/>
        </p:nvSpPr>
        <p:spPr>
          <a:xfrm>
            <a:off x="502920" y="3017520"/>
            <a:ext cx="2788920" cy="338328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17296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447288"/>
            <a:ext cx="457200" cy="0"/>
          </a:xfrm>
          <a:prstGeom prst="line">
            <a:avLst/>
          </a:prstGeom>
          <a:noFill/>
          <a:ln w="19050">
            <a:solidFill>
              <a:srgbClr val="E31837"/>
            </a:solidFill>
            <a:prstDash val="solid"/>
          </a:ln>
        </p:spPr>
      </p:sp>
      <p:sp>
        <p:nvSpPr>
          <p:cNvPr id="15" name="Text 13"/>
          <p:cNvSpPr txBox="1"/>
          <p:nvPr/>
        </p:nvSpPr>
        <p:spPr>
          <a:xfrm>
            <a:off x="740664" y="349300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SDI000002962461</a:t>
            </a:r>
            <a:endParaRPr lang="en-US" sz="1500" dirty="0"/>
          </a:p>
        </p:txBody>
      </p:sp>
      <p:sp>
        <p:nvSpPr>
          <p:cNvPr id="16" name="Text 14"/>
          <p:cNvSpPr txBox="1"/>
          <p:nvPr/>
        </p:nvSpPr>
        <p:spPr>
          <a:xfrm>
            <a:off x="740664" y="3858768"/>
            <a:ext cx="2313432" cy="182880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200" dirty="0">
                <a:solidFill>
                  <a:srgbClr val="4D4F53"/>
                </a:solidFill>
                <a:latin typeface="Arial" pitchFamily="34" charset="0"/>
                <a:ea typeface="Arial" pitchFamily="34" charset="-122"/>
                <a:cs typeface="Arial" pitchFamily="34" charset="-120"/>
              </a:rPr>
              <a:t>(none)</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172.24.5.68</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200" dirty="0">
                <a:solidFill>
                  <a:srgbClr val="4D4F53"/>
                </a:solidFill>
                <a:latin typeface="Arial" pitchFamily="34" charset="0"/>
                <a:ea typeface="Arial" pitchFamily="34" charset="-122"/>
                <a:cs typeface="Arial" pitchFamily="34" charset="-120"/>
              </a:rPr>
              <a:t>Linux 2.4-2.6 / Embedded Device / F5 Networks Big-IP / ArubaOS</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IP</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200" dirty="0">
                <a:solidFill>
                  <a:srgbClr val="4D4F53"/>
                </a:solidFill>
                <a:latin typeface="Arial" pitchFamily="34" charset="0"/>
                <a:ea typeface="Arial" pitchFamily="34" charset="-122"/>
                <a:cs typeface="Arial" pitchFamily="34" charset="-120"/>
              </a:rPr>
              <a:t>2026-09-21 09:18:12</a:t>
            </a:r>
            <a:endParaRPr lang="en-US" sz="1200" dirty="0"/>
          </a:p>
        </p:txBody>
      </p:sp>
      <p:sp>
        <p:nvSpPr>
          <p:cNvPr id="17" name="Text 15">
            <a:hlinkClick r:id="rId1" tooltip="https://bofasecopsdev.service-now.com/sn_sec_cmn_src_ci_list.do?sysparm_query=number=SDI00000296246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246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017520"/>
            <a:ext cx="4745736" cy="3383280"/>
          </a:xfrm>
          <a:prstGeom prst="roundRect">
            <a:avLst>
              <a:gd name="adj" fmla="val 1622"/>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17296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447288"/>
            <a:ext cx="457200" cy="0"/>
          </a:xfrm>
          <a:prstGeom prst="line">
            <a:avLst/>
          </a:prstGeom>
          <a:noFill/>
          <a:ln w="19050">
            <a:solidFill>
              <a:srgbClr val="E31837"/>
            </a:solidFill>
            <a:prstDash val="solid"/>
          </a:ln>
        </p:spPr>
      </p:sp>
      <p:sp>
        <p:nvSpPr>
          <p:cNvPr id="21" name="Text 19"/>
          <p:cNvSpPr txBox="1"/>
          <p:nvPr/>
        </p:nvSpPr>
        <p:spPr>
          <a:xfrm>
            <a:off x="3749040" y="3520440"/>
            <a:ext cx="4233672" cy="272491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"172.24.5.68"; OS "Linux 2.4-2.6 / Embedded Device / F5 Networks Big-IP / ArubaOS" gives no class (a preference for class agreement)</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IP Address records on the address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IP Address record -&gt; adapter bc:38:98:ab:e3:f2 -&gt; kbc3898abe3f2 [computer]</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3   Decision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distinct owning CI; not a load balancer device; no scanned label to compare</a:t>
            </a:r>
            <a:endParaRPr lang="en-US" sz="1300" dirty="0"/>
          </a:p>
        </p:txBody>
      </p:sp>
      <p:sp>
        <p:nvSpPr>
          <p:cNvPr id="22" name="Shape 20"/>
          <p:cNvSpPr/>
          <p:nvPr/>
        </p:nvSpPr>
        <p:spPr>
          <a:xfrm>
            <a:off x="8439912" y="3017520"/>
            <a:ext cx="3246120" cy="3383280"/>
          </a:xfrm>
          <a:prstGeom prst="roundRect">
            <a:avLst>
              <a:gd name="adj" fmla="val 169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182112"/>
            <a:ext cx="64008" cy="3054096"/>
          </a:xfrm>
          <a:prstGeom prst="rect">
            <a:avLst/>
          </a:prstGeom>
          <a:solidFill>
            <a:srgbClr val="E31837"/>
          </a:solidFill>
          <a:ln w="12700">
            <a:solidFill>
              <a:srgbClr val="333333"/>
            </a:solidFill>
            <a:prstDash val="solid"/>
          </a:ln>
        </p:spPr>
      </p:sp>
      <p:sp>
        <p:nvSpPr>
          <p:cNvPr id="24" name="Text 22"/>
          <p:cNvSpPr txBox="1"/>
          <p:nvPr/>
        </p:nvSpPr>
        <p:spPr>
          <a:xfrm>
            <a:off x="8714232" y="317296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447288"/>
            <a:ext cx="457200" cy="0"/>
          </a:xfrm>
          <a:prstGeom prst="line">
            <a:avLst/>
          </a:prstGeom>
          <a:noFill/>
          <a:ln w="19050">
            <a:solidFill>
              <a:srgbClr val="E31837"/>
            </a:solidFill>
            <a:prstDash val="solid"/>
          </a:ln>
        </p:spPr>
      </p:sp>
      <p:sp>
        <p:nvSpPr>
          <p:cNvPr id="26" name="Text 24"/>
          <p:cNvSpPr txBox="1"/>
          <p:nvPr/>
        </p:nvSpPr>
        <p:spPr>
          <a:xfrm>
            <a:off x="8714232" y="3493008"/>
            <a:ext cx="2715768" cy="292608"/>
          </a:xfrm>
          <a:prstGeom prst="rect">
            <a:avLst/>
          </a:prstGeom>
          <a:noFill/>
          <a:ln/>
        </p:spPr>
        <p:txBody>
          <a:bodyPr wrap="square" lIns="0" tIns="0" rIns="0" bIns="0" rtlCol="0" anchor="t"/>
          <a:lstStyle/>
          <a:p>
            <a:pPr indent="0" marL="0">
              <a:buNone/>
            </a:pPr>
            <a:r>
              <a:rPr lang="en-US" sz="1500" b="1" dirty="0">
                <a:solidFill>
                  <a:srgbClr val="012169"/>
                </a:solidFill>
                <a:latin typeface="Arial" pitchFamily="34" charset="0"/>
                <a:ea typeface="Arial" pitchFamily="34" charset="-122"/>
                <a:cs typeface="Arial" pitchFamily="34" charset="-120"/>
              </a:rPr>
              <a:t>kbc3898abe3f2</a:t>
            </a:r>
            <a:endParaRPr lang="en-US" sz="1500" dirty="0"/>
          </a:p>
        </p:txBody>
      </p:sp>
      <p:sp>
        <p:nvSpPr>
          <p:cNvPr id="27" name="Text 25"/>
          <p:cNvSpPr txBox="1"/>
          <p:nvPr/>
        </p:nvSpPr>
        <p:spPr>
          <a:xfrm>
            <a:off x="8714232" y="3813048"/>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Computer</a:t>
            </a:r>
            <a:endParaRPr lang="en-US" sz="1100" dirty="0"/>
          </a:p>
        </p:txBody>
      </p:sp>
      <p:sp>
        <p:nvSpPr>
          <p:cNvPr id="28" name="Text 26"/>
          <p:cNvSpPr txBox="1"/>
          <p:nvPr/>
        </p:nvSpPr>
        <p:spPr>
          <a:xfrm>
            <a:off x="8714232" y="4133088"/>
            <a:ext cx="2715768" cy="1554480"/>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DNS domain  </a:t>
            </a:r>
            <a:pPr indent="0" marL="0">
              <a:spcAft>
                <a:spcPts val="300"/>
              </a:spcAft>
              <a:buNone/>
            </a:pPr>
            <a:r>
              <a:rPr lang="en-US" sz="1200" dirty="0">
                <a:solidFill>
                  <a:srgbClr val="4D4F53"/>
                </a:solidFill>
                <a:latin typeface="Arial" pitchFamily="34" charset="0"/>
                <a:ea typeface="Arial" pitchFamily="34" charset="-122"/>
                <a:cs typeface="Arial" pitchFamily="34" charset="-120"/>
              </a:rPr>
              <a:t>corp.bankofamerica.com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30.179.235.185</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Serial number  </a:t>
            </a:r>
            <a:pPr indent="0" marL="0">
              <a:spcAft>
                <a:spcPts val="300"/>
              </a:spcAft>
              <a:buNone/>
            </a:pPr>
            <a:r>
              <a:rPr lang="en-US" sz="1200" dirty="0">
                <a:solidFill>
                  <a:srgbClr val="4D4F53"/>
                </a:solidFill>
                <a:latin typeface="Arial" pitchFamily="34" charset="0"/>
                <a:ea typeface="Arial" pitchFamily="34" charset="-122"/>
                <a:cs typeface="Arial" pitchFamily="34" charset="-120"/>
              </a:rPr>
              <a:t>5CD451CT4T</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Model  </a:t>
            </a:r>
            <a:pPr indent="0" marL="0">
              <a:spcAft>
                <a:spcPts val="300"/>
              </a:spcAft>
              <a:buNone/>
            </a:pPr>
            <a:r>
              <a:rPr lang="en-US" sz="1200" dirty="0">
                <a:solidFill>
                  <a:srgbClr val="4D4F53"/>
                </a:solidFill>
                <a:latin typeface="Arial" pitchFamily="34" charset="0"/>
                <a:ea typeface="Arial" pitchFamily="34" charset="-122"/>
                <a:cs typeface="Arial" pitchFamily="34" charset="-120"/>
              </a:rPr>
              <a:t>Hewlett Packard ELITEBOOK 630 G11 GWIM</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computer.do?sys_id=587f01782b0eee54d50dffbdbe91bf2d"/>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587f01782b0eee54d50dffbdbe91bf2d"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What it looks for</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1706880"/>
          </a:xfrm>
          <a:prstGeom prst="roundRect">
            <a:avLst>
              <a:gd name="adj" fmla="val 321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37769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10543032" cy="1066800"/>
          </a:xfrm>
          <a:prstGeom prst="rect">
            <a:avLst/>
          </a:prstGeom>
          <a:noFill/>
          <a:ln/>
        </p:spPr>
        <p:txBody>
          <a:bodyPr wrap="square" lIns="0" tIns="0" rIns="0" bIns="0" rtlCol="0" anchor="t"/>
          <a:lstStyle/>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a:t>
            </a:r>
            <a:endParaRPr lang="en-US" sz="1500" dirty="0"/>
          </a:p>
          <a:p>
            <a:pPr marL="177800" indent="-177800">
              <a:lnSpc>
                <a:spcPct val="100000"/>
              </a:lnSpc>
              <a:spcAft>
                <a:spcPts val="600"/>
              </a:spcAft>
              <a:buSzPct val="100000"/>
              <a:buChar char="•"/>
            </a:pPr>
            <a:r>
              <a:rPr lang="en-US" sz="1500" dirty="0">
                <a:solidFill>
                  <a:srgbClr val="4D4F53"/>
                </a:solidFill>
                <a:latin typeface="Arial" pitchFamily="34" charset="0"/>
                <a:ea typeface="Arial" pitchFamily="34" charset="-122"/>
                <a:cs typeface="Arial" pitchFamily="34" charset="-120"/>
              </a:rPr>
              <a:t>It runs last so every more precise rule has had its chance.</a:t>
            </a:r>
            <a:endParaRPr lang="en-US" sz="1500" dirty="0"/>
          </a:p>
        </p:txBody>
      </p:sp>
      <p:sp>
        <p:nvSpPr>
          <p:cNvPr id="13" name="Shape 11"/>
          <p:cNvSpPr/>
          <p:nvPr/>
        </p:nvSpPr>
        <p:spPr>
          <a:xfrm>
            <a:off x="502920" y="3380232"/>
            <a:ext cx="6933529" cy="2286000"/>
          </a:xfrm>
          <a:prstGeom prst="roundRect">
            <a:avLst>
              <a:gd name="adj" fmla="val 2400"/>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4" name="Text 12"/>
          <p:cNvSpPr txBox="1"/>
          <p:nvPr/>
        </p:nvSpPr>
        <p:spPr>
          <a:xfrm>
            <a:off x="822960" y="3563112"/>
            <a:ext cx="6293449"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CONTRACT OF THE SCRIPT</a:t>
            </a:r>
            <a:endParaRPr lang="en-US" sz="950" dirty="0"/>
          </a:p>
        </p:txBody>
      </p:sp>
      <p:sp>
        <p:nvSpPr>
          <p:cNvPr id="15" name="Shape 13"/>
          <p:cNvSpPr/>
          <p:nvPr/>
        </p:nvSpPr>
        <p:spPr>
          <a:xfrm>
            <a:off x="822960" y="3837432"/>
            <a:ext cx="457200" cy="0"/>
          </a:xfrm>
          <a:prstGeom prst="line">
            <a:avLst/>
          </a:prstGeom>
          <a:noFill/>
          <a:ln w="19050">
            <a:solidFill>
              <a:srgbClr val="E31837"/>
            </a:solidFill>
            <a:prstDash val="solid"/>
          </a:ln>
        </p:spPr>
      </p:sp>
      <p:sp>
        <p:nvSpPr>
          <p:cNvPr id="16" name="Text 14"/>
          <p:cNvSpPr txBox="1"/>
          <p:nvPr/>
        </p:nvSpPr>
        <p:spPr>
          <a:xfrm>
            <a:off x="822960" y="3928872"/>
            <a:ext cx="6293449" cy="1554480"/>
          </a:xfrm>
          <a:prstGeom prst="rect">
            <a:avLst/>
          </a:prstGeom>
          <a:noFill/>
          <a:ln/>
        </p:spPr>
        <p:txBody>
          <a:bodyPr wrap="square" lIns="0" tIns="0" rIns="0" bIns="0" rtlCol="0" anchor="t"/>
          <a:lstStyle/>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Reads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Source field DNS (sourceValue). No payload field is read: neither IP nor OS influences the result.</a:t>
            </a:r>
            <a:endParaRPr lang="en-US" sz="1400" dirty="0"/>
          </a:p>
          <a:p>
            <a:pPr indent="0" marL="0">
              <a:lnSpc>
                <a:spcPct val="100000"/>
              </a:lnSpc>
              <a:buNone/>
            </a:pPr>
            <a:r>
              <a:rPr lang="en-US" sz="1400" b="1" dirty="0">
                <a:solidFill>
                  <a:srgbClr val="012169"/>
                </a:solidFill>
                <a:latin typeface="Arial" pitchFamily="34" charset="0"/>
                <a:ea typeface="Arial" pitchFamily="34" charset="-122"/>
                <a:cs typeface="Arial" pitchFamily="34" charset="-120"/>
              </a:rPr>
              <a:t>Returns  </a:t>
            </a:r>
            <a:pPr indent="0" marL="0">
              <a:lnSpc>
                <a:spcPct val="100000"/>
              </a:lnSpc>
              <a:spcAft>
                <a:spcPts val="800"/>
              </a:spcAft>
              <a:buNone/>
            </a:pPr>
            <a:r>
              <a:rPr lang="en-US" sz="1400" dirty="0">
                <a:solidFill>
                  <a:srgbClr val="4D4F53"/>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1400" dirty="0"/>
          </a:p>
        </p:txBody>
      </p:sp>
      <p:sp>
        <p:nvSpPr>
          <p:cNvPr id="17" name="Shape 15"/>
          <p:cNvSpPr/>
          <p:nvPr/>
        </p:nvSpPr>
        <p:spPr>
          <a:xfrm>
            <a:off x="7665049" y="3380232"/>
            <a:ext cx="4020983" cy="2286000"/>
          </a:xfrm>
          <a:prstGeom prst="roundRect">
            <a:avLst>
              <a:gd name="adj" fmla="val 2400"/>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8" name="Text 16"/>
          <p:cNvSpPr txBox="1"/>
          <p:nvPr/>
        </p:nvSpPr>
        <p:spPr>
          <a:xfrm>
            <a:off x="7985089" y="3563112"/>
            <a:ext cx="3380903"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PLACE IN THE CHAIN</a:t>
            </a:r>
            <a:endParaRPr lang="en-US" sz="950" dirty="0"/>
          </a:p>
        </p:txBody>
      </p:sp>
      <p:sp>
        <p:nvSpPr>
          <p:cNvPr id="19" name="Shape 17"/>
          <p:cNvSpPr/>
          <p:nvPr/>
        </p:nvSpPr>
        <p:spPr>
          <a:xfrm>
            <a:off x="7985089" y="3837432"/>
            <a:ext cx="457200" cy="0"/>
          </a:xfrm>
          <a:prstGeom prst="line">
            <a:avLst/>
          </a:prstGeom>
          <a:noFill/>
          <a:ln w="19050">
            <a:solidFill>
              <a:srgbClr val="E31837"/>
            </a:solidFill>
            <a:prstDash val="solid"/>
          </a:ln>
        </p:spPr>
      </p:sp>
      <p:sp>
        <p:nvSpPr>
          <p:cNvPr id="20" name="Text 18"/>
          <p:cNvSpPr txBox="1"/>
          <p:nvPr/>
        </p:nvSpPr>
        <p:spPr>
          <a:xfrm>
            <a:off x="7985089" y="3928872"/>
            <a:ext cx="3380903" cy="5486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Runs after  </a:t>
            </a:r>
            <a:pPr indent="0" marL="0">
              <a:lnSpc>
                <a:spcPct val="100000"/>
              </a:lnSpc>
              <a:spcAft>
                <a:spcPts val="800"/>
              </a:spcAft>
              <a:buNone/>
            </a:pPr>
            <a:r>
              <a:rPr lang="en-US" sz="1000" dirty="0">
                <a:solidFill>
                  <a:srgbClr val="4D4F53"/>
                </a:solidFill>
                <a:latin typeface="Arial" pitchFamily="34" charset="0"/>
                <a:ea typeface="Arial" pitchFamily="34" charset="-122"/>
                <a:cs typeface="Arial" pitchFamily="34" charset="-120"/>
              </a:rPr>
              <a:t>IP Layered Match</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Hands over to  </a:t>
            </a:r>
            <a:pPr indent="0" marL="0">
              <a:lnSpc>
                <a:spcPct val="100000"/>
              </a:lnSpc>
              <a:spcAft>
                <a:spcPts val="800"/>
              </a:spcAft>
              <a:buNone/>
            </a:pPr>
            <a:r>
              <a:rPr lang="en-US" sz="1000" dirty="0">
                <a:solidFill>
                  <a:srgbClr val="4D4F53"/>
                </a:solidFill>
                <a:latin typeface="Arial" pitchFamily="34" charset="0"/>
                <a:ea typeface="Arial" pitchFamily="34" charset="-122"/>
                <a:cs typeface="Arial" pitchFamily="34" charset="-120"/>
              </a:rPr>
              <a:t>the platform's own rules (FQDN, NetBIOS, DNS)</a:t>
            </a:r>
            <a:endParaRPr lang="en-US" sz="1000" dirty="0"/>
          </a:p>
        </p:txBody>
      </p:sp>
      <p:sp>
        <p:nvSpPr>
          <p:cNvPr id="21" name="Text 19"/>
          <p:cNvSpPr txBox="1"/>
          <p:nvPr/>
        </p:nvSpPr>
        <p:spPr>
          <a:xfrm>
            <a:off x="7985089" y="4568952"/>
            <a:ext cx="3380903" cy="548640"/>
          </a:xfrm>
          <a:prstGeom prst="rect">
            <a:avLst/>
          </a:prstGeom>
          <a:noFill/>
          <a:ln/>
        </p:spPr>
        <p:txBody>
          <a:bodyPr wrap="square" lIns="0" tIns="0" rIns="0" bIns="0" rtlCol="0" anchor="b"/>
          <a:lstStyle/>
          <a:p>
            <a:pPr indent="0" marL="0">
              <a:buNone/>
            </a:pPr>
            <a:r>
              <a:rPr lang="en-US" sz="2800" b="1" dirty="0">
                <a:solidFill>
                  <a:srgbClr val="E31837"/>
                </a:solidFill>
                <a:latin typeface="Arial" pitchFamily="34" charset="0"/>
                <a:ea typeface="Arial" pitchFamily="34" charset="-122"/>
                <a:cs typeface="Arial" pitchFamily="34" charset="-120"/>
              </a:rPr>
              <a:t>2,500</a:t>
            </a:r>
            <a:endParaRPr lang="en-US" sz="2800" dirty="0"/>
          </a:p>
        </p:txBody>
      </p:sp>
      <p:sp>
        <p:nvSpPr>
          <p:cNvPr id="22" name="Text 20"/>
          <p:cNvSpPr txBox="1"/>
          <p:nvPr/>
        </p:nvSpPr>
        <p:spPr>
          <a:xfrm>
            <a:off x="7985089" y="5135880"/>
            <a:ext cx="3380903" cy="365760"/>
          </a:xfrm>
          <a:prstGeom prst="rect">
            <a:avLst/>
          </a:prstGeom>
          <a:noFill/>
          <a:ln/>
        </p:spPr>
        <p:txBody>
          <a:bodyPr wrap="square" lIns="0" tIns="0" rIns="0" bIns="0" rtlCol="0" anchor="t"/>
          <a:lstStyle/>
          <a:p>
            <a:pPr indent="0" marL="0">
              <a:buNone/>
            </a:pPr>
            <a:r>
              <a:rPr lang="en-US" sz="950" dirty="0">
                <a:solidFill>
                  <a:srgbClr val="6E7279"/>
                </a:solidFill>
                <a:latin typeface="Arial" pitchFamily="34" charset="0"/>
                <a:ea typeface="Arial" pitchFamily="34" charset="-122"/>
                <a:cs typeface="Arial" pitchFamily="34" charset="-120"/>
              </a:rPr>
              <a:t>discovered items matched by this rule on the development instance</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How the script works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4749800"/>
          </a:xfrm>
          <a:prstGeom prst="roundRect">
            <a:avLst>
              <a:gd name="adj" fmla="val 115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822960" y="1746504"/>
            <a:ext cx="5088636" cy="420116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1   Guard and normalise the DNS value.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2   Require a dotted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3   Build the ignored-class list.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4   Query the root cmdb_ci table on name.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350" dirty="0"/>
          </a:p>
        </p:txBody>
      </p:sp>
      <p:sp>
        <p:nvSpPr>
          <p:cNvPr id="10" name="Text 8"/>
          <p:cNvSpPr txBox="1"/>
          <p:nvPr/>
        </p:nvSpPr>
        <p:spPr>
          <a:xfrm>
            <a:off x="6277356" y="1746504"/>
            <a:ext cx="5088636" cy="4201160"/>
          </a:xfrm>
          <a:prstGeom prst="rect">
            <a:avLst/>
          </a:prstGeom>
          <a:noFill/>
          <a:ln/>
        </p:spPr>
        <p:txBody>
          <a:bodyPr wrap="square" lIns="0" tIns="0" rIns="0" bIns="0" rtlCol="0" anchor="t"/>
          <a:lstStyle/>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5   Take the first row with 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gr.next() is false the rule returns null. Otherwise match holds gr.getUniqueValue() of that first row.</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6   Reject a second row with hasNext().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350" dirty="0"/>
          </a:p>
          <a:p>
            <a:pPr indent="0" marL="0">
              <a:lnSpc>
                <a:spcPct val="100000"/>
              </a:lnSpc>
              <a:buNone/>
            </a:pPr>
            <a:r>
              <a:rPr lang="en-US" sz="1350" b="1" dirty="0">
                <a:solidFill>
                  <a:srgbClr val="012169"/>
                </a:solidFill>
                <a:latin typeface="Arial" pitchFamily="34" charset="0"/>
                <a:ea typeface="Arial" pitchFamily="34" charset="-122"/>
                <a:cs typeface="Arial" pitchFamily="34" charset="-120"/>
              </a:rPr>
              <a:t>7   Return the single match.  </a:t>
            </a:r>
            <a:pPr indent="0" marL="0">
              <a:lnSpc>
                <a:spcPct val="100000"/>
              </a:lnSpc>
              <a:spcAft>
                <a:spcPts val="800"/>
              </a:spcAft>
              <a:buNone/>
            </a:pPr>
            <a:r>
              <a:rPr lang="en-US" sz="1350" dirty="0">
                <a:solidFill>
                  <a:srgbClr val="4D4F53"/>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3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BROAD NAME  ·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FQDN Name Broad Match</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When it declines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444752"/>
            <a:ext cx="11183112" cy="2263140"/>
          </a:xfrm>
          <a:prstGeom prst="roundRect">
            <a:avLst>
              <a:gd name="adj" fmla="val 2424"/>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Shape 7"/>
          <p:cNvSpPr/>
          <p:nvPr/>
        </p:nvSpPr>
        <p:spPr>
          <a:xfrm>
            <a:off x="502920" y="1609344"/>
            <a:ext cx="64008" cy="1933956"/>
          </a:xfrm>
          <a:prstGeom prst="rect">
            <a:avLst/>
          </a:prstGeom>
          <a:solidFill>
            <a:srgbClr val="E31837"/>
          </a:solidFill>
          <a:ln w="12700">
            <a:solidFill>
              <a:srgbClr val="333333"/>
            </a:solidFill>
            <a:prstDash val="solid"/>
          </a:ln>
        </p:spPr>
      </p:sp>
      <p:sp>
        <p:nvSpPr>
          <p:cNvPr id="10" name="Text 8"/>
          <p:cNvSpPr txBox="1"/>
          <p:nvPr/>
        </p:nvSpPr>
        <p:spPr>
          <a:xfrm>
            <a:off x="822960" y="1627632"/>
            <a:ext cx="105430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THE RULE RETURNS NOTHING WHEN</a:t>
            </a:r>
            <a:endParaRPr lang="en-US" sz="950" dirty="0"/>
          </a:p>
        </p:txBody>
      </p:sp>
      <p:sp>
        <p:nvSpPr>
          <p:cNvPr id="11" name="Shape 9"/>
          <p:cNvSpPr/>
          <p:nvPr/>
        </p:nvSpPr>
        <p:spPr>
          <a:xfrm>
            <a:off x="822960" y="1901952"/>
            <a:ext cx="457200" cy="0"/>
          </a:xfrm>
          <a:prstGeom prst="line">
            <a:avLst/>
          </a:prstGeom>
          <a:noFill/>
          <a:ln w="19050">
            <a:solidFill>
              <a:srgbClr val="E31837"/>
            </a:solidFill>
            <a:prstDash val="solid"/>
          </a:ln>
        </p:spPr>
      </p:sp>
      <p:sp>
        <p:nvSpPr>
          <p:cNvPr id="12" name="Text 10"/>
          <p:cNvSpPr txBox="1"/>
          <p:nvPr/>
        </p:nvSpPr>
        <p:spPr>
          <a:xfrm>
            <a:off x="822960"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SourceValue is empty or absent</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The normalised DNS value contains no '.' (a bare hostname)</a:t>
            </a:r>
            <a:endParaRPr lang="en-US" sz="1500" dirty="0"/>
          </a:p>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No cmdb_ci row outside the ignored classes has name equal to the scanned FQDN</a:t>
            </a:r>
            <a:endParaRPr lang="en-US" sz="1500" dirty="0"/>
          </a:p>
        </p:txBody>
      </p:sp>
      <p:sp>
        <p:nvSpPr>
          <p:cNvPr id="13" name="Text 11"/>
          <p:cNvSpPr txBox="1"/>
          <p:nvPr/>
        </p:nvSpPr>
        <p:spPr>
          <a:xfrm>
            <a:off x="6277356" y="1975104"/>
            <a:ext cx="5088636" cy="1623060"/>
          </a:xfrm>
          <a:prstGeom prst="rect">
            <a:avLst/>
          </a:prstGeom>
          <a:noFill/>
          <a:ln/>
        </p:spPr>
        <p:txBody>
          <a:bodyPr wrap="square" lIns="0" tIns="0" rIns="0" bIns="0" rtlCol="0" anchor="t"/>
          <a:lstStyle/>
          <a:p>
            <a:pPr marL="177800" indent="-177800">
              <a:lnSpc>
                <a:spcPct val="100000"/>
              </a:lnSpc>
              <a:spcAft>
                <a:spcPts val="900"/>
              </a:spcAft>
              <a:buSzPct val="100000"/>
              <a:buChar char="•"/>
            </a:pPr>
            <a:r>
              <a:rPr lang="en-US" sz="1500" dirty="0">
                <a:solidFill>
                  <a:srgbClr val="4D4F53"/>
                </a:solidFill>
                <a:latin typeface="Arial" pitchFamily="34" charset="0"/>
                <a:ea typeface="Arial" pitchFamily="34" charset="-122"/>
                <a:cs typeface="Arial" pitchFamily="34" charset="-120"/>
              </a:rPr>
              <a:t>Two or more cmdb_ci rows share that name (gr.hasNext() true), whatever their class, IP or status</a:t>
            </a:r>
            <a:endParaRPr lang="en-US" sz="1500" dirty="0"/>
          </a:p>
        </p:txBody>
      </p:sp>
      <p:sp>
        <p:nvSpPr>
          <p:cNvPr id="14" name="Shape 12"/>
          <p:cNvSpPr/>
          <p:nvPr/>
        </p:nvSpPr>
        <p:spPr>
          <a:xfrm>
            <a:off x="502920" y="3936492"/>
            <a:ext cx="11183112" cy="658368"/>
          </a:xfrm>
          <a:prstGeom prst="roundRect">
            <a:avLst>
              <a:gd name="adj" fmla="val 8333"/>
            </a:avLst>
          </a:prstGeom>
          <a:solidFill>
            <a:srgbClr val="EAF0F8"/>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5" name="Text 13"/>
          <p:cNvSpPr txBox="1"/>
          <p:nvPr/>
        </p:nvSpPr>
        <p:spPr>
          <a:xfrm>
            <a:off x="822960" y="3936492"/>
            <a:ext cx="10543032" cy="658368"/>
          </a:xfrm>
          <a:prstGeom prst="rect">
            <a:avLst/>
          </a:prstGeom>
          <a:noFill/>
          <a:ln/>
        </p:spPr>
        <p:txBody>
          <a:bodyPr wrap="square" lIns="0" tIns="0" rIns="0" bIns="0" rtlCol="0" anchor="ctr"/>
          <a:lstStyle/>
          <a:p>
            <a:pPr indent="0" marL="0">
              <a:buNone/>
            </a:pPr>
            <a:r>
              <a:rPr lang="en-US" sz="1250" dirty="0">
                <a:solidFill>
                  <a:srgbClr val="4D4F53"/>
                </a:solidFill>
                <a:latin typeface="Arial" pitchFamily="34" charset="0"/>
                <a:ea typeface="Arial" pitchFamily="34" charset="-122"/>
                <a:cs typeface="Arial" pitchFamily="34" charset="-120"/>
              </a:rPr>
              <a:t>Every decline hands the host to  </a:t>
            </a:r>
            <a:pPr indent="0" marL="0">
              <a:buNone/>
            </a:pPr>
            <a:r>
              <a:rPr lang="en-US" sz="1250" b="1" dirty="0">
                <a:solidFill>
                  <a:srgbClr val="012169"/>
                </a:solidFill>
                <a:latin typeface="Arial" pitchFamily="34" charset="0"/>
                <a:ea typeface="Arial" pitchFamily="34" charset="-122"/>
                <a:cs typeface="Arial" pitchFamily="34" charset="-120"/>
              </a:rPr>
              <a:t>the platform's own rules (FQDN, NetBIOS, DNS)</a:t>
            </a:r>
            <a:pPr indent="0" marL="0">
              <a:buNone/>
            </a:pPr>
            <a:r>
              <a:rPr lang="en-US" sz="1250" dirty="0">
                <a:solidFill>
                  <a:srgbClr val="4D4F53"/>
                </a:solidFill>
                <a:latin typeface="Arial" pitchFamily="34" charset="0"/>
                <a:ea typeface="Arial" pitchFamily="34" charset="-122"/>
                <a:cs typeface="Arial" pitchFamily="34" charset="-120"/>
              </a:rPr>
              <a:t>.</a:t>
            </a:r>
            <a:endParaRPr lang="en-US" sz="12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1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lrchac13xsdi001.sdi.corp.bankofamerica.com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"lrchac13xsdi001"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"lrchac13xsdi001.sdi.corp.bankofamerica.com")  ·  device name (none named "lrchac13xsdi001" in IP Phone or Imaging Hardware)  ·  whole-fqdn name (no record in the hardware tree named "lrchac13xsdi001.sdi.corp.bankofamerica.com")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"lrchac13xsdi001", none with the domain "sdi.corp.bankofamerica.com")  ·  host name (2 records in linux_server named "lrchac13xsdi001": a tie / 2 records in the hardware tree named "lrchac13xsdi001":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SDI000003669791</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lrchac13xsdi001.sdi.corp.bankofamerica.com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30.38.246.10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06:07:25</a:t>
            </a:r>
            <a:endParaRPr lang="en-US" sz="1000" dirty="0"/>
          </a:p>
        </p:txBody>
      </p:sp>
      <p:sp>
        <p:nvSpPr>
          <p:cNvPr id="17" name="Text 15">
            <a:hlinkClick r:id="rId1" tooltip="https://bofasecopsdev.service-now.com/sn_sec_cmn_src_ci_list.do?sysparm_query=number=SDI000003669791"/>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"lrchac13xsdi001.sdi.corp.bankofamerica.com"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lrchac13xsdi001.sdi.corp.bankofamerica.com [kubernetes_node] ip 30.38.246.10 -&gt;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lrchac13xsdi001.sdi.corp.bankofamerica.com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30.38.246.10</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b0da27023beba690dee4bcdc73e45a10"/>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2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lrchac14xsdi005.sdi.corp.bankofamerica.com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"lrchac14xsdi005"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"lrchac14xsdi005.sdi.corp.bankofamerica.com")  ·  device name (none named "lrchac14xsdi005" in IP Phone or Imaging Hardware)  ·  whole-fqdn name (no record in the hardware tree named "lrchac14xsdi005.sdi.corp.bankofamerica.com")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"lrchac14xsdi005", none with the domain "sdi.corp.bankofamerica.com")  ·  host name (2 records in linux_server named "lrchac14xsdi005": a tie / 2 records in the hardware tree named "lrchac14xsdi005":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SDI000003670195</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lrchac14xsdi005.sdi.corp.bankofamerica.com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30.38.244.14</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06:07:21</a:t>
            </a:r>
            <a:endParaRPr lang="en-US" sz="1000" dirty="0"/>
          </a:p>
        </p:txBody>
      </p:sp>
      <p:sp>
        <p:nvSpPr>
          <p:cNvPr id="17" name="Text 15">
            <a:hlinkClick r:id="rId1" tooltip="https://bofasecopsdev.service-now.com/sn_sec_cmn_src_ci_list.do?sysparm_query=number=SDI000003670195"/>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"lrchac14xsdi005.sdi.corp.bankofamerica.com"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lrchac14xsdi005.sdi.corp.bankofamerica.com [kubernetes_node] ip 30.38.244.14 -&gt;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lrchac14xsdi005.sdi.corp.bankofamerica.com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30.38.244.14</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33e5941293c507103854f05ea903d6aa"/>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33e5941293c507103854f05ea903d6aa"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12169"/>
          </a:solidFill>
          <a:ln w="12700">
            <a:solidFill>
              <a:srgbClr val="333333"/>
            </a:solidFill>
            <a:prstDash val="solid"/>
          </a:ln>
        </p:spPr>
      </p:sp>
      <p:sp>
        <p:nvSpPr>
          <p:cNvPr id="3" name="Shape 1"/>
          <p:cNvSpPr/>
          <p:nvPr/>
        </p:nvSpPr>
        <p:spPr>
          <a:xfrm>
            <a:off x="0" y="109728"/>
            <a:ext cx="1463040" cy="45720"/>
          </a:xfrm>
          <a:prstGeom prst="rect">
            <a:avLst/>
          </a:prstGeom>
          <a:solidFill>
            <a:srgbClr val="E31837"/>
          </a:solidFill>
          <a:ln w="12700">
            <a:solidFill>
              <a:srgbClr val="333333"/>
            </a:solidFill>
            <a:prstDash val="solid"/>
          </a:ln>
        </p:spPr>
      </p:sp>
      <p:sp>
        <p:nvSpPr>
          <p:cNvPr id="4" name="Text 2"/>
          <p:cNvSpPr txBox="1"/>
          <p:nvPr/>
        </p:nvSpPr>
        <p:spPr>
          <a:xfrm>
            <a:off x="502920" y="292608"/>
            <a:ext cx="11183112" cy="237744"/>
          </a:xfrm>
          <a:prstGeom prst="rect">
            <a:avLst/>
          </a:prstGeom>
          <a:noFill/>
          <a:ln/>
        </p:spPr>
        <p:txBody>
          <a:bodyPr wrap="square" lIns="0" tIns="0" rIns="0" bIns="0" rtlCol="0" anchor="ctr"/>
          <a:lstStyle/>
          <a:p>
            <a:pPr indent="0" marL="0">
              <a:buNone/>
            </a:pPr>
            <a:r>
              <a:rPr lang="en-US" sz="1050" b="1" spc="180" kern="0" dirty="0">
                <a:solidFill>
                  <a:srgbClr val="E31837"/>
                </a:solidFill>
                <a:latin typeface="Arial" pitchFamily="34" charset="0"/>
                <a:ea typeface="Arial" pitchFamily="34" charset="-122"/>
                <a:cs typeface="Arial" pitchFamily="34" charset="-120"/>
              </a:rPr>
              <a:t>RULE 850  ·  FQDN NAME BROAD MATCH  ·  EXAMPLE 3 OF 3</a:t>
            </a:r>
            <a:endParaRPr lang="en-US" sz="1050" dirty="0"/>
          </a:p>
        </p:txBody>
      </p:sp>
      <p:sp>
        <p:nvSpPr>
          <p:cNvPr id="5" name="Text 3"/>
          <p:cNvSpPr txBox="1"/>
          <p:nvPr/>
        </p:nvSpPr>
        <p:spPr>
          <a:xfrm>
            <a:off x="502920" y="512064"/>
            <a:ext cx="11183112" cy="530352"/>
          </a:xfrm>
          <a:prstGeom prst="rect">
            <a:avLst/>
          </a:prstGeom>
          <a:noFill/>
          <a:ln/>
        </p:spPr>
        <p:txBody>
          <a:bodyPr wrap="square" lIns="0" tIns="0" rIns="0" bIns="0" rtlCol="0" anchor="t"/>
          <a:lstStyle/>
          <a:p>
            <a:pPr indent="0" marL="0">
              <a:buNone/>
            </a:pPr>
            <a:r>
              <a:rPr lang="en-US" sz="2700" b="1" dirty="0">
                <a:solidFill>
                  <a:srgbClr val="1F2A44"/>
                </a:solidFill>
                <a:latin typeface="Arial" pitchFamily="34" charset="0"/>
                <a:ea typeface="Arial" pitchFamily="34" charset="-122"/>
                <a:cs typeface="Arial" pitchFamily="34" charset="-120"/>
              </a:rPr>
              <a:t>lrchac14xsdi013.sdi.corp.bankofamerica.com</a:t>
            </a:r>
            <a:endParaRPr lang="en-US" sz="2700" dirty="0"/>
          </a:p>
        </p:txBody>
      </p:sp>
      <p:sp>
        <p:nvSpPr>
          <p:cNvPr id="6" name="Text 4"/>
          <p:cNvSpPr txBox="1"/>
          <p:nvPr/>
        </p:nvSpPr>
        <p:spPr>
          <a:xfrm>
            <a:off x="502920" y="1024128"/>
            <a:ext cx="11183112" cy="274320"/>
          </a:xfrm>
          <a:prstGeom prst="rect">
            <a:avLst/>
          </a:prstGeom>
          <a:noFill/>
          <a:ln/>
        </p:spPr>
        <p:txBody>
          <a:bodyPr wrap="square" lIns="0" tIns="0" rIns="0" bIns="0" rtlCol="0" anchor="t"/>
          <a:lstStyle/>
          <a:p>
            <a:pPr indent="0" marL="0">
              <a:buNone/>
            </a:pPr>
            <a:r>
              <a:rPr lang="en-US" sz="1250" dirty="0">
                <a:solidFill>
                  <a:srgbClr val="6E7279"/>
                </a:solidFill>
                <a:latin typeface="Arial" pitchFamily="34" charset="0"/>
                <a:ea typeface="Arial" pitchFamily="34" charset="-122"/>
                <a:cs typeface="Arial" pitchFamily="34" charset="-120"/>
              </a:rPr>
              <a:t>Path through the rule  ·  kubernetes_node / 1 rows</a:t>
            </a:r>
            <a:endParaRPr lang="en-US" sz="1250" dirty="0"/>
          </a:p>
        </p:txBody>
      </p:sp>
      <p:sp>
        <p:nvSpPr>
          <p:cNvPr id="7" name="Text 5"/>
          <p:cNvSpPr txBox="1"/>
          <p:nvPr/>
        </p:nvSpPr>
        <p:spPr>
          <a:xfrm>
            <a:off x="502920" y="6510528"/>
            <a:ext cx="7315200" cy="201168"/>
          </a:xfrm>
          <a:prstGeom prst="rect">
            <a:avLst/>
          </a:prstGeom>
          <a:noFill/>
          <a:ln/>
        </p:spPr>
        <p:txBody>
          <a:bodyPr wrap="square" lIns="0" tIns="0" rIns="0" bIns="0" rtlCol="0" anchor="ctr"/>
          <a:lstStyle/>
          <a:p>
            <a:pPr indent="0" marL="0">
              <a:buNone/>
            </a:pPr>
            <a:r>
              <a:rPr lang="en-US" sz="850" dirty="0">
                <a:solidFill>
                  <a:srgbClr val="6E7279"/>
                </a:solidFill>
                <a:latin typeface="Arial" pitchFamily="34" charset="0"/>
                <a:ea typeface="Arial" pitchFamily="34" charset="-122"/>
                <a:cs typeface="Arial" pitchFamily="34" charset="-120"/>
              </a:rPr>
              <a:t>Qualys CI Lookup Rules  ·  CMDB team demo</a:t>
            </a:r>
            <a:endParaRPr lang="en-US" sz="850" dirty="0"/>
          </a:p>
        </p:txBody>
      </p:sp>
      <p:sp>
        <p:nvSpPr>
          <p:cNvPr id="8" name="Shape 6"/>
          <p:cNvSpPr/>
          <p:nvPr/>
        </p:nvSpPr>
        <p:spPr>
          <a:xfrm>
            <a:off x="502920" y="1389888"/>
            <a:ext cx="11183112" cy="1975104"/>
          </a:xfrm>
          <a:prstGeom prst="roundRect">
            <a:avLst>
              <a:gd name="adj" fmla="val 2778"/>
            </a:avLst>
          </a:prstGeom>
          <a:solidFill>
            <a:srgbClr val="F7F9FC"/>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9" name="Text 7"/>
          <p:cNvSpPr txBox="1"/>
          <p:nvPr/>
        </p:nvSpPr>
        <p:spPr>
          <a:xfrm>
            <a:off x="758952" y="1527048"/>
            <a:ext cx="10671048"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WHY THIS RULE AND NOT AN EARLIER ONE</a:t>
            </a:r>
            <a:endParaRPr lang="en-US" sz="950" dirty="0"/>
          </a:p>
        </p:txBody>
      </p:sp>
      <p:sp>
        <p:nvSpPr>
          <p:cNvPr id="10" name="Shape 8"/>
          <p:cNvSpPr/>
          <p:nvPr/>
        </p:nvSpPr>
        <p:spPr>
          <a:xfrm>
            <a:off x="758952" y="1801368"/>
            <a:ext cx="457200" cy="0"/>
          </a:xfrm>
          <a:prstGeom prst="line">
            <a:avLst/>
          </a:prstGeom>
          <a:noFill/>
          <a:ln w="19050">
            <a:solidFill>
              <a:srgbClr val="E31837"/>
            </a:solidFill>
            <a:prstDash val="solid"/>
          </a:ln>
        </p:spPr>
      </p:sp>
      <p:sp>
        <p:nvSpPr>
          <p:cNvPr id="11" name="Text 9"/>
          <p:cNvSpPr txBox="1"/>
          <p:nvPr/>
        </p:nvSpPr>
        <p:spPr>
          <a:xfrm>
            <a:off x="758952" y="1847088"/>
            <a:ext cx="10671048" cy="1463040"/>
          </a:xfrm>
          <a:prstGeom prst="rect">
            <a:avLst/>
          </a:prstGeom>
          <a:noFill/>
          <a:ln/>
        </p:spPr>
        <p:txBody>
          <a:bodyPr wrap="square" lIns="0" tIns="0" rIns="0" bIns="0" rtlCol="0" anchor="t"/>
          <a:lstStyle/>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Skipped, their sign is absent: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serial (no serial reported)  ·  phone MAC (label "lrchac14xsdi013" is not sep + 12 hex)  ·  controller (no controller suffix or OS word)  ·  interface (no interface domain or marker)  ·  member (no VIP sign)  ·  service (no VIP sign)</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nothing found: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FQDN (no record in the hardware tree carries the fqdn)  ·  layered DNS (no DNS Name record for "lrchac14xsdi013.sdi.corp.bankofamerica.com")  ·  device name (none named "lrchac14xsdi013" in IP Phone or Imaging Hardware)  ·  whole-fqdn name (no record in the hardware tree named "lrchac14xsdi013.sdi.corp.bankofamerica.com")  ·  adapter (no adapter on the address)  ·  IP Address record (no IP Address record on the address)</a:t>
            </a:r>
            <a:endParaRPr lang="en-US" sz="1000" dirty="0"/>
          </a:p>
          <a:p>
            <a:pPr indent="0" marL="0">
              <a:lnSpc>
                <a:spcPct val="100000"/>
              </a:lnSpc>
              <a:buNone/>
            </a:pPr>
            <a:r>
              <a:rPr lang="en-US" sz="1000" b="1" dirty="0">
                <a:solidFill>
                  <a:srgbClr val="012169"/>
                </a:solidFill>
                <a:latin typeface="Arial" pitchFamily="34" charset="0"/>
                <a:ea typeface="Arial" pitchFamily="34" charset="-122"/>
                <a:cs typeface="Arial" pitchFamily="34" charset="-120"/>
              </a:rPr>
              <a:t>Searched, no single acceptable record:  </a:t>
            </a:r>
            <a:pPr indent="0" marL="0">
              <a:lnSpc>
                <a:spcPct val="100000"/>
              </a:lnSpc>
              <a:spcAft>
                <a:spcPts val="400"/>
              </a:spcAft>
              <a:buNone/>
            </a:pPr>
            <a:r>
              <a:rPr lang="en-US" sz="1000" dirty="0">
                <a:solidFill>
                  <a:srgbClr val="4D4F53"/>
                </a:solidFill>
                <a:latin typeface="Arial" pitchFamily="34" charset="0"/>
                <a:ea typeface="Arial" pitchFamily="34" charset="-122"/>
                <a:cs typeface="Arial" pitchFamily="34" charset="-120"/>
              </a:rPr>
              <a:t>name + domain (2 named "lrchac14xsdi013", none with the domain "sdi.corp.bankofamerica.com")  ·  host name (2 records in linux_server named "lrchac14xsdi013": a tie / 2 records in the hardware tree named "lrchac14xsdi013": a tie)  ·  address (2 records in linux_server carry the address: a tie / 2 records in the hardware tree carry the address: a tie)</a:t>
            </a:r>
            <a:endParaRPr lang="en-US" sz="1000" dirty="0"/>
          </a:p>
        </p:txBody>
      </p:sp>
      <p:sp>
        <p:nvSpPr>
          <p:cNvPr id="12" name="Shape 10"/>
          <p:cNvSpPr/>
          <p:nvPr/>
        </p:nvSpPr>
        <p:spPr>
          <a:xfrm>
            <a:off x="502920" y="3566160"/>
            <a:ext cx="2788920" cy="2834640"/>
          </a:xfrm>
          <a:prstGeom prst="roundRect">
            <a:avLst>
              <a:gd name="adj" fmla="val 1967"/>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3" name="Text 11"/>
          <p:cNvSpPr txBox="1"/>
          <p:nvPr/>
        </p:nvSpPr>
        <p:spPr>
          <a:xfrm>
            <a:off x="740664" y="3721608"/>
            <a:ext cx="231343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14" name="Shape 12"/>
          <p:cNvSpPr/>
          <p:nvPr/>
        </p:nvSpPr>
        <p:spPr>
          <a:xfrm>
            <a:off x="740664" y="3995928"/>
            <a:ext cx="457200" cy="0"/>
          </a:xfrm>
          <a:prstGeom prst="line">
            <a:avLst/>
          </a:prstGeom>
          <a:noFill/>
          <a:ln w="19050">
            <a:solidFill>
              <a:srgbClr val="E31837"/>
            </a:solidFill>
            <a:prstDash val="solid"/>
          </a:ln>
        </p:spPr>
      </p:sp>
      <p:sp>
        <p:nvSpPr>
          <p:cNvPr id="15" name="Text 13"/>
          <p:cNvSpPr txBox="1"/>
          <p:nvPr/>
        </p:nvSpPr>
        <p:spPr>
          <a:xfrm>
            <a:off x="740664" y="4041648"/>
            <a:ext cx="2313432" cy="310896"/>
          </a:xfrm>
          <a:prstGeom prst="rect">
            <a:avLst/>
          </a:prstGeom>
          <a:noFill/>
          <a:ln/>
        </p:spPr>
        <p:txBody>
          <a:bodyPr wrap="square" lIns="0" tIns="0" rIns="0" bIns="0" rtlCol="0" anchor="ctr"/>
          <a:lstStyle/>
          <a:p>
            <a:pPr indent="0" marL="0">
              <a:buNone/>
            </a:pPr>
            <a:r>
              <a:rPr lang="en-US" sz="1500" b="1" dirty="0">
                <a:solidFill>
                  <a:srgbClr val="1F2A44"/>
                </a:solidFill>
                <a:latin typeface="Arial" pitchFamily="34" charset="0"/>
                <a:ea typeface="Arial" pitchFamily="34" charset="-122"/>
                <a:cs typeface="Arial" pitchFamily="34" charset="-120"/>
              </a:rPr>
              <a:t>SDI000003670186</a:t>
            </a:r>
            <a:endParaRPr lang="en-US" sz="1500" dirty="0"/>
          </a:p>
        </p:txBody>
      </p:sp>
      <p:sp>
        <p:nvSpPr>
          <p:cNvPr id="16" name="Text 14"/>
          <p:cNvSpPr txBox="1"/>
          <p:nvPr/>
        </p:nvSpPr>
        <p:spPr>
          <a:xfrm>
            <a:off x="740664" y="4407408"/>
            <a:ext cx="2313432" cy="1280160"/>
          </a:xfrm>
          <a:prstGeom prst="rect">
            <a:avLst/>
          </a:prstGeom>
          <a:noFill/>
          <a:ln/>
        </p:spPr>
        <p:txBody>
          <a:bodyPr wrap="square" lIns="0" tIns="0" rIns="0" bIns="0" rtlCol="0" anchor="t"/>
          <a:lstStyle/>
          <a:p>
            <a:pPr indent="0" marL="0">
              <a:buNone/>
            </a:pPr>
            <a:r>
              <a:rPr lang="en-US" sz="1000" b="1" dirty="0">
                <a:solidFill>
                  <a:srgbClr val="6E7279"/>
                </a:solidFill>
                <a:latin typeface="Arial" pitchFamily="34" charset="0"/>
                <a:ea typeface="Arial" pitchFamily="34" charset="-122"/>
                <a:cs typeface="Arial" pitchFamily="34" charset="-120"/>
              </a:rPr>
              <a:t>DNS name  </a:t>
            </a:r>
            <a:pPr indent="0" marL="0">
              <a:spcAft>
                <a:spcPts val="300"/>
              </a:spcAft>
              <a:buNone/>
            </a:pPr>
            <a:r>
              <a:rPr lang="en-US" sz="1000" dirty="0">
                <a:solidFill>
                  <a:srgbClr val="4D4F53"/>
                </a:solidFill>
                <a:latin typeface="Arial" pitchFamily="34" charset="0"/>
                <a:ea typeface="Arial" pitchFamily="34" charset="-122"/>
                <a:cs typeface="Arial" pitchFamily="34" charset="-120"/>
              </a:rPr>
              <a:t>lrchac14xsdi013.sdi.corp.bankofamerica.com</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000" dirty="0">
                <a:solidFill>
                  <a:srgbClr val="4D4F53"/>
                </a:solidFill>
                <a:latin typeface="Arial" pitchFamily="34" charset="0"/>
                <a:ea typeface="Arial" pitchFamily="34" charset="-122"/>
                <a:cs typeface="Arial" pitchFamily="34" charset="-120"/>
              </a:rPr>
              <a:t>30.38.244.22</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Operating system  </a:t>
            </a:r>
            <a:pPr indent="0" marL="0">
              <a:spcAft>
                <a:spcPts val="300"/>
              </a:spcAft>
              <a:buNone/>
            </a:pPr>
            <a:r>
              <a:rPr lang="en-US" sz="1000" dirty="0">
                <a:solidFill>
                  <a:srgbClr val="4D4F53"/>
                </a:solidFill>
                <a:latin typeface="Arial" pitchFamily="34" charset="0"/>
                <a:ea typeface="Arial" pitchFamily="34" charset="-122"/>
                <a:cs typeface="Arial" pitchFamily="34" charset="-120"/>
              </a:rPr>
              <a:t>Red Hat Enterprise Linux CoreOS 4.20</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Tracking  </a:t>
            </a:r>
            <a:pPr indent="0" marL="0">
              <a:spcAft>
                <a:spcPts val="300"/>
              </a:spcAft>
              <a:buNone/>
            </a:pPr>
            <a:r>
              <a:rPr lang="en-US" sz="1000" dirty="0">
                <a:solidFill>
                  <a:srgbClr val="4D4F53"/>
                </a:solidFill>
                <a:latin typeface="Arial" pitchFamily="34" charset="0"/>
                <a:ea typeface="Arial" pitchFamily="34" charset="-122"/>
                <a:cs typeface="Arial" pitchFamily="34" charset="-120"/>
              </a:rPr>
              <a:t>AGENT</a:t>
            </a:r>
            <a:endParaRPr lang="en-US" sz="1000" dirty="0"/>
          </a:p>
          <a:p>
            <a:pPr indent="0" marL="0">
              <a:buNone/>
            </a:pPr>
            <a:r>
              <a:rPr lang="en-US" sz="1000" b="1" dirty="0">
                <a:solidFill>
                  <a:srgbClr val="6E7279"/>
                </a:solidFill>
                <a:latin typeface="Arial" pitchFamily="34" charset="0"/>
                <a:ea typeface="Arial" pitchFamily="34" charset="-122"/>
                <a:cs typeface="Arial" pitchFamily="34" charset="-120"/>
              </a:rPr>
              <a:t>Last evaluated  </a:t>
            </a:r>
            <a:pPr indent="0" marL="0">
              <a:spcAft>
                <a:spcPts val="300"/>
              </a:spcAft>
              <a:buNone/>
            </a:pPr>
            <a:r>
              <a:rPr lang="en-US" sz="1000" dirty="0">
                <a:solidFill>
                  <a:srgbClr val="4D4F53"/>
                </a:solidFill>
                <a:latin typeface="Arial" pitchFamily="34" charset="0"/>
                <a:ea typeface="Arial" pitchFamily="34" charset="-122"/>
                <a:cs typeface="Arial" pitchFamily="34" charset="-120"/>
              </a:rPr>
              <a:t>2026-09-21 06:07:05</a:t>
            </a:r>
            <a:endParaRPr lang="en-US" sz="1000" dirty="0"/>
          </a:p>
        </p:txBody>
      </p:sp>
      <p:sp>
        <p:nvSpPr>
          <p:cNvPr id="17" name="Text 15">
            <a:hlinkClick r:id="rId1" tooltip="https://bofasecopsdev.service-now.com/sn_sec_cmn_src_ci_list.do?sysparm_query=number=SDI000003670186"/>
          </p:cNvPr>
          <p:cNvSpPr txBox="1"/>
          <p:nvPr/>
        </p:nvSpPr>
        <p:spPr>
          <a:xfrm>
            <a:off x="740664" y="6035040"/>
            <a:ext cx="2313432"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18" name="Shape 16"/>
          <p:cNvSpPr/>
          <p:nvPr/>
        </p:nvSpPr>
        <p:spPr>
          <a:xfrm>
            <a:off x="3493008" y="3566160"/>
            <a:ext cx="4745736"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19" name="Text 17"/>
          <p:cNvSpPr txBox="1"/>
          <p:nvPr/>
        </p:nvSpPr>
        <p:spPr>
          <a:xfrm>
            <a:off x="3749040" y="3721608"/>
            <a:ext cx="4233672"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20" name="Shape 18"/>
          <p:cNvSpPr/>
          <p:nvPr/>
        </p:nvSpPr>
        <p:spPr>
          <a:xfrm>
            <a:off x="3749040" y="3995928"/>
            <a:ext cx="457200" cy="0"/>
          </a:xfrm>
          <a:prstGeom prst="line">
            <a:avLst/>
          </a:prstGeom>
          <a:noFill/>
          <a:ln w="19050">
            <a:solidFill>
              <a:srgbClr val="E31837"/>
            </a:solidFill>
            <a:prstDash val="solid"/>
          </a:ln>
        </p:spPr>
      </p:sp>
      <p:sp>
        <p:nvSpPr>
          <p:cNvPr id="21" name="Text 19"/>
          <p:cNvSpPr txBox="1"/>
          <p:nvPr/>
        </p:nvSpPr>
        <p:spPr>
          <a:xfrm>
            <a:off x="3749040" y="4069080"/>
            <a:ext cx="4233672" cy="2176272"/>
          </a:xfrm>
          <a:prstGeom prst="rect">
            <a:avLst/>
          </a:prstGeom>
          <a:noFill/>
          <a:ln/>
        </p:spPr>
        <p:txBody>
          <a:bodyPr wrap="square" lIns="0" tIns="0" rIns="0" bIns="0" rtlCol="0" anchor="t"/>
          <a:lstStyle/>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1   Name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"lrchac14xsdi013.sdi.corp.bankofamerica.com" searched on the name field of every CI class</a:t>
            </a:r>
            <a:endParaRPr lang="en-US" sz="1300" dirty="0"/>
          </a:p>
          <a:p>
            <a:pPr indent="0" marL="0">
              <a:lnSpc>
                <a:spcPct val="100000"/>
              </a:lnSpc>
              <a:buNone/>
            </a:pPr>
            <a:r>
              <a:rPr lang="en-US" sz="1300" b="1" dirty="0">
                <a:solidFill>
                  <a:srgbClr val="012169"/>
                </a:solidFill>
                <a:latin typeface="Arial" pitchFamily="34" charset="0"/>
                <a:ea typeface="Arial" pitchFamily="34" charset="-122"/>
                <a:cs typeface="Arial" pitchFamily="34" charset="-120"/>
              </a:rPr>
              <a:t>2   Records named with the whole fqdn  </a:t>
            </a:r>
            <a:pPr indent="0" marL="0">
              <a:lnSpc>
                <a:spcPct val="100000"/>
              </a:lnSpc>
              <a:spcAft>
                <a:spcPts val="700"/>
              </a:spcAft>
              <a:buNone/>
            </a:pPr>
            <a:r>
              <a:rPr lang="en-US" sz="1300" dirty="0">
                <a:solidFill>
                  <a:srgbClr val="4D4F53"/>
                </a:solidFill>
                <a:latin typeface="Arial" pitchFamily="34" charset="0"/>
                <a:ea typeface="Arial" pitchFamily="34" charset="-122"/>
                <a:cs typeface="Arial" pitchFamily="34" charset="-120"/>
              </a:rPr>
              <a:t>1 record: lrchac14xsdi013.sdi.corp.bankofamerica.com [kubernetes_node] ip 30.38.244.22 -&gt; exactly one, accepted</a:t>
            </a:r>
            <a:endParaRPr lang="en-US" sz="1300" dirty="0"/>
          </a:p>
        </p:txBody>
      </p:sp>
      <p:sp>
        <p:nvSpPr>
          <p:cNvPr id="22" name="Shape 20"/>
          <p:cNvSpPr/>
          <p:nvPr/>
        </p:nvSpPr>
        <p:spPr>
          <a:xfrm>
            <a:off x="8439912" y="3566160"/>
            <a:ext cx="3246120" cy="2834640"/>
          </a:xfrm>
          <a:prstGeom prst="roundRect">
            <a:avLst>
              <a:gd name="adj" fmla="val 1935"/>
            </a:avLst>
          </a:prstGeom>
          <a:solidFill>
            <a:srgbClr val="FFFFFF"/>
          </a:solidFill>
          <a:ln w="9525">
            <a:solidFill>
              <a:srgbClr val="D8DDE6"/>
            </a:solidFill>
            <a:prstDash val="solid"/>
          </a:ln>
          <a:effectLst>
            <a:outerShdw sx="100000" sy="100000" kx="0" ky="0" algn="bl" rotWithShape="0" blurRad="63500" dist="12700" dir="5400000">
              <a:srgbClr val="A7ADB8">
                <a:alpha val="22000"/>
              </a:srgbClr>
            </a:outerShdw>
          </a:effectLst>
        </p:spPr>
      </p:sp>
      <p:sp>
        <p:nvSpPr>
          <p:cNvPr id="23" name="Shape 21"/>
          <p:cNvSpPr/>
          <p:nvPr/>
        </p:nvSpPr>
        <p:spPr>
          <a:xfrm>
            <a:off x="8439912" y="3730752"/>
            <a:ext cx="64008" cy="2505456"/>
          </a:xfrm>
          <a:prstGeom prst="rect">
            <a:avLst/>
          </a:prstGeom>
          <a:solidFill>
            <a:srgbClr val="E31837"/>
          </a:solidFill>
          <a:ln w="12700">
            <a:solidFill>
              <a:srgbClr val="333333"/>
            </a:solidFill>
            <a:prstDash val="solid"/>
          </a:ln>
        </p:spPr>
      </p:sp>
      <p:sp>
        <p:nvSpPr>
          <p:cNvPr id="24" name="Text 22"/>
          <p:cNvSpPr txBox="1"/>
          <p:nvPr/>
        </p:nvSpPr>
        <p:spPr>
          <a:xfrm>
            <a:off x="8714232" y="3721608"/>
            <a:ext cx="2734056" cy="237744"/>
          </a:xfrm>
          <a:prstGeom prst="rect">
            <a:avLst/>
          </a:prstGeom>
          <a:noFill/>
          <a:ln/>
        </p:spPr>
        <p:txBody>
          <a:bodyPr wrap="square" lIns="0" tIns="0" rIns="0" bIns="0" rtlCol="0" anchor="ctr"/>
          <a:lstStyle/>
          <a:p>
            <a:pPr indent="0" marL="0">
              <a:buNone/>
            </a:pPr>
            <a:r>
              <a:rPr lang="en-US" sz="950" b="1" spc="140" kern="0" dirty="0">
                <a:solidFill>
                  <a:srgbClr val="012169"/>
                </a:solidFill>
                <a:latin typeface="Arial" pitchFamily="34" charset="0"/>
                <a:ea typeface="Arial" pitchFamily="34" charset="-122"/>
                <a:cs typeface="Arial" pitchFamily="34" charset="-120"/>
              </a:rPr>
              <a:t>CI MATCHED</a:t>
            </a:r>
            <a:endParaRPr lang="en-US" sz="950" dirty="0"/>
          </a:p>
        </p:txBody>
      </p:sp>
      <p:sp>
        <p:nvSpPr>
          <p:cNvPr id="25" name="Shape 23"/>
          <p:cNvSpPr/>
          <p:nvPr/>
        </p:nvSpPr>
        <p:spPr>
          <a:xfrm>
            <a:off x="8714232" y="3995928"/>
            <a:ext cx="457200" cy="0"/>
          </a:xfrm>
          <a:prstGeom prst="line">
            <a:avLst/>
          </a:prstGeom>
          <a:noFill/>
          <a:ln w="19050">
            <a:solidFill>
              <a:srgbClr val="E31837"/>
            </a:solidFill>
            <a:prstDash val="solid"/>
          </a:ln>
        </p:spPr>
      </p:sp>
      <p:sp>
        <p:nvSpPr>
          <p:cNvPr id="26" name="Text 24"/>
          <p:cNvSpPr txBox="1"/>
          <p:nvPr/>
        </p:nvSpPr>
        <p:spPr>
          <a:xfrm>
            <a:off x="8714232" y="4041648"/>
            <a:ext cx="2715768" cy="402336"/>
          </a:xfrm>
          <a:prstGeom prst="rect">
            <a:avLst/>
          </a:prstGeom>
          <a:noFill/>
          <a:ln/>
        </p:spPr>
        <p:txBody>
          <a:bodyPr wrap="square" lIns="0" tIns="0" rIns="0" bIns="0" rtlCol="0" anchor="t"/>
          <a:lstStyle/>
          <a:p>
            <a:pPr indent="0" marL="0">
              <a:buNone/>
            </a:pPr>
            <a:r>
              <a:rPr lang="en-US" sz="1200" b="1" dirty="0">
                <a:solidFill>
                  <a:srgbClr val="012169"/>
                </a:solidFill>
                <a:latin typeface="Arial" pitchFamily="34" charset="0"/>
                <a:ea typeface="Arial" pitchFamily="34" charset="-122"/>
                <a:cs typeface="Arial" pitchFamily="34" charset="-120"/>
              </a:rPr>
              <a:t>lrchac14xsdi013.sdi.corp.bankofamerica.com</a:t>
            </a:r>
            <a:endParaRPr lang="en-US" sz="1200" dirty="0"/>
          </a:p>
        </p:txBody>
      </p:sp>
      <p:sp>
        <p:nvSpPr>
          <p:cNvPr id="27" name="Text 25"/>
          <p:cNvSpPr txBox="1"/>
          <p:nvPr/>
        </p:nvSpPr>
        <p:spPr>
          <a:xfrm>
            <a:off x="8714232" y="4471416"/>
            <a:ext cx="2715768" cy="237744"/>
          </a:xfrm>
          <a:prstGeom prst="rect">
            <a:avLst/>
          </a:prstGeom>
          <a:noFill/>
          <a:ln/>
        </p:spPr>
        <p:txBody>
          <a:bodyPr wrap="square" lIns="0" tIns="0" rIns="0" bIns="0" rtlCol="0" anchor="ctr"/>
          <a:lstStyle/>
          <a:p>
            <a:pPr indent="0" marL="0">
              <a:buNone/>
            </a:pPr>
            <a:r>
              <a:rPr lang="en-US" sz="1100" b="1" dirty="0">
                <a:solidFill>
                  <a:srgbClr val="E31837"/>
                </a:solidFill>
                <a:latin typeface="Arial" pitchFamily="34" charset="0"/>
                <a:ea typeface="Arial" pitchFamily="34" charset="-122"/>
                <a:cs typeface="Arial" pitchFamily="34" charset="-120"/>
              </a:rPr>
              <a:t>Kubernetes Node</a:t>
            </a:r>
            <a:endParaRPr lang="en-US" sz="1100" dirty="0"/>
          </a:p>
        </p:txBody>
      </p:sp>
      <p:sp>
        <p:nvSpPr>
          <p:cNvPr id="28" name="Text 26"/>
          <p:cNvSpPr txBox="1"/>
          <p:nvPr/>
        </p:nvSpPr>
        <p:spPr>
          <a:xfrm>
            <a:off x="8714232" y="4791456"/>
            <a:ext cx="2715768" cy="896112"/>
          </a:xfrm>
          <a:prstGeom prst="rect">
            <a:avLst/>
          </a:prstGeom>
          <a:noFill/>
          <a:ln/>
        </p:spPr>
        <p:txBody>
          <a:bodyPr wrap="square" lIns="0" tIns="0" rIns="0" bIns="0" rtlCol="0" anchor="t"/>
          <a:lstStyle/>
          <a:p>
            <a:pPr indent="0" marL="0">
              <a:buNone/>
            </a:pPr>
            <a:r>
              <a:rPr lang="en-US" sz="1200" b="1" dirty="0">
                <a:solidFill>
                  <a:srgbClr val="6E7279"/>
                </a:solidFill>
                <a:latin typeface="Arial" pitchFamily="34" charset="0"/>
                <a:ea typeface="Arial" pitchFamily="34" charset="-122"/>
                <a:cs typeface="Arial" pitchFamily="34" charset="-120"/>
              </a:rPr>
              <a:t>IP address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30.38.244.22</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Install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Installed</a:t>
            </a:r>
            <a:endParaRPr lang="en-US" sz="1200" dirty="0"/>
          </a:p>
          <a:p>
            <a:pPr indent="0" marL="0">
              <a:buNone/>
            </a:pPr>
            <a:r>
              <a:rPr lang="en-US" sz="1200" b="1" dirty="0">
                <a:solidFill>
                  <a:srgbClr val="6E7279"/>
                </a:solidFill>
                <a:latin typeface="Arial" pitchFamily="34" charset="0"/>
                <a:ea typeface="Arial" pitchFamily="34" charset="-122"/>
                <a:cs typeface="Arial" pitchFamily="34" charset="-120"/>
              </a:rPr>
              <a:t>Operational status  </a:t>
            </a:r>
            <a:pPr indent="0" marL="0">
              <a:spcAft>
                <a:spcPts val="300"/>
              </a:spcAft>
              <a:buNone/>
            </a:pPr>
            <a:r>
              <a:rPr lang="en-US" sz="1200" dirty="0">
                <a:solidFill>
                  <a:srgbClr val="4D4F53"/>
                </a:solidFill>
                <a:latin typeface="Arial" pitchFamily="34" charset="0"/>
                <a:ea typeface="Arial" pitchFamily="34" charset="-122"/>
                <a:cs typeface="Arial" pitchFamily="34" charset="-120"/>
              </a:rPr>
              <a:t>Operational</a:t>
            </a:r>
            <a:endParaRPr lang="en-US" sz="1200" dirty="0"/>
          </a:p>
        </p:txBody>
      </p:sp>
      <p:sp>
        <p:nvSpPr>
          <p:cNvPr id="29" name="Text 27">
            <a:hlinkClick r:id="rId2" tooltip="https://bofasecopsdev.service-now.com/cmdb_ci_kubernetes_node.do?sys_id=29d51c922b09071022b7fcded391bff8"/>
          </p:cNvPr>
          <p:cNvSpPr txBox="1"/>
          <p:nvPr/>
        </p:nvSpPr>
        <p:spPr>
          <a:xfrm>
            <a:off x="8714232" y="6035040"/>
            <a:ext cx="2715768"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29d51c922b09071022b7fcded391bff8" history="1" highlightClick="0" endSnd="0">
                  <a:extLst>
                    <a:ext uri="{A12FA001-AC4F-418D-AE19-62706E023703}">
                      <ahyp:hlinkClr xmlns:ahyp="http://schemas.microsoft.com/office/drawing/2018/hyperlinkcolor" val="tx"/>
                    </a:ext>
                  </a:extLst>
                </a:hlinkClick>
              </a:rPr>
              <a:t>Open the CI</a:t>
            </a:r>
            <a:endParaRPr lang="en-US" sz="950" dirty="0"/>
          </a:p>
        </p:txBody>
      </p:sp>
      <p:sp>
        <p:nvSpPr>
          <p:cNvPr id="25" name="Slide Number Placeholder 0"/>
          <p:cNvSpPr>
            <a:spLocks noGrp="1"/>
          </p:cNvSpPr>
          <p:nvPr>
            <p:ph type="sldNum" sz="quarter" idx="4294967295"/>
          </p:nvPr>
        </p:nvSpPr>
        <p:spPr>
          <a:xfrm>
            <a:off x="10771632" y="6510528"/>
            <a:ext cx="914400" cy="201168"/>
          </a:xfrm>
          <a:prstGeom prst="rect">
            <a:avLst/>
          </a:prstGeom>
          <a:extLst>
            <a:ext uri="{C572A759-6A51-4108-AA02-DFA0A04FC94B}">
              <ma14:wrappingTextBoxFlag xmlns:ma14="http://schemas.microsoft.com/office/mac/drawingml/2011/main" val="0"/>
            </a:ext>
          </a:extLst>
        </p:spPr>
        <p:txBody>
          <a:bodyPr/>
          <a:lstStyle>
            <a:lvl1pPr>
              <a:defRPr sz="850">
                <a:solidFill>
                  <a:srgbClr val="6E7279"/>
                </a:solidFill>
                <a:latin typeface="Arial"/>
                <a:ea typeface="Arial"/>
                <a:cs typeface="Arial"/>
              </a:defRPr>
            </a:lvl1pPr>
          </a:lstStyle>
          <a:p>
            <a:pPr algn="r"/>
            <a:fld id="{F7021451-1387-4CA6-816F-3879F97B5CBC}" type="slidenum">
              <a:rPr b="0" lang="en-US"/>
              <a:t>134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134</Slides>
  <Notes>134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134</vt:i4>
      </vt:variant>
    </vt:vector>
  </HeadingPairs>
  <TitlesOfParts>
    <vt:vector size="1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2026-09-21T10:51:57Z</dcterms:created>
  <dcterms:modified xsi:type="dcterms:W3CDTF">2026-09-21T10:51:57Z</dcterms:modified>
</cp:coreProperties>
</file>