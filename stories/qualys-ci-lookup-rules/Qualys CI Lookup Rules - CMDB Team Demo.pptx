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bofasecopsdev.service-now.com/sn_sec_cmn_src_ci_list.do?sysparm_query=number=SDI000002418623" TargetMode="External"/><Relationship Id="rId2" Type="http://schemas.openxmlformats.org/officeDocument/2006/relationships/hyperlink" Target="https://bofasecopsdev.service-now.com/cmdb_ci_linux_server.do?sys_id=ddcdddf02b462294d50dffbdbe91bf9b" TargetMode="External"/><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bofasecopsdev.service-now.com/sn_sec_cmn_src_ci_list.do?sysparm_query=number=SDI000002411394" TargetMode="External"/><Relationship Id="rId2" Type="http://schemas.openxmlformats.org/officeDocument/2006/relationships/hyperlink" Target="https://bofasecopsdev.service-now.com/cmdb_ci_linux_server.do?sys_id=d78e25b82b8e2294d50dffbdbe91bf32" TargetMode="External"/><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bofasecopsdev.service-now.com/sn_sec_cmn_src_ci_list.do?sysparm_query=number=SDI000002375027" TargetMode="External"/><Relationship Id="rId2" Type="http://schemas.openxmlformats.org/officeDocument/2006/relationships/hyperlink" Target="https://bofasecopsdev.service-now.com/cmdb_ci_win_server.do?sys_id=813bd5383b0e6254a052e71864e45a35" TargetMode="External"/><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hyperlink" Target="https://bofasecopsdev.service-now.com/sn_sec_cmn_src_ci_list.do?sysparm_query=number=SDI000003028240" TargetMode="External"/><Relationship Id="rId2" Type="http://schemas.openxmlformats.org/officeDocument/2006/relationships/hyperlink" Target="https://bofasecopsdev.service-now.com/cmdb_ci_lb_service.do?sys_id=a029dc43931183d03854f05ea903d6b7" TargetMode="External"/><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hyperlink" Target="https://bofasecopsdev.service-now.com/sn_sec_cmn_src_ci_list.do?sysparm_query=number=SDI000003069763" TargetMode="External"/><Relationship Id="rId2" Type="http://schemas.openxmlformats.org/officeDocument/2006/relationships/hyperlink" Target="https://bofasecopsdev.service-now.com/cmdb_ci_lb_service.do?sys_id=917ce0282f9e87103819983fafa4e37e" TargetMode="External"/><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hyperlink" Target="https://bofasecopsdev.service-now.com/sn_sec_cmn_src_ci_list.do?sysparm_query=number=SDI000003069406" TargetMode="External"/><Relationship Id="rId2" Type="http://schemas.openxmlformats.org/officeDocument/2006/relationships/hyperlink" Target="https://bofasecopsdev.service-now.com/cmdb_ci_lb_service.do?sys_id=31ccec6c2f56871006a8a93fafa4e397" TargetMode="External"/><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2169"/>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E31837"/>
          </a:solidFill>
          <a:ln w="12700">
            <a:solidFill>
              <a:srgbClr val="333333"/>
            </a:solidFill>
            <a:prstDash val="solid"/>
          </a:ln>
        </p:spPr>
      </p:sp>
      <p:sp>
        <p:nvSpPr>
          <p:cNvPr id="3" name="Text 1"/>
          <p:cNvSpPr txBox="1"/>
          <p:nvPr/>
        </p:nvSpPr>
        <p:spPr>
          <a:xfrm>
            <a:off x="914400" y="2011680"/>
            <a:ext cx="10058400" cy="274320"/>
          </a:xfrm>
          <a:prstGeom prst="rect">
            <a:avLst/>
          </a:prstGeom>
          <a:noFill/>
          <a:ln/>
        </p:spPr>
        <p:txBody>
          <a:bodyPr wrap="square" lIns="0" tIns="0" rIns="0" bIns="0" rtlCol="0" anchor="ctr"/>
          <a:lstStyle/>
          <a:p>
            <a:pPr indent="0" marL="0">
              <a:buNone/>
            </a:pPr>
            <a:r>
              <a:rPr lang="en-US" sz="1200" b="1" spc="200" kern="0" dirty="0">
                <a:solidFill>
                  <a:srgbClr val="C9D1E3"/>
                </a:solidFill>
                <a:latin typeface="Arial" pitchFamily="34" charset="0"/>
                <a:ea typeface="Arial" pitchFamily="34" charset="-122"/>
                <a:cs typeface="Arial" pitchFamily="34" charset="-120"/>
              </a:rPr>
              <a:t>USEM  ·  VULNERABILITY RESPONSE</a:t>
            </a:r>
            <a:endParaRPr lang="en-US" sz="1200" dirty="0"/>
          </a:p>
        </p:txBody>
      </p:sp>
      <p:sp>
        <p:nvSpPr>
          <p:cNvPr id="4" name="Text 2"/>
          <p:cNvSpPr txBox="1"/>
          <p:nvPr/>
        </p:nvSpPr>
        <p:spPr>
          <a:xfrm>
            <a:off x="914400" y="237744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Qualys CI Lookup Rules</a:t>
            </a:r>
            <a:endParaRPr lang="en-US" sz="4000" dirty="0"/>
          </a:p>
        </p:txBody>
      </p:sp>
      <p:sp>
        <p:nvSpPr>
          <p:cNvPr id="5" name="Text 3"/>
          <p:cNvSpPr txBox="1"/>
          <p:nvPr/>
        </p:nvSpPr>
        <p:spPr>
          <a:xfrm>
            <a:off x="914400" y="3291840"/>
            <a:ext cx="10058400" cy="457200"/>
          </a:xfrm>
          <a:prstGeom prst="rect">
            <a:avLst/>
          </a:prstGeom>
          <a:noFill/>
          <a:ln/>
        </p:spPr>
        <p:txBody>
          <a:bodyPr wrap="square" lIns="0" tIns="0" rIns="0" bIns="0" rtlCol="0" anchor="ctr"/>
          <a:lstStyle/>
          <a:p>
            <a:pPr indent="0" marL="0">
              <a:buNone/>
            </a:pPr>
            <a:r>
              <a:rPr lang="en-US" sz="2000" dirty="0">
                <a:solidFill>
                  <a:srgbClr val="E4E8F0"/>
                </a:solidFill>
                <a:latin typeface="Arial" pitchFamily="34" charset="0"/>
                <a:ea typeface="Arial" pitchFamily="34" charset="-122"/>
                <a:cs typeface="Arial" pitchFamily="34" charset="-120"/>
              </a:rPr>
              <a:t>How a scanned host finds its CI</a:t>
            </a:r>
            <a:endParaRPr lang="en-US" sz="2000" dirty="0"/>
          </a:p>
        </p:txBody>
      </p:sp>
      <p:sp>
        <p:nvSpPr>
          <p:cNvPr id="6" name="Text 4"/>
          <p:cNvSpPr txBox="1"/>
          <p:nvPr/>
        </p:nvSpPr>
        <p:spPr>
          <a:xfrm>
            <a:off x="914400" y="5120640"/>
            <a:ext cx="10058400" cy="274320"/>
          </a:xfrm>
          <a:prstGeom prst="rect">
            <a:avLst/>
          </a:prstGeom>
          <a:noFill/>
          <a:ln/>
        </p:spPr>
        <p:txBody>
          <a:bodyPr wrap="square" lIns="0" tIns="0" rIns="0" bIns="0" rtlCol="0" anchor="ctr"/>
          <a:lstStyle/>
          <a:p>
            <a:pPr indent="0" marL="0">
              <a:buNone/>
            </a:pPr>
            <a:r>
              <a:rPr lang="en-US" sz="1200" dirty="0">
                <a:solidFill>
                  <a:srgbClr val="C9D1E3"/>
                </a:solidFill>
                <a:latin typeface="Arial" pitchFamily="34" charset="0"/>
                <a:ea typeface="Arial" pitchFamily="34" charset="-122"/>
                <a:cs typeface="Arial" pitchFamily="34" charset="-120"/>
              </a:rPr>
              <a:t>Demo for the CMDB team  ·  22 September 2026  ·  Mihir Kumar Singh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KEY CONCEPTS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How every script runs</a:t>
            </a:r>
            <a:endParaRPr lang="en-US" sz="2800" dirty="0"/>
          </a:p>
        </p:txBody>
      </p:sp>
      <p:sp>
        <p:nvSpPr>
          <p:cNvPr id="4" name="Shape 2"/>
          <p:cNvSpPr/>
          <p:nvPr/>
        </p:nvSpPr>
        <p:spPr>
          <a:xfrm>
            <a:off x="457200" y="1325880"/>
            <a:ext cx="5500116" cy="5074920"/>
          </a:xfrm>
          <a:prstGeom prst="roundRect">
            <a:avLst>
              <a:gd name="adj" fmla="val 901"/>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31520" y="1481328"/>
            <a:ext cx="4951476"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THE CONTRACT AND THE SEARCH</a:t>
            </a:r>
            <a:endParaRPr lang="en-US" sz="950" dirty="0"/>
          </a:p>
        </p:txBody>
      </p:sp>
      <p:sp>
        <p:nvSpPr>
          <p:cNvPr id="6" name="Text 4"/>
          <p:cNvSpPr txBox="1"/>
          <p:nvPr/>
        </p:nvSpPr>
        <p:spPr>
          <a:xfrm>
            <a:off x="731520" y="1755648"/>
            <a:ext cx="4951476" cy="4526280"/>
          </a:xfrm>
          <a:prstGeom prst="rect">
            <a:avLst/>
          </a:prstGeom>
          <a:noFill/>
          <a:ln/>
        </p:spPr>
        <p:txBody>
          <a:bodyPr wrap="square" lIns="0" tIns="0" rIns="0" bIns="0" rtlCol="0" anchor="t">
            <a:normAutofit/>
          </a:bodyPr>
          <a:lstStyle/>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Contract.  </a:t>
            </a:r>
            <a:pPr indent="0" marL="0">
              <a:spcAft>
                <a:spcPts val="500"/>
              </a:spcAft>
              <a:buNone/>
            </a:pPr>
            <a:r>
              <a:rPr lang="en-US" sz="1050" dirty="0">
                <a:solidFill>
                  <a:srgbClr val="24272A"/>
                </a:solidFill>
                <a:latin typeface="Arial" pitchFamily="34" charset="0"/>
                <a:ea typeface="Arial" pitchFamily="34" charset="-122"/>
                <a:cs typeface="Arial" pitchFamily="34" charset="-120"/>
              </a:rPr>
              <a:t>process(rule, sourceValue, sourcePayload) returns one sys_id or null. sourceValue is the rule's source field (SERIAL_NUMBER, DNS or IP); the OS, DNS and IP come from the payload.</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Normalisation.  </a:t>
            </a:r>
            <a:pPr indent="0" marL="0">
              <a:spcAft>
                <a:spcPts val="500"/>
              </a:spcAft>
              <a:buNone/>
            </a:pPr>
            <a:r>
              <a:rPr lang="en-US" sz="1050" dirty="0">
                <a:solidFill>
                  <a:srgbClr val="24272A"/>
                </a:solidFill>
                <a:latin typeface="Arial" pitchFamily="34" charset="0"/>
                <a:ea typeface="Arial" pitchFamily="34" charset="-122"/>
                <a:cs typeface="Arial" pitchFamily="34" charset="-120"/>
              </a:rPr>
              <a:t>The value is coerced to a string and trimmed; names are lower-cased; the text before the first dot is the short host; an absent DNS or OS reads as empty, never as the string "undefined".</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Ignored classes.  </a:t>
            </a:r>
            <a:pPr indent="0" marL="0">
              <a:spcAft>
                <a:spcPts val="500"/>
              </a:spcAft>
              <a:buNone/>
            </a:pPr>
            <a:r>
              <a:rPr lang="en-US" sz="1050" dirty="0">
                <a:solidFill>
                  <a:srgbClr val="24272A"/>
                </a:solidFill>
                <a:latin typeface="Arial" pitchFamily="34" charset="0"/>
                <a:ea typeface="Arial" pitchFamily="34" charset="-122"/>
                <a:cs typeface="Arial" pitchFamily="34" charset="-120"/>
              </a:rPr>
              <a:t>The framework's _ignoreClass, else sn_sec_cmn.ignoreCIClass, added as sys_class_name NOT IN on every search. Exact class names, no hierarchy.</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Exactly one.  </a:t>
            </a:r>
            <a:pPr indent="0" marL="0">
              <a:spcAft>
                <a:spcPts val="500"/>
              </a:spcAft>
              <a:buNone/>
            </a:pPr>
            <a:r>
              <a:rPr lang="en-US" sz="1050" dirty="0">
                <a:solidFill>
                  <a:srgbClr val="24272A"/>
                </a:solidFill>
                <a:latin typeface="Arial" pitchFamily="34" charset="0"/>
                <a:ea typeface="Arial" pitchFamily="34" charset="-122"/>
                <a:cs typeface="Arial" pitchFamily="34" charset="-120"/>
              </a:rPr>
              <a:t>query() with no setLimit, then next() and hasNext(): a second row declines. The rules that walk records count distinct owning CIs instead, and two owners decline.</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Address tie-break.  </a:t>
            </a:r>
            <a:pPr indent="0" marL="0">
              <a:spcAft>
                <a:spcPts val="500"/>
              </a:spcAft>
              <a:buNone/>
            </a:pPr>
            <a:r>
              <a:rPr lang="en-US" sz="1050" dirty="0">
                <a:solidFill>
                  <a:srgbClr val="24272A"/>
                </a:solidFill>
                <a:latin typeface="Arial" pitchFamily="34" charset="0"/>
                <a:ea typeface="Arial" pitchFamily="34" charset="-122"/>
                <a:cs typeface="Arial" pitchFamily="34" charset="-120"/>
              </a:rPr>
              <a:t>Only the FQDN, host name with domain, layered DNS and device name rules break several candidates with the scanned IP. The address rules never tie-break.</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Loopback and link-local.  </a:t>
            </a:r>
            <a:pPr indent="0" marL="0">
              <a:spcAft>
                <a:spcPts val="500"/>
              </a:spcAft>
              <a:buNone/>
            </a:pPr>
            <a:r>
              <a:rPr lang="en-US" sz="1050" dirty="0">
                <a:solidFill>
                  <a:srgbClr val="24272A"/>
                </a:solidFill>
                <a:latin typeface="Arial" pitchFamily="34" charset="0"/>
                <a:ea typeface="Arial" pitchFamily="34" charset="-122"/>
                <a:cs typeface="Arial" pitchFamily="34" charset="-120"/>
              </a:rPr>
              <a:t>The address and virtual server rules refuse 127. and 169.254. before reading anything else.</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Retired records.  </a:t>
            </a:r>
            <a:pPr indent="0" marL="0">
              <a:spcAft>
                <a:spcPts val="500"/>
              </a:spcAft>
              <a:buNone/>
            </a:pPr>
            <a:r>
              <a:rPr lang="en-US" sz="1050" dirty="0">
                <a:solidFill>
                  <a:srgbClr val="24272A"/>
                </a:solidFill>
                <a:latin typeface="Arial" pitchFamily="34" charset="0"/>
                <a:ea typeface="Arial" pitchFamily="34" charset="-122"/>
                <a:cs typeface="Arial" pitchFamily="34" charset="-120"/>
              </a:rPr>
              <a:t>retired(): install_status 7, operational_status 6 or life cycle stage Retired. The virtual server rules set a retired twin aside; the platform property filterOutDecommissionedCI drops retired CIs after any rule.</a:t>
            </a:r>
            <a:endParaRPr lang="en-US" sz="1050" dirty="0"/>
          </a:p>
        </p:txBody>
      </p:sp>
      <p:sp>
        <p:nvSpPr>
          <p:cNvPr id="7" name="Shape 5"/>
          <p:cNvSpPr/>
          <p:nvPr/>
        </p:nvSpPr>
        <p:spPr>
          <a:xfrm>
            <a:off x="6231636" y="1325880"/>
            <a:ext cx="5500116" cy="5074920"/>
          </a:xfrm>
          <a:prstGeom prst="roundRect">
            <a:avLst>
              <a:gd name="adj" fmla="val 901"/>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8" name="Text 6"/>
          <p:cNvSpPr txBox="1"/>
          <p:nvPr/>
        </p:nvSpPr>
        <p:spPr>
          <a:xfrm>
            <a:off x="6505956" y="1481328"/>
            <a:ext cx="4951476"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CLASS FROM THE SCANNED OS</a:t>
            </a:r>
            <a:endParaRPr lang="en-US" sz="950" dirty="0"/>
          </a:p>
        </p:txBody>
      </p:sp>
      <p:sp>
        <p:nvSpPr>
          <p:cNvPr id="9" name="Text 7"/>
          <p:cNvSpPr txBox="1"/>
          <p:nvPr/>
        </p:nvSpPr>
        <p:spPr>
          <a:xfrm>
            <a:off x="6505956" y="1755648"/>
            <a:ext cx="4951476" cy="4526280"/>
          </a:xfrm>
          <a:prstGeom prst="rect">
            <a:avLst/>
          </a:prstGeom>
          <a:noFill/>
          <a:ln/>
        </p:spPr>
        <p:txBody>
          <a:bodyPr wrap="square" lIns="0" tIns="0" rIns="0" bIns="0" rtlCol="0" anchor="t">
            <a:normAutofit/>
          </a:bodyPr>
          <a:lstStyle/>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classFor(OS).  </a:t>
            </a:r>
            <a:pPr indent="0" marL="0">
              <a:spcAft>
                <a:spcPts val="500"/>
              </a:spcAft>
              <a:buNone/>
            </a:pPr>
            <a:r>
              <a:rPr lang="en-US" sz="1050" dirty="0">
                <a:solidFill>
                  <a:srgbClr val="24272A"/>
                </a:solidFill>
                <a:latin typeface="Arial" pitchFamily="34" charset="0"/>
                <a:ea typeface="Arial" pitchFamily="34" charset="-122"/>
                <a:cs typeface="Arial" pitchFamily="34" charset="-120"/>
              </a:rPr>
              <a:t>Lower-cased OS text; three or more "/"-separated guesses give no class. Keywords in order, first hit wins: esx; windows (with server) / windows; aix; solaris, sunos; hp-ux; netapp, ontap; printer, laserjet, jetdirect; red hat, linux, centos, ubuntu, suse, debian, fedora, euleros, oracle enterprise, amazon; nx-os, catos, cisco.</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Classes.  </a:t>
            </a:r>
            <a:pPr indent="0" marL="0">
              <a:spcAft>
                <a:spcPts val="500"/>
              </a:spcAft>
              <a:buNone/>
            </a:pPr>
            <a:r>
              <a:rPr lang="en-US" sz="1050" dirty="0">
                <a:solidFill>
                  <a:srgbClr val="24272A"/>
                </a:solidFill>
                <a:latin typeface="Arial" pitchFamily="34" charset="0"/>
                <a:ea typeface="Arial" pitchFamily="34" charset="-122"/>
                <a:cs typeface="Arial" pitchFamily="34" charset="-120"/>
              </a:rPr>
              <a:t>ESX Server, Windows Server or Computer, AIX Server, Solaris Server, HP-UX Server, Storage Server, Printer, Linux Server, Network Gear. Anything else: no class.</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Class rules.  </a:t>
            </a:r>
            <a:pPr indent="0" marL="0">
              <a:spcAft>
                <a:spcPts val="500"/>
              </a:spcAft>
              <a:buNone/>
            </a:pPr>
            <a:r>
              <a:rPr lang="en-US" sz="1050" dirty="0">
                <a:solidFill>
                  <a:srgbClr val="24272A"/>
                </a:solidFill>
                <a:latin typeface="Arial" pitchFamily="34" charset="0"/>
                <a:ea typeface="Arial" pitchFamily="34" charset="-122"/>
                <a:cs typeface="Arial" pitchFamily="34" charset="-120"/>
              </a:rPr>
              <a:t>Search the OS class and its sub-classes only, and decline without a class. Hardware rules search the whole cmdb_ci_hardware tree and keep the OS class as a preference.</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Class agreement.  </a:t>
            </a:r>
            <a:pPr indent="0" marL="0">
              <a:spcAft>
                <a:spcPts val="500"/>
              </a:spcAft>
              <a:buNone/>
            </a:pPr>
            <a:r>
              <a:rPr lang="en-US" sz="1050" dirty="0">
                <a:solidFill>
                  <a:srgbClr val="24272A"/>
                </a:solidFill>
                <a:latin typeface="Arial" pitchFamily="34" charset="0"/>
                <a:ea typeface="Arial" pitchFamily="34" charset="-122"/>
                <a:cs typeface="Arial" pitchFamily="34" charset="-120"/>
              </a:rPr>
              <a:t>agrees(cls): the CI class equals the OS class, sits beneath it or above it (parentsOf through sys_db_object.super_class). A Cisco IOS router therefore never lands on a Computer.</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Appliances.  </a:t>
            </a:r>
            <a:pPr indent="0" marL="0">
              <a:spcAft>
                <a:spcPts val="500"/>
              </a:spcAft>
              <a:buNone/>
            </a:pPr>
            <a:r>
              <a:rPr lang="en-US" sz="1050" dirty="0">
                <a:solidFill>
                  <a:srgbClr val="24272A"/>
                </a:solidFill>
                <a:latin typeface="Arial" pitchFamily="34" charset="0"/>
                <a:ea typeface="Arial" pitchFamily="34" charset="-122"/>
                <a:cs typeface="Arial" pitchFamily="34" charset="-120"/>
              </a:rPr>
              <a:t>In Layered DNS Match and Hostname Hardware Match a Linux fingerprint also agrees with Network Gear, Load Balancer and Storage Server records, because appliances answer scans as Linux.</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Load balancer devices.  </a:t>
            </a:r>
            <a:pPr indent="0" marL="0">
              <a:spcAft>
                <a:spcPts val="500"/>
              </a:spcAft>
              <a:buNone/>
            </a:pPr>
            <a:r>
              <a:rPr lang="en-US" sz="1050" dirty="0">
                <a:solidFill>
                  <a:srgbClr val="24272A"/>
                </a:solidFill>
                <a:latin typeface="Arial" pitchFamily="34" charset="0"/>
                <a:ea typeface="Arial" pitchFamily="34" charset="-122"/>
                <a:cs typeface="Arial" pitchFamily="34" charset="-120"/>
              </a:rPr>
              <a:t>A cmdb_ci_lb record is never accepted as the host behind a name or an address; the virtual server rules handle those addresses instead.</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Host name agreement.  </a:t>
            </a:r>
            <a:pPr indent="0" marL="0">
              <a:spcAft>
                <a:spcPts val="500"/>
              </a:spcAft>
              <a:buNone/>
            </a:pPr>
            <a:r>
              <a:rPr lang="en-US" sz="1050" dirty="0">
                <a:solidFill>
                  <a:srgbClr val="24272A"/>
                </a:solidFill>
                <a:latin typeface="Arial" pitchFamily="34" charset="0"/>
                <a:ea typeface="Arial" pitchFamily="34" charset="-122"/>
                <a:cs typeface="Arial" pitchFamily="34" charset="-120"/>
              </a:rPr>
              <a:t>The IP rules also require the CI's first name label to equal the scanned label, or to differ from it only by a hyphenated suffix such as -mgmt.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KEY CONCEPTS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The signs the scripts look for</a:t>
            </a:r>
            <a:endParaRPr lang="en-US" sz="2800" dirty="0"/>
          </a:p>
        </p:txBody>
      </p:sp>
      <p:sp>
        <p:nvSpPr>
          <p:cNvPr id="4" name="Shape 2"/>
          <p:cNvSpPr/>
          <p:nvPr/>
        </p:nvSpPr>
        <p:spPr>
          <a:xfrm>
            <a:off x="457200" y="1325880"/>
            <a:ext cx="5500116" cy="5074920"/>
          </a:xfrm>
          <a:prstGeom prst="roundRect">
            <a:avLst>
              <a:gd name="adj" fmla="val 901"/>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31520" y="1481328"/>
            <a:ext cx="4951476"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SERIALS, PHONES, CONTROLLERS</a:t>
            </a:r>
            <a:endParaRPr lang="en-US" sz="950" dirty="0"/>
          </a:p>
        </p:txBody>
      </p:sp>
      <p:sp>
        <p:nvSpPr>
          <p:cNvPr id="6" name="Text 4"/>
          <p:cNvSpPr txBox="1"/>
          <p:nvPr/>
        </p:nvSpPr>
        <p:spPr>
          <a:xfrm>
            <a:off x="731520" y="1755648"/>
            <a:ext cx="4951476" cy="4526280"/>
          </a:xfrm>
          <a:prstGeom prst="rect">
            <a:avLst/>
          </a:prstGeom>
          <a:noFill/>
          <a:ln/>
        </p:spPr>
        <p:txBody>
          <a:bodyPr wrap="square" lIns="0" tIns="0" rIns="0" bIns="0" rtlCol="0" anchor="t">
            <a:normAutofit/>
          </a:bodyPr>
          <a:lstStyle/>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Placeholder serials.  </a:t>
            </a:r>
            <a:pPr indent="0" marL="0">
              <a:spcAft>
                <a:spcPts val="500"/>
              </a:spcAft>
              <a:buNone/>
            </a:pPr>
            <a:r>
              <a:rPr lang="en-US" sz="1050" dirty="0">
                <a:solidFill>
                  <a:srgbClr val="24272A"/>
                </a:solidFill>
                <a:latin typeface="Arial" pitchFamily="34" charset="0"/>
                <a:ea typeface="Arial" pitchFamily="34" charset="-122"/>
                <a:cs typeface="Arial" pitchFamily="34" charset="-120"/>
              </a:rPr>
              <a:t>Refused when shorter than four characters or one of: 0, none, n/a, na, unknown, empty, not specified, not available, no serial, default string, to be filled by o.e.m., system serial number, chassis serial number, 0123456789, 1234567890.</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Cisco phones.  </a:t>
            </a:r>
            <a:pPr indent="0" marL="0">
              <a:spcAft>
                <a:spcPts val="500"/>
              </a:spcAft>
              <a:buNone/>
            </a:pPr>
            <a:r>
              <a:rPr lang="en-US" sz="1050" dirty="0">
                <a:solidFill>
                  <a:srgbClr val="24272A"/>
                </a:solidFill>
                <a:latin typeface="Arial" pitchFamily="34" charset="0"/>
                <a:ea typeface="Arial" pitchFamily="34" charset="-122"/>
                <a:cs typeface="Arial" pitchFamily="34" charset="-120"/>
              </a:rPr>
              <a:t>DNS label ^sep([0-9a-f]{12})$: the twelve hex characters are the MAC, rebuilt in four spellings (64:F6:9D:D5:C9:B0, lower case, 64F69DD5C9B0, lower case). Search: a network adapter with that MAC owned by an IP Phone, then the phone's own mac_address, then the Unified CM device name SEP... in upper case.</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Other phones and scanners.  </a:t>
            </a:r>
            <a:pPr indent="0" marL="0">
              <a:spcAft>
                <a:spcPts val="500"/>
              </a:spcAft>
              <a:buNone/>
            </a:pPr>
            <a:r>
              <a:rPr lang="en-US" sz="1050" dirty="0">
                <a:solidFill>
                  <a:srgbClr val="24272A"/>
                </a:solidFill>
                <a:latin typeface="Arial" pitchFamily="34" charset="0"/>
                <a:ea typeface="Arial" pitchFamily="34" charset="-122"/>
                <a:cs typeface="Arial" pitchFamily="34" charset="-120"/>
              </a:rPr>
              <a:t>No MAC in the name (Avaya avx... stations, scanners). The host label is searched by name in IP Phone and Imaging Hardware only, outside the hardware tree. Declined when the OS gives a server or desktop class (Linux excepted) unless the OS text says phone; several hits: the one on the scanned address.</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Management controllers.  </a:t>
            </a:r>
            <a:pPr indent="0" marL="0">
              <a:spcAft>
                <a:spcPts val="500"/>
              </a:spcAft>
              <a:buNone/>
            </a:pPr>
            <a:r>
              <a:rPr lang="en-US" sz="1050" dirty="0">
                <a:solidFill>
                  <a:srgbClr val="24272A"/>
                </a:solidFill>
                <a:latin typeface="Arial" pitchFamily="34" charset="0"/>
                <a:ea typeface="Arial" pitchFamily="34" charset="-122"/>
                <a:cs typeface="Arial" pitchFamily="34" charset="-120"/>
              </a:rPr>
              <a:t>Label tail after the last hyphen in ilo, ilom, idrac, drac, ipmi, bmc, oob, mgmt, imm, cimc, rmm, con, or OS text with ilo, ilom, idrac, drac, remote access controller, imm, cimc, bmc, ipmi, lights out. The label before the hyphen is the server name, searched hardware-wide; a load balancer device is refused.</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Network interfaces.  </a:t>
            </a:r>
            <a:pPr indent="0" marL="0">
              <a:spcAft>
                <a:spcPts val="500"/>
              </a:spcAft>
              <a:buNone/>
            </a:pPr>
            <a:r>
              <a:rPr lang="en-US" sz="1050" dirty="0">
                <a:solidFill>
                  <a:srgbClr val="24272A"/>
                </a:solidFill>
                <a:latin typeface="Arial" pitchFamily="34" charset="0"/>
                <a:ea typeface="Arial" pitchFamily="34" charset="-122"/>
                <a:cs typeface="Arial" pitchFamily="34" charset="-120"/>
              </a:rPr>
              <a:t>DNS in a .network. domain, or a hyphen segment that is an interface marker: vlan, v, hsrp, vrrp, po, eth, gi, te, lo, mgmt, aom, vs, fab, whole or followed by digits. Prefixes are tried longest first on Network Gear and Load Balancer devices; two hits decline.</a:t>
            </a:r>
            <a:endParaRPr lang="en-US" sz="1050" dirty="0"/>
          </a:p>
        </p:txBody>
      </p:sp>
      <p:sp>
        <p:nvSpPr>
          <p:cNvPr id="7" name="Shape 5"/>
          <p:cNvSpPr/>
          <p:nvPr/>
        </p:nvSpPr>
        <p:spPr>
          <a:xfrm>
            <a:off x="6231636" y="1325880"/>
            <a:ext cx="5500116" cy="5074920"/>
          </a:xfrm>
          <a:prstGeom prst="roundRect">
            <a:avLst>
              <a:gd name="adj" fmla="val 901"/>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8" name="Text 6"/>
          <p:cNvSpPr txBox="1"/>
          <p:nvPr/>
        </p:nvSpPr>
        <p:spPr>
          <a:xfrm>
            <a:off x="6505956" y="1481328"/>
            <a:ext cx="4951476"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VIRTUAL SERVERS, NAMES, ADDRESSES</a:t>
            </a:r>
            <a:endParaRPr lang="en-US" sz="950" dirty="0"/>
          </a:p>
        </p:txBody>
      </p:sp>
      <p:sp>
        <p:nvSpPr>
          <p:cNvPr id="9" name="Text 7"/>
          <p:cNvSpPr txBox="1"/>
          <p:nvPr/>
        </p:nvSpPr>
        <p:spPr>
          <a:xfrm>
            <a:off x="6505956" y="1755648"/>
            <a:ext cx="4951476" cy="4526280"/>
          </a:xfrm>
          <a:prstGeom prst="rect">
            <a:avLst/>
          </a:prstGeom>
          <a:noFill/>
          <a:ln/>
        </p:spPr>
        <p:txBody>
          <a:bodyPr wrap="square" lIns="0" tIns="0" rIns="0" bIns="0" rtlCol="0" anchor="t">
            <a:normAutofit/>
          </a:bodyPr>
          <a:lstStyle/>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Virtual server sign.  </a:t>
            </a:r>
            <a:pPr indent="0" marL="0">
              <a:spcAft>
                <a:spcPts val="500"/>
              </a:spcAft>
              <a:buNone/>
            </a:pPr>
            <a:r>
              <a:rPr lang="en-US" sz="1050" dirty="0">
                <a:solidFill>
                  <a:srgbClr val="24272A"/>
                </a:solidFill>
                <a:latin typeface="Arial" pitchFamily="34" charset="0"/>
                <a:ea typeface="Arial" pitchFamily="34" charset="-122"/>
                <a:cs typeface="Arial" pitchFamily="34" charset="-120"/>
              </a:rPr>
              <a:t>OS text with f5, big-ip, big ip or netscaler, or a label segment vip or vs (vip, vip2, ...-vip, vs1). Load Balancer Service searched on fqdn, then name, then the label, then ip_address.</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Twins.  </a:t>
            </a:r>
            <a:pPr indent="0" marL="0">
              <a:spcAft>
                <a:spcPts val="500"/>
              </a:spcAft>
              <a:buNone/>
            </a:pPr>
            <a:r>
              <a:rPr lang="en-US" sz="1050" dirty="0">
                <a:solidFill>
                  <a:srgbClr val="24272A"/>
                </a:solidFill>
                <a:latin typeface="Arial" pitchFamily="34" charset="0"/>
                <a:ea typeface="Arial" pitchFamily="34" charset="-122"/>
                <a:cs typeface="Arial" pitchFamily="34" charset="-120"/>
              </a:rPr>
              <a:t>Several service records of one name are one virtual server recorded more than once (HA pair, test copy): kept to the one on the scanned address, then the live one. Two different names decline.</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Member rule.  </a:t>
            </a:r>
            <a:pPr indent="0" marL="0">
              <a:spcAft>
                <a:spcPts val="500"/>
              </a:spcAft>
              <a:buNone/>
            </a:pPr>
            <a:r>
              <a:rPr lang="en-US" sz="1050" dirty="0">
                <a:solidFill>
                  <a:srgbClr val="24272A"/>
                </a:solidFill>
                <a:latin typeface="Arial" pitchFamily="34" charset="0"/>
                <a:ea typeface="Arial" pitchFamily="34" charset="-122"/>
                <a:cs typeface="Arial" pitchFamily="34" charset="-120"/>
              </a:rPr>
              <a:t>Service to pools to pool members through cmdb_rel_ci, each member to its server record (in cmdb_ci_hardware, not ignored, not a balancer). One machine behind every member returns the server; a member the CMDB cannot place, several machines or two live records of one machine decline.</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Service rule.  </a:t>
            </a:r>
            <a:pPr indent="0" marL="0">
              <a:spcAft>
                <a:spcPts val="500"/>
              </a:spcAft>
              <a:buNone/>
            </a:pPr>
            <a:r>
              <a:rPr lang="en-US" sz="1050" dirty="0">
                <a:solidFill>
                  <a:srgbClr val="24272A"/>
                </a:solidFill>
                <a:latin typeface="Arial" pitchFamily="34" charset="0"/>
                <a:ea typeface="Arial" pitchFamily="34" charset="-122"/>
                <a:cs typeface="Arial" pitchFamily="34" charset="-120"/>
              </a:rPr>
              <a:t>Never reads the pool. Attaches the one live virtual server record; two live twins decline.</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Names.  </a:t>
            </a:r>
            <a:pPr indent="0" marL="0">
              <a:spcAft>
                <a:spcPts val="500"/>
              </a:spcAft>
              <a:buNone/>
            </a:pPr>
            <a:r>
              <a:rPr lang="en-US" sz="1050" dirty="0">
                <a:solidFill>
                  <a:srgbClr val="24272A"/>
                </a:solidFill>
                <a:latin typeface="Arial" pitchFamily="34" charset="0"/>
                <a:ea typeface="Arial" pitchFamily="34" charset="-122"/>
                <a:cs typeface="Arial" pitchFamily="34" charset="-120"/>
              </a:rPr>
              <a:t>FQDN rules: the whole dotted name on fqdn. FQDN Name rules: the whole dotted name on the name field. Host name rules: the first label on name. Domain rules: the first label on name and the rest on dns_domain. A bare label without a dot declines the FQDN rules.</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Addresses.  </a:t>
            </a:r>
            <a:pPr indent="0" marL="0">
              <a:spcAft>
                <a:spcPts val="500"/>
              </a:spcAft>
              <a:buNone/>
            </a:pPr>
            <a:r>
              <a:rPr lang="en-US" sz="1050" dirty="0">
                <a:solidFill>
                  <a:srgbClr val="24272A"/>
                </a:solidFill>
                <a:latin typeface="Arial" pitchFamily="34" charset="0"/>
                <a:ea typeface="Arial" pitchFamily="34" charset="-122"/>
                <a:cs typeface="Arial" pitchFamily="34" charset="-120"/>
              </a:rPr>
              <a:t>ip_address on the OS class, then on the hardware tree; then the adapter walk (cmdb_ci_network_adapter.ip_address to cmdb_ci) and the IP Address record walk (cmdb_ci_ip_address to nic.cmdb_ci), distinct owners counted, class and host name agreement on the one owner.</a:t>
            </a:r>
            <a:endParaRPr lang="en-US" sz="1050" dirty="0"/>
          </a:p>
          <a:p>
            <a:pPr marL="177800" indent="-177800">
              <a:buSzPct val="100000"/>
              <a:buChar char="•"/>
            </a:pPr>
            <a:r>
              <a:rPr lang="en-US" sz="1050" b="1" dirty="0">
                <a:solidFill>
                  <a:srgbClr val="012169"/>
                </a:solidFill>
                <a:latin typeface="Arial" pitchFamily="34" charset="0"/>
                <a:ea typeface="Arial" pitchFamily="34" charset="-122"/>
                <a:cs typeface="Arial" pitchFamily="34" charset="-120"/>
              </a:rPr>
              <a:t>Last resort.  </a:t>
            </a:r>
            <a:pPr indent="0" marL="0">
              <a:spcAft>
                <a:spcPts val="500"/>
              </a:spcAft>
              <a:buNone/>
            </a:pPr>
            <a:r>
              <a:rPr lang="en-US" sz="1050" dirty="0">
                <a:solidFill>
                  <a:srgbClr val="24272A"/>
                </a:solidFill>
                <a:latin typeface="Arial" pitchFamily="34" charset="0"/>
                <a:ea typeface="Arial" pitchFamily="34" charset="-122"/>
                <a:cs typeface="Arial" pitchFamily="34" charset="-120"/>
              </a:rPr>
              <a:t>FQDN Name Broad Match searches the whole cmdb_ci table by name when everything else declined, still one record only.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KEY CONCEPTS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The chain at a glance: first rule to answer wins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640080"/>
                <a:gridCol w="2743200"/>
                <a:gridCol w="2651760"/>
                <a:gridCol w="5239512"/>
              </a:tblGrid>
              <a:tr h="214884">
                <a:tc>
                  <a:txBody>
                    <a:bodyPr/>
                    <a:lstStyle/>
                    <a:p>
                      <a:pPr indent="0" marL="0">
                        <a:buNone/>
                      </a:pPr>
                      <a:r>
                        <a:rPr lang="en-US" sz="900" b="1" dirty="0">
                          <a:solidFill>
                            <a:srgbClr val="FFFFFF"/>
                          </a:solidFill>
                          <a:latin typeface="Arial" pitchFamily="34" charset="0"/>
                          <a:ea typeface="Arial" pitchFamily="34" charset="-122"/>
                          <a:cs typeface="Arial" pitchFamily="34" charset="-120"/>
                        </a:rPr>
                        <a:t>Order</a:t>
                      </a:r>
                      <a:endParaRPr lang="en-US" sz="9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01216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Rule</a:t>
                      </a:r>
                      <a:endParaRPr lang="en-US" sz="9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01216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Reads</a:t>
                      </a:r>
                      <a:endParaRPr lang="en-US" sz="9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01216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Returns</a:t>
                      </a:r>
                      <a:endParaRPr lang="en-US" sz="9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012169"/>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175</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Serial Number Class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SERIAL_NUMBER (sourceValue) plus sourcePayload.OS; the IP and DNS fields are not read.</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single CI in the OS-implied class (sub-classes included, ignored classes excluded) whose serial_number equals the trimmed serial; null in every other case.</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180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Serial Number Hardware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SERIAL_NUMBER (sourceValue) only; the OS, IP and DNS fields of the payload are never read.</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single CI under cmdb_ci_hardware (any class beneath it, ignored classes excluded) whose serial_number equals the trimmed serial; null in every other case.</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200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Cisco IP Phone MAC</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DNS field as sourceValue (sample sep64f69dd5c9b0.voip.bankofamerica.com). No payload field is read: sourcePayload is received but never used. Also reads the framework variable _ignoreClass or, failing that, the property sn_sec_cmn.ignoreCIClass.</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exactly one cmdb_ci_ip_phone record (sub-classes included): the owner of a network adapter carrying the MAC, else the phone whose mac_address holds it, else the phone named with the device name upper-cased (SEP64F69DD5C9B0). null in every other case.</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250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FQDN Class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Source field DNS (sourceValue). Payload fields: OS (through classFor, decides the search table) and IP (tie-break between duplicate fqdn rows only).</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single CI of the OS class whose fqdn equals the scanned name; when several carry it, the one whose ip_address equals the scanned IP; null in every other case.</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260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FQDN Hardware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Source field DNS (sourceValue). Payload field: IP (tie-break between duplicate fqdn rows only). OS is not read.</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single hardware CI whose fqdn equals the scanned name; when several carry it, the one whose ip_address equals the scanned IP; null in every other case.</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300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Hostname Domain Class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DNS (sourceValue); payload OS (for the class) and payload IP (tie-break only); the framework variable _ignoreClass when supplied, otherwise the property sn_sec_cmn.ignoreCIClass. The rule argument is not used.</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one CI of the OS-implied class (subclasses included) named with the short hostname whose fqdn or dns_domain agrees with the scanned domain, or the single agreeing CI carrying the scanned IP when several agree; null otherwise.</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310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Hostname Domain Hardware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DNS (sourceValue); payload IP (tie-break only); the framework variable _ignoreClass when supplied, otherwise the property sn_sec_cmn.ignoreCIClass. The OS is not read. The rule argument is not used.</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one hardware CI (any class under cmdb_ci_hardware not on the ignore list) named with the short hostname whose fqdn or dns_domain agrees with the scanned domain, or the single agreeing CI carrying the scanned IP when several agree; null otherwise.</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350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Layered DNS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Source field DNS (sourceValue); from sourcePayload only OS (class preference through classFor) and IP (tie-break between several CIs). No other payload field is read.</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CI at ip_address.nic.cmdb_ci of the cmdb_ip_address_dns_name row(s) whose dns_name.name equals the normalised DNS value, when exactly one such CI passes the ignore list and agrees() with the OS class; when several CIs answer to the name, the single one whose chain runs through ip_address.ip_address equal to the scanned IP; null in every other case, and null whenever the CI chosen exists on cmdb_ci_lb.</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400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Hostname Class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Source field DNS (sourceValue) plus payload field OS (sourcePayload.OS); no other payload field is read and the rule argument is never used.</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single CI of the OS-implied class (sub-classes included, ignored classes excluded) whose name equals the short hostname; null in every other case.</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410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Hostname Hardware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Source field DNS (sourceValue) plus payload field OS (sourcePayload.OS); sys_class_name of the CI found and the class hierarchy from sys_db_object (name, super_class.name). The rule argument is never used.</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single hardware CI named with the short hostname when its class agrees with the OS-implied class (same class, sub-class, ancestor, or an appliance class for a Linux fingerprint); null when nothing is found, the name is shared or the class contradicts the scan.</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415</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Device Name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DNS field as sourceValue (sample avxdd008a.cc.bofa.com); from sourcePayload the OS (guard only) and the IP (tie-break only). Also reads _ignoreClass or the property sn_sec_cmn.ignoreCIClass.</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one cmdb_ci_ip_phone or cmdb_ci_imaging_hardware record (sub-classes included, ignored classes excluded) whose name equals the host label; when several carry the name, the single one whose ip_address equals the scanned IP. null otherwise, and null when the OS names a server, desktop or other classed system.</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420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Management Interface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Source field DNS (sourceValue). Payload field OS (sourcePayload.OS), lower-cased, empty when absent, used only for the controller marker words. IP and SERIAL_NUMBER are not read.</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one record of cmdb_ci_hardware or any class beneath it (outside sn_sec_cmn.ignoreCIClass and not a cmdb_ci_lb record or a class beneath cmdb_ci_lb) whose name equals the label with its last hyphen segment removed; null in every other case.</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430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Network Interface Name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Source field DNS (sourceValue) only. The header says the OS is also read from sourcePayload, but the code never references sourcePayload: no OS, IP or SERIAL_NUMBER value takes part in the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one record of cmdb_ci_netgear or cmdb_ci_lb, or any class beneath them, outside sn_sec_cmn.ignoreCIClass, whose name equals the longest hyphen-joined prefix of the label that names anything at all; null in every other case.</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450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FQDN Name Hardware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Source field DNS (sourceValue). No payload field is read: neither IP nor OS influences the result.</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single hardware CI whose name equals the scanned FQDN; null when none or more than one carries it.</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455</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Load Balancer Member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Source field IP (sourceValue); payload fields DNS and OS from sourcePayload; the framework variable _ignoreClass when it is passed, else the property sn_sec_cmn.ignoreCIClass.</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one cmdb_ci_hardware record behind the virtual server (the single live record when that machine is recorded more than once under one name); otherwise null.</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460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Load Balancer Service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Source field IP (sourceValue); payload fields DNS and OS from sourcePayload; the framework variable _ignoreClass when it is passed, else the property sn_sec_cmn.ignoreCIClass.</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one cmdb_ci_lb_service record left after narrowing by scanned address and then by live status; otherwise null.</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700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IP Class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Source field IP (sourceValue). Payload fields: OS (class choice through classFor) and DNS (host-name agreement). The rule argument is never read.</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single CI of the OS-implied class whose ip_address equals the trimmed scanned address and whose name agrees with the scanned DNS label; null in every other case.</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705</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IP Hardware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Source field IP (sourceValue). Payload fields: OS (class preference consumed only by agrees()) and DNS (host-name agreement). The rule argument is never read.</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one cmdb_ci_hardware row (any sub-class outside the ignore list) whose ip_address equals the scanned address, provided it is not in cmdb_ci_lb, its name agrees with the scanned label and its class agrees with the OS-implied class; null otherwise.</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730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IP Adapter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Source field IP (sourceValue). Payload fields: OS (class preference consumed by agrees() inside the owner loop) and DNS (host-name agreement). The rule argument is never read.</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single CI (counted once however many of its adapters carry the address) owning an adapter with the scanned ip_address, when its class agrees with the OS, it is not a cmdb_ci_lb row and its name agrees with the scanned label; null otherwise.</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740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IP Layered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Source field IP (sourceValue). Payload fields: OS (class preference consumed by agrees() inside the owner loop) and DNS (host-name agreement). The rule argument is never read.</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single CI at the end of cmdb_ci_ip_address -&gt; nic (cmdb_ci_network_adapter) -&gt; cmdb_ci, counted once across its address records, when its class agrees with the OS, it is not in cmdb_ci_lb and its name agrees with the scanned label; null otherwise.</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EAF0F8"/>
                    </a:solidFill>
                  </a:tcPr>
                </a:tc>
              </a:tr>
              <a:tr h="214884">
                <a:tc>
                  <a:txBody>
                    <a:bodyPr/>
                    <a:lstStyle/>
                    <a:p>
                      <a:pPr indent="0" marL="0">
                        <a:buNone/>
                      </a:pPr>
                      <a:r>
                        <a:rPr lang="en-US" sz="800" b="1" dirty="0">
                          <a:solidFill>
                            <a:srgbClr val="E31837"/>
                          </a:solidFill>
                          <a:latin typeface="Arial" pitchFamily="34" charset="0"/>
                          <a:ea typeface="Arial" pitchFamily="34" charset="-122"/>
                          <a:cs typeface="Arial" pitchFamily="34" charset="-120"/>
                        </a:rPr>
                        <a:t>850</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b="1" dirty="0">
                          <a:solidFill>
                            <a:srgbClr val="24272A"/>
                          </a:solidFill>
                          <a:latin typeface="Arial" pitchFamily="34" charset="0"/>
                          <a:ea typeface="Arial" pitchFamily="34" charset="-122"/>
                          <a:cs typeface="Arial" pitchFamily="34" charset="-120"/>
                        </a:rPr>
                        <a:t>FQDN Name Broad Match</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Source field DNS (sourceValue). No payload field is read: neither IP nor OS influences the result.</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c>
                  <a:txBody>
                    <a:bodyPr/>
                    <a:lstStyle/>
                    <a:p>
                      <a:pPr indent="0" marL="0">
                        <a:buNone/>
                      </a:pPr>
                      <a:r>
                        <a:rPr lang="en-US" sz="800" dirty="0">
                          <a:solidFill>
                            <a:srgbClr val="24272A"/>
                          </a:solidFill>
                          <a:latin typeface="Arial" pitchFamily="34" charset="0"/>
                          <a:ea typeface="Arial" pitchFamily="34" charset="-122"/>
                          <a:cs typeface="Arial" pitchFamily="34" charset="-120"/>
                        </a:rPr>
                        <a:t>The sys_id of the single cmdb_ci row, in any class not on the ignore list, whose name equals the scanned FQDN; null when none or the name is shared.</a:t>
                      </a:r>
                      <a:endParaRPr lang="en-US" sz="800" dirty="0">
                        <a:latin typeface="Arial" charset="0"/>
                        <a:ea typeface="Arial" charset="0"/>
                        <a:cs typeface="Arial" charset="0"/>
                      </a:endParaRPr>
                    </a:p>
                  </a:txBody>
                  <a:tcPr marL="27432" marR="27432" marT="27432" marB="27432" anchor="ctr">
                    <a:lnL w="6350" cap="flat" cmpd="sng" algn="ctr">
                      <a:solidFill>
                        <a:srgbClr val="DDE0E3"/>
                      </a:solidFill>
                      <a:prstDash val="solid"/>
                      <a:round/>
                      <a:headEnd type="none" w="med" len="med"/>
                      <a:tailEnd type="none" w="med" len="med"/>
                    </a:lnL>
                    <a:lnR w="6350" cap="flat" cmpd="sng" algn="ctr">
                      <a:solidFill>
                        <a:srgbClr val="DDE0E3"/>
                      </a:solidFill>
                      <a:prstDash val="solid"/>
                      <a:round/>
                      <a:headEnd type="none" w="med" len="med"/>
                      <a:tailEnd type="none" w="med" len="med"/>
                    </a:lnR>
                    <a:lnT w="6350" cap="flat" cmpd="sng" algn="ctr">
                      <a:solidFill>
                        <a:srgbClr val="DDE0E3"/>
                      </a:solidFill>
                      <a:prstDash val="solid"/>
                      <a:round/>
                      <a:headEnd type="none" w="med" len="med"/>
                      <a:tailEnd type="none" w="med" len="med"/>
                    </a:lnT>
                    <a:lnB w="6350" cap="flat" cmpd="sng" algn="ctr">
                      <a:solidFill>
                        <a:srgbClr val="DDE0E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11247120" cy="182880"/>
          </a:xfrm>
          <a:prstGeom prst="rect">
            <a:avLst/>
          </a:prstGeom>
          <a:noFill/>
          <a:ln/>
        </p:spPr>
        <p:txBody>
          <a:bodyPr wrap="square" lIns="0" tIns="0" rIns="0" bIns="0" rtlCol="0" anchor="ctr"/>
          <a:lstStyle/>
          <a:p>
            <a:pPr indent="0" marL="0">
              <a:buNone/>
            </a:pPr>
            <a:r>
              <a:rPr lang="en-US" sz="800" dirty="0">
                <a:solidFill>
                  <a:srgbClr val="6B7177"/>
                </a:solidFill>
                <a:latin typeface="Arial" pitchFamily="34" charset="0"/>
                <a:ea typeface="Arial" pitchFamily="34" charset="-122"/>
                <a:cs typeface="Arial" pitchFamily="34" charset="-120"/>
              </a:rPr>
              <a:t>After the USEM rules the platform's own rules run (FQDN, NetBIOS, DNS). Rules that return nothing hand the host to the next one.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175  ·  SERIAL NUMBER</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Serial Number Class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SERIAL_NUMBER (sourceValue) plus sourcePayload.OS; the IP and DNS fields are not read.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single CI in the OS-implied class (sub-classes included, ignored classes excluded) whose serial_number equals the trimmed serial; null in every other case.</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none, it opens the chain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Serial Number Hardware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the Qualys SERIAL_NUMBER, the one identifier that stays with a machine while names and addresses get reused, but only inside the CMDB class the scanned OS text points at, so a Red Hat host can land only on a Linux Server and a Windows Server carrying the same serial is never seen. It opens the chain because a unique serial inside the right class is the strongest evidence the feed offers.</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Empty serial guard.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If sourceValue is empty (null, undefined or an empty string) the script returns null at once; nothing else in the payload is read.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Trim the serial.  </a:t>
            </a:r>
            <a:pPr indent="0" marL="0">
              <a:spcAft>
                <a:spcPts val="300"/>
              </a:spcAft>
              <a:buNone/>
            </a:pPr>
            <a:r>
              <a:rPr lang="en-US" sz="1000" dirty="0">
                <a:solidFill>
                  <a:srgbClr val="24272A"/>
                </a:solidFill>
                <a:latin typeface="Arial" pitchFamily="34" charset="0"/>
                <a:ea typeface="Arial" pitchFamily="34" charset="-122"/>
                <a:cs typeface="Arial" pitchFamily="34" charset="-120"/>
              </a:rPr>
              <a:t>sourceValue is coerced to a string and trimmed; that trimmed value, with its case unchanged, is the value the search uses. Sample: 'VMware-42 1a 9c 3f 7d 2e 61 b8-55 04 e2 91 6a 27 c3 08' passes through untouched.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Placeholder and length guard.  </a:t>
            </a:r>
            <a:pPr indent="0" marL="0">
              <a:spcAft>
                <a:spcPts val="300"/>
              </a:spcAft>
              <a:buNone/>
            </a:pPr>
            <a:r>
              <a:rPr lang="en-US" sz="1000" dirty="0">
                <a:solidFill>
                  <a:srgbClr val="24272A"/>
                </a:solidFill>
                <a:latin typeface="Arial" pitchFamily="34" charset="0"/>
                <a:ea typeface="Arial" pitchFamily="34" charset="-122"/>
                <a:cs typeface="Arial" pitchFamily="34" charset="-120"/>
              </a:rPr>
              <a:t>A serial shorter than four characters is refused, and so is one whose lower-cased form, wrapped in commas, is found in the placeholder list quoted in full under literals, because such vendor values sit on dozens of CIs.</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Resolve the ignored classes.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If the framework defined a non-empty _ignoreClass variable its string value is used; otherwise the script reads gs.getProperty('sn_sec_cmn.ignoreCIClass', ''). An empty result means no class filter is added to the query.</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Class from the OS.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classFor(sourcePayload.OS) casts the OS to a lower-cased string; more than two '/'-separated parts gives no class; else the first keyword hit in order (esx, windows, aix, solaris, hp-ux, netapp, printer, linux, cisco) names the class. No class: null.</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Open the class table.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A GlideRecord is opened on the class chosen; its sub-classes come along by table inheritance. If gr.isValid() is false the class is not installed on the instance and the rule returns null.</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Query the serial inside the class.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addQuery('serial_number', serial) as an exact match, plus addQuery('sys_class_name', 'NOT IN', ignore) when the ignore list is non-empty; then query() with no setLimit.</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Exactly one row.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If next() is false the rule returns null. The first row's getUniqueValue() is held; if hasNext() is true a second CI in the class carries the same serial (cloned VM, serial typed on the wrong record) and the rule returns null; else the held sys_id is returned.</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trimmed serial is shorter than four characters</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lower-cased serial is one of the placeholder tokens in the junk list</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sourcePayload.OS is empty or contains none of the classFor keywords</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OS text holds three or more '/'-separated guesses (split('/').length &gt; 2)</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class table named by classFor is not valid on the instance (gr.isValid() false)</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CI in that class (sub-classes included, ignored classes excluded) carries the serial</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two or more CIs in that class carry the serial (hasNext() true), whatever their state, class depth or address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175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180  ·  SERIAL NUMBER</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Serial Number Hardware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SERIAL_NUMBER (sourceValue) only; the OS, IP and DNS fields of the payload are never read.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single CI under cmdb_ci_hardware (any class beneath it, ignored classes excluded) whose serial_number equals the trimmed serial; null in every other case.</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Serial Number Class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Cisco IP Phone MAC</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Second and last serial rule: the same serial search, but across the whole hardware tree (cmdb_ci_hardware and every class beneath it: servers, computers, network gear, storage, printers). It exists for hosts whose OS gives no usable class (unauthenticated scans listing several guesses) and for CIs that sit in a different class than the OS suggests; its only safety is that the serial must belong to exactly one CI in the whole tree.</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Empty serial guard.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If sourceValue is empty (null, undefined or an empty string) the script returns null at once; nothing else in the payload is read.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Trim the serial.  </a:t>
            </a:r>
            <a:pPr indent="0" marL="0">
              <a:spcAft>
                <a:spcPts val="300"/>
              </a:spcAft>
              <a:buNone/>
            </a:pPr>
            <a:r>
              <a:rPr lang="en-US" sz="1000" dirty="0">
                <a:solidFill>
                  <a:srgbClr val="24272A"/>
                </a:solidFill>
                <a:latin typeface="Arial" pitchFamily="34" charset="0"/>
                <a:ea typeface="Arial" pitchFamily="34" charset="-122"/>
                <a:cs typeface="Arial" pitchFamily="34" charset="-120"/>
              </a:rPr>
              <a:t>sourceValue is coerced to a string and trimmed; that trimmed value, with its case unchanged, is the value the search uses. Sample: 'MXQ13005TC'.</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Placeholder and length guard.  </a:t>
            </a:r>
            <a:pPr indent="0" marL="0">
              <a:spcAft>
                <a:spcPts val="300"/>
              </a:spcAft>
              <a:buNone/>
            </a:pPr>
            <a:r>
              <a:rPr lang="en-US" sz="1000" dirty="0">
                <a:solidFill>
                  <a:srgbClr val="24272A"/>
                </a:solidFill>
                <a:latin typeface="Arial" pitchFamily="34" charset="0"/>
                <a:ea typeface="Arial" pitchFamily="34" charset="-122"/>
                <a:cs typeface="Arial" pitchFamily="34" charset="-120"/>
              </a:rPr>
              <a:t>A serial shorter than four characters is refused, and so is one whose lower-cased form, wrapped in commas, is found in the placeholder list quoted in full under literals, because such vendor values sit on dozens of CIs.</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Resolve the ignored classes.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If the framework defined a non-empty _ignoreClass variable its string value is used; otherwise the script reads gs.getProperty('sn_sec_cmn.ignoreCIClass', ''). An empty result means no class filter is added to the query.</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Query the serial across the hardware tree.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A GlideRecord on cmdb_ci_hardware (no isValid check, no class restriction, the OS never consulted): addQuery('serial_number', serial) exact match, addQuery('sys_class_name', 'NOT IN', ignore) when the list is non-empty, then query(), no setLimit.</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Exactly one row.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If next() is false the rule returns null. The first row's getUniqueValue() is held; if hasNext() is true a second hardware CI of any class carries the serial (say a Storage Server with that value) and the rule returns null; else the held sys_id is returned.</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trimmed serial is shorter than four characters</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lower-cased serial is one of the placeholder tokens in the junk list</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CI under cmdb_ci_hardware (ignored classes excluded) carries the serial</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two or more CIs under cmdb_ci_hardware carry the serial, in the same or different classes, whatever their state or address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180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200  ·  PHONE</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Cisco IP Phone MAC</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DNS field as sourceValue (sample sep64f69dd5c9b0.voip.bankofamerica.com). No payload field is read: sourcePayload is received but never used. Also reads the framework variable _ignoreClass or, failing that, the property sn_sec_cmn.ignoreCIClass.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exactly one cmdb_ci_ip_phone record (sub-classes included): the owner of a network adapter carrying the MAC, else the phone whose mac_address holds it, else the phone named with the device name upper-cased (SEP64F69DD5C9B0). null in every other case.</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Serial Number Hardware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FQDN Class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the Cisco Unified CM device-name convention: the first DNS label is SEP followed by the phone's MAC address. It sits after the serial number rules (phones report no serial) and before the FQDN and hostname rules so a phone label is never tried as a server name; it searches only IP Phone CIs, so a MAC clash can never pull in a switch or a server.</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Empty guard.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Returns null at once when sourceValue (the DNS field) is empty. sourcePayload is never read: the rule works from the DNS name alone, so OS and IP play no part.</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Phone label test.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String-coerces the DNS value (no trim), takes the first label before the first dot and lower-cases it. The label must match ^sep([0-9a-f]{12})$ exactly: literal sep plus twelve hex characters; anything else (a server named sepulveda01) returns null.</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MAC rebuilt in four spellings.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The twelve hex characters are cut into six two-character pairs joined with colons. Four candidates are built in this order: colon form upper case, colon form lower case, plain hex upper case, plain hex lower case (64:F6:9D:D5:C9:B0 to 64f69dd5c9b0).</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Ignore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Reads the ignored classes from the framework variable _ignoreClass when defined and non-empty, otherwise from gs.getProperty sn_sec_cmn.ignoreCIClass with an empty default. Applied to the second and third attempts only, not to the adapter attempt.</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Attempt 1: adapter owned by an IP phone.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Queries cmdb_ci_network_adapter where mac_address IN the four candidates and cmdb_ci is not empty. Each adapter's owner sys_id is tested with a GlideRecord get on cmdb_ci_ip_phone; distinct IP Phone owners are counted once each in a map.</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Attempt 1 decision.  </a:t>
            </a:r>
            <a:pPr indent="0" marL="0">
              <a:spcAft>
                <a:spcPts val="300"/>
              </a:spcAft>
              <a:buNone/>
            </a:pPr>
            <a:r>
              <a:rPr lang="en-US" sz="1000" dirty="0">
                <a:solidFill>
                  <a:srgbClr val="24272A"/>
                </a:solidFill>
                <a:latin typeface="Arial" pitchFamily="34" charset="0"/>
                <a:ea typeface="Arial" pitchFamily="34" charset="-122"/>
                <a:cs typeface="Arial" pitchFamily="34" charset="-120"/>
              </a:rPr>
              <a:t>Exactly one distinct IP Phone owner returns that owner's sys_id. Zero owners, or two or more phones sharing the MAC on adapters, fall through to the next attempt. An adapter owned by a switch or server is skipped because the get on cmdb_ci_ip_phone fails.</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Attempt 2: MAC on the phone record.  </a:t>
            </a:r>
            <a:pPr indent="0" marL="0">
              <a:spcAft>
                <a:spcPts val="300"/>
              </a:spcAft>
              <a:buNone/>
            </a:pPr>
            <a:r>
              <a:rPr lang="en-US" sz="1000" dirty="0">
                <a:solidFill>
                  <a:srgbClr val="24272A"/>
                </a:solidFill>
                <a:latin typeface="Arial" pitchFamily="34" charset="0"/>
                <a:ea typeface="Arial" pitchFamily="34" charset="-122"/>
                <a:cs typeface="Arial" pitchFamily="34" charset="-120"/>
              </a:rPr>
              <a:t>Queries cmdb_ci_ip_phone (sub-classes included) where mac_address IN the four candidates, with sys_class_name NOT IN the ignore list when it is non-empty. next() then hasNext(): one row returns its sys_id; none or several rows fall through to the name attempt.</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Attempt 3: Unified CM device name.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Queries cmdb_ci_ip_phone where name equals the label upper-cased (SEP64F69DD5C9B0), sys_class_name NOT IN the ignore list when non-empty. No row returns null; next() then hasNext() true returns null; one row returns its sys_id. No setLimit anywhere.</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(DNS) is empty.</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lower-cased first DNS label does not match ^sep([0-9a-f]{12})$: not a Cisco Unified CM phone label; the host passes to the next rule untouched.</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IP Phone is found by adapter MAC, by the mac_address field or by the device name.</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name attempt finds two or more cmdb_ci_ip_phone records named with the device name (hasNext true).</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Two phones share the MAC on adapters or on mac_address and the name attempt then finds none or several: a shared MAC never declines by itself.</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200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250  ·  NAME</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FQDN Class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Source field DNS (sourceValue). Payload fields: OS (through classFor, decides the search table) and IP (tie-break between duplicate fqdn rows only).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single CI of the OS class whose fqdn equals the scanned name; when several carry it, the one whose ip_address equals the scanned IP; null in every other case.</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Cisco IP Phone MAC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FQDN Hardware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an exact fqdn value on a CI, but only inside the CMDB class the scanned OS text implies (sub-classes included), so a Red Hat host can never land on a Windows Server that carries the same fqdn. It is the first name rule because an exact fqdn is the most precise name evidence available once the serial number and Cisco phone rules have declined.</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Guard and normalise the DNS value.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Returns null when sourceValue is empty or absent. Otherwise coerces it to a string, trims it and lower-cases it. The whole dotted string is kept: no first label is cut and no domain suffix is stripped.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Require a dotted name.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Returns null when the normalised value contains no '.' character; a bare label is left to the hostname rules.</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Read the scanned IP for the tie-break only.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ip is '' + sourcePayload.IP when the payload carries a non-empty IP, otherwise ''. It is never a search key; it only separates duplicate fqdn rows later.</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Build the ignored-class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ignore is '' + _ignoreClass when that global is defined and truthy, otherwise gs.getProperty('sn_sec_cmn.ignoreCIClass', ''). When non-empty it becomes the query condition sys_class_name NOT IN that comma-separated list.</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Derive the class from the scanned OS.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classFor(sourcePayload.OS) returns '' for an absent OS; else it lower-cases the string, returns '' when splitting on '/' yields more than two parts, then tests fixed substrings in order (esx, windows, aix, ...). An empty result returns null before any query.</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Query the OS class for the exact fqdn.  </a:t>
            </a:r>
            <a:pPr indent="0" marL="0">
              <a:spcAft>
                <a:spcPts val="300"/>
              </a:spcAft>
              <a:buNone/>
            </a:pPr>
            <a:r>
              <a:rPr lang="en-US" sz="1000" dirty="0">
                <a:solidFill>
                  <a:srgbClr val="24272A"/>
                </a:solidFill>
                <a:latin typeface="Arial" pitchFamily="34" charset="0"/>
                <a:ea typeface="Arial" pitchFamily="34" charset="-122"/>
                <a:cs typeface="Arial" pitchFamily="34" charset="-120"/>
              </a:rPr>
              <a:t>GlideRecord on the class table classFor returned (null when isValid() is false), addQuery('fqdn', normalised name), the NOT IN ignore condition when set, then query(). Sub-classes come in through the table hierarchy; no setLimit.</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Collect every hit and every IP-confirmed hit.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while (gr.next()): each sys_id (getUniqueValue) is pushed to ids; when ip is non-empty and gr.getValue('ip_address') equals ip as a plain string, with no normalisation of the CI value, the sys_id is also pushed to ipHits. All rows are read.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Decide exactly one.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ids.length 1 returns that sys_id. ids.length above 1 with ipHits.length exactly 1 returns the IP-confirmed sys_id. Every other outcome (no row; duplicates where none or several carry the scanned IP) returns null rather than guessing.</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No retired, twin or agreement handling.  </a:t>
            </a:r>
            <a:pPr indent="0" marL="0">
              <a:spcAft>
                <a:spcPts val="300"/>
              </a:spcAft>
              <a:buNone/>
            </a:pPr>
            <a:r>
              <a:rPr lang="en-US" sz="1000" dirty="0">
                <a:solidFill>
                  <a:srgbClr val="24272A"/>
                </a:solidFill>
                <a:latin typeface="Arial" pitchFamily="34" charset="0"/>
                <a:ea typeface="Arial" pitchFamily="34" charset="-122"/>
                <a:cs typeface="Arial" pitchFamily="34" charset="-120"/>
              </a:rPr>
              <a:t>The script tests neither install_status nor operational_status and never compares the CI's sys_class_name with the OS class after the query: a retired CI with the same fqdn is an ordinary duplicate that only the IP can separate.</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 or absent</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normalised DNS value contains no '.' (a bare hostname)</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classFor(OS) returns '': OS absent, OS with more than two '/'-separated parts, or no keyword found in the OS text</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class table classFor named is not a valid table (gr.isValid() is false)</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CI of that class outside the ignored classes carries the scanned name in fqdn</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two or more CIs carry the fqdn and the payload has no IP</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two or more CIs carry the fqdn and none of them has ip_address equal to the scanned IP</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two or more CIs carry the fqdn and two or more of them have ip_address equal to the scanned IP</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250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260  ·  NAME</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FQDN Hardware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Source field DNS (sourceValue). Payload field: IP (tie-break between duplicate fqdn rows only). OS is not read.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single hardware CI whose fqdn equals the scanned name; when several carry it, the one whose ip_address equals the scanned IP; null in every other case.</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FQDN Class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Hostname Domain Class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an exact fqdn value on any CI under cmdb_ci_hardware without consulting the OS, so hosts whose OS gives no class (multi-guess fingerprints) or whose CI is kept in a generic or different class still match on the fqdn field. It follows USEM FQDN Class Match because the class-restricted search is the more precise of the two.</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Guard and normalise the DNS value.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Returns null when sourceValue is empty or absent. Otherwise coerces it to a string, trims it and lower-cases it. The whole dotted string is kept: no first label is cut and no domain suffix is stripped.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Require a dotted name.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Returns null when the normalised value contains no '.' character; a bare label is left to the hostname rules.</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Read the scanned IP for the tie-break only.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ip is '' + sourcePayload.IP when the payload carries a non-empty IP, otherwise ''. It is never a search key; it only separates duplicate fqdn rows later.</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Build the ignored-class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ignore is '' + _ignoreClass when that global is defined and truthy, otherwise gs.getProperty('sn_sec_cmn.ignoreCIClass', ''). When non-empty it becomes the query condition sys_class_name NOT IN that comma-separated list.</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Query cmdb_ci_hardware for the exact fqdn.  </a:t>
            </a:r>
            <a:pPr indent="0" marL="0">
              <a:spcAft>
                <a:spcPts val="300"/>
              </a:spcAft>
              <a:buNone/>
            </a:pPr>
            <a:r>
              <a:rPr lang="en-US" sz="1000" dirty="0">
                <a:solidFill>
                  <a:srgbClr val="24272A"/>
                </a:solidFill>
                <a:latin typeface="Arial" pitchFamily="34" charset="0"/>
                <a:ea typeface="Arial" pitchFamily="34" charset="-122"/>
                <a:cs typeface="Arial" pitchFamily="34" charset="-120"/>
              </a:rPr>
              <a:t>GlideRecord('cmdb_ci_hardware') (null when isValid() is false), addQuery('fqdn', normalised name), the NOT IN ignore condition when set, then query(). Hardware and every class beneath it are searched; the OS is not consulted; no setLimit.</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Collect every hit and every IP-confirmed hit.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while (gr.next()): each sys_id (getUniqueValue) is pushed to ids; when ip is non-empty and gr.getValue('ip_address') equals ip as a plain string, with no normalisation of the CI value, the sys_id is also pushed to ipHits. All rows are read.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Decide exactly one.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ids.length 1 returns that sys_id. ids.length above 1 with ipHits.length exactly 1 returns the IP-confirmed sys_id. Every other outcome (no row; duplicates where none or several carry the scanned IP) returns null rather than guessing.</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No retired, twin or agreement handling.  </a:t>
            </a:r>
            <a:pPr indent="0" marL="0">
              <a:spcAft>
                <a:spcPts val="300"/>
              </a:spcAft>
              <a:buNone/>
            </a:pPr>
            <a:r>
              <a:rPr lang="en-US" sz="1000" dirty="0">
                <a:solidFill>
                  <a:srgbClr val="24272A"/>
                </a:solidFill>
                <a:latin typeface="Arial" pitchFamily="34" charset="0"/>
                <a:ea typeface="Arial" pitchFamily="34" charset="-122"/>
                <a:cs typeface="Arial" pitchFamily="34" charset="-120"/>
              </a:rPr>
              <a:t>No status test and no class agreement: a Windows Server, a Linux Server and a retired duplicate all carrying the fqdn are equal duplicates that only the scanned IP can separate.</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 or absent</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normalised DNS value contains no '.' (a bare hostname)</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GlideRecord('cmdb_ci_hardware').isValid() is false</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CI under cmdb_ci_hardware outside the ignored classes carries the scanned name in fqdn</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two or more hardware CIs carry the fqdn and the payload has no IP</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two or more hardware CIs carry the fqdn and none of them has ip_address equal to the scanned IP</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two or more hardware CIs carry the fqdn and two or more of them have ip_address equal to the scanned IP</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260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300  ·  NAME</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Hostname Domain Class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DNS (sourceValue); payload OS (for the class) and payload IP (tie-break only); the framework variable _ignoreClass when supplied, otherwise the property sn_sec_cmn.ignoreCIClass. The rule argument is not used.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one CI of the OS-implied class (subclasses included) named with the short hostname whose fqdn or dns_domain agrees with the scanned domain, or the single agreeing CI carrying the scanned IP when several agree; null otherwise.</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FQDN Hardware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Hostname Domain Hardware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the scanned DNS name split into a short hostname and a domain, and requires the CI's own fqdn or dns_domain to agree with that domain, searching only the CMDB class the scanned OS text implies so a namesake in another domain or class is never taken. It sits right after the exact-fqdn rules because it is the strictest name-based search that still tolerates a CI that never had the fqdn copied into its name.</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Source guard and normalisation.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Returns null when sourceValue (the DNS field) is empty. Otherwise coerces it to a string, trims it and lower-cases it; sample 'ah-1047132-001.sdi.corp.bankofamerica.com'.</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Split into short hostname and domain.  </a:t>
            </a:r>
            <a:pPr indent="0" marL="0">
              <a:spcAft>
                <a:spcPts val="300"/>
              </a:spcAft>
              <a:buNone/>
            </a:pPr>
            <a:r>
              <a:rPr lang="en-US" sz="1000" dirty="0">
                <a:solidFill>
                  <a:srgbClr val="24272A"/>
                </a:solidFill>
                <a:latin typeface="Arial" pitchFamily="34" charset="0"/>
                <a:ea typeface="Arial" pitchFamily="34" charset="-122"/>
                <a:cs typeface="Arial" pitchFamily="34" charset="-120"/>
              </a:rPr>
              <a:t>Finds the first dot. When there is none or it is the first character the rule returns null (a bare label is left to the hostname rules). host is the text before the first dot ('ah-1047132-001'), domain everything after it ('sdi.corp.bankofamerica.com').</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Read the IP and the ignore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ip is the payload IP as a string, or empty when absent. ignore is the framework variable _ignoreClass when defined and non-empty, otherwise the property sn_sec_cmn.ignoreCIClass, a comma list of exact class names.</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Class from the scanned OS.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classFor gives no class for an empty OS or three or more '/'-separated guesses; otherwise ordered keyword tests pick ESX, Windows Server or Computer, AIX, Solaris, HP-UX, Storage Server, Printer, Linux Server or Network Gear. No class returns null.</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Query the class table by short name.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GlideRecord on the chosen class table (its subclasses included by the table hierarchy); an invalid table returns null. Query: name equals host (case-insensitive), and sys_class_name NOT IN the ignore list when that list is non-empty. No setLimit.</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Walk every row and test domain agreement.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Each row's fqdn and dns_domain are read as lower-cased strings. A row agrees when fqdn equals the full scanned name, or dns_domain equals domain, or fqdn starts with host plus a dot and contains domain after position 0; agreeing rows are kept in good.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Collect IP hits in the same pass.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An agreeing row whose ip_address equals the payload IP exactly (plain string compare, no normalisation) is also added to ipHits; nothing is added when the payload carries no IP.</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Decide.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Exactly one entry in good: return its sys_id. Two or more in good and exactly one in ipHits: return that one. Anything else (no agreeing CI, or a tie the IP cannot break) returns null. The count comes from the collected arrays, not from next then hasNext.</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(the DNS field) is empty</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lower-cased name has no dot, or its first character is a dot (bare label left to the hostname rules)</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classFor gives no class: OS empty, OS with three or more '/'-separated guesses, or OS text matching none of the keywords</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GlideRecord for the OS-implied class table is not valid</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CI of that class (ignore-listed classes excluded) named with the short hostname has fqdn or dns_domain agreeing with the scanned domain</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Two or more CIs agree and the scanned IP does not single out exactly one of them (no payload IP, no ip_address hit, or several hits)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300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310  ·  NAME</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Hostname Domain Hardware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DNS (sourceValue); payload IP (tie-break only); the framework variable _ignoreClass when supplied, otherwise the property sn_sec_cmn.ignoreCIClass. The OS is not read. The rule argument is not used.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one hardware CI (any class under cmdb_ci_hardware not on the ignore list) named with the short hostname whose fqdn or dns_domain agrees with the scanned domain, or the single agreeing CI carrying the scanned IP when several agree; null otherwise.</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Hostname Domain Class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Layered DNS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The same short-hostname-plus-domain evidence, but across all of cmdb_ci_hardware, for CIs classed generically (Server, Computer) or differently from what the scanned OS implies. It follows the class-scoped variant so a class-consistent hit always wins first, and precedes the layered DNS and plain hostname rules, which need less evidence.</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Source guard and normalisation.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Returns null when sourceValue (the DNS field) is empty. Otherwise coerces it to a string, trims it and lower-cases it; sample 'lrche01xtrapd01.sdi.corp.bankofamerica.com'.</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Split into short hostname and domain.  </a:t>
            </a:r>
            <a:pPr indent="0" marL="0">
              <a:spcAft>
                <a:spcPts val="300"/>
              </a:spcAft>
              <a:buNone/>
            </a:pPr>
            <a:r>
              <a:rPr lang="en-US" sz="1000" dirty="0">
                <a:solidFill>
                  <a:srgbClr val="24272A"/>
                </a:solidFill>
                <a:latin typeface="Arial" pitchFamily="34" charset="0"/>
                <a:ea typeface="Arial" pitchFamily="34" charset="-122"/>
                <a:cs typeface="Arial" pitchFamily="34" charset="-120"/>
              </a:rPr>
              <a:t>Finds the first dot. When there is none or it is the first character the rule returns null (a bare label is left to the hostname rules). host is the text before the first dot ('lrche01xtrapd01'), domain everything after it ('sdi.corp.bankofamerica.com').</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Read the IP and the ignore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ip is the payload IP as a string, or empty when absent. ignore is the framework variable _ignoreClass when defined and non-empty, otherwise the property sn_sec_cmn.ignoreCIClass, a comma list of exact class names. No class is derived; the OS is never read.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Query cmdb_ci_hardware by short name.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GlideRecord on cmdb_ci_hardware (an invalid table returns null), so every hardware subclass is searched regardless of the scanned OS. Query: name equals host (case-insensitive); sys_class_name NOT IN ignore when non-empty. No setLimit.</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Walk every row and test domain agreement.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Each row's fqdn and dns_domain are read as lower-cased strings. A row agrees when fqdn equals the full scanned name, or dns_domain equals domain, or fqdn starts with host plus a dot and contains domain after position 0; agreeing rows are kept in good.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Collect IP hits in the same pass.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An agreeing row whose ip_address equals the payload IP exactly (plain string compare, no normalisation) is also added to ipHits; nothing is added when the payload carries no IP.</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Decide.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Exactly one entry in good: return its sys_id. Two or more in good and exactly one in ipHits: return that one. Anything else (no agreeing CI, or a tie the IP cannot break) returns null. The count comes from the collected arrays, not from next then hasNext.</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(the DNS field) is empty</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lower-cased name has no dot, or its first character is a dot (bare label left to the hostname rules)</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GlideRecord for cmdb_ci_hardware is not valid</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hardware CI (ignore-listed classes excluded) named with the short hostname has fqdn or dns_domain agreeing with the scanned domain</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Two or more hardware CIs agree and the scanned IP does not single out exactly one of them (no payload IP, no ip_address hit, or several hits)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310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350  ·  NAME</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Layered DNS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Source field DNS (sourceValue); from sourcePayload only OS (class preference through classFor) and IP (tie-break between several CIs). No other payload field is read.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CI at ip_address.nic.cmdb_ci of the cmdb_ip_address_dns_name row(s) whose dns_name.name equals the normalised DNS value, when exactly one such CI passes the ignore list and agrees() with the OS class; when several CIs answer to the name, the single one whose chain runs through ip_address.ip_address equal to the scanned IP; null in every other case, and null whenever the CI chosen exists on cmdb_ci_lb.</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Hostname Domain Hardware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Hostname Class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the scanned DNS name as it is kept in the discovery layered records (DNS Name -&gt; IP Address -&gt; Network Adapter -&gt; CI) rather than in a name field on the CI record, so it finds hosts whose name is not written on the CI at all and resolves an alias to the real machine. It sits between the rules that read fqdn / hostname-plus-domain on the CI record itself and the plain hostname rules; the scanned OS is only a preference applied to the CI at the end of the chain, never a query filter.</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Normalise the DNS value and guard bare labels.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Declines when sourceValue is empty or absent. Coerces the DNS field to a string, trims it and lower-cases it into fqdn. Declines when the result holds no '.', a bare label being left to the hostname rules. Nothing is stripped: the whole name is matched as is.</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Read the scanned IP for the tie-break only.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ip is sourcePayload.IP coerced to a string, or an empty string when the payload has none. The address is never a filter on the query; it only decides between several CIs that answer to the same name later in the walk.</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Load the ignored class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Uses _ignoreClass when the framework passes it non-empty, else gs.getProperty('sn_sec_cmn.ignoreCIClass', ''). When non-empty it is applied as a NOT IN on the class of the CI at the end of the chain, so placeholder and technical CIs are never reached.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Derive the preferred class from the OS.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pref = classFor(sourcePayload.OS): the lower-cased OS text matched on keywords gives a class (Red Hat Enterprise Linux Server 7.9 gives cmdb_ci_linux_server). An unknown OS or three or more '/'-separated guesses give '' and then nothing is refused on class.</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Query the DNS Name to IP Address link table.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Declines when cmdb_ip_address_dns_name is not a valid table. Else addQuery('dns_name.name', fqdn), addNotNullQuery('ip_address.nic.cmdb_ci') so the chain ends on a CI, and when ignore is non-empty ip_address.nic.cmdb_ci.sys_class_name NOT IN ignore; query().</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Walk every row and count distinct agreeing CIs.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All rows are read, no setLimit or hasNext. owner is ip_address.nic.cmdb_ci; a row failing agrees() is skipped, not counted or marked. Distinct owners count once, first kept. With ip set, a row whose ip_address.ip_address equals ip marks its owner in ipOwners.</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One CI: return it unless it is a load balancer.  </a:t>
            </a:r>
            <a:pPr indent="0" marL="0">
              <a:spcAft>
                <a:spcPts val="300"/>
              </a:spcAft>
              <a:buNone/>
            </a:pPr>
            <a:r>
              <a:rPr lang="en-US" sz="1000" dirty="0">
                <a:solidFill>
                  <a:srgbClr val="24272A"/>
                </a:solidFill>
                <a:latin typeface="Arial" pitchFamily="34" charset="0"/>
                <a:ea typeface="Arial" pitchFamily="34" charset="-122"/>
                <a:cs typeface="Arial" pitchFamily="34" charset="-120"/>
              </a:rPr>
              <a:t>When count is 1 the rule returns the first owner, but returns null when isLoadBalancer(first) finds that sys_id on cmdb_ci_lb: the name then belongs to a virtual address the balancer answers on, the host sits behind it and the load balancer rules take over.</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Several CIs: the scanned IP breaks the tie.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When count is above 1, confirmed = Object.keys(ipOwners). Exactly one CI reached through the scanned address, and not on cmdb_ci_lb, is returned. None, two or more, or a load balancer as the one confirmed CI gives null; no fitness heuristic is applied.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No CI: decline.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count 0 (no DNS Name row for the name, no CI at the end of any chain, every CI on the ignore list, or every CI of a class the OS rules out) returns null and the host goes on to the next rule.</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 or absent</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trimmed, lower-cased value holds no '.' (a bare label, left to the hostname rules)</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cmdb_ip_address_dns_name is not a valid table on the instance</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cmdb_ip_address_dns_name row has dns_name.name equal to the value with a CI at ip_address.nic.cmdb_ci</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every CI reached is of a class on sn_sec_cmn.ignoreCIClass (or _ignoreClass) or fails agrees() against the class the OS implies</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exactly one CI is reached but its sys_id exists on cmdb_ci_lb (load balancer device)</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several CIs answer to the name and the payload has no IP, or none of their chains runs through ip_address.ip_address equal to the scanned IP</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several CIs answer to the name and two or more of them are reached through the scanned IP</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several CIs answer to the name and the single one reached through the scanned IP exists on cmdb_ci_lb</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350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400  ·  NAME</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Hostname Class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Source field DNS (sourceValue) plus payload field OS (sourcePayload.OS); no other payload field is read and the rule argument is never used.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single CI of the OS-implied class (sub-classes included, ignored classes excluded) whose name equals the short hostname; null in every other case.</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Layered DNS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Hostname Hardware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the short hostname (first DNS label) only inside the CMDB class the scanned OS implies, so the OS-to-class agreement stands in for the domain evidence the CI lacks. It sits right after the domain-evidence rules because it is the first rule that accepts a CI carrying only a short name.</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Guard and normalise the DNS value.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Declines at once when sourceValue is empty. Otherwise coerces it to a string, trims it and lower-cases it (sample: wsaoi01zeapd1.sdi.corp.bankofamerica.com).</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Take the first label as the short host.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Splits the lowered value on '.' and keeps element 0 (wsaoi01zeapd1). Everything after the first dot is dropped; no suffix list is consulted. An empty first label (value starting with a dot) declines.</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Resolve the ignore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Uses the framework variable _ignoreClass when it is defined and non-empty (coerced to a string), otherwise reads system property sn_sec_cmn.ignoreCIClass with '' as default. Used later as an exact class-name NOT IN filter.</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Derive the class from the OS.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pref = classFor(sourcePayload.OS) (shared helper). Sample: 'Windows Server 2016 Standard 64 bit Edition Version 1607' gives cmdb_ci_win_server. An empty pref (empty OS, no keyword hit, or a multi-guess '/' fingerprint) declines the rule.</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Open the class table.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new GlideRecord(pref): the search stays inside that class and its sub-classes, so a Red Hat host can only land on a Linux Server and a Windows Server of the same name is never seen. If isValid() is false (class not installed) the rule declines.</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Filter by name and ignore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addQuery('name', host) with the lowered short host; the platform compares name case-insensitively, so the CI named WSAOI01ZEAPD1 matches. When the ignore list is non-empty, addQuery('sys_class_name', 'NOT IN', ignore) removes placeholder and technical classes.</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Decide exactly one.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query(); a false next() declines. The first row's sys_id is kept with getUniqueValue(); a true hasNext() (a second CI of that class with the same name) declines. No setLimit, no orderBy, no tie-break on the scanned address, no retired or twin handling.</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Return the sys_id.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Returns the kept sys_id. Class restriction plus uniqueness of the name inside the class are the only safeguards: the domain of the CI is never read here.</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first label of the trimmed, lowered DNS value is empty</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classFor(OS) returns '' (empty OS, no keyword hit, or an OS text split by '/' into three or more segments)</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class table named by classFor is not valid on the instance (gr.isValid() false)</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CI of that class or its sub-classes, outside the ignored classes, is named with the short host</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a second CI of that class carries the same name (gr.hasNext() true)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400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410  ·  NAME</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Hostname Hardware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Source field DNS (sourceValue) plus payload field OS (sourcePayload.OS); sys_class_name of the CI found and the class hierarchy from sys_db_object (name, super_class.name). The rule argument is never used.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single hardware CI named with the short hostname when its class agrees with the OS-implied class (same class, sub-class, ancestor, or an appliance class for a Linux fingerprint); null when nothing is found, the name is shared or the class contradicts the scan.</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Hostname Class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Device Name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the short hostname across the whole cmdb_ci_hardware tree and, instead of filtering by class, rejects afterwards any CI whose class contradicts the scanned OS. It follows USEM Hostname Class Match to reach CIs kept in a parent class (Server, Computer, Hardware) or whose OS gave no class.</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Guard and normalise the DNS value.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Declines at once when sourceValue is empty. Otherwise coerces it to a string, trims it and lower-cases it (sample: va2ausapabw0.bankofamerica.com).</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Take the first label as the short host.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Splits the lowered value on '.' and keeps element 0 (va2ausapabw0). Everything after the first dot is dropped; no suffix list is consulted. An empty first label declines.</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Resolve the ignore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Uses the framework variable _ignoreClass when it is defined and non-empty (coerced to a string), otherwise reads system property sn_sec_cmn.ignoreCIClass with '' as default. Applied as an exact class-name NOT IN filter on the search.</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Derive the OS class as a preference only.  </a:t>
            </a:r>
            <a:pPr indent="0" marL="0">
              <a:spcAft>
                <a:spcPts val="300"/>
              </a:spcAft>
              <a:buNone/>
            </a:pPr>
            <a:r>
              <a:rPr lang="en-US" sz="1000" dirty="0">
                <a:solidFill>
                  <a:srgbClr val="24272A"/>
                </a:solidFill>
                <a:latin typeface="Arial" pitchFamily="34" charset="0"/>
                <a:ea typeface="Arial" pitchFamily="34" charset="-122"/>
                <a:cs typeface="Arial" pitchFamily="34" charset="-120"/>
              </a:rPr>
              <a:t>pref = classFor(sourcePayload.OS) (shared helper). Sample: 'AIX 7.3 TL3' gives cmdb_ci_aix_server. An empty pref does not decline here: it only switches the final class check off, so an unknown or multi-guess OS still matches by name alone.</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Search the whole hardware tree.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new GlideRecord('cmdb_ci_hardware') (Hardware and every class beneath it, no class filter, no isValid() guard). addQuery('name', host) with the lowered short host, compared case-insensitively; sys_class_name NOT IN ignore when the list is non-empty; query().</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Decide exactly one.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A false next() declines. The first row's sys_id (getUniqueValue) and sys_class_name (coerced to a string) are kept; a true hasNext() means two hardware CIs share the short name (test and production, retired and rebuilt): decline. No setLimit or orderBy.</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Check class agreement.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agrees(cls) (shared helper): true when pref is empty or cls equals pref; when pref is cmdb_ci_linux_server and cls or an ancestor is cmdb_ci_netgear, cmdb_ci_lb or cmdb_ci_storage_server; when pref is an ancestor of cls or cls of pref. False declines.</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Return the sys_id.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Returns the kept sys_id. Sample: cls cmdb_ci_server is an ancestor of cmdb_ci_aix_server, accepted. A Windows Server or IP Router of that name declines. An IP Switch named cncnshasd03sae0002 scanned as 'Ubuntu/Linux' is accepted through the appliance clause.</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first label of the trimmed, lowered DNS value is empty</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CI in cmdb_ci_hardware or beneath it, outside the ignored classes, is named with the short host</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a second hardware CI carries the same name (gr.hasNext() true), whatever its class or retired state</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pref is set and cls is not pref, a sub-class or ancestor of it, nor (Linux pref) cmdb_ci_netgear, cmdb_ci_lb, cmdb_ci_storage_server or a class beneath one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410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415  ·  NAME</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Device Name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DNS field as sourceValue (sample avxdd008a.cc.bofa.com); from sourcePayload the OS (guard only) and the IP (tie-break only). Also reads _ignoreClass or the property sn_sec_cmn.ignoreCIClass.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one cmdb_ci_ip_phone or cmdb_ci_imaging_hardware record (sub-classes included, ignored classes excluded) whose name equals the host label; when several carry the name, the single one whose ip_address equals the scanned IP. null otherwise, and null when the OS names a server, desktop or other classed system.</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Hostname Hardware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Management Interface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the scanned host name for the two device classes outside the Hardware tree, IP Phone (extends cmdb_ci directly) and Imaging Hardware (scanners), which the hardware-wide name rules never see and which report no OS to an unauthenticated scan. It sits right after USEM Hostname Hardware Match so ordinary hosts are already resolved and only OS-less devices such as Avaya stations (avx plus the tail of the MAC) and scanners reach it.</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Empty guard and host label.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Returns null when sourceValue (DNS) is empty. The value is string-coerced, trimmed and lower-cased; the host is the first label before the first dot (avxdd008a). An empty first label returns null. No suffix or domain is used in the search.</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Scanned address.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Reads sourcePayload.IP as a string ('' + IP), or an empty string when the payload carries none. It is used only to break a tie between several records of one name and is never a search key.</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Ignore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Reads the ignored classes from _ignoreClass when defined and non-empty, otherwise from gs.getProperty sn_sec_cmn.ignoreCIClass with an empty default; applied as sys_class_name NOT IN on both class queries whenever the list is non-empty.</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OS guard through classFor.  </a:t>
            </a:r>
            <a:pPr indent="0" marL="0">
              <a:spcAft>
                <a:spcPts val="300"/>
              </a:spcAft>
              <a:buNone/>
            </a:pPr>
            <a:r>
              <a:rPr lang="en-US" sz="1000" dirty="0">
                <a:solidFill>
                  <a:srgbClr val="24272A"/>
                </a:solidFill>
                <a:latin typeface="Arial" pitchFamily="34" charset="0"/>
                <a:ea typeface="Arial" pitchFamily="34" charset="-122"/>
                <a:cs typeface="Arial" pitchFamily="34" charset="-120"/>
              </a:rPr>
              <a:t>Lower-cases sourcePayload.OS (empty when absent) and calls classFor. Null when the class is non-empty, not cmdb_ci_linux_server and the whole OS text lacks the word phone. No OS, Unknown OS, a keyword-free vendor name or a Linux fingerprint passes.</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What the OS guard rules out.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Every classFor class except empty and cmdb_ci_linux_server declines: ESX, Windows (server or computer), AIX, Solaris/SunOS, HP-UX, NetApp/ONTAP, printer/LaserJet/JetDirect, NX-OS/CatOS/Cisco. Cisco alone declines; Cisco IP Phone passes on phone.</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Search the two classes by name.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Loops over ['cmdb_ci_ip_phone', 'cmdb_ci_imaging_hardware'], skipping a class whose isValid() is false. Each query: name equals host (platform equality, not case-sensitive), sys_class_name NOT IN the ignore list when non-empty; sub-classes included.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Collect every row.  </a:t>
            </a:r>
            <a:pPr indent="0" marL="0">
              <a:spcAft>
                <a:spcPts val="300"/>
              </a:spcAft>
              <a:buNone/>
            </a:pPr>
            <a:r>
              <a:rPr lang="en-US" sz="1000" dirty="0">
                <a:solidFill>
                  <a:srgbClr val="24272A"/>
                </a:solidFill>
                <a:latin typeface="Arial" pitchFamily="34" charset="0"/>
                <a:ea typeface="Arial" pitchFamily="34" charset="-122"/>
                <a:cs typeface="Arial" pitchFamily="34" charset="-120"/>
              </a:rPr>
              <a:t>Every matching row's sys_id is pushed to found; a row whose ip_address, string-coerced, equals the scanned IP is also pushed to onAddress (only when an IP was supplied). All rows are read: no next/hasNext short-circuit and no setLimit.</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Decision and address tie-break.  </a:t>
            </a:r>
            <a:pPr indent="0" marL="0">
              <a:spcAft>
                <a:spcPts val="300"/>
              </a:spcAft>
              <a:buNone/>
            </a:pPr>
            <a:r>
              <a:rPr lang="en-US" sz="1000" dirty="0">
                <a:solidFill>
                  <a:srgbClr val="24272A"/>
                </a:solidFill>
                <a:latin typeface="Arial" pitchFamily="34" charset="0"/>
                <a:ea typeface="Arial" pitchFamily="34" charset="-122"/>
                <a:cs typeface="Arial" pitchFamily="34" charset="-120"/>
              </a:rPr>
              <a:t>found spans both classes. One entry is returned regardless of its ip_address. Two or more with exactly one in onAddress return that one. Otherwise null: none, or several with none or more than one on the scanned address. No retired or class agreement test.</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(DNS) is empty, or its first label before the dot is empty.</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classFor(OS) yields a class other than empty or cmdb_ci_linux_server and the lower-cased OS text does not contain the word phone.</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cmdb_ci_ip_phone or cmdb_ci_imaging_hardware record (sub-classes included, ignored classes excluded) is named with the host label.</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Several records carry the name and none has ip_address equal to sourcePayload.IP, or the payload carries no IP.</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Several records carry the name and two or more of them have ip_address equal to the scanned IP.</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415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420  ·  CONTROLLERS, INTERFACES, VIRTUAL SERVERS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Management Interface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Source field DNS (sourceValue). Payload field OS (sourcePayload.OS), lower-cased, empty when absent, used only for the controller marker words. IP and SERIAL_NUMBER are not read.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one record of cmdb_ci_hardware or any class beneath it (outside sn_sec_cmn.ignoreCIClass and not a cmdb_ci_lb record or a class beneath cmdb_ci_lb) whose name equals the label with its last hyphen segment removed; null in every other case.</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Device Name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Network Interface Name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the DNS label of a server management controller (HP iLO, Oracle ILOM, Dell iDRAC, IBM IMM, Cisco CIMC, generic BMC or IPMI), which is the server name plus a controller suffix, and returns the server CI named by the label without that suffix. It sits after the hostname rules because they have already shown that no CI carries the full controller label, and before the interface-name rule so that a '-mgmt' controller resolves to its server before any prefix walk on network devices.</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Guard the input.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Returns null when sourceValue is empty. Otherwise coerces it to a string, trims it and lower-cases it; the label is the text before the first dot, so the domain part never takes part in the match.</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Locate the last hyphen.  </a:t>
            </a:r>
            <a:pPr indent="0" marL="0">
              <a:spcAft>
                <a:spcPts val="300"/>
              </a:spcAft>
              <a:buNone/>
            </a:pPr>
            <a:r>
              <a:rPr lang="en-US" sz="1000" dirty="0">
                <a:solidFill>
                  <a:srgbClr val="24272A"/>
                </a:solidFill>
                <a:latin typeface="Arial" pitchFamily="34" charset="0"/>
                <a:ea typeface="Arial" pitchFamily="34" charset="-122"/>
                <a:cs typeface="Arial" pitchFamily="34" charset="-120"/>
              </a:rPr>
              <a:t>dash is the position of the last hyphen in the label; the rule declines when dash is below 1, that is no hyphen at all or a hyphen in first position. Exactly one segment, the one after that hyphen, can ever be stripped.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Read OS text and the ignore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os is sourcePayload.OS coerced to a string (empty when absent) and lower-cased; sourcePayload itself is not guarded. ignore is _ignoreClass when the framework fills it, else gs.getProperty('sn_sec_cmn.ignoreCIClass', ''). The IP field is never read.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Controller evidence and the server name.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tail is the segment after the last hyphen. If tail is in suffixes, base is the label up to that hyphen. Otherwise, if any markers entry is a substring of os, base is the same cut whatever the tail. Neither sign: base stays empty, null is returned.</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Search the whole hardware tree by name.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One GlideRecord on cmdb_ci_hardware with addQuery('name', base) and, when ignore is non-empty, addQuery('sys_class_name', 'NOT IN', ignore). No setLimit, no active, status, address or OS condition; Hardware itself and every class beneath it are included.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Decide exactly one.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If next() is false the rule returns null. The first row's sys_id is taken with getUniqueValue(); if hasNext() is then true a second CI carries the server name and the rule returns null rather than choose. Retired records count like any other row.</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Refuse a load balancer.  </a:t>
            </a:r>
            <a:pPr indent="0" marL="0">
              <a:spcAft>
                <a:spcPts val="300"/>
              </a:spcAft>
              <a:buNone/>
            </a:pPr>
            <a:r>
              <a:rPr lang="en-US" sz="1000" dirty="0">
                <a:solidFill>
                  <a:srgbClr val="24272A"/>
                </a:solidFill>
                <a:latin typeface="Arial" pitchFamily="34" charset="0"/>
                <a:ea typeface="Arial" pitchFamily="34" charset="-122"/>
                <a:cs typeface="Arial" pitchFamily="34" charset="-120"/>
              </a:rPr>
              <a:t>A GlideRecord on cmdb_ci_lb is opened; when the table is valid and get(match) finds the chosen sys_id there (cmdb_ci_lb or a class beneath it) the rule returns null. An invalid table skips the check. Otherwise the sys_id is returned as the match.</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label has no hyphen, or its only hyphen is in first position (lastIndexOf('-') &lt; 1)</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last segment is not in suffixes and no markers word appears as a substring of the OS text</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cmdb_ci_hardware row outside the ignore classes is named like the stripped label</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Two or more cmdb_ci_hardware rows carry the stripped name (hasNext() true after the first)</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single row found is a record of cmdb_ci_lb or a class beneath it (load balancer device)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420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430  ·  CONTROLLERS, INTERFACES, VIRTUAL SERVERS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Network Interface Name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Source field DNS (sourceValue) only. The header says the OS is also read from sourcePayload, but the code never references sourcePayload: no OS, IP or SERIAL_NUMBER value takes part in the match.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one record of cmdb_ci_netgear or cmdb_ci_lb, or any class beneath them, outside sn_sec_cmn.ignoreCIClass, whose name equals the longest hyphen-joined prefix of the label that names anything at all; null in every other case.</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Management Interface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FQDN Name Hardware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the DNS label of a network device scanned through an interface or VLAN address, which is the device name plus an interface tail, and returns the device named by the longest hyphen prefix of the label that names exactly one Network Gear or Load Balancer CI. It sits after USEM Management Interface Match so controller labels resolve to servers first, and before the FQDN name and load balancer rules.</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Guard and normalise the DNS value.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Returns null when sourceValue is empty. Otherwise coerces to a string, trims and lower-cases it; label is the text before the first dot; segments is the label split on '-'. Fewer than two segments (no hyphen) means no interface tail and the rule returns null.</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Read the ignore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ignore is _ignoreClass when the framework defines and fills it, otherwise gs.getProperty('sn_sec_cmn.ignoreCIClass', ''). When non-empty every name search below adds sys_class_name NOT IN ignore.</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isMarker: recognise an interface segment.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A segment is a marker when it equals a listed word, or starts with the word and the rest is digits only (/^[0-9]+$/, so 'vlan705', 'v201', 'po10', 'lo0'), or, for words of three letters or more, is longer than the word and ends with it ('fasteth').</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Require interface evidence.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evidence is true when the full DNS string contains a domains entry ('.network.') or any segment after the first is a marker; the first segment is never tested. Without it the rule returns null, so hyphenated hostnames like ah-1047132-001 are never cut.</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Walk the prefixes, longest first.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k runs from segments.length - 1 down to 1; base is the first k segments joined by '-'. The full label is never tried, and the single first segment is the last prefix tried. Sample order: '...-cz04-hsrp', '...-cz04', 'uspaltwrr01drm0119'.</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Search Network Gear and Load Balancer by name.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Per prefix a fresh empty hits array, then one GlideRecord per table (cmdb_ci_netgear, then cmdb_ci_lb; a table failing isValid() is skipped): addQuery('name', base) plus the ignore filter; both tables push sys_ids into that array while under two.</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Decide at the first prefix that finds anything.  </a:t>
            </a:r>
            <a:pPr indent="0" marL="0">
              <a:spcAft>
                <a:spcPts val="300"/>
              </a:spcAft>
              <a:buNone/>
            </a:pPr>
            <a:r>
              <a:rPr lang="en-US" sz="1000" dirty="0">
                <a:solidFill>
                  <a:srgbClr val="24272A"/>
                </a:solidFill>
                <a:latin typeface="Arial" pitchFamily="34" charset="0"/>
                <a:ea typeface="Arial" pitchFamily="34" charset="-122"/>
                <a:cs typeface="Arial" pitchFamily="34" charset="-120"/>
              </a:rPr>
              <a:t>Zero hits: continue with the next shorter prefix. Two hits, whether in one table or one per table: return null and never guess. One hit: return that sys_id. No setLimit, no active, status, address, OS or retired test; a retired record counts as a hit.</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Exhausted walk.  </a:t>
            </a:r>
            <a:pPr indent="0" marL="0">
              <a:spcAft>
                <a:spcPts val="300"/>
              </a:spcAft>
              <a:buNone/>
            </a:pPr>
            <a:r>
              <a:rPr lang="en-US" sz="1000" dirty="0">
                <a:solidFill>
                  <a:srgbClr val="24272A"/>
                </a:solidFill>
                <a:latin typeface="Arial" pitchFamily="34" charset="0"/>
                <a:ea typeface="Arial" pitchFamily="34" charset="-122"/>
                <a:cs typeface="Arial" pitchFamily="34" charset="-120"/>
              </a:rPr>
              <a:t>When no prefix down to the first segment names any Network Gear or Load Balancer record, the loop ends and the rule returns null; the host passes to USEM FQDN Name Hardware Match.</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label has no hyphen (segments.length &lt; 2)</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evidence: the DNS contains no '.network.' and no segment after the first is a listed marker</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first prefix that names anything names two or more CIs across cmdb_ci_netgear and cmdb_ci_lb together</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prefix from the longest down to the first segment names any CI in either table (a table failing isValid() contributes nothing)</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430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450  ·  NAME</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FQDN Name Hardware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Source field DNS (sourceValue). No payload field is read: neither IP nor OS influences the result.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single hardware CI whose name equals the scanned FQDN; null when none or more than one carries it.</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Network Interface Name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Load Balancer Member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a CI whose name field holds the complete scanned FQDN (loads that named the CI with the whole string, typically the appliance domains ending in .rpg) anywhere under cmdb_ci_hardware. It sits after the fqdn-field and short-hostname rules because those cover normal naming; this one only rescues CIs that none of them can see.</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Guard and normalise the DNS value.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Returns null when sourceValue is empty or absent. Otherwise coerces it to a string, trims it and lower-cases it. The whole dotted string is kept: no first label is cut and no domain suffix is stripped.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Require a dotted name.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Returns null when the normalised value contains no '.' character; a bare label is left to the hostname rules.</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Build the ignored-class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ignore is '' + _ignoreClass when that global is defined and truthy, otherwise gs.getProperty('sn_sec_cmn.ignoreCIClass', ''). When non-empty it becomes the query condition sys_class_name NOT IN that comma-separated list.</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Query cmdb_ci_hardware on the name field.  </a:t>
            </a:r>
            <a:pPr indent="0" marL="0">
              <a:spcAft>
                <a:spcPts val="300"/>
              </a:spcAft>
              <a:buNone/>
            </a:pPr>
            <a:r>
              <a:rPr lang="en-US" sz="1000" dirty="0">
                <a:solidFill>
                  <a:srgbClr val="24272A"/>
                </a:solidFill>
                <a:latin typeface="Arial" pitchFamily="34" charset="0"/>
                <a:ea typeface="Arial" pitchFamily="34" charset="-122"/>
                <a:cs typeface="Arial" pitchFamily="34" charset="-120"/>
              </a:rPr>
              <a:t>GlideRecord('cmdb_ci_hardware'), addQuery('name', normalised FQDN), the NOT IN ignore condition when set, then query(). The whole string including the domain is compared; Hardware and every class beneath it are searched. No setLimit, no isValid() guard.</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Take the first row with next().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If gr.next() is false the rule returns null. Otherwise match holds gr.getUniqueValue() of that first row.</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Reject a second row with hasNext().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If gr.hasNext() is true a second CI carries the same name and the rule returns null; the scanned IP, the class or a retired status never break the tie.</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Return the single match.  </a:t>
            </a:r>
            <a:pPr indent="0" marL="0">
              <a:spcAft>
                <a:spcPts val="300"/>
              </a:spcAft>
              <a:buNone/>
            </a:pPr>
            <a:r>
              <a:rPr lang="en-US" sz="1000" dirty="0">
                <a:solidFill>
                  <a:srgbClr val="24272A"/>
                </a:solidFill>
                <a:latin typeface="Arial" pitchFamily="34" charset="0"/>
                <a:ea typeface="Arial" pitchFamily="34" charset="-122"/>
                <a:cs typeface="Arial" pitchFamily="34" charset="-120"/>
              </a:rPr>
              <a:t>match is returned only when the query produced exactly one row. No IP tie-break, OS class, retired test or twin grouping exists in this script.</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 or absent</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normalised DNS value contains no '.' (a bare hostname)</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CI under cmdb_ci_hardware outside the ignored classes has name equal to the scanned FQDN</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two or more such CIs share that name (gr.hasNext() true), whatever their IP, class or status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450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455  ·  CONTROLLERS, INTERFACES, VIRTUAL SERVERS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Load Balancer Member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Source field IP (sourceValue); payload fields DNS and OS from sourcePayload; the framework variable _ignoreClass when it is passed, else the property sn_sec_cmn.ignoreCIClass.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one cmdb_ci_hardware record behind the virtual server (the single live record when that machine is recorded more than once under one name); otherwise null.</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FQDN Name Hardware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Load Balancer Service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the CMDB's own load balancer model rather than any host identifier: when the virtual server the scan hit has a fully known pool whose every member leads to one and the same machine, that machine owns the findings. It sits after the hardware rules, which find no server for a VIP, and before USEM Load Balancer Service Match so that a real server is preferred to the VIP record.</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Address guard and normalisation.  </a:t>
            </a:r>
            <a:pPr indent="0" marL="0">
              <a:spcAft>
                <a:spcPts val="300"/>
              </a:spcAft>
              <a:buNone/>
            </a:pPr>
            <a:r>
              <a:rPr lang="en-US" sz="1000" dirty="0">
                <a:solidFill>
                  <a:srgbClr val="24272A"/>
                </a:solidFill>
                <a:latin typeface="Arial" pitchFamily="34" charset="0"/>
                <a:ea typeface="Arial" pitchFamily="34" charset="-122"/>
                <a:cs typeface="Arial" pitchFamily="34" charset="-120"/>
              </a:rPr>
              <a:t>Null when sourceValue is empty. The IP is coerced to a string and trimmed; empty, or starting with "127." or "169.254.", returns null. DNS is trimmed and lower-cased, the label is the text before the first ".", OS is lower-cased without trimming.</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Ignore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The ignore classes come from the framework variable _ignoreClass when defined and non-empty, else gs.getProperty('sn_sec_cmn.ignoreCIClass', ''); when non-empty, applied as sys_class_name NOT IN on each service query and by exact class name in isRealServer.</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VIP sign.  </a:t>
            </a:r>
            <a:pPr indent="0" marL="0">
              <a:spcAft>
                <a:spcPts val="300"/>
              </a:spcAft>
              <a:buNone/>
            </a:pPr>
            <a:r>
              <a:rPr lang="en-US" sz="1000" dirty="0">
                <a:solidFill>
                  <a:srgbClr val="24272A"/>
                </a:solidFill>
                <a:latin typeface="Arial" pitchFamily="34" charset="0"/>
                <a:ea typeface="Arial" pitchFamily="34" charset="-122"/>
                <a:cs typeface="Arial" pitchFamily="34" charset="-120"/>
              </a:rPr>
              <a:t>Goes on only when the lower-cased OS contains 'f5', 'big-ip', 'big ip' or 'netscaler', or a hyphen segment of the label equals 'vip' or 'vs', is that word plus digits only, or (words of 3+ letters, so 'vip') ends in the word. Otherwise null.</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The virtual server in cmdb_ci_lb_service.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Four steps, stopping at the first that finds rows: fqdn = dns, name = dns, name = label, ip_address = ip, with sys_class_name NOT IN the ignore list when it is non-empty. An empty search value skips its step; an invalid cmdb_ci_lb_service table returns null.</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Twins of one virtual server.  </a:t>
            </a:r>
            <a:pPr indent="0" marL="0">
              <a:spcAft>
                <a:spcPts val="300"/>
              </a:spcAft>
              <a:buNone/>
            </a:pPr>
            <a:r>
              <a:rPr lang="en-US" sz="1000" dirty="0">
                <a:solidFill>
                  <a:srgbClr val="24272A"/>
                </a:solidFill>
                <a:latin typeface="Arial" pitchFamily="34" charset="0"/>
                <a:ea typeface="Arial" pitchFamily="34" charset="-122"/>
                <a:cs typeface="Arial" pitchFamily="34" charset="-120"/>
              </a:rPr>
              <a:t>Each step reads all rows with next() and collects trimmed lower-cased names before narrowing; two distinct names return null. Rows narrow to those whose ip_address equals the scanned IP, then, if more than one remains, to the live ones; all left are twins.</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Pools behind every twin.  </a:t>
            </a:r>
            <a:pPr indent="0" marL="0">
              <a:spcAft>
                <a:spcPts val="300"/>
              </a:spcAft>
              <a:buNone/>
            </a:pPr>
            <a:r>
              <a:rPr lang="en-US" sz="1000" dirty="0">
                <a:solidFill>
                  <a:srgbClr val="24272A"/>
                </a:solidFill>
                <a:latin typeface="Arial" pitchFamily="34" charset="0"/>
                <a:ea typeface="Arial" pitchFamily="34" charset="-122"/>
                <a:cs typeface="Arial" pitchFamily="34" charset="-120"/>
              </a:rPr>
              <a:t>For each twin: the pool reference field on cmdb_ci_lb_service, every cmdb_ci_lb_pool whose service field is the twin, and every cmdb_ci_lb_pool tied to the twin through cmdb_rel_ci in either direction. No pool at all returns null.</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Members and their addresses.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Members are cmdb_ci_lb_pool_member rows (table valid) with pool IN the pool ids, plus members tied to a pool through cmdb_rel_ci, one already listed skipped; each is kept with its ip_address, an empty one as '' so no address search runs. None returns null.</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Placing each member on a server.  </a:t>
            </a:r>
            <a:pPr indent="0" marL="0">
              <a:spcAft>
                <a:spcPts val="300"/>
              </a:spcAft>
              <a:buNone/>
            </a:pPr>
            <a:r>
              <a:rPr lang="en-US" sz="1000" dirty="0">
                <a:solidFill>
                  <a:srgbClr val="24272A"/>
                </a:solidFill>
                <a:latin typeface="Arial" pitchFamily="34" charset="0"/>
                <a:ea typeface="Arial" pitchFamily="34" charset="-122"/>
                <a:cs typeface="Arial" pitchFamily="34" charset="-120"/>
              </a:rPr>
              <a:t>Each address is looked for in cmdb_ci_hardware.ip_address, cmdb_ci_network_adapter.ip_address (cmdb_ci not empty) and cmdb_ci_ip_address.ip_address (nic.cmdb_ci not empty); each member also follows cmdb_rel_ci to hardware. Hits pass isRealServer through keep.</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Deciding the one machine.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Servers are keyed by the first label of their lower-cased name; a member leading to none counts as unplaced. Any unplaced member, or not exactly one name, returns null. One record is returned; of several records of one name, a single live one, else null.</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 or the trimmed IP is empty or starts with "127." or "169.254."</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VIP sign: the OS contains none of 'f5', 'big-ip', 'big ip', 'netscaler' and no hyphen segment of the DNS label is a 'vip' or 'vs' marker</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cmdb_ci_lb_service is not a valid table on the instance</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A search step returns cmdb_ci_lb_service records with two or more distinct names (trimmed, lower-cased)</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None of the four steps (fqdn = dns, name = dns, name = label, ip_address = ip) finds a cmdb_ci_lb_service record outside the ignore classes</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pool reached from any kept service record: empty pool field, no cmdb_ci_lb_pool with service = that record, no pool related through cmdb_rel_ci</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pools have no cmdb_ci_lb_pool_member, neither by the member's pool field nor by a cmdb_rel_ci relationship</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Any member leads to no real server (unresolved count above zero), leaving the pool partly unknown</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servers found carry zero, or two or more, distinct name labels (no server, or two different machines)</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one machine is recorded more than once and the live (not retired) records among them number zero or more than one</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455  ·  EXAMPLE 1 OF 3</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400" b="1" dirty="0">
                <a:solidFill>
                  <a:srgbClr val="24272A"/>
                </a:solidFill>
                <a:latin typeface="Arial" pitchFamily="34" charset="0"/>
                <a:ea typeface="Arial" pitchFamily="34" charset="-122"/>
                <a:cs typeface="Arial" pitchFamily="34" charset="-120"/>
              </a:rPr>
              <a:t>ccgw-l7-vip2.sit1.gwimnp.rpg</a:t>
            </a:r>
            <a:endParaRPr lang="en-US" sz="2400" dirty="0"/>
          </a:p>
        </p:txBody>
      </p:sp>
      <p:sp>
        <p:nvSpPr>
          <p:cNvPr id="4" name="Shape 2"/>
          <p:cNvSpPr/>
          <p:nvPr/>
        </p:nvSpPr>
        <p:spPr>
          <a:xfrm>
            <a:off x="457200" y="1325880"/>
            <a:ext cx="3611880" cy="4297680"/>
          </a:xfrm>
          <a:prstGeom prst="roundRect">
            <a:avLst>
              <a:gd name="adj" fmla="val 1266"/>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685800" y="1490472"/>
            <a:ext cx="31546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DISCOVERED ITEM</a:t>
            </a:r>
            <a:endParaRPr lang="en-US" sz="950" dirty="0"/>
          </a:p>
        </p:txBody>
      </p:sp>
      <p:sp>
        <p:nvSpPr>
          <p:cNvPr id="6" name="Text 4"/>
          <p:cNvSpPr txBox="1"/>
          <p:nvPr/>
        </p:nvSpPr>
        <p:spPr>
          <a:xfrm>
            <a:off x="685800" y="1764792"/>
            <a:ext cx="3154680" cy="411480"/>
          </a:xfrm>
          <a:prstGeom prst="rect">
            <a:avLst/>
          </a:prstGeom>
          <a:noFill/>
          <a:ln/>
        </p:spPr>
        <p:txBody>
          <a:bodyPr wrap="square" lIns="0" tIns="0" rIns="0" bIns="0" rtlCol="0" anchor="ctr"/>
          <a:lstStyle/>
          <a:p>
            <a:pPr indent="0" marL="0">
              <a:buNone/>
            </a:pPr>
            <a:r>
              <a:rPr lang="en-US" sz="1900" b="1" dirty="0">
                <a:solidFill>
                  <a:srgbClr val="24272A"/>
                </a:solidFill>
                <a:latin typeface="Arial" pitchFamily="34" charset="0"/>
                <a:ea typeface="Arial" pitchFamily="34" charset="-122"/>
                <a:cs typeface="Arial" pitchFamily="34" charset="-120"/>
              </a:rPr>
              <a:t>SDI000002418623</a:t>
            </a:r>
            <a:endParaRPr lang="en-US" sz="1900" dirty="0"/>
          </a:p>
        </p:txBody>
      </p:sp>
      <p:sp>
        <p:nvSpPr>
          <p:cNvPr id="7" name="Text 5"/>
          <p:cNvSpPr txBox="1"/>
          <p:nvPr/>
        </p:nvSpPr>
        <p:spPr>
          <a:xfrm>
            <a:off x="685800" y="2286000"/>
            <a:ext cx="3154680" cy="2743200"/>
          </a:xfrm>
          <a:prstGeom prst="rect">
            <a:avLst/>
          </a:prstGeom>
          <a:noFill/>
          <a:ln/>
        </p:spPr>
        <p:txBody>
          <a:bodyPr wrap="square" lIns="0" tIns="0" rIns="0" bIns="0" rtlCol="0" anchor="t">
            <a:normAutofit/>
          </a:bodyPr>
          <a:lstStyle/>
          <a:p>
            <a:pPr indent="0" marL="0">
              <a:buNone/>
            </a:pPr>
            <a:r>
              <a:rPr lang="en-US" sz="1250" b="1" dirty="0">
                <a:solidFill>
                  <a:srgbClr val="6B7177"/>
                </a:solidFill>
                <a:latin typeface="Arial" pitchFamily="34" charset="0"/>
                <a:ea typeface="Arial" pitchFamily="34" charset="-122"/>
                <a:cs typeface="Arial" pitchFamily="34" charset="-120"/>
              </a:rPr>
              <a:t>DNS name  </a:t>
            </a:r>
            <a:pPr indent="0" marL="0">
              <a:spcAft>
                <a:spcPts val="300"/>
              </a:spcAft>
              <a:buNone/>
            </a:pPr>
            <a:r>
              <a:rPr lang="en-US" sz="1250" dirty="0">
                <a:solidFill>
                  <a:srgbClr val="24272A"/>
                </a:solidFill>
                <a:latin typeface="Arial" pitchFamily="34" charset="0"/>
                <a:ea typeface="Arial" pitchFamily="34" charset="-122"/>
                <a:cs typeface="Arial" pitchFamily="34" charset="-120"/>
              </a:rPr>
              <a:t>ccgw-l7-vip2.sit1.gwimnp.rpg</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IP address  </a:t>
            </a:r>
            <a:pPr indent="0" marL="0">
              <a:spcAft>
                <a:spcPts val="300"/>
              </a:spcAft>
              <a:buNone/>
            </a:pPr>
            <a:r>
              <a:rPr lang="en-US" sz="1250" dirty="0">
                <a:solidFill>
                  <a:srgbClr val="24272A"/>
                </a:solidFill>
                <a:latin typeface="Arial" pitchFamily="34" charset="0"/>
                <a:ea typeface="Arial" pitchFamily="34" charset="-122"/>
                <a:cs typeface="Arial" pitchFamily="34" charset="-120"/>
              </a:rPr>
              <a:t>10.143.52.217</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Operating system  </a:t>
            </a:r>
            <a:pPr indent="0" marL="0">
              <a:spcAft>
                <a:spcPts val="300"/>
              </a:spcAft>
              <a:buNone/>
            </a:pPr>
            <a:r>
              <a:rPr lang="en-US" sz="1250" dirty="0">
                <a:solidFill>
                  <a:srgbClr val="24272A"/>
                </a:solidFill>
                <a:latin typeface="Arial" pitchFamily="34" charset="0"/>
                <a:ea typeface="Arial" pitchFamily="34" charset="-122"/>
                <a:cs typeface="Arial" pitchFamily="34" charset="-120"/>
              </a:rPr>
              <a:t>F5 Networks Big-IP</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Last evaluated  </a:t>
            </a:r>
            <a:pPr indent="0" marL="0">
              <a:spcAft>
                <a:spcPts val="300"/>
              </a:spcAft>
              <a:buNone/>
            </a:pPr>
            <a:r>
              <a:rPr lang="en-US" sz="1250" dirty="0">
                <a:solidFill>
                  <a:srgbClr val="24272A"/>
                </a:solidFill>
                <a:latin typeface="Arial" pitchFamily="34" charset="0"/>
                <a:ea typeface="Arial" pitchFamily="34" charset="-122"/>
                <a:cs typeface="Arial" pitchFamily="34" charset="-120"/>
              </a:rPr>
              <a:t>2026-09-17 02:11:52</a:t>
            </a:r>
            <a:endParaRPr lang="en-US" sz="1250" dirty="0"/>
          </a:p>
        </p:txBody>
      </p:sp>
      <p:sp>
        <p:nvSpPr>
          <p:cNvPr id="8" name="Text 6">
            <a:hlinkClick r:id="rId1" tooltip="https://bofasecopsdev.service-now.com/sn_sec_cmn_src_ci_list.do?sysparm_query=number=SDI000002418623"/>
          </p:cNvPr>
          <p:cNvSpPr txBox="1"/>
          <p:nvPr/>
        </p:nvSpPr>
        <p:spPr>
          <a:xfrm>
            <a:off x="685800" y="5239512"/>
            <a:ext cx="3154680" cy="219456"/>
          </a:xfrm>
          <a:prstGeom prst="rect">
            <a:avLst/>
          </a:prstGeom>
          <a:noFill/>
          <a:ln/>
        </p:spPr>
        <p:txBody>
          <a:bodyPr wrap="square" lIns="0" tIns="0" rIns="0" bIns="0" rtlCol="0" anchor="ctr"/>
          <a:lstStyle/>
          <a:p>
            <a:pPr indent="0" marL="0">
              <a:buNone/>
            </a:pPr>
            <a:r>
              <a:rPr lang="en-US" sz="950" u="sng" dirty="0">
                <a:solidFill>
                  <a:srgbClr val="012169"/>
                </a:solidFill>
                <a:latin typeface="Arial" pitchFamily="34" charset="0"/>
                <a:ea typeface="Arial" pitchFamily="34" charset="-122"/>
                <a:cs typeface="Arial" pitchFamily="34" charset="-120"/>
                <a:hlinkClick r:id="rId1" invalidUrl="" action="" tgtFrame="" tooltip="https://bofasecopsdev.service-now.com/sn_sec_cmn_src_ci_list.do?sysparm_query=number=SDI000002418623" history="1" highlightClick="0" endSnd="0">
                  <a:extLst>
                    <a:ext uri="{A12FA001-AC4F-418D-AE19-62706E023703}">
                      <ahyp:hlinkClr xmlns:ahyp="http://schemas.microsoft.com/office/drawing/2018/hyperlinkcolor" val="tx"/>
                    </a:ext>
                  </a:extLst>
                </a:hlinkClick>
              </a:rPr>
              <a:t>Open the discovered item</a:t>
            </a:r>
            <a:endParaRPr lang="en-US" sz="950" dirty="0"/>
          </a:p>
        </p:txBody>
      </p:sp>
      <p:sp>
        <p:nvSpPr>
          <p:cNvPr id="9" name="Shape 7"/>
          <p:cNvSpPr/>
          <p:nvPr/>
        </p:nvSpPr>
        <p:spPr>
          <a:xfrm>
            <a:off x="4288536" y="1325880"/>
            <a:ext cx="4069080" cy="4297680"/>
          </a:xfrm>
          <a:prstGeom prst="roundRect">
            <a:avLst>
              <a:gd name="adj" fmla="val 1124"/>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0" name="Text 8"/>
          <p:cNvSpPr txBox="1"/>
          <p:nvPr/>
        </p:nvSpPr>
        <p:spPr>
          <a:xfrm>
            <a:off x="4517136" y="1490472"/>
            <a:ext cx="36118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THE RULE DID</a:t>
            </a:r>
            <a:endParaRPr lang="en-US" sz="950" dirty="0"/>
          </a:p>
        </p:txBody>
      </p:sp>
      <p:sp>
        <p:nvSpPr>
          <p:cNvPr id="11" name="Text 9"/>
          <p:cNvSpPr txBox="1"/>
          <p:nvPr/>
        </p:nvSpPr>
        <p:spPr>
          <a:xfrm>
            <a:off x="4517136" y="1801368"/>
            <a:ext cx="3611880" cy="36118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VIP sign: OS "F5 Networks Big-IP" or a VIP marker in "ccgw-l7-vip2.sit1.gwimnp.rpg"</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Virtual server /Common/ihscore-sit1-ccgw-6011-vip on 10.143.52.217, pool /Common/ihscore-sit1-ccgw-443-pool, 1 member</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Every member (10.143.72.200) leads to the same machine</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Server returned: lva71pwbolcc01v [Linux Server]</a:t>
            </a:r>
            <a:endParaRPr lang="en-US" sz="1350" dirty="0"/>
          </a:p>
        </p:txBody>
      </p:sp>
      <p:sp>
        <p:nvSpPr>
          <p:cNvPr id="12" name="Shape 10"/>
          <p:cNvSpPr/>
          <p:nvPr/>
        </p:nvSpPr>
        <p:spPr>
          <a:xfrm>
            <a:off x="8577072" y="1325880"/>
            <a:ext cx="3154680" cy="4297680"/>
          </a:xfrm>
          <a:prstGeom prst="roundRect">
            <a:avLst>
              <a:gd name="adj" fmla="val 144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3" name="Shape 11"/>
          <p:cNvSpPr/>
          <p:nvPr/>
        </p:nvSpPr>
        <p:spPr>
          <a:xfrm>
            <a:off x="8577072" y="1325880"/>
            <a:ext cx="82296" cy="4297680"/>
          </a:xfrm>
          <a:prstGeom prst="rect">
            <a:avLst/>
          </a:prstGeom>
          <a:solidFill>
            <a:srgbClr val="E31837"/>
          </a:solidFill>
          <a:ln w="12700">
            <a:solidFill>
              <a:srgbClr val="333333"/>
            </a:solidFill>
            <a:prstDash val="solid"/>
          </a:ln>
        </p:spPr>
      </p:sp>
      <p:sp>
        <p:nvSpPr>
          <p:cNvPr id="14" name="Text 12"/>
          <p:cNvSpPr txBox="1"/>
          <p:nvPr/>
        </p:nvSpPr>
        <p:spPr>
          <a:xfrm>
            <a:off x="8851392" y="1490472"/>
            <a:ext cx="26974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CI MATCHED</a:t>
            </a:r>
            <a:endParaRPr lang="en-US" sz="950" dirty="0"/>
          </a:p>
        </p:txBody>
      </p:sp>
      <p:sp>
        <p:nvSpPr>
          <p:cNvPr id="15" name="Text 13"/>
          <p:cNvSpPr txBox="1"/>
          <p:nvPr/>
        </p:nvSpPr>
        <p:spPr>
          <a:xfrm>
            <a:off x="8851392" y="1764792"/>
            <a:ext cx="2651760" cy="685800"/>
          </a:xfrm>
          <a:prstGeom prst="rect">
            <a:avLst/>
          </a:prstGeom>
          <a:noFill/>
          <a:ln/>
        </p:spPr>
        <p:txBody>
          <a:bodyPr wrap="square" lIns="0" tIns="0" rIns="0" bIns="0" rtlCol="0" anchor="t">
            <a:normAutofit/>
          </a:bodyPr>
          <a:lstStyle/>
          <a:p>
            <a:pPr indent="0" marL="0">
              <a:buNone/>
            </a:pPr>
            <a:r>
              <a:rPr lang="en-US" sz="1700" b="1" dirty="0">
                <a:solidFill>
                  <a:srgbClr val="012169"/>
                </a:solidFill>
                <a:latin typeface="Arial" pitchFamily="34" charset="0"/>
                <a:ea typeface="Arial" pitchFamily="34" charset="-122"/>
                <a:cs typeface="Arial" pitchFamily="34" charset="-120"/>
              </a:rPr>
              <a:t>lva71pwbolcc01v</a:t>
            </a:r>
            <a:endParaRPr lang="en-US" sz="1700" dirty="0"/>
          </a:p>
        </p:txBody>
      </p:sp>
      <p:sp>
        <p:nvSpPr>
          <p:cNvPr id="16" name="Text 14"/>
          <p:cNvSpPr txBox="1"/>
          <p:nvPr/>
        </p:nvSpPr>
        <p:spPr>
          <a:xfrm>
            <a:off x="8851392" y="2468880"/>
            <a:ext cx="2651760" cy="292608"/>
          </a:xfrm>
          <a:prstGeom prst="rect">
            <a:avLst/>
          </a:prstGeom>
          <a:noFill/>
          <a:ln/>
        </p:spPr>
        <p:txBody>
          <a:bodyPr wrap="square" lIns="0" tIns="0" rIns="0" bIns="0" rtlCol="0" anchor="ctr"/>
          <a:lstStyle/>
          <a:p>
            <a:pPr indent="0" marL="0">
              <a:buNone/>
            </a:pPr>
            <a:r>
              <a:rPr lang="en-US" sz="1300" b="1" dirty="0">
                <a:solidFill>
                  <a:srgbClr val="E31837"/>
                </a:solidFill>
                <a:latin typeface="Arial" pitchFamily="34" charset="0"/>
                <a:ea typeface="Arial" pitchFamily="34" charset="-122"/>
                <a:cs typeface="Arial" pitchFamily="34" charset="-120"/>
              </a:rPr>
              <a:t>Linux Server</a:t>
            </a:r>
            <a:endParaRPr lang="en-US" sz="1300" dirty="0"/>
          </a:p>
        </p:txBody>
      </p:sp>
      <p:sp>
        <p:nvSpPr>
          <p:cNvPr id="17" name="Text 15"/>
          <p:cNvSpPr txBox="1"/>
          <p:nvPr/>
        </p:nvSpPr>
        <p:spPr>
          <a:xfrm>
            <a:off x="8851392" y="2880360"/>
            <a:ext cx="2651760" cy="2286000"/>
          </a:xfrm>
          <a:prstGeom prst="rect">
            <a:avLst/>
          </a:prstGeom>
          <a:noFill/>
          <a:ln/>
        </p:spPr>
        <p:txBody>
          <a:bodyPr wrap="square" lIns="0" tIns="0" rIns="0" bIns="0" rtlCol="0" anchor="t">
            <a:normAutofit/>
          </a:bodyPr>
          <a:lstStyle/>
          <a:p>
            <a:pPr indent="0" marL="0">
              <a:buNone/>
            </a:pPr>
            <a:endParaRPr lang="en-US" sz="1250" dirty="0"/>
          </a:p>
        </p:txBody>
      </p:sp>
      <p:sp>
        <p:nvSpPr>
          <p:cNvPr id="18" name="Text 16">
            <a:hlinkClick r:id="rId2" tooltip="https://bofasecopsdev.service-now.com/cmdb_ci_linux_server.do?sys_id=ddcdddf02b462294d50dffbdbe91bf9b"/>
          </p:cNvPr>
          <p:cNvSpPr txBox="1"/>
          <p:nvPr/>
        </p:nvSpPr>
        <p:spPr>
          <a:xfrm>
            <a:off x="8851392" y="5239512"/>
            <a:ext cx="2651760" cy="219456"/>
          </a:xfrm>
          <a:prstGeom prst="rect">
            <a:avLst/>
          </a:prstGeom>
          <a:noFill/>
          <a:ln/>
        </p:spPr>
        <p:txBody>
          <a:bodyPr wrap="square" lIns="0" tIns="0" rIns="0" bIns="0" rtlCol="0" anchor="ctr"/>
          <a:lstStyle/>
          <a:p>
            <a:pPr indent="0" marL="0">
              <a:buNone/>
            </a:pPr>
            <a:r>
              <a:rPr lang="en-US" sz="950" u="sng" dirty="0">
                <a:solidFill>
                  <a:srgbClr val="012169"/>
                </a:solidFill>
                <a:latin typeface="Arial" pitchFamily="34" charset="0"/>
                <a:ea typeface="Arial" pitchFamily="34" charset="-122"/>
                <a:cs typeface="Arial" pitchFamily="34" charset="-120"/>
                <a:hlinkClick r:id="rId2" invalidUrl="" action="" tgtFrame="" tooltip="https://bofasecopsdev.service-now.com/cmdb_ci_linux_server.do?sys_id=ddcdddf02b462294d50dffbdbe91bf9b" history="1" highlightClick="0" endSnd="0">
                  <a:extLst>
                    <a:ext uri="{A12FA001-AC4F-418D-AE19-62706E023703}">
                      <ahyp:hlinkClr xmlns:ahyp="http://schemas.microsoft.com/office/drawing/2018/hyperlinkcolor" val="tx"/>
                    </a:ext>
                  </a:extLst>
                </a:hlinkClick>
              </a:rPr>
              <a:t>Open the CI</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455  ·  EXAMPLE 2 OF 3</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400" b="1" dirty="0">
                <a:solidFill>
                  <a:srgbClr val="24272A"/>
                </a:solidFill>
                <a:latin typeface="Arial" pitchFamily="34" charset="0"/>
                <a:ea typeface="Arial" pitchFamily="34" charset="-122"/>
                <a:cs typeface="Arial" pitchFamily="34" charset="-120"/>
              </a:rPr>
              <a:t>ccgw-l7-vip2.dev.gwimnp.rpg</a:t>
            </a:r>
            <a:endParaRPr lang="en-US" sz="2400" dirty="0"/>
          </a:p>
        </p:txBody>
      </p:sp>
      <p:sp>
        <p:nvSpPr>
          <p:cNvPr id="4" name="Shape 2"/>
          <p:cNvSpPr/>
          <p:nvPr/>
        </p:nvSpPr>
        <p:spPr>
          <a:xfrm>
            <a:off x="457200" y="1325880"/>
            <a:ext cx="3611880" cy="4297680"/>
          </a:xfrm>
          <a:prstGeom prst="roundRect">
            <a:avLst>
              <a:gd name="adj" fmla="val 1266"/>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685800" y="1490472"/>
            <a:ext cx="31546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DISCOVERED ITEM</a:t>
            </a:r>
            <a:endParaRPr lang="en-US" sz="950" dirty="0"/>
          </a:p>
        </p:txBody>
      </p:sp>
      <p:sp>
        <p:nvSpPr>
          <p:cNvPr id="6" name="Text 4"/>
          <p:cNvSpPr txBox="1"/>
          <p:nvPr/>
        </p:nvSpPr>
        <p:spPr>
          <a:xfrm>
            <a:off x="685800" y="1764792"/>
            <a:ext cx="3154680" cy="411480"/>
          </a:xfrm>
          <a:prstGeom prst="rect">
            <a:avLst/>
          </a:prstGeom>
          <a:noFill/>
          <a:ln/>
        </p:spPr>
        <p:txBody>
          <a:bodyPr wrap="square" lIns="0" tIns="0" rIns="0" bIns="0" rtlCol="0" anchor="ctr"/>
          <a:lstStyle/>
          <a:p>
            <a:pPr indent="0" marL="0">
              <a:buNone/>
            </a:pPr>
            <a:r>
              <a:rPr lang="en-US" sz="1900" b="1" dirty="0">
                <a:solidFill>
                  <a:srgbClr val="24272A"/>
                </a:solidFill>
                <a:latin typeface="Arial" pitchFamily="34" charset="0"/>
                <a:ea typeface="Arial" pitchFamily="34" charset="-122"/>
                <a:cs typeface="Arial" pitchFamily="34" charset="-120"/>
              </a:rPr>
              <a:t>SDI000002411394</a:t>
            </a:r>
            <a:endParaRPr lang="en-US" sz="1900" dirty="0"/>
          </a:p>
        </p:txBody>
      </p:sp>
      <p:sp>
        <p:nvSpPr>
          <p:cNvPr id="7" name="Text 5"/>
          <p:cNvSpPr txBox="1"/>
          <p:nvPr/>
        </p:nvSpPr>
        <p:spPr>
          <a:xfrm>
            <a:off x="685800" y="2286000"/>
            <a:ext cx="3154680" cy="2743200"/>
          </a:xfrm>
          <a:prstGeom prst="rect">
            <a:avLst/>
          </a:prstGeom>
          <a:noFill/>
          <a:ln/>
        </p:spPr>
        <p:txBody>
          <a:bodyPr wrap="square" lIns="0" tIns="0" rIns="0" bIns="0" rtlCol="0" anchor="t">
            <a:normAutofit/>
          </a:bodyPr>
          <a:lstStyle/>
          <a:p>
            <a:pPr indent="0" marL="0">
              <a:buNone/>
            </a:pPr>
            <a:r>
              <a:rPr lang="en-US" sz="1250" b="1" dirty="0">
                <a:solidFill>
                  <a:srgbClr val="6B7177"/>
                </a:solidFill>
                <a:latin typeface="Arial" pitchFamily="34" charset="0"/>
                <a:ea typeface="Arial" pitchFamily="34" charset="-122"/>
                <a:cs typeface="Arial" pitchFamily="34" charset="-120"/>
              </a:rPr>
              <a:t>DNS name  </a:t>
            </a:r>
            <a:pPr indent="0" marL="0">
              <a:spcAft>
                <a:spcPts val="300"/>
              </a:spcAft>
              <a:buNone/>
            </a:pPr>
            <a:r>
              <a:rPr lang="en-US" sz="1250" dirty="0">
                <a:solidFill>
                  <a:srgbClr val="24272A"/>
                </a:solidFill>
                <a:latin typeface="Arial" pitchFamily="34" charset="0"/>
                <a:ea typeface="Arial" pitchFamily="34" charset="-122"/>
                <a:cs typeface="Arial" pitchFamily="34" charset="-120"/>
              </a:rPr>
              <a:t>ccgw-l7-vip2.dev.gwimnp.rpg</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IP address  </a:t>
            </a:r>
            <a:pPr indent="0" marL="0">
              <a:spcAft>
                <a:spcPts val="300"/>
              </a:spcAft>
              <a:buNone/>
            </a:pPr>
            <a:r>
              <a:rPr lang="en-US" sz="1250" dirty="0">
                <a:solidFill>
                  <a:srgbClr val="24272A"/>
                </a:solidFill>
                <a:latin typeface="Arial" pitchFamily="34" charset="0"/>
                <a:ea typeface="Arial" pitchFamily="34" charset="-122"/>
                <a:cs typeface="Arial" pitchFamily="34" charset="-120"/>
              </a:rPr>
              <a:t>10.143.52.163</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Operating system  </a:t>
            </a:r>
            <a:pPr indent="0" marL="0">
              <a:spcAft>
                <a:spcPts val="300"/>
              </a:spcAft>
              <a:buNone/>
            </a:pPr>
            <a:r>
              <a:rPr lang="en-US" sz="1250" dirty="0">
                <a:solidFill>
                  <a:srgbClr val="24272A"/>
                </a:solidFill>
                <a:latin typeface="Arial" pitchFamily="34" charset="0"/>
                <a:ea typeface="Arial" pitchFamily="34" charset="-122"/>
                <a:cs typeface="Arial" pitchFamily="34" charset="-120"/>
              </a:rPr>
              <a:t>F5 Networks Big-IP</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Last evaluated  </a:t>
            </a:r>
            <a:pPr indent="0" marL="0">
              <a:spcAft>
                <a:spcPts val="300"/>
              </a:spcAft>
              <a:buNone/>
            </a:pPr>
            <a:r>
              <a:rPr lang="en-US" sz="1250" dirty="0">
                <a:solidFill>
                  <a:srgbClr val="24272A"/>
                </a:solidFill>
                <a:latin typeface="Arial" pitchFamily="34" charset="0"/>
                <a:ea typeface="Arial" pitchFamily="34" charset="-122"/>
                <a:cs typeface="Arial" pitchFamily="34" charset="-120"/>
              </a:rPr>
              <a:t>2026-09-17 02:08:45</a:t>
            </a:r>
            <a:endParaRPr lang="en-US" sz="1250" dirty="0"/>
          </a:p>
        </p:txBody>
      </p:sp>
      <p:sp>
        <p:nvSpPr>
          <p:cNvPr id="8" name="Text 6">
            <a:hlinkClick r:id="rId1" tooltip="https://bofasecopsdev.service-now.com/sn_sec_cmn_src_ci_list.do?sysparm_query=number=SDI000002411394"/>
          </p:cNvPr>
          <p:cNvSpPr txBox="1"/>
          <p:nvPr/>
        </p:nvSpPr>
        <p:spPr>
          <a:xfrm>
            <a:off x="685800" y="5239512"/>
            <a:ext cx="3154680" cy="219456"/>
          </a:xfrm>
          <a:prstGeom prst="rect">
            <a:avLst/>
          </a:prstGeom>
          <a:noFill/>
          <a:ln/>
        </p:spPr>
        <p:txBody>
          <a:bodyPr wrap="square" lIns="0" tIns="0" rIns="0" bIns="0" rtlCol="0" anchor="ctr"/>
          <a:lstStyle/>
          <a:p>
            <a:pPr indent="0" marL="0">
              <a:buNone/>
            </a:pPr>
            <a:r>
              <a:rPr lang="en-US" sz="950" u="sng" dirty="0">
                <a:solidFill>
                  <a:srgbClr val="012169"/>
                </a:solidFill>
                <a:latin typeface="Arial" pitchFamily="34" charset="0"/>
                <a:ea typeface="Arial" pitchFamily="34" charset="-122"/>
                <a:cs typeface="Arial" pitchFamily="34" charset="-120"/>
                <a:hlinkClick r:id="rId1" invalidUrl="" action="" tgtFrame="" tooltip="https://bofasecopsdev.service-now.com/sn_sec_cmn_src_ci_list.do?sysparm_query=number=SDI000002411394" history="1" highlightClick="0" endSnd="0">
                  <a:extLst>
                    <a:ext uri="{A12FA001-AC4F-418D-AE19-62706E023703}">
                      <ahyp:hlinkClr xmlns:ahyp="http://schemas.microsoft.com/office/drawing/2018/hyperlinkcolor" val="tx"/>
                    </a:ext>
                  </a:extLst>
                </a:hlinkClick>
              </a:rPr>
              <a:t>Open the discovered item</a:t>
            </a:r>
            <a:endParaRPr lang="en-US" sz="950" dirty="0"/>
          </a:p>
        </p:txBody>
      </p:sp>
      <p:sp>
        <p:nvSpPr>
          <p:cNvPr id="9" name="Shape 7"/>
          <p:cNvSpPr/>
          <p:nvPr/>
        </p:nvSpPr>
        <p:spPr>
          <a:xfrm>
            <a:off x="4288536" y="1325880"/>
            <a:ext cx="4069080" cy="4297680"/>
          </a:xfrm>
          <a:prstGeom prst="roundRect">
            <a:avLst>
              <a:gd name="adj" fmla="val 1124"/>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0" name="Text 8"/>
          <p:cNvSpPr txBox="1"/>
          <p:nvPr/>
        </p:nvSpPr>
        <p:spPr>
          <a:xfrm>
            <a:off x="4517136" y="1490472"/>
            <a:ext cx="36118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THE RULE DID</a:t>
            </a:r>
            <a:endParaRPr lang="en-US" sz="950" dirty="0"/>
          </a:p>
        </p:txBody>
      </p:sp>
      <p:sp>
        <p:nvSpPr>
          <p:cNvPr id="11" name="Text 9"/>
          <p:cNvSpPr txBox="1"/>
          <p:nvPr/>
        </p:nvSpPr>
        <p:spPr>
          <a:xfrm>
            <a:off x="4517136" y="1801368"/>
            <a:ext cx="3611880" cy="36118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VIP sign: OS "F5 Networks Big-IP" or a VIP marker in "ccgw-l7-vip2.dev.gwimnp.rpg"</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Virtual server /Common/ihscore-dev-ccgw-6011-vip on 10.143.52.163, pool /Common/ihscore-dev-ccgw-443-pool, 1 member</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Every member (10.143.72.198) leads to the same machine</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Server returned: lva68pwbolcc01v [Linux Server]</a:t>
            </a:r>
            <a:endParaRPr lang="en-US" sz="1350" dirty="0"/>
          </a:p>
        </p:txBody>
      </p:sp>
      <p:sp>
        <p:nvSpPr>
          <p:cNvPr id="12" name="Shape 10"/>
          <p:cNvSpPr/>
          <p:nvPr/>
        </p:nvSpPr>
        <p:spPr>
          <a:xfrm>
            <a:off x="8577072" y="1325880"/>
            <a:ext cx="3154680" cy="4297680"/>
          </a:xfrm>
          <a:prstGeom prst="roundRect">
            <a:avLst>
              <a:gd name="adj" fmla="val 144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3" name="Shape 11"/>
          <p:cNvSpPr/>
          <p:nvPr/>
        </p:nvSpPr>
        <p:spPr>
          <a:xfrm>
            <a:off x="8577072" y="1325880"/>
            <a:ext cx="82296" cy="4297680"/>
          </a:xfrm>
          <a:prstGeom prst="rect">
            <a:avLst/>
          </a:prstGeom>
          <a:solidFill>
            <a:srgbClr val="E31837"/>
          </a:solidFill>
          <a:ln w="12700">
            <a:solidFill>
              <a:srgbClr val="333333"/>
            </a:solidFill>
            <a:prstDash val="solid"/>
          </a:ln>
        </p:spPr>
      </p:sp>
      <p:sp>
        <p:nvSpPr>
          <p:cNvPr id="14" name="Text 12"/>
          <p:cNvSpPr txBox="1"/>
          <p:nvPr/>
        </p:nvSpPr>
        <p:spPr>
          <a:xfrm>
            <a:off x="8851392" y="1490472"/>
            <a:ext cx="26974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CI MATCHED</a:t>
            </a:r>
            <a:endParaRPr lang="en-US" sz="950" dirty="0"/>
          </a:p>
        </p:txBody>
      </p:sp>
      <p:sp>
        <p:nvSpPr>
          <p:cNvPr id="15" name="Text 13"/>
          <p:cNvSpPr txBox="1"/>
          <p:nvPr/>
        </p:nvSpPr>
        <p:spPr>
          <a:xfrm>
            <a:off x="8851392" y="1764792"/>
            <a:ext cx="2651760" cy="685800"/>
          </a:xfrm>
          <a:prstGeom prst="rect">
            <a:avLst/>
          </a:prstGeom>
          <a:noFill/>
          <a:ln/>
        </p:spPr>
        <p:txBody>
          <a:bodyPr wrap="square" lIns="0" tIns="0" rIns="0" bIns="0" rtlCol="0" anchor="t">
            <a:normAutofit/>
          </a:bodyPr>
          <a:lstStyle/>
          <a:p>
            <a:pPr indent="0" marL="0">
              <a:buNone/>
            </a:pPr>
            <a:r>
              <a:rPr lang="en-US" sz="1700" b="1" dirty="0">
                <a:solidFill>
                  <a:srgbClr val="012169"/>
                </a:solidFill>
                <a:latin typeface="Arial" pitchFamily="34" charset="0"/>
                <a:ea typeface="Arial" pitchFamily="34" charset="-122"/>
                <a:cs typeface="Arial" pitchFamily="34" charset="-120"/>
              </a:rPr>
              <a:t>lva68pwbolcc01v</a:t>
            </a:r>
            <a:endParaRPr lang="en-US" sz="1700" dirty="0"/>
          </a:p>
        </p:txBody>
      </p:sp>
      <p:sp>
        <p:nvSpPr>
          <p:cNvPr id="16" name="Text 14"/>
          <p:cNvSpPr txBox="1"/>
          <p:nvPr/>
        </p:nvSpPr>
        <p:spPr>
          <a:xfrm>
            <a:off x="8851392" y="2468880"/>
            <a:ext cx="2651760" cy="292608"/>
          </a:xfrm>
          <a:prstGeom prst="rect">
            <a:avLst/>
          </a:prstGeom>
          <a:noFill/>
          <a:ln/>
        </p:spPr>
        <p:txBody>
          <a:bodyPr wrap="square" lIns="0" tIns="0" rIns="0" bIns="0" rtlCol="0" anchor="ctr"/>
          <a:lstStyle/>
          <a:p>
            <a:pPr indent="0" marL="0">
              <a:buNone/>
            </a:pPr>
            <a:r>
              <a:rPr lang="en-US" sz="1300" b="1" dirty="0">
                <a:solidFill>
                  <a:srgbClr val="E31837"/>
                </a:solidFill>
                <a:latin typeface="Arial" pitchFamily="34" charset="0"/>
                <a:ea typeface="Arial" pitchFamily="34" charset="-122"/>
                <a:cs typeface="Arial" pitchFamily="34" charset="-120"/>
              </a:rPr>
              <a:t>Linux Server</a:t>
            </a:r>
            <a:endParaRPr lang="en-US" sz="1300" dirty="0"/>
          </a:p>
        </p:txBody>
      </p:sp>
      <p:sp>
        <p:nvSpPr>
          <p:cNvPr id="17" name="Text 15"/>
          <p:cNvSpPr txBox="1"/>
          <p:nvPr/>
        </p:nvSpPr>
        <p:spPr>
          <a:xfrm>
            <a:off x="8851392" y="2880360"/>
            <a:ext cx="2651760" cy="2286000"/>
          </a:xfrm>
          <a:prstGeom prst="rect">
            <a:avLst/>
          </a:prstGeom>
          <a:noFill/>
          <a:ln/>
        </p:spPr>
        <p:txBody>
          <a:bodyPr wrap="square" lIns="0" tIns="0" rIns="0" bIns="0" rtlCol="0" anchor="t">
            <a:normAutofit/>
          </a:bodyPr>
          <a:lstStyle/>
          <a:p>
            <a:pPr indent="0" marL="0">
              <a:buNone/>
            </a:pPr>
            <a:endParaRPr lang="en-US" sz="1250" dirty="0"/>
          </a:p>
        </p:txBody>
      </p:sp>
      <p:sp>
        <p:nvSpPr>
          <p:cNvPr id="18" name="Text 16">
            <a:hlinkClick r:id="rId2" tooltip="https://bofasecopsdev.service-now.com/cmdb_ci_linux_server.do?sys_id=d78e25b82b8e2294d50dffbdbe91bf32"/>
          </p:cNvPr>
          <p:cNvSpPr txBox="1"/>
          <p:nvPr/>
        </p:nvSpPr>
        <p:spPr>
          <a:xfrm>
            <a:off x="8851392" y="5239512"/>
            <a:ext cx="2651760" cy="219456"/>
          </a:xfrm>
          <a:prstGeom prst="rect">
            <a:avLst/>
          </a:prstGeom>
          <a:noFill/>
          <a:ln/>
        </p:spPr>
        <p:txBody>
          <a:bodyPr wrap="square" lIns="0" tIns="0" rIns="0" bIns="0" rtlCol="0" anchor="ctr"/>
          <a:lstStyle/>
          <a:p>
            <a:pPr indent="0" marL="0">
              <a:buNone/>
            </a:pPr>
            <a:r>
              <a:rPr lang="en-US" sz="950" u="sng" dirty="0">
                <a:solidFill>
                  <a:srgbClr val="012169"/>
                </a:solidFill>
                <a:latin typeface="Arial" pitchFamily="34" charset="0"/>
                <a:ea typeface="Arial" pitchFamily="34" charset="-122"/>
                <a:cs typeface="Arial" pitchFamily="34" charset="-120"/>
                <a:hlinkClick r:id="rId2" invalidUrl="" action="" tgtFrame="" tooltip="https://bofasecopsdev.service-now.com/cmdb_ci_linux_server.do?sys_id=d78e25b82b8e2294d50dffbdbe91bf32" history="1" highlightClick="0" endSnd="0">
                  <a:extLst>
                    <a:ext uri="{A12FA001-AC4F-418D-AE19-62706E023703}">
                      <ahyp:hlinkClr xmlns:ahyp="http://schemas.microsoft.com/office/drawing/2018/hyperlinkcolor" val="tx"/>
                    </a:ext>
                  </a:extLst>
                </a:hlinkClick>
              </a:rPr>
              <a:t>Open the CI</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455  ·  EXAMPLE 3 OF 3</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400" b="1" dirty="0">
                <a:solidFill>
                  <a:srgbClr val="24272A"/>
                </a:solidFill>
                <a:latin typeface="Arial" pitchFamily="34" charset="0"/>
                <a:ea typeface="Arial" pitchFamily="34" charset="-122"/>
                <a:cs typeface="Arial" pitchFamily="34" charset="-120"/>
              </a:rPr>
              <a:t>multi-benefits-l7-vip2.dev.gwimnp.rpg</a:t>
            </a:r>
            <a:endParaRPr lang="en-US" sz="2400" dirty="0"/>
          </a:p>
        </p:txBody>
      </p:sp>
      <p:sp>
        <p:nvSpPr>
          <p:cNvPr id="4" name="Shape 2"/>
          <p:cNvSpPr/>
          <p:nvPr/>
        </p:nvSpPr>
        <p:spPr>
          <a:xfrm>
            <a:off x="457200" y="1325880"/>
            <a:ext cx="3611880" cy="4297680"/>
          </a:xfrm>
          <a:prstGeom prst="roundRect">
            <a:avLst>
              <a:gd name="adj" fmla="val 1266"/>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685800" y="1490472"/>
            <a:ext cx="31546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DISCOVERED ITEM</a:t>
            </a:r>
            <a:endParaRPr lang="en-US" sz="950" dirty="0"/>
          </a:p>
        </p:txBody>
      </p:sp>
      <p:sp>
        <p:nvSpPr>
          <p:cNvPr id="6" name="Text 4"/>
          <p:cNvSpPr txBox="1"/>
          <p:nvPr/>
        </p:nvSpPr>
        <p:spPr>
          <a:xfrm>
            <a:off x="685800" y="1764792"/>
            <a:ext cx="3154680" cy="411480"/>
          </a:xfrm>
          <a:prstGeom prst="rect">
            <a:avLst/>
          </a:prstGeom>
          <a:noFill/>
          <a:ln/>
        </p:spPr>
        <p:txBody>
          <a:bodyPr wrap="square" lIns="0" tIns="0" rIns="0" bIns="0" rtlCol="0" anchor="ctr"/>
          <a:lstStyle/>
          <a:p>
            <a:pPr indent="0" marL="0">
              <a:buNone/>
            </a:pPr>
            <a:r>
              <a:rPr lang="en-US" sz="1900" b="1" dirty="0">
                <a:solidFill>
                  <a:srgbClr val="24272A"/>
                </a:solidFill>
                <a:latin typeface="Arial" pitchFamily="34" charset="0"/>
                <a:ea typeface="Arial" pitchFamily="34" charset="-122"/>
                <a:cs typeface="Arial" pitchFamily="34" charset="-120"/>
              </a:rPr>
              <a:t>SDI000002375027</a:t>
            </a:r>
            <a:endParaRPr lang="en-US" sz="1900" dirty="0"/>
          </a:p>
        </p:txBody>
      </p:sp>
      <p:sp>
        <p:nvSpPr>
          <p:cNvPr id="7" name="Text 5"/>
          <p:cNvSpPr txBox="1"/>
          <p:nvPr/>
        </p:nvSpPr>
        <p:spPr>
          <a:xfrm>
            <a:off x="685800" y="2286000"/>
            <a:ext cx="3154680" cy="2743200"/>
          </a:xfrm>
          <a:prstGeom prst="rect">
            <a:avLst/>
          </a:prstGeom>
          <a:noFill/>
          <a:ln/>
        </p:spPr>
        <p:txBody>
          <a:bodyPr wrap="square" lIns="0" tIns="0" rIns="0" bIns="0" rtlCol="0" anchor="t">
            <a:normAutofit/>
          </a:bodyPr>
          <a:lstStyle/>
          <a:p>
            <a:pPr indent="0" marL="0">
              <a:buNone/>
            </a:pPr>
            <a:r>
              <a:rPr lang="en-US" sz="1250" b="1" dirty="0">
                <a:solidFill>
                  <a:srgbClr val="6B7177"/>
                </a:solidFill>
                <a:latin typeface="Arial" pitchFamily="34" charset="0"/>
                <a:ea typeface="Arial" pitchFamily="34" charset="-122"/>
                <a:cs typeface="Arial" pitchFamily="34" charset="-120"/>
              </a:rPr>
              <a:t>DNS name  </a:t>
            </a:r>
            <a:pPr indent="0" marL="0">
              <a:spcAft>
                <a:spcPts val="300"/>
              </a:spcAft>
              <a:buNone/>
            </a:pPr>
            <a:r>
              <a:rPr lang="en-US" sz="1250" dirty="0">
                <a:solidFill>
                  <a:srgbClr val="24272A"/>
                </a:solidFill>
                <a:latin typeface="Arial" pitchFamily="34" charset="0"/>
                <a:ea typeface="Arial" pitchFamily="34" charset="-122"/>
                <a:cs typeface="Arial" pitchFamily="34" charset="-120"/>
              </a:rPr>
              <a:t>multi-benefits-l7-vip2.dev.gwimnp.rpg</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IP address  </a:t>
            </a:r>
            <a:pPr indent="0" marL="0">
              <a:spcAft>
                <a:spcPts val="300"/>
              </a:spcAft>
              <a:buNone/>
            </a:pPr>
            <a:r>
              <a:rPr lang="en-US" sz="1250" dirty="0">
                <a:solidFill>
                  <a:srgbClr val="24272A"/>
                </a:solidFill>
                <a:latin typeface="Arial" pitchFamily="34" charset="0"/>
                <a:ea typeface="Arial" pitchFamily="34" charset="-122"/>
                <a:cs typeface="Arial" pitchFamily="34" charset="-120"/>
              </a:rPr>
              <a:t>10.143.52.154</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Operating system  </a:t>
            </a:r>
            <a:pPr indent="0" marL="0">
              <a:spcAft>
                <a:spcPts val="300"/>
              </a:spcAft>
              <a:buNone/>
            </a:pPr>
            <a:r>
              <a:rPr lang="en-US" sz="1250" dirty="0">
                <a:solidFill>
                  <a:srgbClr val="24272A"/>
                </a:solidFill>
                <a:latin typeface="Arial" pitchFamily="34" charset="0"/>
                <a:ea typeface="Arial" pitchFamily="34" charset="-122"/>
                <a:cs typeface="Arial" pitchFamily="34" charset="-120"/>
              </a:rPr>
              <a:t>F5 Networks Big-IP</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Last evaluated  </a:t>
            </a:r>
            <a:pPr indent="0" marL="0">
              <a:spcAft>
                <a:spcPts val="300"/>
              </a:spcAft>
              <a:buNone/>
            </a:pPr>
            <a:r>
              <a:rPr lang="en-US" sz="1250" dirty="0">
                <a:solidFill>
                  <a:srgbClr val="24272A"/>
                </a:solidFill>
                <a:latin typeface="Arial" pitchFamily="34" charset="0"/>
                <a:ea typeface="Arial" pitchFamily="34" charset="-122"/>
                <a:cs typeface="Arial" pitchFamily="34" charset="-120"/>
              </a:rPr>
              <a:t>2026-09-17 01:55:40</a:t>
            </a:r>
            <a:endParaRPr lang="en-US" sz="1250" dirty="0"/>
          </a:p>
        </p:txBody>
      </p:sp>
      <p:sp>
        <p:nvSpPr>
          <p:cNvPr id="8" name="Text 6">
            <a:hlinkClick r:id="rId1" tooltip="https://bofasecopsdev.service-now.com/sn_sec_cmn_src_ci_list.do?sysparm_query=number=SDI000002375027"/>
          </p:cNvPr>
          <p:cNvSpPr txBox="1"/>
          <p:nvPr/>
        </p:nvSpPr>
        <p:spPr>
          <a:xfrm>
            <a:off x="685800" y="5239512"/>
            <a:ext cx="3154680" cy="219456"/>
          </a:xfrm>
          <a:prstGeom prst="rect">
            <a:avLst/>
          </a:prstGeom>
          <a:noFill/>
          <a:ln/>
        </p:spPr>
        <p:txBody>
          <a:bodyPr wrap="square" lIns="0" tIns="0" rIns="0" bIns="0" rtlCol="0" anchor="ctr"/>
          <a:lstStyle/>
          <a:p>
            <a:pPr indent="0" marL="0">
              <a:buNone/>
            </a:pPr>
            <a:r>
              <a:rPr lang="en-US" sz="950" u="sng" dirty="0">
                <a:solidFill>
                  <a:srgbClr val="012169"/>
                </a:solidFill>
                <a:latin typeface="Arial" pitchFamily="34" charset="0"/>
                <a:ea typeface="Arial" pitchFamily="34" charset="-122"/>
                <a:cs typeface="Arial" pitchFamily="34" charset="-120"/>
                <a:hlinkClick r:id="rId1" invalidUrl="" action="" tgtFrame="" tooltip="https://bofasecopsdev.service-now.com/sn_sec_cmn_src_ci_list.do?sysparm_query=number=SDI000002375027" history="1" highlightClick="0" endSnd="0">
                  <a:extLst>
                    <a:ext uri="{A12FA001-AC4F-418D-AE19-62706E023703}">
                      <ahyp:hlinkClr xmlns:ahyp="http://schemas.microsoft.com/office/drawing/2018/hyperlinkcolor" val="tx"/>
                    </a:ext>
                  </a:extLst>
                </a:hlinkClick>
              </a:rPr>
              <a:t>Open the discovered item</a:t>
            </a:r>
            <a:endParaRPr lang="en-US" sz="950" dirty="0"/>
          </a:p>
        </p:txBody>
      </p:sp>
      <p:sp>
        <p:nvSpPr>
          <p:cNvPr id="9" name="Shape 7"/>
          <p:cNvSpPr/>
          <p:nvPr/>
        </p:nvSpPr>
        <p:spPr>
          <a:xfrm>
            <a:off x="4288536" y="1325880"/>
            <a:ext cx="4069080" cy="4297680"/>
          </a:xfrm>
          <a:prstGeom prst="roundRect">
            <a:avLst>
              <a:gd name="adj" fmla="val 1124"/>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0" name="Text 8"/>
          <p:cNvSpPr txBox="1"/>
          <p:nvPr/>
        </p:nvSpPr>
        <p:spPr>
          <a:xfrm>
            <a:off x="4517136" y="1490472"/>
            <a:ext cx="36118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THE RULE DID</a:t>
            </a:r>
            <a:endParaRPr lang="en-US" sz="950" dirty="0"/>
          </a:p>
        </p:txBody>
      </p:sp>
      <p:sp>
        <p:nvSpPr>
          <p:cNvPr id="11" name="Text 9"/>
          <p:cNvSpPr txBox="1"/>
          <p:nvPr/>
        </p:nvSpPr>
        <p:spPr>
          <a:xfrm>
            <a:off x="4517136" y="1801368"/>
            <a:ext cx="3611880" cy="36118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VIP sign: OS "F5 Networks Big-IP" or a VIP marker in "multi-benefits-l7-vip2.dev.gwimnp.rpg"</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Virtual server /Common/ihscore-dev-multilang_benefits-6011-vip on 10.143.52.154, pool /Common/ihscore-dev-de_benefits-444-pool, 1 member</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Every member (10.143.72.171) leads to the same machine</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Server returned: wva68pwbolts51v [Windows Server]</a:t>
            </a:r>
            <a:endParaRPr lang="en-US" sz="1350" dirty="0"/>
          </a:p>
        </p:txBody>
      </p:sp>
      <p:sp>
        <p:nvSpPr>
          <p:cNvPr id="12" name="Shape 10"/>
          <p:cNvSpPr/>
          <p:nvPr/>
        </p:nvSpPr>
        <p:spPr>
          <a:xfrm>
            <a:off x="8577072" y="1325880"/>
            <a:ext cx="3154680" cy="4297680"/>
          </a:xfrm>
          <a:prstGeom prst="roundRect">
            <a:avLst>
              <a:gd name="adj" fmla="val 144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3" name="Shape 11"/>
          <p:cNvSpPr/>
          <p:nvPr/>
        </p:nvSpPr>
        <p:spPr>
          <a:xfrm>
            <a:off x="8577072" y="1325880"/>
            <a:ext cx="82296" cy="4297680"/>
          </a:xfrm>
          <a:prstGeom prst="rect">
            <a:avLst/>
          </a:prstGeom>
          <a:solidFill>
            <a:srgbClr val="E31837"/>
          </a:solidFill>
          <a:ln w="12700">
            <a:solidFill>
              <a:srgbClr val="333333"/>
            </a:solidFill>
            <a:prstDash val="solid"/>
          </a:ln>
        </p:spPr>
      </p:sp>
      <p:sp>
        <p:nvSpPr>
          <p:cNvPr id="14" name="Text 12"/>
          <p:cNvSpPr txBox="1"/>
          <p:nvPr/>
        </p:nvSpPr>
        <p:spPr>
          <a:xfrm>
            <a:off x="8851392" y="1490472"/>
            <a:ext cx="26974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CI MATCHED</a:t>
            </a:r>
            <a:endParaRPr lang="en-US" sz="950" dirty="0"/>
          </a:p>
        </p:txBody>
      </p:sp>
      <p:sp>
        <p:nvSpPr>
          <p:cNvPr id="15" name="Text 13"/>
          <p:cNvSpPr txBox="1"/>
          <p:nvPr/>
        </p:nvSpPr>
        <p:spPr>
          <a:xfrm>
            <a:off x="8851392" y="1764792"/>
            <a:ext cx="2651760" cy="685800"/>
          </a:xfrm>
          <a:prstGeom prst="rect">
            <a:avLst/>
          </a:prstGeom>
          <a:noFill/>
          <a:ln/>
        </p:spPr>
        <p:txBody>
          <a:bodyPr wrap="square" lIns="0" tIns="0" rIns="0" bIns="0" rtlCol="0" anchor="t">
            <a:normAutofit/>
          </a:bodyPr>
          <a:lstStyle/>
          <a:p>
            <a:pPr indent="0" marL="0">
              <a:buNone/>
            </a:pPr>
            <a:r>
              <a:rPr lang="en-US" sz="1700" b="1" dirty="0">
                <a:solidFill>
                  <a:srgbClr val="012169"/>
                </a:solidFill>
                <a:latin typeface="Arial" pitchFamily="34" charset="0"/>
                <a:ea typeface="Arial" pitchFamily="34" charset="-122"/>
                <a:cs typeface="Arial" pitchFamily="34" charset="-120"/>
              </a:rPr>
              <a:t>wva68pwbolts51v</a:t>
            </a:r>
            <a:endParaRPr lang="en-US" sz="1700" dirty="0"/>
          </a:p>
        </p:txBody>
      </p:sp>
      <p:sp>
        <p:nvSpPr>
          <p:cNvPr id="16" name="Text 14"/>
          <p:cNvSpPr txBox="1"/>
          <p:nvPr/>
        </p:nvSpPr>
        <p:spPr>
          <a:xfrm>
            <a:off x="8851392" y="2468880"/>
            <a:ext cx="2651760" cy="292608"/>
          </a:xfrm>
          <a:prstGeom prst="rect">
            <a:avLst/>
          </a:prstGeom>
          <a:noFill/>
          <a:ln/>
        </p:spPr>
        <p:txBody>
          <a:bodyPr wrap="square" lIns="0" tIns="0" rIns="0" bIns="0" rtlCol="0" anchor="ctr"/>
          <a:lstStyle/>
          <a:p>
            <a:pPr indent="0" marL="0">
              <a:buNone/>
            </a:pPr>
            <a:r>
              <a:rPr lang="en-US" sz="1300" b="1" dirty="0">
                <a:solidFill>
                  <a:srgbClr val="E31837"/>
                </a:solidFill>
                <a:latin typeface="Arial" pitchFamily="34" charset="0"/>
                <a:ea typeface="Arial" pitchFamily="34" charset="-122"/>
                <a:cs typeface="Arial" pitchFamily="34" charset="-120"/>
              </a:rPr>
              <a:t>Windows Server</a:t>
            </a:r>
            <a:endParaRPr lang="en-US" sz="1300" dirty="0"/>
          </a:p>
        </p:txBody>
      </p:sp>
      <p:sp>
        <p:nvSpPr>
          <p:cNvPr id="17" name="Text 15"/>
          <p:cNvSpPr txBox="1"/>
          <p:nvPr/>
        </p:nvSpPr>
        <p:spPr>
          <a:xfrm>
            <a:off x="8851392" y="2880360"/>
            <a:ext cx="2651760" cy="2286000"/>
          </a:xfrm>
          <a:prstGeom prst="rect">
            <a:avLst/>
          </a:prstGeom>
          <a:noFill/>
          <a:ln/>
        </p:spPr>
        <p:txBody>
          <a:bodyPr wrap="square" lIns="0" tIns="0" rIns="0" bIns="0" rtlCol="0" anchor="t">
            <a:normAutofit/>
          </a:bodyPr>
          <a:lstStyle/>
          <a:p>
            <a:pPr indent="0" marL="0">
              <a:buNone/>
            </a:pPr>
            <a:endParaRPr lang="en-US" sz="1250" dirty="0"/>
          </a:p>
        </p:txBody>
      </p:sp>
      <p:sp>
        <p:nvSpPr>
          <p:cNvPr id="18" name="Text 16">
            <a:hlinkClick r:id="rId2" tooltip="https://bofasecopsdev.service-now.com/cmdb_ci_win_server.do?sys_id=813bd5383b0e6254a052e71864e45a35"/>
          </p:cNvPr>
          <p:cNvSpPr txBox="1"/>
          <p:nvPr/>
        </p:nvSpPr>
        <p:spPr>
          <a:xfrm>
            <a:off x="8851392" y="5239512"/>
            <a:ext cx="2651760" cy="219456"/>
          </a:xfrm>
          <a:prstGeom prst="rect">
            <a:avLst/>
          </a:prstGeom>
          <a:noFill/>
          <a:ln/>
        </p:spPr>
        <p:txBody>
          <a:bodyPr wrap="square" lIns="0" tIns="0" rIns="0" bIns="0" rtlCol="0" anchor="ctr"/>
          <a:lstStyle/>
          <a:p>
            <a:pPr indent="0" marL="0">
              <a:buNone/>
            </a:pPr>
            <a:r>
              <a:rPr lang="en-US" sz="950" u="sng" dirty="0">
                <a:solidFill>
                  <a:srgbClr val="012169"/>
                </a:solidFill>
                <a:latin typeface="Arial" pitchFamily="34" charset="0"/>
                <a:ea typeface="Arial" pitchFamily="34" charset="-122"/>
                <a:cs typeface="Arial" pitchFamily="34" charset="-120"/>
                <a:hlinkClick r:id="rId2" invalidUrl="" action="" tgtFrame="" tooltip="https://bofasecopsdev.service-now.com/cmdb_ci_win_server.do?sys_id=813bd5383b0e6254a052e71864e45a35" history="1" highlightClick="0" endSnd="0">
                  <a:extLst>
                    <a:ext uri="{A12FA001-AC4F-418D-AE19-62706E023703}">
                      <ahyp:hlinkClr xmlns:ahyp="http://schemas.microsoft.com/office/drawing/2018/hyperlinkcolor" val="tx"/>
                    </a:ext>
                  </a:extLst>
                </a:hlinkClick>
              </a:rPr>
              <a:t>Open the CI</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460  ·  CONTROLLERS, INTERFACES, VIRTUAL SERVERS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Load Balancer Service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Source field IP (sourceValue); payload fields DNS and OS from sourcePayload; the framework variable _ignoreClass when it is passed, else the property sn_sec_cmn.ignoreCIClass.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one cmdb_ci_lb_service record left after narrowing by scanned address and then by live status; otherwise null.</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Load Balancer Member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IP Class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the Load Balancer Service CI that models the virtual IP: a VIP is not the balancer device, which the hardware rules refuse on purpose, so the host is attached to the service record found by fqdn, then name, then address. It runs on the IP field so VIPs without a DNS name are covered, after USEM Load Balancer Member Match so a real server is preferred, and before the IP address rules.</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Address guard and normalisation.  </a:t>
            </a:r>
            <a:pPr indent="0" marL="0">
              <a:spcAft>
                <a:spcPts val="300"/>
              </a:spcAft>
              <a:buNone/>
            </a:pPr>
            <a:r>
              <a:rPr lang="en-US" sz="1000" dirty="0">
                <a:solidFill>
                  <a:srgbClr val="24272A"/>
                </a:solidFill>
                <a:latin typeface="Arial" pitchFamily="34" charset="0"/>
                <a:ea typeface="Arial" pitchFamily="34" charset="-122"/>
                <a:cs typeface="Arial" pitchFamily="34" charset="-120"/>
              </a:rPr>
              <a:t>Null when sourceValue is empty. The IP is coerced to a string and trimmed; empty, or starting with "127." or "169.254.", returns null. DNS is trimmed and lower-cased, the label is the text before the first ".", OS is lower-cased without trimming.</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Ignore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The ignore classes come from the framework variable _ignoreClass when defined and non-empty, else from gs.getProperty('sn_sec_cmn.ignoreCIClass', ''); when non-empty it is added as sys_class_name NOT IN on every cmdb_ci_lb_service query.</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VIP evidence.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Goes on only when the lower-cased OS contains 'f5', 'big-ip', 'big ip' or 'netscaler', or a hyphen segment of the label equals 'vip' or 'vs', is that word plus digits only, or (words of 3+ letters, so 'vip') ends in the word. Otherwise null.</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Four search steps in cmdb_ci_lb_service.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In order: fqdn = dns, name = dns, name = label, ip_address = ip, with sys_class_name NOT IN the ignore list when non-empty. An empty search value skips its step; a step with no rows hands over to the next; an invalid cmdb_ci_lb_service table returns null.</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Narrowing the rows of a step.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Rows are read with next(); names (trimmed, lower-cased) are collected before narrowing; two distinct names return null. Rows narrow to those with ip_address equal to the scanned IP, then, if more than one remains, to the live ones; more than one left is null.</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Result.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The single row left in the first step that found anything is returned as its sys_id. When all four steps find nothing the rule returns null and the host passes to the IP address rules.</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 or the trimmed IP is empty or starts with "127." or "169.254."</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VIP evidence: the OS contains none of 'f5', 'big-ip', 'big ip', 'netscaler' and no hyphen segment of the DNS label is a 'vip' or 'vs' marker</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cmdb_ci_lb_service is not a valid table on the instance</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A search step returns cmdb_ci_lb_service records with two or more distinct names (trimmed, lower-cased)</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More than one record of the one virtual server survives narrowing by scanned address and then by live status (both devices of a pair live)</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None of the four steps (fqdn = dns, name = dns, name = label, ip_address = ip) finds a cmdb_ci_lb_service record outside the ignore classes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460  ·  EXAMPLE 1 OF 3</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400" b="1" dirty="0">
                <a:solidFill>
                  <a:srgbClr val="24272A"/>
                </a:solidFill>
                <a:latin typeface="Arial" pitchFamily="34" charset="0"/>
                <a:ea typeface="Arial" pitchFamily="34" charset="-122"/>
                <a:cs typeface="Arial" pitchFamily="34" charset="-120"/>
              </a:rPr>
              <a:t>171.159.246.128</a:t>
            </a:r>
            <a:endParaRPr lang="en-US" sz="2400" dirty="0"/>
          </a:p>
        </p:txBody>
      </p:sp>
      <p:sp>
        <p:nvSpPr>
          <p:cNvPr id="4" name="Shape 2"/>
          <p:cNvSpPr/>
          <p:nvPr/>
        </p:nvSpPr>
        <p:spPr>
          <a:xfrm>
            <a:off x="457200" y="1325880"/>
            <a:ext cx="3611880" cy="4297680"/>
          </a:xfrm>
          <a:prstGeom prst="roundRect">
            <a:avLst>
              <a:gd name="adj" fmla="val 1266"/>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685800" y="1490472"/>
            <a:ext cx="31546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DISCOVERED ITEM</a:t>
            </a:r>
            <a:endParaRPr lang="en-US" sz="950" dirty="0"/>
          </a:p>
        </p:txBody>
      </p:sp>
      <p:sp>
        <p:nvSpPr>
          <p:cNvPr id="6" name="Text 4"/>
          <p:cNvSpPr txBox="1"/>
          <p:nvPr/>
        </p:nvSpPr>
        <p:spPr>
          <a:xfrm>
            <a:off x="685800" y="1764792"/>
            <a:ext cx="3154680" cy="411480"/>
          </a:xfrm>
          <a:prstGeom prst="rect">
            <a:avLst/>
          </a:prstGeom>
          <a:noFill/>
          <a:ln/>
        </p:spPr>
        <p:txBody>
          <a:bodyPr wrap="square" lIns="0" tIns="0" rIns="0" bIns="0" rtlCol="0" anchor="ctr"/>
          <a:lstStyle/>
          <a:p>
            <a:pPr indent="0" marL="0">
              <a:buNone/>
            </a:pPr>
            <a:r>
              <a:rPr lang="en-US" sz="1900" b="1" dirty="0">
                <a:solidFill>
                  <a:srgbClr val="24272A"/>
                </a:solidFill>
                <a:latin typeface="Arial" pitchFamily="34" charset="0"/>
                <a:ea typeface="Arial" pitchFamily="34" charset="-122"/>
                <a:cs typeface="Arial" pitchFamily="34" charset="-120"/>
              </a:rPr>
              <a:t>SDI000003028240</a:t>
            </a:r>
            <a:endParaRPr lang="en-US" sz="1900" dirty="0"/>
          </a:p>
        </p:txBody>
      </p:sp>
      <p:sp>
        <p:nvSpPr>
          <p:cNvPr id="7" name="Text 5"/>
          <p:cNvSpPr txBox="1"/>
          <p:nvPr/>
        </p:nvSpPr>
        <p:spPr>
          <a:xfrm>
            <a:off x="685800" y="2286000"/>
            <a:ext cx="3154680" cy="2743200"/>
          </a:xfrm>
          <a:prstGeom prst="rect">
            <a:avLst/>
          </a:prstGeom>
          <a:noFill/>
          <a:ln/>
        </p:spPr>
        <p:txBody>
          <a:bodyPr wrap="square" lIns="0" tIns="0" rIns="0" bIns="0" rtlCol="0" anchor="t">
            <a:normAutofit/>
          </a:bodyPr>
          <a:lstStyle/>
          <a:p>
            <a:pPr indent="0" marL="0">
              <a:buNone/>
            </a:pPr>
            <a:r>
              <a:rPr lang="en-US" sz="1250" b="1" dirty="0">
                <a:solidFill>
                  <a:srgbClr val="6B7177"/>
                </a:solidFill>
                <a:latin typeface="Arial" pitchFamily="34" charset="0"/>
                <a:ea typeface="Arial" pitchFamily="34" charset="-122"/>
                <a:cs typeface="Arial" pitchFamily="34" charset="-120"/>
              </a:rPr>
              <a:t>DNS name  </a:t>
            </a:r>
            <a:pPr indent="0" marL="0">
              <a:spcAft>
                <a:spcPts val="300"/>
              </a:spcAft>
              <a:buNone/>
            </a:pPr>
            <a:r>
              <a:rPr lang="en-US" sz="1250" dirty="0">
                <a:solidFill>
                  <a:srgbClr val="24272A"/>
                </a:solidFill>
                <a:latin typeface="Arial" pitchFamily="34" charset="0"/>
                <a:ea typeface="Arial" pitchFamily="34" charset="-122"/>
                <a:cs typeface="Arial" pitchFamily="34" charset="-120"/>
              </a:rPr>
              <a:t>(none)</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IP address  </a:t>
            </a:r>
            <a:pPr indent="0" marL="0">
              <a:spcAft>
                <a:spcPts val="300"/>
              </a:spcAft>
              <a:buNone/>
            </a:pPr>
            <a:r>
              <a:rPr lang="en-US" sz="1250" dirty="0">
                <a:solidFill>
                  <a:srgbClr val="24272A"/>
                </a:solidFill>
                <a:latin typeface="Arial" pitchFamily="34" charset="0"/>
                <a:ea typeface="Arial" pitchFamily="34" charset="-122"/>
                <a:cs typeface="Arial" pitchFamily="34" charset="-120"/>
              </a:rPr>
              <a:t>171.159.246.128</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Operating system  </a:t>
            </a:r>
            <a:pPr indent="0" marL="0">
              <a:spcAft>
                <a:spcPts val="300"/>
              </a:spcAft>
              <a:buNone/>
            </a:pPr>
            <a:r>
              <a:rPr lang="en-US" sz="1250" dirty="0">
                <a:solidFill>
                  <a:srgbClr val="24272A"/>
                </a:solidFill>
                <a:latin typeface="Arial" pitchFamily="34" charset="0"/>
                <a:ea typeface="Arial" pitchFamily="34" charset="-122"/>
                <a:cs typeface="Arial" pitchFamily="34" charset="-120"/>
              </a:rPr>
              <a:t>F5 Networks Big-IP</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Last evaluated  </a:t>
            </a:r>
            <a:pPr indent="0" marL="0">
              <a:spcAft>
                <a:spcPts val="300"/>
              </a:spcAft>
              <a:buNone/>
            </a:pPr>
            <a:r>
              <a:rPr lang="en-US" sz="1250" dirty="0">
                <a:solidFill>
                  <a:srgbClr val="24272A"/>
                </a:solidFill>
                <a:latin typeface="Arial" pitchFamily="34" charset="0"/>
                <a:ea typeface="Arial" pitchFamily="34" charset="-122"/>
                <a:cs typeface="Arial" pitchFamily="34" charset="-120"/>
              </a:rPr>
              <a:t>2026-09-15 22:22:39</a:t>
            </a:r>
            <a:endParaRPr lang="en-US" sz="1250" dirty="0"/>
          </a:p>
        </p:txBody>
      </p:sp>
      <p:sp>
        <p:nvSpPr>
          <p:cNvPr id="8" name="Text 6">
            <a:hlinkClick r:id="rId1" tooltip="https://bofasecopsdev.service-now.com/sn_sec_cmn_src_ci_list.do?sysparm_query=number=SDI000003028240"/>
          </p:cNvPr>
          <p:cNvSpPr txBox="1"/>
          <p:nvPr/>
        </p:nvSpPr>
        <p:spPr>
          <a:xfrm>
            <a:off x="685800" y="5239512"/>
            <a:ext cx="3154680" cy="219456"/>
          </a:xfrm>
          <a:prstGeom prst="rect">
            <a:avLst/>
          </a:prstGeom>
          <a:noFill/>
          <a:ln/>
        </p:spPr>
        <p:txBody>
          <a:bodyPr wrap="square" lIns="0" tIns="0" rIns="0" bIns="0" rtlCol="0" anchor="ctr"/>
          <a:lstStyle/>
          <a:p>
            <a:pPr indent="0" marL="0">
              <a:buNone/>
            </a:pPr>
            <a:r>
              <a:rPr lang="en-US" sz="950" u="sng" dirty="0">
                <a:solidFill>
                  <a:srgbClr val="012169"/>
                </a:solidFill>
                <a:latin typeface="Arial" pitchFamily="34" charset="0"/>
                <a:ea typeface="Arial" pitchFamily="34" charset="-122"/>
                <a:cs typeface="Arial" pitchFamily="34" charset="-120"/>
                <a:hlinkClick r:id="rId1" invalidUrl="" action="" tgtFrame="" tooltip="https://bofasecopsdev.service-now.com/sn_sec_cmn_src_ci_list.do?sysparm_query=number=SDI000003028240" history="1" highlightClick="0" endSnd="0">
                  <a:extLst>
                    <a:ext uri="{A12FA001-AC4F-418D-AE19-62706E023703}">
                      <ahyp:hlinkClr xmlns:ahyp="http://schemas.microsoft.com/office/drawing/2018/hyperlinkcolor" val="tx"/>
                    </a:ext>
                  </a:extLst>
                </a:hlinkClick>
              </a:rPr>
              <a:t>Open the discovered item</a:t>
            </a:r>
            <a:endParaRPr lang="en-US" sz="950" dirty="0"/>
          </a:p>
        </p:txBody>
      </p:sp>
      <p:sp>
        <p:nvSpPr>
          <p:cNvPr id="9" name="Shape 7"/>
          <p:cNvSpPr/>
          <p:nvPr/>
        </p:nvSpPr>
        <p:spPr>
          <a:xfrm>
            <a:off x="4288536" y="1325880"/>
            <a:ext cx="4069080" cy="4297680"/>
          </a:xfrm>
          <a:prstGeom prst="roundRect">
            <a:avLst>
              <a:gd name="adj" fmla="val 1124"/>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0" name="Text 8"/>
          <p:cNvSpPr txBox="1"/>
          <p:nvPr/>
        </p:nvSpPr>
        <p:spPr>
          <a:xfrm>
            <a:off x="4517136" y="1490472"/>
            <a:ext cx="36118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THE RULE DID</a:t>
            </a:r>
            <a:endParaRPr lang="en-US" sz="950" dirty="0"/>
          </a:p>
        </p:txBody>
      </p:sp>
      <p:sp>
        <p:nvSpPr>
          <p:cNvPr id="11" name="Text 9"/>
          <p:cNvSpPr txBox="1"/>
          <p:nvPr/>
        </p:nvSpPr>
        <p:spPr>
          <a:xfrm>
            <a:off x="4517136" y="1801368"/>
            <a:ext cx="3611880" cy="36118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VIP sign: OS "F5 Networks Big-IP" or a VIP marker in ""</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Load Balancer Service record looked up on fqdn, then name, then the address 171.159.246.128; the pool is not read</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One live record for that virtual server: /Common/ait71454-pt1-mlonefeeui-443-vip</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The virtual server record stands for the host</a:t>
            </a:r>
            <a:endParaRPr lang="en-US" sz="1350" dirty="0"/>
          </a:p>
        </p:txBody>
      </p:sp>
      <p:sp>
        <p:nvSpPr>
          <p:cNvPr id="12" name="Shape 10"/>
          <p:cNvSpPr/>
          <p:nvPr/>
        </p:nvSpPr>
        <p:spPr>
          <a:xfrm>
            <a:off x="8577072" y="1325880"/>
            <a:ext cx="3154680" cy="4297680"/>
          </a:xfrm>
          <a:prstGeom prst="roundRect">
            <a:avLst>
              <a:gd name="adj" fmla="val 144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3" name="Shape 11"/>
          <p:cNvSpPr/>
          <p:nvPr/>
        </p:nvSpPr>
        <p:spPr>
          <a:xfrm>
            <a:off x="8577072" y="1325880"/>
            <a:ext cx="82296" cy="4297680"/>
          </a:xfrm>
          <a:prstGeom prst="rect">
            <a:avLst/>
          </a:prstGeom>
          <a:solidFill>
            <a:srgbClr val="E31837"/>
          </a:solidFill>
          <a:ln w="12700">
            <a:solidFill>
              <a:srgbClr val="333333"/>
            </a:solidFill>
            <a:prstDash val="solid"/>
          </a:ln>
        </p:spPr>
      </p:sp>
      <p:sp>
        <p:nvSpPr>
          <p:cNvPr id="14" name="Text 12"/>
          <p:cNvSpPr txBox="1"/>
          <p:nvPr/>
        </p:nvSpPr>
        <p:spPr>
          <a:xfrm>
            <a:off x="8851392" y="1490472"/>
            <a:ext cx="26974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CI MATCHED</a:t>
            </a:r>
            <a:endParaRPr lang="en-US" sz="950" dirty="0"/>
          </a:p>
        </p:txBody>
      </p:sp>
      <p:sp>
        <p:nvSpPr>
          <p:cNvPr id="15" name="Text 13"/>
          <p:cNvSpPr txBox="1"/>
          <p:nvPr/>
        </p:nvSpPr>
        <p:spPr>
          <a:xfrm>
            <a:off x="8851392" y="1764792"/>
            <a:ext cx="2651760" cy="685800"/>
          </a:xfrm>
          <a:prstGeom prst="rect">
            <a:avLst/>
          </a:prstGeom>
          <a:noFill/>
          <a:ln/>
        </p:spPr>
        <p:txBody>
          <a:bodyPr wrap="square" lIns="0" tIns="0" rIns="0" bIns="0" rtlCol="0" anchor="t">
            <a:normAutofit/>
          </a:bodyPr>
          <a:lstStyle/>
          <a:p>
            <a:pPr indent="0" marL="0">
              <a:buNone/>
            </a:pPr>
            <a:r>
              <a:rPr lang="en-US" sz="1700" b="1" dirty="0">
                <a:solidFill>
                  <a:srgbClr val="012169"/>
                </a:solidFill>
                <a:latin typeface="Arial" pitchFamily="34" charset="0"/>
                <a:ea typeface="Arial" pitchFamily="34" charset="-122"/>
                <a:cs typeface="Arial" pitchFamily="34" charset="-120"/>
              </a:rPr>
              <a:t>/Common/ait71454-pt1-mlonefeeui-443-vip</a:t>
            </a:r>
            <a:endParaRPr lang="en-US" sz="1700" dirty="0"/>
          </a:p>
        </p:txBody>
      </p:sp>
      <p:sp>
        <p:nvSpPr>
          <p:cNvPr id="16" name="Text 14"/>
          <p:cNvSpPr txBox="1"/>
          <p:nvPr/>
        </p:nvSpPr>
        <p:spPr>
          <a:xfrm>
            <a:off x="8851392" y="2468880"/>
            <a:ext cx="2651760" cy="292608"/>
          </a:xfrm>
          <a:prstGeom prst="rect">
            <a:avLst/>
          </a:prstGeom>
          <a:noFill/>
          <a:ln/>
        </p:spPr>
        <p:txBody>
          <a:bodyPr wrap="square" lIns="0" tIns="0" rIns="0" bIns="0" rtlCol="0" anchor="ctr"/>
          <a:lstStyle/>
          <a:p>
            <a:pPr indent="0" marL="0">
              <a:buNone/>
            </a:pPr>
            <a:r>
              <a:rPr lang="en-US" sz="1300" b="1" dirty="0">
                <a:solidFill>
                  <a:srgbClr val="E31837"/>
                </a:solidFill>
                <a:latin typeface="Arial" pitchFamily="34" charset="0"/>
                <a:ea typeface="Arial" pitchFamily="34" charset="-122"/>
                <a:cs typeface="Arial" pitchFamily="34" charset="-120"/>
              </a:rPr>
              <a:t>Load Balancer Service</a:t>
            </a:r>
            <a:endParaRPr lang="en-US" sz="1300" dirty="0"/>
          </a:p>
        </p:txBody>
      </p:sp>
      <p:sp>
        <p:nvSpPr>
          <p:cNvPr id="17" name="Text 15"/>
          <p:cNvSpPr txBox="1"/>
          <p:nvPr/>
        </p:nvSpPr>
        <p:spPr>
          <a:xfrm>
            <a:off x="8851392" y="2880360"/>
            <a:ext cx="2651760" cy="2286000"/>
          </a:xfrm>
          <a:prstGeom prst="rect">
            <a:avLst/>
          </a:prstGeom>
          <a:noFill/>
          <a:ln/>
        </p:spPr>
        <p:txBody>
          <a:bodyPr wrap="square" lIns="0" tIns="0" rIns="0" bIns="0" rtlCol="0" anchor="t">
            <a:normAutofit/>
          </a:bodyPr>
          <a:lstStyle/>
          <a:p>
            <a:pPr indent="0" marL="0">
              <a:buNone/>
            </a:pPr>
            <a:r>
              <a:rPr lang="en-US" sz="1250" b="1" dirty="0">
                <a:solidFill>
                  <a:srgbClr val="6B7177"/>
                </a:solidFill>
                <a:latin typeface="Arial" pitchFamily="34" charset="0"/>
                <a:ea typeface="Arial" pitchFamily="34" charset="-122"/>
                <a:cs typeface="Arial" pitchFamily="34" charset="-120"/>
              </a:rPr>
              <a:t>IP address  </a:t>
            </a:r>
            <a:pPr indent="0" marL="0">
              <a:spcAft>
                <a:spcPts val="300"/>
              </a:spcAft>
              <a:buNone/>
            </a:pPr>
            <a:r>
              <a:rPr lang="en-US" sz="1250" dirty="0">
                <a:solidFill>
                  <a:srgbClr val="24272A"/>
                </a:solidFill>
                <a:latin typeface="Arial" pitchFamily="34" charset="0"/>
                <a:ea typeface="Arial" pitchFamily="34" charset="-122"/>
                <a:cs typeface="Arial" pitchFamily="34" charset="-120"/>
              </a:rPr>
              <a:t>171.159.246.128</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Load balancer  </a:t>
            </a:r>
            <a:pPr indent="0" marL="0">
              <a:spcAft>
                <a:spcPts val="300"/>
              </a:spcAft>
              <a:buNone/>
            </a:pPr>
            <a:r>
              <a:rPr lang="en-US" sz="1250" dirty="0">
                <a:solidFill>
                  <a:srgbClr val="24272A"/>
                </a:solidFill>
                <a:latin typeface="Arial" pitchFamily="34" charset="0"/>
                <a:ea typeface="Arial" pitchFamily="34" charset="-122"/>
                <a:cs typeface="Arial" pitchFamily="34" charset="-120"/>
              </a:rPr>
              <a:t>sveqbt1rp1lb02b</a:t>
            </a:r>
            <a:endParaRPr lang="en-US" sz="1250" dirty="0"/>
          </a:p>
        </p:txBody>
      </p:sp>
      <p:sp>
        <p:nvSpPr>
          <p:cNvPr id="18" name="Text 16">
            <a:hlinkClick r:id="rId2" tooltip="https://bofasecopsdev.service-now.com/cmdb_ci_lb_service.do?sys_id=a029dc43931183d03854f05ea903d6b7"/>
          </p:cNvPr>
          <p:cNvSpPr txBox="1"/>
          <p:nvPr/>
        </p:nvSpPr>
        <p:spPr>
          <a:xfrm>
            <a:off x="8851392" y="5239512"/>
            <a:ext cx="2651760" cy="219456"/>
          </a:xfrm>
          <a:prstGeom prst="rect">
            <a:avLst/>
          </a:prstGeom>
          <a:noFill/>
          <a:ln/>
        </p:spPr>
        <p:txBody>
          <a:bodyPr wrap="square" lIns="0" tIns="0" rIns="0" bIns="0" rtlCol="0" anchor="ctr"/>
          <a:lstStyle/>
          <a:p>
            <a:pPr indent="0" marL="0">
              <a:buNone/>
            </a:pPr>
            <a:r>
              <a:rPr lang="en-US" sz="950" u="sng" dirty="0">
                <a:solidFill>
                  <a:srgbClr val="012169"/>
                </a:solidFill>
                <a:latin typeface="Arial" pitchFamily="34" charset="0"/>
                <a:ea typeface="Arial" pitchFamily="34" charset="-122"/>
                <a:cs typeface="Arial" pitchFamily="34" charset="-120"/>
                <a:hlinkClick r:id="rId2" invalidUrl="" action="" tgtFrame="" tooltip="https://bofasecopsdev.service-now.com/cmdb_ci_lb_service.do?sys_id=a029dc43931183d03854f05ea903d6b7" history="1" highlightClick="0" endSnd="0">
                  <a:extLst>
                    <a:ext uri="{A12FA001-AC4F-418D-AE19-62706E023703}">
                      <ahyp:hlinkClr xmlns:ahyp="http://schemas.microsoft.com/office/drawing/2018/hyperlinkcolor" val="tx"/>
                    </a:ext>
                  </a:extLst>
                </a:hlinkClick>
              </a:rPr>
              <a:t>Open the CI</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460  ·  EXAMPLE 2 OF 3</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400" b="1" dirty="0">
                <a:solidFill>
                  <a:srgbClr val="24272A"/>
                </a:solidFill>
                <a:latin typeface="Arial" pitchFamily="34" charset="0"/>
                <a:ea typeface="Arial" pitchFamily="34" charset="-122"/>
                <a:cs typeface="Arial" pitchFamily="34" charset="-120"/>
              </a:rPr>
              <a:t>prsapp-va-vip.pt1.gwimnp.rpg</a:t>
            </a:r>
            <a:endParaRPr lang="en-US" sz="2400" dirty="0"/>
          </a:p>
        </p:txBody>
      </p:sp>
      <p:sp>
        <p:nvSpPr>
          <p:cNvPr id="4" name="Shape 2"/>
          <p:cNvSpPr/>
          <p:nvPr/>
        </p:nvSpPr>
        <p:spPr>
          <a:xfrm>
            <a:off x="457200" y="1325880"/>
            <a:ext cx="3611880" cy="4297680"/>
          </a:xfrm>
          <a:prstGeom prst="roundRect">
            <a:avLst>
              <a:gd name="adj" fmla="val 1266"/>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685800" y="1490472"/>
            <a:ext cx="31546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DISCOVERED ITEM</a:t>
            </a:r>
            <a:endParaRPr lang="en-US" sz="950" dirty="0"/>
          </a:p>
        </p:txBody>
      </p:sp>
      <p:sp>
        <p:nvSpPr>
          <p:cNvPr id="6" name="Text 4"/>
          <p:cNvSpPr txBox="1"/>
          <p:nvPr/>
        </p:nvSpPr>
        <p:spPr>
          <a:xfrm>
            <a:off x="685800" y="1764792"/>
            <a:ext cx="3154680" cy="411480"/>
          </a:xfrm>
          <a:prstGeom prst="rect">
            <a:avLst/>
          </a:prstGeom>
          <a:noFill/>
          <a:ln/>
        </p:spPr>
        <p:txBody>
          <a:bodyPr wrap="square" lIns="0" tIns="0" rIns="0" bIns="0" rtlCol="0" anchor="ctr"/>
          <a:lstStyle/>
          <a:p>
            <a:pPr indent="0" marL="0">
              <a:buNone/>
            </a:pPr>
            <a:r>
              <a:rPr lang="en-US" sz="1900" b="1" dirty="0">
                <a:solidFill>
                  <a:srgbClr val="24272A"/>
                </a:solidFill>
                <a:latin typeface="Arial" pitchFamily="34" charset="0"/>
                <a:ea typeface="Arial" pitchFamily="34" charset="-122"/>
                <a:cs typeface="Arial" pitchFamily="34" charset="-120"/>
              </a:rPr>
              <a:t>SDI000003069763</a:t>
            </a:r>
            <a:endParaRPr lang="en-US" sz="1900" dirty="0"/>
          </a:p>
        </p:txBody>
      </p:sp>
      <p:sp>
        <p:nvSpPr>
          <p:cNvPr id="7" name="Text 5"/>
          <p:cNvSpPr txBox="1"/>
          <p:nvPr/>
        </p:nvSpPr>
        <p:spPr>
          <a:xfrm>
            <a:off x="685800" y="2286000"/>
            <a:ext cx="3154680" cy="2743200"/>
          </a:xfrm>
          <a:prstGeom prst="rect">
            <a:avLst/>
          </a:prstGeom>
          <a:noFill/>
          <a:ln/>
        </p:spPr>
        <p:txBody>
          <a:bodyPr wrap="square" lIns="0" tIns="0" rIns="0" bIns="0" rtlCol="0" anchor="t">
            <a:normAutofit/>
          </a:bodyPr>
          <a:lstStyle/>
          <a:p>
            <a:pPr indent="0" marL="0">
              <a:buNone/>
            </a:pPr>
            <a:r>
              <a:rPr lang="en-US" sz="1250" b="1" dirty="0">
                <a:solidFill>
                  <a:srgbClr val="6B7177"/>
                </a:solidFill>
                <a:latin typeface="Arial" pitchFamily="34" charset="0"/>
                <a:ea typeface="Arial" pitchFamily="34" charset="-122"/>
                <a:cs typeface="Arial" pitchFamily="34" charset="-120"/>
              </a:rPr>
              <a:t>DNS name  </a:t>
            </a:r>
            <a:pPr indent="0" marL="0">
              <a:spcAft>
                <a:spcPts val="300"/>
              </a:spcAft>
              <a:buNone/>
            </a:pPr>
            <a:r>
              <a:rPr lang="en-US" sz="1250" dirty="0">
                <a:solidFill>
                  <a:srgbClr val="24272A"/>
                </a:solidFill>
                <a:latin typeface="Arial" pitchFamily="34" charset="0"/>
                <a:ea typeface="Arial" pitchFamily="34" charset="-122"/>
                <a:cs typeface="Arial" pitchFamily="34" charset="-120"/>
              </a:rPr>
              <a:t>prsapp-va-vip.pt1.gwimnp.rpg</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IP address  </a:t>
            </a:r>
            <a:pPr indent="0" marL="0">
              <a:spcAft>
                <a:spcPts val="300"/>
              </a:spcAft>
              <a:buNone/>
            </a:pPr>
            <a:r>
              <a:rPr lang="en-US" sz="1250" dirty="0">
                <a:solidFill>
                  <a:srgbClr val="24272A"/>
                </a:solidFill>
                <a:latin typeface="Arial" pitchFamily="34" charset="0"/>
                <a:ea typeface="Arial" pitchFamily="34" charset="-122"/>
                <a:cs typeface="Arial" pitchFamily="34" charset="-120"/>
              </a:rPr>
              <a:t>171.159.246.4</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Operating system  </a:t>
            </a:r>
            <a:pPr indent="0" marL="0">
              <a:spcAft>
                <a:spcPts val="300"/>
              </a:spcAft>
              <a:buNone/>
            </a:pPr>
            <a:r>
              <a:rPr lang="en-US" sz="1250" dirty="0">
                <a:solidFill>
                  <a:srgbClr val="24272A"/>
                </a:solidFill>
                <a:latin typeface="Arial" pitchFamily="34" charset="0"/>
                <a:ea typeface="Arial" pitchFamily="34" charset="-122"/>
                <a:cs typeface="Arial" pitchFamily="34" charset="-120"/>
              </a:rPr>
              <a:t>F5 Networks Big-IP</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Last evaluated  </a:t>
            </a:r>
            <a:pPr indent="0" marL="0">
              <a:spcAft>
                <a:spcPts val="300"/>
              </a:spcAft>
              <a:buNone/>
            </a:pPr>
            <a:r>
              <a:rPr lang="en-US" sz="1250" dirty="0">
                <a:solidFill>
                  <a:srgbClr val="24272A"/>
                </a:solidFill>
                <a:latin typeface="Arial" pitchFamily="34" charset="0"/>
                <a:ea typeface="Arial" pitchFamily="34" charset="-122"/>
                <a:cs typeface="Arial" pitchFamily="34" charset="-120"/>
              </a:rPr>
              <a:t>2026-09-15 21:48:23</a:t>
            </a:r>
            <a:endParaRPr lang="en-US" sz="1250" dirty="0"/>
          </a:p>
        </p:txBody>
      </p:sp>
      <p:sp>
        <p:nvSpPr>
          <p:cNvPr id="8" name="Text 6">
            <a:hlinkClick r:id="rId1" tooltip="https://bofasecopsdev.service-now.com/sn_sec_cmn_src_ci_list.do?sysparm_query=number=SDI000003069763"/>
          </p:cNvPr>
          <p:cNvSpPr txBox="1"/>
          <p:nvPr/>
        </p:nvSpPr>
        <p:spPr>
          <a:xfrm>
            <a:off x="685800" y="5239512"/>
            <a:ext cx="3154680" cy="219456"/>
          </a:xfrm>
          <a:prstGeom prst="rect">
            <a:avLst/>
          </a:prstGeom>
          <a:noFill/>
          <a:ln/>
        </p:spPr>
        <p:txBody>
          <a:bodyPr wrap="square" lIns="0" tIns="0" rIns="0" bIns="0" rtlCol="0" anchor="ctr"/>
          <a:lstStyle/>
          <a:p>
            <a:pPr indent="0" marL="0">
              <a:buNone/>
            </a:pPr>
            <a:r>
              <a:rPr lang="en-US" sz="950" u="sng" dirty="0">
                <a:solidFill>
                  <a:srgbClr val="012169"/>
                </a:solidFill>
                <a:latin typeface="Arial" pitchFamily="34" charset="0"/>
                <a:ea typeface="Arial" pitchFamily="34" charset="-122"/>
                <a:cs typeface="Arial" pitchFamily="34" charset="-120"/>
                <a:hlinkClick r:id="rId1" invalidUrl="" action="" tgtFrame="" tooltip="https://bofasecopsdev.service-now.com/sn_sec_cmn_src_ci_list.do?sysparm_query=number=SDI000003069763" history="1" highlightClick="0" endSnd="0">
                  <a:extLst>
                    <a:ext uri="{A12FA001-AC4F-418D-AE19-62706E023703}">
                      <ahyp:hlinkClr xmlns:ahyp="http://schemas.microsoft.com/office/drawing/2018/hyperlinkcolor" val="tx"/>
                    </a:ext>
                  </a:extLst>
                </a:hlinkClick>
              </a:rPr>
              <a:t>Open the discovered item</a:t>
            </a:r>
            <a:endParaRPr lang="en-US" sz="950" dirty="0"/>
          </a:p>
        </p:txBody>
      </p:sp>
      <p:sp>
        <p:nvSpPr>
          <p:cNvPr id="9" name="Shape 7"/>
          <p:cNvSpPr/>
          <p:nvPr/>
        </p:nvSpPr>
        <p:spPr>
          <a:xfrm>
            <a:off x="4288536" y="1325880"/>
            <a:ext cx="4069080" cy="4297680"/>
          </a:xfrm>
          <a:prstGeom prst="roundRect">
            <a:avLst>
              <a:gd name="adj" fmla="val 1124"/>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0" name="Text 8"/>
          <p:cNvSpPr txBox="1"/>
          <p:nvPr/>
        </p:nvSpPr>
        <p:spPr>
          <a:xfrm>
            <a:off x="4517136" y="1490472"/>
            <a:ext cx="36118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THE RULE DID</a:t>
            </a:r>
            <a:endParaRPr lang="en-US" sz="950" dirty="0"/>
          </a:p>
        </p:txBody>
      </p:sp>
      <p:sp>
        <p:nvSpPr>
          <p:cNvPr id="11" name="Text 9"/>
          <p:cNvSpPr txBox="1"/>
          <p:nvPr/>
        </p:nvSpPr>
        <p:spPr>
          <a:xfrm>
            <a:off x="4517136" y="1801368"/>
            <a:ext cx="3611880" cy="36118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VIP sign: OS "F5 Networks Big-IP" or a VIP marker in "prsapp-va-vip.pt1.gwimnp.rpg"</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Load Balancer Service record looked up on fqdn, then name, then the address 171.159.246.4; the pool is not read</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One live record for that virtual server: /Common/ait71551-pt1-prsapp-443-vip</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The virtual server record stands for the host</a:t>
            </a:r>
            <a:endParaRPr lang="en-US" sz="1350" dirty="0"/>
          </a:p>
        </p:txBody>
      </p:sp>
      <p:sp>
        <p:nvSpPr>
          <p:cNvPr id="12" name="Shape 10"/>
          <p:cNvSpPr/>
          <p:nvPr/>
        </p:nvSpPr>
        <p:spPr>
          <a:xfrm>
            <a:off x="8577072" y="1325880"/>
            <a:ext cx="3154680" cy="4297680"/>
          </a:xfrm>
          <a:prstGeom prst="roundRect">
            <a:avLst>
              <a:gd name="adj" fmla="val 144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3" name="Shape 11"/>
          <p:cNvSpPr/>
          <p:nvPr/>
        </p:nvSpPr>
        <p:spPr>
          <a:xfrm>
            <a:off x="8577072" y="1325880"/>
            <a:ext cx="82296" cy="4297680"/>
          </a:xfrm>
          <a:prstGeom prst="rect">
            <a:avLst/>
          </a:prstGeom>
          <a:solidFill>
            <a:srgbClr val="E31837"/>
          </a:solidFill>
          <a:ln w="12700">
            <a:solidFill>
              <a:srgbClr val="333333"/>
            </a:solidFill>
            <a:prstDash val="solid"/>
          </a:ln>
        </p:spPr>
      </p:sp>
      <p:sp>
        <p:nvSpPr>
          <p:cNvPr id="14" name="Text 12"/>
          <p:cNvSpPr txBox="1"/>
          <p:nvPr/>
        </p:nvSpPr>
        <p:spPr>
          <a:xfrm>
            <a:off x="8851392" y="1490472"/>
            <a:ext cx="26974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CI MATCHED</a:t>
            </a:r>
            <a:endParaRPr lang="en-US" sz="950" dirty="0"/>
          </a:p>
        </p:txBody>
      </p:sp>
      <p:sp>
        <p:nvSpPr>
          <p:cNvPr id="15" name="Text 13"/>
          <p:cNvSpPr txBox="1"/>
          <p:nvPr/>
        </p:nvSpPr>
        <p:spPr>
          <a:xfrm>
            <a:off x="8851392" y="1764792"/>
            <a:ext cx="2651760" cy="685800"/>
          </a:xfrm>
          <a:prstGeom prst="rect">
            <a:avLst/>
          </a:prstGeom>
          <a:noFill/>
          <a:ln/>
        </p:spPr>
        <p:txBody>
          <a:bodyPr wrap="square" lIns="0" tIns="0" rIns="0" bIns="0" rtlCol="0" anchor="t">
            <a:normAutofit/>
          </a:bodyPr>
          <a:lstStyle/>
          <a:p>
            <a:pPr indent="0" marL="0">
              <a:buNone/>
            </a:pPr>
            <a:r>
              <a:rPr lang="en-US" sz="1700" b="1" dirty="0">
                <a:solidFill>
                  <a:srgbClr val="012169"/>
                </a:solidFill>
                <a:latin typeface="Arial" pitchFamily="34" charset="0"/>
                <a:ea typeface="Arial" pitchFamily="34" charset="-122"/>
                <a:cs typeface="Arial" pitchFamily="34" charset="-120"/>
              </a:rPr>
              <a:t>/Common/ait71551-pt1-prsapp-443-vip</a:t>
            </a:r>
            <a:endParaRPr lang="en-US" sz="1700" dirty="0"/>
          </a:p>
        </p:txBody>
      </p:sp>
      <p:sp>
        <p:nvSpPr>
          <p:cNvPr id="16" name="Text 14"/>
          <p:cNvSpPr txBox="1"/>
          <p:nvPr/>
        </p:nvSpPr>
        <p:spPr>
          <a:xfrm>
            <a:off x="8851392" y="2468880"/>
            <a:ext cx="2651760" cy="292608"/>
          </a:xfrm>
          <a:prstGeom prst="rect">
            <a:avLst/>
          </a:prstGeom>
          <a:noFill/>
          <a:ln/>
        </p:spPr>
        <p:txBody>
          <a:bodyPr wrap="square" lIns="0" tIns="0" rIns="0" bIns="0" rtlCol="0" anchor="ctr"/>
          <a:lstStyle/>
          <a:p>
            <a:pPr indent="0" marL="0">
              <a:buNone/>
            </a:pPr>
            <a:r>
              <a:rPr lang="en-US" sz="1300" b="1" dirty="0">
                <a:solidFill>
                  <a:srgbClr val="E31837"/>
                </a:solidFill>
                <a:latin typeface="Arial" pitchFamily="34" charset="0"/>
                <a:ea typeface="Arial" pitchFamily="34" charset="-122"/>
                <a:cs typeface="Arial" pitchFamily="34" charset="-120"/>
              </a:rPr>
              <a:t>Load Balancer Service</a:t>
            </a:r>
            <a:endParaRPr lang="en-US" sz="1300" dirty="0"/>
          </a:p>
        </p:txBody>
      </p:sp>
      <p:sp>
        <p:nvSpPr>
          <p:cNvPr id="17" name="Text 15"/>
          <p:cNvSpPr txBox="1"/>
          <p:nvPr/>
        </p:nvSpPr>
        <p:spPr>
          <a:xfrm>
            <a:off x="8851392" y="2880360"/>
            <a:ext cx="2651760" cy="2286000"/>
          </a:xfrm>
          <a:prstGeom prst="rect">
            <a:avLst/>
          </a:prstGeom>
          <a:noFill/>
          <a:ln/>
        </p:spPr>
        <p:txBody>
          <a:bodyPr wrap="square" lIns="0" tIns="0" rIns="0" bIns="0" rtlCol="0" anchor="t">
            <a:normAutofit/>
          </a:bodyPr>
          <a:lstStyle/>
          <a:p>
            <a:pPr indent="0" marL="0">
              <a:buNone/>
            </a:pPr>
            <a:r>
              <a:rPr lang="en-US" sz="1250" b="1" dirty="0">
                <a:solidFill>
                  <a:srgbClr val="6B7177"/>
                </a:solidFill>
                <a:latin typeface="Arial" pitchFamily="34" charset="0"/>
                <a:ea typeface="Arial" pitchFamily="34" charset="-122"/>
                <a:cs typeface="Arial" pitchFamily="34" charset="-120"/>
              </a:rPr>
              <a:t>IP address  </a:t>
            </a:r>
            <a:pPr indent="0" marL="0">
              <a:spcAft>
                <a:spcPts val="300"/>
              </a:spcAft>
              <a:buNone/>
            </a:pPr>
            <a:r>
              <a:rPr lang="en-US" sz="1250" dirty="0">
                <a:solidFill>
                  <a:srgbClr val="24272A"/>
                </a:solidFill>
                <a:latin typeface="Arial" pitchFamily="34" charset="0"/>
                <a:ea typeface="Arial" pitchFamily="34" charset="-122"/>
                <a:cs typeface="Arial" pitchFamily="34" charset="-120"/>
              </a:rPr>
              <a:t>171.159.246.4</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Load balancer  </a:t>
            </a:r>
            <a:pPr indent="0" marL="0">
              <a:spcAft>
                <a:spcPts val="300"/>
              </a:spcAft>
              <a:buNone/>
            </a:pPr>
            <a:r>
              <a:rPr lang="en-US" sz="1250" dirty="0">
                <a:solidFill>
                  <a:srgbClr val="24272A"/>
                </a:solidFill>
                <a:latin typeface="Arial" pitchFamily="34" charset="0"/>
                <a:ea typeface="Arial" pitchFamily="34" charset="-122"/>
                <a:cs typeface="Arial" pitchFamily="34" charset="-120"/>
              </a:rPr>
              <a:t>sveqbt1rp1lb02b</a:t>
            </a:r>
            <a:endParaRPr lang="en-US" sz="1250" dirty="0"/>
          </a:p>
        </p:txBody>
      </p:sp>
      <p:sp>
        <p:nvSpPr>
          <p:cNvPr id="18" name="Text 16">
            <a:hlinkClick r:id="rId2" tooltip="https://bofasecopsdev.service-now.com/cmdb_ci_lb_service.do?sys_id=917ce0282f9e87103819983fafa4e37e"/>
          </p:cNvPr>
          <p:cNvSpPr txBox="1"/>
          <p:nvPr/>
        </p:nvSpPr>
        <p:spPr>
          <a:xfrm>
            <a:off x="8851392" y="5239512"/>
            <a:ext cx="2651760" cy="219456"/>
          </a:xfrm>
          <a:prstGeom prst="rect">
            <a:avLst/>
          </a:prstGeom>
          <a:noFill/>
          <a:ln/>
        </p:spPr>
        <p:txBody>
          <a:bodyPr wrap="square" lIns="0" tIns="0" rIns="0" bIns="0" rtlCol="0" anchor="ctr"/>
          <a:lstStyle/>
          <a:p>
            <a:pPr indent="0" marL="0">
              <a:buNone/>
            </a:pPr>
            <a:r>
              <a:rPr lang="en-US" sz="950" u="sng" dirty="0">
                <a:solidFill>
                  <a:srgbClr val="012169"/>
                </a:solidFill>
                <a:latin typeface="Arial" pitchFamily="34" charset="0"/>
                <a:ea typeface="Arial" pitchFamily="34" charset="-122"/>
                <a:cs typeface="Arial" pitchFamily="34" charset="-120"/>
                <a:hlinkClick r:id="rId2" invalidUrl="" action="" tgtFrame="" tooltip="https://bofasecopsdev.service-now.com/cmdb_ci_lb_service.do?sys_id=917ce0282f9e87103819983fafa4e37e" history="1" highlightClick="0" endSnd="0">
                  <a:extLst>
                    <a:ext uri="{A12FA001-AC4F-418D-AE19-62706E023703}">
                      <ahyp:hlinkClr xmlns:ahyp="http://schemas.microsoft.com/office/drawing/2018/hyperlinkcolor" val="tx"/>
                    </a:ext>
                  </a:extLst>
                </a:hlinkClick>
              </a:rPr>
              <a:t>Open the CI</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460  ·  EXAMPLE 3 OF 3</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400" b="1" dirty="0">
                <a:solidFill>
                  <a:srgbClr val="24272A"/>
                </a:solidFill>
                <a:latin typeface="Arial" pitchFamily="34" charset="0"/>
                <a:ea typeface="Arial" pitchFamily="34" charset="-122"/>
                <a:cs typeface="Arial" pitchFamily="34" charset="-120"/>
              </a:rPr>
              <a:t>lki-nao-flash-svc-tt-mw.ecnp.bankofamerica.com</a:t>
            </a:r>
            <a:endParaRPr lang="en-US" sz="2400" dirty="0"/>
          </a:p>
        </p:txBody>
      </p:sp>
      <p:sp>
        <p:nvSpPr>
          <p:cNvPr id="4" name="Shape 2"/>
          <p:cNvSpPr/>
          <p:nvPr/>
        </p:nvSpPr>
        <p:spPr>
          <a:xfrm>
            <a:off x="457200" y="1325880"/>
            <a:ext cx="3611880" cy="4297680"/>
          </a:xfrm>
          <a:prstGeom prst="roundRect">
            <a:avLst>
              <a:gd name="adj" fmla="val 1266"/>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685800" y="1490472"/>
            <a:ext cx="31546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DISCOVERED ITEM</a:t>
            </a:r>
            <a:endParaRPr lang="en-US" sz="950" dirty="0"/>
          </a:p>
        </p:txBody>
      </p:sp>
      <p:sp>
        <p:nvSpPr>
          <p:cNvPr id="6" name="Text 4"/>
          <p:cNvSpPr txBox="1"/>
          <p:nvPr/>
        </p:nvSpPr>
        <p:spPr>
          <a:xfrm>
            <a:off x="685800" y="1764792"/>
            <a:ext cx="3154680" cy="411480"/>
          </a:xfrm>
          <a:prstGeom prst="rect">
            <a:avLst/>
          </a:prstGeom>
          <a:noFill/>
          <a:ln/>
        </p:spPr>
        <p:txBody>
          <a:bodyPr wrap="square" lIns="0" tIns="0" rIns="0" bIns="0" rtlCol="0" anchor="ctr"/>
          <a:lstStyle/>
          <a:p>
            <a:pPr indent="0" marL="0">
              <a:buNone/>
            </a:pPr>
            <a:r>
              <a:rPr lang="en-US" sz="1900" b="1" dirty="0">
                <a:solidFill>
                  <a:srgbClr val="24272A"/>
                </a:solidFill>
                <a:latin typeface="Arial" pitchFamily="34" charset="0"/>
                <a:ea typeface="Arial" pitchFamily="34" charset="-122"/>
                <a:cs typeface="Arial" pitchFamily="34" charset="-120"/>
              </a:rPr>
              <a:t>SDI000003069406</a:t>
            </a:r>
            <a:endParaRPr lang="en-US" sz="1900" dirty="0"/>
          </a:p>
        </p:txBody>
      </p:sp>
      <p:sp>
        <p:nvSpPr>
          <p:cNvPr id="7" name="Text 5"/>
          <p:cNvSpPr txBox="1"/>
          <p:nvPr/>
        </p:nvSpPr>
        <p:spPr>
          <a:xfrm>
            <a:off x="685800" y="2286000"/>
            <a:ext cx="3154680" cy="2743200"/>
          </a:xfrm>
          <a:prstGeom prst="rect">
            <a:avLst/>
          </a:prstGeom>
          <a:noFill/>
          <a:ln/>
        </p:spPr>
        <p:txBody>
          <a:bodyPr wrap="square" lIns="0" tIns="0" rIns="0" bIns="0" rtlCol="0" anchor="t">
            <a:normAutofit/>
          </a:bodyPr>
          <a:lstStyle/>
          <a:p>
            <a:pPr indent="0" marL="0">
              <a:buNone/>
            </a:pPr>
            <a:r>
              <a:rPr lang="en-US" sz="1250" b="1" dirty="0">
                <a:solidFill>
                  <a:srgbClr val="6B7177"/>
                </a:solidFill>
                <a:latin typeface="Arial" pitchFamily="34" charset="0"/>
                <a:ea typeface="Arial" pitchFamily="34" charset="-122"/>
                <a:cs typeface="Arial" pitchFamily="34" charset="-120"/>
              </a:rPr>
              <a:t>DNS name  </a:t>
            </a:r>
            <a:pPr indent="0" marL="0">
              <a:spcAft>
                <a:spcPts val="300"/>
              </a:spcAft>
              <a:buNone/>
            </a:pPr>
            <a:r>
              <a:rPr lang="en-US" sz="1250" dirty="0">
                <a:solidFill>
                  <a:srgbClr val="24272A"/>
                </a:solidFill>
                <a:latin typeface="Arial" pitchFamily="34" charset="0"/>
                <a:ea typeface="Arial" pitchFamily="34" charset="-122"/>
                <a:cs typeface="Arial" pitchFamily="34" charset="-120"/>
              </a:rPr>
              <a:t>lki-nao-flash-svc-tt-mw.ecnp.bankofamerica.com</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IP address  </a:t>
            </a:r>
            <a:pPr indent="0" marL="0">
              <a:spcAft>
                <a:spcPts val="300"/>
              </a:spcAft>
              <a:buNone/>
            </a:pPr>
            <a:r>
              <a:rPr lang="en-US" sz="1250" dirty="0">
                <a:solidFill>
                  <a:srgbClr val="24272A"/>
                </a:solidFill>
                <a:latin typeface="Arial" pitchFamily="34" charset="0"/>
                <a:ea typeface="Arial" pitchFamily="34" charset="-122"/>
                <a:cs typeface="Arial" pitchFamily="34" charset="-120"/>
              </a:rPr>
              <a:t>171.176.215.217</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Operating system  </a:t>
            </a:r>
            <a:pPr indent="0" marL="0">
              <a:spcAft>
                <a:spcPts val="300"/>
              </a:spcAft>
              <a:buNone/>
            </a:pPr>
            <a:r>
              <a:rPr lang="en-US" sz="1250" dirty="0">
                <a:solidFill>
                  <a:srgbClr val="24272A"/>
                </a:solidFill>
                <a:latin typeface="Arial" pitchFamily="34" charset="0"/>
                <a:ea typeface="Arial" pitchFamily="34" charset="-122"/>
                <a:cs typeface="Arial" pitchFamily="34" charset="-120"/>
              </a:rPr>
              <a:t>F5 Networks Big-IP</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Last evaluated  </a:t>
            </a:r>
            <a:pPr indent="0" marL="0">
              <a:spcAft>
                <a:spcPts val="300"/>
              </a:spcAft>
              <a:buNone/>
            </a:pPr>
            <a:r>
              <a:rPr lang="en-US" sz="1250" dirty="0">
                <a:solidFill>
                  <a:srgbClr val="24272A"/>
                </a:solidFill>
                <a:latin typeface="Arial" pitchFamily="34" charset="0"/>
                <a:ea typeface="Arial" pitchFamily="34" charset="-122"/>
                <a:cs typeface="Arial" pitchFamily="34" charset="-120"/>
              </a:rPr>
              <a:t>2026-09-15 21:48:46</a:t>
            </a:r>
            <a:endParaRPr lang="en-US" sz="1250" dirty="0"/>
          </a:p>
        </p:txBody>
      </p:sp>
      <p:sp>
        <p:nvSpPr>
          <p:cNvPr id="8" name="Text 6">
            <a:hlinkClick r:id="rId1" tooltip="https://bofasecopsdev.service-now.com/sn_sec_cmn_src_ci_list.do?sysparm_query=number=SDI000003069406"/>
          </p:cNvPr>
          <p:cNvSpPr txBox="1"/>
          <p:nvPr/>
        </p:nvSpPr>
        <p:spPr>
          <a:xfrm>
            <a:off x="685800" y="5239512"/>
            <a:ext cx="3154680" cy="219456"/>
          </a:xfrm>
          <a:prstGeom prst="rect">
            <a:avLst/>
          </a:prstGeom>
          <a:noFill/>
          <a:ln/>
        </p:spPr>
        <p:txBody>
          <a:bodyPr wrap="square" lIns="0" tIns="0" rIns="0" bIns="0" rtlCol="0" anchor="ctr"/>
          <a:lstStyle/>
          <a:p>
            <a:pPr indent="0" marL="0">
              <a:buNone/>
            </a:pPr>
            <a:r>
              <a:rPr lang="en-US" sz="950" u="sng" dirty="0">
                <a:solidFill>
                  <a:srgbClr val="012169"/>
                </a:solidFill>
                <a:latin typeface="Arial" pitchFamily="34" charset="0"/>
                <a:ea typeface="Arial" pitchFamily="34" charset="-122"/>
                <a:cs typeface="Arial" pitchFamily="34" charset="-120"/>
                <a:hlinkClick r:id="rId1" invalidUrl="" action="" tgtFrame="" tooltip="https://bofasecopsdev.service-now.com/sn_sec_cmn_src_ci_list.do?sysparm_query=number=SDI000003069406" history="1" highlightClick="0" endSnd="0">
                  <a:extLst>
                    <a:ext uri="{A12FA001-AC4F-418D-AE19-62706E023703}">
                      <ahyp:hlinkClr xmlns:ahyp="http://schemas.microsoft.com/office/drawing/2018/hyperlinkcolor" val="tx"/>
                    </a:ext>
                  </a:extLst>
                </a:hlinkClick>
              </a:rPr>
              <a:t>Open the discovered item</a:t>
            </a:r>
            <a:endParaRPr lang="en-US" sz="950" dirty="0"/>
          </a:p>
        </p:txBody>
      </p:sp>
      <p:sp>
        <p:nvSpPr>
          <p:cNvPr id="9" name="Shape 7"/>
          <p:cNvSpPr/>
          <p:nvPr/>
        </p:nvSpPr>
        <p:spPr>
          <a:xfrm>
            <a:off x="4288536" y="1325880"/>
            <a:ext cx="4069080" cy="4297680"/>
          </a:xfrm>
          <a:prstGeom prst="roundRect">
            <a:avLst>
              <a:gd name="adj" fmla="val 1124"/>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0" name="Text 8"/>
          <p:cNvSpPr txBox="1"/>
          <p:nvPr/>
        </p:nvSpPr>
        <p:spPr>
          <a:xfrm>
            <a:off x="4517136" y="1490472"/>
            <a:ext cx="36118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THE RULE DID</a:t>
            </a:r>
            <a:endParaRPr lang="en-US" sz="950" dirty="0"/>
          </a:p>
        </p:txBody>
      </p:sp>
      <p:sp>
        <p:nvSpPr>
          <p:cNvPr id="11" name="Text 9"/>
          <p:cNvSpPr txBox="1"/>
          <p:nvPr/>
        </p:nvSpPr>
        <p:spPr>
          <a:xfrm>
            <a:off x="4517136" y="1801368"/>
            <a:ext cx="3611880" cy="36118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VIP sign: OS "F5 Networks Big-IP" or a VIP marker in "lki-nao-flash-svc-tt-mw.ecnp.bankofamerica.com"</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Load Balancer Service record looked up on fqdn, then name, then the address 171.176.215.217; the pool is not read</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One live record for that virtual server: /Common/LKI-NAO-FLASH-SVC-TT-443</a:t>
            </a:r>
            <a:endParaRPr lang="en-US" sz="1350" dirty="0"/>
          </a:p>
          <a:p>
            <a:pPr marL="342900" indent="-342900">
              <a:spcAft>
                <a:spcPts val="800"/>
              </a:spcAft>
              <a:buSzPct val="100000"/>
              <a:buFont typeface="+mj-lt"/>
              <a:buAutoNum type="arabicPeriod" startAt="1"/>
            </a:pPr>
            <a:r>
              <a:rPr lang="en-US" sz="1350" dirty="0">
                <a:solidFill>
                  <a:srgbClr val="24272A"/>
                </a:solidFill>
                <a:latin typeface="Arial" pitchFamily="34" charset="0"/>
                <a:ea typeface="Arial" pitchFamily="34" charset="-122"/>
                <a:cs typeface="Arial" pitchFamily="34" charset="-120"/>
              </a:rPr>
              <a:t>The virtual server record stands for the host</a:t>
            </a:r>
            <a:endParaRPr lang="en-US" sz="1350" dirty="0"/>
          </a:p>
        </p:txBody>
      </p:sp>
      <p:sp>
        <p:nvSpPr>
          <p:cNvPr id="12" name="Shape 10"/>
          <p:cNvSpPr/>
          <p:nvPr/>
        </p:nvSpPr>
        <p:spPr>
          <a:xfrm>
            <a:off x="8577072" y="1325880"/>
            <a:ext cx="3154680" cy="4297680"/>
          </a:xfrm>
          <a:prstGeom prst="roundRect">
            <a:avLst>
              <a:gd name="adj" fmla="val 144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3" name="Shape 11"/>
          <p:cNvSpPr/>
          <p:nvPr/>
        </p:nvSpPr>
        <p:spPr>
          <a:xfrm>
            <a:off x="8577072" y="1325880"/>
            <a:ext cx="82296" cy="4297680"/>
          </a:xfrm>
          <a:prstGeom prst="rect">
            <a:avLst/>
          </a:prstGeom>
          <a:solidFill>
            <a:srgbClr val="E31837"/>
          </a:solidFill>
          <a:ln w="12700">
            <a:solidFill>
              <a:srgbClr val="333333"/>
            </a:solidFill>
            <a:prstDash val="solid"/>
          </a:ln>
        </p:spPr>
      </p:sp>
      <p:sp>
        <p:nvSpPr>
          <p:cNvPr id="14" name="Text 12"/>
          <p:cNvSpPr txBox="1"/>
          <p:nvPr/>
        </p:nvSpPr>
        <p:spPr>
          <a:xfrm>
            <a:off x="8851392" y="1490472"/>
            <a:ext cx="269748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CI MATCHED</a:t>
            </a:r>
            <a:endParaRPr lang="en-US" sz="950" dirty="0"/>
          </a:p>
        </p:txBody>
      </p:sp>
      <p:sp>
        <p:nvSpPr>
          <p:cNvPr id="15" name="Text 13"/>
          <p:cNvSpPr txBox="1"/>
          <p:nvPr/>
        </p:nvSpPr>
        <p:spPr>
          <a:xfrm>
            <a:off x="8851392" y="1764792"/>
            <a:ext cx="2651760" cy="685800"/>
          </a:xfrm>
          <a:prstGeom prst="rect">
            <a:avLst/>
          </a:prstGeom>
          <a:noFill/>
          <a:ln/>
        </p:spPr>
        <p:txBody>
          <a:bodyPr wrap="square" lIns="0" tIns="0" rIns="0" bIns="0" rtlCol="0" anchor="t">
            <a:normAutofit/>
          </a:bodyPr>
          <a:lstStyle/>
          <a:p>
            <a:pPr indent="0" marL="0">
              <a:buNone/>
            </a:pPr>
            <a:r>
              <a:rPr lang="en-US" sz="1700" b="1" dirty="0">
                <a:solidFill>
                  <a:srgbClr val="012169"/>
                </a:solidFill>
                <a:latin typeface="Arial" pitchFamily="34" charset="0"/>
                <a:ea typeface="Arial" pitchFamily="34" charset="-122"/>
                <a:cs typeface="Arial" pitchFamily="34" charset="-120"/>
              </a:rPr>
              <a:t>/Common/LKI-NAO-FLASH-SVC-TT-443</a:t>
            </a:r>
            <a:endParaRPr lang="en-US" sz="1700" dirty="0"/>
          </a:p>
        </p:txBody>
      </p:sp>
      <p:sp>
        <p:nvSpPr>
          <p:cNvPr id="16" name="Text 14"/>
          <p:cNvSpPr txBox="1"/>
          <p:nvPr/>
        </p:nvSpPr>
        <p:spPr>
          <a:xfrm>
            <a:off x="8851392" y="2468880"/>
            <a:ext cx="2651760" cy="292608"/>
          </a:xfrm>
          <a:prstGeom prst="rect">
            <a:avLst/>
          </a:prstGeom>
          <a:noFill/>
          <a:ln/>
        </p:spPr>
        <p:txBody>
          <a:bodyPr wrap="square" lIns="0" tIns="0" rIns="0" bIns="0" rtlCol="0" anchor="ctr"/>
          <a:lstStyle/>
          <a:p>
            <a:pPr indent="0" marL="0">
              <a:buNone/>
            </a:pPr>
            <a:r>
              <a:rPr lang="en-US" sz="1300" b="1" dirty="0">
                <a:solidFill>
                  <a:srgbClr val="E31837"/>
                </a:solidFill>
                <a:latin typeface="Arial" pitchFamily="34" charset="0"/>
                <a:ea typeface="Arial" pitchFamily="34" charset="-122"/>
                <a:cs typeface="Arial" pitchFamily="34" charset="-120"/>
              </a:rPr>
              <a:t>Load Balancer Service</a:t>
            </a:r>
            <a:endParaRPr lang="en-US" sz="1300" dirty="0"/>
          </a:p>
        </p:txBody>
      </p:sp>
      <p:sp>
        <p:nvSpPr>
          <p:cNvPr id="17" name="Text 15"/>
          <p:cNvSpPr txBox="1"/>
          <p:nvPr/>
        </p:nvSpPr>
        <p:spPr>
          <a:xfrm>
            <a:off x="8851392" y="2880360"/>
            <a:ext cx="2651760" cy="2286000"/>
          </a:xfrm>
          <a:prstGeom prst="rect">
            <a:avLst/>
          </a:prstGeom>
          <a:noFill/>
          <a:ln/>
        </p:spPr>
        <p:txBody>
          <a:bodyPr wrap="square" lIns="0" tIns="0" rIns="0" bIns="0" rtlCol="0" anchor="t">
            <a:normAutofit/>
          </a:bodyPr>
          <a:lstStyle/>
          <a:p>
            <a:pPr indent="0" marL="0">
              <a:buNone/>
            </a:pPr>
            <a:r>
              <a:rPr lang="en-US" sz="1250" b="1" dirty="0">
                <a:solidFill>
                  <a:srgbClr val="6B7177"/>
                </a:solidFill>
                <a:latin typeface="Arial" pitchFamily="34" charset="0"/>
                <a:ea typeface="Arial" pitchFamily="34" charset="-122"/>
                <a:cs typeface="Arial" pitchFamily="34" charset="-120"/>
              </a:rPr>
              <a:t>IP address  </a:t>
            </a:r>
            <a:pPr indent="0" marL="0">
              <a:spcAft>
                <a:spcPts val="300"/>
              </a:spcAft>
              <a:buNone/>
            </a:pPr>
            <a:r>
              <a:rPr lang="en-US" sz="1250" dirty="0">
                <a:solidFill>
                  <a:srgbClr val="24272A"/>
                </a:solidFill>
                <a:latin typeface="Arial" pitchFamily="34" charset="0"/>
                <a:ea typeface="Arial" pitchFamily="34" charset="-122"/>
                <a:cs typeface="Arial" pitchFamily="34" charset="-120"/>
              </a:rPr>
              <a:t>171.176.215.217</a:t>
            </a:r>
            <a:endParaRPr lang="en-US" sz="1250" dirty="0"/>
          </a:p>
          <a:p>
            <a:pPr indent="0" marL="0">
              <a:buNone/>
            </a:pPr>
            <a:r>
              <a:rPr lang="en-US" sz="1250" b="1" dirty="0">
                <a:solidFill>
                  <a:srgbClr val="6B7177"/>
                </a:solidFill>
                <a:latin typeface="Arial" pitchFamily="34" charset="0"/>
                <a:ea typeface="Arial" pitchFamily="34" charset="-122"/>
                <a:cs typeface="Arial" pitchFamily="34" charset="-120"/>
              </a:rPr>
              <a:t>Load balancer  </a:t>
            </a:r>
            <a:pPr indent="0" marL="0">
              <a:spcAft>
                <a:spcPts val="300"/>
              </a:spcAft>
              <a:buNone/>
            </a:pPr>
            <a:r>
              <a:rPr lang="en-US" sz="1250" dirty="0">
                <a:solidFill>
                  <a:srgbClr val="24272A"/>
                </a:solidFill>
                <a:latin typeface="Arial" pitchFamily="34" charset="0"/>
                <a:ea typeface="Arial" pitchFamily="34" charset="-122"/>
                <a:cs typeface="Arial" pitchFamily="34" charset="-120"/>
              </a:rPr>
              <a:t>rtxqbt1conlb03a</a:t>
            </a:r>
            <a:endParaRPr lang="en-US" sz="1250" dirty="0"/>
          </a:p>
        </p:txBody>
      </p:sp>
      <p:sp>
        <p:nvSpPr>
          <p:cNvPr id="18" name="Text 16">
            <a:hlinkClick r:id="rId2" tooltip="https://bofasecopsdev.service-now.com/cmdb_ci_lb_service.do?sys_id=31ccec6c2f56871006a8a93fafa4e397"/>
          </p:cNvPr>
          <p:cNvSpPr txBox="1"/>
          <p:nvPr/>
        </p:nvSpPr>
        <p:spPr>
          <a:xfrm>
            <a:off x="8851392" y="5239512"/>
            <a:ext cx="2651760" cy="219456"/>
          </a:xfrm>
          <a:prstGeom prst="rect">
            <a:avLst/>
          </a:prstGeom>
          <a:noFill/>
          <a:ln/>
        </p:spPr>
        <p:txBody>
          <a:bodyPr wrap="square" lIns="0" tIns="0" rIns="0" bIns="0" rtlCol="0" anchor="ctr"/>
          <a:lstStyle/>
          <a:p>
            <a:pPr indent="0" marL="0">
              <a:buNone/>
            </a:pPr>
            <a:r>
              <a:rPr lang="en-US" sz="950" u="sng" dirty="0">
                <a:solidFill>
                  <a:srgbClr val="012169"/>
                </a:solidFill>
                <a:latin typeface="Arial" pitchFamily="34" charset="0"/>
                <a:ea typeface="Arial" pitchFamily="34" charset="-122"/>
                <a:cs typeface="Arial" pitchFamily="34" charset="-120"/>
                <a:hlinkClick r:id="rId2" invalidUrl="" action="" tgtFrame="" tooltip="https://bofasecopsdev.service-now.com/cmdb_ci_lb_service.do?sys_id=31ccec6c2f56871006a8a93fafa4e397" history="1" highlightClick="0" endSnd="0">
                  <a:extLst>
                    <a:ext uri="{A12FA001-AC4F-418D-AE19-62706E023703}">
                      <ahyp:hlinkClr xmlns:ahyp="http://schemas.microsoft.com/office/drawing/2018/hyperlinkcolor" val="tx"/>
                    </a:ext>
                  </a:extLst>
                </a:hlinkClick>
              </a:rPr>
              <a:t>Open the CI</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700  ·  IP ADDRESS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IP Class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Source field IP (sourceValue). Payload fields: OS (class choice through classFor) and DNS (host-name agreement). The rule argument is never read.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single CI of the OS-implied class whose ip_address equals the trimmed scanned address and whose name agrees with the scanned DNS label; null in every other case.</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Load Balancer Service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IP Hardware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the scanned IP only inside the CMDB class the scanned OS implies, and only when exactly one CI of that class (sub-classes included) carries it on ip_address. It is the first address rule: every serial and name rule has already declined, and an address is the weakest identifier (addresses move between machines and are shared by load balancers), so the class restriction plus host-name agreement make it safe.</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Address guard.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 null when sourceValue is empty. ip = ('' + sourceValue).trim(). Return null again when ip is empty, starts with '127.' (loopback) or starts with '169.254.' (link-local): such addresses identify no machine.</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Ignored class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ignore = the framework variable _ignoreClass when defined and non-empty, otherwise gs.getProperty('sn_sec_cmn.ignoreCIClass', ''). Placeholder and technical classes on that list are excluded from the query that follows, by exact class name.</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Class from the scanned OS.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pref = classFor(sourcePayload.OS): the OS text lower-cased, '' when it splits on '/' into more than two guesses, otherwise the first keyword hit in fixed order. An empty pref ends the rule with null and USEM IP Hardware Match takes the host.</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Search inside that class only.  </a:t>
            </a:r>
            <a:pPr indent="0" marL="0">
              <a:spcAft>
                <a:spcPts val="300"/>
              </a:spcAft>
              <a:buNone/>
            </a:pPr>
            <a:r>
              <a:rPr lang="en-US" sz="1000" dirty="0">
                <a:solidFill>
                  <a:srgbClr val="24272A"/>
                </a:solidFill>
                <a:latin typeface="Arial" pitchFamily="34" charset="0"/>
                <a:ea typeface="Arial" pitchFamily="34" charset="-122"/>
                <a:cs typeface="Arial" pitchFamily="34" charset="-120"/>
              </a:rPr>
              <a:t>gr = new GlideRecord(pref) covers the class and its sub-classes; null when gr.isValid() is false (class not installed). addQuery('ip_address', ip); when ignore is non-empty addQuery('sys_class_name', 'NOT IN', ignore); query().</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Exactly one row.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If next() is false, null. match = getUniqueValue() of the first row. If hasNext() is true a second CI of the class carries the address (an address reused after a rebuild) and the rule returns null. No setLimit, no ordering, no tie-break.</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Host-name agreement.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nameAgrees(match): label = DNS trimmed, lower-cased, first dot label; empty label passes. name = cmdb_ci.name of the CI, same normalisation; empty passes. Pass when name == label or one starts with the other plus '-' ('&lt;name&gt;-mgmt', '&lt;name&gt;-a').</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Return.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 match when the name agrees; null when the CI is named after another machine, which is what a reused address (a moved lease, a decommissioned host whose address was handed on) produces.</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 or the trimmed address is empty</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address starts with '127.' or '169.254.'</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classFor gives '': OS empty, more than two '/'-separated guesses, or no keyword matched</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table classFor returned is not valid on the instance (gr.isValid() false)</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CI of that class or its sub-classes, outside the ignore list, carries the address on ip_address</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a second CI of that class carries the same address (hasNext() true)</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payload carries a DNS name and the CI name's first label neither equals it nor differs from it only by a hyphenated tail on either side</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700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705  ·  IP ADDRESS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IP Hardware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Source field IP (sourceValue). Payload fields: OS (class preference consumed only by agrees()) and DNS (host-name agreement). The rule argument is never read.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one cmdb_ci_hardware row (any sub-class outside the ignore list) whose ip_address equals the scanned address, provided it is not in cmdb_ci_lb, its name agrees with the scanned label and its class agrees with the OS-implied class; null otherwise.</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IP Class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IP Adapter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the scanned IP across the whole hardware tree (cmdb_ci_hardware and every class beneath it) when exactly one hardware CI carries it on ip_address; safety comes from four checks after the query: one row, not a load balancer, name agreement, class agreement with the scanned OS. It sits after the class-restricted rule to reach CIs kept in a parent class or hosts whose OS gave no class.</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Address guard.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 null when sourceValue is empty. ip = ('' + sourceValue).trim(). Return null again when ip is empty, starts with '127.' (loopback) or starts with '169.254.' (link-local): such addresses identify no machine.</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Ignored class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ignore = the framework variable _ignoreClass when defined and non-empty, otherwise gs.getProperty('sn_sec_cmn.ignoreCIClass', ''). Placeholder and technical classes on that list are excluded from the query that follows, by exact class name.</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Class preference from the OS.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pref = classFor(sourcePayload.OS), the same mapping as USEM IP Class Match. An empty pref does not end the rule here: it only means agrees() refuses nothing in the last stage (the sample's seven-guess fingerprint gives '').</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Search across the hardware tree.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gr = new GlideRecord('cmdb_ci_hardware'), which covers Hardware and every class beneath it, with no isValid() guard; addQuery('ip_address', ip); when ignore is non-empty addQuery('sys_class_name', 'NOT IN', ignore); query(). No class filter beyond the tree.</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Exactly one row.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If next() is false, null. id = getUniqueValue() and cls = '' + getValue('sys_class_name') of the first row. If hasNext() is true (a shared virtual IP, an address reused after a rebuild) the rule returns null. No setLimit, no tie-break.</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Load balancer refusal.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isLoadBalancer(id): new GlideRecord('cmdb_ci_lb'), isValid() &amp;&amp; get(id), so a CI of cmdb_ci_lb or any class beneath it counts. True means the address is a virtual IP answered for the pool members behind the balancer, and the rule returns null.</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Host-name agreement.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nameAgrees(id): label = DNS trimmed, lower-cased, first dot label; empty label passes. name = cmdb_ci.name of the CI, same normalisation; empty passes. Pass when name == label or one starts with the other plus '-'. A failure returns null.</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Class agreement.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agrees(cls): true when pref is '' or cls == pref; true when parentsOf(cls) contains pref (cls is a sub-class); true when parentsOf(pref) contains cls (cls is a parent, e.g. cmdb_ci_server for an ESXi host). Any other class returns null.</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Return.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 id once all four checks pass, in this order: a single hardware row, not a load balancer, name agreeing with the scan, class agreeing with the OS.</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 or the trimmed address is empty</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address starts with '127.' or '169.254.'</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cmdb_ci_hardware row outside the ignore list carries the address on ip_address</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a second hardware row carries the same address (hasNext() true), whatever the classes involved</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single CI is a load balancer: cmdb_ci_lb is a valid table and cmdb_ci_lb.get(sys_id) succeeds</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payload carries a DNS name and the CI name's first label neither equals it nor differs from it only by a hyphenated tail</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OS gave a class and the CI's sys_class_name is neither that class, a sub-class of it, nor a parent of it</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705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730  ·  IP ADDRESS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IP Adapter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Source field IP (sourceValue). Payload fields: OS (class preference consumed by agrees() inside the owner loop) and DNS (host-name agreement). The rule argument is never read.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single CI (counted once however many of its adapters carry the address) owning an adapter with the scanned ip_address, when its class agrees with the OS, it is not a cmdb_ci_lb row and its name agrees with the scanned label; null otherwise.</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IP Hardware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IP Layered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the scanned IP as recorded on a Network Adapter (cmdb_ci_network_adapter.ip_address) and takes the adapter's owning CI (its cmdb_ci reference). It sits after the two rules that read the CI record because a multi-homed server keeps its addresses on adapter records rather than in its own ip_address field.</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Address guard.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 null when sourceValue is empty. ip = ('' + sourceValue).trim(). Return null again when ip is empty, starts with '127.' (loopback) or starts with '169.254.' (link-local): such addresses identify no machine.</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Ignored class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ignore = the framework variable _ignoreClass when defined and non-empty, otherwise gs.getProperty('sn_sec_cmn.ignoreCIClass', ''). Placeholder and technical classes on that list are excluded from the query that follows, by exact class name.</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Class preference from the OS.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pref = classFor(sourcePayload.OS). Not a filter: it is consulted inside the owner loop to skip an owning CI whose class contradicts the scan. An empty pref (unknown or multi-guess OS, as in the sample) skips nothing.</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Adapter query.  </a:t>
            </a:r>
            <a:pPr indent="0" marL="0">
              <a:spcAft>
                <a:spcPts val="300"/>
              </a:spcAft>
              <a:buNone/>
            </a:pPr>
            <a:r>
              <a:rPr lang="en-US" sz="1000" dirty="0">
                <a:solidFill>
                  <a:srgbClr val="24272A"/>
                </a:solidFill>
                <a:latin typeface="Arial" pitchFamily="34" charset="0"/>
                <a:ea typeface="Arial" pitchFamily="34" charset="-122"/>
                <a:cs typeface="Arial" pitchFamily="34" charset="-120"/>
              </a:rPr>
              <a:t>nic = new GlideRecord('cmdb_ci_network_adapter'), no isValid() guard; addQuery('ip_address', ip); addNotNullQuery('cmdb_ci') so the adapter must belong to a CI; when ignore is non-empty addQuery('cmdb_ci.sys_class_name', 'NOT IN', ignore); query().</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Distinct owners with class agreement.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Walk every row with next(): owner = getValue('cmdb_ci'); continue when agrees('' + nic.cmdb_ci.sys_class_name) is false; each new owner sys_id is recorded once in an object, count is incremented and first keeps the first distinct owner.</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Exactly one owner.  </a:t>
            </a:r>
            <a:pPr indent="0" marL="0">
              <a:spcAft>
                <a:spcPts val="300"/>
              </a:spcAft>
              <a:buNone/>
            </a:pPr>
            <a:r>
              <a:rPr lang="en-US" sz="1000" dirty="0">
                <a:solidFill>
                  <a:srgbClr val="24272A"/>
                </a:solidFill>
                <a:latin typeface="Arial" pitchFamily="34" charset="0"/>
                <a:ea typeface="Arial" pitchFamily="34" charset="-122"/>
                <a:cs typeface="Arial" pitchFamily="34" charset="-120"/>
              </a:rPr>
              <a:t>Decided by count == 1 over the whole result set, not by hasNext(): one server with two adapters on the address counts once, two servers count twice and the rule declines. A load balancer owner counts too when agrees() accepted its class (always with pref '').</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Refusals on the single owner.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 first only when !isLoadBalancer(first) (no row of cmdb_ci_lb with that sys_id) and nameAgrees(first) (scanned first label equals the CI name's first label or differs by a hyphenated tail). Otherwise null.</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 or the trimmed address is empty</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address starts with '127.' or '169.254.'</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cmdb_ci_network_adapter row with that ip_address has a non-empty cmdb_ci owner outside the ignore list</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every owning CI has a class agrees() refuses, so count stays 0</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adapters of two or more distinct CIs (after the class skip) carry the address</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single owner is a load balancer: cmdb_ci_lb is a valid table and cmdb_ci_lb.get(sys_id) succeeds</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payload carries a DNS name and the owner's name does not agree with it</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730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740  ·  IP ADDRESS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IP Layered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Source field IP (sourceValue). Payload fields: OS (class preference consumed by agrees() inside the owner loop) and DNS (host-name agreement). The rule argument is never read.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single CI at the end of cmdb_ci_ip_address -&gt; nic (cmdb_ci_network_adapter) -&gt; cmdb_ci, counted once across its address records, when its class agrees with the OS, it is not in cmdb_ci_lb and its name agrees with the scanned label; null otherwise.</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IP Adapter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FQDN Name Broad Match</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Trusts the scanned IP recorded as its own IP Address record (cmdb_ci_ip_address) linked through nic to a Network Adapter that links to a CI. It is the last address rule because newer discovery writes each address there and may leave the adapter's own ip_address empty, so the previous three rules find nothing.</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Address guard.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 null when sourceValue is empty. ip = ('' + sourceValue).trim(). Return null again when ip is empty, starts with '127.' (loopback) or starts with '169.254.' (link-local): such addresses identify no machine.</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Ignored class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ignore = the framework variable _ignoreClass when defined and non-empty, otherwise gs.getProperty('sn_sec_cmn.ignoreCIClass', ''). Placeholder and technical classes on that list are excluded from the query that follows, by exact class name.</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Class preference from the OS.  </a:t>
            </a:r>
            <a:pPr indent="0" marL="0">
              <a:spcAft>
                <a:spcPts val="300"/>
              </a:spcAft>
              <a:buNone/>
            </a:pPr>
            <a:r>
              <a:rPr lang="en-US" sz="1000" dirty="0">
                <a:solidFill>
                  <a:srgbClr val="24272A"/>
                </a:solidFill>
                <a:latin typeface="Arial" pitchFamily="34" charset="0"/>
                <a:ea typeface="Arial" pitchFamily="34" charset="-122"/>
                <a:cs typeface="Arial" pitchFamily="34" charset="-120"/>
              </a:rPr>
              <a:t>pref = classFor(sourcePayload.OS). Not a filter: it is consulted inside the owner loop to skip a CI at the end of the chain whose class contradicts the scan. An empty pref (unknown or multi-guess OS, as in the sample) skips nothing.</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IP Address record query.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ipGr = new GlideRecord('cmdb_ci_ip_address'); null when isValid() is false. addQuery('ip_address', ip); addNotNullQuery('nic.cmdb_ci') so the chain ends on a CI; when ignore is non-empty addQuery('nic.cmdb_ci.sys_class_name', 'NOT IN', ignore); query().</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Distinct owners with class agreement.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Walk every row: owner = '' + ipGr.nic.cmdb_ci (IP Address -&gt; adapter -&gt; CI, two dot-walks); continue when agrees('' + ipGr.nic.cmdb_ci.sys_class_name) is false; each new owner recorded once in an object, count incremented, first kept.</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Exactly one owner.  </a:t>
            </a:r>
            <a:pPr indent="0" marL="0">
              <a:spcAft>
                <a:spcPts val="300"/>
              </a:spcAft>
              <a:buNone/>
            </a:pPr>
            <a:r>
              <a:rPr lang="en-US" sz="1000" dirty="0">
                <a:solidFill>
                  <a:srgbClr val="24272A"/>
                </a:solidFill>
                <a:latin typeface="Arial" pitchFamily="34" charset="0"/>
                <a:ea typeface="Arial" pitchFamily="34" charset="-122"/>
                <a:cs typeface="Arial" pitchFamily="34" charset="-120"/>
              </a:rPr>
              <a:t>count == 1 over the whole result set, not hasNext(): one device with two address records counts once, two devices count twice and the rule declines. A load balancer owner counts too whenever agrees() accepted its class (always when pref is '').</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Refusals on the single owner.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 first only when !isLoadBalancer(first) (no cmdb_ci_lb row with that sys_id) and nameAgrees(first). Otherwise null, and the host passes to USEM FQDN Name Broad Match.</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 or the trimmed address is empty</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address starts with '127.' or '169.254.'</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cmdb_ci_ip_address table is not valid on the instance (ipGr.isValid() false)</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cmdb_ci_ip_address row with that ip_address reaches a CI (nic.cmdb_ci empty) outside the ignore list</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every CI reached has a class agrees() refuses, so count stays 0</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address records of two or more distinct CIs (after the class skip) carry the address</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single owner is a load balancer: cmdb_ci_lb is a valid table and cmdb_ci_lb.get(sys_id) succeeds</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payload carries a DNS name and the owner's name does not agree with it</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740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850  ·  BROAD NAME</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FQDN Name Broad Match</a:t>
            </a:r>
            <a:endParaRPr lang="en-US" sz="2800" dirty="0"/>
          </a:p>
        </p:txBody>
      </p:sp>
      <p:sp>
        <p:nvSpPr>
          <p:cNvPr id="4" name="Text 2"/>
          <p:cNvSpPr txBox="1"/>
          <p:nvPr/>
        </p:nvSpPr>
        <p:spPr>
          <a:xfrm>
            <a:off x="457200" y="1170432"/>
            <a:ext cx="11274552" cy="566928"/>
          </a:xfrm>
          <a:prstGeom prst="rect">
            <a:avLst/>
          </a:prstGeom>
          <a:noFill/>
          <a:ln/>
        </p:spPr>
        <p:txBody>
          <a:bodyPr wrap="square" lIns="0" tIns="0" rIns="0" bIns="0" rtlCol="0" anchor="t">
            <a:normAutofit/>
          </a:bodyPr>
          <a:lstStyle/>
          <a:p>
            <a:pPr indent="0" marL="0">
              <a:buNone/>
            </a:pPr>
            <a:r>
              <a:rPr lang="en-US" sz="950" b="1" dirty="0">
                <a:solidFill>
                  <a:srgbClr val="012169"/>
                </a:solidFill>
                <a:latin typeface="Arial" pitchFamily="34" charset="0"/>
                <a:ea typeface="Arial" pitchFamily="34" charset="-122"/>
                <a:cs typeface="Arial" pitchFamily="34" charset="-120"/>
              </a:rPr>
              <a:t>READS  </a:t>
            </a:r>
            <a:pPr indent="0" marL="0">
              <a:buNone/>
            </a:pPr>
            <a:r>
              <a:rPr lang="en-US" sz="950" dirty="0">
                <a:solidFill>
                  <a:srgbClr val="24272A"/>
                </a:solidFill>
                <a:latin typeface="Arial" pitchFamily="34" charset="0"/>
                <a:ea typeface="Arial" pitchFamily="34" charset="-122"/>
                <a:cs typeface="Arial" pitchFamily="34" charset="-120"/>
              </a:rPr>
              <a:t>Source field DNS (sourceValue). No payload field is read: neither IP nor OS influences the result.   </a:t>
            </a:r>
            <a:pPr indent="0" marL="0">
              <a:buNone/>
            </a:pPr>
            <a:r>
              <a:rPr lang="en-US" sz="950" b="1" dirty="0">
                <a:solidFill>
                  <a:srgbClr val="012169"/>
                </a:solidFill>
                <a:latin typeface="Arial" pitchFamily="34" charset="0"/>
                <a:ea typeface="Arial" pitchFamily="34" charset="-122"/>
                <a:cs typeface="Arial" pitchFamily="34" charset="-120"/>
              </a:rPr>
              <a:t>RETURNS  </a:t>
            </a:r>
            <a:pPr indent="0" marL="0">
              <a:buNone/>
            </a:pPr>
            <a:r>
              <a:rPr lang="en-US" sz="950" dirty="0">
                <a:solidFill>
                  <a:srgbClr val="24272A"/>
                </a:solidFill>
                <a:latin typeface="Arial" pitchFamily="34" charset="0"/>
                <a:ea typeface="Arial" pitchFamily="34" charset="-122"/>
                <a:cs typeface="Arial" pitchFamily="34" charset="-120"/>
              </a:rPr>
              <a:t>The sys_id of the single cmdb_ci row, in any class not on the ignore list, whose name equals the scanned FQDN; null when none or the name is shared.</a:t>
            </a:r>
            <a:endParaRPr lang="en-US" sz="950" dirty="0"/>
          </a:p>
          <a:p>
            <a:pPr indent="0" marL="0">
              <a:buNone/>
            </a:pPr>
            <a:r>
              <a:rPr lang="en-US" sz="950" b="1" dirty="0">
                <a:solidFill>
                  <a:srgbClr val="012169"/>
                </a:solidFill>
                <a:latin typeface="Arial" pitchFamily="34" charset="0"/>
                <a:ea typeface="Arial" pitchFamily="34" charset="-122"/>
                <a:cs typeface="Arial" pitchFamily="34" charset="-120"/>
              </a:rPr>
              <a:t>RUNS AFTER  </a:t>
            </a:r>
            <a:pPr indent="0" marL="0">
              <a:buNone/>
            </a:pPr>
            <a:r>
              <a:rPr lang="en-US" sz="950" dirty="0">
                <a:solidFill>
                  <a:srgbClr val="24272A"/>
                </a:solidFill>
                <a:latin typeface="Arial" pitchFamily="34" charset="0"/>
                <a:ea typeface="Arial" pitchFamily="34" charset="-122"/>
                <a:cs typeface="Arial" pitchFamily="34" charset="-120"/>
              </a:rPr>
              <a:t>IP Layered Match   </a:t>
            </a:r>
            <a:pPr indent="0" marL="0">
              <a:buNone/>
            </a:pPr>
            <a:r>
              <a:rPr lang="en-US" sz="950" b="1" dirty="0">
                <a:solidFill>
                  <a:srgbClr val="012169"/>
                </a:solidFill>
                <a:latin typeface="Arial" pitchFamily="34" charset="0"/>
                <a:ea typeface="Arial" pitchFamily="34" charset="-122"/>
                <a:cs typeface="Arial" pitchFamily="34" charset="-120"/>
              </a:rPr>
              <a:t>HANDS OVER TO  </a:t>
            </a:r>
            <a:pPr indent="0" marL="0">
              <a:buNone/>
            </a:pPr>
            <a:r>
              <a:rPr lang="en-US" sz="950" dirty="0">
                <a:solidFill>
                  <a:srgbClr val="24272A"/>
                </a:solidFill>
                <a:latin typeface="Arial" pitchFamily="34" charset="0"/>
                <a:ea typeface="Arial" pitchFamily="34" charset="-122"/>
                <a:cs typeface="Arial" pitchFamily="34" charset="-120"/>
              </a:rPr>
              <a:t>the platform's own rules (FQDN, NetBIOS, DNS)</a:t>
            </a:r>
            <a:endParaRPr lang="en-US" sz="950" dirty="0"/>
          </a:p>
        </p:txBody>
      </p:sp>
      <p:sp>
        <p:nvSpPr>
          <p:cNvPr id="5" name="Shape 3"/>
          <p:cNvSpPr/>
          <p:nvPr/>
        </p:nvSpPr>
        <p:spPr>
          <a:xfrm>
            <a:off x="457200" y="1810512"/>
            <a:ext cx="11274552" cy="3291840"/>
          </a:xfrm>
          <a:prstGeom prst="roundRect">
            <a:avLst>
              <a:gd name="adj" fmla="val 1389"/>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6" name="Text 4"/>
          <p:cNvSpPr txBox="1"/>
          <p:nvPr/>
        </p:nvSpPr>
        <p:spPr>
          <a:xfrm>
            <a:off x="731520" y="193852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WHAT IT LOOKS FOR</a:t>
            </a:r>
            <a:endParaRPr lang="en-US" sz="950" dirty="0"/>
          </a:p>
        </p:txBody>
      </p:sp>
      <p:sp>
        <p:nvSpPr>
          <p:cNvPr id="7" name="Text 5"/>
          <p:cNvSpPr txBox="1"/>
          <p:nvPr/>
        </p:nvSpPr>
        <p:spPr>
          <a:xfrm>
            <a:off x="731520" y="2176272"/>
            <a:ext cx="10744200" cy="566928"/>
          </a:xfrm>
          <a:prstGeom prst="rect">
            <a:avLst/>
          </a:prstGeom>
          <a:noFill/>
          <a:ln/>
        </p:spPr>
        <p:txBody>
          <a:bodyPr wrap="square" lIns="0" tIns="0" rIns="0" bIns="0" rtlCol="0" anchor="t">
            <a:normAutofit/>
          </a:bodyPr>
          <a:lstStyle/>
          <a:p>
            <a:pPr indent="0" marL="0">
              <a:buNone/>
            </a:pPr>
            <a:r>
              <a:rPr lang="en-US" sz="1150" dirty="0">
                <a:solidFill>
                  <a:srgbClr val="24272A"/>
                </a:solidFill>
                <a:latin typeface="Arial" pitchFamily="34" charset="0"/>
                <a:ea typeface="Arial" pitchFamily="34" charset="-122"/>
                <a:cs typeface="Arial" pitchFamily="34" charset="-120"/>
              </a:rPr>
              <a:t>The last USEM rule and the only one that searches the root cmdb_ci table: a CI whose name is the complete scanned FQDN in any class (a virtual machine instance or another logical CI), still requiring a single row outside the ignored classes. It runs last so every more precise rule has had its chance.</a:t>
            </a:r>
            <a:endParaRPr lang="en-US" sz="1150" dirty="0"/>
          </a:p>
        </p:txBody>
      </p:sp>
      <p:sp>
        <p:nvSpPr>
          <p:cNvPr id="8" name="Text 6"/>
          <p:cNvSpPr txBox="1"/>
          <p:nvPr/>
        </p:nvSpPr>
        <p:spPr>
          <a:xfrm>
            <a:off x="731520" y="2788920"/>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HOW THE SCRIPT WORKS</a:t>
            </a:r>
            <a:endParaRPr lang="en-US" sz="950" dirty="0"/>
          </a:p>
        </p:txBody>
      </p:sp>
      <p:sp>
        <p:nvSpPr>
          <p:cNvPr id="9" name="Text 7"/>
          <p:cNvSpPr txBox="1"/>
          <p:nvPr/>
        </p:nvSpPr>
        <p:spPr>
          <a:xfrm>
            <a:off x="731520"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Guard and normalise the DNS value.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Returns null when sourceValue is empty or absent. Otherwise coerces it to a string, trims it and lower-cases it. The whole dotted string is kept: no first label is cut and no domain suffix is stripped.</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Require a dotted name.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Returns null when the normalised value contains no '.' character; a bare label is left to the hostname rules.</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Build the ignored-class list.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ignore is '' + _ignoreClass when that global is defined and truthy, otherwise gs.getProperty('sn_sec_cmn.ignoreCIClass', ''). When non-empty it becomes the query condition sys_class_name NOT IN that comma-separated list.</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Query the root cmdb_ci table on name.  </a:t>
            </a:r>
            <a:pPr indent="0" marL="0">
              <a:spcAft>
                <a:spcPts val="300"/>
              </a:spcAft>
              <a:buNone/>
            </a:pPr>
            <a:r>
              <a:rPr lang="en-US" sz="1000" dirty="0">
                <a:solidFill>
                  <a:srgbClr val="24272A"/>
                </a:solidFill>
                <a:latin typeface="Arial" pitchFamily="34" charset="0"/>
                <a:ea typeface="Arial" pitchFamily="34" charset="-122"/>
                <a:cs typeface="Arial" pitchFamily="34" charset="-120"/>
              </a:rPr>
              <a:t>GlideRecord('cmdb_ci'), addQuery('name', normalised FQDN), the NOT IN ignore condition when set, then query(). Every class is searched, hardware and logical alike; only the ignore list keeps placeholder classes out. No setLimit, no isValid() guard.</a:t>
            </a:r>
            <a:endParaRPr lang="en-US" sz="1000" dirty="0"/>
          </a:p>
        </p:txBody>
      </p:sp>
      <p:sp>
        <p:nvSpPr>
          <p:cNvPr id="10" name="Text 8"/>
          <p:cNvSpPr txBox="1"/>
          <p:nvPr/>
        </p:nvSpPr>
        <p:spPr>
          <a:xfrm>
            <a:off x="6254496" y="3035808"/>
            <a:ext cx="5202936" cy="1993392"/>
          </a:xfrm>
          <a:prstGeom prst="rect">
            <a:avLst/>
          </a:prstGeom>
          <a:noFill/>
          <a:ln/>
        </p:spPr>
        <p:txBody>
          <a:bodyPr wrap="square" lIns="0" tIns="0" rIns="0" bIns="0" rtlCol="0" anchor="t">
            <a:normAutofit/>
          </a:bodyPr>
          <a:lstStyle/>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Take the first row with next().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If gr.next() is false the rule returns null. Otherwise match holds gr.getUniqueValue() of that first row.</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Reject a second row with hasNext().  </a:t>
            </a:r>
            <a:pPr indent="0" marL="0">
              <a:spcAft>
                <a:spcPts val="300"/>
              </a:spcAft>
              <a:buNone/>
            </a:pPr>
            <a:r>
              <a:rPr lang="en-US" sz="1000" dirty="0">
                <a:solidFill>
                  <a:srgbClr val="24272A"/>
                </a:solidFill>
                <a:latin typeface="Arial" pitchFamily="34" charset="0"/>
                <a:ea typeface="Arial" pitchFamily="34" charset="-122"/>
                <a:cs typeface="Arial" pitchFamily="34" charset="-120"/>
              </a:rPr>
              <a:t>If gr.hasNext() is true a second CI of any class carries the same name and the rule returns null; the scanned IP, the class or a retired status never break the tie.</a:t>
            </a:r>
            <a:endParaRPr lang="en-US" sz="1000" dirty="0"/>
          </a:p>
          <a:p>
            <a:pPr marL="177800" indent="-177800">
              <a:buSzPct val="100000"/>
              <a:buChar char="•"/>
            </a:pPr>
            <a:r>
              <a:rPr lang="en-US" sz="1000" b="1" dirty="0">
                <a:solidFill>
                  <a:srgbClr val="012169"/>
                </a:solidFill>
                <a:latin typeface="Arial" pitchFamily="34" charset="0"/>
                <a:ea typeface="Arial" pitchFamily="34" charset="-122"/>
                <a:cs typeface="Arial" pitchFamily="34" charset="-120"/>
              </a:rPr>
              <a:t>Return the single match.  </a:t>
            </a:r>
            <a:pPr indent="0" marL="0">
              <a:spcAft>
                <a:spcPts val="300"/>
              </a:spcAft>
              <a:buNone/>
            </a:pPr>
            <a:r>
              <a:rPr lang="en-US" sz="1000" dirty="0">
                <a:solidFill>
                  <a:srgbClr val="24272A"/>
                </a:solidFill>
                <a:latin typeface="Arial" pitchFamily="34" charset="0"/>
                <a:ea typeface="Arial" pitchFamily="34" charset="-122"/>
                <a:cs typeface="Arial" pitchFamily="34" charset="-120"/>
              </a:rPr>
              <a:t>match is returned only when the query produced exactly one row. No IP tie-break, OS class, retired test or twin grouping exists in this script.</a:t>
            </a:r>
            <a:endParaRPr lang="en-US" sz="1000" dirty="0"/>
          </a:p>
        </p:txBody>
      </p:sp>
      <p:sp>
        <p:nvSpPr>
          <p:cNvPr id="11" name="Shape 9"/>
          <p:cNvSpPr/>
          <p:nvPr/>
        </p:nvSpPr>
        <p:spPr>
          <a:xfrm>
            <a:off x="457200" y="5212080"/>
            <a:ext cx="11274552" cy="1371600"/>
          </a:xfrm>
          <a:prstGeom prst="roundRect">
            <a:avLst>
              <a:gd name="adj" fmla="val 3333"/>
            </a:avLst>
          </a:prstGeom>
          <a:solidFill>
            <a:srgbClr val="EAF0F8"/>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12" name="Text 10"/>
          <p:cNvSpPr txBox="1"/>
          <p:nvPr/>
        </p:nvSpPr>
        <p:spPr>
          <a:xfrm>
            <a:off x="731520" y="5321808"/>
            <a:ext cx="10972800" cy="237744"/>
          </a:xfrm>
          <a:prstGeom prst="rect">
            <a:avLst/>
          </a:prstGeom>
          <a:noFill/>
          <a:ln/>
        </p:spPr>
        <p:txBody>
          <a:bodyPr wrap="square" lIns="0" tIns="0" rIns="0" bIns="0" rtlCol="0" anchor="ctr"/>
          <a:lstStyle/>
          <a:p>
            <a:pPr indent="0" marL="0">
              <a:buNone/>
            </a:pPr>
            <a:r>
              <a:rPr lang="en-US" sz="950" b="1" spc="120" kern="0" dirty="0">
                <a:solidFill>
                  <a:srgbClr val="012169"/>
                </a:solidFill>
                <a:latin typeface="Arial" pitchFamily="34" charset="0"/>
                <a:ea typeface="Arial" pitchFamily="34" charset="-122"/>
                <a:cs typeface="Arial" pitchFamily="34" charset="-120"/>
              </a:rPr>
              <a:t>DECLINES WHEN</a:t>
            </a:r>
            <a:endParaRPr lang="en-US" sz="950" dirty="0"/>
          </a:p>
        </p:txBody>
      </p:sp>
      <p:sp>
        <p:nvSpPr>
          <p:cNvPr id="13" name="Text 11"/>
          <p:cNvSpPr txBox="1"/>
          <p:nvPr/>
        </p:nvSpPr>
        <p:spPr>
          <a:xfrm>
            <a:off x="731520"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sourceValue is empty or absent</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the normalised DNS value contains no '.' (a bare hostname)</a:t>
            </a:r>
            <a:endParaRPr lang="en-US" sz="900" dirty="0"/>
          </a:p>
        </p:txBody>
      </p:sp>
      <p:sp>
        <p:nvSpPr>
          <p:cNvPr id="14" name="Text 12"/>
          <p:cNvSpPr txBox="1"/>
          <p:nvPr/>
        </p:nvSpPr>
        <p:spPr>
          <a:xfrm>
            <a:off x="6254496" y="5541264"/>
            <a:ext cx="5202936" cy="987552"/>
          </a:xfrm>
          <a:prstGeom prst="rect">
            <a:avLst/>
          </a:prstGeom>
          <a:noFill/>
          <a:ln/>
        </p:spPr>
        <p:txBody>
          <a:bodyPr wrap="square" lIns="0" tIns="0" rIns="0" bIns="0" rtlCol="0" anchor="t">
            <a:normAutofit/>
          </a:bodyPr>
          <a:lstStyle/>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no cmdb_ci row outside the ignored classes has name equal to the scanned FQDN</a:t>
            </a:r>
            <a:endParaRPr lang="en-US" sz="900" dirty="0"/>
          </a:p>
          <a:p>
            <a:pPr marL="177800" indent="-177800">
              <a:spcAft>
                <a:spcPts val="100"/>
              </a:spcAft>
              <a:buSzPct val="100000"/>
              <a:buChar char="•"/>
            </a:pPr>
            <a:r>
              <a:rPr lang="en-US" sz="900" dirty="0">
                <a:solidFill>
                  <a:srgbClr val="24272A"/>
                </a:solidFill>
                <a:latin typeface="Arial" pitchFamily="34" charset="0"/>
                <a:ea typeface="Arial" pitchFamily="34" charset="-122"/>
                <a:cs typeface="Arial" pitchFamily="34" charset="-120"/>
              </a:rPr>
              <a:t>two or more cmdb_ci rows share that name (gr.hasNext() true), whatever their class, IP or status</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RULE 850  ·  EXAMPLES</a:t>
            </a:r>
            <a:endParaRPr lang="en-US" sz="1050" dirty="0"/>
          </a:p>
        </p:txBody>
      </p:sp>
      <p:sp>
        <p:nvSpPr>
          <p:cNvPr id="3" name="Text 1"/>
          <p:cNvSpPr txBox="1"/>
          <p:nvPr/>
        </p:nvSpPr>
        <p:spPr>
          <a:xfrm>
            <a:off x="457200" y="548640"/>
            <a:ext cx="11247120" cy="603504"/>
          </a:xfrm>
          <a:prstGeom prst="rect">
            <a:avLst/>
          </a:prstGeom>
          <a:noFill/>
          <a:ln/>
        </p:spPr>
        <p:txBody>
          <a:bodyPr wrap="square" lIns="0" tIns="0" rIns="0" bIns="0" rtlCol="0" anchor="t">
            <a:normAutofit/>
          </a:bodyPr>
          <a:lstStyle/>
          <a:p>
            <a:pPr indent="0" marL="0">
              <a:buNone/>
            </a:pPr>
            <a:r>
              <a:rPr lang="en-US" sz="2800" b="1" dirty="0">
                <a:solidFill>
                  <a:srgbClr val="24272A"/>
                </a:solidFill>
                <a:latin typeface="Arial" pitchFamily="34" charset="0"/>
                <a:ea typeface="Arial" pitchFamily="34" charset="-122"/>
                <a:cs typeface="Arial" pitchFamily="34" charset="-120"/>
              </a:rPr>
              <a:t>Three matched discovered items</a:t>
            </a:r>
            <a:endParaRPr lang="en-US" sz="2800" dirty="0"/>
          </a:p>
        </p:txBody>
      </p:sp>
      <p:sp>
        <p:nvSpPr>
          <p:cNvPr id="4" name="Shape 2"/>
          <p:cNvSpPr/>
          <p:nvPr/>
        </p:nvSpPr>
        <p:spPr>
          <a:xfrm>
            <a:off x="457200" y="1325880"/>
            <a:ext cx="11274552" cy="2011680"/>
          </a:xfrm>
          <a:prstGeom prst="roundRect">
            <a:avLst>
              <a:gd name="adj" fmla="val 2273"/>
            </a:avLst>
          </a:prstGeom>
          <a:solidFill>
            <a:srgbClr val="FFFFFF"/>
          </a:solidFill>
          <a:ln w="9525">
            <a:solidFill>
              <a:srgbClr val="DDE0E3"/>
            </a:solidFill>
            <a:prstDash val="solid"/>
          </a:ln>
          <a:effectLst>
            <a:outerShdw sx="100000" sy="100000" kx="0" ky="0" algn="bl" rotWithShape="0" blurRad="76200" dist="12700" dir="5400000">
              <a:srgbClr val="9AA1A8">
                <a:alpha val="25000"/>
              </a:srgbClr>
            </a:outerShdw>
          </a:effectLst>
        </p:spPr>
      </p:sp>
      <p:sp>
        <p:nvSpPr>
          <p:cNvPr id="5" name="Text 3"/>
          <p:cNvSpPr txBox="1"/>
          <p:nvPr/>
        </p:nvSpPr>
        <p:spPr>
          <a:xfrm>
            <a:off x="777240" y="1645920"/>
            <a:ext cx="10607040" cy="1463040"/>
          </a:xfrm>
          <a:prstGeom prst="rect">
            <a:avLst/>
          </a:prstGeom>
          <a:noFill/>
          <a:ln/>
        </p:spPr>
        <p:txBody>
          <a:bodyPr wrap="square" lIns="0" tIns="0" rIns="0" bIns="0" rtlCol="0" anchor="t"/>
          <a:lstStyle/>
          <a:p>
            <a:pPr indent="0" marL="0">
              <a:buNone/>
            </a:pPr>
            <a:r>
              <a:rPr lang="en-US" sz="1600" dirty="0">
                <a:solidFill>
                  <a:srgbClr val="6B7177"/>
                </a:solidFill>
                <a:latin typeface="Arial" pitchFamily="34" charset="0"/>
                <a:ea typeface="Arial" pitchFamily="34" charset="-122"/>
                <a:cs typeface="Arial" pitchFamily="34" charset="-120"/>
              </a:rPr>
              <a:t>Three discovered items matched by this rule on the development instance will be shown here, one per page, each with the scanned values, the steps the rule took and the CI it returned.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Qualys CI Lookup Rules - CMDB Team Demo</dc:title>
  <dc:subject>PptxGenJS Presentation</dc:subject>
  <dc:creator>Mihir Kumar Singh</dc:creator>
  <cp:lastModifiedBy>Mihir Kumar Singh</cp:lastModifiedBy>
  <cp:revision>1</cp:revision>
  <dcterms:created xsi:type="dcterms:W3CDTF">2026-09-20T18:11:06Z</dcterms:created>
  <dcterms:modified xsi:type="dcterms:W3CDTF">2026-09-20T18:11:06Z</dcterms:modified>
</cp:coreProperties>
</file>