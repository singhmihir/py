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0354"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438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77995"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0879"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0167"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500"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2091"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33954"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03065"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33839"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206"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612"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203"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1903"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313530"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1901"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8162"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35443"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0518"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0126"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338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2094"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1885"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317961"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606"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6"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5"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2"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4014" TargetMode="External"/><Relationship Id="rId2" Type="http://schemas.openxmlformats.org/officeDocument/2006/relationships/hyperlink" Target="https://bofasecopsdev.service-now.com/cmdb_ci_ip_firewall.do?sys_id=" TargetMode="External"/><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11601"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2714"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3" TargetMode="External"/><Relationship Id="rId2" Type="http://schemas.openxmlformats.org/officeDocument/2006/relationships/hyperlink" Target="https://bofasecopsdev.service-now.com/cmdb_ci_lb.do?sys_id=" TargetMode="Externa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19391" TargetMode="External"/><Relationship Id="rId2" Type="http://schemas.openxmlformats.org/officeDocument/2006/relationships/hyperlink" Target="https://bofasecopsdev.service-now.com/cmdb_ci_lb_bigip.do?sys_id="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12966"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31100"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58949"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93787" TargetMode="External"/><Relationship Id="rId2" Type="http://schemas.openxmlformats.org/officeDocument/2006/relationships/hyperlink" Target="https://bofasecopsdev.service-now.com/cmdb_ci_ids_network.do?sys_id=" TargetMode="External"/><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82383"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47775"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17281"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5591"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172"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146"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7129"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E31837"/>
          </a:solidFill>
          <a:ln w="12700">
            <a:solidFill>
              <a:srgbClr val="333333"/>
            </a:solidFill>
            <a:prstDash val="solid"/>
          </a:ln>
        </p:spPr>
      </p:sp>
      <p:sp>
        <p:nvSpPr>
          <p:cNvPr id="3" name="Text 1"/>
          <p:cNvSpPr txBox="1"/>
          <p:nvPr/>
        </p:nvSpPr>
        <p:spPr>
          <a:xfrm>
            <a:off x="914400" y="2011680"/>
            <a:ext cx="10058400" cy="274320"/>
          </a:xfrm>
          <a:prstGeom prst="rect">
            <a:avLst/>
          </a:prstGeom>
          <a:noFill/>
          <a:ln/>
        </p:spPr>
        <p:txBody>
          <a:bodyPr wrap="square" lIns="0" tIns="0" rIns="0" bIns="0" rtlCol="0" anchor="ctr"/>
          <a:lstStyle/>
          <a:p>
            <a:pPr indent="0" marL="0">
              <a:buNone/>
            </a:pPr>
            <a:r>
              <a:rPr lang="en-US" sz="1200" b="1" spc="20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4" name="Text 2"/>
          <p:cNvSpPr txBox="1"/>
          <p:nvPr/>
        </p:nvSpPr>
        <p:spPr>
          <a:xfrm>
            <a:off x="914400" y="2377440"/>
            <a:ext cx="100584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Qualys CI Lookup Rules</a:t>
            </a:r>
            <a:endParaRPr lang="en-US" sz="4000" dirty="0"/>
          </a:p>
        </p:txBody>
      </p:sp>
      <p:sp>
        <p:nvSpPr>
          <p:cNvPr id="5" name="Text 3"/>
          <p:cNvSpPr txBox="1"/>
          <p:nvPr/>
        </p:nvSpPr>
        <p:spPr>
          <a:xfrm>
            <a:off x="914400" y="329184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6" name="Text 4"/>
          <p:cNvSpPr txBox="1"/>
          <p:nvPr/>
        </p:nvSpPr>
        <p:spPr>
          <a:xfrm>
            <a:off x="914400" y="512064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How every script runs</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THE CONTRACT AND THE SEARCH</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Contract.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Normalisation.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Ignored 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Exactly one.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 tie-break.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Loopback and link-local.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address and virtual server rules refuse 127. and 169.254. before reading anything else.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Retired records.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CLASS FROM THE SCANNED OS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classFor(OS).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rules.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Appliances.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Load balancer devices.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Host name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signs the scripts look for</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SERIALS, PHONES, CONTROLLERS</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Placeholder serials.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Cisco phones.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Other phones and scanners.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Management controllers.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Network interfaces.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VIRTUAL SERVERS, NAMES, ADDRESSES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Virtual server sign.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Twins.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Member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Service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Never reads the pool. Attaches the one live virtual server record; two live twins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Names.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Last resort.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chain at a glance: first rule to answer wins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40080"/>
                <a:gridCol w="2743200"/>
                <a:gridCol w="2651760"/>
                <a:gridCol w="5239512"/>
              </a:tblGrid>
              <a:tr h="214884">
                <a:tc>
                  <a:txBody>
                    <a:bodyPr/>
                    <a:lstStyle/>
                    <a:p>
                      <a:pPr indent="0" marL="0">
                        <a:buNone/>
                      </a:pPr>
                      <a:r>
                        <a:rPr lang="en-US" sz="900" b="1" dirty="0">
                          <a:solidFill>
                            <a:srgbClr val="FFFFFF"/>
                          </a:solidFill>
                          <a:latin typeface="Arial" pitchFamily="34" charset="0"/>
                          <a:ea typeface="Arial" pitchFamily="34" charset="-122"/>
                          <a:cs typeface="Arial" pitchFamily="34" charset="-120"/>
                        </a:rPr>
                        <a:t>Order</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Reads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Returns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175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plus sourcePayload.OS; the IP and DNS fields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180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only; the OS, IP and DNS fields of the payload are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Cisco IP Phone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Layered DNS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Device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420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Management Interface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Network Interface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Member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Service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Adapter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740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Layered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850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Broad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11247120" cy="182880"/>
          </a:xfrm>
          <a:prstGeom prst="rect">
            <a:avLst/>
          </a:prstGeom>
          <a:noFill/>
          <a:ln/>
        </p:spPr>
        <p:txBody>
          <a:bodyPr wrap="square" lIns="0" tIns="0" rIns="0" bIns="0" rtlCol="0" anchor="ctr"/>
          <a:lstStyle/>
          <a:p>
            <a:pPr indent="0" marL="0">
              <a:buNone/>
            </a:pPr>
            <a:r>
              <a:rPr lang="en-US" sz="800" dirty="0">
                <a:solidFill>
                  <a:srgbClr val="6B7177"/>
                </a:solidFill>
                <a:latin typeface="Arial" pitchFamily="34" charset="0"/>
                <a:ea typeface="Arial" pitchFamily="34" charset="-122"/>
                <a:cs typeface="Arial" pitchFamily="34" charset="-120"/>
              </a:rPr>
              <a:t>After the USEM rules the platform's own rules run (FQDN, NetBIOS, DNS). Rules that return nothing hand the host to the next one.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plus sourcePayload.OS; the IP and DNS fields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none, it opens the chain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Serial Number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25,257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 It opens the chain because a unique serial inside the right class is the strongest evidence the feed offers.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inside the class.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sourcePayload.OS is empty or contains none of the classFor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text holds three or more '/'-separated guesses (split('/').length &gt;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that class (sub-classes included,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lva10bhvnmcu08v.sdi.corp.bankofamerica.com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SDI000002150354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lva10bhvnmcu08v.sdi.corp.bankofamerica.com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30.92.144.74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8.10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37 a8 95 c9 7d ed c7-3d a0 a2 cf b0 e6 bc f3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05:26:32</a:t>
            </a:r>
            <a:endParaRPr lang="en-US" sz="1250" dirty="0"/>
          </a:p>
        </p:txBody>
      </p:sp>
      <p:sp>
        <p:nvSpPr>
          <p:cNvPr id="8" name="Text 6">
            <a:hlinkClick r:id="rId1" tooltip="https://bofasecopsdev.service-now.com/sn_sec_cmn_src_ci_list.do?sysparm_query=number=SDI00000215035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035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37 a8 95 c9 7d ed c7-3d a0 a2 cf b0 e6 bc f3"</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"Red Hat Enterprise Linux 8.10"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lva10bhvnmcu08v [linux_server] ip 30.92.144.74 -&gt;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lva10bhvnmcu08v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lva10bhvnmcu08v.sdi.corp.bankofamerica.com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30.92.144.74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37 a8 95 c9 7d ed c7-3d a0 a2 cf b0 e6 bc f3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gbwxapqzmotd002.gbwgcdc.baml.com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SDI000002154387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gbwxapqzmotd002.gbwgcdc.baml.com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171.134.21.149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473YF73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05:26:23</a:t>
            </a:r>
            <a:endParaRPr lang="en-US" sz="1250" dirty="0"/>
          </a:p>
        </p:txBody>
      </p:sp>
      <p:sp>
        <p:nvSpPr>
          <p:cNvPr id="8" name="Text 6">
            <a:hlinkClick r:id="rId1" tooltip="https://bofasecopsdev.service-now.com/sn_sec_cmn_src_ci_list.do?sysparm_query=number=SDI0000021543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43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"473YF73"</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"Red Hat Enterprise Linux 9.8"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gbwxapqzmotd002 [linux_server] ip 171.134.21.149 -&gt;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gbwxapqzmotd002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gbwxapqzmotd002.gbwgcdc.baml.com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GBWGCDC.BAML.COM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171.134.21.149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473YF73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R740xd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vaehs14813.ussdnve.baml.com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SDI000002377995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vaehs14813.ussdnve.baml.com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30.130.199.54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8.10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2M211201CL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05:26:05</a:t>
            </a:r>
            <a:endParaRPr lang="en-US" sz="1250" dirty="0"/>
          </a:p>
        </p:txBody>
      </p:sp>
      <p:sp>
        <p:nvSpPr>
          <p:cNvPr id="8" name="Text 6">
            <a:hlinkClick r:id="rId1" tooltip="https://bofasecopsdev.service-now.com/sn_sec_cmn_src_ci_list.do?sysparm_query=number=SDI0000023779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779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"2M211201CL"</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"Red Hat Enterprise Linux 8.10"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vaehs14813 [linux_server] ip 30.130.199.54 -&gt;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vaehs14813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vaehs14813.ussdnve.baml.com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30.130.199.54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2M211201CL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XL170r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only; the OS, IP and DNS fields of the payload are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Cisco IP Phone MAC</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 It exists for hosts whose OS gives no usable class (unauthenticated scans listing several guesses) and for CIs that sit in a different class than the OS suggests; its only safety is that the serial must belong to exactly one CI in the whole tree.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wb9492p203.gwm.bankofamerica.com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SDI000002368092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wb9492p203.gwm.bankofamerica.com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02:19:45</a:t>
            </a:r>
            <a:endParaRPr lang="en-US" sz="1250" dirty="0"/>
          </a:p>
        </p:txBody>
      </p:sp>
      <p:sp>
        <p:nvSpPr>
          <p:cNvPr id="8" name="Text 6">
            <a:hlinkClick r:id="rId1" tooltip="https://bofasecopsdev.service-now.com/sn_sec_cmn_src_ci_list.do?sysparm_query=number=SDI0000023680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"MXBCS730XY"</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npifdcd73 [printer] ip 30.218.145.248 -&gt;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npifdcd73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azgndgd01p02.bankofamerica.com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SDI000002326199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azgndgd01p02.bankofamerica.com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10.136.88.137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02:18:50</a:t>
            </a:r>
            <a:endParaRPr lang="en-US" sz="1250" dirty="0"/>
          </a:p>
        </p:txBody>
      </p:sp>
      <p:sp>
        <p:nvSpPr>
          <p:cNvPr id="8" name="Text 6">
            <a:hlinkClick r:id="rId1" tooltip="https://bofasecopsdev.service-now.com/sn_sec_cmn_src_ci_list.do?sysparm_query=number=SDI0000023261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printer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"VNCCSB20Y7"</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VNCCSB20Y7 - LASERJET ENT M507DN [hardware]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hardware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VNCCSB20Y7 - LASERJET ENT M507DN</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Hardware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LASERJET ENT M507DN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hardwar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ny1-100-33-p103.bankofamerica.com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SDI000002390879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ny1-100-33-p103.bankofamerica.com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171.199.58.251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MXBCS6D1LS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02:18:29</a:t>
            </a:r>
            <a:endParaRPr lang="en-US" sz="1250" dirty="0"/>
          </a:p>
        </p:txBody>
      </p:sp>
      <p:sp>
        <p:nvSpPr>
          <p:cNvPr id="8" name="Text 6">
            <a:hlinkClick r:id="rId1" tooltip="https://bofasecopsdev.service-now.com/sn_sec_cmn_src_ci_list.do?sysparm_query=number=SDI00000239087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087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"MXBCS6D1LS"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ny1-100-33-p103 [printer] ip 171.199.58.251 -&gt;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ny1-100-33-p103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171.199.58.251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MXBCS6D1LS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PHONE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Cisco IP Phone MAC</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196,849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Cisco Unified CM device-name convention: the first DNS label is SEP followed by the phone's MAC address. It sits after the serial number rules (phones report no serial) and before the FQDN and hostname rules so a phone label is never tried as a server name; it searches only IP Phone CIs, so a MAC clash can never pull in a switch or a server.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Phone label test.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MAC rebuilt in four spellings.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adapter owned by an IP phone.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decision.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2: MAC on the phone record.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3: Unified CM device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IP Phone is found by adapter MAC, by the mac_address field or by the device 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name attempt finds two or more cmdb_ci_ip_phone records named with the device name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sep6c710d8adc3b.ipt.bofa.com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SDI000002627752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sep6c710d8adc3b.ipt.bofa.com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03:28:09</a:t>
            </a:r>
            <a:endParaRPr lang="en-US" sz="1250" dirty="0"/>
          </a:p>
        </p:txBody>
      </p:sp>
      <p:sp>
        <p:nvSpPr>
          <p:cNvPr id="8" name="Text 6">
            <a:hlinkClick r:id="rId1" tooltip="https://bofasecopsdev.service-now.com/sn_sec_cmn_src_ci_list.do?sysparm_query=number=SDI0000026277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"sep6c710d8adc3b"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6C:71:0D:8A:DC:3B, 6c:71:0d:8a:dc:3b, 6C710D8ADC3B, 6c710d8adc3b</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SEP6C710D8ADC3B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FCH2346EAUJ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6c:71:0d:8a:dc:3b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sep6026aa8f08cd.ipt.bofa.com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SDI000002617321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sep6026aa8f08cd.ipt.bofa.com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03:28:02</a:t>
            </a:r>
            <a:endParaRPr lang="en-US" sz="1250" dirty="0"/>
          </a:p>
        </p:txBody>
      </p:sp>
      <p:sp>
        <p:nvSpPr>
          <p:cNvPr id="8" name="Text 6">
            <a:hlinkClick r:id="rId1" tooltip="https://bofasecopsdev.service-now.com/sn_sec_cmn_src_ci_list.do?sysparm_query=number=SDI00000261732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"sep6026aa8f08cd"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60:26:AA:8F:08:CD, 60:26:aa:8f:08:cd, 6026AA8F08CD, 6026aa8f08cd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SEP6026AA8F08CD</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FCH26223JSR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60:26:aa:8f:08:cd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sep3c26e4a7cb09.ipt.bofa.com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SDI000002619434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sep3c26e4a7cb09.ipt.bofa.com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03:27:03</a:t>
            </a:r>
            <a:endParaRPr lang="en-US" sz="1250" dirty="0"/>
          </a:p>
        </p:txBody>
      </p:sp>
      <p:sp>
        <p:nvSpPr>
          <p:cNvPr id="8" name="Text 6">
            <a:hlinkClick r:id="rId1" tooltip="https://bofasecopsdev.service-now.com/sn_sec_cmn_src_ci_list.do?sysparm_query=number=SDI0000026194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"sep3c26e4a7cb09"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3C:26:E4:A7:CB:09, 3c:26:e4:a7:cb:09, 3C26E4A7CB09, 3c26e4a7cb09</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SEP3C26E4A7CB09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FCH263122ZJ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3c:26:e4:a7:cb:09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Cisco IP Phone MAC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298,759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 It is the first name rule because an exact fqdn is the most precise name evidence available once the serial number and Cisco phone rules have declined.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OS class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classFor named is not a valid table (gr.isValid() is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outside the ignored classes carries the scanned name in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two or more of them have ip_address equal to the scanned IP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hvpwgistsql28.corp.bankofamerica.com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SDI000003050167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hvpwgistsql28.corp.bankofamerica.com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30.39.20.100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HVPWGISTSQL28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05:43:34</a:t>
            </a:r>
            <a:endParaRPr lang="en-US" sz="1250" dirty="0"/>
          </a:p>
        </p:txBody>
      </p:sp>
      <p:sp>
        <p:nvSpPr>
          <p:cNvPr id="8" name="Text 6">
            <a:hlinkClick r:id="rId1" tooltip="https://bofasecopsdev.service-now.com/sn_sec_cmn_src_ci_list.do?sysparm_query=number=SDI00000305016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01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"hvpwgistsql28"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"hvpwgistsql28.corp.bankofamerica.com";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hvpwgistsql28 [win_server] ip 30.39.20.100 -&gt;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hvpwgistsql28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hvpwgistsql28.corp.bankofamerica.com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30.39.20.100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9803-3540-7719-9333-8990-3553-47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Microsoft Corporation Virtual Machine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lrdna57jpappr.corp.bankofamerica.com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SDI000003103500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lrdna57jpappr.corp.bankofamerica.com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171.186.68.87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05:43:34</a:t>
            </a:r>
            <a:endParaRPr lang="en-US" sz="1250" dirty="0"/>
          </a:p>
        </p:txBody>
      </p:sp>
      <p:sp>
        <p:nvSpPr>
          <p:cNvPr id="8" name="Text 6">
            <a:hlinkClick r:id="rId1" tooltip="https://bofasecopsdev.service-now.com/sn_sec_cmn_src_ci_list.do?sysparm_query=number=SDI00000310350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50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"lrdna57jpappr"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"lrdna57jpappr.corp.bankofamerica.com"; OS "Red Hat Enterprise Linux 9.8"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lrdna57jpappr [linux_server] ip 171.186.68.87 -&gt;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lrdna57jpappr</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lrdna57jpappr.corp.bankofamerica.com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171.186.68.87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FVBCBZ2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R740xd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ah-1372818-001.corp.bankofamerica.com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SDI000003092091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ah-1372818-001.corp.bankofamerica.com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30.93.240.70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AH-1372818-001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05:43:34</a:t>
            </a:r>
            <a:endParaRPr lang="en-US" sz="1250" dirty="0"/>
          </a:p>
        </p:txBody>
      </p:sp>
      <p:sp>
        <p:nvSpPr>
          <p:cNvPr id="8" name="Text 6">
            <a:hlinkClick r:id="rId1" tooltip="https://bofasecopsdev.service-now.com/sn_sec_cmn_src_ci_list.do?sysparm_query=number=SDI0000030920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20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"ah-1372818-001"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"ah-1372818-001.corp.bankofamerica.com";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ah-1372818-001 [win_server] ip 30.93.240.70 -&gt;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ah-1372818-001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ah-1372818-001.corp.bankofamerica.com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30.93.240.70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c2 dd 0d 93 5f 8c-57 34 79 3e 56 95 23 6f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82,224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 It follows USEM FQDN Class Match because the class-restricted search is the more precise of the two.</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GlideRecord('cmdb_ci_hardware').isValid() is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carries the scanned name in fqdn</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rtcdev04m365.corp2.bankofamerica2.com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SDI000003133954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rtcdev04m365.corp2.bankofamerica2.com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30.26.236.183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2025 Standard Version 24H2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RTCDEV04M365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05:38:40</a:t>
            </a:r>
            <a:endParaRPr lang="en-US" sz="1250" dirty="0"/>
          </a:p>
        </p:txBody>
      </p:sp>
      <p:sp>
        <p:nvSpPr>
          <p:cNvPr id="8" name="Text 6">
            <a:hlinkClick r:id="rId1" tooltip="https://bofasecopsdev.service-now.com/sn_sec_cmn_src_ci_list.do?sysparm_query=number=SDI00000313395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3395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"rtcdev04m365"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win_server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"rtcdev04m365.corp2.bankofamerica2.com";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rtcdev04m365 [server] ip 30.26.236.183 -&gt;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rtcdev04m365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rtcdev04m365.corp2.bankofamerica2.com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sdi.corp2.bankofamerica2.com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30.26.236.183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02 3a a6 de 0e e2 2e-39 25 43 a7 c1 01 6b f1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invmsqtrfc11.corp.bankofamerica.com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SDI000003403065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invmsqtrfc11.corp.bankofamerica.com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170.241.34.6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INVMSQTRFC11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05:26:50</a:t>
            </a:r>
            <a:endParaRPr lang="en-US" sz="1250" dirty="0"/>
          </a:p>
        </p:txBody>
      </p:sp>
      <p:sp>
        <p:nvSpPr>
          <p:cNvPr id="8" name="Text 6">
            <a:hlinkClick r:id="rId1" tooltip="https://bofasecopsdev.service-now.com/sn_sec_cmn_src_ci_list.do?sysparm_query=number=SDI00000340306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0306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"invmsqtrfc11"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"invmsqtrfc11.corp.bankofamerica.com";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invmsqtrfc11 [win_server] ip 170.241.34.6 -&gt;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invmsqtrfc11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invmsqtrfc11.corp.bankofamerica.com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170.241.34.6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17 68 62 4d e6 86 8e-d0 5c 10 fd 4a ea d6 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rtcdev03m365.corp2.bankofamerica2.com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SDI000003133839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rtcdev03m365.corp2.bankofamerica2.com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30.49.251.22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2025 Standard Version 24H2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RTCDEV03M365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05:38:33</a:t>
            </a:r>
            <a:endParaRPr lang="en-US" sz="1250" dirty="0"/>
          </a:p>
        </p:txBody>
      </p:sp>
      <p:sp>
        <p:nvSpPr>
          <p:cNvPr id="8" name="Text 6">
            <a:hlinkClick r:id="rId1" tooltip="https://bofasecopsdev.service-now.com/sn_sec_cmn_src_ci_list.do?sysparm_query=number=SDI00000313383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3383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"rtcdev03m365"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win_server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"rtcdev03m365.corp2.bankofamerica2.com";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rtcdev03m365 [server] ip 30.49.251.22 -&gt;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rtcdev03m365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rtcdev03m365.corp2.bankofamerica2.com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sdi.corp2.bankofamerica2.com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30.49.251.22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03 90 3d e7 4f dc 0e-b0 09 76 fa ca f3 52 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133,545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 It sits right after the exact-fqdn rules because it is the strictest name-based search that still tolerates a CI that never had the fqdn copied into its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class table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the OS-implied class table is not valid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ltx14a02xsdi003.sdi.corp.bankofamerica.com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SDI000003577206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ltx14a02xsdi003.sdi.corp.bankofamerica.com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30.26.156.12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05:43:35</a:t>
            </a:r>
            <a:endParaRPr lang="en-US" sz="1250" dirty="0"/>
          </a:p>
        </p:txBody>
      </p:sp>
      <p:sp>
        <p:nvSpPr>
          <p:cNvPr id="8" name="Text 6">
            <a:hlinkClick r:id="rId1" tooltip="https://bofasecopsdev.service-now.com/sn_sec_cmn_src_ci_list.do?sysparm_query=number=SDI00000357720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2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"ltx14a02xsdi003"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"ltx14a02xsdi003",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ltx14a02xsdi003 [linux_server] ip 30.26.156.12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ltx14a02xsdi003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30.26.156.12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2M2D2R0266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lrchab85xsdi005.sdi.corp.bankofamerica.com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SDI000003651612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lrchab85xsdi005.sdi.corp.bankofamerica.com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30.93.134.14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05:43:35</a:t>
            </a:r>
            <a:endParaRPr lang="en-US" sz="1250" dirty="0"/>
          </a:p>
        </p:txBody>
      </p:sp>
      <p:sp>
        <p:nvSpPr>
          <p:cNvPr id="8" name="Text 6">
            <a:hlinkClick r:id="rId1" tooltip="https://bofasecopsdev.service-now.com/sn_sec_cmn_src_ci_list.do?sysparm_query=number=SDI00000365161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61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"lrchab85xsdi005"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"lrchab85xsdi005",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lrchab85xsdi005 [linux_server] ip 30.93.134.14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lrchab85xsdi005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30.93.134.14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MXQ2430FHS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lrdngpu37sdi.sdi.corp.bankofamerica.com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SDI000003577203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lrdngpu37sdi.sdi.corp.bankofamerica.com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10.237.224.117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05:43:32</a:t>
            </a:r>
            <a:endParaRPr lang="en-US" sz="1250" dirty="0"/>
          </a:p>
        </p:txBody>
      </p:sp>
      <p:sp>
        <p:nvSpPr>
          <p:cNvPr id="8" name="Text 6">
            <a:hlinkClick r:id="rId1" tooltip="https://bofasecopsdev.service-now.com/sn_sec_cmn_src_ci_list.do?sysparm_query=number=SDI00000357720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20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"lrdngpu37sdi"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"lrdngpu37sdi",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lrdngpu37sdi [linux_server] ip 10.237.224.117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lrdngpu37sdi</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10.237.224.117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8G9K8J4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XE9680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Layered DNS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97,157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same short-hostname-plus-domain evidence, but across all of cmdb_ci_hardware, for CIs classed generically (Server, Computer) or differently from what the scanned OS implies. It follows the class-scoped variant so a class-consistent hit always wins first, and precedes the layered DNS and plain hostname rules, which need less evidence.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cmdb_ci_hardware is not valid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lva12peolbws24v.sdi.ssc.ext.bankofamerica.com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SDI000003081903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lva12peolbws24v.sdi.ssc.ext.bankofamerica.com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171.184.131.13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05:43:36</a:t>
            </a:r>
            <a:endParaRPr lang="en-US" sz="1250" dirty="0"/>
          </a:p>
        </p:txBody>
      </p:sp>
      <p:sp>
        <p:nvSpPr>
          <p:cNvPr id="8" name="Text 6">
            <a:hlinkClick r:id="rId1" tooltip="https://bofasecopsdev.service-now.com/sn_sec_cmn_src_ci_list.do?sysparm_query=number=SDI00000308190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190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"lva12peolbws24v"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"lva12peolbws24v"</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"lva12peolbws24v", domain "sdi.ssc.ext.bankofamerica.com";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lva12peolbws24v [server] ip 171.184.131.13 domain "sdi.ssc.ext.bankofamerica.com"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lva12peolbws24v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171.184.131.13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VMware-420c6346-4cd9-af53-01b3-a48cd57f2896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k3ce9f7eddfeb.corp.bankofamerica.com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SDI000003313530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k3ce9f7eddfeb.corp.bankofamerica.com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10.54.82.22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2016/2019/10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K3CE9F7EDDFEB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05:42:51</a:t>
            </a:r>
            <a:endParaRPr lang="en-US" sz="1250" dirty="0"/>
          </a:p>
        </p:txBody>
      </p:sp>
      <p:sp>
        <p:nvSpPr>
          <p:cNvPr id="8" name="Text 6">
            <a:hlinkClick r:id="rId1" tooltip="https://bofasecopsdev.service-now.com/sn_sec_cmn_src_ci_list.do?sysparm_query=number=SDI00000331353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31353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95097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"k3ce9f7eddfeb"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"Windows 2016/2019/10"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"Windows 2016/2019/10" gives no class</a:t>
            </a:r>
            <a:endParaRPr lang="en-US" sz="950" dirty="0"/>
          </a:p>
        </p:txBody>
      </p:sp>
      <p:sp>
        <p:nvSpPr>
          <p:cNvPr id="12" name="Shape 10"/>
          <p:cNvSpPr/>
          <p:nvPr/>
        </p:nvSpPr>
        <p:spPr>
          <a:xfrm>
            <a:off x="3922776" y="2779776"/>
            <a:ext cx="4617720" cy="0"/>
          </a:xfrm>
          <a:prstGeom prst="line">
            <a:avLst/>
          </a:prstGeom>
          <a:noFill/>
          <a:ln w="9525">
            <a:solidFill>
              <a:srgbClr val="DDE0E3"/>
            </a:solidFill>
            <a:prstDash val="solid"/>
          </a:ln>
        </p:spPr>
      </p:sp>
      <p:sp>
        <p:nvSpPr>
          <p:cNvPr id="13" name="Text 11"/>
          <p:cNvSpPr txBox="1"/>
          <p:nvPr/>
        </p:nvSpPr>
        <p:spPr>
          <a:xfrm>
            <a:off x="3922776" y="287121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145536"/>
            <a:ext cx="4617720" cy="243230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"k3ce9f7eddfeb", domain "corp.bankofamerica.com";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k3ce9f7eddfeb [computer] ip 165.42.252.233 domain "corp.bankofamerica.com"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k3ce9f7eddfeb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165.42.252.233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5CG3024WRQ</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830 G8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lva11peolbws23v.sdi.ssc.ext.bankofamerica.com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SDI000003081901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lva11peolbws23v.sdi.ssc.ext.bankofamerica.com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171.184.130.35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9.8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05:43:34</a:t>
            </a:r>
            <a:endParaRPr lang="en-US" sz="1250" dirty="0"/>
          </a:p>
        </p:txBody>
      </p:sp>
      <p:sp>
        <p:nvSpPr>
          <p:cNvPr id="8" name="Text 6">
            <a:hlinkClick r:id="rId1" tooltip="https://bofasecopsdev.service-now.com/sn_sec_cmn_src_ci_list.do?sysparm_query=number=SDI00000308190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19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"lva11peolbws23v"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"lva11peolbws23v"</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"lva11peolbws23v", domain "sdi.ssc.ext.bankofamerica.com";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lva11peolbws23v [server] ip 171.184.130.35 domain "sdi.ssc.ext.bankofamerica.com"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lva11peolbws23v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171.184.130.35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VMware-420c3fec-2c02-6ac5-8bb3-93b3fa0edb1b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Layered DNS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114,574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 It sits between the rules that read fqdn / hostname-plus-domain on the CI record itself and the plain hostname rules; the scanned OS is only a preference applied to the CI at the end of the chain, never a query filter.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Normalise the DNS value and guard bare labels.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the 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preferred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DNS Name to IP Address link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count distinct agreeing CIs.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One CI: return it unless it is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Several CIs: the scanned IP breaks the tie.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CI: decline.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lower-cased value holds no '.' (a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cmdb_ip_address_dns_name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cmdb_ip_address_dns_name row has dns_name.name equal to the value with a CI at ip_address.nic.cmdb_ci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exactly one CI is reached but its sys_id exists on cmdb_ci_lb (load balancer device)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two or more of them are reached through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single one reached through the scanned IP exists on cmdb_ci_lb</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vaehs06145.ussdnve.baml.com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SDI000003578162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vaehs06145.ussdnve.baml.com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30.141.99.192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Server 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05:40:30</a:t>
            </a:r>
            <a:endParaRPr lang="en-US" sz="1250" dirty="0"/>
          </a:p>
        </p:txBody>
      </p:sp>
      <p:sp>
        <p:nvSpPr>
          <p:cNvPr id="8" name="Text 6">
            <a:hlinkClick r:id="rId1" tooltip="https://bofasecopsdev.service-now.com/sn_sec_cmn_src_ci_list.do?sysparm_query=number=SDI00000357816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816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"vaehs06145"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"vaehs06145"</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"vaehs06145.ussdnve.baml.com"; OS "Red Hat Enterprise Linux Server 7.9" gives the class linux_server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30.141.99.192 -&gt; adapter eno49 -&gt; vaehs06470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vaehs06470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vaehs06470.ussdnve.baml.com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ussdnve.baml.com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30.141.99.192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2M27160271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XL XL170r Gen9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txctxwd01p02.bankofamerica.com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SDI000003135443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txctxwd01p02.bankofamerica.com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10.130.27.9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05:40:17</a:t>
            </a:r>
            <a:endParaRPr lang="en-US" sz="1250" dirty="0"/>
          </a:p>
        </p:txBody>
      </p:sp>
      <p:sp>
        <p:nvSpPr>
          <p:cNvPr id="8" name="Text 6">
            <a:hlinkClick r:id="rId1" tooltip="https://bofasecopsdev.service-now.com/sn_sec_cmn_src_ci_list.do?sysparm_query=number=SDI00000313544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3544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"txctxwd01p02"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"txctxwd01p02"</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"txctxwd01p02.bankofamerica.com"; OS "HP LaserJet Printer"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10.130.27.9 -&gt; adapter HP ETHERNET MULTI-ENVIRONMENT,ROM none,JETDIRECT,JD153,EEPROM JSI25080326 -&gt; npi5de040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npi5de040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10.130.27.9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PHCCQCP0V7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E50145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cncnshagd03sdm0009-hsrp-vlan3301.network.asia.bankofamerica.com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SDI000003660518</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cncnshagd03sdm0009-hsrp-vlan3301.network.asia.bankofamerica.com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165.46.170.194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05:30:50</a:t>
            </a:r>
            <a:endParaRPr lang="en-US" sz="1250" dirty="0"/>
          </a:p>
        </p:txBody>
      </p:sp>
      <p:sp>
        <p:nvSpPr>
          <p:cNvPr id="8" name="Text 6">
            <a:hlinkClick r:id="rId1" tooltip="https://bofasecopsdev.service-now.com/sn_sec_cmn_src_ci_list.do?sysparm_query=number=SDI000003660518"/>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05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95097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"cncnshagd03sdm0009-hsrp-vlan3301"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"cncnshagd03sdm0009-hsrp-vlan3301"</a:t>
            </a:r>
            <a:endParaRPr lang="en-US" sz="950" dirty="0"/>
          </a:p>
        </p:txBody>
      </p:sp>
      <p:sp>
        <p:nvSpPr>
          <p:cNvPr id="12" name="Shape 10"/>
          <p:cNvSpPr/>
          <p:nvPr/>
        </p:nvSpPr>
        <p:spPr>
          <a:xfrm>
            <a:off x="3922776" y="2779776"/>
            <a:ext cx="4617720" cy="0"/>
          </a:xfrm>
          <a:prstGeom prst="line">
            <a:avLst/>
          </a:prstGeom>
          <a:noFill/>
          <a:ln w="9525">
            <a:solidFill>
              <a:srgbClr val="DDE0E3"/>
            </a:solidFill>
            <a:prstDash val="solid"/>
          </a:ln>
        </p:spPr>
      </p:sp>
      <p:sp>
        <p:nvSpPr>
          <p:cNvPr id="13" name="Text 11"/>
          <p:cNvSpPr txBox="1"/>
          <p:nvPr/>
        </p:nvSpPr>
        <p:spPr>
          <a:xfrm>
            <a:off x="3922776" y="287121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145536"/>
            <a:ext cx="4617720" cy="243230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"cncnshagd03sdm0009-hsrp-vlan3301.network.asia.bankofamerica.com"; OS "not reported" gives no class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165.46.170.194 -&gt; adapter Vlan3301 -&gt; cncnshagd03sdm0009 [ip_switch]</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cncnshagd03sdm0009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10.214.0.17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HBG243702CX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Arista 7280R3 Series 7280SR3M-48YC8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Layered DNS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144,021</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evidence the CI lacks. It sits right after the domain-evidence rules because it is the first rule that accepts a CI carrying only a short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Filter by name and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(empty OS, no keyword hit, or an OS text split by '/' into three or more segments)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ignored classes, is named with the short host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name (gr.hasNext() true)</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usvmtscdsc01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SDI000002990126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usvmtscdsc01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30.52.8.65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USVMTSCDSC01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05:43:37</a:t>
            </a:r>
            <a:endParaRPr lang="en-US" sz="1250" dirty="0"/>
          </a:p>
        </p:txBody>
      </p:sp>
      <p:sp>
        <p:nvSpPr>
          <p:cNvPr id="8" name="Text 6">
            <a:hlinkClick r:id="rId1" tooltip="https://bofasecopsdev.service-now.com/sn_sec_cmn_src_ci_list.do?sysparm_query=number=SDI00000299012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012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07442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"usvmtscdsc01"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"usvmtscdsc01"</a:t>
            </a:r>
            <a:endParaRPr lang="en-US" sz="950" dirty="0"/>
          </a:p>
        </p:txBody>
      </p:sp>
      <p:sp>
        <p:nvSpPr>
          <p:cNvPr id="12" name="Shape 10"/>
          <p:cNvSpPr/>
          <p:nvPr/>
        </p:nvSpPr>
        <p:spPr>
          <a:xfrm>
            <a:off x="3922776" y="2903220"/>
            <a:ext cx="4617720" cy="0"/>
          </a:xfrm>
          <a:prstGeom prst="line">
            <a:avLst/>
          </a:prstGeom>
          <a:noFill/>
          <a:ln w="9525">
            <a:solidFill>
              <a:srgbClr val="DDE0E3"/>
            </a:solidFill>
            <a:prstDash val="solid"/>
          </a:ln>
        </p:spPr>
      </p:sp>
      <p:sp>
        <p:nvSpPr>
          <p:cNvPr id="13" name="Text 11"/>
          <p:cNvSpPr txBox="1"/>
          <p:nvPr/>
        </p:nvSpPr>
        <p:spPr>
          <a:xfrm>
            <a:off x="3922776" y="299466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268980"/>
            <a:ext cx="4617720" cy="23088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"usvmtscdsc01";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usvmtscdsc01 [win_server] ip 30.52.8.65 -&gt;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usvmtscdsc01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usvmtscdsc01.corp.bankofamerica.com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30.52.8.65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55 79 2e 5a 51 d0-f1 78 d8 ff 79 63 cd a7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lrdnab84xsdi017.sdi.corp.bankofamerica.com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SDI000003573389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lrdnab84xsdi017.sdi.corp.bankofamerica.com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30.129.5.154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05:43:37</a:t>
            </a:r>
            <a:endParaRPr lang="en-US" sz="1250" dirty="0"/>
          </a:p>
        </p:txBody>
      </p:sp>
      <p:sp>
        <p:nvSpPr>
          <p:cNvPr id="8" name="Text 6">
            <a:hlinkClick r:id="rId1" tooltip="https://bofasecopsdev.service-now.com/sn_sec_cmn_src_ci_list.do?sysparm_query=number=SDI00000357338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338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14757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"lrdnab84xsdi017"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"lrdnab84xsdi017",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"lrdnab84xsdi017.sdi.corp.bankofamerica.com"</a:t>
            </a:r>
            <a:endParaRPr lang="en-US" sz="950" dirty="0"/>
          </a:p>
        </p:txBody>
      </p:sp>
      <p:sp>
        <p:nvSpPr>
          <p:cNvPr id="12" name="Shape 10"/>
          <p:cNvSpPr/>
          <p:nvPr/>
        </p:nvSpPr>
        <p:spPr>
          <a:xfrm>
            <a:off x="3922776" y="2976372"/>
            <a:ext cx="4617720" cy="0"/>
          </a:xfrm>
          <a:prstGeom prst="line">
            <a:avLst/>
          </a:prstGeom>
          <a:noFill/>
          <a:ln w="9525">
            <a:solidFill>
              <a:srgbClr val="DDE0E3"/>
            </a:solidFill>
            <a:prstDash val="solid"/>
          </a:ln>
        </p:spPr>
      </p:sp>
      <p:sp>
        <p:nvSpPr>
          <p:cNvPr id="13" name="Text 11"/>
          <p:cNvSpPr txBox="1"/>
          <p:nvPr/>
        </p:nvSpPr>
        <p:spPr>
          <a:xfrm>
            <a:off x="3922776" y="306781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342132"/>
            <a:ext cx="4617720" cy="223570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"lrdnab84xsdi017";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lrdnab84xsdi017 [linux_server] ip 30.129.5.154 -&gt;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lrdnab84xsdi017</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30.129.5.154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MXQ24509RK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htpwleocsql07</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SDI000003092094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htpwleocsql07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30.55.96.99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HTPWLEOCSQL07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05:43:36</a:t>
            </a:r>
            <a:endParaRPr lang="en-US" sz="1250" dirty="0"/>
          </a:p>
        </p:txBody>
      </p:sp>
      <p:sp>
        <p:nvSpPr>
          <p:cNvPr id="8" name="Text 6">
            <a:hlinkClick r:id="rId1" tooltip="https://bofasecopsdev.service-now.com/sn_sec_cmn_src_ci_list.do?sysparm_query=number=SDI00000309209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209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07442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"htpwleocsql07"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"htpwleocsql07"</a:t>
            </a:r>
            <a:endParaRPr lang="en-US" sz="950" dirty="0"/>
          </a:p>
        </p:txBody>
      </p:sp>
      <p:sp>
        <p:nvSpPr>
          <p:cNvPr id="12" name="Shape 10"/>
          <p:cNvSpPr/>
          <p:nvPr/>
        </p:nvSpPr>
        <p:spPr>
          <a:xfrm>
            <a:off x="3922776" y="2903220"/>
            <a:ext cx="4617720" cy="0"/>
          </a:xfrm>
          <a:prstGeom prst="line">
            <a:avLst/>
          </a:prstGeom>
          <a:noFill/>
          <a:ln w="9525">
            <a:solidFill>
              <a:srgbClr val="DDE0E3"/>
            </a:solidFill>
            <a:prstDash val="solid"/>
          </a:ln>
        </p:spPr>
      </p:sp>
      <p:sp>
        <p:nvSpPr>
          <p:cNvPr id="13" name="Text 11"/>
          <p:cNvSpPr txBox="1"/>
          <p:nvPr/>
        </p:nvSpPr>
        <p:spPr>
          <a:xfrm>
            <a:off x="3922776" y="299466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268980"/>
            <a:ext cx="4617720" cy="23088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"htpwleocsql07";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htpwleocsql07 [win_server] ip 30.55.96.99 -&gt;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htpwleocsql07</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htpwleocsql07.corp.bankofamerica.com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30.55.96.99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5445-3612-6570-3197-9900-0046-79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Microsoft Corporation Virtual Machine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Device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106,579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 It follows USEM Hostname Class Match to reach CIs kept in a parent class (Server, Computer, Hardware) or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OS class as a preference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Check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cmdb_ci_hardware or beneath it, outside the ignored classes, is named with the short host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CI carries the same name (gr.hasNext() true), whatever its class or retired state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ah-1502696-001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SDI000003081885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ah-1502696-001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30.130.152.70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AH-1502696-001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05:43:25</a:t>
            </a:r>
            <a:endParaRPr lang="en-US" sz="1250" dirty="0"/>
          </a:p>
        </p:txBody>
      </p:sp>
      <p:sp>
        <p:nvSpPr>
          <p:cNvPr id="8" name="Text 6">
            <a:hlinkClick r:id="rId1" tooltip="https://bofasecopsdev.service-now.com/sn_sec_cmn_src_ci_list.do?sysparm_query=number=SDI00000308188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188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2710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"ah-1502696-001"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"ah-1502696-001"</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win_server named "ah-1502696-001"</a:t>
            </a:r>
            <a:endParaRPr lang="en-US" sz="950" dirty="0"/>
          </a:p>
        </p:txBody>
      </p:sp>
      <p:sp>
        <p:nvSpPr>
          <p:cNvPr id="12" name="Shape 10"/>
          <p:cNvSpPr/>
          <p:nvPr/>
        </p:nvSpPr>
        <p:spPr>
          <a:xfrm>
            <a:off x="3922776" y="3099816"/>
            <a:ext cx="4617720" cy="0"/>
          </a:xfrm>
          <a:prstGeom prst="line">
            <a:avLst/>
          </a:prstGeom>
          <a:noFill/>
          <a:ln w="9525">
            <a:solidFill>
              <a:srgbClr val="DDE0E3"/>
            </a:solidFill>
            <a:prstDash val="solid"/>
          </a:ln>
        </p:spPr>
      </p:sp>
      <p:sp>
        <p:nvSpPr>
          <p:cNvPr id="13" name="Text 11"/>
          <p:cNvSpPr txBox="1"/>
          <p:nvPr/>
        </p:nvSpPr>
        <p:spPr>
          <a:xfrm>
            <a:off x="3922776" y="31912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465576"/>
            <a:ext cx="4617720" cy="21122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"ah-1502696-001";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ah-1502696-001 [server] ip 30.130.152.70 -&gt; exactly one, accepted; class server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ah-1502696-001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30.130.152.70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VMware-422a1ff2-b900-f901-ba9a-bff6cbadba41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842f57ae6a8bmac</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SDI000003317961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842f57ae6a8bmac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30.87.131.193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macOS 26.6.2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842F57AE6A8BMAC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05:43:23</a:t>
            </a:r>
            <a:endParaRPr lang="en-US" sz="1250" dirty="0"/>
          </a:p>
        </p:txBody>
      </p:sp>
      <p:sp>
        <p:nvSpPr>
          <p:cNvPr id="8" name="Text 6">
            <a:hlinkClick r:id="rId1" tooltip="https://bofasecopsdev.service-now.com/sn_sec_cmn_src_ci_list.do?sysparm_query=number=SDI00000331796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31796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2710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"842f57ae6a8bmac"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"842f57ae6a8bmac"</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"macOS 26.6.2" gives no class</a:t>
            </a:r>
            <a:endParaRPr lang="en-US" sz="950" dirty="0"/>
          </a:p>
        </p:txBody>
      </p:sp>
      <p:sp>
        <p:nvSpPr>
          <p:cNvPr id="12" name="Shape 10"/>
          <p:cNvSpPr/>
          <p:nvPr/>
        </p:nvSpPr>
        <p:spPr>
          <a:xfrm>
            <a:off x="3922776" y="3099816"/>
            <a:ext cx="4617720" cy="0"/>
          </a:xfrm>
          <a:prstGeom prst="line">
            <a:avLst/>
          </a:prstGeom>
          <a:noFill/>
          <a:ln w="9525">
            <a:solidFill>
              <a:srgbClr val="DDE0E3"/>
            </a:solidFill>
            <a:prstDash val="solid"/>
          </a:ln>
        </p:spPr>
      </p:sp>
      <p:sp>
        <p:nvSpPr>
          <p:cNvPr id="13" name="Text 11"/>
          <p:cNvSpPr txBox="1"/>
          <p:nvPr/>
        </p:nvSpPr>
        <p:spPr>
          <a:xfrm>
            <a:off x="3922776" y="31912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465576"/>
            <a:ext cx="4617720" cy="21122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"842f57ae6a8bmac";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842f57ae6a8bmac [computer] ip 30.176.15.217 -&gt; exactly one, accepted; class computer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842f57ae6a8bmac</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30.176.15.217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H29JQR2GR2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84:2f:57:ae:6a:8b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Apple MACBOOK PRO (RETINA 16-INCH LATE 2024)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On Order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lrchac09xsdi004.sdi.corp.bankofamerica.com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SDI000003651606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lrchac09xsdi004.sdi.corp.bankofamerica.com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30.239.5.141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05:43:22</a:t>
            </a:r>
            <a:endParaRPr lang="en-US" sz="1250" dirty="0"/>
          </a:p>
        </p:txBody>
      </p:sp>
      <p:sp>
        <p:nvSpPr>
          <p:cNvPr id="8" name="Text 6">
            <a:hlinkClick r:id="rId1" tooltip="https://bofasecopsdev.service-now.com/sn_sec_cmn_src_ci_list.do?sysparm_query=number=SDI00000365160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6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"lrchac09xsdi004"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"lrchac09xsdi004" / 1 named "lrchac09xsdi004",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"lrchac09xsdi004.sdi.corp.bankofamerica.com"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"lrchac09xsdi004"</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"lrchac09xsdi004";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lrchac09xsdi004 [server] -&gt; exactly one, accepted; class server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lrchac09xsdi004</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MXQ2440FNY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Device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Management Interface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25,732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 It sits right after USEM Hostname Hardware Match so ordinary hosts are already resolved and only OS-less devices such as Avaya stations (avx plus the tail of the MAC) and scanners reach it.</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and host label.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Scanned address.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OS guard through classFor.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What the OS guard rules out.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two classes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Decision and address tie-break.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 or its first label before the dot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two or more of them have ip_address equal to the scanned IP.</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avxef453d.asia.bankofamerica.com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avxef453d.asia.bankofamerica.com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10.158.138.217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05:35:36</a:t>
            </a:r>
            <a:endParaRPr lang="en-US" sz="1250" dirty="0"/>
          </a:p>
        </p:txBody>
      </p:sp>
      <p:sp>
        <p:nvSpPr>
          <p:cNvPr id="8" name="Text 6">
            <a:hlinkClick r:id="rId1" tooltip="https://bofasecopsdev.service-now.com/sn_sec_cmn_src_ci_list.do?sysparm_query=number=SDI00000379935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"avxef453d"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"avxef453d"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"avxef453d.asia.bankofamerica.com"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"avxef453d"</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AVXEF453D [ip_phone] ip 10.158.139.211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AVXEF453D</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10.158.139.211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21WZ503005J2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c8:1f:ea:ef:45:3d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avxf2494d.asia.bankofamerica.com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avxf2494d.asia.bankofamerica.com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10.163.252.183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05:33:29</a:t>
            </a:r>
            <a:endParaRPr lang="en-US" sz="1250" dirty="0"/>
          </a:p>
        </p:txBody>
      </p:sp>
      <p:sp>
        <p:nvSpPr>
          <p:cNvPr id="8" name="Text 6">
            <a:hlinkClick r:id="rId1" tooltip="https://bofasecopsdev.service-now.com/sn_sec_cmn_src_ci_list.do?sysparm_query=number=SDI00000379935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"avxf2494d"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"avxf2494d"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"avxf2494d.asia.bankofamerica.com"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"avxf2494d"</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AVXF2494D [ip_phone] ip 10.163.254.55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AVXF2494D</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10.163.254.55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22WZ0420091F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c8:1f:ea:f2:49:4d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avxef5783.asia.bankofamerica.com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avxef5783.asia.bankofamerica.com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10.158.139.78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05:28:48</a:t>
            </a:r>
            <a:endParaRPr lang="en-US" sz="1250" dirty="0"/>
          </a:p>
        </p:txBody>
      </p:sp>
      <p:sp>
        <p:nvSpPr>
          <p:cNvPr id="8" name="Text 6">
            <a:hlinkClick r:id="rId1" tooltip="https://bofasecopsdev.service-now.com/sn_sec_cmn_src_ci_list.do?sysparm_query=number=SDI0000037993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"avxef5783"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"avxef5783"</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"avxef5783.asia.bankofamerica.com"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"avxef5783"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AVXEF5783 [ip_phone] ip 10.158.139.153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AVXEF5783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10.158.139.153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21WZ504005PW</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c8:1f:ea:ef:57:83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Management Interface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Device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Network Interface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9,556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 It sits after the hostname rules because they have already shown that no CI carries the full controller label, and before the interface-name rule so that a '-mgmt' controller resolves to its server before any prefix walk on network devices.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the input.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Locate the last hyphen.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OS text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Controller evidence and the server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Refuse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or its only hyphen is in first position (lastIndexOf('-') &lt; 1)</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last segment is not in suffixes and no markers word appears as a substring of the OS text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classes is named like the stripped label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cmdb_ci_hardware rows carry the stripped name (hasNext() true after the first)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row found is a record of cmdb_ci_lb or a class beneath it (load balancer device)</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sinpap1mbl11-rmm.network.asia.bankofamerica.com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SDI000003104014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sinpap1mbl11-rmm.network.asia.bankofamerica.com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171.147.157.171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iDRAC Device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05:36:39</a:t>
            </a:r>
            <a:endParaRPr lang="en-US" sz="1250" dirty="0"/>
          </a:p>
        </p:txBody>
      </p:sp>
      <p:sp>
        <p:nvSpPr>
          <p:cNvPr id="8" name="Text 6">
            <a:hlinkClick r:id="rId1" tooltip="https://bofasecopsdev.service-now.com/sn_sec_cmn_src_ci_list.do?sysparm_query=number=SDI00000310401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401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5407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"sinpap1mbl11-rmm"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named "sinpap1mbl11-rmm"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"sinpap1mbl11-rmm.network.asia.bankofamerica.com"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in the hardware tree named "sinpap1mbl11-rmm"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"sinpap1mbl11-rmm" in IP Phone or Imaging Hardware</a:t>
            </a:r>
            <a:endParaRPr lang="en-US" sz="950" dirty="0"/>
          </a:p>
        </p:txBody>
      </p:sp>
      <p:sp>
        <p:nvSpPr>
          <p:cNvPr id="12" name="Shape 10"/>
          <p:cNvSpPr/>
          <p:nvPr/>
        </p:nvSpPr>
        <p:spPr>
          <a:xfrm>
            <a:off x="3922776" y="3369564"/>
            <a:ext cx="4617720" cy="0"/>
          </a:xfrm>
          <a:prstGeom prst="line">
            <a:avLst/>
          </a:prstGeom>
          <a:noFill/>
          <a:ln w="9525">
            <a:solidFill>
              <a:srgbClr val="DDE0E3"/>
            </a:solidFill>
            <a:prstDash val="solid"/>
          </a:ln>
        </p:spPr>
      </p:sp>
      <p:sp>
        <p:nvSpPr>
          <p:cNvPr id="13" name="Text 11"/>
          <p:cNvSpPr txBox="1"/>
          <p:nvPr/>
        </p:nvSpPr>
        <p:spPr>
          <a:xfrm>
            <a:off x="3922776" y="34610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35324"/>
            <a:ext cx="4617720" cy="18425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"-rmm" on "sinpap1mbl11-rmm"; server name "sinpap1mbl11"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SINPAP1MBL11 [ip_firewall] ip 171.147.157.169 -&gt;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rmm / ip_firewall</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SINPAP1MBL11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Firewall</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171.147.157.169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G0D8436038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Musarubra US LLC F-Series WBG-5500-F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firewall.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firewall.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sgsg02ppz1iptdr01-mgmt.network.asia.bankofamerica.com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SDI000003711601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sgsg02ppz1iptdr01-mgmt.network.asia.bankofamerica.com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171.147.168.233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x86_64 Linux/5.10.0-36-amd64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05:30:10</a:t>
            </a:r>
            <a:endParaRPr lang="en-US" sz="1250" dirty="0"/>
          </a:p>
        </p:txBody>
      </p:sp>
      <p:sp>
        <p:nvSpPr>
          <p:cNvPr id="8" name="Text 6">
            <a:hlinkClick r:id="rId1" tooltip="https://bofasecopsdev.service-now.com/sn_sec_cmn_src_ci_list.do?sysparm_query=number=SDI00000371160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116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5407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"sgsg02ppz1iptdr01-mgmt"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"sgsg02ppz1iptdr01-mgmt"</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"sgsg02ppz1iptdr01-mgmt.network.asia.bankofamerica.com"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"sgsg02ppz1iptdr01-mgmt"</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"sgsg02ppz1iptdr01-mgmt" in IP Phone or Imaging Hardware</a:t>
            </a:r>
            <a:endParaRPr lang="en-US" sz="950" dirty="0"/>
          </a:p>
        </p:txBody>
      </p:sp>
      <p:sp>
        <p:nvSpPr>
          <p:cNvPr id="12" name="Shape 10"/>
          <p:cNvSpPr/>
          <p:nvPr/>
        </p:nvSpPr>
        <p:spPr>
          <a:xfrm>
            <a:off x="3922776" y="3369564"/>
            <a:ext cx="4617720" cy="0"/>
          </a:xfrm>
          <a:prstGeom prst="line">
            <a:avLst/>
          </a:prstGeom>
          <a:noFill/>
          <a:ln w="9525">
            <a:solidFill>
              <a:srgbClr val="DDE0E3"/>
            </a:solidFill>
            <a:prstDash val="solid"/>
          </a:ln>
        </p:spPr>
      </p:sp>
      <p:sp>
        <p:nvSpPr>
          <p:cNvPr id="13" name="Text 11"/>
          <p:cNvSpPr txBox="1"/>
          <p:nvPr/>
        </p:nvSpPr>
        <p:spPr>
          <a:xfrm>
            <a:off x="3922776" y="34610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35324"/>
            <a:ext cx="4617720" cy="18425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"-mgmt" on "sgsg02ppz1iptdr01-mgmt"; server name "sgsg02ppz1iptdr01"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SGSG02PPZ1IPTDR01 [ip_switch] ip 171.147.168.233 -&gt;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mgmt / ip_switch</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SGSG02PPZ1IPTDR01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171.147.168.233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2F4Z5G4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BlueCat Networks DNS/DHCP Server BDDS6500-HW-F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xcu03dbm05-ilom.emea.sdi.corp.bankofamerica.com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SDI000002152714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xcu03dbm05-ilom.emea.sdi.corp.bankofamerica.com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30.193.59.95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 / Linux 3.x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05:27:02</a:t>
            </a:r>
            <a:endParaRPr lang="en-US" sz="1250" dirty="0"/>
          </a:p>
        </p:txBody>
      </p:sp>
      <p:sp>
        <p:nvSpPr>
          <p:cNvPr id="8" name="Text 6">
            <a:hlinkClick r:id="rId1" tooltip="https://bofasecopsdev.service-now.com/sn_sec_cmn_src_ci_list.do?sysparm_query=number=SDI00000215271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271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139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"xcu03dbm05-ilom"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"xcu03dbm05-ilom" / 1 named "xcu03dbm05-ilom", none with the domain "emea.sdi.corp.bankofamerica.com"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"xcu03dbm05-ilom.emea.sdi.corp.bankofamerica.com"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"xcu03dbm05-ilom" / 1 record in the hardware tree named "xcu03dbm05-ilom" (class outofband_device disagrees with the OS)</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"xcu03dbm05-ilom" in IP Phone or Imaging Hardware</a:t>
            </a:r>
            <a:endParaRPr lang="en-US" sz="950" dirty="0"/>
          </a:p>
        </p:txBody>
      </p:sp>
      <p:sp>
        <p:nvSpPr>
          <p:cNvPr id="12" name="Shape 10"/>
          <p:cNvSpPr/>
          <p:nvPr/>
        </p:nvSpPr>
        <p:spPr>
          <a:xfrm>
            <a:off x="3922776" y="3442716"/>
            <a:ext cx="4617720" cy="0"/>
          </a:xfrm>
          <a:prstGeom prst="line">
            <a:avLst/>
          </a:prstGeom>
          <a:noFill/>
          <a:ln w="9525">
            <a:solidFill>
              <a:srgbClr val="DDE0E3"/>
            </a:solidFill>
            <a:prstDash val="solid"/>
          </a:ln>
        </p:spPr>
      </p:sp>
      <p:sp>
        <p:nvSpPr>
          <p:cNvPr id="13" name="Text 11"/>
          <p:cNvSpPr txBox="1"/>
          <p:nvPr/>
        </p:nvSpPr>
        <p:spPr>
          <a:xfrm>
            <a:off x="3922776" y="35341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08476"/>
            <a:ext cx="4617720" cy="17693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"-ilom" on "xcu03dbm05-ilom"; server name "xcu03dbm05"</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xcu03dbm05 [linux_server] ip 30.193.59.73 -&gt;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ilom / linux_server</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xcu03dbm05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xcu03dbm05.emea.sdi.corp.bankofamerica.com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emea.sdi.corp.bankofamerica.com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30.193.59.73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1919XLB062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Oracle Sun x86 Systems X8-2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Network Interface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Management Interface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8,783</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 It sits after USEM Management Interface Match so controller labels resolve to servers first, and before the FQDN name and load balancer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isMarker: recognise an interface segment.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interface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evidence is true when the full DNS string contains a domains entry ('.network.') or any segment after the first is a marker; the first segment is never tested. Without it the rule returns null, so hyphenated hostnames like ah-1047132-001 are never cut.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the prefixes, longest first.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Network Gear and Load Balancer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the first prefix that finds anything.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Exhausted walk.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(segments.length &lt;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evidence: the DNS contains no '.network.' and no segment after the first is a listed marker</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sgcppz1utilb01a-aom.asia.bankofamerica.com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sgcppz1utilb01a-aom.asia.bankofamerica.com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05:30:04</a:t>
            </a:r>
            <a:endParaRPr lang="en-US" sz="1250" dirty="0"/>
          </a:p>
        </p:txBody>
      </p:sp>
      <p:sp>
        <p:nvSpPr>
          <p:cNvPr id="8" name="Text 6">
            <a:hlinkClick r:id="rId1" tooltip="https://bofasecopsdev.service-now.com/sn_sec_cmn_src_ci_list.do?sysparm_query=number=SDI0000037993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6420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"sgcppz1utilb01a-aom"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"sgcppz1utilb01a-aom"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"sgcppz1utilb01a-aom.asia.bankofamerica.com"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"sgcppz1utilb01a-aom"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gives the class printer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493008"/>
            <a:ext cx="4617720" cy="0"/>
          </a:xfrm>
          <a:prstGeom prst="line">
            <a:avLst/>
          </a:prstGeom>
          <a:noFill/>
          <a:ln w="9525">
            <a:solidFill>
              <a:srgbClr val="DDE0E3"/>
            </a:solidFill>
            <a:prstDash val="solid"/>
          </a:ln>
        </p:spPr>
      </p:sp>
      <p:sp>
        <p:nvSpPr>
          <p:cNvPr id="13" name="Text 11"/>
          <p:cNvSpPr txBox="1"/>
          <p:nvPr/>
        </p:nvSpPr>
        <p:spPr>
          <a:xfrm>
            <a:off x="3922776" y="358444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58768"/>
            <a:ext cx="4617720" cy="171907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segment "aom"</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"sgcppz1utilb01a": SGCPPZ1UTILB01A [lb] ip 171.147.168.144 -&gt; one device at prefix "sgcppz1utilb01a",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lb</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SGCPPZ1UTILB01A</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171.147.168.144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F5-MYIJ-FDDE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INC BIG-IP 10350F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bucpbz1pxylb01b-aom.bankofamerica.com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SDI000003519391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bucpbz1pxylb01b-aom.bankofamerica.com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159.68.141.27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Axis Network Camera / Axis Network Camera / Alpine Linux / HP Envy Photo Printer / Avocent / Dell iDRAC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05:22:13</a:t>
            </a:r>
            <a:endParaRPr lang="en-US" sz="1250" dirty="0"/>
          </a:p>
        </p:txBody>
      </p:sp>
      <p:sp>
        <p:nvSpPr>
          <p:cNvPr id="8" name="Text 6">
            <a:hlinkClick r:id="rId1" tooltip="https://bofasecopsdev.service-now.com/sn_sec_cmn_src_ci_list.do?sysparm_query=number=SDI0000035193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193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8836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"bucpbz1pxylb01b-aom"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"Axis Network Camera / Axis Network Camera / Alpine Linux / HP Envy Photo Printer / Avocent / Dell iDRAC"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"Axis Network Camera / Axis Network Camera / Alpine Linux / HP Envy Photo Printer / Avocent / Dell iDRAC" gives no class / no record named "bucpbz1pxylb01b-aom"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"bucpbz1pxylb01b-aom.bankofamerica.com"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"Axis Network Camera / Axis Network Camera / Alpine Linux / HP Envy Photo Printer / Avocent / Dell iDRAC" gives no class / no record in the hardware tree named "bucpbz1pxylb01b-aom"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"bucpbz1pxylb01b-aom" in IP Phone or Imaging Hardware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word "idrac"; 1 record named "bucpbz1pxylb01b"</a:t>
            </a:r>
            <a:endParaRPr lang="en-US" sz="950" dirty="0"/>
          </a:p>
        </p:txBody>
      </p:sp>
      <p:sp>
        <p:nvSpPr>
          <p:cNvPr id="12" name="Shape 10"/>
          <p:cNvSpPr/>
          <p:nvPr/>
        </p:nvSpPr>
        <p:spPr>
          <a:xfrm>
            <a:off x="3922776" y="3712464"/>
            <a:ext cx="4617720" cy="0"/>
          </a:xfrm>
          <a:prstGeom prst="line">
            <a:avLst/>
          </a:prstGeom>
          <a:noFill/>
          <a:ln w="9525">
            <a:solidFill>
              <a:srgbClr val="DDE0E3"/>
            </a:solidFill>
            <a:prstDash val="solid"/>
          </a:ln>
        </p:spPr>
      </p:sp>
      <p:sp>
        <p:nvSpPr>
          <p:cNvPr id="13" name="Text 11"/>
          <p:cNvSpPr txBox="1"/>
          <p:nvPr/>
        </p:nvSpPr>
        <p:spPr>
          <a:xfrm>
            <a:off x="3922776" y="38039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078224"/>
            <a:ext cx="4617720" cy="14996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segment "aom"</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"bucpbz1pxylb01b": bucpbz1pxylb01b [lb_bigip] ip 159.68.141.26 -&gt; one device at prefix "bucpbz1pxylb01b",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lb_bigip</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bucpbz1pxylb01b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F5 BIG-IP</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159.68.141.26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f5-vfta-psyp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Inc. BIG-IP i5000 Series i5820-DF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lb_bigip.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bigip.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usazcdrwf01blf0002-dan1-e12-1-11.network.bankofamerica.com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SDI000003512966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usazcdrwf01blf0002-dan1-e12-1-11.network.bankofamerica.com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10.149.77.75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 / Linux 2.x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05:18:34</a:t>
            </a:r>
            <a:endParaRPr lang="en-US" sz="1250" dirty="0"/>
          </a:p>
        </p:txBody>
      </p:sp>
      <p:sp>
        <p:nvSpPr>
          <p:cNvPr id="8" name="Text 6">
            <a:hlinkClick r:id="rId1" tooltip="https://bofasecopsdev.service-now.com/sn_sec_cmn_src_ci_list.do?sysparm_query=number=SDI00000351296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1296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73736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"usazcdrwf01blf0002-dan1-e12-1-11"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"usazcdrwf01blf0002-dan1-e12-1-11"</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"usazcdrwf01blf0002-dan1-e12-1-11.network.bankofamerica.com"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"usazcdrwf01blf0002-dan1-e12-1-11"</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"usazcdrwf01blf0002-dan1-e12-1-11" in IP Phone or Imaging Hardware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566160"/>
            <a:ext cx="4617720" cy="0"/>
          </a:xfrm>
          <a:prstGeom prst="line">
            <a:avLst/>
          </a:prstGeom>
          <a:noFill/>
          <a:ln w="9525">
            <a:solidFill>
              <a:srgbClr val="DDE0E3"/>
            </a:solidFill>
            <a:prstDash val="solid"/>
          </a:ln>
        </p:spPr>
      </p:sp>
      <p:sp>
        <p:nvSpPr>
          <p:cNvPr id="13" name="Text 11"/>
          <p:cNvSpPr txBox="1"/>
          <p:nvPr/>
        </p:nvSpPr>
        <p:spPr>
          <a:xfrm>
            <a:off x="3922776" y="36576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931920"/>
            <a:ext cx="4617720" cy="16459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domain ".network."</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"usazcdrwf01blf0002-dan1-e12-1": nothing | "usazcdrwf01blf0002-dan1-e12": nothing | "usazcdrwf01blf0002-dan1": USAZCDRWF01BLF0002-DAN1 [ip_switch] ip 10.149.74.5 -&gt; one device at prefix "usazcdrwf01blf0002-dan1",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2 / ip_switch</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USAZCDRWF01BLF0002-DAN1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10.149.74.5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JPA2344P08F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Arista 7280R3 Series 7280CR3MK-32D4S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Network Interface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Member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29,770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 It sits after the fqdn-field and short-hostname rules because those cover normal naming; this one only rescues CIs that none of them can see.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on the name field.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such CIs share that name (gr.hasNext() true), whatever their IP, class or status</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Three matched discovered items</a:t>
            </a:r>
            <a:endParaRPr lang="en-US" sz="2800" dirty="0"/>
          </a:p>
        </p:txBody>
      </p:sp>
      <p:sp>
        <p:nvSpPr>
          <p:cNvPr id="4" name="Shape 2"/>
          <p:cNvSpPr/>
          <p:nvPr/>
        </p:nvSpPr>
        <p:spPr>
          <a:xfrm>
            <a:off x="457200" y="1325880"/>
            <a:ext cx="11274552" cy="2011680"/>
          </a:xfrm>
          <a:prstGeom prst="roundRect">
            <a:avLst>
              <a:gd name="adj" fmla="val 2273"/>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77240" y="1645920"/>
            <a:ext cx="10607040" cy="1463040"/>
          </a:xfrm>
          <a:prstGeom prst="rect">
            <a:avLst/>
          </a:prstGeom>
          <a:noFill/>
          <a:ln/>
        </p:spPr>
        <p:txBody>
          <a:bodyPr wrap="square" lIns="0" tIns="0" rIns="0" bIns="0" rtlCol="0" anchor="t"/>
          <a:lstStyle/>
          <a:p>
            <a:pPr indent="0" marL="0">
              <a:buNone/>
            </a:pPr>
            <a:r>
              <a:rPr lang="en-US" sz="1600" dirty="0">
                <a:solidFill>
                  <a:srgbClr val="6B7177"/>
                </a:solidFill>
                <a:latin typeface="Arial" pitchFamily="34" charset="0"/>
                <a:ea typeface="Arial" pitchFamily="34" charset="-122"/>
                <a:cs typeface="Arial" pitchFamily="34" charset="-120"/>
              </a:rPr>
              <a:t>Three discovered items matched by this rule on the development instance will be shown here, one per page, each with the scanned values, the steps the rule took and the CI it returned.</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Member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Service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 It sits after the hardware rules, which find no server for a VIP, and before USEM Load Balancer Service Match so that a real server is preferred to the VIP record.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The virtual server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Twins of one virtual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Pools behind every twin.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Members and their addresses.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Placing each member on a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Deciding the one machine.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Any member leads to no real server (unresolved count above zero), leaving the pool partly unknown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servers found carry zero, or two or more, distinct name labels (no server, or two different machines)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boluiv4-dev2-benefits-l7-vip1.dev.gwimnp.rpg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SDI000002993687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boluiv4-dev2-benefits-l7-vip1.dev.gwimnp.rpg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10.143.53.96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10:40:47</a:t>
            </a:r>
            <a:endParaRPr lang="en-US" sz="1250" dirty="0"/>
          </a:p>
        </p:txBody>
      </p:sp>
      <p:sp>
        <p:nvSpPr>
          <p:cNvPr id="8" name="Text 6">
            <a:hlinkClick r:id="rId1" tooltip="https://bofasecopsdev.service-now.com/sn_sec_cmn_src_ci_list.do?sysparm_query=number=SDI0000029936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"boluiv4-dev2-benefits-l7-vip1"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"boluiv4-dev2-benefits-l7-vip1"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"boluiv4-dev2-benefits-l7-vip1.dev.gwimnp.rpg"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"boluiv4-dev2-benefits-l7-vip1"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"boluiv4-dev2-benefits-l7-vip1"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"boluiv4-dev2-benefits-l7-vip1.dev.gwimnp.rpg"</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OS has "f5", OS has "big-ip", label segment "vip1"</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"10.143.53.96"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service record: /Common/ihscore-dev2-boluiv4_benefits-6011-vip on 10.143.53.96 (svedpz1rp1lb12)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/Common/ihscore-dev2-boluiv4_benefits-6011-pool (pool field)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lva62pwbolws51v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lva62pwbolws51v.sdi.ssc3.ext3.bankofamerica3.com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171.184.193.14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25 b9 6c 36 c0 37-53 0a ac 92 8d 40 9f 3c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aim-xfer-dev-ltwbt1-vip.bankofamerica.com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SDI000003786277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aim-xfer-dev-ltwbt1-vip.bankofamerica.com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171.206.7.25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2026-09-19 23:40:12</a:t>
            </a:r>
            <a:endParaRPr lang="en-US" sz="1250" dirty="0"/>
          </a:p>
        </p:txBody>
      </p:sp>
      <p:sp>
        <p:nvSpPr>
          <p:cNvPr id="8" name="Text 6">
            <a:hlinkClick r:id="rId1" tooltip="https://bofasecopsdev.service-now.com/sn_sec_cmn_src_ci_list.do?sysparm_query=number=SDI0000037862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30552"/>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"aim-xfer-dev-ltwbt1-vip"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"aim-xfer-dev-ltwbt1-vip"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"aim-xfer-dev-ltwbt1-vip.bankofamerica.com"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"aim-xfer-dev-ltwbt1-vip"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"aim-xfer-dev-ltwbt1-vip"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"aim-xfer-dev-ltwbt1-vip.bankofamerica.com"</a:t>
            </a:r>
            <a:endParaRPr lang="en-US" sz="900" dirty="0"/>
          </a:p>
        </p:txBody>
      </p:sp>
      <p:sp>
        <p:nvSpPr>
          <p:cNvPr id="12" name="Shape 10"/>
          <p:cNvSpPr/>
          <p:nvPr/>
        </p:nvSpPr>
        <p:spPr>
          <a:xfrm>
            <a:off x="3922776" y="3959352"/>
            <a:ext cx="4617720" cy="0"/>
          </a:xfrm>
          <a:prstGeom prst="line">
            <a:avLst/>
          </a:prstGeom>
          <a:noFill/>
          <a:ln w="9525">
            <a:solidFill>
              <a:srgbClr val="DDE0E3"/>
            </a:solidFill>
            <a:prstDash val="solid"/>
          </a:ln>
        </p:spPr>
      </p:sp>
      <p:sp>
        <p:nvSpPr>
          <p:cNvPr id="13" name="Text 11"/>
          <p:cNvSpPr txBox="1"/>
          <p:nvPr/>
        </p:nvSpPr>
        <p:spPr>
          <a:xfrm>
            <a:off x="3922776" y="405079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25112"/>
            <a:ext cx="4617720" cy="125272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label segment "vip"</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"171.206.7.25"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Twins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/Common/aim-xfer-dev_t_22 (pool field) ; /Common/aim-xfer-dev_t_22 (pool field) ; /Common/aim-xfer-dev_t_22 (pool field) ; ...</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/Common/30.123.135.170 30.123.135.170 -&gt; ah-1062287-001 (device record, adapter, IP Address record) ; /Common/30.123.135.170 30.123.135.170 -&gt; ah-1062287-001 (device record, adapter, IP Address record) ; /Common/30.123.135.170 30.123.135.170 -&gt; ah-1062287-001 (device record, adapter, IP Address record) ; /Common/30.123.135.170 30.123.135.170 -&gt; ah-1062287-001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twins / 4 members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ah-1062287-001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ah-1062287-001.sdi.corp.bankofamerica.com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30.123.135.170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13 33 b1 97 f0 9e 97-b1 a0 ca 1b 8a 2c fc 7b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ccgw-l7-vip2.sit1.gwimnp.rpg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SDI000002418623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ccgw-l7-vip2.sit1.gwimnp.rpg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03:12:39</a:t>
            </a:r>
            <a:endParaRPr lang="en-US" sz="1250" dirty="0"/>
          </a:p>
        </p:txBody>
      </p:sp>
      <p:sp>
        <p:nvSpPr>
          <p:cNvPr id="8" name="Text 6">
            <a:hlinkClick r:id="rId1" tooltip="https://bofasecopsdev.service-now.com/sn_sec_cmn_src_ci_list.do?sysparm_query=number=SDI00000241862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"ccgw-l7-vip2"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"ccgw-l7-vip2"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"ccgw-l7-vip2.sit1.gwimnp.rpg"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"ccgw-l7-vip2"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"ccgw-l7-vip2"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"ccgw-l7-vip2.sit1.gwimnp.rpg"</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OS has "f5", OS has "big-ip", label segment "vip2"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"10.143.52.217"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service record: /Common/ihscore-sit1-ccgw-6011-vip on 10.143.52.217 (svedpz1rp4lb10)</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/Common/ihscore-sit1-ccgw-443-pool (pool field)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lva71pwbolcc01v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lva71pwbolcc01v.sdi.ssc3.ext3.bankofamerica3.com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10.143.72.200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ff a8 e9 3d 0e ce-24 f6 1e f2 a0 ea 46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Service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Member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634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 It runs on the IP field so VIPs without a DNS name are covered, after USEM Load Balancer Member Match so a real server is preferred, and before the IP address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Four search steps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Narrowing the rows of a step.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Result.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evidence: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SDI000003055580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11:16:34</a:t>
            </a:r>
            <a:endParaRPr lang="en-US" sz="1250" dirty="0"/>
          </a:p>
        </p:txBody>
      </p:sp>
      <p:sp>
        <p:nvSpPr>
          <p:cNvPr id="8" name="Text 6">
            <a:hlinkClick r:id="rId1" tooltip="https://bofasecopsdev.service-now.com/sn_sec_cmn_src_ci_list.do?sysparm_query=number=SDI0000030555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"olmerrillweb-review1-l7-vip1"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"olmerrillweb-review1-l7-vip1"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"olmerrillweb-review1-l7-vip1.gwimnp.rpg"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"olmerrillweb-review1-l7-vip1"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"olmerrillweb-review1-l7-vip1"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"olmerrillweb-review1-l7-vip1.gwimnp.rpg"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Members: none: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"10.143.52.113"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/Common/ait74300-review1-origin_mymerrill_cdn-6001-vip on 10.143.52.113 (svedpz1rp2lb10)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/Common/ait74300-review1-origin_mymerrill_cdn-6001-vip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olmerrillweb-preview1-l7-vip1.gwimnp.rpg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SDI000003036490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olmerrillweb-preview1-l7-vip1.gwimnp.rpg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11:05:41</a:t>
            </a:r>
            <a:endParaRPr lang="en-US" sz="1250" dirty="0"/>
          </a:p>
        </p:txBody>
      </p:sp>
      <p:sp>
        <p:nvSpPr>
          <p:cNvPr id="8" name="Text 6">
            <a:hlinkClick r:id="rId1" tooltip="https://bofasecopsdev.service-now.com/sn_sec_cmn_src_ci_list.do?sysparm_query=number=SDI00000303649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"olmerrillweb-preview1-l7-vip1"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"olmerrillweb-preview1-l7-vip1"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"olmerrillweb-preview1-l7-vip1.gwimnp.rpg"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"olmerrillweb-preview1-l7-vip1"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"olmerrillweb-preview1-l7-vip1"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"olmerrillweb-preview1-l7-vip1.gwimnp.rpg"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Decision: 1 member(s), 2 server record(s), 2 machine(s) by name; 2 machines behind the virtual server: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"10.143.52.108"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/Common/ait74300-preview1-origin_mymerrill_cdn-6001-vip on 10.143.52.108 (svedpz1rp2lb10)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/Common/ait74300-preview1-origin_mymerrill_cdn-6001-vip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pbui-va2-vip.gwim.rpg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SDI000003008717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pbui-va2-vip.gwim.rpg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10:48:18</a:t>
            </a:r>
            <a:endParaRPr lang="en-US" sz="1250" dirty="0"/>
          </a:p>
        </p:txBody>
      </p:sp>
      <p:sp>
        <p:nvSpPr>
          <p:cNvPr id="8" name="Text 6">
            <a:hlinkClick r:id="rId1" tooltip="https://bofasecopsdev.service-now.com/sn_sec_cmn_src_ci_list.do?sysparm_query=number=SDI0000030087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"pbui-va2-vip"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"pbui-va2-vip"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"pbui-va2-vip.gwim.rpg"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"pbui-va2-vip"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"pbui-va2-vip"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"pbui-va2-vip.gwim.rpg"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Decision: 4 member(s), 4 server record(s), 4 machine(s) by name; 4 machines behind the virtual server: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"158.171.199.147"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/Common/ait32589-rvcpbt2-pbui-443-vip on 158.171.199.147 (svedbt1gwmlb01a)</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/Common/ait32589-rvcpbt2-pbui-443-vip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svedbt1gwmlb01a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Absent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Service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15,674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 It is the first address rule: every serial and name rule has already declined, and an address is the weakest identifier (addresses move between machines and are shared by load balancers), so the class restriction plus host-name agreement make it safe.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inside that class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 OS empty, more than two '/'-separated guesses, or no keyword matched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table classFor returned is not valid on the instance (gr.isValid()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address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10.131.81.11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SDI000002931100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10.131.81.11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04:57:28</a:t>
            </a:r>
            <a:endParaRPr lang="en-US" sz="1250" dirty="0"/>
          </a:p>
        </p:txBody>
      </p:sp>
      <p:sp>
        <p:nvSpPr>
          <p:cNvPr id="8" name="Text 6">
            <a:hlinkClick r:id="rId1" tooltip="https://bofasecopsdev.service-now.com/sn_sec_cmn_src_ci_list.do?sysparm_query=number=SDI00000293110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3110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No DNS name reported, only the address: no serial, phone or name rule could run</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"10.131.81.11"; OS "HP LaserJet Printer" gives the class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txsanwz01p04 [printer] ip 10.131.81.11 -&gt; exactly one, accepted;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txsanwz01p04</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10.131.81.11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VNCCS7K0Y5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E50145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Ready</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Adapter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20,422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 It sits after the class-restricted rule to reach CIs kept in a parent class or hosts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balancer refusal.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row carries the same address (hasNext() true), whatever the classes involved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CI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1 OF 2</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10.16.37.6</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SDI000002958949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04:49:19</a:t>
            </a:r>
            <a:endParaRPr lang="en-US" sz="1250" dirty="0"/>
          </a:p>
        </p:txBody>
      </p:sp>
      <p:sp>
        <p:nvSpPr>
          <p:cNvPr id="8" name="Text 6">
            <a:hlinkClick r:id="rId1" tooltip="https://bofasecopsdev.service-now.com/sn_sec_cmn_src_ci_list.do?sysparm_query=number=SDI00000295894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5894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No DNS name reported, only the address: no serial, phone or name rule could run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OS "UNIX" gives no class: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class rule before this one could not search</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"10.16.37.6";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sgsgsinhf04idf0003 [ip_switch] ip 10.16.37.6 -&gt; exactly one, accepted; not a load balancer device; class agrees with the OS;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ip_switch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sgsgsinhf04idf0003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FOX2904PHRC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C88234705D80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Catalyst 9400 Series Switches 9407R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2 OF 2</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171.147.250.213</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SDI000002893787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171.147.250.213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04:45:49</a:t>
            </a:r>
            <a:endParaRPr lang="en-US" sz="1250" dirty="0"/>
          </a:p>
        </p:txBody>
      </p:sp>
      <p:sp>
        <p:nvSpPr>
          <p:cNvPr id="8" name="Text 6">
            <a:hlinkClick r:id="rId1" tooltip="https://bofasecopsdev.service-now.com/sn_sec_cmn_src_ci_list.do?sysparm_query=number=SDI0000028937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937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No DNS name reported, only the address: no serial, phone or name rule could run</a:t>
            </a:r>
            <a:endParaRPr lang="en-US" sz="950" dirty="0"/>
          </a:p>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OS "not reported" gives no class: the class rule before this one could not search</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"171.147.250.213";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tidsxxmumdcp2 [ids_network] ip 171.147.250.213 -&gt; exactly one, accepted; not a load balancer device; class agrees with the OS;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ids_network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tidsxxmumdcp2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Intrusion Detection System</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171.147.250.213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US32A1Y00M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Trend Micro TippingPoint TPS-Series 8400TX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ds_network.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ds_network.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Adapter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Layered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46,195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 It sits after the two rules that read the CI record because a multi-homed server keeps its addresses on adapter records rather than in its own ip_address field.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Adapter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owning CI has a class agrees() refuses, so count stays 0</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adapters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a-vsg2d000i0291-nfs.apac.sdi.corp.bankofamerica.com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SDI000002582383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a-vsg2d000i0291-nfs.apac.sdi.corp.bankofamerica.com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30.184.129.17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05:23:25</a:t>
            </a:r>
            <a:endParaRPr lang="en-US" sz="1250" dirty="0"/>
          </a:p>
        </p:txBody>
      </p:sp>
      <p:sp>
        <p:nvSpPr>
          <p:cNvPr id="8" name="Text 6">
            <a:hlinkClick r:id="rId1" tooltip="https://bofasecopsdev.service-now.com/sn_sec_cmn_src_ci_list.do?sysparm_query=number=SDI0000025823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823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"a-vsg2d000i0291-nfs"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"a-vsg2d000i0291-nfs"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"a-vsg2d000i0291-nfs.apac.sdi.corp.bankofamerica.com"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"a-vsg2d000i0291-nfs"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"a-vsg2d000i0291-nfs.apac.sdi.corp.bankofamerica.com"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"30.184.129.17";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a-vsg2d000i0291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"a-vsg2d000i0291-nfs"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a-vsg2d000i0291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a-vsg2d000i0291.apac.sdi.corp.bankofamerica.com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30.188.216.14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9H81LQ3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a-vsg1d000i0443-nfs.apac.sdi.corp.bankofamerica.com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SDI000003647775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a-vsg1d000i0443-nfs.apac.sdi.corp.bankofamerica.com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30.184.159.139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 Server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05:17:51</a:t>
            </a:r>
            <a:endParaRPr lang="en-US" sz="1250" dirty="0"/>
          </a:p>
        </p:txBody>
      </p:sp>
      <p:sp>
        <p:nvSpPr>
          <p:cNvPr id="8" name="Text 6">
            <a:hlinkClick r:id="rId1" tooltip="https://bofasecopsdev.service-now.com/sn_sec_cmn_src_ci_list.do?sysparm_query=number=SDI00000364777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4777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"a-vsg1d000i0443-nfs"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"a-vsg1d000i0443-nfs"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"a-vsg1d000i0443-nfs.apac.sdi.corp.bankofamerica.com"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"a-vsg1d000i0443-nfs"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"a-vsg1d000i0443-nfs.apac.sdi.corp.bankofamerica.com"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"30.184.159.139"; OS "VMware ESX Server"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a-vsg1d000i0443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"a-vsg1d000i0443-nfs"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a-vsg1d000i0443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a-vsg1d000i0443.apac.sdi.corp.bankofamerica.com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30.188.125.73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65N7NX2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a-vcn1d000i0140-nfs.apac.sdi.corp.bankofamerica.com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SDI000002517281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a-vcn1d000i0140-nfs.apac.sdi.corp.bankofamerica.com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30.187.194.9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05:17:38</a:t>
            </a:r>
            <a:endParaRPr lang="en-US" sz="1250" dirty="0"/>
          </a:p>
        </p:txBody>
      </p:sp>
      <p:sp>
        <p:nvSpPr>
          <p:cNvPr id="8" name="Text 6">
            <a:hlinkClick r:id="rId1" tooltip="https://bofasecopsdev.service-now.com/sn_sec_cmn_src_ci_list.do?sysparm_query=number=SDI00000251728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1728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"a-vcn1d000i0140-nfs"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"a-vcn1d000i0140-nfs"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"a-vcn1d000i0140-nfs.apac.sdi.corp.bankofamerica.com"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"a-vcn1d000i0140-nfs"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"a-vcn1d000i0140-nfs.apac.sdi.corp.bankofamerica.com"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"30.187.194.9";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vmk4 -&gt; a-vcn1d000i0140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"a-vcn1d000i0140-nfs"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a-vcn1d000i0140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a-vcn1d000i0140.apac.sdi.corp.bankofamerica.com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165.41.99.41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JQJNDX3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Layered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Adapter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Broad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7,967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 It is the last address rule because newer discovery writes each address there and may leave the adapter's own ip_address empty, so the previous three rules find nothing.</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IP Address record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cmdb_ci_ip_address table is not valid on the instance (ipGr.isValid()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cmdb_ci_ip_address row with that ip_address reaches a CI (nic.cmdb_ci empty) outside the ignore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has a class agrees() refuses, so count stays 0</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address records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SDI000002965591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04:53:02</a:t>
            </a:r>
            <a:endParaRPr lang="en-US" sz="1250" dirty="0"/>
          </a:p>
        </p:txBody>
      </p:sp>
      <p:sp>
        <p:nvSpPr>
          <p:cNvPr id="8" name="Text 6">
            <a:hlinkClick r:id="rId1" tooltip="https://bofasecopsdev.service-now.com/sn_sec_cmn_src_ci_list.do?sysparm_query=number=SDI0000029655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55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No DNS name reported, only the address: no serial, phone or name rule could run</a:t>
            </a:r>
            <a:endParaRPr lang="en-US" sz="950" dirty="0"/>
          </a:p>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The address sits on an IP Address record, not on the CI or an adapter</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"10.16.37.11"; OS "UNIX" gives no class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IP Address record -&gt; adapter Netwtw10. -&gt; k30894a794e38 [computer]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k30894a794e38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192.168.1.176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5CG3112JMQ</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830 G8 ENT 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BROAD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Broad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Layered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the platform's own rules (FQDN, NetBIOS, DNS)</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2,499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 It runs last so every more precise rule has had its chance.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root cmdb_ci table on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 row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 rows share that name (gr.hasNext() true), whatever their class, IP or status</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lvaegpu15sdi.sdi.corp.bankofamerica.com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SDI000003577172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lvaegpu15sdi.sdi.corp.bankofamerica.com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30.41.0.20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05:42:52</a:t>
            </a:r>
            <a:endParaRPr lang="en-US" sz="1250" dirty="0"/>
          </a:p>
        </p:txBody>
      </p:sp>
      <p:sp>
        <p:nvSpPr>
          <p:cNvPr id="8" name="Text 6">
            <a:hlinkClick r:id="rId1" tooltip="https://bofasecopsdev.service-now.com/sn_sec_cmn_src_ci_list.do?sysparm_query=number=SDI00000357717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17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"lvaegpu15sdi"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named "lvaegpu15sdi",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"lvaegpu15sdi.sdi.corp.bankofamerica.com"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records in linux_server named "lvaegpu15sdi": a tie / 3 records in the hardware tree named "lvaegpu15sdi":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"lvaegpu15sdi"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"lvaegpu15sdi.sdi.corp.bankofamerica.com"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records in linux_server carry the address: a tie / 3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"lvaegpu15sdi.sdi.corp.bankofamerica.com"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lvaegpu15sdi.sdi.corp.bankofamerica.com [kubernetes_node] ip 30.41.0.20 -&gt;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lvaegpu15sdi.sdi.corp.bankofamerica.com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30.41.0.20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lrchac15xsdi018.sdi.corp.bankofamerica.com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SDI000003577146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lrchac15xsdi018.sdi.corp.bankofamerica.com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30.38.242.27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05:42:08</a:t>
            </a:r>
            <a:endParaRPr lang="en-US" sz="1250" dirty="0"/>
          </a:p>
        </p:txBody>
      </p:sp>
      <p:sp>
        <p:nvSpPr>
          <p:cNvPr id="8" name="Text 6">
            <a:hlinkClick r:id="rId1" tooltip="https://bofasecopsdev.service-now.com/sn_sec_cmn_src_ci_list.do?sysparm_query=number=SDI00000357714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14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"lrchac15xsdi018"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"lrchac15xsdi018",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"lrchac15xsdi018.sdi.corp.bankofamerica.com"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"lrchac15xsdi018": a tie / 2 records in the hardware tree named "lrchac15xsdi018":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"lrchac15xsdi018"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"lrchac15xsdi018.sdi.corp.bankofamerica.com"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"lrchac15xsdi018.sdi.corp.bankofamerica.com"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lrchac15xsdi018.sdi.corp.bankofamerica.com [kubernetes_node] ip 30.38.242.27 -&gt;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lrchac15xsdi018.sdi.corp.bankofamerica.com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30.38.242.27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lrchac13xsdi018.sdi.corp.bankofamerica.com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SDI000003577129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lrchac13xsdi018.sdi.corp.bankofamerica.com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30.38.246.27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05:41:16</a:t>
            </a:r>
            <a:endParaRPr lang="en-US" sz="1250" dirty="0"/>
          </a:p>
        </p:txBody>
      </p:sp>
      <p:sp>
        <p:nvSpPr>
          <p:cNvPr id="8" name="Text 6">
            <a:hlinkClick r:id="rId1" tooltip="https://bofasecopsdev.service-now.com/sn_sec_cmn_src_ci_list.do?sysparm_query=number=SDI00000357712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712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"lrchac13xsdi018"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"lrchac13xsdi018",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"lrchac13xsdi018.sdi.corp.bankofamerica.com"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"lrchac13xsdi018": a tie / 2 records in the hardware tree named "lrchac13xsdi018":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"lrchac13xsdi018"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"lrchac13xsdi018.sdi.corp.bankofamerica.com"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"lrchac13xsdi018.sdi.corp.bankofamerica.com"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lrchac13xsdi018.sdi.corp.bankofamerica.com [kubernetes_node] ip 30.38.246.27 -&gt;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lrchac13xsdi018.sdi.corp.bankofamerica.com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30.38.246.27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2026-09-21T06:04:14Z</dcterms:created>
  <dcterms:modified xsi:type="dcterms:W3CDTF">2026-09-21T06:04:14Z</dcterms:modified>
</cp:coreProperties>
</file>