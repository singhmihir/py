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charts/chart1.xml" ContentType="application/vnd.openxmlformats-officedocument.drawingml.chart+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Estimated hosts</c:v>
                </c:pt>
              </c:strCache>
            </c:strRef>
          </c:tx>
          <c:spPr>
            <a:solidFill>
              <a:srgbClr val="E31837"/>
            </a:solidFill>
            <a:effectLst/>
          </c:spPr>
          <c:invertIfNegative val="0"/>
          <c:dLbls>
            <c:numFmt formatCode="#,##0" sourceLinked="0"/>
            <c:txPr>
              <a:bodyPr/>
              <a:lstStyle/>
              <a:p>
                <a:pPr>
                  <a:defRPr b="0" i="0" strike="noStrike" sz="900" u="none">
                    <a:solidFill>
                      <a:srgbClr val="24272A"/>
                    </a:solidFill>
                    <a:latin typeface="Arial"/>
                  </a:defRPr>
                </a:pPr>
              </a:p>
            </c:txPr>
            <c:showLegendKey val="0"/>
            <c:showVal val="1"/>
            <c:showCatName val="0"/>
            <c:showSerName val="0"/>
            <c:showPercent val="0"/>
            <c:showBubbleSize val="0"/>
            <c:showLeaderLines val="0"/>
          </c:dLbls>
          <c:cat>
            <c:multiLvlStrRef>
              <c:f>Sheet1!$A$2:$A$13</c:f>
              <c:multiLvlStrCache>
                <c:ptCount val="12"/>
                <c:lvl>
                  <c:pt idx="0">
                    <c:v>Virtual IP of a load balancer</c:v>
                  </c:pt>
                  <c:pt idx="1">
                    <c:v>Host with a plain DNS name</c:v>
                  </c:pt>
                  <c:pt idx="2">
                    <c:v>Network device interface or VLAN</c:v>
                  </c:pt>
                  <c:pt idx="3">
                    <c:v>IP only, no DNS name</c:v>
                  </c:pt>
                  <c:pt idx="4">
                    <c:v>Cisco IP phone, SEP label</c:v>
                  </c:pt>
                  <c:pt idx="5">
                    <c:v>Windows workstation</c:v>
                  </c:pt>
                  <c:pt idx="6">
                    <c:v>Printer</c:v>
                  </c:pt>
                  <c:pt idx="7">
                    <c:v>Appliance or embedded device</c:v>
                  </c:pt>
                  <c:pt idx="8">
                    <c:v>Management controller</c:v>
                  </c:pt>
                  <c:pt idx="9">
                    <c:v>Storage system</c:v>
                  </c:pt>
                  <c:pt idx="10">
                    <c:v>Cisco phone, other label</c:v>
                  </c:pt>
                  <c:pt idx="11">
                    <c:v>Network device by its own name</c:v>
                  </c:pt>
                </c:lvl>
              </c:multiLvlStrCache>
            </c:multiLvlStrRef>
          </c:cat>
          <c:val>
            <c:numRef>
              <c:f>Sheet1!$B$2:$B$13</c:f>
              <c:numCache>
                <c:formatCode>General</c:formatCode>
                <c:ptCount val="12"/>
                <c:pt idx="0">
                  <c:v>71892</c:v>
                </c:pt>
                <c:pt idx="1">
                  <c:v>63089</c:v>
                </c:pt>
                <c:pt idx="2">
                  <c:v>47420</c:v>
                </c:pt>
                <c:pt idx="3">
                  <c:v>39790</c:v>
                </c:pt>
                <c:pt idx="4">
                  <c:v>30459</c:v>
                </c:pt>
                <c:pt idx="5">
                  <c:v>11679</c:v>
                </c:pt>
                <c:pt idx="6">
                  <c:v>5341</c:v>
                </c:pt>
                <c:pt idx="7">
                  <c:v>5164</c:v>
                </c:pt>
                <c:pt idx="8">
                  <c:v>4402</c:v>
                </c:pt>
                <c:pt idx="9">
                  <c:v>1350</c:v>
                </c:pt>
                <c:pt idx="10">
                  <c:v>1056</c:v>
                </c:pt>
                <c:pt idx="11">
                  <c:v>59</c:v>
                </c:pt>
              </c:numCache>
            </c:numRef>
          </c:val>
        </c:ser>
        <c:dLbls>
          <c:numFmt formatCode="#,##0" sourceLinked="0"/>
          <c:txPr>
            <a:bodyPr/>
            <a:lstStyle/>
            <a:p>
              <a:pPr>
                <a:defRPr b="0" i="0" strike="noStrike" sz="900" u="none">
                  <a:solidFill>
                    <a:srgbClr val="24272A"/>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24272A"/>
                </a:solidFill>
                <a:latin typeface="Arial"/>
              </a:defRPr>
            </a:pPr>
            <a:endParaRPr lang="en-US"/>
          </a:p>
        </c:txPr>
        <c:crossAx val="2094734552"/>
        <c:crosses val="autoZero"/>
        <c:auto val="1"/>
        <c:lblAlgn val="ctr"/>
        <c:noMultiLvlLbl val="1"/>
      </c:catAx>
      <c:valAx>
        <c:axId val="2094734552"/>
        <c:scaling>
          <c:orientation val="minMax"/>
          <c:max val="90000"/>
          <c:min val="0"/>
        </c:scaling>
        <c:delete val="0"/>
        <c:axPos val="b"/>
        <c:majorGridlines>
          <c:spPr>
            <a:ln w="9525" cap="flat">
              <a:solidFill>
                <a:srgbClr val="E4E6E8"/>
              </a:solidFill>
              <a:prstDash val="solid"/>
              <a:round/>
            </a:ln>
          </c:spPr>
        </c:majorGridlines>
        <c:numFmt formatCode="General" sourceLinked="0"/>
        <c:majorTickMark val="out"/>
        <c:minorTickMark val="none"/>
        <c:tickLblPos val="low"/>
        <c:spPr>
          <a:ln w="12700" cap="flat">
            <a:noFill/>
            <a:prstDash val="solid"/>
            <a:round/>
          </a:ln>
        </c:spPr>
        <c:txPr>
          <a:bodyPr/>
          <a:lstStyle/>
          <a:p>
            <a:pPr>
              <a:defRPr sz="850" b="0" i="0" u="none" strike="noStrike">
                <a:solidFill>
                  <a:srgbClr val="6B7177"/>
                </a:solidFill>
                <a:latin typeface="Arial"/>
              </a:defRPr>
            </a:pPr>
            <a:endParaRPr lang="en-US"/>
          </a:p>
        </c:txPr>
        <c:crossAx val="2094734554"/>
        <c:crosses val="autoZero"/>
        <c:crossBetween val="between"/>
        <c:majorUnit val="1500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Walkthrough of the custom CI lookup rules built for the Qualys source: what each rule matches, why it sits where it does, and how the chain behaves as a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sections. The middle one is the bulk of the deck: nineteen rule pages in chain order.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cost of a wrong match is the whole argument for the exactly-one design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NetBIOS and the Qualys host id are used by the out-of-box rules at the end of the chain, not by the USEM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Reapply true is what lets the on-demand job re-evaluate items after the rules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eight name rules are the heart of the chain because 85.9% of scanned hosts carry a DNS name and nothing stronger.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single biggest correctness change in the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Multi-guess fingerprints come from unauthenticated scans and are deliberately treated as no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also why the rules never write a placeholder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Principles four and five are the two places where the chain deliberately does something more than an exact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Worth stating explicitly in review, since a reader who knows the script include will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Serial Number Class Match. A serial number stays with a machine for its whole life, while names and addresses get reused. It is the strongest identifier Qualys gives us, so it is tried first, inside the class the scanned OS points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Serial Number Hardware Match. The same serial search across the whole hardware tree. It exists for hosts whose OS gives no usable class, and for CIs that sit in a different class than the OS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Cisco IP Phone MAC. Unified Communications Manager names every phone "SEP" followed by its MAC address, and Qualys reports that name as the DNS label. The rule turns the label back into a MAC and finds the one IP Phone CI that carries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FQDN Class Match. The first name rule. An exact FQDN on the CI record is the most precise name evidence there is, so it is matched before any hostname handling, inside the class the OS points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FQDN Hardware Match. The exact FQDN search again, across the whole hardware tree. It picks up the hosts whose OS gives no class and the CIs kept in a generic or different class than the OS suggests.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Hostname Domain Class Match. For CIs named with the short hostname that carry the domain somewhere else, in dns_domain or in an fqdn that was never copied into the name. Short name and domain are matched together, inside the class the OS points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Hostname Domain Hardware Match. Short hostname plus domain evidence again, across the whole hardware tree, for CIs classed generically (Server, Computer) or differently from the scanned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Layered DNS Match. Discovery keeps names and addresses as their own records linked to the device. This rule follows that chain, the only way to find a host whose name is not written on the CI record at all, and it resolves aliases to the real machine.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Hostname Class Match. The short hostname alone, inside the class the scanned OS points at. For CIs that carry only a short name and no domain information; the agreement between CI class and scanned OS stands in for the missing domain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Hostname Hardware Match. The short hostname across the whole hardware tree, with a check that the CI found does not contradict the scanned OS. For CIs classed generically (Server, Computer, UNIX Server) or differently from the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Management Interface Match. Server management controllers (HP iLO, Oracle ILOM, Dell iDRAC, IBM IMM, Cisco CIMC, BMC, IPMI) are scanned under their own label, the server name plus a suffix. The findings belong to the server, so the rule strips the suffix and matches the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Network Interface Name Match. Network devices are scanned through their interface and VLAN addresses, each carrying a label of the device name plus an interface tail. The device CI is named with the leading part only, so the rule walks the label prefix by prefix.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FQDN Name Hardware Match. Some loads name the CI with the whole FQDN string instead of the short hostname, typically the appliance domains ending in .rpg, so a short name search can never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Load Balancer Service Match. A virtual IP answered by a load balancer is not the balancer, and the hardware rules refuse the balancer device on purpose. Such hosts belong to the Load Balancer Service CI that models the VIP.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IP Class Match. The first address rule. An address is the least trustworthy identifier: addresses move between machines and are shared by load balancers. It is used only for hosts with no serial and no usable name, inside the class the OS points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IP Hardware Match. The address across the whole hardware tree, with two extra safety checks: the CI must not be a load balancer, and its class must not contradict the scanned 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IP Adapter Match. Discovery stores one Network Adapter record per network card, and a multi-homed server keeps its addresses there rather than on the CI record. This rule finds the adapter carrying the address and takes its owning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IP Layered Match. Newer discovery writes each address as its own IP Address record linked to the adapter, and the adapter record itself may carry no address. This rule reads those records, two links from the CI.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USEM FQDN Name Broad Match. The one deliberately late, broad fallback: a CI named with the full FQDN anywhere in the CI table, classes outside the hardware tree included, such as a virtual machine instance.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largest group, plain-named hosts, is already served by the existing name rules; it stays unmatched because those CIs are absent, not because a rule is missing.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is the argument for the three new rules: the evidence was already there, unread.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lists as shipped; each sits at the top of the matching stage in its rule 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sweep is what makes a comments-only redeploy safe to sign 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is the operational guardrail: watch the matched share per rule after any list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table for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4272A"/>
        </a:solidFill>
      </p:bgPr>
    </p:bg>
    <p:spTree>
      <p:nvGrpSpPr>
        <p:cNvPr id="1" name=""/>
        <p:cNvGrpSpPr/>
        <p:nvPr/>
      </p:nvGrpSpPr>
      <p:grpSpPr>
        <a:xfrm>
          <a:off x="0" y="0"/>
          <a:ext cx="0" cy="0"/>
          <a:chOff x="0" y="0"/>
          <a:chExt cx="0" cy="0"/>
        </a:xfrm>
      </p:grpSpPr>
      <p:sp>
        <p:nvSpPr>
          <p:cNvPr id="2" name="Text 0"/>
          <p:cNvSpPr txBox="1"/>
          <p:nvPr/>
        </p:nvSpPr>
        <p:spPr>
          <a:xfrm>
            <a:off x="457200" y="1627632"/>
            <a:ext cx="5486400" cy="237744"/>
          </a:xfrm>
          <a:prstGeom prst="rect">
            <a:avLst/>
          </a:prstGeom>
          <a:noFill/>
          <a:ln/>
        </p:spPr>
        <p:txBody>
          <a:bodyPr wrap="square" lIns="0" tIns="0" rIns="0" bIns="0" rtlCol="0" anchor="ctr"/>
          <a:lstStyle/>
          <a:p>
            <a:pPr indent="0" marL="0">
              <a:buNone/>
            </a:pPr>
            <a:r>
              <a:rPr lang="en-US" sz="1100" b="1" spc="180" kern="0" dirty="0">
                <a:solidFill>
                  <a:srgbClr val="E31837"/>
                </a:solidFill>
                <a:latin typeface="Arial" pitchFamily="34" charset="0"/>
                <a:ea typeface="Arial" pitchFamily="34" charset="-122"/>
                <a:cs typeface="Arial" pitchFamily="34" charset="-120"/>
              </a:rPr>
              <a:t>SNOWUSEMTP-895</a:t>
            </a:r>
            <a:endParaRPr lang="en-US" sz="1100" dirty="0"/>
          </a:p>
        </p:txBody>
      </p:sp>
      <p:sp>
        <p:nvSpPr>
          <p:cNvPr id="3" name="Text 1"/>
          <p:cNvSpPr txBox="1"/>
          <p:nvPr/>
        </p:nvSpPr>
        <p:spPr>
          <a:xfrm>
            <a:off x="457200" y="2304288"/>
            <a:ext cx="10607040" cy="841248"/>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Qualys CI Lookup Rules</a:t>
            </a:r>
            <a:endParaRPr lang="en-US" sz="4400" dirty="0"/>
          </a:p>
        </p:txBody>
      </p:sp>
      <p:sp>
        <p:nvSpPr>
          <p:cNvPr id="4" name="Text 2"/>
          <p:cNvSpPr txBox="1"/>
          <p:nvPr/>
        </p:nvSpPr>
        <p:spPr>
          <a:xfrm>
            <a:off x="457200" y="3182112"/>
            <a:ext cx="10241280" cy="402336"/>
          </a:xfrm>
          <a:prstGeom prst="rect">
            <a:avLst/>
          </a:prstGeom>
          <a:noFill/>
          <a:ln/>
        </p:spPr>
        <p:txBody>
          <a:bodyPr wrap="square" lIns="0" tIns="0" rIns="0" bIns="0" rtlCol="0" anchor="ctr"/>
          <a:lstStyle/>
          <a:p>
            <a:pPr indent="0" marL="0">
              <a:buNone/>
            </a:pPr>
            <a:r>
              <a:rPr lang="en-US" sz="1700" dirty="0">
                <a:solidFill>
                  <a:srgbClr val="B9BEC3"/>
                </a:solidFill>
                <a:latin typeface="Arial" pitchFamily="34" charset="0"/>
                <a:ea typeface="Arial" pitchFamily="34" charset="-122"/>
                <a:cs typeface="Arial" pitchFamily="34" charset="-120"/>
              </a:rPr>
              <a:t>How a scanned host becomes a configuration item, rule by rule</a:t>
            </a:r>
            <a:endParaRPr lang="en-US" sz="1700" dirty="0"/>
          </a:p>
        </p:txBody>
      </p:sp>
      <p:sp>
        <p:nvSpPr>
          <p:cNvPr id="5" name="Text 3"/>
          <p:cNvSpPr txBox="1"/>
          <p:nvPr/>
        </p:nvSpPr>
        <p:spPr>
          <a:xfrm>
            <a:off x="457200" y="4160520"/>
            <a:ext cx="960120" cy="603504"/>
          </a:xfrm>
          <a:prstGeom prst="rect">
            <a:avLst/>
          </a:prstGeom>
          <a:noFill/>
          <a:ln/>
        </p:spPr>
        <p:txBody>
          <a:bodyPr wrap="square" lIns="0" tIns="0" rIns="0" bIns="0" rtlCol="0" anchor="ctr"/>
          <a:lstStyle/>
          <a:p>
            <a:pPr indent="0" marL="0">
              <a:buNone/>
            </a:pPr>
            <a:r>
              <a:rPr lang="en-US" sz="4200" b="1" dirty="0">
                <a:solidFill>
                  <a:srgbClr val="E31837"/>
                </a:solidFill>
                <a:latin typeface="Arial" pitchFamily="34" charset="0"/>
                <a:ea typeface="Arial" pitchFamily="34" charset="-122"/>
                <a:cs typeface="Arial" pitchFamily="34" charset="-120"/>
              </a:rPr>
              <a:t>19</a:t>
            </a:r>
            <a:endParaRPr lang="en-US" sz="4200" dirty="0"/>
          </a:p>
        </p:txBody>
      </p:sp>
      <p:sp>
        <p:nvSpPr>
          <p:cNvPr id="6" name="Text 4"/>
          <p:cNvSpPr txBox="1"/>
          <p:nvPr/>
        </p:nvSpPr>
        <p:spPr>
          <a:xfrm>
            <a:off x="1463040" y="4160520"/>
            <a:ext cx="2651760" cy="603504"/>
          </a:xfrm>
          <a:prstGeom prst="rect">
            <a:avLst/>
          </a:prstGeom>
          <a:noFill/>
          <a:ln/>
        </p:spPr>
        <p:txBody>
          <a:bodyPr wrap="square" lIns="0" tIns="0" rIns="0" bIns="0" rtlCol="0" anchor="ctr"/>
          <a:lstStyle/>
          <a:p>
            <a:pPr indent="0" marL="0">
              <a:buNone/>
            </a:pPr>
            <a:r>
              <a:rPr lang="en-US" sz="1200" dirty="0">
                <a:solidFill>
                  <a:srgbClr val="B9BEC3"/>
                </a:solidFill>
                <a:latin typeface="Arial" pitchFamily="34" charset="0"/>
                <a:ea typeface="Arial" pitchFamily="34" charset="-122"/>
                <a:cs typeface="Arial" pitchFamily="34" charset="-120"/>
              </a:rPr>
              <a:t>rules in the USEM chain</a:t>
            </a:r>
            <a:endParaRPr lang="en-US" sz="1200" dirty="0"/>
          </a:p>
        </p:txBody>
      </p:sp>
      <p:sp>
        <p:nvSpPr>
          <p:cNvPr id="7" name="Text 5"/>
          <p:cNvSpPr txBox="1"/>
          <p:nvPr/>
        </p:nvSpPr>
        <p:spPr>
          <a:xfrm>
            <a:off x="4251960" y="4160520"/>
            <a:ext cx="960120" cy="603504"/>
          </a:xfrm>
          <a:prstGeom prst="rect">
            <a:avLst/>
          </a:prstGeom>
          <a:noFill/>
          <a:ln/>
        </p:spPr>
        <p:txBody>
          <a:bodyPr wrap="square" lIns="0" tIns="0" rIns="0" bIns="0" rtlCol="0" anchor="ctr"/>
          <a:lstStyle/>
          <a:p>
            <a:pPr indent="0" marL="0">
              <a:buNone/>
            </a:pPr>
            <a:r>
              <a:rPr lang="en-US" sz="4200" b="1" dirty="0">
                <a:solidFill>
                  <a:srgbClr val="E31837"/>
                </a:solidFill>
                <a:latin typeface="Arial" pitchFamily="34" charset="0"/>
                <a:ea typeface="Arial" pitchFamily="34" charset="-122"/>
                <a:cs typeface="Arial" pitchFamily="34" charset="-120"/>
              </a:rPr>
              <a:t>3</a:t>
            </a:r>
            <a:endParaRPr lang="en-US" sz="4200" dirty="0"/>
          </a:p>
        </p:txBody>
      </p:sp>
      <p:sp>
        <p:nvSpPr>
          <p:cNvPr id="8" name="Text 6"/>
          <p:cNvSpPr txBox="1"/>
          <p:nvPr/>
        </p:nvSpPr>
        <p:spPr>
          <a:xfrm>
            <a:off x="5257800" y="4160520"/>
            <a:ext cx="2651760" cy="603504"/>
          </a:xfrm>
          <a:prstGeom prst="rect">
            <a:avLst/>
          </a:prstGeom>
          <a:noFill/>
          <a:ln/>
        </p:spPr>
        <p:txBody>
          <a:bodyPr wrap="square" lIns="0" tIns="0" rIns="0" bIns="0" rtlCol="0" anchor="ctr"/>
          <a:lstStyle/>
          <a:p>
            <a:pPr indent="0" marL="0">
              <a:buNone/>
            </a:pPr>
            <a:r>
              <a:rPr lang="en-US" sz="1200" dirty="0">
                <a:solidFill>
                  <a:srgbClr val="B9BEC3"/>
                </a:solidFill>
                <a:latin typeface="Arial" pitchFamily="34" charset="0"/>
                <a:ea typeface="Arial" pitchFamily="34" charset="-122"/>
                <a:cs typeface="Arial" pitchFamily="34" charset="-120"/>
              </a:rPr>
              <a:t>added for the unmatched backlog</a:t>
            </a:r>
            <a:endParaRPr lang="en-US" sz="1200" dirty="0"/>
          </a:p>
        </p:txBody>
      </p:sp>
      <p:sp>
        <p:nvSpPr>
          <p:cNvPr id="9" name="Text 7"/>
          <p:cNvSpPr txBox="1"/>
          <p:nvPr/>
        </p:nvSpPr>
        <p:spPr>
          <a:xfrm>
            <a:off x="8046720" y="4160520"/>
            <a:ext cx="960120" cy="603504"/>
          </a:xfrm>
          <a:prstGeom prst="rect">
            <a:avLst/>
          </a:prstGeom>
          <a:noFill/>
          <a:ln/>
        </p:spPr>
        <p:txBody>
          <a:bodyPr wrap="square" lIns="0" tIns="0" rIns="0" bIns="0" rtlCol="0" anchor="ctr"/>
          <a:lstStyle/>
          <a:p>
            <a:pPr indent="0" marL="0">
              <a:buNone/>
            </a:pPr>
            <a:r>
              <a:rPr lang="en-US" sz="4200" b="1" dirty="0">
                <a:solidFill>
                  <a:srgbClr val="E31837"/>
                </a:solidFill>
                <a:latin typeface="Arial" pitchFamily="34" charset="0"/>
                <a:ea typeface="Arial" pitchFamily="34" charset="-122"/>
                <a:cs typeface="Arial" pitchFamily="34" charset="-120"/>
              </a:rPr>
              <a:t>5</a:t>
            </a:r>
            <a:endParaRPr lang="en-US" sz="4200" dirty="0"/>
          </a:p>
        </p:txBody>
      </p:sp>
      <p:sp>
        <p:nvSpPr>
          <p:cNvPr id="10" name="Text 8"/>
          <p:cNvSpPr txBox="1"/>
          <p:nvPr/>
        </p:nvSpPr>
        <p:spPr>
          <a:xfrm>
            <a:off x="9052560" y="4160520"/>
            <a:ext cx="2651760" cy="603504"/>
          </a:xfrm>
          <a:prstGeom prst="rect">
            <a:avLst/>
          </a:prstGeom>
          <a:noFill/>
          <a:ln/>
        </p:spPr>
        <p:txBody>
          <a:bodyPr wrap="square" lIns="0" tIns="0" rIns="0" bIns="0" rtlCol="0" anchor="ctr"/>
          <a:lstStyle/>
          <a:p>
            <a:pPr indent="0" marL="0">
              <a:buNone/>
            </a:pPr>
            <a:r>
              <a:rPr lang="en-US" sz="1200" dirty="0">
                <a:solidFill>
                  <a:srgbClr val="B9BEC3"/>
                </a:solidFill>
                <a:latin typeface="Arial" pitchFamily="34" charset="0"/>
                <a:ea typeface="Arial" pitchFamily="34" charset="-122"/>
                <a:cs typeface="Arial" pitchFamily="34" charset="-120"/>
              </a:rPr>
              <a:t>principles shared by every rule</a:t>
            </a:r>
            <a:endParaRPr lang="en-US" sz="1200" dirty="0"/>
          </a:p>
        </p:txBody>
      </p:sp>
      <p:sp>
        <p:nvSpPr>
          <p:cNvPr id="11" name="Text 9"/>
          <p:cNvSpPr txBox="1"/>
          <p:nvPr/>
        </p:nvSpPr>
        <p:spPr>
          <a:xfrm>
            <a:off x="457200" y="6053328"/>
            <a:ext cx="11247120" cy="274320"/>
          </a:xfrm>
          <a:prstGeom prst="rect">
            <a:avLst/>
          </a:prstGeom>
          <a:noFill/>
          <a:ln/>
        </p:spPr>
        <p:txBody>
          <a:bodyPr wrap="square" lIns="0" tIns="0" rIns="0" bIns="0" rtlCol="0" anchor="ctr"/>
          <a:lstStyle/>
          <a:p>
            <a:pPr indent="0" marL="0">
              <a:buNone/>
            </a:pPr>
            <a:r>
              <a:rPr lang="en-US" sz="1100" dirty="0">
                <a:solidFill>
                  <a:srgbClr val="8A9198"/>
                </a:solidFill>
                <a:latin typeface="Arial" pitchFamily="34" charset="0"/>
                <a:ea typeface="Arial" pitchFamily="34" charset="-122"/>
                <a:cs typeface="Arial" pitchFamily="34" charset="-120"/>
              </a:rPr>
              <a:t>SNOWUSEMTP-895   |   Unified Security Exposure Management   |   Vulnerability Response, Qualys Cloud Platform source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AGENDA</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What this deck covers</a:t>
            </a:r>
            <a:endParaRPr lang="en-US" sz="3000" dirty="0"/>
          </a:p>
        </p:txBody>
      </p:sp>
      <p:sp>
        <p:nvSpPr>
          <p:cNvPr id="4" name="Shape 2"/>
          <p:cNvSpPr/>
          <p:nvPr/>
        </p:nvSpPr>
        <p:spPr>
          <a:xfrm>
            <a:off x="457200" y="1389888"/>
            <a:ext cx="11274552" cy="841248"/>
          </a:xfrm>
          <a:prstGeom prst="roundRect">
            <a:avLst>
              <a:gd name="adj" fmla="val 543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Shape 3"/>
          <p:cNvSpPr/>
          <p:nvPr/>
        </p:nvSpPr>
        <p:spPr>
          <a:xfrm>
            <a:off x="658368" y="1563624"/>
            <a:ext cx="493776" cy="493776"/>
          </a:xfrm>
          <a:prstGeom prst="roundRect">
            <a:avLst>
              <a:gd name="adj" fmla="val 29630"/>
            </a:avLst>
          </a:prstGeom>
          <a:solidFill>
            <a:srgbClr val="E31837"/>
          </a:solidFill>
          <a:ln w="12700">
            <a:solidFill>
              <a:srgbClr val="333333"/>
            </a:solidFill>
            <a:prstDash val="solid"/>
          </a:ln>
        </p:spPr>
      </p:sp>
      <p:sp>
        <p:nvSpPr>
          <p:cNvPr id="6" name="Text 4"/>
          <p:cNvSpPr txBox="1"/>
          <p:nvPr/>
        </p:nvSpPr>
        <p:spPr>
          <a:xfrm>
            <a:off x="658368" y="1563624"/>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a:t>
            </a:r>
            <a:endParaRPr lang="en-US" sz="1900" dirty="0"/>
          </a:p>
        </p:txBody>
      </p:sp>
      <p:sp>
        <p:nvSpPr>
          <p:cNvPr id="7" name="Text 5"/>
          <p:cNvSpPr txBox="1"/>
          <p:nvPr/>
        </p:nvSpPr>
        <p:spPr>
          <a:xfrm>
            <a:off x="1325880" y="1517904"/>
            <a:ext cx="301752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The framework</a:t>
            </a:r>
            <a:endParaRPr lang="en-US" sz="1500" dirty="0"/>
          </a:p>
        </p:txBody>
      </p:sp>
      <p:sp>
        <p:nvSpPr>
          <p:cNvPr id="8" name="Text 6"/>
          <p:cNvSpPr txBox="1"/>
          <p:nvPr/>
        </p:nvSpPr>
        <p:spPr>
          <a:xfrm>
            <a:off x="1325880" y="1819656"/>
            <a:ext cx="10058400" cy="310896"/>
          </a:xfrm>
          <a:prstGeom prst="rect">
            <a:avLst/>
          </a:prstGeom>
          <a:noFill/>
          <a:ln/>
        </p:spPr>
        <p:txBody>
          <a:bodyPr wrap="square" lIns="0" tIns="0" rIns="0" bIns="0" rtlCol="0" anchor="ctr"/>
          <a:lstStyle/>
          <a:p>
            <a:pPr indent="0" marL="0">
              <a:buNone/>
            </a:pPr>
            <a:r>
              <a:rPr lang="en-US" sz="1150" dirty="0">
                <a:solidFill>
                  <a:srgbClr val="6B7177"/>
                </a:solidFill>
                <a:latin typeface="Arial" pitchFamily="34" charset="0"/>
                <a:ea typeface="Arial" pitchFamily="34" charset="-122"/>
                <a:cs typeface="Arial" pitchFamily="34" charset="-120"/>
              </a:rPr>
              <a:t>Where CI lookup sits in Vulnerability Response, what a rule is handed and what it must return.</a:t>
            </a:r>
            <a:endParaRPr lang="en-US" sz="1150" dirty="0"/>
          </a:p>
        </p:txBody>
      </p:sp>
      <p:sp>
        <p:nvSpPr>
          <p:cNvPr id="9" name="Shape 7"/>
          <p:cNvSpPr/>
          <p:nvPr/>
        </p:nvSpPr>
        <p:spPr>
          <a:xfrm>
            <a:off x="457200" y="2359152"/>
            <a:ext cx="11274552" cy="841248"/>
          </a:xfrm>
          <a:prstGeom prst="roundRect">
            <a:avLst>
              <a:gd name="adj" fmla="val 543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0" name="Shape 8"/>
          <p:cNvSpPr/>
          <p:nvPr/>
        </p:nvSpPr>
        <p:spPr>
          <a:xfrm>
            <a:off x="658368" y="2532888"/>
            <a:ext cx="493776" cy="493776"/>
          </a:xfrm>
          <a:prstGeom prst="roundRect">
            <a:avLst>
              <a:gd name="adj" fmla="val 29630"/>
            </a:avLst>
          </a:prstGeom>
          <a:solidFill>
            <a:srgbClr val="E31837"/>
          </a:solidFill>
          <a:ln w="12700">
            <a:solidFill>
              <a:srgbClr val="333333"/>
            </a:solidFill>
            <a:prstDash val="solid"/>
          </a:ln>
        </p:spPr>
      </p:sp>
      <p:sp>
        <p:nvSpPr>
          <p:cNvPr id="11" name="Text 9"/>
          <p:cNvSpPr txBox="1"/>
          <p:nvPr/>
        </p:nvSpPr>
        <p:spPr>
          <a:xfrm>
            <a:off x="658368" y="2532888"/>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a:t>
            </a:r>
            <a:endParaRPr lang="en-US" sz="1900" dirty="0"/>
          </a:p>
        </p:txBody>
      </p:sp>
      <p:sp>
        <p:nvSpPr>
          <p:cNvPr id="12" name="Text 10"/>
          <p:cNvSpPr txBox="1"/>
          <p:nvPr/>
        </p:nvSpPr>
        <p:spPr>
          <a:xfrm>
            <a:off x="1325880" y="2487168"/>
            <a:ext cx="301752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Five principles</a:t>
            </a:r>
            <a:endParaRPr lang="en-US" sz="1500" dirty="0"/>
          </a:p>
        </p:txBody>
      </p:sp>
      <p:sp>
        <p:nvSpPr>
          <p:cNvPr id="13" name="Text 11"/>
          <p:cNvSpPr txBox="1"/>
          <p:nvPr/>
        </p:nvSpPr>
        <p:spPr>
          <a:xfrm>
            <a:off x="1325880" y="2788920"/>
            <a:ext cx="10058400" cy="310896"/>
          </a:xfrm>
          <a:prstGeom prst="rect">
            <a:avLst/>
          </a:prstGeom>
          <a:noFill/>
          <a:ln/>
        </p:spPr>
        <p:txBody>
          <a:bodyPr wrap="square" lIns="0" tIns="0" rIns="0" bIns="0" rtlCol="0" anchor="ctr"/>
          <a:lstStyle/>
          <a:p>
            <a:pPr indent="0" marL="0">
              <a:buNone/>
            </a:pPr>
            <a:r>
              <a:rPr lang="en-US" sz="1150" dirty="0">
                <a:solidFill>
                  <a:srgbClr val="6B7177"/>
                </a:solidFill>
                <a:latin typeface="Arial" pitchFamily="34" charset="0"/>
                <a:ea typeface="Arial" pitchFamily="34" charset="-122"/>
                <a:cs typeface="Arial" pitchFamily="34" charset="-120"/>
              </a:rPr>
              <a:t>The design decisions every rule in the chain shares, and why they are the same in all nineteen.</a:t>
            </a:r>
            <a:endParaRPr lang="en-US" sz="1150" dirty="0"/>
          </a:p>
        </p:txBody>
      </p:sp>
      <p:sp>
        <p:nvSpPr>
          <p:cNvPr id="14" name="Shape 12"/>
          <p:cNvSpPr/>
          <p:nvPr/>
        </p:nvSpPr>
        <p:spPr>
          <a:xfrm>
            <a:off x="457200" y="3328416"/>
            <a:ext cx="11274552" cy="841248"/>
          </a:xfrm>
          <a:prstGeom prst="roundRect">
            <a:avLst>
              <a:gd name="adj" fmla="val 543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5" name="Shape 13"/>
          <p:cNvSpPr/>
          <p:nvPr/>
        </p:nvSpPr>
        <p:spPr>
          <a:xfrm>
            <a:off x="658368" y="3502152"/>
            <a:ext cx="493776" cy="493776"/>
          </a:xfrm>
          <a:prstGeom prst="roundRect">
            <a:avLst>
              <a:gd name="adj" fmla="val 29630"/>
            </a:avLst>
          </a:prstGeom>
          <a:solidFill>
            <a:srgbClr val="E31837"/>
          </a:solidFill>
          <a:ln w="12700">
            <a:solidFill>
              <a:srgbClr val="333333"/>
            </a:solidFill>
            <a:prstDash val="solid"/>
          </a:ln>
        </p:spPr>
      </p:sp>
      <p:sp>
        <p:nvSpPr>
          <p:cNvPr id="16" name="Text 14"/>
          <p:cNvSpPr txBox="1"/>
          <p:nvPr/>
        </p:nvSpPr>
        <p:spPr>
          <a:xfrm>
            <a:off x="658368" y="3502152"/>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a:t>
            </a:r>
            <a:endParaRPr lang="en-US" sz="1900" dirty="0"/>
          </a:p>
        </p:txBody>
      </p:sp>
      <p:sp>
        <p:nvSpPr>
          <p:cNvPr id="17" name="Text 15"/>
          <p:cNvSpPr txBox="1"/>
          <p:nvPr/>
        </p:nvSpPr>
        <p:spPr>
          <a:xfrm>
            <a:off x="1325880" y="3456432"/>
            <a:ext cx="301752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The rules, in order</a:t>
            </a:r>
            <a:endParaRPr lang="en-US" sz="1500" dirty="0"/>
          </a:p>
        </p:txBody>
      </p:sp>
      <p:sp>
        <p:nvSpPr>
          <p:cNvPr id="18" name="Text 16"/>
          <p:cNvSpPr txBox="1"/>
          <p:nvPr/>
        </p:nvSpPr>
        <p:spPr>
          <a:xfrm>
            <a:off x="1325880" y="3758184"/>
            <a:ext cx="10058400" cy="310896"/>
          </a:xfrm>
          <a:prstGeom prst="rect">
            <a:avLst/>
          </a:prstGeom>
          <a:noFill/>
          <a:ln/>
        </p:spPr>
        <p:txBody>
          <a:bodyPr wrap="square" lIns="0" tIns="0" rIns="0" bIns="0" rtlCol="0" anchor="ctr"/>
          <a:lstStyle/>
          <a:p>
            <a:pPr indent="0" marL="0">
              <a:buNone/>
            </a:pPr>
            <a:r>
              <a:rPr lang="en-US" sz="1150" dirty="0">
                <a:solidFill>
                  <a:srgbClr val="6B7177"/>
                </a:solidFill>
                <a:latin typeface="Arial" pitchFamily="34" charset="0"/>
                <a:ea typeface="Arial" pitchFamily="34" charset="-122"/>
                <a:cs typeface="Arial" pitchFamily="34" charset="-120"/>
              </a:rPr>
              <a:t>One page per rule: purpose, evidence, matching stages and place in the chain.</a:t>
            </a:r>
            <a:endParaRPr lang="en-US" sz="1150" dirty="0"/>
          </a:p>
        </p:txBody>
      </p:sp>
      <p:sp>
        <p:nvSpPr>
          <p:cNvPr id="19" name="Shape 17"/>
          <p:cNvSpPr/>
          <p:nvPr/>
        </p:nvSpPr>
        <p:spPr>
          <a:xfrm>
            <a:off x="457200" y="4297680"/>
            <a:ext cx="11274552" cy="841248"/>
          </a:xfrm>
          <a:prstGeom prst="roundRect">
            <a:avLst>
              <a:gd name="adj" fmla="val 543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471416"/>
            <a:ext cx="493776" cy="493776"/>
          </a:xfrm>
          <a:prstGeom prst="roundRect">
            <a:avLst>
              <a:gd name="adj" fmla="val 29630"/>
            </a:avLst>
          </a:prstGeom>
          <a:solidFill>
            <a:srgbClr val="E31837"/>
          </a:solidFill>
          <a:ln w="12700">
            <a:solidFill>
              <a:srgbClr val="333333"/>
            </a:solidFill>
            <a:prstDash val="solid"/>
          </a:ln>
        </p:spPr>
      </p:sp>
      <p:sp>
        <p:nvSpPr>
          <p:cNvPr id="21" name="Text 19"/>
          <p:cNvSpPr txBox="1"/>
          <p:nvPr/>
        </p:nvSpPr>
        <p:spPr>
          <a:xfrm>
            <a:off x="658368" y="4471416"/>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a:t>
            </a:r>
            <a:endParaRPr lang="en-US" sz="1900" dirty="0"/>
          </a:p>
        </p:txBody>
      </p:sp>
      <p:sp>
        <p:nvSpPr>
          <p:cNvPr id="22" name="Text 20"/>
          <p:cNvSpPr txBox="1"/>
          <p:nvPr/>
        </p:nvSpPr>
        <p:spPr>
          <a:xfrm>
            <a:off x="1325880" y="4425696"/>
            <a:ext cx="301752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The unmatched backlog</a:t>
            </a:r>
            <a:endParaRPr lang="en-US" sz="1500" dirty="0"/>
          </a:p>
        </p:txBody>
      </p:sp>
      <p:sp>
        <p:nvSpPr>
          <p:cNvPr id="23" name="Text 21"/>
          <p:cNvSpPr txBox="1"/>
          <p:nvPr/>
        </p:nvSpPr>
        <p:spPr>
          <a:xfrm>
            <a:off x="1325880" y="4727448"/>
            <a:ext cx="10058400" cy="310896"/>
          </a:xfrm>
          <a:prstGeom prst="rect">
            <a:avLst/>
          </a:prstGeom>
          <a:noFill/>
          <a:ln/>
        </p:spPr>
        <p:txBody>
          <a:bodyPr wrap="square" lIns="0" tIns="0" rIns="0" bIns="0" rtlCol="0" anchor="ctr"/>
          <a:lstStyle/>
          <a:p>
            <a:pPr indent="0" marL="0">
              <a:buNone/>
            </a:pPr>
            <a:r>
              <a:rPr lang="en-US" sz="1150" dirty="0">
                <a:solidFill>
                  <a:srgbClr val="6B7177"/>
                </a:solidFill>
                <a:latin typeface="Arial" pitchFamily="34" charset="0"/>
                <a:ea typeface="Arial" pitchFamily="34" charset="-122"/>
                <a:cs typeface="Arial" pitchFamily="34" charset="-120"/>
              </a:rPr>
              <a:t>What the unresolved population is made of, and the three rules added to reach it.</a:t>
            </a:r>
            <a:endParaRPr lang="en-US" sz="1150" dirty="0"/>
          </a:p>
        </p:txBody>
      </p:sp>
      <p:sp>
        <p:nvSpPr>
          <p:cNvPr id="24" name="Shape 22"/>
          <p:cNvSpPr/>
          <p:nvPr/>
        </p:nvSpPr>
        <p:spPr>
          <a:xfrm>
            <a:off x="457200" y="5266944"/>
            <a:ext cx="11274552" cy="841248"/>
          </a:xfrm>
          <a:prstGeom prst="roundRect">
            <a:avLst>
              <a:gd name="adj" fmla="val 543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5" name="Shape 23"/>
          <p:cNvSpPr/>
          <p:nvPr/>
        </p:nvSpPr>
        <p:spPr>
          <a:xfrm>
            <a:off x="658368" y="5440680"/>
            <a:ext cx="493776" cy="493776"/>
          </a:xfrm>
          <a:prstGeom prst="roundRect">
            <a:avLst>
              <a:gd name="adj" fmla="val 29630"/>
            </a:avLst>
          </a:prstGeom>
          <a:solidFill>
            <a:srgbClr val="E31837"/>
          </a:solidFill>
          <a:ln w="12700">
            <a:solidFill>
              <a:srgbClr val="333333"/>
            </a:solidFill>
            <a:prstDash val="solid"/>
          </a:ln>
        </p:spPr>
      </p:sp>
      <p:sp>
        <p:nvSpPr>
          <p:cNvPr id="26" name="Text 24"/>
          <p:cNvSpPr txBox="1"/>
          <p:nvPr/>
        </p:nvSpPr>
        <p:spPr>
          <a:xfrm>
            <a:off x="658368" y="5440680"/>
            <a:ext cx="493776" cy="493776"/>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5</a:t>
            </a:r>
            <a:endParaRPr lang="en-US" sz="1900" dirty="0"/>
          </a:p>
        </p:txBody>
      </p:sp>
      <p:sp>
        <p:nvSpPr>
          <p:cNvPr id="27" name="Text 25"/>
          <p:cNvSpPr txBox="1"/>
          <p:nvPr/>
        </p:nvSpPr>
        <p:spPr>
          <a:xfrm>
            <a:off x="1325880" y="5394960"/>
            <a:ext cx="301752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Testing and delivery</a:t>
            </a:r>
            <a:endParaRPr lang="en-US" sz="1500" dirty="0"/>
          </a:p>
        </p:txBody>
      </p:sp>
      <p:sp>
        <p:nvSpPr>
          <p:cNvPr id="28" name="Text 26"/>
          <p:cNvSpPr txBox="1"/>
          <p:nvPr/>
        </p:nvSpPr>
        <p:spPr>
          <a:xfrm>
            <a:off x="1325880" y="5696712"/>
            <a:ext cx="10058400" cy="310896"/>
          </a:xfrm>
          <a:prstGeom prst="rect">
            <a:avLst/>
          </a:prstGeom>
          <a:noFill/>
          <a:ln/>
        </p:spPr>
        <p:txBody>
          <a:bodyPr wrap="square" lIns="0" tIns="0" rIns="0" bIns="0" rtlCol="0" anchor="ctr"/>
          <a:lstStyle/>
          <a:p>
            <a:pPr indent="0" marL="0">
              <a:buNone/>
            </a:pPr>
            <a:r>
              <a:rPr lang="en-US" sz="1150" dirty="0">
                <a:solidFill>
                  <a:srgbClr val="6B7177"/>
                </a:solidFill>
                <a:latin typeface="Arial" pitchFamily="34" charset="0"/>
                <a:ea typeface="Arial" pitchFamily="34" charset="-122"/>
                <a:cs typeface="Arial" pitchFamily="34" charset="-120"/>
              </a:rPr>
              <a:t>How the chain was exercised, what shipped, and how it is tuned in production.</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24272A"/>
        </a:solidFill>
      </p:bgPr>
    </p:bg>
    <p:spTree>
      <p:nvGrpSpPr>
        <p:cNvPr id="1" name=""/>
        <p:cNvGrpSpPr/>
        <p:nvPr/>
      </p:nvGrpSpPr>
      <p:grpSpPr>
        <a:xfrm>
          <a:off x="0" y="0"/>
          <a:ext cx="0" cy="0"/>
          <a:chOff x="0" y="0"/>
          <a:chExt cx="0" cy="0"/>
        </a:xfrm>
      </p:grpSpPr>
      <p:sp>
        <p:nvSpPr>
          <p:cNvPr id="2" name="Shape 0"/>
          <p:cNvSpPr/>
          <p:nvPr/>
        </p:nvSpPr>
        <p:spPr>
          <a:xfrm>
            <a:off x="457200" y="2331720"/>
            <a:ext cx="566928" cy="566928"/>
          </a:xfrm>
          <a:prstGeom prst="roundRect">
            <a:avLst>
              <a:gd name="adj" fmla="val 25806"/>
            </a:avLst>
          </a:prstGeom>
          <a:solidFill>
            <a:srgbClr val="E31837"/>
          </a:solidFill>
          <a:ln w="12700">
            <a:solidFill>
              <a:srgbClr val="333333"/>
            </a:solidFill>
            <a:prstDash val="solid"/>
          </a:ln>
        </p:spPr>
      </p:sp>
      <p:sp>
        <p:nvSpPr>
          <p:cNvPr id="3" name="Text 1"/>
          <p:cNvSpPr txBox="1"/>
          <p:nvPr/>
        </p:nvSpPr>
        <p:spPr>
          <a:xfrm>
            <a:off x="457200" y="23317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1</a:t>
            </a:r>
            <a:endParaRPr lang="en-US" sz="2200" dirty="0"/>
          </a:p>
        </p:txBody>
      </p:sp>
      <p:sp>
        <p:nvSpPr>
          <p:cNvPr id="4" name="Text 2"/>
          <p:cNvSpPr txBox="1"/>
          <p:nvPr/>
        </p:nvSpPr>
        <p:spPr>
          <a:xfrm>
            <a:off x="1207008" y="2304288"/>
            <a:ext cx="10424160" cy="65836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framework</a:t>
            </a:r>
            <a:endParaRPr lang="en-US" sz="3400" dirty="0"/>
          </a:p>
        </p:txBody>
      </p:sp>
      <p:sp>
        <p:nvSpPr>
          <p:cNvPr id="5" name="Text 3"/>
          <p:cNvSpPr txBox="1"/>
          <p:nvPr/>
        </p:nvSpPr>
        <p:spPr>
          <a:xfrm>
            <a:off x="1207008" y="3054096"/>
            <a:ext cx="6583680" cy="822960"/>
          </a:xfrm>
          <a:prstGeom prst="rect">
            <a:avLst/>
          </a:prstGeom>
          <a:noFill/>
          <a:ln/>
        </p:spPr>
        <p:txBody>
          <a:bodyPr wrap="square" lIns="0" tIns="0" rIns="0" bIns="0" rtlCol="0" anchor="t"/>
          <a:lstStyle/>
          <a:p>
            <a:pPr indent="0" marL="0">
              <a:buNone/>
            </a:pPr>
            <a:r>
              <a:rPr lang="en-US" sz="1350" dirty="0">
                <a:solidFill>
                  <a:srgbClr val="B9BEC3"/>
                </a:solidFill>
                <a:latin typeface="Arial" pitchFamily="34" charset="0"/>
                <a:ea typeface="Arial" pitchFamily="34" charset="-122"/>
                <a:cs typeface="Arial" pitchFamily="34" charset="-120"/>
              </a:rPr>
              <a:t>What the platform hands a lookup rule, what the rule owes back, and where the answer ends up.</a:t>
            </a:r>
            <a:endParaRPr lang="en-US" sz="1350" dirty="0"/>
          </a:p>
        </p:txBody>
      </p:sp>
      <p:sp>
        <p:nvSpPr>
          <p:cNvPr id="6" name="Shape 4"/>
          <p:cNvSpPr/>
          <p:nvPr/>
        </p:nvSpPr>
        <p:spPr>
          <a:xfrm>
            <a:off x="8275320" y="2423160"/>
            <a:ext cx="146304" cy="146304"/>
          </a:xfrm>
          <a:prstGeom prst="roundRect">
            <a:avLst>
              <a:gd name="adj" fmla="val 31250"/>
            </a:avLst>
          </a:prstGeom>
          <a:solidFill>
            <a:srgbClr val="E31837"/>
          </a:solidFill>
          <a:ln w="12700">
            <a:solidFill>
              <a:srgbClr val="333333"/>
            </a:solidFill>
            <a:prstDash val="solid"/>
          </a:ln>
        </p:spPr>
      </p:sp>
      <p:sp>
        <p:nvSpPr>
          <p:cNvPr id="7" name="Text 5"/>
          <p:cNvSpPr txBox="1"/>
          <p:nvPr/>
        </p:nvSpPr>
        <p:spPr>
          <a:xfrm>
            <a:off x="8577072" y="2340864"/>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From a scan to an accountable owner</a:t>
            </a:r>
            <a:endParaRPr lang="en-US" sz="1150" dirty="0"/>
          </a:p>
        </p:txBody>
      </p:sp>
      <p:sp>
        <p:nvSpPr>
          <p:cNvPr id="8" name="Shape 6"/>
          <p:cNvSpPr/>
          <p:nvPr/>
        </p:nvSpPr>
        <p:spPr>
          <a:xfrm>
            <a:off x="8275320" y="2825496"/>
            <a:ext cx="146304" cy="146304"/>
          </a:xfrm>
          <a:prstGeom prst="roundRect">
            <a:avLst>
              <a:gd name="adj" fmla="val 31250"/>
            </a:avLst>
          </a:prstGeom>
          <a:solidFill>
            <a:srgbClr val="E31837"/>
          </a:solidFill>
          <a:ln w="12700">
            <a:solidFill>
              <a:srgbClr val="333333"/>
            </a:solidFill>
            <a:prstDash val="solid"/>
          </a:ln>
        </p:spPr>
      </p:sp>
      <p:sp>
        <p:nvSpPr>
          <p:cNvPr id="9" name="Text 7"/>
          <p:cNvSpPr txBox="1"/>
          <p:nvPr/>
        </p:nvSpPr>
        <p:spPr>
          <a:xfrm>
            <a:off x="8577072" y="2743200"/>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What the platform hands a rule</a:t>
            </a:r>
            <a:endParaRPr lang="en-US" sz="1150" dirty="0"/>
          </a:p>
        </p:txBody>
      </p:sp>
      <p:sp>
        <p:nvSpPr>
          <p:cNvPr id="10" name="Shape 8"/>
          <p:cNvSpPr/>
          <p:nvPr/>
        </p:nvSpPr>
        <p:spPr>
          <a:xfrm>
            <a:off x="8275320" y="3227832"/>
            <a:ext cx="146304" cy="146304"/>
          </a:xfrm>
          <a:prstGeom prst="roundRect">
            <a:avLst>
              <a:gd name="adj" fmla="val 31250"/>
            </a:avLst>
          </a:prstGeom>
          <a:solidFill>
            <a:srgbClr val="E31837"/>
          </a:solidFill>
          <a:ln w="12700">
            <a:solidFill>
              <a:srgbClr val="333333"/>
            </a:solidFill>
            <a:prstDash val="solid"/>
          </a:ln>
        </p:spPr>
      </p:sp>
      <p:sp>
        <p:nvSpPr>
          <p:cNvPr id="11" name="Text 9"/>
          <p:cNvSpPr txBox="1"/>
          <p:nvPr/>
        </p:nvSpPr>
        <p:spPr>
          <a:xfrm>
            <a:off x="8577072" y="3145536"/>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What a rule owes back</a:t>
            </a:r>
            <a:endParaRPr lang="en-US" sz="1150" dirty="0"/>
          </a:p>
        </p:txBody>
      </p:sp>
      <p:sp>
        <p:nvSpPr>
          <p:cNvPr id="12" name="Shape 10"/>
          <p:cNvSpPr/>
          <p:nvPr/>
        </p:nvSpPr>
        <p:spPr>
          <a:xfrm>
            <a:off x="8275320" y="3630168"/>
            <a:ext cx="146304" cy="146304"/>
          </a:xfrm>
          <a:prstGeom prst="roundRect">
            <a:avLst>
              <a:gd name="adj" fmla="val 31250"/>
            </a:avLst>
          </a:prstGeom>
          <a:solidFill>
            <a:srgbClr val="E31837"/>
          </a:solidFill>
          <a:ln w="12700">
            <a:solidFill>
              <a:srgbClr val="333333"/>
            </a:solidFill>
            <a:prstDash val="solid"/>
          </a:ln>
        </p:spPr>
      </p:sp>
      <p:sp>
        <p:nvSpPr>
          <p:cNvPr id="13" name="Text 11"/>
          <p:cNvSpPr txBox="1"/>
          <p:nvPr/>
        </p:nvSpPr>
        <p:spPr>
          <a:xfrm>
            <a:off x="8577072" y="3547872"/>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The chain at a glance</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WHY CI LOOKUP MATTERS</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From a scan to an accountable owner</a:t>
            </a:r>
            <a:endParaRPr lang="en-US" sz="3000" dirty="0"/>
          </a:p>
        </p:txBody>
      </p:sp>
      <p:sp>
        <p:nvSpPr>
          <p:cNvPr id="4" name="Shape 2"/>
          <p:cNvSpPr/>
          <p:nvPr/>
        </p:nvSpPr>
        <p:spPr>
          <a:xfrm>
            <a:off x="457200" y="1481328"/>
            <a:ext cx="2139696" cy="2048256"/>
          </a:xfrm>
          <a:prstGeom prst="roundRect">
            <a:avLst>
              <a:gd name="adj" fmla="val 223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Shape 3"/>
          <p:cNvSpPr/>
          <p:nvPr/>
        </p:nvSpPr>
        <p:spPr>
          <a:xfrm>
            <a:off x="621792" y="1645920"/>
            <a:ext cx="402336" cy="402336"/>
          </a:xfrm>
          <a:prstGeom prst="roundRect">
            <a:avLst>
              <a:gd name="adj" fmla="val 36364"/>
            </a:avLst>
          </a:prstGeom>
          <a:solidFill>
            <a:srgbClr val="E31837"/>
          </a:solidFill>
          <a:ln w="12700">
            <a:solidFill>
              <a:srgbClr val="333333"/>
            </a:solidFill>
            <a:prstDash val="solid"/>
          </a:ln>
        </p:spPr>
      </p:sp>
      <p:sp>
        <p:nvSpPr>
          <p:cNvPr id="6" name="Text 4"/>
          <p:cNvSpPr txBox="1"/>
          <p:nvPr/>
        </p:nvSpPr>
        <p:spPr>
          <a:xfrm>
            <a:off x="621792" y="16459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621792" y="2139696"/>
            <a:ext cx="1810512" cy="475488"/>
          </a:xfrm>
          <a:prstGeom prst="rect">
            <a:avLst/>
          </a:prstGeom>
          <a:noFill/>
          <a:ln/>
        </p:spPr>
        <p:txBody>
          <a:bodyPr wrap="square" lIns="0" tIns="0" rIns="0" bIns="0" rtlCol="0" anchor="t"/>
          <a:lstStyle/>
          <a:p>
            <a:pPr indent="0" marL="0">
              <a:buNone/>
            </a:pPr>
            <a:r>
              <a:rPr lang="en-US" sz="1350" b="1" dirty="0">
                <a:solidFill>
                  <a:srgbClr val="24272A"/>
                </a:solidFill>
                <a:latin typeface="Arial" pitchFamily="34" charset="0"/>
                <a:ea typeface="Arial" pitchFamily="34" charset="-122"/>
                <a:cs typeface="Arial" pitchFamily="34" charset="-120"/>
              </a:rPr>
              <a:t>Qualys scan</a:t>
            </a:r>
            <a:endParaRPr lang="en-US" sz="1350" dirty="0"/>
          </a:p>
        </p:txBody>
      </p:sp>
      <p:sp>
        <p:nvSpPr>
          <p:cNvPr id="8" name="Text 6"/>
          <p:cNvSpPr txBox="1"/>
          <p:nvPr/>
        </p:nvSpPr>
        <p:spPr>
          <a:xfrm>
            <a:off x="621792" y="2633472"/>
            <a:ext cx="1810512" cy="109728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A host is scanned. Qualys reports its name, address, operating system and, sometimes, a serial.</a:t>
            </a:r>
            <a:endParaRPr lang="en-US" sz="1050" dirty="0"/>
          </a:p>
        </p:txBody>
      </p:sp>
      <p:sp>
        <p:nvSpPr>
          <p:cNvPr id="9" name="Text 7"/>
          <p:cNvSpPr txBox="1"/>
          <p:nvPr/>
        </p:nvSpPr>
        <p:spPr>
          <a:xfrm>
            <a:off x="2606040" y="2340864"/>
            <a:ext cx="128016" cy="274320"/>
          </a:xfrm>
          <a:prstGeom prst="rect">
            <a:avLst/>
          </a:prstGeom>
          <a:noFill/>
          <a:ln/>
        </p:spPr>
        <p:txBody>
          <a:bodyPr wrap="square" lIns="0" tIns="0" rIns="0" bIns="0" rtlCol="0" anchor="ctr"/>
          <a:lstStyle/>
          <a:p>
            <a:pPr algn="ctr" indent="0" marL="0">
              <a:buNone/>
            </a:pPr>
            <a:r>
              <a:rPr lang="en-US" sz="1400" b="1" dirty="0">
                <a:solidFill>
                  <a:srgbClr val="E31837"/>
                </a:solidFill>
                <a:latin typeface="Arial" pitchFamily="34" charset="0"/>
                <a:ea typeface="Arial" pitchFamily="34" charset="-122"/>
                <a:cs typeface="Arial" pitchFamily="34" charset="-120"/>
              </a:rPr>
              <a:t>&gt;</a:t>
            </a:r>
            <a:endParaRPr lang="en-US" sz="1400" dirty="0"/>
          </a:p>
        </p:txBody>
      </p:sp>
      <p:sp>
        <p:nvSpPr>
          <p:cNvPr id="10" name="Shape 8"/>
          <p:cNvSpPr/>
          <p:nvPr/>
        </p:nvSpPr>
        <p:spPr>
          <a:xfrm>
            <a:off x="2734056" y="1481328"/>
            <a:ext cx="2139696" cy="2048256"/>
          </a:xfrm>
          <a:prstGeom prst="roundRect">
            <a:avLst>
              <a:gd name="adj" fmla="val 223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Shape 9"/>
          <p:cNvSpPr/>
          <p:nvPr/>
        </p:nvSpPr>
        <p:spPr>
          <a:xfrm>
            <a:off x="2898648" y="1645920"/>
            <a:ext cx="402336" cy="402336"/>
          </a:xfrm>
          <a:prstGeom prst="roundRect">
            <a:avLst>
              <a:gd name="adj" fmla="val 36364"/>
            </a:avLst>
          </a:prstGeom>
          <a:solidFill>
            <a:srgbClr val="E31837"/>
          </a:solidFill>
          <a:ln w="12700">
            <a:solidFill>
              <a:srgbClr val="333333"/>
            </a:solidFill>
            <a:prstDash val="solid"/>
          </a:ln>
        </p:spPr>
      </p:sp>
      <p:sp>
        <p:nvSpPr>
          <p:cNvPr id="12" name="Text 10"/>
          <p:cNvSpPr txBox="1"/>
          <p:nvPr/>
        </p:nvSpPr>
        <p:spPr>
          <a:xfrm>
            <a:off x="2898648" y="16459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2898648" y="2139696"/>
            <a:ext cx="1810512" cy="475488"/>
          </a:xfrm>
          <a:prstGeom prst="rect">
            <a:avLst/>
          </a:prstGeom>
          <a:noFill/>
          <a:ln/>
        </p:spPr>
        <p:txBody>
          <a:bodyPr wrap="square" lIns="0" tIns="0" rIns="0" bIns="0" rtlCol="0" anchor="t"/>
          <a:lstStyle/>
          <a:p>
            <a:pPr indent="0" marL="0">
              <a:buNone/>
            </a:pPr>
            <a:r>
              <a:rPr lang="en-US" sz="1350" b="1" dirty="0">
                <a:solidFill>
                  <a:srgbClr val="24272A"/>
                </a:solidFill>
                <a:latin typeface="Arial" pitchFamily="34" charset="0"/>
                <a:ea typeface="Arial" pitchFamily="34" charset="-122"/>
                <a:cs typeface="Arial" pitchFamily="34" charset="-120"/>
              </a:rPr>
              <a:t>Discovered Item</a:t>
            </a:r>
            <a:endParaRPr lang="en-US" sz="1350" dirty="0"/>
          </a:p>
        </p:txBody>
      </p:sp>
      <p:sp>
        <p:nvSpPr>
          <p:cNvPr id="14" name="Text 12"/>
          <p:cNvSpPr txBox="1"/>
          <p:nvPr/>
        </p:nvSpPr>
        <p:spPr>
          <a:xfrm>
            <a:off x="2898648" y="2633472"/>
            <a:ext cx="1810512" cy="109728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The integration writes one row per scanned host, carrying the raw payload as source data.</a:t>
            </a:r>
            <a:endParaRPr lang="en-US" sz="1050" dirty="0"/>
          </a:p>
        </p:txBody>
      </p:sp>
      <p:sp>
        <p:nvSpPr>
          <p:cNvPr id="15" name="Text 13"/>
          <p:cNvSpPr txBox="1"/>
          <p:nvPr/>
        </p:nvSpPr>
        <p:spPr>
          <a:xfrm>
            <a:off x="4882896" y="2340864"/>
            <a:ext cx="128016" cy="274320"/>
          </a:xfrm>
          <a:prstGeom prst="rect">
            <a:avLst/>
          </a:prstGeom>
          <a:noFill/>
          <a:ln/>
        </p:spPr>
        <p:txBody>
          <a:bodyPr wrap="square" lIns="0" tIns="0" rIns="0" bIns="0" rtlCol="0" anchor="ctr"/>
          <a:lstStyle/>
          <a:p>
            <a:pPr algn="ctr" indent="0" marL="0">
              <a:buNone/>
            </a:pPr>
            <a:r>
              <a:rPr lang="en-US" sz="1400" b="1" dirty="0">
                <a:solidFill>
                  <a:srgbClr val="E31837"/>
                </a:solidFill>
                <a:latin typeface="Arial" pitchFamily="34" charset="0"/>
                <a:ea typeface="Arial" pitchFamily="34" charset="-122"/>
                <a:cs typeface="Arial" pitchFamily="34" charset="-120"/>
              </a:rPr>
              <a:t>&gt;</a:t>
            </a:r>
            <a:endParaRPr lang="en-US" sz="1400" dirty="0"/>
          </a:p>
        </p:txBody>
      </p:sp>
      <p:sp>
        <p:nvSpPr>
          <p:cNvPr id="16" name="Shape 14"/>
          <p:cNvSpPr/>
          <p:nvPr/>
        </p:nvSpPr>
        <p:spPr>
          <a:xfrm>
            <a:off x="5010912" y="1481328"/>
            <a:ext cx="2139696" cy="2048256"/>
          </a:xfrm>
          <a:prstGeom prst="roundRect">
            <a:avLst>
              <a:gd name="adj" fmla="val 223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7" name="Shape 15"/>
          <p:cNvSpPr/>
          <p:nvPr/>
        </p:nvSpPr>
        <p:spPr>
          <a:xfrm>
            <a:off x="5175504" y="1645920"/>
            <a:ext cx="402336" cy="402336"/>
          </a:xfrm>
          <a:prstGeom prst="roundRect">
            <a:avLst>
              <a:gd name="adj" fmla="val 36364"/>
            </a:avLst>
          </a:prstGeom>
          <a:solidFill>
            <a:srgbClr val="E31837"/>
          </a:solidFill>
          <a:ln w="12700">
            <a:solidFill>
              <a:srgbClr val="333333"/>
            </a:solidFill>
            <a:prstDash val="solid"/>
          </a:ln>
        </p:spPr>
      </p:sp>
      <p:sp>
        <p:nvSpPr>
          <p:cNvPr id="18" name="Text 16"/>
          <p:cNvSpPr txBox="1"/>
          <p:nvPr/>
        </p:nvSpPr>
        <p:spPr>
          <a:xfrm>
            <a:off x="5175504" y="16459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9" name="Text 17"/>
          <p:cNvSpPr txBox="1"/>
          <p:nvPr/>
        </p:nvSpPr>
        <p:spPr>
          <a:xfrm>
            <a:off x="5175504" y="2139696"/>
            <a:ext cx="1810512" cy="475488"/>
          </a:xfrm>
          <a:prstGeom prst="rect">
            <a:avLst/>
          </a:prstGeom>
          <a:noFill/>
          <a:ln/>
        </p:spPr>
        <p:txBody>
          <a:bodyPr wrap="square" lIns="0" tIns="0" rIns="0" bIns="0" rtlCol="0" anchor="t"/>
          <a:lstStyle/>
          <a:p>
            <a:pPr indent="0" marL="0">
              <a:buNone/>
            </a:pPr>
            <a:r>
              <a:rPr lang="en-US" sz="1350" b="1" dirty="0">
                <a:solidFill>
                  <a:srgbClr val="24272A"/>
                </a:solidFill>
                <a:latin typeface="Arial" pitchFamily="34" charset="0"/>
                <a:ea typeface="Arial" pitchFamily="34" charset="-122"/>
                <a:cs typeface="Arial" pitchFamily="34" charset="-120"/>
              </a:rPr>
              <a:t>CI lookup chain</a:t>
            </a:r>
            <a:endParaRPr lang="en-US" sz="1350" dirty="0"/>
          </a:p>
        </p:txBody>
      </p:sp>
      <p:sp>
        <p:nvSpPr>
          <p:cNvPr id="20" name="Text 18"/>
          <p:cNvSpPr txBox="1"/>
          <p:nvPr/>
        </p:nvSpPr>
        <p:spPr>
          <a:xfrm>
            <a:off x="5175504" y="2633472"/>
            <a:ext cx="1810512" cy="109728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Rules run in order against that payload. The first rule to return a CI wins.</a:t>
            </a:r>
            <a:endParaRPr lang="en-US" sz="1050" dirty="0"/>
          </a:p>
        </p:txBody>
      </p:sp>
      <p:sp>
        <p:nvSpPr>
          <p:cNvPr id="21" name="Text 19"/>
          <p:cNvSpPr txBox="1"/>
          <p:nvPr/>
        </p:nvSpPr>
        <p:spPr>
          <a:xfrm>
            <a:off x="7159752" y="2340864"/>
            <a:ext cx="128016" cy="274320"/>
          </a:xfrm>
          <a:prstGeom prst="rect">
            <a:avLst/>
          </a:prstGeom>
          <a:noFill/>
          <a:ln/>
        </p:spPr>
        <p:txBody>
          <a:bodyPr wrap="square" lIns="0" tIns="0" rIns="0" bIns="0" rtlCol="0" anchor="ctr"/>
          <a:lstStyle/>
          <a:p>
            <a:pPr algn="ctr" indent="0" marL="0">
              <a:buNone/>
            </a:pPr>
            <a:r>
              <a:rPr lang="en-US" sz="1400" b="1" dirty="0">
                <a:solidFill>
                  <a:srgbClr val="E31837"/>
                </a:solidFill>
                <a:latin typeface="Arial" pitchFamily="34" charset="0"/>
                <a:ea typeface="Arial" pitchFamily="34" charset="-122"/>
                <a:cs typeface="Arial" pitchFamily="34" charset="-120"/>
              </a:rPr>
              <a:t>&gt;</a:t>
            </a:r>
            <a:endParaRPr lang="en-US" sz="1400" dirty="0"/>
          </a:p>
        </p:txBody>
      </p:sp>
      <p:sp>
        <p:nvSpPr>
          <p:cNvPr id="22" name="Shape 20"/>
          <p:cNvSpPr/>
          <p:nvPr/>
        </p:nvSpPr>
        <p:spPr>
          <a:xfrm>
            <a:off x="7287768" y="1481328"/>
            <a:ext cx="2139696" cy="2048256"/>
          </a:xfrm>
          <a:prstGeom prst="roundRect">
            <a:avLst>
              <a:gd name="adj" fmla="val 223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3" name="Shape 21"/>
          <p:cNvSpPr/>
          <p:nvPr/>
        </p:nvSpPr>
        <p:spPr>
          <a:xfrm>
            <a:off x="7452360" y="1645920"/>
            <a:ext cx="402336" cy="402336"/>
          </a:xfrm>
          <a:prstGeom prst="roundRect">
            <a:avLst>
              <a:gd name="adj" fmla="val 36364"/>
            </a:avLst>
          </a:prstGeom>
          <a:solidFill>
            <a:srgbClr val="E31837"/>
          </a:solidFill>
          <a:ln w="12700">
            <a:solidFill>
              <a:srgbClr val="333333"/>
            </a:solidFill>
            <a:prstDash val="solid"/>
          </a:ln>
        </p:spPr>
      </p:sp>
      <p:sp>
        <p:nvSpPr>
          <p:cNvPr id="24" name="Text 22"/>
          <p:cNvSpPr txBox="1"/>
          <p:nvPr/>
        </p:nvSpPr>
        <p:spPr>
          <a:xfrm>
            <a:off x="7452360" y="16459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5" name="Text 23"/>
          <p:cNvSpPr txBox="1"/>
          <p:nvPr/>
        </p:nvSpPr>
        <p:spPr>
          <a:xfrm>
            <a:off x="7452360" y="2139696"/>
            <a:ext cx="1810512" cy="475488"/>
          </a:xfrm>
          <a:prstGeom prst="rect">
            <a:avLst/>
          </a:prstGeom>
          <a:noFill/>
          <a:ln/>
        </p:spPr>
        <p:txBody>
          <a:bodyPr wrap="square" lIns="0" tIns="0" rIns="0" bIns="0" rtlCol="0" anchor="t"/>
          <a:lstStyle/>
          <a:p>
            <a:pPr indent="0" marL="0">
              <a:buNone/>
            </a:pPr>
            <a:r>
              <a:rPr lang="en-US" sz="1350" b="1" dirty="0">
                <a:solidFill>
                  <a:srgbClr val="24272A"/>
                </a:solidFill>
                <a:latin typeface="Arial" pitchFamily="34" charset="0"/>
                <a:ea typeface="Arial" pitchFamily="34" charset="-122"/>
                <a:cs typeface="Arial" pitchFamily="34" charset="-120"/>
              </a:rPr>
              <a:t>Configuration item</a:t>
            </a:r>
            <a:endParaRPr lang="en-US" sz="1350" dirty="0"/>
          </a:p>
        </p:txBody>
      </p:sp>
      <p:sp>
        <p:nvSpPr>
          <p:cNvPr id="26" name="Text 24"/>
          <p:cNvSpPr txBox="1"/>
          <p:nvPr/>
        </p:nvSpPr>
        <p:spPr>
          <a:xfrm>
            <a:off x="7452360" y="2633472"/>
            <a:ext cx="1810512" cy="109728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The Discovered Item turns from unmatched to matched and points at a real CMDB record.</a:t>
            </a:r>
            <a:endParaRPr lang="en-US" sz="1050" dirty="0"/>
          </a:p>
        </p:txBody>
      </p:sp>
      <p:sp>
        <p:nvSpPr>
          <p:cNvPr id="27" name="Text 25"/>
          <p:cNvSpPr txBox="1"/>
          <p:nvPr/>
        </p:nvSpPr>
        <p:spPr>
          <a:xfrm>
            <a:off x="9436608" y="2340864"/>
            <a:ext cx="128016" cy="274320"/>
          </a:xfrm>
          <a:prstGeom prst="rect">
            <a:avLst/>
          </a:prstGeom>
          <a:noFill/>
          <a:ln/>
        </p:spPr>
        <p:txBody>
          <a:bodyPr wrap="square" lIns="0" tIns="0" rIns="0" bIns="0" rtlCol="0" anchor="ctr"/>
          <a:lstStyle/>
          <a:p>
            <a:pPr algn="ctr" indent="0" marL="0">
              <a:buNone/>
            </a:pPr>
            <a:r>
              <a:rPr lang="en-US" sz="1400" b="1" dirty="0">
                <a:solidFill>
                  <a:srgbClr val="E31837"/>
                </a:solidFill>
                <a:latin typeface="Arial" pitchFamily="34" charset="0"/>
                <a:ea typeface="Arial" pitchFamily="34" charset="-122"/>
                <a:cs typeface="Arial" pitchFamily="34" charset="-120"/>
              </a:rPr>
              <a:t>&gt;</a:t>
            </a:r>
            <a:endParaRPr lang="en-US" sz="1400" dirty="0"/>
          </a:p>
        </p:txBody>
      </p:sp>
      <p:sp>
        <p:nvSpPr>
          <p:cNvPr id="28" name="Shape 26"/>
          <p:cNvSpPr/>
          <p:nvPr/>
        </p:nvSpPr>
        <p:spPr>
          <a:xfrm>
            <a:off x="9564624" y="1481328"/>
            <a:ext cx="2139696" cy="2048256"/>
          </a:xfrm>
          <a:prstGeom prst="roundRect">
            <a:avLst>
              <a:gd name="adj" fmla="val 223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9" name="Shape 27"/>
          <p:cNvSpPr/>
          <p:nvPr/>
        </p:nvSpPr>
        <p:spPr>
          <a:xfrm>
            <a:off x="9729216" y="1645920"/>
            <a:ext cx="402336" cy="402336"/>
          </a:xfrm>
          <a:prstGeom prst="roundRect">
            <a:avLst>
              <a:gd name="adj" fmla="val 36364"/>
            </a:avLst>
          </a:prstGeom>
          <a:solidFill>
            <a:srgbClr val="E31837"/>
          </a:solidFill>
          <a:ln w="12700">
            <a:solidFill>
              <a:srgbClr val="333333"/>
            </a:solidFill>
            <a:prstDash val="solid"/>
          </a:ln>
        </p:spPr>
      </p:sp>
      <p:sp>
        <p:nvSpPr>
          <p:cNvPr id="30" name="Text 28"/>
          <p:cNvSpPr txBox="1"/>
          <p:nvPr/>
        </p:nvSpPr>
        <p:spPr>
          <a:xfrm>
            <a:off x="9729216" y="164592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1" name="Text 29"/>
          <p:cNvSpPr txBox="1"/>
          <p:nvPr/>
        </p:nvSpPr>
        <p:spPr>
          <a:xfrm>
            <a:off x="9729216" y="2139696"/>
            <a:ext cx="1810512" cy="475488"/>
          </a:xfrm>
          <a:prstGeom prst="rect">
            <a:avLst/>
          </a:prstGeom>
          <a:noFill/>
          <a:ln/>
        </p:spPr>
        <p:txBody>
          <a:bodyPr wrap="square" lIns="0" tIns="0" rIns="0" bIns="0" rtlCol="0" anchor="t"/>
          <a:lstStyle/>
          <a:p>
            <a:pPr indent="0" marL="0">
              <a:buNone/>
            </a:pPr>
            <a:r>
              <a:rPr lang="en-US" sz="1350" b="1" dirty="0">
                <a:solidFill>
                  <a:srgbClr val="24272A"/>
                </a:solidFill>
                <a:latin typeface="Arial" pitchFamily="34" charset="0"/>
                <a:ea typeface="Arial" pitchFamily="34" charset="-122"/>
                <a:cs typeface="Arial" pitchFamily="34" charset="-120"/>
              </a:rPr>
              <a:t>Owner and remediation</a:t>
            </a:r>
            <a:endParaRPr lang="en-US" sz="1350" dirty="0"/>
          </a:p>
        </p:txBody>
      </p:sp>
      <p:sp>
        <p:nvSpPr>
          <p:cNvPr id="32" name="Text 30"/>
          <p:cNvSpPr txBox="1"/>
          <p:nvPr/>
        </p:nvSpPr>
        <p:spPr>
          <a:xfrm>
            <a:off x="9729216" y="2633472"/>
            <a:ext cx="1810512" cy="109728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Findings inherit the CI, its primary application, and with it the accountable owner.</a:t>
            </a:r>
            <a:endParaRPr lang="en-US" sz="1050" dirty="0"/>
          </a:p>
        </p:txBody>
      </p:sp>
      <p:sp>
        <p:nvSpPr>
          <p:cNvPr id="33" name="Shape 31"/>
          <p:cNvSpPr/>
          <p:nvPr/>
        </p:nvSpPr>
        <p:spPr>
          <a:xfrm>
            <a:off x="457200" y="3785616"/>
            <a:ext cx="11274552"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4" name="Text 32"/>
          <p:cNvSpPr txBox="1"/>
          <p:nvPr/>
        </p:nvSpPr>
        <p:spPr>
          <a:xfrm>
            <a:off x="731520" y="3950208"/>
            <a:ext cx="1069848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Everything downstream depends on this one decision</a:t>
            </a:r>
            <a:endParaRPr lang="en-US" sz="1500" dirty="0"/>
          </a:p>
        </p:txBody>
      </p:sp>
      <p:sp>
        <p:nvSpPr>
          <p:cNvPr id="35" name="Text 33"/>
          <p:cNvSpPr txBox="1"/>
          <p:nvPr/>
        </p:nvSpPr>
        <p:spPr>
          <a:xfrm>
            <a:off x="731520" y="4297680"/>
            <a:ext cx="10698480" cy="786384"/>
          </a:xfrm>
          <a:prstGeom prst="rect">
            <a:avLst/>
          </a:prstGeom>
          <a:noFill/>
          <a:ln/>
        </p:spPr>
        <p:txBody>
          <a:bodyPr wrap="square" lIns="0" tIns="0" rIns="0" bIns="0" rtlCol="0" anchor="t"/>
          <a:lstStyle/>
          <a:p>
            <a:pPr indent="0" marL="0">
              <a:buNone/>
            </a:pPr>
            <a:r>
              <a:rPr lang="en-US" sz="1150" b="1" dirty="0">
                <a:solidFill>
                  <a:srgbClr val="24272A"/>
                </a:solidFill>
                <a:latin typeface="Arial" pitchFamily="34" charset="0"/>
                <a:ea typeface="Arial" pitchFamily="34" charset="-122"/>
                <a:cs typeface="Arial" pitchFamily="34" charset="-120"/>
              </a:rPr>
              <a:t>A wrong CI is worse than no CI. </a:t>
            </a:r>
            <a:pPr indent="0" marL="0">
              <a:buNone/>
            </a:pPr>
            <a:r>
              <a:rPr lang="en-US" sz="1150" dirty="0">
                <a:solidFill>
                  <a:srgbClr val="6B7177"/>
                </a:solidFill>
                <a:latin typeface="Arial" pitchFamily="34" charset="0"/>
                <a:ea typeface="Arial" pitchFamily="34" charset="-122"/>
                <a:cs typeface="Arial" pitchFamily="34" charset="-120"/>
              </a:rPr>
              <a:t>An unmatched host stays visible on the exception report and gets chased. A host matched to the wrong CI silently sends its findings to the wrong application owner, who has no way to tell the difference. Every rule in the chain is therefore written to decline rather than guess: it returns a CI only when exactly one candidate survives its evidence, and hands the host on otherwise.</a:t>
            </a:r>
            <a:endParaRPr lang="en-US" sz="1150" dirty="0"/>
          </a:p>
        </p:txBody>
      </p:sp>
      <p:sp>
        <p:nvSpPr>
          <p:cNvPr id="36" name="Text 34"/>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Discovered Items live on sn_sec_cmn_src_ci; vulnerable items reach them through the src_ci reference.</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THE INPUT</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What the platform hands a rule</a:t>
            </a:r>
            <a:endParaRPr lang="en-US" sz="3000" dirty="0"/>
          </a:p>
        </p:txBody>
      </p:sp>
      <p:sp>
        <p:nvSpPr>
          <p:cNvPr id="4" name="Shape 2"/>
          <p:cNvSpPr/>
          <p:nvPr/>
        </p:nvSpPr>
        <p:spPr>
          <a:xfrm>
            <a:off x="457200" y="1444752"/>
            <a:ext cx="5532120" cy="2148840"/>
          </a:xfrm>
          <a:prstGeom prst="roundRect">
            <a:avLst>
              <a:gd name="adj" fmla="val 212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Text 3"/>
          <p:cNvSpPr txBox="1"/>
          <p:nvPr/>
        </p:nvSpPr>
        <p:spPr>
          <a:xfrm>
            <a:off x="685800" y="1572768"/>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The entry point</a:t>
            </a:r>
            <a:endParaRPr lang="en-US" sz="1400" dirty="0"/>
          </a:p>
        </p:txBody>
      </p:sp>
      <p:sp>
        <p:nvSpPr>
          <p:cNvPr id="6" name="Shape 4"/>
          <p:cNvSpPr/>
          <p:nvPr/>
        </p:nvSpPr>
        <p:spPr>
          <a:xfrm>
            <a:off x="685800" y="1920240"/>
            <a:ext cx="5074920" cy="1481328"/>
          </a:xfrm>
          <a:prstGeom prst="roundRect">
            <a:avLst>
              <a:gd name="adj" fmla="val 2469"/>
            </a:avLst>
          </a:prstGeom>
          <a:solidFill>
            <a:srgbClr val="1E2124"/>
          </a:solidFill>
          <a:ln w="12700">
            <a:solidFill>
              <a:srgbClr val="1E2124"/>
            </a:solidFill>
            <a:prstDash val="solid"/>
          </a:ln>
        </p:spPr>
      </p:sp>
      <p:sp>
        <p:nvSpPr>
          <p:cNvPr id="7" name="Text 5"/>
          <p:cNvSpPr txBox="1"/>
          <p:nvPr/>
        </p:nvSpPr>
        <p:spPr>
          <a:xfrm>
            <a:off x="795528" y="1993392"/>
            <a:ext cx="4855464" cy="1335024"/>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(function process(rule, sourceValue, sourcePayload)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rule          the lookup rule record itself</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sourceValue   the field named in Source field</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sourcePayload the whole scanned host record</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})(rule, sourceValue, sourcePayload);</a:t>
            </a:r>
            <a:endParaRPr lang="en-US" sz="900" dirty="0"/>
          </a:p>
        </p:txBody>
      </p:sp>
      <p:sp>
        <p:nvSpPr>
          <p:cNvPr id="8" name="Shape 6"/>
          <p:cNvSpPr/>
          <p:nvPr/>
        </p:nvSpPr>
        <p:spPr>
          <a:xfrm>
            <a:off x="6199632" y="1444752"/>
            <a:ext cx="5532120" cy="2148840"/>
          </a:xfrm>
          <a:prstGeom prst="roundRect">
            <a:avLst>
              <a:gd name="adj" fmla="val 212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Text 7"/>
          <p:cNvSpPr txBox="1"/>
          <p:nvPr/>
        </p:nvSpPr>
        <p:spPr>
          <a:xfrm>
            <a:off x="6428232" y="1572768"/>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The payload of one scanned host</a:t>
            </a:r>
            <a:endParaRPr lang="en-US" sz="1400" dirty="0"/>
          </a:p>
        </p:txBody>
      </p:sp>
      <p:sp>
        <p:nvSpPr>
          <p:cNvPr id="10" name="Shape 8"/>
          <p:cNvSpPr/>
          <p:nvPr/>
        </p:nvSpPr>
        <p:spPr>
          <a:xfrm>
            <a:off x="6428232" y="1920240"/>
            <a:ext cx="5074920" cy="1481328"/>
          </a:xfrm>
          <a:prstGeom prst="roundRect">
            <a:avLst>
              <a:gd name="adj" fmla="val 2469"/>
            </a:avLst>
          </a:prstGeom>
          <a:solidFill>
            <a:srgbClr val="1E2124"/>
          </a:solidFill>
          <a:ln w="12700">
            <a:solidFill>
              <a:srgbClr val="1E2124"/>
            </a:solidFill>
            <a:prstDash val="solid"/>
          </a:ln>
        </p:spPr>
      </p:sp>
      <p:sp>
        <p:nvSpPr>
          <p:cNvPr id="11" name="Text 9"/>
          <p:cNvSpPr txBox="1"/>
          <p:nvPr/>
        </p:nvSpPr>
        <p:spPr>
          <a:xfrm>
            <a:off x="6537960" y="1993392"/>
            <a:ext cx="4855464" cy="1335024"/>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"ID": "35832680",</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"IP": "171.128.225.96",</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"DNS": "ah-1047132-001.corp.example.com",</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"NETBIOS": "AH-1047132-001",</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"OS": "Red Hat Enterprise Linux 9.8",</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"TRACKING_METHOD": "AGENT",</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"SERIAL_NUMBER": "VMware-42 1a 9c ..." }</a:t>
            </a:r>
            <a:endParaRPr lang="en-US" sz="900" dirty="0"/>
          </a:p>
        </p:txBody>
      </p:sp>
      <p:sp>
        <p:nvSpPr>
          <p:cNvPr id="12" name="Text 10"/>
          <p:cNvSpPr txBox="1"/>
          <p:nvPr/>
        </p:nvSpPr>
        <p:spPr>
          <a:xfrm>
            <a:off x="457200" y="3785616"/>
            <a:ext cx="54864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What each field is used for</a:t>
            </a:r>
            <a:endParaRPr lang="en-US" sz="1400" dirty="0"/>
          </a:p>
        </p:txBody>
      </p:sp>
      <p:sp>
        <p:nvSpPr>
          <p:cNvPr id="13" name="Shape 11"/>
          <p:cNvSpPr/>
          <p:nvPr/>
        </p:nvSpPr>
        <p:spPr>
          <a:xfrm>
            <a:off x="457200" y="4133088"/>
            <a:ext cx="11274552" cy="493776"/>
          </a:xfrm>
          <a:prstGeom prst="roundRect">
            <a:avLst>
              <a:gd name="adj" fmla="val 9259"/>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Text 12"/>
          <p:cNvSpPr txBox="1"/>
          <p:nvPr/>
        </p:nvSpPr>
        <p:spPr>
          <a:xfrm>
            <a:off x="640080" y="4187952"/>
            <a:ext cx="1920240" cy="384048"/>
          </a:xfrm>
          <a:prstGeom prst="rect">
            <a:avLst/>
          </a:prstGeom>
          <a:noFill/>
          <a:ln/>
        </p:spPr>
        <p:txBody>
          <a:bodyPr wrap="square" lIns="0" tIns="0" rIns="0" bIns="0" rtlCol="0" anchor="ctr"/>
          <a:lstStyle/>
          <a:p>
            <a:pPr indent="0" marL="0">
              <a:buNone/>
            </a:pPr>
            <a:r>
              <a:rPr lang="en-US" sz="1050" b="1" dirty="0">
                <a:solidFill>
                  <a:srgbClr val="E31837"/>
                </a:solidFill>
                <a:latin typeface="Courier New" pitchFamily="34" charset="0"/>
                <a:ea typeface="Courier New" pitchFamily="34" charset="-122"/>
                <a:cs typeface="Courier New" pitchFamily="34" charset="-120"/>
              </a:rPr>
              <a:t>SERIAL_NUMBER</a:t>
            </a:r>
            <a:endParaRPr lang="en-US" sz="1050" dirty="0"/>
          </a:p>
        </p:txBody>
      </p:sp>
      <p:sp>
        <p:nvSpPr>
          <p:cNvPr id="15" name="Text 13"/>
          <p:cNvSpPr txBox="1"/>
          <p:nvPr/>
        </p:nvSpPr>
        <p:spPr>
          <a:xfrm>
            <a:off x="2606040" y="4187952"/>
            <a:ext cx="2834640" cy="384048"/>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Serial rules</a:t>
            </a:r>
            <a:endParaRPr lang="en-US" sz="1050" dirty="0"/>
          </a:p>
        </p:txBody>
      </p:sp>
      <p:sp>
        <p:nvSpPr>
          <p:cNvPr id="16" name="Text 14"/>
          <p:cNvSpPr txBox="1"/>
          <p:nvPr/>
        </p:nvSpPr>
        <p:spPr>
          <a:xfrm>
            <a:off x="5532120" y="4187952"/>
            <a:ext cx="6035040" cy="384048"/>
          </a:xfrm>
          <a:prstGeom prst="rect">
            <a:avLst/>
          </a:prstGeom>
          <a:noFill/>
          <a:ln/>
        </p:spPr>
        <p:txBody>
          <a:bodyPr wrap="square" lIns="0" tIns="0" rIns="0" bIns="0" rtlCol="0" anchor="ctr"/>
          <a:lstStyle/>
          <a:p>
            <a:pPr indent="0" marL="0">
              <a:buNone/>
            </a:pPr>
            <a:r>
              <a:rPr lang="en-US" sz="1050" dirty="0">
                <a:solidFill>
                  <a:srgbClr val="6B7177"/>
                </a:solidFill>
                <a:latin typeface="Arial" pitchFamily="34" charset="0"/>
                <a:ea typeface="Arial" pitchFamily="34" charset="-122"/>
                <a:cs typeface="Arial" pitchFamily="34" charset="-120"/>
              </a:rPr>
              <a:t>Strongest identifier, but only 0.3% of the backlog carries one.</a:t>
            </a:r>
            <a:endParaRPr lang="en-US" sz="1050" dirty="0"/>
          </a:p>
        </p:txBody>
      </p:sp>
      <p:sp>
        <p:nvSpPr>
          <p:cNvPr id="17" name="Shape 15"/>
          <p:cNvSpPr/>
          <p:nvPr/>
        </p:nvSpPr>
        <p:spPr>
          <a:xfrm>
            <a:off x="457200" y="4700016"/>
            <a:ext cx="11274552" cy="493776"/>
          </a:xfrm>
          <a:prstGeom prst="roundRect">
            <a:avLst>
              <a:gd name="adj" fmla="val 9259"/>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8" name="Text 16"/>
          <p:cNvSpPr txBox="1"/>
          <p:nvPr/>
        </p:nvSpPr>
        <p:spPr>
          <a:xfrm>
            <a:off x="640080" y="4754880"/>
            <a:ext cx="1920240" cy="384048"/>
          </a:xfrm>
          <a:prstGeom prst="rect">
            <a:avLst/>
          </a:prstGeom>
          <a:noFill/>
          <a:ln/>
        </p:spPr>
        <p:txBody>
          <a:bodyPr wrap="square" lIns="0" tIns="0" rIns="0" bIns="0" rtlCol="0" anchor="ctr"/>
          <a:lstStyle/>
          <a:p>
            <a:pPr indent="0" marL="0">
              <a:buNone/>
            </a:pPr>
            <a:r>
              <a:rPr lang="en-US" sz="1050" b="1" dirty="0">
                <a:solidFill>
                  <a:srgbClr val="E31837"/>
                </a:solidFill>
                <a:latin typeface="Courier New" pitchFamily="34" charset="0"/>
                <a:ea typeface="Courier New" pitchFamily="34" charset="-122"/>
                <a:cs typeface="Courier New" pitchFamily="34" charset="-120"/>
              </a:rPr>
              <a:t>DNS</a:t>
            </a:r>
            <a:endParaRPr lang="en-US" sz="1050" dirty="0"/>
          </a:p>
        </p:txBody>
      </p:sp>
      <p:sp>
        <p:nvSpPr>
          <p:cNvPr id="19" name="Text 17"/>
          <p:cNvSpPr txBox="1"/>
          <p:nvPr/>
        </p:nvSpPr>
        <p:spPr>
          <a:xfrm>
            <a:off x="2606040" y="4754880"/>
            <a:ext cx="2834640" cy="384048"/>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Name rules and the three new rules</a:t>
            </a:r>
            <a:endParaRPr lang="en-US" sz="1050" dirty="0"/>
          </a:p>
        </p:txBody>
      </p:sp>
      <p:sp>
        <p:nvSpPr>
          <p:cNvPr id="20" name="Text 18"/>
          <p:cNvSpPr txBox="1"/>
          <p:nvPr/>
        </p:nvSpPr>
        <p:spPr>
          <a:xfrm>
            <a:off x="5532120" y="4754880"/>
            <a:ext cx="6035040" cy="384048"/>
          </a:xfrm>
          <a:prstGeom prst="rect">
            <a:avLst/>
          </a:prstGeom>
          <a:noFill/>
          <a:ln/>
        </p:spPr>
        <p:txBody>
          <a:bodyPr wrap="square" lIns="0" tIns="0" rIns="0" bIns="0" rtlCol="0" anchor="ctr"/>
          <a:lstStyle/>
          <a:p>
            <a:pPr indent="0" marL="0">
              <a:buNone/>
            </a:pPr>
            <a:r>
              <a:rPr lang="en-US" sz="1050" dirty="0">
                <a:solidFill>
                  <a:srgbClr val="6B7177"/>
                </a:solidFill>
                <a:latin typeface="Arial" pitchFamily="34" charset="0"/>
                <a:ea typeface="Arial" pitchFamily="34" charset="-122"/>
                <a:cs typeface="Arial" pitchFamily="34" charset="-120"/>
              </a:rPr>
              <a:t>Present on 85.9% of hosts. Carries the hostname, the domain, and often the device role.</a:t>
            </a:r>
            <a:endParaRPr lang="en-US" sz="1050" dirty="0"/>
          </a:p>
        </p:txBody>
      </p:sp>
      <p:sp>
        <p:nvSpPr>
          <p:cNvPr id="21" name="Shape 19"/>
          <p:cNvSpPr/>
          <p:nvPr/>
        </p:nvSpPr>
        <p:spPr>
          <a:xfrm>
            <a:off x="457200" y="5266944"/>
            <a:ext cx="11274552" cy="493776"/>
          </a:xfrm>
          <a:prstGeom prst="roundRect">
            <a:avLst>
              <a:gd name="adj" fmla="val 9259"/>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2" name="Text 20"/>
          <p:cNvSpPr txBox="1"/>
          <p:nvPr/>
        </p:nvSpPr>
        <p:spPr>
          <a:xfrm>
            <a:off x="640080" y="5321808"/>
            <a:ext cx="1920240" cy="384048"/>
          </a:xfrm>
          <a:prstGeom prst="rect">
            <a:avLst/>
          </a:prstGeom>
          <a:noFill/>
          <a:ln/>
        </p:spPr>
        <p:txBody>
          <a:bodyPr wrap="square" lIns="0" tIns="0" rIns="0" bIns="0" rtlCol="0" anchor="ctr"/>
          <a:lstStyle/>
          <a:p>
            <a:pPr indent="0" marL="0">
              <a:buNone/>
            </a:pPr>
            <a:r>
              <a:rPr lang="en-US" sz="1050" b="1" dirty="0">
                <a:solidFill>
                  <a:srgbClr val="E31837"/>
                </a:solidFill>
                <a:latin typeface="Courier New" pitchFamily="34" charset="0"/>
                <a:ea typeface="Courier New" pitchFamily="34" charset="-122"/>
                <a:cs typeface="Courier New" pitchFamily="34" charset="-120"/>
              </a:rPr>
              <a:t>IP</a:t>
            </a:r>
            <a:endParaRPr lang="en-US" sz="1050" dirty="0"/>
          </a:p>
        </p:txBody>
      </p:sp>
      <p:sp>
        <p:nvSpPr>
          <p:cNvPr id="23" name="Text 21"/>
          <p:cNvSpPr txBox="1"/>
          <p:nvPr/>
        </p:nvSpPr>
        <p:spPr>
          <a:xfrm>
            <a:off x="2606040" y="5321808"/>
            <a:ext cx="2834640" cy="384048"/>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Address rules and the VIP rule</a:t>
            </a:r>
            <a:endParaRPr lang="en-US" sz="1050" dirty="0"/>
          </a:p>
        </p:txBody>
      </p:sp>
      <p:sp>
        <p:nvSpPr>
          <p:cNvPr id="24" name="Text 22"/>
          <p:cNvSpPr txBox="1"/>
          <p:nvPr/>
        </p:nvSpPr>
        <p:spPr>
          <a:xfrm>
            <a:off x="5532120" y="5321808"/>
            <a:ext cx="6035040" cy="384048"/>
          </a:xfrm>
          <a:prstGeom prst="rect">
            <a:avLst/>
          </a:prstGeom>
          <a:noFill/>
          <a:ln/>
        </p:spPr>
        <p:txBody>
          <a:bodyPr wrap="square" lIns="0" tIns="0" rIns="0" bIns="0" rtlCol="0" anchor="ctr"/>
          <a:lstStyle/>
          <a:p>
            <a:pPr indent="0" marL="0">
              <a:buNone/>
            </a:pPr>
            <a:r>
              <a:rPr lang="en-US" sz="1050" dirty="0">
                <a:solidFill>
                  <a:srgbClr val="6B7177"/>
                </a:solidFill>
                <a:latin typeface="Arial" pitchFamily="34" charset="0"/>
                <a:ea typeface="Arial" pitchFamily="34" charset="-122"/>
                <a:cs typeface="Arial" pitchFamily="34" charset="-120"/>
              </a:rPr>
              <a:t>Always present. Weakest evidence: addresses move and are shared.</a:t>
            </a:r>
            <a:endParaRPr lang="en-US" sz="1050" dirty="0"/>
          </a:p>
        </p:txBody>
      </p:sp>
      <p:sp>
        <p:nvSpPr>
          <p:cNvPr id="25" name="Shape 23"/>
          <p:cNvSpPr/>
          <p:nvPr/>
        </p:nvSpPr>
        <p:spPr>
          <a:xfrm>
            <a:off x="457200" y="5833872"/>
            <a:ext cx="11274552" cy="493776"/>
          </a:xfrm>
          <a:prstGeom prst="roundRect">
            <a:avLst>
              <a:gd name="adj" fmla="val 9259"/>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Text 24"/>
          <p:cNvSpPr txBox="1"/>
          <p:nvPr/>
        </p:nvSpPr>
        <p:spPr>
          <a:xfrm>
            <a:off x="640080" y="5888736"/>
            <a:ext cx="1920240" cy="384048"/>
          </a:xfrm>
          <a:prstGeom prst="rect">
            <a:avLst/>
          </a:prstGeom>
          <a:noFill/>
          <a:ln/>
        </p:spPr>
        <p:txBody>
          <a:bodyPr wrap="square" lIns="0" tIns="0" rIns="0" bIns="0" rtlCol="0" anchor="ctr"/>
          <a:lstStyle/>
          <a:p>
            <a:pPr indent="0" marL="0">
              <a:buNone/>
            </a:pPr>
            <a:r>
              <a:rPr lang="en-US" sz="1050" b="1" dirty="0">
                <a:solidFill>
                  <a:srgbClr val="E31837"/>
                </a:solidFill>
                <a:latin typeface="Courier New" pitchFamily="34" charset="0"/>
                <a:ea typeface="Courier New" pitchFamily="34" charset="-122"/>
                <a:cs typeface="Courier New" pitchFamily="34" charset="-120"/>
              </a:rPr>
              <a:t>OS</a:t>
            </a:r>
            <a:endParaRPr lang="en-US" sz="1050" dirty="0"/>
          </a:p>
        </p:txBody>
      </p:sp>
      <p:sp>
        <p:nvSpPr>
          <p:cNvPr id="27" name="Text 25"/>
          <p:cNvSpPr txBox="1"/>
          <p:nvPr/>
        </p:nvSpPr>
        <p:spPr>
          <a:xfrm>
            <a:off x="2606040" y="5888736"/>
            <a:ext cx="2834640" cy="384048"/>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Every rule, as class evidence</a:t>
            </a:r>
            <a:endParaRPr lang="en-US" sz="1050" dirty="0"/>
          </a:p>
        </p:txBody>
      </p:sp>
      <p:sp>
        <p:nvSpPr>
          <p:cNvPr id="28" name="Text 26"/>
          <p:cNvSpPr txBox="1"/>
          <p:nvPr/>
        </p:nvSpPr>
        <p:spPr>
          <a:xfrm>
            <a:off x="5532120" y="5888736"/>
            <a:ext cx="6035040" cy="384048"/>
          </a:xfrm>
          <a:prstGeom prst="rect">
            <a:avLst/>
          </a:prstGeom>
          <a:noFill/>
          <a:ln/>
        </p:spPr>
        <p:txBody>
          <a:bodyPr wrap="square" lIns="0" tIns="0" rIns="0" bIns="0" rtlCol="0" anchor="ctr"/>
          <a:lstStyle/>
          <a:p>
            <a:pPr indent="0" marL="0">
              <a:buNone/>
            </a:pPr>
            <a:r>
              <a:rPr lang="en-US" sz="1050" dirty="0">
                <a:solidFill>
                  <a:srgbClr val="6B7177"/>
                </a:solidFill>
                <a:latin typeface="Arial" pitchFamily="34" charset="0"/>
                <a:ea typeface="Arial" pitchFamily="34" charset="-122"/>
                <a:cs typeface="Arial" pitchFamily="34" charset="-120"/>
              </a:rPr>
              <a:t>Turned into a CMDB class. Empty on 32.6% and a multi-guess string on a further 5.0%.</a:t>
            </a:r>
            <a:endParaRPr lang="en-US" sz="1050" dirty="0"/>
          </a:p>
        </p:txBody>
      </p:sp>
      <p:sp>
        <p:nvSpPr>
          <p:cNvPr id="29" name="Text 27"/>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Source field on the rule record decides which payload field arrives as sourceValue; the rule reads the rest from sourcePayload.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THE CONTRACT</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What a rule owes back</a:t>
            </a:r>
            <a:endParaRPr lang="en-US" sz="3000" dirty="0"/>
          </a:p>
        </p:txBody>
      </p:sp>
      <p:sp>
        <p:nvSpPr>
          <p:cNvPr id="4" name="Shape 2"/>
          <p:cNvSpPr/>
          <p:nvPr/>
        </p:nvSpPr>
        <p:spPr>
          <a:xfrm>
            <a:off x="457200" y="1463040"/>
            <a:ext cx="3566160" cy="1572768"/>
          </a:xfrm>
          <a:prstGeom prst="roundRect">
            <a:avLst>
              <a:gd name="adj" fmla="val 290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Shape 3"/>
          <p:cNvSpPr/>
          <p:nvPr/>
        </p:nvSpPr>
        <p:spPr>
          <a:xfrm>
            <a:off x="685800" y="1664208"/>
            <a:ext cx="365760" cy="365760"/>
          </a:xfrm>
          <a:prstGeom prst="roundRect">
            <a:avLst>
              <a:gd name="adj" fmla="val 30000"/>
            </a:avLst>
          </a:prstGeom>
          <a:solidFill>
            <a:srgbClr val="E31837"/>
          </a:solidFill>
          <a:ln w="12700">
            <a:solidFill>
              <a:srgbClr val="333333"/>
            </a:solidFill>
            <a:prstDash val="solid"/>
          </a:ln>
        </p:spPr>
      </p:sp>
      <p:sp>
        <p:nvSpPr>
          <p:cNvPr id="6" name="Text 4"/>
          <p:cNvSpPr txBox="1"/>
          <p:nvPr/>
        </p:nvSpPr>
        <p:spPr>
          <a:xfrm>
            <a:off x="1170432" y="1664208"/>
            <a:ext cx="2651760" cy="365760"/>
          </a:xfrm>
          <a:prstGeom prst="rect">
            <a:avLst/>
          </a:prstGeom>
          <a:noFill/>
          <a:ln/>
        </p:spPr>
        <p:txBody>
          <a:bodyPr wrap="square" lIns="0" tIns="0" rIns="0" bIns="0" rtlCol="0" anchor="ctr"/>
          <a:lstStyle/>
          <a:p>
            <a:pPr indent="0" marL="0">
              <a:buNone/>
            </a:pPr>
            <a:r>
              <a:rPr lang="en-US" sz="1450" b="1" dirty="0">
                <a:solidFill>
                  <a:srgbClr val="24272A"/>
                </a:solidFill>
                <a:latin typeface="Arial" pitchFamily="34" charset="0"/>
                <a:ea typeface="Arial" pitchFamily="34" charset="-122"/>
                <a:cs typeface="Arial" pitchFamily="34" charset="-120"/>
              </a:rPr>
              <a:t>Return a sys_id</a:t>
            </a:r>
            <a:endParaRPr lang="en-US" sz="1450" dirty="0"/>
          </a:p>
        </p:txBody>
      </p:sp>
      <p:sp>
        <p:nvSpPr>
          <p:cNvPr id="7" name="Text 5"/>
          <p:cNvSpPr txBox="1"/>
          <p:nvPr/>
        </p:nvSpPr>
        <p:spPr>
          <a:xfrm>
            <a:off x="685800" y="2139696"/>
            <a:ext cx="3108960" cy="9144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host is matched. The framework links the Discovered Item and every finding on it to that CI and stops: no later rule is consulted.</a:t>
            </a:r>
            <a:endParaRPr lang="en-US" sz="1100" dirty="0"/>
          </a:p>
        </p:txBody>
      </p:sp>
      <p:sp>
        <p:nvSpPr>
          <p:cNvPr id="8" name="Shape 6"/>
          <p:cNvSpPr/>
          <p:nvPr/>
        </p:nvSpPr>
        <p:spPr>
          <a:xfrm>
            <a:off x="4251960" y="1463040"/>
            <a:ext cx="3566160" cy="1572768"/>
          </a:xfrm>
          <a:prstGeom prst="roundRect">
            <a:avLst>
              <a:gd name="adj" fmla="val 290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Shape 7"/>
          <p:cNvSpPr/>
          <p:nvPr/>
        </p:nvSpPr>
        <p:spPr>
          <a:xfrm>
            <a:off x="4480560" y="1664208"/>
            <a:ext cx="365760" cy="365760"/>
          </a:xfrm>
          <a:prstGeom prst="roundRect">
            <a:avLst>
              <a:gd name="adj" fmla="val 30000"/>
            </a:avLst>
          </a:prstGeom>
          <a:solidFill>
            <a:srgbClr val="012169"/>
          </a:solidFill>
          <a:ln w="12700">
            <a:solidFill>
              <a:srgbClr val="333333"/>
            </a:solidFill>
            <a:prstDash val="solid"/>
          </a:ln>
        </p:spPr>
      </p:sp>
      <p:sp>
        <p:nvSpPr>
          <p:cNvPr id="10" name="Text 8"/>
          <p:cNvSpPr txBox="1"/>
          <p:nvPr/>
        </p:nvSpPr>
        <p:spPr>
          <a:xfrm>
            <a:off x="4965192" y="1664208"/>
            <a:ext cx="2651760" cy="365760"/>
          </a:xfrm>
          <a:prstGeom prst="rect">
            <a:avLst/>
          </a:prstGeom>
          <a:noFill/>
          <a:ln/>
        </p:spPr>
        <p:txBody>
          <a:bodyPr wrap="square" lIns="0" tIns="0" rIns="0" bIns="0" rtlCol="0" anchor="ctr"/>
          <a:lstStyle/>
          <a:p>
            <a:pPr indent="0" marL="0">
              <a:buNone/>
            </a:pPr>
            <a:r>
              <a:rPr lang="en-US" sz="1450" b="1" dirty="0">
                <a:solidFill>
                  <a:srgbClr val="24272A"/>
                </a:solidFill>
                <a:latin typeface="Arial" pitchFamily="34" charset="0"/>
                <a:ea typeface="Arial" pitchFamily="34" charset="-122"/>
                <a:cs typeface="Arial" pitchFamily="34" charset="-120"/>
              </a:rPr>
              <a:t>Return null</a:t>
            </a:r>
            <a:endParaRPr lang="en-US" sz="1450" dirty="0"/>
          </a:p>
        </p:txBody>
      </p:sp>
      <p:sp>
        <p:nvSpPr>
          <p:cNvPr id="11" name="Text 9"/>
          <p:cNvSpPr txBox="1"/>
          <p:nvPr/>
        </p:nvSpPr>
        <p:spPr>
          <a:xfrm>
            <a:off x="4480560" y="2139696"/>
            <a:ext cx="3108960" cy="9144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rule declines. The host moves to the next rule with its payload untouched. Declining is normal and cheap.</a:t>
            </a:r>
            <a:endParaRPr lang="en-US" sz="1100" dirty="0"/>
          </a:p>
        </p:txBody>
      </p:sp>
      <p:sp>
        <p:nvSpPr>
          <p:cNvPr id="12" name="Shape 10"/>
          <p:cNvSpPr/>
          <p:nvPr/>
        </p:nvSpPr>
        <p:spPr>
          <a:xfrm>
            <a:off x="8046720" y="1463040"/>
            <a:ext cx="3566160" cy="1572768"/>
          </a:xfrm>
          <a:prstGeom prst="roundRect">
            <a:avLst>
              <a:gd name="adj" fmla="val 290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3" name="Shape 11"/>
          <p:cNvSpPr/>
          <p:nvPr/>
        </p:nvSpPr>
        <p:spPr>
          <a:xfrm>
            <a:off x="8275320" y="1664208"/>
            <a:ext cx="365760" cy="365760"/>
          </a:xfrm>
          <a:prstGeom prst="roundRect">
            <a:avLst>
              <a:gd name="adj" fmla="val 30000"/>
            </a:avLst>
          </a:prstGeom>
          <a:solidFill>
            <a:srgbClr val="24272A"/>
          </a:solidFill>
          <a:ln w="12700">
            <a:solidFill>
              <a:srgbClr val="333333"/>
            </a:solidFill>
            <a:prstDash val="solid"/>
          </a:ln>
        </p:spPr>
      </p:sp>
      <p:sp>
        <p:nvSpPr>
          <p:cNvPr id="14" name="Text 12"/>
          <p:cNvSpPr txBox="1"/>
          <p:nvPr/>
        </p:nvSpPr>
        <p:spPr>
          <a:xfrm>
            <a:off x="8759952" y="1664208"/>
            <a:ext cx="2651760" cy="365760"/>
          </a:xfrm>
          <a:prstGeom prst="rect">
            <a:avLst/>
          </a:prstGeom>
          <a:noFill/>
          <a:ln/>
        </p:spPr>
        <p:txBody>
          <a:bodyPr wrap="square" lIns="0" tIns="0" rIns="0" bIns="0" rtlCol="0" anchor="ctr"/>
          <a:lstStyle/>
          <a:p>
            <a:pPr indent="0" marL="0">
              <a:buNone/>
            </a:pPr>
            <a:r>
              <a:rPr lang="en-US" sz="1450" b="1" dirty="0">
                <a:solidFill>
                  <a:srgbClr val="24272A"/>
                </a:solidFill>
                <a:latin typeface="Arial" pitchFamily="34" charset="0"/>
                <a:ea typeface="Arial" pitchFamily="34" charset="-122"/>
                <a:cs typeface="Arial" pitchFamily="34" charset="-120"/>
              </a:rPr>
              <a:t>Never guess</a:t>
            </a:r>
            <a:endParaRPr lang="en-US" sz="1450" dirty="0"/>
          </a:p>
        </p:txBody>
      </p:sp>
      <p:sp>
        <p:nvSpPr>
          <p:cNvPr id="15" name="Text 13"/>
          <p:cNvSpPr txBox="1"/>
          <p:nvPr/>
        </p:nvSpPr>
        <p:spPr>
          <a:xfrm>
            <a:off x="8275320" y="2139696"/>
            <a:ext cx="3108960" cy="9144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A rule that cannot narrow its evidence to one CI must decline. Returning the first of several is the one outcome the chain forbids.</a:t>
            </a:r>
            <a:endParaRPr lang="en-US" sz="1100" dirty="0"/>
          </a:p>
        </p:txBody>
      </p:sp>
      <p:sp>
        <p:nvSpPr>
          <p:cNvPr id="16" name="Shape 14"/>
          <p:cNvSpPr/>
          <p:nvPr/>
        </p:nvSpPr>
        <p:spPr>
          <a:xfrm>
            <a:off x="457200" y="3246120"/>
            <a:ext cx="5532120" cy="2606040"/>
          </a:xfrm>
          <a:prstGeom prst="roundRect">
            <a:avLst>
              <a:gd name="adj" fmla="val 175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7" name="Text 15"/>
          <p:cNvSpPr txBox="1"/>
          <p:nvPr/>
        </p:nvSpPr>
        <p:spPr>
          <a:xfrm>
            <a:off x="685800" y="3392424"/>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How the chain is ordered</a:t>
            </a:r>
            <a:endParaRPr lang="en-US" sz="1400" dirty="0"/>
          </a:p>
        </p:txBody>
      </p:sp>
      <p:sp>
        <p:nvSpPr>
          <p:cNvPr id="18" name="Text 16"/>
          <p:cNvSpPr txBox="1"/>
          <p:nvPr/>
        </p:nvSpPr>
        <p:spPr>
          <a:xfrm>
            <a:off x="685800" y="3739896"/>
            <a:ext cx="5074920" cy="1920240"/>
          </a:xfrm>
          <a:prstGeom prst="rect">
            <a:avLst/>
          </a:prstGeom>
          <a:noFill/>
          <a:ln/>
        </p:spPr>
        <p:txBody>
          <a:bodyPr wrap="square" lIns="0" tIns="0" rIns="0" bIns="0" rtlCol="0" anchor="t"/>
          <a:lstStyle/>
          <a:p>
            <a:pPr indent="0" marL="0">
              <a:spcAft>
                <a:spcPts val="800"/>
              </a:spcAft>
              <a:buNone/>
            </a:pPr>
            <a:r>
              <a:rPr lang="en-US" sz="1150" dirty="0">
                <a:solidFill>
                  <a:srgbClr val="6B7177"/>
                </a:solidFill>
                <a:latin typeface="Arial" pitchFamily="34" charset="0"/>
                <a:ea typeface="Arial" pitchFamily="34" charset="-122"/>
                <a:cs typeface="Arial" pitchFamily="34" charset="-120"/>
              </a:rPr>
              <a:t>Rules run from the lowest order to the highest, and the first non-null answer wins. The order is therefore a statement about evidence: whatever runs earlier is trusted more.</a:t>
            </a:r>
            <a:endParaRPr lang="en-US" sz="1150" dirty="0"/>
          </a:p>
          <a:p>
            <a:pPr indent="0" marL="0">
              <a:buNone/>
            </a:pPr>
            <a:r>
              <a:rPr lang="en-US" sz="1150" dirty="0">
                <a:solidFill>
                  <a:srgbClr val="6B7177"/>
                </a:solidFill>
                <a:latin typeface="Arial" pitchFamily="34" charset="0"/>
                <a:ea typeface="Arial" pitchFamily="34" charset="-122"/>
                <a:cs typeface="Arial" pitchFamily="34" charset="-120"/>
              </a:rPr>
              <a:t>The custom USEM rules occupy 175 to 850. The out-of-box Qualys rules run after them, from 860, so nothing shipped by the platform is replaced or bypassed.</a:t>
            </a:r>
            <a:endParaRPr lang="en-US" sz="1150" dirty="0"/>
          </a:p>
        </p:txBody>
      </p:sp>
      <p:sp>
        <p:nvSpPr>
          <p:cNvPr id="19" name="Shape 17"/>
          <p:cNvSpPr/>
          <p:nvPr/>
        </p:nvSpPr>
        <p:spPr>
          <a:xfrm>
            <a:off x="6199632" y="3246120"/>
            <a:ext cx="5532120" cy="2606040"/>
          </a:xfrm>
          <a:prstGeom prst="roundRect">
            <a:avLst>
              <a:gd name="adj" fmla="val 175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Text 18"/>
          <p:cNvSpPr txBox="1"/>
          <p:nvPr/>
        </p:nvSpPr>
        <p:spPr>
          <a:xfrm>
            <a:off x="6428232" y="3392424"/>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Fields on the rule record</a:t>
            </a:r>
            <a:endParaRPr lang="en-US" sz="1400" dirty="0"/>
          </a:p>
        </p:txBody>
      </p:sp>
      <p:sp>
        <p:nvSpPr>
          <p:cNvPr id="21" name="Text 19"/>
          <p:cNvSpPr txBox="1"/>
          <p:nvPr/>
        </p:nvSpPr>
        <p:spPr>
          <a:xfrm>
            <a:off x="6428232" y="3776472"/>
            <a:ext cx="1737360" cy="274320"/>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Source</a:t>
            </a:r>
            <a:endParaRPr lang="en-US" sz="1050" dirty="0"/>
          </a:p>
        </p:txBody>
      </p:sp>
      <p:sp>
        <p:nvSpPr>
          <p:cNvPr id="22" name="Text 20"/>
          <p:cNvSpPr txBox="1"/>
          <p:nvPr/>
        </p:nvSpPr>
        <p:spPr>
          <a:xfrm>
            <a:off x="8183880" y="3776472"/>
            <a:ext cx="3383280" cy="274320"/>
          </a:xfrm>
          <a:prstGeom prst="rect">
            <a:avLst/>
          </a:prstGeom>
          <a:noFill/>
          <a:ln/>
        </p:spPr>
        <p:txBody>
          <a:bodyPr wrap="square" lIns="0" tIns="0" rIns="0" bIns="0" rtlCol="0" anchor="ctr"/>
          <a:lstStyle/>
          <a:p>
            <a:pPr indent="0" marL="0">
              <a:buNone/>
            </a:pPr>
            <a:r>
              <a:rPr lang="en-US" sz="950" dirty="0">
                <a:solidFill>
                  <a:srgbClr val="6B7177"/>
                </a:solidFill>
                <a:latin typeface="Courier New" pitchFamily="34" charset="0"/>
                <a:ea typeface="Courier New" pitchFamily="34" charset="-122"/>
                <a:cs typeface="Courier New" pitchFamily="34" charset="-120"/>
              </a:rPr>
              <a:t>Qualys Cloud Platform</a:t>
            </a:r>
            <a:endParaRPr lang="en-US" sz="950" dirty="0"/>
          </a:p>
        </p:txBody>
      </p:sp>
      <p:sp>
        <p:nvSpPr>
          <p:cNvPr id="23" name="Text 21"/>
          <p:cNvSpPr txBox="1"/>
          <p:nvPr/>
        </p:nvSpPr>
        <p:spPr>
          <a:xfrm>
            <a:off x="6428232" y="4123944"/>
            <a:ext cx="1737360" cy="274320"/>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Table</a:t>
            </a:r>
            <a:endParaRPr lang="en-US" sz="1050" dirty="0"/>
          </a:p>
        </p:txBody>
      </p:sp>
      <p:sp>
        <p:nvSpPr>
          <p:cNvPr id="24" name="Text 22"/>
          <p:cNvSpPr txBox="1"/>
          <p:nvPr/>
        </p:nvSpPr>
        <p:spPr>
          <a:xfrm>
            <a:off x="8183880" y="4123944"/>
            <a:ext cx="3383280" cy="274320"/>
          </a:xfrm>
          <a:prstGeom prst="rect">
            <a:avLst/>
          </a:prstGeom>
          <a:noFill/>
          <a:ln/>
        </p:spPr>
        <p:txBody>
          <a:bodyPr wrap="square" lIns="0" tIns="0" rIns="0" bIns="0" rtlCol="0" anchor="ctr"/>
          <a:lstStyle/>
          <a:p>
            <a:pPr indent="0" marL="0">
              <a:buNone/>
            </a:pPr>
            <a:r>
              <a:rPr lang="en-US" sz="950" dirty="0">
                <a:solidFill>
                  <a:srgbClr val="6B7177"/>
                </a:solidFill>
                <a:latin typeface="Courier New" pitchFamily="34" charset="0"/>
                <a:ea typeface="Courier New" pitchFamily="34" charset="-122"/>
                <a:cs typeface="Courier New" pitchFamily="34" charset="-120"/>
              </a:rPr>
              <a:t>sn_vul_qualys_host_attrb</a:t>
            </a:r>
            <a:endParaRPr lang="en-US" sz="950" dirty="0"/>
          </a:p>
        </p:txBody>
      </p:sp>
      <p:sp>
        <p:nvSpPr>
          <p:cNvPr id="25" name="Text 23"/>
          <p:cNvSpPr txBox="1"/>
          <p:nvPr/>
        </p:nvSpPr>
        <p:spPr>
          <a:xfrm>
            <a:off x="6428232" y="4471416"/>
            <a:ext cx="1737360" cy="274320"/>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Source field</a:t>
            </a:r>
            <a:endParaRPr lang="en-US" sz="1050" dirty="0"/>
          </a:p>
        </p:txBody>
      </p:sp>
      <p:sp>
        <p:nvSpPr>
          <p:cNvPr id="26" name="Text 24"/>
          <p:cNvSpPr txBox="1"/>
          <p:nvPr/>
        </p:nvSpPr>
        <p:spPr>
          <a:xfrm>
            <a:off x="8183880" y="4471416"/>
            <a:ext cx="3383280" cy="274320"/>
          </a:xfrm>
          <a:prstGeom prst="rect">
            <a:avLst/>
          </a:prstGeom>
          <a:noFill/>
          <a:ln/>
        </p:spPr>
        <p:txBody>
          <a:bodyPr wrap="square" lIns="0" tIns="0" rIns="0" bIns="0" rtlCol="0" anchor="ctr"/>
          <a:lstStyle/>
          <a:p>
            <a:pPr indent="0" marL="0">
              <a:buNone/>
            </a:pPr>
            <a:r>
              <a:rPr lang="en-US" sz="950" dirty="0">
                <a:solidFill>
                  <a:srgbClr val="6B7177"/>
                </a:solidFill>
                <a:latin typeface="Courier New" pitchFamily="34" charset="0"/>
                <a:ea typeface="Courier New" pitchFamily="34" charset="-122"/>
                <a:cs typeface="Courier New" pitchFamily="34" charset="-120"/>
              </a:rPr>
              <a:t>DNS, IP or SERIAL_NUMBER</a:t>
            </a:r>
            <a:endParaRPr lang="en-US" sz="950" dirty="0"/>
          </a:p>
        </p:txBody>
      </p:sp>
      <p:sp>
        <p:nvSpPr>
          <p:cNvPr id="27" name="Text 25"/>
          <p:cNvSpPr txBox="1"/>
          <p:nvPr/>
        </p:nvSpPr>
        <p:spPr>
          <a:xfrm>
            <a:off x="6428232" y="4818888"/>
            <a:ext cx="1737360" cy="274320"/>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Method / Type</a:t>
            </a:r>
            <a:endParaRPr lang="en-US" sz="1050" dirty="0"/>
          </a:p>
        </p:txBody>
      </p:sp>
      <p:sp>
        <p:nvSpPr>
          <p:cNvPr id="28" name="Text 26"/>
          <p:cNvSpPr txBox="1"/>
          <p:nvPr/>
        </p:nvSpPr>
        <p:spPr>
          <a:xfrm>
            <a:off x="8183880" y="4818888"/>
            <a:ext cx="3383280" cy="274320"/>
          </a:xfrm>
          <a:prstGeom prst="rect">
            <a:avLst/>
          </a:prstGeom>
          <a:noFill/>
          <a:ln/>
        </p:spPr>
        <p:txBody>
          <a:bodyPr wrap="square" lIns="0" tIns="0" rIns="0" bIns="0" rtlCol="0" anchor="ctr"/>
          <a:lstStyle/>
          <a:p>
            <a:pPr indent="0" marL="0">
              <a:buNone/>
            </a:pPr>
            <a:r>
              <a:rPr lang="en-US" sz="950" dirty="0">
                <a:solidFill>
                  <a:srgbClr val="6B7177"/>
                </a:solidFill>
                <a:latin typeface="Courier New" pitchFamily="34" charset="0"/>
                <a:ea typeface="Courier New" pitchFamily="34" charset="-122"/>
                <a:cs typeface="Courier New" pitchFamily="34" charset="-120"/>
              </a:rPr>
              <a:t>Script / Custom</a:t>
            </a:r>
            <a:endParaRPr lang="en-US" sz="950" dirty="0"/>
          </a:p>
        </p:txBody>
      </p:sp>
      <p:sp>
        <p:nvSpPr>
          <p:cNvPr id="29" name="Text 27"/>
          <p:cNvSpPr txBox="1"/>
          <p:nvPr/>
        </p:nvSpPr>
        <p:spPr>
          <a:xfrm>
            <a:off x="6428232" y="5166360"/>
            <a:ext cx="1737360" cy="274320"/>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Order</a:t>
            </a:r>
            <a:endParaRPr lang="en-US" sz="1050" dirty="0"/>
          </a:p>
        </p:txBody>
      </p:sp>
      <p:sp>
        <p:nvSpPr>
          <p:cNvPr id="30" name="Text 28"/>
          <p:cNvSpPr txBox="1"/>
          <p:nvPr/>
        </p:nvSpPr>
        <p:spPr>
          <a:xfrm>
            <a:off x="8183880" y="5166360"/>
            <a:ext cx="3383280" cy="274320"/>
          </a:xfrm>
          <a:prstGeom prst="rect">
            <a:avLst/>
          </a:prstGeom>
          <a:noFill/>
          <a:ln/>
        </p:spPr>
        <p:txBody>
          <a:bodyPr wrap="square" lIns="0" tIns="0" rIns="0" bIns="0" rtlCol="0" anchor="ctr"/>
          <a:lstStyle/>
          <a:p>
            <a:pPr indent="0" marL="0">
              <a:buNone/>
            </a:pPr>
            <a:r>
              <a:rPr lang="en-US" sz="950" dirty="0">
                <a:solidFill>
                  <a:srgbClr val="6B7177"/>
                </a:solidFill>
                <a:latin typeface="Courier New" pitchFamily="34" charset="0"/>
                <a:ea typeface="Courier New" pitchFamily="34" charset="-122"/>
                <a:cs typeface="Courier New" pitchFamily="34" charset="-120"/>
              </a:rPr>
              <a:t>175 to 850</a:t>
            </a:r>
            <a:endParaRPr lang="en-US" sz="950" dirty="0"/>
          </a:p>
        </p:txBody>
      </p:sp>
      <p:sp>
        <p:nvSpPr>
          <p:cNvPr id="31" name="Text 29"/>
          <p:cNvSpPr txBox="1"/>
          <p:nvPr/>
        </p:nvSpPr>
        <p:spPr>
          <a:xfrm>
            <a:off x="6428232" y="5513832"/>
            <a:ext cx="1737360" cy="274320"/>
          </a:xfrm>
          <a:prstGeom prst="rect">
            <a:avLst/>
          </a:prstGeom>
          <a:noFill/>
          <a:ln/>
        </p:spPr>
        <p:txBody>
          <a:bodyPr wrap="square" lIns="0" tIns="0" rIns="0" bIns="0" rtlCol="0" anchor="ctr"/>
          <a:lstStyle/>
          <a:p>
            <a:pPr indent="0" marL="0">
              <a:buNone/>
            </a:pPr>
            <a:r>
              <a:rPr lang="en-US" sz="1050" b="1" dirty="0">
                <a:solidFill>
                  <a:srgbClr val="24272A"/>
                </a:solidFill>
                <a:latin typeface="Arial" pitchFamily="34" charset="0"/>
                <a:ea typeface="Arial" pitchFamily="34" charset="-122"/>
                <a:cs typeface="Arial" pitchFamily="34" charset="-120"/>
              </a:rPr>
              <a:t>Reapply</a:t>
            </a:r>
            <a:endParaRPr lang="en-US" sz="1050" dirty="0"/>
          </a:p>
        </p:txBody>
      </p:sp>
      <p:sp>
        <p:nvSpPr>
          <p:cNvPr id="32" name="Text 30"/>
          <p:cNvSpPr txBox="1"/>
          <p:nvPr/>
        </p:nvSpPr>
        <p:spPr>
          <a:xfrm>
            <a:off x="8183880" y="5513832"/>
            <a:ext cx="3383280" cy="274320"/>
          </a:xfrm>
          <a:prstGeom prst="rect">
            <a:avLst/>
          </a:prstGeom>
          <a:noFill/>
          <a:ln/>
        </p:spPr>
        <p:txBody>
          <a:bodyPr wrap="square" lIns="0" tIns="0" rIns="0" bIns="0" rtlCol="0" anchor="ctr"/>
          <a:lstStyle/>
          <a:p>
            <a:pPr indent="0" marL="0">
              <a:buNone/>
            </a:pPr>
            <a:r>
              <a:rPr lang="en-US" sz="950" dirty="0">
                <a:solidFill>
                  <a:srgbClr val="6B7177"/>
                </a:solidFill>
                <a:latin typeface="Courier New" pitchFamily="34" charset="0"/>
                <a:ea typeface="Courier New" pitchFamily="34" charset="-122"/>
                <a:cs typeface="Courier New" pitchFamily="34" charset="-120"/>
              </a:rPr>
              <a:t>true, so changed items are re-evaluated</a:t>
            </a:r>
            <a:endParaRPr lang="en-US" sz="950" dirty="0"/>
          </a:p>
        </p:txBody>
      </p:sp>
      <p:sp>
        <p:nvSpPr>
          <p:cNvPr id="33" name="Text 31"/>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The framework entry point is sn_sec_cmn.CIIdentify.identify(source, payload); the reconcile job re-runs it for changed Discovered Items.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NINETEEN RULES, STRONGEST EVIDENCE FIRST</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The chain at a glance</a:t>
            </a:r>
            <a:endParaRPr lang="en-US" sz="3000" dirty="0"/>
          </a:p>
        </p:txBody>
      </p:sp>
      <p:sp>
        <p:nvSpPr>
          <p:cNvPr id="4" name="Shape 2"/>
          <p:cNvSpPr/>
          <p:nvPr/>
        </p:nvSpPr>
        <p:spPr>
          <a:xfrm>
            <a:off x="457200" y="1389888"/>
            <a:ext cx="3566160" cy="1700784"/>
          </a:xfrm>
          <a:prstGeom prst="roundRect">
            <a:avLst>
              <a:gd name="adj" fmla="val 268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Text 3"/>
          <p:cNvSpPr txBox="1"/>
          <p:nvPr/>
        </p:nvSpPr>
        <p:spPr>
          <a:xfrm>
            <a:off x="640080" y="1499616"/>
            <a:ext cx="3200400" cy="256032"/>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Serial number</a:t>
            </a:r>
            <a:endParaRPr lang="en-US" sz="1300" dirty="0"/>
          </a:p>
        </p:txBody>
      </p:sp>
      <p:sp>
        <p:nvSpPr>
          <p:cNvPr id="6" name="Text 4"/>
          <p:cNvSpPr txBox="1"/>
          <p:nvPr/>
        </p:nvSpPr>
        <p:spPr>
          <a:xfrm>
            <a:off x="640080" y="1792224"/>
            <a:ext cx="3200400" cy="448056"/>
          </a:xfrm>
          <a:prstGeom prst="rect">
            <a:avLst/>
          </a:prstGeom>
          <a:noFill/>
          <a:ln/>
        </p:spPr>
        <p:txBody>
          <a:bodyPr wrap="square" lIns="0" tIns="0" rIns="0" bIns="0" rtlCol="0" anchor="t"/>
          <a:lstStyle/>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175  Serial Number Class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180  Serial Number Hardware Match</a:t>
            </a:r>
            <a:endParaRPr lang="en-US" sz="950" dirty="0"/>
          </a:p>
        </p:txBody>
      </p:sp>
      <p:sp>
        <p:nvSpPr>
          <p:cNvPr id="7" name="Text 5"/>
          <p:cNvSpPr txBox="1"/>
          <p:nvPr/>
        </p:nvSpPr>
        <p:spPr>
          <a:xfrm>
            <a:off x="640080" y="2240280"/>
            <a:ext cx="3200400" cy="7772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One machine for life, so it is tried first. Only 0.3% of scanned hosts report one.</a:t>
            </a:r>
            <a:endParaRPr lang="en-US" sz="950" dirty="0"/>
          </a:p>
        </p:txBody>
      </p:sp>
      <p:sp>
        <p:nvSpPr>
          <p:cNvPr id="8" name="Shape 6"/>
          <p:cNvSpPr/>
          <p:nvPr/>
        </p:nvSpPr>
        <p:spPr>
          <a:xfrm>
            <a:off x="457200" y="3200400"/>
            <a:ext cx="3566160" cy="1700784"/>
          </a:xfrm>
          <a:prstGeom prst="roundRect">
            <a:avLst>
              <a:gd name="adj" fmla="val 268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Text 7"/>
          <p:cNvSpPr txBox="1"/>
          <p:nvPr/>
        </p:nvSpPr>
        <p:spPr>
          <a:xfrm>
            <a:off x="640080" y="3310128"/>
            <a:ext cx="3200400" cy="256032"/>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Device label</a:t>
            </a:r>
            <a:endParaRPr lang="en-US" sz="1300" dirty="0"/>
          </a:p>
        </p:txBody>
      </p:sp>
      <p:sp>
        <p:nvSpPr>
          <p:cNvPr id="10" name="Text 8"/>
          <p:cNvSpPr txBox="1"/>
          <p:nvPr/>
        </p:nvSpPr>
        <p:spPr>
          <a:xfrm>
            <a:off x="640080" y="3602736"/>
            <a:ext cx="3200400" cy="251460"/>
          </a:xfrm>
          <a:prstGeom prst="rect">
            <a:avLst/>
          </a:prstGeom>
          <a:noFill/>
          <a:ln/>
        </p:spPr>
        <p:txBody>
          <a:bodyPr wrap="square" lIns="0" tIns="0" rIns="0" bIns="0" rtlCol="0" anchor="t"/>
          <a:lstStyle/>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200  Cisco IP Phone MAC</a:t>
            </a:r>
            <a:endParaRPr lang="en-US" sz="950" dirty="0"/>
          </a:p>
        </p:txBody>
      </p:sp>
      <p:sp>
        <p:nvSpPr>
          <p:cNvPr id="11" name="Text 9"/>
          <p:cNvSpPr txBox="1"/>
          <p:nvPr/>
        </p:nvSpPr>
        <p:spPr>
          <a:xfrm>
            <a:off x="640080" y="3854196"/>
            <a:ext cx="3200400" cy="973836"/>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A phone label is a MAC address in disguise, resolved before it can look like a server name.</a:t>
            </a:r>
            <a:endParaRPr lang="en-US" sz="950" dirty="0"/>
          </a:p>
        </p:txBody>
      </p:sp>
      <p:sp>
        <p:nvSpPr>
          <p:cNvPr id="12" name="Shape 10"/>
          <p:cNvSpPr/>
          <p:nvPr/>
        </p:nvSpPr>
        <p:spPr>
          <a:xfrm>
            <a:off x="4315968" y="1389888"/>
            <a:ext cx="3566160" cy="3511296"/>
          </a:xfrm>
          <a:prstGeom prst="roundRect">
            <a:avLst>
              <a:gd name="adj" fmla="val 130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3" name="Text 11"/>
          <p:cNvSpPr txBox="1"/>
          <p:nvPr/>
        </p:nvSpPr>
        <p:spPr>
          <a:xfrm>
            <a:off x="4498848" y="1499616"/>
            <a:ext cx="3200400" cy="256032"/>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Name</a:t>
            </a:r>
            <a:endParaRPr lang="en-US" sz="1300" dirty="0"/>
          </a:p>
        </p:txBody>
      </p:sp>
      <p:sp>
        <p:nvSpPr>
          <p:cNvPr id="14" name="Text 12"/>
          <p:cNvSpPr txBox="1"/>
          <p:nvPr/>
        </p:nvSpPr>
        <p:spPr>
          <a:xfrm>
            <a:off x="4498848" y="1792224"/>
            <a:ext cx="3200400" cy="1627632"/>
          </a:xfrm>
          <a:prstGeom prst="rect">
            <a:avLst/>
          </a:prstGeom>
          <a:noFill/>
          <a:ln/>
        </p:spPr>
        <p:txBody>
          <a:bodyPr wrap="square" lIns="0" tIns="0" rIns="0" bIns="0" rtlCol="0" anchor="t"/>
          <a:lstStyle/>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250  FQDN Class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260  FQDN Hardware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300  Hostname Domain Class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310  Hostname Domain Hardware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350  Layered DNS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400  Hostname Class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410  Hostname Hardware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450  FQDN Name Hardware Match</a:t>
            </a:r>
            <a:endParaRPr lang="en-US" sz="950" dirty="0"/>
          </a:p>
        </p:txBody>
      </p:sp>
      <p:sp>
        <p:nvSpPr>
          <p:cNvPr id="15" name="Text 13"/>
          <p:cNvSpPr txBox="1"/>
          <p:nvPr/>
        </p:nvSpPr>
        <p:spPr>
          <a:xfrm>
            <a:off x="4498848" y="3419856"/>
            <a:ext cx="3200400" cy="1408176"/>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Eight rules, from the most precise name evidence, an exact FQDN written on the CI, down to a bare short name with only the CI class to vouch for it.</a:t>
            </a:r>
            <a:endParaRPr lang="en-US" sz="950" dirty="0"/>
          </a:p>
        </p:txBody>
      </p:sp>
      <p:sp>
        <p:nvSpPr>
          <p:cNvPr id="16" name="Shape 14"/>
          <p:cNvSpPr/>
          <p:nvPr/>
        </p:nvSpPr>
        <p:spPr>
          <a:xfrm>
            <a:off x="8174736" y="1389888"/>
            <a:ext cx="3566160" cy="1700784"/>
          </a:xfrm>
          <a:prstGeom prst="roundRect">
            <a:avLst>
              <a:gd name="adj" fmla="val 268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7" name="Text 15"/>
          <p:cNvSpPr txBox="1"/>
          <p:nvPr/>
        </p:nvSpPr>
        <p:spPr>
          <a:xfrm>
            <a:off x="8357616" y="1499616"/>
            <a:ext cx="3200400" cy="256032"/>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Added for the backlog</a:t>
            </a:r>
            <a:endParaRPr lang="en-US" sz="1300" dirty="0"/>
          </a:p>
        </p:txBody>
      </p:sp>
      <p:sp>
        <p:nvSpPr>
          <p:cNvPr id="18" name="Text 16"/>
          <p:cNvSpPr txBox="1"/>
          <p:nvPr/>
        </p:nvSpPr>
        <p:spPr>
          <a:xfrm>
            <a:off x="8357616" y="1792224"/>
            <a:ext cx="3200400" cy="644652"/>
          </a:xfrm>
          <a:prstGeom prst="rect">
            <a:avLst/>
          </a:prstGeom>
          <a:noFill/>
          <a:ln/>
        </p:spPr>
        <p:txBody>
          <a:bodyPr wrap="square" lIns="0" tIns="0" rIns="0" bIns="0" rtlCol="0" anchor="t"/>
          <a:lstStyle/>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420  Management Interface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430  Network Interface Name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460  Load Balancer Service Match</a:t>
            </a:r>
            <a:endParaRPr lang="en-US" sz="950" dirty="0"/>
          </a:p>
        </p:txBody>
      </p:sp>
      <p:sp>
        <p:nvSpPr>
          <p:cNvPr id="19" name="Text 17"/>
          <p:cNvSpPr txBox="1"/>
          <p:nvPr/>
        </p:nvSpPr>
        <p:spPr>
          <a:xfrm>
            <a:off x="8357616" y="2436876"/>
            <a:ext cx="3200400" cy="580644"/>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Labels that describe a part of a device, a controller, a port or a virtual address, rather than the device itself.</a:t>
            </a:r>
            <a:endParaRPr lang="en-US" sz="950" dirty="0"/>
          </a:p>
        </p:txBody>
      </p:sp>
      <p:sp>
        <p:nvSpPr>
          <p:cNvPr id="20" name="Shape 18"/>
          <p:cNvSpPr/>
          <p:nvPr/>
        </p:nvSpPr>
        <p:spPr>
          <a:xfrm>
            <a:off x="8174736" y="3200400"/>
            <a:ext cx="3566160" cy="1700784"/>
          </a:xfrm>
          <a:prstGeom prst="roundRect">
            <a:avLst>
              <a:gd name="adj" fmla="val 268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1" name="Text 19"/>
          <p:cNvSpPr txBox="1"/>
          <p:nvPr/>
        </p:nvSpPr>
        <p:spPr>
          <a:xfrm>
            <a:off x="8357616" y="3310128"/>
            <a:ext cx="3200400" cy="256032"/>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Address</a:t>
            </a:r>
            <a:endParaRPr lang="en-US" sz="1300" dirty="0"/>
          </a:p>
        </p:txBody>
      </p:sp>
      <p:sp>
        <p:nvSpPr>
          <p:cNvPr id="22" name="Text 20"/>
          <p:cNvSpPr txBox="1"/>
          <p:nvPr/>
        </p:nvSpPr>
        <p:spPr>
          <a:xfrm>
            <a:off x="8357616" y="3602736"/>
            <a:ext cx="3200400" cy="841248"/>
          </a:xfrm>
          <a:prstGeom prst="rect">
            <a:avLst/>
          </a:prstGeom>
          <a:noFill/>
          <a:ln/>
        </p:spPr>
        <p:txBody>
          <a:bodyPr wrap="square" lIns="0" tIns="0" rIns="0" bIns="0" rtlCol="0" anchor="t"/>
          <a:lstStyle/>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700  IP Class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705  IP Hardware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730  IP Adapter Match</a:t>
            </a:r>
            <a:endParaRPr lang="en-US" sz="950" dirty="0"/>
          </a:p>
          <a:p>
            <a:pPr indent="0" marL="0">
              <a:lnSpc>
                <a:spcPct val="106000"/>
              </a:lnSpc>
              <a:buNone/>
            </a:pPr>
            <a:r>
              <a:rPr lang="en-US" sz="950" dirty="0">
                <a:solidFill>
                  <a:srgbClr val="24272A"/>
                </a:solidFill>
                <a:latin typeface="Courier New" pitchFamily="34" charset="0"/>
                <a:ea typeface="Courier New" pitchFamily="34" charset="-122"/>
                <a:cs typeface="Courier New" pitchFamily="34" charset="-120"/>
              </a:rPr>
              <a:t>740  IP Layered Match</a:t>
            </a:r>
            <a:endParaRPr lang="en-US" sz="950" dirty="0"/>
          </a:p>
        </p:txBody>
      </p:sp>
      <p:sp>
        <p:nvSpPr>
          <p:cNvPr id="23" name="Text 21"/>
          <p:cNvSpPr txBox="1"/>
          <p:nvPr/>
        </p:nvSpPr>
        <p:spPr>
          <a:xfrm>
            <a:off x="8357616" y="4443984"/>
            <a:ext cx="3200400" cy="384048"/>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Last, and hedged with class and balancer checks, because addresses move between machines.</a:t>
            </a:r>
            <a:endParaRPr lang="en-US" sz="950" dirty="0"/>
          </a:p>
        </p:txBody>
      </p:sp>
      <p:sp>
        <p:nvSpPr>
          <p:cNvPr id="24" name="Shape 22"/>
          <p:cNvSpPr/>
          <p:nvPr/>
        </p:nvSpPr>
        <p:spPr>
          <a:xfrm>
            <a:off x="457200" y="5047488"/>
            <a:ext cx="11274552" cy="1060704"/>
          </a:xfrm>
          <a:prstGeom prst="roundRect">
            <a:avLst>
              <a:gd name="adj" fmla="val 431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5" name="Text 23"/>
          <p:cNvSpPr txBox="1"/>
          <p:nvPr/>
        </p:nvSpPr>
        <p:spPr>
          <a:xfrm>
            <a:off x="731520" y="5157216"/>
            <a:ext cx="3657600" cy="256032"/>
          </a:xfrm>
          <a:prstGeom prst="rect">
            <a:avLst/>
          </a:prstGeom>
          <a:noFill/>
          <a:ln/>
        </p:spPr>
        <p:txBody>
          <a:bodyPr wrap="square" lIns="0" tIns="0" rIns="0" bIns="0" rtlCol="0" anchor="ctr"/>
          <a:lstStyle/>
          <a:p>
            <a:pPr indent="0" marL="0">
              <a:buNone/>
            </a:pPr>
            <a:r>
              <a:rPr lang="en-US" sz="1300" b="1" dirty="0">
                <a:solidFill>
                  <a:srgbClr val="E31837"/>
                </a:solidFill>
                <a:latin typeface="Arial" pitchFamily="34" charset="0"/>
                <a:ea typeface="Arial" pitchFamily="34" charset="-122"/>
                <a:cs typeface="Arial" pitchFamily="34" charset="-120"/>
              </a:rPr>
              <a:t>Last in the chain</a:t>
            </a:r>
            <a:endParaRPr lang="en-US" sz="1300" dirty="0"/>
          </a:p>
        </p:txBody>
      </p:sp>
      <p:sp>
        <p:nvSpPr>
          <p:cNvPr id="26" name="Text 24"/>
          <p:cNvSpPr txBox="1"/>
          <p:nvPr/>
        </p:nvSpPr>
        <p:spPr>
          <a:xfrm>
            <a:off x="731520" y="5431536"/>
            <a:ext cx="10698480" cy="566928"/>
          </a:xfrm>
          <a:prstGeom prst="rect">
            <a:avLst/>
          </a:prstGeom>
          <a:noFill/>
          <a:ln/>
        </p:spPr>
        <p:txBody>
          <a:bodyPr wrap="square" lIns="0" tIns="0" rIns="0" bIns="0" rtlCol="0" anchor="t"/>
          <a:lstStyle/>
          <a:p>
            <a:pPr indent="0" marL="0">
              <a:buNone/>
            </a:pPr>
            <a:r>
              <a:rPr lang="en-US" sz="1000" b="1" dirty="0">
                <a:solidFill>
                  <a:srgbClr val="24272A"/>
                </a:solidFill>
                <a:latin typeface="Courier New" pitchFamily="34" charset="0"/>
                <a:ea typeface="Courier New" pitchFamily="34" charset="-122"/>
                <a:cs typeface="Courier New" pitchFamily="34" charset="-120"/>
              </a:rPr>
              <a:t>850  FQDN Name Broad Match</a:t>
            </a:r>
            <a:pPr indent="0" marL="0">
              <a:buNone/>
            </a:pPr>
            <a:r>
              <a:rPr lang="en-US" sz="1050" dirty="0">
                <a:solidFill>
                  <a:srgbClr val="6B7177"/>
                </a:solidFill>
                <a:latin typeface="Arial" pitchFamily="34" charset="0"/>
                <a:ea typeface="Arial" pitchFamily="34" charset="-122"/>
                <a:cs typeface="Arial" pitchFamily="34" charset="-120"/>
              </a:rPr>
              <a:t>   the only rule allowed outside the hardware tree, which is why it runs after everything else. Then the out-of-box Qualys rules: 860 Host ID, 880 Cloud Resource Id, 900 FQDN, 920 NetBIOS, 940 DNS, and the two IP rules that ship inactive. A host the custom chain declines still gets every platform rule; nothing shipped by ServiceNow is replaced, disabled or reordered.</a:t>
            </a:r>
            <a:endParaRPr lang="en-US" sz="1000" dirty="0"/>
          </a:p>
        </p:txBody>
      </p:sp>
      <p:sp>
        <p:nvSpPr>
          <p:cNvPr id="27" name="Text 25"/>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Orders are spaced so a future rule can be inserted between two existing ones without renumbering the chain.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4272A"/>
        </a:solidFill>
      </p:bgPr>
    </p:bg>
    <p:spTree>
      <p:nvGrpSpPr>
        <p:cNvPr id="1" name=""/>
        <p:cNvGrpSpPr/>
        <p:nvPr/>
      </p:nvGrpSpPr>
      <p:grpSpPr>
        <a:xfrm>
          <a:off x="0" y="0"/>
          <a:ext cx="0" cy="0"/>
          <a:chOff x="0" y="0"/>
          <a:chExt cx="0" cy="0"/>
        </a:xfrm>
      </p:grpSpPr>
      <p:sp>
        <p:nvSpPr>
          <p:cNvPr id="2" name="Shape 0"/>
          <p:cNvSpPr/>
          <p:nvPr/>
        </p:nvSpPr>
        <p:spPr>
          <a:xfrm>
            <a:off x="457200" y="2331720"/>
            <a:ext cx="566928" cy="566928"/>
          </a:xfrm>
          <a:prstGeom prst="roundRect">
            <a:avLst>
              <a:gd name="adj" fmla="val 25806"/>
            </a:avLst>
          </a:prstGeom>
          <a:solidFill>
            <a:srgbClr val="E31837"/>
          </a:solidFill>
          <a:ln w="12700">
            <a:solidFill>
              <a:srgbClr val="333333"/>
            </a:solidFill>
            <a:prstDash val="solid"/>
          </a:ln>
        </p:spPr>
      </p:sp>
      <p:sp>
        <p:nvSpPr>
          <p:cNvPr id="3" name="Text 1"/>
          <p:cNvSpPr txBox="1"/>
          <p:nvPr/>
        </p:nvSpPr>
        <p:spPr>
          <a:xfrm>
            <a:off x="457200" y="23317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2</a:t>
            </a:r>
            <a:endParaRPr lang="en-US" sz="2200" dirty="0"/>
          </a:p>
        </p:txBody>
      </p:sp>
      <p:sp>
        <p:nvSpPr>
          <p:cNvPr id="4" name="Text 2"/>
          <p:cNvSpPr txBox="1"/>
          <p:nvPr/>
        </p:nvSpPr>
        <p:spPr>
          <a:xfrm>
            <a:off x="1207008" y="2304288"/>
            <a:ext cx="10424160" cy="65836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Five principles</a:t>
            </a:r>
            <a:endParaRPr lang="en-US" sz="3400" dirty="0"/>
          </a:p>
        </p:txBody>
      </p:sp>
      <p:sp>
        <p:nvSpPr>
          <p:cNvPr id="5" name="Text 3"/>
          <p:cNvSpPr txBox="1"/>
          <p:nvPr/>
        </p:nvSpPr>
        <p:spPr>
          <a:xfrm>
            <a:off x="1207008" y="3054096"/>
            <a:ext cx="6583680" cy="822960"/>
          </a:xfrm>
          <a:prstGeom prst="rect">
            <a:avLst/>
          </a:prstGeom>
          <a:noFill/>
          <a:ln/>
        </p:spPr>
        <p:txBody>
          <a:bodyPr wrap="square" lIns="0" tIns="0" rIns="0" bIns="0" rtlCol="0" anchor="t"/>
          <a:lstStyle/>
          <a:p>
            <a:pPr indent="0" marL="0">
              <a:buNone/>
            </a:pPr>
            <a:r>
              <a:rPr lang="en-US" sz="1350" dirty="0">
                <a:solidFill>
                  <a:srgbClr val="B9BEC3"/>
                </a:solidFill>
                <a:latin typeface="Arial" pitchFamily="34" charset="0"/>
                <a:ea typeface="Arial" pitchFamily="34" charset="-122"/>
                <a:cs typeface="Arial" pitchFamily="34" charset="-120"/>
              </a:rPr>
              <a:t>The same five decisions run through all nineteen rules. Once they are clear, every rule page reads quickly.</a:t>
            </a:r>
            <a:endParaRPr lang="en-US" sz="1350" dirty="0"/>
          </a:p>
        </p:txBody>
      </p:sp>
      <p:sp>
        <p:nvSpPr>
          <p:cNvPr id="6" name="Shape 4"/>
          <p:cNvSpPr/>
          <p:nvPr/>
        </p:nvSpPr>
        <p:spPr>
          <a:xfrm>
            <a:off x="8275320" y="2423160"/>
            <a:ext cx="146304" cy="146304"/>
          </a:xfrm>
          <a:prstGeom prst="roundRect">
            <a:avLst>
              <a:gd name="adj" fmla="val 31250"/>
            </a:avLst>
          </a:prstGeom>
          <a:solidFill>
            <a:srgbClr val="E31837"/>
          </a:solidFill>
          <a:ln w="12700">
            <a:solidFill>
              <a:srgbClr val="333333"/>
            </a:solidFill>
            <a:prstDash val="solid"/>
          </a:ln>
        </p:spPr>
      </p:sp>
      <p:sp>
        <p:nvSpPr>
          <p:cNvPr id="7" name="Text 5"/>
          <p:cNvSpPr txBox="1"/>
          <p:nvPr/>
        </p:nvSpPr>
        <p:spPr>
          <a:xfrm>
            <a:off x="8577072" y="2340864"/>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Exactly one candidate, or decline</a:t>
            </a:r>
            <a:endParaRPr lang="en-US" sz="1150" dirty="0"/>
          </a:p>
        </p:txBody>
      </p:sp>
      <p:sp>
        <p:nvSpPr>
          <p:cNvPr id="8" name="Shape 6"/>
          <p:cNvSpPr/>
          <p:nvPr/>
        </p:nvSpPr>
        <p:spPr>
          <a:xfrm>
            <a:off x="8275320" y="2825496"/>
            <a:ext cx="146304" cy="146304"/>
          </a:xfrm>
          <a:prstGeom prst="roundRect">
            <a:avLst>
              <a:gd name="adj" fmla="val 31250"/>
            </a:avLst>
          </a:prstGeom>
          <a:solidFill>
            <a:srgbClr val="E31837"/>
          </a:solidFill>
          <a:ln w="12700">
            <a:solidFill>
              <a:srgbClr val="333333"/>
            </a:solidFill>
            <a:prstDash val="solid"/>
          </a:ln>
        </p:spPr>
      </p:sp>
      <p:sp>
        <p:nvSpPr>
          <p:cNvPr id="9" name="Text 7"/>
          <p:cNvSpPr txBox="1"/>
          <p:nvPr/>
        </p:nvSpPr>
        <p:spPr>
          <a:xfrm>
            <a:off x="8577072" y="2743200"/>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The class must agree with the scan</a:t>
            </a:r>
            <a:endParaRPr lang="en-US" sz="1150" dirty="0"/>
          </a:p>
        </p:txBody>
      </p:sp>
      <p:sp>
        <p:nvSpPr>
          <p:cNvPr id="10" name="Shape 8"/>
          <p:cNvSpPr/>
          <p:nvPr/>
        </p:nvSpPr>
        <p:spPr>
          <a:xfrm>
            <a:off x="8275320" y="3227832"/>
            <a:ext cx="146304" cy="146304"/>
          </a:xfrm>
          <a:prstGeom prst="roundRect">
            <a:avLst>
              <a:gd name="adj" fmla="val 31250"/>
            </a:avLst>
          </a:prstGeom>
          <a:solidFill>
            <a:srgbClr val="E31837"/>
          </a:solidFill>
          <a:ln w="12700">
            <a:solidFill>
              <a:srgbClr val="333333"/>
            </a:solidFill>
            <a:prstDash val="solid"/>
          </a:ln>
        </p:spPr>
      </p:sp>
      <p:sp>
        <p:nvSpPr>
          <p:cNvPr id="11" name="Text 9"/>
          <p:cNvSpPr txBox="1"/>
          <p:nvPr/>
        </p:nvSpPr>
        <p:spPr>
          <a:xfrm>
            <a:off x="8577072" y="3145536"/>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Placeholders are never a match</a:t>
            </a:r>
            <a:endParaRPr lang="en-US" sz="1150" dirty="0"/>
          </a:p>
        </p:txBody>
      </p:sp>
      <p:sp>
        <p:nvSpPr>
          <p:cNvPr id="12" name="Shape 10"/>
          <p:cNvSpPr/>
          <p:nvPr/>
        </p:nvSpPr>
        <p:spPr>
          <a:xfrm>
            <a:off x="8275320" y="3630168"/>
            <a:ext cx="146304" cy="146304"/>
          </a:xfrm>
          <a:prstGeom prst="roundRect">
            <a:avLst>
              <a:gd name="adj" fmla="val 31250"/>
            </a:avLst>
          </a:prstGeom>
          <a:solidFill>
            <a:srgbClr val="E31837"/>
          </a:solidFill>
          <a:ln w="12700">
            <a:solidFill>
              <a:srgbClr val="333333"/>
            </a:solidFill>
            <a:prstDash val="solid"/>
          </a:ln>
        </p:spPr>
      </p:sp>
      <p:sp>
        <p:nvSpPr>
          <p:cNvPr id="13" name="Text 11"/>
          <p:cNvSpPr txBox="1"/>
          <p:nvPr/>
        </p:nvSpPr>
        <p:spPr>
          <a:xfrm>
            <a:off x="8577072" y="3547872"/>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The IP breaks a name tie</a:t>
            </a:r>
            <a:endParaRPr lang="en-US" sz="1150" dirty="0"/>
          </a:p>
        </p:txBody>
      </p:sp>
      <p:sp>
        <p:nvSpPr>
          <p:cNvPr id="14" name="Shape 12"/>
          <p:cNvSpPr/>
          <p:nvPr/>
        </p:nvSpPr>
        <p:spPr>
          <a:xfrm>
            <a:off x="8275320" y="4032504"/>
            <a:ext cx="146304" cy="146304"/>
          </a:xfrm>
          <a:prstGeom prst="roundRect">
            <a:avLst>
              <a:gd name="adj" fmla="val 31250"/>
            </a:avLst>
          </a:prstGeom>
          <a:solidFill>
            <a:srgbClr val="E31837"/>
          </a:solidFill>
          <a:ln w="12700">
            <a:solidFill>
              <a:srgbClr val="333333"/>
            </a:solidFill>
            <a:prstDash val="solid"/>
          </a:ln>
        </p:spPr>
      </p:sp>
      <p:sp>
        <p:nvSpPr>
          <p:cNvPr id="15" name="Text 13"/>
          <p:cNvSpPr txBox="1"/>
          <p:nvPr/>
        </p:nvSpPr>
        <p:spPr>
          <a:xfrm>
            <a:off x="8577072" y="3950208"/>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A balancer is never the host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PRINCIPLE</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One: exactly one candidate, or decline</a:t>
            </a:r>
            <a:endParaRPr lang="en-US" sz="3000" dirty="0"/>
          </a:p>
        </p:txBody>
      </p:sp>
      <p:sp>
        <p:nvSpPr>
          <p:cNvPr id="4" name="Shape 2"/>
          <p:cNvSpPr/>
          <p:nvPr/>
        </p:nvSpPr>
        <p:spPr>
          <a:xfrm>
            <a:off x="457200" y="1389888"/>
            <a:ext cx="5532120" cy="2121408"/>
          </a:xfrm>
          <a:prstGeom prst="roundRect">
            <a:avLst>
              <a:gd name="adj" fmla="val 215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Text 3"/>
          <p:cNvSpPr txBox="1"/>
          <p:nvPr/>
        </p:nvSpPr>
        <p:spPr>
          <a:xfrm>
            <a:off x="685800" y="1517904"/>
            <a:ext cx="5029200" cy="274320"/>
          </a:xfrm>
          <a:prstGeom prst="rect">
            <a:avLst/>
          </a:prstGeom>
          <a:noFill/>
          <a:ln/>
        </p:spPr>
        <p:txBody>
          <a:bodyPr wrap="square" lIns="0" tIns="0" rIns="0" bIns="0" rtlCol="0" anchor="ctr"/>
          <a:lstStyle/>
          <a:p>
            <a:pPr indent="0" marL="0">
              <a:buNone/>
            </a:pPr>
            <a:r>
              <a:rPr lang="en-US" sz="1400" b="1" dirty="0">
                <a:solidFill>
                  <a:srgbClr val="6B7177"/>
                </a:solidFill>
                <a:latin typeface="Arial" pitchFamily="34" charset="0"/>
                <a:ea typeface="Arial" pitchFamily="34" charset="-122"/>
                <a:cs typeface="Arial" pitchFamily="34" charset="-120"/>
              </a:rPr>
              <a:t>Before: a capped result set</a:t>
            </a:r>
            <a:endParaRPr lang="en-US" sz="1400" dirty="0"/>
          </a:p>
        </p:txBody>
      </p:sp>
      <p:sp>
        <p:nvSpPr>
          <p:cNvPr id="6" name="Shape 4"/>
          <p:cNvSpPr/>
          <p:nvPr/>
        </p:nvSpPr>
        <p:spPr>
          <a:xfrm>
            <a:off x="685800" y="1847088"/>
            <a:ext cx="5074920" cy="676656"/>
          </a:xfrm>
          <a:prstGeom prst="roundRect">
            <a:avLst>
              <a:gd name="adj" fmla="val 5405"/>
            </a:avLst>
          </a:prstGeom>
          <a:solidFill>
            <a:srgbClr val="1E2124"/>
          </a:solidFill>
          <a:ln w="12700">
            <a:solidFill>
              <a:srgbClr val="1E2124"/>
            </a:solidFill>
            <a:prstDash val="solid"/>
          </a:ln>
        </p:spPr>
      </p:sp>
      <p:sp>
        <p:nvSpPr>
          <p:cNvPr id="7" name="Text 5"/>
          <p:cNvSpPr txBox="1"/>
          <p:nvPr/>
        </p:nvSpPr>
        <p:spPr>
          <a:xfrm>
            <a:off x="795528" y="1920240"/>
            <a:ext cx="4855464" cy="530352"/>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gr.addQuery('name', host);</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gr.setLimit(2);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ask the database for two</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gr.query();</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(gr.getRowCount() == 1) { ... }</a:t>
            </a:r>
            <a:endParaRPr lang="en-US" sz="900" dirty="0"/>
          </a:p>
        </p:txBody>
      </p:sp>
      <p:sp>
        <p:nvSpPr>
          <p:cNvPr id="8" name="Text 6"/>
          <p:cNvSpPr txBox="1"/>
          <p:nvPr/>
        </p:nvSpPr>
        <p:spPr>
          <a:xfrm>
            <a:off x="685800" y="2633472"/>
            <a:ext cx="5074920" cy="786384"/>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setLimit caps what comes back, so "one row" means one row inside the cap. It reads like a uniqueness test and is not one: a name shared by five CIs looks exactly like a name shared by two.</a:t>
            </a:r>
            <a:endParaRPr lang="en-US" sz="1100" dirty="0"/>
          </a:p>
        </p:txBody>
      </p:sp>
      <p:sp>
        <p:nvSpPr>
          <p:cNvPr id="9" name="Shape 7"/>
          <p:cNvSpPr/>
          <p:nvPr/>
        </p:nvSpPr>
        <p:spPr>
          <a:xfrm>
            <a:off x="6199632" y="1389888"/>
            <a:ext cx="5532120" cy="2121408"/>
          </a:xfrm>
          <a:prstGeom prst="roundRect">
            <a:avLst>
              <a:gd name="adj" fmla="val 215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0" name="Text 8"/>
          <p:cNvSpPr txBox="1"/>
          <p:nvPr/>
        </p:nvSpPr>
        <p:spPr>
          <a:xfrm>
            <a:off x="6428232" y="1517904"/>
            <a:ext cx="5029200" cy="274320"/>
          </a:xfrm>
          <a:prstGeom prst="rect">
            <a:avLst/>
          </a:prstGeom>
          <a:noFill/>
          <a:ln/>
        </p:spPr>
        <p:txBody>
          <a:bodyPr wrap="square" lIns="0" tIns="0" rIns="0" bIns="0" rtlCol="0" anchor="ctr"/>
          <a:lstStyle/>
          <a:p>
            <a:pPr indent="0" marL="0">
              <a:buNone/>
            </a:pPr>
            <a:r>
              <a:rPr lang="en-US" sz="1400" b="1" dirty="0">
                <a:solidFill>
                  <a:srgbClr val="E31837"/>
                </a:solidFill>
                <a:latin typeface="Arial" pitchFamily="34" charset="0"/>
                <a:ea typeface="Arial" pitchFamily="34" charset="-122"/>
                <a:cs typeface="Arial" pitchFamily="34" charset="-120"/>
              </a:rPr>
              <a:t>Now: first row, then look for a second</a:t>
            </a:r>
            <a:endParaRPr lang="en-US" sz="1400" dirty="0"/>
          </a:p>
        </p:txBody>
      </p:sp>
      <p:sp>
        <p:nvSpPr>
          <p:cNvPr id="11" name="Shape 9"/>
          <p:cNvSpPr/>
          <p:nvPr/>
        </p:nvSpPr>
        <p:spPr>
          <a:xfrm>
            <a:off x="6428232" y="1847088"/>
            <a:ext cx="5074920" cy="896112"/>
          </a:xfrm>
          <a:prstGeom prst="roundRect">
            <a:avLst>
              <a:gd name="adj" fmla="val 4082"/>
            </a:avLst>
          </a:prstGeom>
          <a:solidFill>
            <a:srgbClr val="1E2124"/>
          </a:solidFill>
          <a:ln w="12700">
            <a:solidFill>
              <a:srgbClr val="1E2124"/>
            </a:solidFill>
            <a:prstDash val="solid"/>
          </a:ln>
        </p:spPr>
      </p:sp>
      <p:sp>
        <p:nvSpPr>
          <p:cNvPr id="12" name="Text 10"/>
          <p:cNvSpPr txBox="1"/>
          <p:nvPr/>
        </p:nvSpPr>
        <p:spPr>
          <a:xfrm>
            <a:off x="6537960" y="1920240"/>
            <a:ext cx="4855464" cy="749808"/>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gr.addQuery('name', host);</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gr.query();</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(!gr.next()) return null;</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var match = gr.getUniqueValue();</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a second CI exists</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return match;</a:t>
            </a:r>
            <a:endParaRPr lang="en-US" sz="900" dirty="0"/>
          </a:p>
        </p:txBody>
      </p:sp>
      <p:sp>
        <p:nvSpPr>
          <p:cNvPr id="13" name="Text 11"/>
          <p:cNvSpPr txBox="1"/>
          <p:nvPr/>
        </p:nvSpPr>
        <p:spPr>
          <a:xfrm>
            <a:off x="6428232" y="2852928"/>
            <a:ext cx="5074920" cy="56692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hasNext() asks the whole result set, so two CIs anywhere in the CMDB carrying that value end the rule. The uniqueness test now means what it says.</a:t>
            </a:r>
            <a:endParaRPr lang="en-US" sz="1100" dirty="0"/>
          </a:p>
        </p:txBody>
      </p:sp>
      <p:sp>
        <p:nvSpPr>
          <p:cNvPr id="14" name="Shape 12"/>
          <p:cNvSpPr/>
          <p:nvPr/>
        </p:nvSpPr>
        <p:spPr>
          <a:xfrm>
            <a:off x="457200" y="3694176"/>
            <a:ext cx="3566160" cy="2194560"/>
          </a:xfrm>
          <a:prstGeom prst="roundRect">
            <a:avLst>
              <a:gd name="adj" fmla="val 208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5" name="Text 13"/>
          <p:cNvSpPr txBox="1"/>
          <p:nvPr/>
        </p:nvSpPr>
        <p:spPr>
          <a:xfrm>
            <a:off x="685800" y="3840480"/>
            <a:ext cx="3108960" cy="512064"/>
          </a:xfrm>
          <a:prstGeom prst="rect">
            <a:avLst/>
          </a:prstGeom>
          <a:noFill/>
          <a:ln/>
        </p:spPr>
        <p:txBody>
          <a:bodyPr wrap="square" lIns="0" tIns="0" rIns="0" bIns="0" rtlCol="0" anchor="t"/>
          <a:lstStyle/>
          <a:p>
            <a:pPr indent="0" marL="0">
              <a:buNone/>
            </a:pPr>
            <a:r>
              <a:rPr lang="en-US" sz="1300" b="1" dirty="0">
                <a:solidFill>
                  <a:srgbClr val="24272A"/>
                </a:solidFill>
                <a:latin typeface="Arial" pitchFamily="34" charset="0"/>
                <a:ea typeface="Arial" pitchFamily="34" charset="-122"/>
                <a:cs typeface="Arial" pitchFamily="34" charset="-120"/>
              </a:rPr>
              <a:t>Where a tie can still be broken</a:t>
            </a:r>
            <a:endParaRPr lang="en-US" sz="1300" dirty="0"/>
          </a:p>
        </p:txBody>
      </p:sp>
      <p:sp>
        <p:nvSpPr>
          <p:cNvPr id="16" name="Text 14"/>
          <p:cNvSpPr txBox="1"/>
          <p:nvPr/>
        </p:nvSpPr>
        <p:spPr>
          <a:xfrm>
            <a:off x="685800" y="4389120"/>
            <a:ext cx="3108960" cy="13716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FQDN and hostname rules collect every candidate and take one when the scanned IP confirms exactly one of them. That is a second, independent piece of evidence, not a cap on the result.</a:t>
            </a:r>
            <a:endParaRPr lang="en-US" sz="1100" dirty="0"/>
          </a:p>
        </p:txBody>
      </p:sp>
      <p:sp>
        <p:nvSpPr>
          <p:cNvPr id="17" name="Shape 15"/>
          <p:cNvSpPr/>
          <p:nvPr/>
        </p:nvSpPr>
        <p:spPr>
          <a:xfrm>
            <a:off x="4251960" y="3694176"/>
            <a:ext cx="3566160" cy="2194560"/>
          </a:xfrm>
          <a:prstGeom prst="roundRect">
            <a:avLst>
              <a:gd name="adj" fmla="val 208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8" name="Text 16"/>
          <p:cNvSpPr txBox="1"/>
          <p:nvPr/>
        </p:nvSpPr>
        <p:spPr>
          <a:xfrm>
            <a:off x="4480560" y="3840480"/>
            <a:ext cx="3108960" cy="512064"/>
          </a:xfrm>
          <a:prstGeom prst="rect">
            <a:avLst/>
          </a:prstGeom>
          <a:noFill/>
          <a:ln/>
        </p:spPr>
        <p:txBody>
          <a:bodyPr wrap="square" lIns="0" tIns="0" rIns="0" bIns="0" rtlCol="0" anchor="t"/>
          <a:lstStyle/>
          <a:p>
            <a:pPr indent="0" marL="0">
              <a:buNone/>
            </a:pPr>
            <a:r>
              <a:rPr lang="en-US" sz="1300" b="1" dirty="0">
                <a:solidFill>
                  <a:srgbClr val="24272A"/>
                </a:solidFill>
                <a:latin typeface="Arial" pitchFamily="34" charset="0"/>
                <a:ea typeface="Arial" pitchFamily="34" charset="-122"/>
                <a:cs typeface="Arial" pitchFamily="34" charset="-120"/>
              </a:rPr>
              <a:t>Where it cannot</a:t>
            </a:r>
            <a:endParaRPr lang="en-US" sz="1300" dirty="0"/>
          </a:p>
        </p:txBody>
      </p:sp>
      <p:sp>
        <p:nvSpPr>
          <p:cNvPr id="19" name="Text 17"/>
          <p:cNvSpPr txBox="1"/>
          <p:nvPr/>
        </p:nvSpPr>
        <p:spPr>
          <a:xfrm>
            <a:off x="4480560" y="4389120"/>
            <a:ext cx="3108960" cy="13716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Serial, address and the three new rules have nothing further to weigh. Two candidates always end the rule, and the host moves to whichever rule can read different evidence.</a:t>
            </a:r>
            <a:endParaRPr lang="en-US" sz="1100" dirty="0"/>
          </a:p>
        </p:txBody>
      </p:sp>
      <p:sp>
        <p:nvSpPr>
          <p:cNvPr id="20" name="Shape 18"/>
          <p:cNvSpPr/>
          <p:nvPr/>
        </p:nvSpPr>
        <p:spPr>
          <a:xfrm>
            <a:off x="8046720" y="3694176"/>
            <a:ext cx="3566160" cy="2194560"/>
          </a:xfrm>
          <a:prstGeom prst="roundRect">
            <a:avLst>
              <a:gd name="adj" fmla="val 208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1" name="Text 19"/>
          <p:cNvSpPr txBox="1"/>
          <p:nvPr/>
        </p:nvSpPr>
        <p:spPr>
          <a:xfrm>
            <a:off x="8275320" y="3840480"/>
            <a:ext cx="3108960" cy="512064"/>
          </a:xfrm>
          <a:prstGeom prst="rect">
            <a:avLst/>
          </a:prstGeom>
          <a:noFill/>
          <a:ln/>
        </p:spPr>
        <p:txBody>
          <a:bodyPr wrap="square" lIns="0" tIns="0" rIns="0" bIns="0" rtlCol="0" anchor="t"/>
          <a:lstStyle/>
          <a:p>
            <a:pPr indent="0" marL="0">
              <a:buNone/>
            </a:pPr>
            <a:r>
              <a:rPr lang="en-US" sz="1300" b="1" dirty="0">
                <a:solidFill>
                  <a:srgbClr val="24272A"/>
                </a:solidFill>
                <a:latin typeface="Arial" pitchFamily="34" charset="0"/>
                <a:ea typeface="Arial" pitchFamily="34" charset="-122"/>
                <a:cs typeface="Arial" pitchFamily="34" charset="-120"/>
              </a:rPr>
              <a:t>What it costs</a:t>
            </a:r>
            <a:endParaRPr lang="en-US" sz="1300" dirty="0"/>
          </a:p>
        </p:txBody>
      </p:sp>
      <p:sp>
        <p:nvSpPr>
          <p:cNvPr id="22" name="Text 20"/>
          <p:cNvSpPr txBox="1"/>
          <p:nvPr/>
        </p:nvSpPr>
        <p:spPr>
          <a:xfrm>
            <a:off x="8275320" y="4389120"/>
            <a:ext cx="3108960" cy="13716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A rule that used to answer on a shared value now declines, so a few hosts fall further down the chain. That is the intended trade: a later, weaker match, or an honest unmatched, instead of a confident wrong one.</a:t>
            </a:r>
            <a:endParaRPr lang="en-US" sz="1100" dirty="0"/>
          </a:p>
        </p:txBody>
      </p:sp>
      <p:sp>
        <p:nvSpPr>
          <p:cNvPr id="23" name="Text 21"/>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No rule in the chain calls setLimit; every one of them ends on next() followed by hasNext(), or on a counted set of owners.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PRINCIPLE</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Two: the CI class must agree with the scan</a:t>
            </a:r>
            <a:endParaRPr lang="en-US" sz="3000" dirty="0"/>
          </a:p>
        </p:txBody>
      </p:sp>
      <p:sp>
        <p:nvSpPr>
          <p:cNvPr id="4" name="Text 2"/>
          <p:cNvSpPr txBox="1"/>
          <p:nvPr/>
        </p:nvSpPr>
        <p:spPr>
          <a:xfrm>
            <a:off x="457200" y="1298448"/>
            <a:ext cx="11247120" cy="310896"/>
          </a:xfrm>
          <a:prstGeom prst="rect">
            <a:avLst/>
          </a:prstGeom>
          <a:noFill/>
          <a:ln/>
        </p:spPr>
        <p:txBody>
          <a:bodyPr wrap="square" lIns="0" tIns="0" rIns="0" bIns="0" rtlCol="0" anchor="ctr"/>
          <a:lstStyle/>
          <a:p>
            <a:pPr indent="0" marL="0">
              <a:buNone/>
            </a:pPr>
            <a:r>
              <a:rPr lang="en-US" sz="1200" dirty="0">
                <a:solidFill>
                  <a:srgbClr val="6B7177"/>
                </a:solidFill>
                <a:latin typeface="Arial" pitchFamily="34" charset="0"/>
                <a:ea typeface="Arial" pitchFamily="34" charset="-122"/>
                <a:cs typeface="Arial" pitchFamily="34" charset="-120"/>
              </a:rPr>
              <a:t>Qualys reports an operating system as free text. classFor() turns that text into the CMDB class the CI should be in, and the chain uses the answer in two different ways.</a:t>
            </a:r>
            <a:endParaRPr lang="en-US" sz="1200" dirty="0"/>
          </a:p>
        </p:txBody>
      </p:sp>
      <p:sp>
        <p:nvSpPr>
          <p:cNvPr id="5" name="Shape 3"/>
          <p:cNvSpPr/>
          <p:nvPr/>
        </p:nvSpPr>
        <p:spPr>
          <a:xfrm>
            <a:off x="457200" y="1737360"/>
            <a:ext cx="5532120" cy="2286000"/>
          </a:xfrm>
          <a:prstGeom prst="roundRect">
            <a:avLst>
              <a:gd name="adj" fmla="val 2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6" name="Text 4"/>
          <p:cNvSpPr txBox="1"/>
          <p:nvPr/>
        </p:nvSpPr>
        <p:spPr>
          <a:xfrm>
            <a:off x="685800" y="1865376"/>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As a filter, in the class rules</a:t>
            </a:r>
            <a:endParaRPr lang="en-US" sz="1400" dirty="0"/>
          </a:p>
        </p:txBody>
      </p:sp>
      <p:sp>
        <p:nvSpPr>
          <p:cNvPr id="7" name="Shape 5"/>
          <p:cNvSpPr/>
          <p:nvPr/>
        </p:nvSpPr>
        <p:spPr>
          <a:xfrm>
            <a:off x="685800" y="2212848"/>
            <a:ext cx="5074920" cy="786384"/>
          </a:xfrm>
          <a:prstGeom prst="roundRect">
            <a:avLst>
              <a:gd name="adj" fmla="val 4651"/>
            </a:avLst>
          </a:prstGeom>
          <a:solidFill>
            <a:srgbClr val="1E2124"/>
          </a:solidFill>
          <a:ln w="12700">
            <a:solidFill>
              <a:srgbClr val="1E2124"/>
            </a:solidFill>
            <a:prstDash val="solid"/>
          </a:ln>
        </p:spPr>
      </p:sp>
      <p:sp>
        <p:nvSpPr>
          <p:cNvPr id="8" name="Text 6"/>
          <p:cNvSpPr txBox="1"/>
          <p:nvPr/>
        </p:nvSpPr>
        <p:spPr>
          <a:xfrm>
            <a:off x="795528" y="2286000"/>
            <a:ext cx="4855464" cy="640080"/>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var pref = classFor(sourcePayload.OS);</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(!pref) return null;</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var gr = new GlideRecord(pref);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and its sub-classes</a:t>
            </a:r>
            <a:endParaRPr lang="en-US" sz="900" dirty="0"/>
          </a:p>
        </p:txBody>
      </p:sp>
      <p:sp>
        <p:nvSpPr>
          <p:cNvPr id="9" name="Text 7"/>
          <p:cNvSpPr txBox="1"/>
          <p:nvPr/>
        </p:nvSpPr>
        <p:spPr>
          <a:xfrm>
            <a:off x="685800" y="3072384"/>
            <a:ext cx="5074920" cy="82296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search never leaves the class, so a Red Hat host cannot be matched to a Windows Server that happens to carry the same name. No class means the rule declines and its hardware-wide twin takes over.</a:t>
            </a:r>
            <a:endParaRPr lang="en-US" sz="1100" dirty="0"/>
          </a:p>
        </p:txBody>
      </p:sp>
      <p:sp>
        <p:nvSpPr>
          <p:cNvPr id="10" name="Shape 8"/>
          <p:cNvSpPr/>
          <p:nvPr/>
        </p:nvSpPr>
        <p:spPr>
          <a:xfrm>
            <a:off x="6199632" y="1737360"/>
            <a:ext cx="5532120" cy="2286000"/>
          </a:xfrm>
          <a:prstGeom prst="roundRect">
            <a:avLst>
              <a:gd name="adj" fmla="val 2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428232" y="1865376"/>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As a veto, in the hardware rules</a:t>
            </a:r>
            <a:endParaRPr lang="en-US" sz="1400" dirty="0"/>
          </a:p>
        </p:txBody>
      </p:sp>
      <p:sp>
        <p:nvSpPr>
          <p:cNvPr id="12" name="Shape 10"/>
          <p:cNvSpPr/>
          <p:nvPr/>
        </p:nvSpPr>
        <p:spPr>
          <a:xfrm>
            <a:off x="6428232" y="2212848"/>
            <a:ext cx="5074920" cy="786384"/>
          </a:xfrm>
          <a:prstGeom prst="roundRect">
            <a:avLst>
              <a:gd name="adj" fmla="val 4651"/>
            </a:avLst>
          </a:prstGeom>
          <a:solidFill>
            <a:srgbClr val="1E2124"/>
          </a:solidFill>
          <a:ln w="12700">
            <a:solidFill>
              <a:srgbClr val="1E2124"/>
            </a:solidFill>
            <a:prstDash val="solid"/>
          </a:ln>
        </p:spPr>
      </p:sp>
      <p:sp>
        <p:nvSpPr>
          <p:cNvPr id="13" name="Text 11"/>
          <p:cNvSpPr txBox="1"/>
          <p:nvPr/>
        </p:nvSpPr>
        <p:spPr>
          <a:xfrm>
            <a:off x="6537960" y="2286000"/>
            <a:ext cx="4855464" cy="640080"/>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(pref)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var chk = new GlideRecord(pref);</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if (!chk.get(id) &amp;&amp; !generic[cls]) return null;</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a:t>
            </a:r>
            <a:endParaRPr lang="en-US" sz="900" dirty="0"/>
          </a:p>
        </p:txBody>
      </p:sp>
      <p:sp>
        <p:nvSpPr>
          <p:cNvPr id="14" name="Text 12"/>
          <p:cNvSpPr txBox="1"/>
          <p:nvPr/>
        </p:nvSpPr>
        <p:spPr>
          <a:xfrm>
            <a:off x="6428232" y="3072384"/>
            <a:ext cx="5074920" cy="82296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search covers the whole hardware tree, and the class is checked afterwards. Generic classes, Hardware, Computer, Server and UNIX Server, say nothing about the OS and never veto.</a:t>
            </a:r>
            <a:endParaRPr lang="en-US" sz="1100" dirty="0"/>
          </a:p>
        </p:txBody>
      </p:sp>
      <p:sp>
        <p:nvSpPr>
          <p:cNvPr id="15" name="Shape 13"/>
          <p:cNvSpPr/>
          <p:nvPr/>
        </p:nvSpPr>
        <p:spPr>
          <a:xfrm>
            <a:off x="457200" y="4224528"/>
            <a:ext cx="11274552" cy="1737360"/>
          </a:xfrm>
          <a:prstGeom prst="roundRect">
            <a:avLst>
              <a:gd name="adj" fmla="val 263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6" name="Text 14"/>
          <p:cNvSpPr txBox="1"/>
          <p:nvPr/>
        </p:nvSpPr>
        <p:spPr>
          <a:xfrm>
            <a:off x="685800" y="4352544"/>
            <a:ext cx="54864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What the OS text maps to</a:t>
            </a:r>
            <a:endParaRPr lang="en-US" sz="1400" dirty="0"/>
          </a:p>
        </p:txBody>
      </p:sp>
      <p:sp>
        <p:nvSpPr>
          <p:cNvPr id="17" name="Text 15"/>
          <p:cNvSpPr txBox="1"/>
          <p:nvPr/>
        </p:nvSpPr>
        <p:spPr>
          <a:xfrm>
            <a:off x="685800" y="4718304"/>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Red Hat, Ubuntu, SUSE, CentOS, EulerOS, Amazon</a:t>
            </a:r>
            <a:endParaRPr lang="en-US" sz="1000" dirty="0"/>
          </a:p>
        </p:txBody>
      </p:sp>
      <p:sp>
        <p:nvSpPr>
          <p:cNvPr id="18" name="Text 16"/>
          <p:cNvSpPr txBox="1"/>
          <p:nvPr/>
        </p:nvSpPr>
        <p:spPr>
          <a:xfrm>
            <a:off x="3822192" y="4718304"/>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19" name="Text 17"/>
          <p:cNvSpPr txBox="1"/>
          <p:nvPr/>
        </p:nvSpPr>
        <p:spPr>
          <a:xfrm>
            <a:off x="4041648" y="4718304"/>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Linux Server</a:t>
            </a:r>
            <a:endParaRPr lang="en-US" sz="1000" dirty="0"/>
          </a:p>
        </p:txBody>
      </p:sp>
      <p:sp>
        <p:nvSpPr>
          <p:cNvPr id="20" name="Text 18"/>
          <p:cNvSpPr txBox="1"/>
          <p:nvPr/>
        </p:nvSpPr>
        <p:spPr>
          <a:xfrm>
            <a:off x="6309360" y="4718304"/>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Windows Server 2016 Standard</a:t>
            </a:r>
            <a:endParaRPr lang="en-US" sz="1000" dirty="0"/>
          </a:p>
        </p:txBody>
      </p:sp>
      <p:sp>
        <p:nvSpPr>
          <p:cNvPr id="21" name="Text 19"/>
          <p:cNvSpPr txBox="1"/>
          <p:nvPr/>
        </p:nvSpPr>
        <p:spPr>
          <a:xfrm>
            <a:off x="9445752" y="4718304"/>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22" name="Text 20"/>
          <p:cNvSpPr txBox="1"/>
          <p:nvPr/>
        </p:nvSpPr>
        <p:spPr>
          <a:xfrm>
            <a:off x="9665208" y="4718304"/>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Windows Server</a:t>
            </a:r>
            <a:endParaRPr lang="en-US" sz="1000" dirty="0"/>
          </a:p>
        </p:txBody>
      </p:sp>
      <p:sp>
        <p:nvSpPr>
          <p:cNvPr id="23" name="Text 21"/>
          <p:cNvSpPr txBox="1"/>
          <p:nvPr/>
        </p:nvSpPr>
        <p:spPr>
          <a:xfrm>
            <a:off x="685800" y="5020056"/>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Windows 10 Enterprise</a:t>
            </a:r>
            <a:endParaRPr lang="en-US" sz="1000" dirty="0"/>
          </a:p>
        </p:txBody>
      </p:sp>
      <p:sp>
        <p:nvSpPr>
          <p:cNvPr id="24" name="Text 22"/>
          <p:cNvSpPr txBox="1"/>
          <p:nvPr/>
        </p:nvSpPr>
        <p:spPr>
          <a:xfrm>
            <a:off x="3822192" y="5020056"/>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25" name="Text 23"/>
          <p:cNvSpPr txBox="1"/>
          <p:nvPr/>
        </p:nvSpPr>
        <p:spPr>
          <a:xfrm>
            <a:off x="4041648" y="5020056"/>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Computer, a workstation</a:t>
            </a:r>
            <a:endParaRPr lang="en-US" sz="1000" dirty="0"/>
          </a:p>
        </p:txBody>
      </p:sp>
      <p:sp>
        <p:nvSpPr>
          <p:cNvPr id="26" name="Text 24"/>
          <p:cNvSpPr txBox="1"/>
          <p:nvPr/>
        </p:nvSpPr>
        <p:spPr>
          <a:xfrm>
            <a:off x="6309360" y="5020056"/>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VMware ESXi 7.0.3</a:t>
            </a:r>
            <a:endParaRPr lang="en-US" sz="1000" dirty="0"/>
          </a:p>
        </p:txBody>
      </p:sp>
      <p:sp>
        <p:nvSpPr>
          <p:cNvPr id="27" name="Text 25"/>
          <p:cNvSpPr txBox="1"/>
          <p:nvPr/>
        </p:nvSpPr>
        <p:spPr>
          <a:xfrm>
            <a:off x="9445752" y="5020056"/>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28" name="Text 26"/>
          <p:cNvSpPr txBox="1"/>
          <p:nvPr/>
        </p:nvSpPr>
        <p:spPr>
          <a:xfrm>
            <a:off x="9665208" y="5020056"/>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ESX Server</a:t>
            </a:r>
            <a:endParaRPr lang="en-US" sz="1000" dirty="0"/>
          </a:p>
        </p:txBody>
      </p:sp>
      <p:sp>
        <p:nvSpPr>
          <p:cNvPr id="29" name="Text 27"/>
          <p:cNvSpPr txBox="1"/>
          <p:nvPr/>
        </p:nvSpPr>
        <p:spPr>
          <a:xfrm>
            <a:off x="685800" y="5321808"/>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AIX, Solaris, SunOS, HP-UX</a:t>
            </a:r>
            <a:endParaRPr lang="en-US" sz="1000" dirty="0"/>
          </a:p>
        </p:txBody>
      </p:sp>
      <p:sp>
        <p:nvSpPr>
          <p:cNvPr id="30" name="Text 28"/>
          <p:cNvSpPr txBox="1"/>
          <p:nvPr/>
        </p:nvSpPr>
        <p:spPr>
          <a:xfrm>
            <a:off x="3822192" y="5321808"/>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31" name="Text 29"/>
          <p:cNvSpPr txBox="1"/>
          <p:nvPr/>
        </p:nvSpPr>
        <p:spPr>
          <a:xfrm>
            <a:off x="4041648" y="5321808"/>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the matching UNIX class</a:t>
            </a:r>
            <a:endParaRPr lang="en-US" sz="1000" dirty="0"/>
          </a:p>
        </p:txBody>
      </p:sp>
      <p:sp>
        <p:nvSpPr>
          <p:cNvPr id="32" name="Text 30"/>
          <p:cNvSpPr txBox="1"/>
          <p:nvPr/>
        </p:nvSpPr>
        <p:spPr>
          <a:xfrm>
            <a:off x="6309360" y="5321808"/>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Cisco NX-OS, CatOS, Cisco</a:t>
            </a:r>
            <a:endParaRPr lang="en-US" sz="1000" dirty="0"/>
          </a:p>
        </p:txBody>
      </p:sp>
      <p:sp>
        <p:nvSpPr>
          <p:cNvPr id="33" name="Text 31"/>
          <p:cNvSpPr txBox="1"/>
          <p:nvPr/>
        </p:nvSpPr>
        <p:spPr>
          <a:xfrm>
            <a:off x="9445752" y="5321808"/>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34" name="Text 32"/>
          <p:cNvSpPr txBox="1"/>
          <p:nvPr/>
        </p:nvSpPr>
        <p:spPr>
          <a:xfrm>
            <a:off x="9665208" y="5321808"/>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Network Gear</a:t>
            </a:r>
            <a:endParaRPr lang="en-US" sz="1000" dirty="0"/>
          </a:p>
        </p:txBody>
      </p:sp>
      <p:sp>
        <p:nvSpPr>
          <p:cNvPr id="35" name="Text 33"/>
          <p:cNvSpPr txBox="1"/>
          <p:nvPr/>
        </p:nvSpPr>
        <p:spPr>
          <a:xfrm>
            <a:off x="685800" y="5623560"/>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NetApp, ONTAP</a:t>
            </a:r>
            <a:endParaRPr lang="en-US" sz="1000" dirty="0"/>
          </a:p>
        </p:txBody>
      </p:sp>
      <p:sp>
        <p:nvSpPr>
          <p:cNvPr id="36" name="Text 34"/>
          <p:cNvSpPr txBox="1"/>
          <p:nvPr/>
        </p:nvSpPr>
        <p:spPr>
          <a:xfrm>
            <a:off x="3822192" y="5623560"/>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37" name="Text 35"/>
          <p:cNvSpPr txBox="1"/>
          <p:nvPr/>
        </p:nvSpPr>
        <p:spPr>
          <a:xfrm>
            <a:off x="4041648" y="5623560"/>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Storage Server</a:t>
            </a:r>
            <a:endParaRPr lang="en-US" sz="1000" dirty="0"/>
          </a:p>
        </p:txBody>
      </p:sp>
      <p:sp>
        <p:nvSpPr>
          <p:cNvPr id="38" name="Text 36"/>
          <p:cNvSpPr txBox="1"/>
          <p:nvPr/>
        </p:nvSpPr>
        <p:spPr>
          <a:xfrm>
            <a:off x="6309360" y="5623560"/>
            <a:ext cx="3108960" cy="274320"/>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Seven products separated by slashes</a:t>
            </a:r>
            <a:endParaRPr lang="en-US" sz="1000" dirty="0"/>
          </a:p>
        </p:txBody>
      </p:sp>
      <p:sp>
        <p:nvSpPr>
          <p:cNvPr id="39" name="Text 37"/>
          <p:cNvSpPr txBox="1"/>
          <p:nvPr/>
        </p:nvSpPr>
        <p:spPr>
          <a:xfrm>
            <a:off x="9445752" y="5623560"/>
            <a:ext cx="182880" cy="274320"/>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&gt;</a:t>
            </a:r>
            <a:endParaRPr lang="en-US" sz="1000" dirty="0"/>
          </a:p>
        </p:txBody>
      </p:sp>
      <p:sp>
        <p:nvSpPr>
          <p:cNvPr id="40" name="Text 38"/>
          <p:cNvSpPr txBox="1"/>
          <p:nvPr/>
        </p:nvSpPr>
        <p:spPr>
          <a:xfrm>
            <a:off x="9665208" y="5623560"/>
            <a:ext cx="1828800" cy="274320"/>
          </a:xfrm>
          <a:prstGeom prst="rect">
            <a:avLst/>
          </a:prstGeom>
          <a:noFill/>
          <a:ln/>
        </p:spPr>
        <p:txBody>
          <a:bodyPr wrap="square" lIns="0" tIns="0" rIns="0" bIns="0" rtlCol="0" anchor="ctr"/>
          <a:lstStyle/>
          <a:p>
            <a:pPr indent="0" marL="0">
              <a:buNone/>
            </a:pPr>
            <a:r>
              <a:rPr lang="en-US" sz="1000" b="1" dirty="0">
                <a:solidFill>
                  <a:srgbClr val="6B7177"/>
                </a:solidFill>
                <a:latin typeface="Arial" pitchFamily="34" charset="0"/>
                <a:ea typeface="Arial" pitchFamily="34" charset="-122"/>
                <a:cs typeface="Arial" pitchFamily="34" charset="-120"/>
              </a:rPr>
              <a:t>no class: the scan could not identify it</a:t>
            </a:r>
            <a:endParaRPr lang="en-US" sz="1000" dirty="0"/>
          </a:p>
        </p:txBody>
      </p:sp>
      <p:sp>
        <p:nvSpPr>
          <p:cNvPr id="41" name="Text 39"/>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A third or more of the backlog carries no OS text at all, which is why every class rule has a hardware-wide twin behind it.</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PRINCIPLE</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Three: placeholder classes are never a match</a:t>
            </a:r>
            <a:endParaRPr lang="en-US" sz="3000" dirty="0"/>
          </a:p>
        </p:txBody>
      </p:sp>
      <p:sp>
        <p:nvSpPr>
          <p:cNvPr id="4" name="Shape 2"/>
          <p:cNvSpPr/>
          <p:nvPr/>
        </p:nvSpPr>
        <p:spPr>
          <a:xfrm>
            <a:off x="457200" y="1444752"/>
            <a:ext cx="5532120" cy="2103120"/>
          </a:xfrm>
          <a:prstGeom prst="roundRect">
            <a:avLst>
              <a:gd name="adj" fmla="val 217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Text 3"/>
          <p:cNvSpPr txBox="1"/>
          <p:nvPr/>
        </p:nvSpPr>
        <p:spPr>
          <a:xfrm>
            <a:off x="685800" y="1572768"/>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Read once, applied in every search</a:t>
            </a:r>
            <a:endParaRPr lang="en-US" sz="1400" dirty="0"/>
          </a:p>
        </p:txBody>
      </p:sp>
      <p:sp>
        <p:nvSpPr>
          <p:cNvPr id="6" name="Shape 4"/>
          <p:cNvSpPr/>
          <p:nvPr/>
        </p:nvSpPr>
        <p:spPr>
          <a:xfrm>
            <a:off x="685800" y="1920240"/>
            <a:ext cx="5074920" cy="1005840"/>
          </a:xfrm>
          <a:prstGeom prst="roundRect">
            <a:avLst>
              <a:gd name="adj" fmla="val 3636"/>
            </a:avLst>
          </a:prstGeom>
          <a:solidFill>
            <a:srgbClr val="1E2124"/>
          </a:solidFill>
          <a:ln w="12700">
            <a:solidFill>
              <a:srgbClr val="1E2124"/>
            </a:solidFill>
            <a:prstDash val="solid"/>
          </a:ln>
        </p:spPr>
      </p:sp>
      <p:sp>
        <p:nvSpPr>
          <p:cNvPr id="7" name="Text 5"/>
          <p:cNvSpPr txBox="1"/>
          <p:nvPr/>
        </p:nvSpPr>
        <p:spPr>
          <a:xfrm>
            <a:off x="795528" y="1993392"/>
            <a:ext cx="4855464" cy="859536"/>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var ignore = (typeof _ignoreClass != 'undefined' &amp;&amp;</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_ignoreClass) ? ('' + _ignoreClass)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gs.getProperty('sn_sec_cmn.ignoreCIClass',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gr.addQuery('sys_class_name', 'NOT IN', ignore);</a:t>
            </a:r>
            <a:endParaRPr lang="en-US" sz="900" dirty="0"/>
          </a:p>
        </p:txBody>
      </p:sp>
      <p:sp>
        <p:nvSpPr>
          <p:cNvPr id="8" name="Text 6"/>
          <p:cNvSpPr txBox="1"/>
          <p:nvPr/>
        </p:nvSpPr>
        <p:spPr>
          <a:xfrm>
            <a:off x="685800" y="2980944"/>
            <a:ext cx="5074920" cy="45720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framework passes the list in when it has one; otherwise the rule reads the platform property itself. Either way the same exclusion is on every query.</a:t>
            </a:r>
            <a:endParaRPr lang="en-US" sz="1100" dirty="0"/>
          </a:p>
        </p:txBody>
      </p:sp>
      <p:sp>
        <p:nvSpPr>
          <p:cNvPr id="9" name="Shape 7"/>
          <p:cNvSpPr/>
          <p:nvPr/>
        </p:nvSpPr>
        <p:spPr>
          <a:xfrm>
            <a:off x="6199632" y="1444752"/>
            <a:ext cx="5532120" cy="2103120"/>
          </a:xfrm>
          <a:prstGeom prst="roundRect">
            <a:avLst>
              <a:gd name="adj" fmla="val 217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0" name="Text 8"/>
          <p:cNvSpPr txBox="1"/>
          <p:nvPr/>
        </p:nvSpPr>
        <p:spPr>
          <a:xfrm>
            <a:off x="6428232" y="1572768"/>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What is on the list</a:t>
            </a:r>
            <a:endParaRPr lang="en-US" sz="1400" dirty="0"/>
          </a:p>
        </p:txBody>
      </p:sp>
      <p:sp>
        <p:nvSpPr>
          <p:cNvPr id="11" name="Text 9"/>
          <p:cNvSpPr txBox="1"/>
          <p:nvPr/>
        </p:nvSpPr>
        <p:spPr>
          <a:xfrm>
            <a:off x="6428232" y="1938528"/>
            <a:ext cx="2606040" cy="274320"/>
          </a:xfrm>
          <a:prstGeom prst="rect">
            <a:avLst/>
          </a:prstGeom>
          <a:noFill/>
          <a:ln/>
        </p:spPr>
        <p:txBody>
          <a:bodyPr wrap="square" lIns="0" tIns="0" rIns="0" bIns="0" rtlCol="0" anchor="ctr"/>
          <a:lstStyle/>
          <a:p>
            <a:pPr indent="0" marL="0">
              <a:buNone/>
            </a:pPr>
            <a:r>
              <a:rPr lang="en-US" sz="900" dirty="0">
                <a:solidFill>
                  <a:srgbClr val="E31837"/>
                </a:solidFill>
                <a:latin typeface="Courier New" pitchFamily="34" charset="0"/>
                <a:ea typeface="Courier New" pitchFamily="34" charset="-122"/>
                <a:cs typeface="Courier New" pitchFamily="34" charset="-120"/>
              </a:rPr>
              <a:t>sn_sec_cmn_unmatched_ci</a:t>
            </a:r>
            <a:endParaRPr lang="en-US" sz="900" dirty="0"/>
          </a:p>
        </p:txBody>
      </p:sp>
      <p:sp>
        <p:nvSpPr>
          <p:cNvPr id="12" name="Text 10"/>
          <p:cNvSpPr txBox="1"/>
          <p:nvPr/>
        </p:nvSpPr>
        <p:spPr>
          <a:xfrm>
            <a:off x="9070848" y="1938528"/>
            <a:ext cx="2468880" cy="274320"/>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placeholder written when nothing matched</a:t>
            </a:r>
            <a:endParaRPr lang="en-US" sz="950" dirty="0"/>
          </a:p>
        </p:txBody>
      </p:sp>
      <p:sp>
        <p:nvSpPr>
          <p:cNvPr id="13" name="Text 11"/>
          <p:cNvSpPr txBox="1"/>
          <p:nvPr/>
        </p:nvSpPr>
        <p:spPr>
          <a:xfrm>
            <a:off x="6428232" y="2249424"/>
            <a:ext cx="2606040" cy="274320"/>
          </a:xfrm>
          <a:prstGeom prst="rect">
            <a:avLst/>
          </a:prstGeom>
          <a:noFill/>
          <a:ln/>
        </p:spPr>
        <p:txBody>
          <a:bodyPr wrap="square" lIns="0" tIns="0" rIns="0" bIns="0" rtlCol="0" anchor="ctr"/>
          <a:lstStyle/>
          <a:p>
            <a:pPr indent="0" marL="0">
              <a:buNone/>
            </a:pPr>
            <a:r>
              <a:rPr lang="en-US" sz="900" dirty="0">
                <a:solidFill>
                  <a:srgbClr val="E31837"/>
                </a:solidFill>
                <a:latin typeface="Courier New" pitchFamily="34" charset="0"/>
                <a:ea typeface="Courier New" pitchFamily="34" charset="-122"/>
                <a:cs typeface="Courier New" pitchFamily="34" charset="-120"/>
              </a:rPr>
              <a:t>sn_vul_qualys_ci</a:t>
            </a:r>
            <a:endParaRPr lang="en-US" sz="900" dirty="0"/>
          </a:p>
        </p:txBody>
      </p:sp>
      <p:sp>
        <p:nvSpPr>
          <p:cNvPr id="14" name="Text 12"/>
          <p:cNvSpPr txBox="1"/>
          <p:nvPr/>
        </p:nvSpPr>
        <p:spPr>
          <a:xfrm>
            <a:off x="9070848" y="2249424"/>
            <a:ext cx="2468880" cy="274320"/>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scanner’s own shadow record</a:t>
            </a:r>
            <a:endParaRPr lang="en-US" sz="950" dirty="0"/>
          </a:p>
        </p:txBody>
      </p:sp>
      <p:sp>
        <p:nvSpPr>
          <p:cNvPr id="15" name="Text 13"/>
          <p:cNvSpPr txBox="1"/>
          <p:nvPr/>
        </p:nvSpPr>
        <p:spPr>
          <a:xfrm>
            <a:off x="6428232" y="2560320"/>
            <a:ext cx="2606040" cy="274320"/>
          </a:xfrm>
          <a:prstGeom prst="rect">
            <a:avLst/>
          </a:prstGeom>
          <a:noFill/>
          <a:ln/>
        </p:spPr>
        <p:txBody>
          <a:bodyPr wrap="square" lIns="0" tIns="0" rIns="0" bIns="0" rtlCol="0" anchor="ctr"/>
          <a:lstStyle/>
          <a:p>
            <a:pPr indent="0" marL="0">
              <a:buNone/>
            </a:pPr>
            <a:r>
              <a:rPr lang="en-US" sz="900" dirty="0">
                <a:solidFill>
                  <a:srgbClr val="E31837"/>
                </a:solidFill>
                <a:latin typeface="Courier New" pitchFamily="34" charset="0"/>
                <a:ea typeface="Courier New" pitchFamily="34" charset="-122"/>
                <a:cs typeface="Courier New" pitchFamily="34" charset="-120"/>
              </a:rPr>
              <a:t>cmdb_ci_unclassed_hardware</a:t>
            </a:r>
            <a:endParaRPr lang="en-US" sz="900" dirty="0"/>
          </a:p>
        </p:txBody>
      </p:sp>
      <p:sp>
        <p:nvSpPr>
          <p:cNvPr id="16" name="Text 14"/>
          <p:cNvSpPr txBox="1"/>
          <p:nvPr/>
        </p:nvSpPr>
        <p:spPr>
          <a:xfrm>
            <a:off x="9070848" y="2560320"/>
            <a:ext cx="2468880" cy="274320"/>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a device discovery could not classify</a:t>
            </a:r>
            <a:endParaRPr lang="en-US" sz="950" dirty="0"/>
          </a:p>
        </p:txBody>
      </p:sp>
      <p:sp>
        <p:nvSpPr>
          <p:cNvPr id="17" name="Text 15"/>
          <p:cNvSpPr txBox="1"/>
          <p:nvPr/>
        </p:nvSpPr>
        <p:spPr>
          <a:xfrm>
            <a:off x="6428232" y="2871216"/>
            <a:ext cx="2606040" cy="274320"/>
          </a:xfrm>
          <a:prstGeom prst="rect">
            <a:avLst/>
          </a:prstGeom>
          <a:noFill/>
          <a:ln/>
        </p:spPr>
        <p:txBody>
          <a:bodyPr wrap="square" lIns="0" tIns="0" rIns="0" bIns="0" rtlCol="0" anchor="ctr"/>
          <a:lstStyle/>
          <a:p>
            <a:pPr indent="0" marL="0">
              <a:buNone/>
            </a:pPr>
            <a:r>
              <a:rPr lang="en-US" sz="900" dirty="0">
                <a:solidFill>
                  <a:srgbClr val="E31837"/>
                </a:solidFill>
                <a:latin typeface="Courier New" pitchFamily="34" charset="0"/>
                <a:ea typeface="Courier New" pitchFamily="34" charset="-122"/>
                <a:cs typeface="Courier New" pitchFamily="34" charset="-120"/>
              </a:rPr>
              <a:t>cmdb_ci_incomplete_ip</a:t>
            </a:r>
            <a:endParaRPr lang="en-US" sz="900" dirty="0"/>
          </a:p>
        </p:txBody>
      </p:sp>
      <p:sp>
        <p:nvSpPr>
          <p:cNvPr id="18" name="Text 16"/>
          <p:cNvSpPr txBox="1"/>
          <p:nvPr/>
        </p:nvSpPr>
        <p:spPr>
          <a:xfrm>
            <a:off x="9070848" y="2871216"/>
            <a:ext cx="2468880" cy="274320"/>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an address with no device behind it</a:t>
            </a:r>
            <a:endParaRPr lang="en-US" sz="950" dirty="0"/>
          </a:p>
        </p:txBody>
      </p:sp>
      <p:sp>
        <p:nvSpPr>
          <p:cNvPr id="19" name="Text 17"/>
          <p:cNvSpPr txBox="1"/>
          <p:nvPr/>
        </p:nvSpPr>
        <p:spPr>
          <a:xfrm>
            <a:off x="6428232" y="3182112"/>
            <a:ext cx="2606040" cy="274320"/>
          </a:xfrm>
          <a:prstGeom prst="rect">
            <a:avLst/>
          </a:prstGeom>
          <a:noFill/>
          <a:ln/>
        </p:spPr>
        <p:txBody>
          <a:bodyPr wrap="square" lIns="0" tIns="0" rIns="0" bIns="0" rtlCol="0" anchor="ctr"/>
          <a:lstStyle/>
          <a:p>
            <a:pPr indent="0" marL="0">
              <a:buNone/>
            </a:pPr>
            <a:r>
              <a:rPr lang="en-US" sz="900" dirty="0">
                <a:solidFill>
                  <a:srgbClr val="E31837"/>
                </a:solidFill>
                <a:latin typeface="Courier New" pitchFamily="34" charset="0"/>
                <a:ea typeface="Courier New" pitchFamily="34" charset="-122"/>
                <a:cs typeface="Courier New" pitchFamily="34" charset="-120"/>
              </a:rPr>
              <a:t>cmdb_ci_dns_name</a:t>
            </a:r>
            <a:endParaRPr lang="en-US" sz="900" dirty="0"/>
          </a:p>
        </p:txBody>
      </p:sp>
      <p:sp>
        <p:nvSpPr>
          <p:cNvPr id="20" name="Text 18"/>
          <p:cNvSpPr txBox="1"/>
          <p:nvPr/>
        </p:nvSpPr>
        <p:spPr>
          <a:xfrm>
            <a:off x="9070848" y="3182112"/>
            <a:ext cx="2468880" cy="274320"/>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a name record, not a machine</a:t>
            </a:r>
            <a:endParaRPr lang="en-US" sz="950" dirty="0"/>
          </a:p>
        </p:txBody>
      </p:sp>
      <p:sp>
        <p:nvSpPr>
          <p:cNvPr id="21" name="Shape 19"/>
          <p:cNvSpPr/>
          <p:nvPr/>
        </p:nvSpPr>
        <p:spPr>
          <a:xfrm>
            <a:off x="457200" y="3749040"/>
            <a:ext cx="11274552" cy="1481328"/>
          </a:xfrm>
          <a:prstGeom prst="roundRect">
            <a:avLst>
              <a:gd name="adj" fmla="val 308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2" name="Text 20"/>
          <p:cNvSpPr txBox="1"/>
          <p:nvPr/>
        </p:nvSpPr>
        <p:spPr>
          <a:xfrm>
            <a:off x="731520" y="3913632"/>
            <a:ext cx="548640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Why a placeholder must never win</a:t>
            </a:r>
            <a:endParaRPr lang="en-US" sz="1500" dirty="0"/>
          </a:p>
        </p:txBody>
      </p:sp>
      <p:sp>
        <p:nvSpPr>
          <p:cNvPr id="23" name="Text 21"/>
          <p:cNvSpPr txBox="1"/>
          <p:nvPr/>
        </p:nvSpPr>
        <p:spPr>
          <a:xfrm>
            <a:off x="731520" y="4261104"/>
            <a:ext cx="10698480" cy="1097280"/>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These classes exist to record that something was seen, not what it is. Matching a host to one of them would turn an honest "unmatched" into a false "matched": the Discovered Item would look resolved, the exception report would stop showing it, and the findings would hang off a record no application team owns. Excluding them keeps an unresolved host visible and chaseable, which is the outcome the design prefers over a comfortable but empty answer.</a:t>
            </a:r>
            <a:endParaRPr lang="en-US" sz="1150" dirty="0"/>
          </a:p>
        </p:txBody>
      </p:sp>
      <p:sp>
        <p:nvSpPr>
          <p:cNvPr id="24" name="Text 22"/>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Administrators change the list in sn_sec_cmn.ignoreCIClass; no rule holds a copy of it.</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PRINCIPLES</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Four and five: the tie-break, and the balancer</a:t>
            </a:r>
            <a:endParaRPr lang="en-US" sz="3000" dirty="0"/>
          </a:p>
        </p:txBody>
      </p:sp>
      <p:sp>
        <p:nvSpPr>
          <p:cNvPr id="4" name="Shape 2"/>
          <p:cNvSpPr/>
          <p:nvPr/>
        </p:nvSpPr>
        <p:spPr>
          <a:xfrm>
            <a:off x="457200" y="1417320"/>
            <a:ext cx="5532120" cy="2331720"/>
          </a:xfrm>
          <a:prstGeom prst="roundRect">
            <a:avLst>
              <a:gd name="adj" fmla="val 196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Shape 3"/>
          <p:cNvSpPr/>
          <p:nvPr/>
        </p:nvSpPr>
        <p:spPr>
          <a:xfrm>
            <a:off x="685800" y="1572768"/>
            <a:ext cx="402336" cy="402336"/>
          </a:xfrm>
          <a:prstGeom prst="roundRect">
            <a:avLst>
              <a:gd name="adj" fmla="val 36364"/>
            </a:avLst>
          </a:prstGeom>
          <a:solidFill>
            <a:srgbClr val="E31837"/>
          </a:solidFill>
          <a:ln w="12700">
            <a:solidFill>
              <a:srgbClr val="333333"/>
            </a:solidFill>
            <a:prstDash val="solid"/>
          </a:ln>
        </p:spPr>
      </p:sp>
      <p:sp>
        <p:nvSpPr>
          <p:cNvPr id="6" name="Text 4"/>
          <p:cNvSpPr txBox="1"/>
          <p:nvPr/>
        </p:nvSpPr>
        <p:spPr>
          <a:xfrm>
            <a:off x="685800"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7" name="Text 5"/>
          <p:cNvSpPr txBox="1"/>
          <p:nvPr/>
        </p:nvSpPr>
        <p:spPr>
          <a:xfrm>
            <a:off x="1207008" y="1572768"/>
            <a:ext cx="4572000" cy="402336"/>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The scanned IP breaks a name tie</a:t>
            </a:r>
            <a:endParaRPr lang="en-US" sz="1500" dirty="0"/>
          </a:p>
        </p:txBody>
      </p:sp>
      <p:sp>
        <p:nvSpPr>
          <p:cNvPr id="8" name="Text 6"/>
          <p:cNvSpPr txBox="1"/>
          <p:nvPr/>
        </p:nvSpPr>
        <p:spPr>
          <a:xfrm>
            <a:off x="685800" y="2066544"/>
            <a:ext cx="5074920" cy="65836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CMDBs carry duplicate names honestly: a retired server and its rebuilt replacement, a cluster alias on two nodes. Where a second, independent piece of evidence exists, the rule uses it rather than declining.</a:t>
            </a:r>
            <a:endParaRPr lang="en-US" sz="1100" dirty="0"/>
          </a:p>
        </p:txBody>
      </p:sp>
      <p:sp>
        <p:nvSpPr>
          <p:cNvPr id="9" name="Shape 7"/>
          <p:cNvSpPr/>
          <p:nvPr/>
        </p:nvSpPr>
        <p:spPr>
          <a:xfrm>
            <a:off x="685800" y="2761488"/>
            <a:ext cx="5074920" cy="841248"/>
          </a:xfrm>
          <a:prstGeom prst="roundRect">
            <a:avLst>
              <a:gd name="adj" fmla="val 4348"/>
            </a:avLst>
          </a:prstGeom>
          <a:solidFill>
            <a:srgbClr val="1E2124"/>
          </a:solidFill>
          <a:ln w="12700">
            <a:solidFill>
              <a:srgbClr val="1E2124"/>
            </a:solidFill>
            <a:prstDash val="solid"/>
          </a:ln>
        </p:spPr>
      </p:sp>
      <p:sp>
        <p:nvSpPr>
          <p:cNvPr id="10" name="Text 8"/>
          <p:cNvSpPr txBox="1"/>
          <p:nvPr/>
        </p:nvSpPr>
        <p:spPr>
          <a:xfrm>
            <a:off x="795528" y="2834640"/>
            <a:ext cx="4855464" cy="694944"/>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(ids.length == 1)</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return ids[0];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no tie at all</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if (ids.length &gt; 1 &amp;&amp; ipHits.length == 1)</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return ipHits[0];              </a:t>
            </a:r>
            <a:pPr indent="0" marL="0">
              <a:lnSpc>
                <a:spcPct val="94000"/>
              </a:lnSpc>
              <a:buNone/>
            </a:pPr>
            <a:r>
              <a:rPr lang="en-US" sz="900" i="1" dirty="0">
                <a:solidFill>
                  <a:srgbClr val="9AA1A8"/>
                </a:solidFill>
                <a:latin typeface="Courier New" pitchFamily="34" charset="0"/>
                <a:ea typeface="Courier New" pitchFamily="34" charset="-122"/>
                <a:cs typeface="Courier New" pitchFamily="34" charset="-120"/>
              </a:rPr>
              <a:t>// the IP decides</a:t>
            </a:r>
            <a:endParaRPr lang="en-US" sz="900" dirty="0"/>
          </a:p>
        </p:txBody>
      </p:sp>
      <p:sp>
        <p:nvSpPr>
          <p:cNvPr id="11" name="Shape 9"/>
          <p:cNvSpPr/>
          <p:nvPr/>
        </p:nvSpPr>
        <p:spPr>
          <a:xfrm>
            <a:off x="6199632" y="1417320"/>
            <a:ext cx="5532120" cy="2331720"/>
          </a:xfrm>
          <a:prstGeom prst="roundRect">
            <a:avLst>
              <a:gd name="adj" fmla="val 196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2" name="Shape 10"/>
          <p:cNvSpPr/>
          <p:nvPr/>
        </p:nvSpPr>
        <p:spPr>
          <a:xfrm>
            <a:off x="6428232" y="1572768"/>
            <a:ext cx="402336" cy="402336"/>
          </a:xfrm>
          <a:prstGeom prst="roundRect">
            <a:avLst>
              <a:gd name="adj" fmla="val 36364"/>
            </a:avLst>
          </a:prstGeom>
          <a:solidFill>
            <a:srgbClr val="E31837"/>
          </a:solidFill>
          <a:ln w="12700">
            <a:solidFill>
              <a:srgbClr val="333333"/>
            </a:solidFill>
            <a:prstDash val="solid"/>
          </a:ln>
        </p:spPr>
      </p:sp>
      <p:sp>
        <p:nvSpPr>
          <p:cNvPr id="13" name="Text 11"/>
          <p:cNvSpPr txBox="1"/>
          <p:nvPr/>
        </p:nvSpPr>
        <p:spPr>
          <a:xfrm>
            <a:off x="6428232" y="1572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14" name="Text 12"/>
          <p:cNvSpPr txBox="1"/>
          <p:nvPr/>
        </p:nvSpPr>
        <p:spPr>
          <a:xfrm>
            <a:off x="6949440" y="1572768"/>
            <a:ext cx="4572000" cy="402336"/>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A load balancer is never the host</a:t>
            </a:r>
            <a:endParaRPr lang="en-US" sz="1500" dirty="0"/>
          </a:p>
        </p:txBody>
      </p:sp>
      <p:sp>
        <p:nvSpPr>
          <p:cNvPr id="15" name="Text 13"/>
          <p:cNvSpPr txBox="1"/>
          <p:nvPr/>
        </p:nvSpPr>
        <p:spPr>
          <a:xfrm>
            <a:off x="6428232" y="2066544"/>
            <a:ext cx="5074920" cy="65836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A balancer answers on virtual addresses for the servers behind it. Matching a scanned VIP to the balancer device would put every pool member’s findings on the network team.</a:t>
            </a:r>
            <a:endParaRPr lang="en-US" sz="1100" dirty="0"/>
          </a:p>
        </p:txBody>
      </p:sp>
      <p:sp>
        <p:nvSpPr>
          <p:cNvPr id="16" name="Shape 14"/>
          <p:cNvSpPr/>
          <p:nvPr/>
        </p:nvSpPr>
        <p:spPr>
          <a:xfrm>
            <a:off x="6428232" y="2761488"/>
            <a:ext cx="5074920" cy="841248"/>
          </a:xfrm>
          <a:prstGeom prst="roundRect">
            <a:avLst>
              <a:gd name="adj" fmla="val 4348"/>
            </a:avLst>
          </a:prstGeom>
          <a:solidFill>
            <a:srgbClr val="1E2124"/>
          </a:solidFill>
          <a:ln w="12700">
            <a:solidFill>
              <a:srgbClr val="1E2124"/>
            </a:solidFill>
            <a:prstDash val="solid"/>
          </a:ln>
        </p:spPr>
      </p:sp>
      <p:sp>
        <p:nvSpPr>
          <p:cNvPr id="17" name="Text 15"/>
          <p:cNvSpPr txBox="1"/>
          <p:nvPr/>
        </p:nvSpPr>
        <p:spPr>
          <a:xfrm>
            <a:off x="6537960" y="2834640"/>
            <a:ext cx="4855464" cy="694944"/>
          </a:xfrm>
          <a:prstGeom prst="rect">
            <a:avLst/>
          </a:prstGeom>
          <a:noFill/>
          <a:ln/>
        </p:spPr>
        <p:txBody>
          <a:bodyPr wrap="square" lIns="0" tIns="0" rIns="0" bIns="0" rtlCol="0" anchor="t"/>
          <a:lstStyle/>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function isLoadBalancer(id) {</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var lb = new GlideRecord('cmdb_ci_lb');</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    return lb.isValid() &amp;&amp; lb.get(id);</a:t>
            </a:r>
            <a:endParaRPr lang="en-US" sz="900" dirty="0"/>
          </a:p>
          <a:p>
            <a:pPr indent="0" marL="0">
              <a:lnSpc>
                <a:spcPct val="94000"/>
              </a:lnSpc>
              <a:buNone/>
            </a:pPr>
            <a:r>
              <a:rPr lang="en-US" sz="900" dirty="0">
                <a:solidFill>
                  <a:srgbClr val="E9EBED"/>
                </a:solidFill>
                <a:latin typeface="Courier New" pitchFamily="34" charset="0"/>
                <a:ea typeface="Courier New" pitchFamily="34" charset="-122"/>
                <a:cs typeface="Courier New" pitchFamily="34" charset="-120"/>
              </a:rPr>
              <a:t>}</a:t>
            </a:r>
            <a:endParaRPr lang="en-US" sz="900" dirty="0"/>
          </a:p>
        </p:txBody>
      </p:sp>
      <p:sp>
        <p:nvSpPr>
          <p:cNvPr id="18" name="Shape 16"/>
          <p:cNvSpPr/>
          <p:nvPr/>
        </p:nvSpPr>
        <p:spPr>
          <a:xfrm>
            <a:off x="457200" y="3950208"/>
            <a:ext cx="11274552" cy="1600200"/>
          </a:xfrm>
          <a:prstGeom prst="roundRect">
            <a:avLst>
              <a:gd name="adj" fmla="val 285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9" name="Text 17"/>
          <p:cNvSpPr txBox="1"/>
          <p:nvPr/>
        </p:nvSpPr>
        <p:spPr>
          <a:xfrm>
            <a:off x="731520" y="4114800"/>
            <a:ext cx="731520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The consequence, and the rule that answers it</a:t>
            </a:r>
            <a:endParaRPr lang="en-US" sz="1500" dirty="0"/>
          </a:p>
        </p:txBody>
      </p:sp>
      <p:sp>
        <p:nvSpPr>
          <p:cNvPr id="20" name="Text 18"/>
          <p:cNvSpPr txBox="1"/>
          <p:nvPr/>
        </p:nvSpPr>
        <p:spPr>
          <a:xfrm>
            <a:off x="731520" y="4462272"/>
            <a:ext cx="10698480" cy="914400"/>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Refusing the balancer left those hosts unmatched, and virtual IPs are the single largest group in the backlog. The answer is not to relax the refusal but to give the host its proper record: the Load Balancer Service CI that models the VIP itself. </a:t>
            </a:r>
            <a:pPr indent="0" marL="0">
              <a:buNone/>
            </a:pPr>
            <a:r>
              <a:rPr lang="en-US" sz="1150" b="1" dirty="0">
                <a:solidFill>
                  <a:srgbClr val="24272A"/>
                </a:solidFill>
                <a:latin typeface="Arial" pitchFamily="34" charset="0"/>
                <a:ea typeface="Arial" pitchFamily="34" charset="-122"/>
                <a:cs typeface="Arial" pitchFamily="34" charset="-120"/>
              </a:rPr>
              <a:t>Rule 460 does exactly that, and the hardware rules go on refusing the device.</a:t>
            </a:r>
            <a:endParaRPr lang="en-US" sz="1150" dirty="0"/>
          </a:p>
        </p:txBody>
      </p:sp>
      <p:sp>
        <p:nvSpPr>
          <p:cNvPr id="21" name="Text 19"/>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Load Balancer devices sit under Server in the CMDB hierarchy, not under Network Gear; the interface rule searches both branches for that reason.</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DESIGN DECISION</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A platform helper we chose not to call</a:t>
            </a:r>
            <a:endParaRPr lang="en-US" sz="3000" dirty="0"/>
          </a:p>
        </p:txBody>
      </p:sp>
      <p:sp>
        <p:nvSpPr>
          <p:cNvPr id="4" name="Text 2"/>
          <p:cNvSpPr txBox="1"/>
          <p:nvPr/>
        </p:nvSpPr>
        <p:spPr>
          <a:xfrm>
            <a:off x="457200" y="1316736"/>
            <a:ext cx="11247120" cy="329184"/>
          </a:xfrm>
          <a:prstGeom prst="rect">
            <a:avLst/>
          </a:prstGeom>
          <a:noFill/>
          <a:ln/>
        </p:spPr>
        <p:txBody>
          <a:bodyPr wrap="square" lIns="0" tIns="0" rIns="0" bIns="0" rtlCol="0" anchor="ctr"/>
          <a:lstStyle/>
          <a:p>
            <a:pPr indent="0" marL="0">
              <a:buNone/>
            </a:pPr>
            <a:r>
              <a:rPr lang="en-US" sz="1200" dirty="0">
                <a:solidFill>
                  <a:srgbClr val="6B7177"/>
                </a:solidFill>
                <a:latin typeface="Arial" pitchFamily="34" charset="0"/>
                <a:ea typeface="Arial" pitchFamily="34" charset="-122"/>
                <a:cs typeface="Arial" pitchFamily="34" charset="-120"/>
              </a:rPr>
              <a:t>The out-of-box CIIdentify script include carries a _queryMatch helper that looks, at first glance, like exactly what these rules do. It was reviewed and left alone. Four reasons:</a:t>
            </a:r>
            <a:endParaRPr lang="en-US" sz="1200" dirty="0"/>
          </a:p>
        </p:txBody>
      </p:sp>
      <p:sp>
        <p:nvSpPr>
          <p:cNvPr id="5" name="Shape 3"/>
          <p:cNvSpPr/>
          <p:nvPr/>
        </p:nvSpPr>
        <p:spPr>
          <a:xfrm>
            <a:off x="457200" y="1755648"/>
            <a:ext cx="5532120" cy="1417320"/>
          </a:xfrm>
          <a:prstGeom prst="roundRect">
            <a:avLst>
              <a:gd name="adj" fmla="val 322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6" name="Shape 4"/>
          <p:cNvSpPr/>
          <p:nvPr/>
        </p:nvSpPr>
        <p:spPr>
          <a:xfrm>
            <a:off x="685800" y="1938528"/>
            <a:ext cx="384048" cy="384048"/>
          </a:xfrm>
          <a:prstGeom prst="roundRect">
            <a:avLst>
              <a:gd name="adj" fmla="val 38095"/>
            </a:avLst>
          </a:prstGeom>
          <a:solidFill>
            <a:srgbClr val="E31837"/>
          </a:solidFill>
          <a:ln w="12700">
            <a:solidFill>
              <a:srgbClr val="333333"/>
            </a:solidFill>
            <a:prstDash val="solid"/>
          </a:ln>
        </p:spPr>
      </p:sp>
      <p:sp>
        <p:nvSpPr>
          <p:cNvPr id="7" name="Text 5"/>
          <p:cNvSpPr txBox="1"/>
          <p:nvPr/>
        </p:nvSpPr>
        <p:spPr>
          <a:xfrm>
            <a:off x="685800"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188720" y="1938528"/>
            <a:ext cx="4572000" cy="384048"/>
          </a:xfrm>
          <a:prstGeom prst="rect">
            <a:avLst/>
          </a:prstGeom>
          <a:noFill/>
          <a:ln/>
        </p:spPr>
        <p:txBody>
          <a:bodyPr wrap="square" lIns="0" tIns="0" rIns="0" bIns="0" rtlCol="0" anchor="ctr"/>
          <a:lstStyle/>
          <a:p>
            <a:pPr indent="0" marL="0">
              <a:buNone/>
            </a:pPr>
            <a:r>
              <a:rPr lang="en-US" sz="1350" b="1" dirty="0">
                <a:solidFill>
                  <a:srgbClr val="24272A"/>
                </a:solidFill>
                <a:latin typeface="Arial" pitchFamily="34" charset="0"/>
                <a:ea typeface="Arial" pitchFamily="34" charset="-122"/>
                <a:cs typeface="Arial" pitchFamily="34" charset="-120"/>
              </a:rPr>
              <a:t>It is private</a:t>
            </a:r>
            <a:endParaRPr lang="en-US" sz="1350" dirty="0"/>
          </a:p>
        </p:txBody>
      </p:sp>
      <p:sp>
        <p:nvSpPr>
          <p:cNvPr id="9" name="Text 7"/>
          <p:cNvSpPr txBox="1"/>
          <p:nvPr/>
        </p:nvSpPr>
        <p:spPr>
          <a:xfrm>
            <a:off x="685800" y="2414016"/>
            <a:ext cx="5074920" cy="65836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leading underscore marks it as internal. It is undocumented and free to change or vanish in any upgrade, which makes it an unsafe dependency for rules the bank runs in production.</a:t>
            </a:r>
            <a:endParaRPr lang="en-US" sz="1100" dirty="0"/>
          </a:p>
        </p:txBody>
      </p:sp>
      <p:sp>
        <p:nvSpPr>
          <p:cNvPr id="10" name="Shape 8"/>
          <p:cNvSpPr/>
          <p:nvPr/>
        </p:nvSpPr>
        <p:spPr>
          <a:xfrm>
            <a:off x="6199632" y="1755648"/>
            <a:ext cx="5532120" cy="1417320"/>
          </a:xfrm>
          <a:prstGeom prst="roundRect">
            <a:avLst>
              <a:gd name="adj" fmla="val 322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Shape 9"/>
          <p:cNvSpPr/>
          <p:nvPr/>
        </p:nvSpPr>
        <p:spPr>
          <a:xfrm>
            <a:off x="6428232" y="1938528"/>
            <a:ext cx="384048" cy="384048"/>
          </a:xfrm>
          <a:prstGeom prst="roundRect">
            <a:avLst>
              <a:gd name="adj" fmla="val 38095"/>
            </a:avLst>
          </a:prstGeom>
          <a:solidFill>
            <a:srgbClr val="E31837"/>
          </a:solidFill>
          <a:ln w="12700">
            <a:solidFill>
              <a:srgbClr val="333333"/>
            </a:solidFill>
            <a:prstDash val="solid"/>
          </a:ln>
        </p:spPr>
      </p:sp>
      <p:sp>
        <p:nvSpPr>
          <p:cNvPr id="12" name="Text 10"/>
          <p:cNvSpPr txBox="1"/>
          <p:nvPr/>
        </p:nvSpPr>
        <p:spPr>
          <a:xfrm>
            <a:off x="6428232" y="1938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3" name="Text 11"/>
          <p:cNvSpPr txBox="1"/>
          <p:nvPr/>
        </p:nvSpPr>
        <p:spPr>
          <a:xfrm>
            <a:off x="6931152" y="1938528"/>
            <a:ext cx="4572000" cy="384048"/>
          </a:xfrm>
          <a:prstGeom prst="rect">
            <a:avLst/>
          </a:prstGeom>
          <a:noFill/>
          <a:ln/>
        </p:spPr>
        <p:txBody>
          <a:bodyPr wrap="square" lIns="0" tIns="0" rIns="0" bIns="0" rtlCol="0" anchor="ctr"/>
          <a:lstStyle/>
          <a:p>
            <a:pPr indent="0" marL="0">
              <a:buNone/>
            </a:pPr>
            <a:r>
              <a:rPr lang="en-US" sz="1350" b="1" dirty="0">
                <a:solidFill>
                  <a:srgbClr val="24272A"/>
                </a:solidFill>
                <a:latin typeface="Arial" pitchFamily="34" charset="0"/>
                <a:ea typeface="Arial" pitchFamily="34" charset="-122"/>
                <a:cs typeface="Arial" pitchFamily="34" charset="-120"/>
              </a:rPr>
              <a:t>It resolves ties by picking one</a:t>
            </a:r>
            <a:endParaRPr lang="en-US" sz="1350" dirty="0"/>
          </a:p>
        </p:txBody>
      </p:sp>
      <p:sp>
        <p:nvSpPr>
          <p:cNvPr id="14" name="Text 12"/>
          <p:cNvSpPr txBox="1"/>
          <p:nvPr/>
        </p:nvSpPr>
        <p:spPr>
          <a:xfrm>
            <a:off x="6428232" y="2414016"/>
            <a:ext cx="5074920" cy="65836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On several matches it logs the duplication and returns the first. That is the precise behaviour the chain is built to avoid: a silent wrong answer instead of an honest decline.</a:t>
            </a:r>
            <a:endParaRPr lang="en-US" sz="1100" dirty="0"/>
          </a:p>
        </p:txBody>
      </p:sp>
      <p:sp>
        <p:nvSpPr>
          <p:cNvPr id="15" name="Shape 13"/>
          <p:cNvSpPr/>
          <p:nvPr/>
        </p:nvSpPr>
        <p:spPr>
          <a:xfrm>
            <a:off x="457200" y="3328416"/>
            <a:ext cx="5532120" cy="1417320"/>
          </a:xfrm>
          <a:prstGeom prst="roundRect">
            <a:avLst>
              <a:gd name="adj" fmla="val 322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6" name="Shape 14"/>
          <p:cNvSpPr/>
          <p:nvPr/>
        </p:nvSpPr>
        <p:spPr>
          <a:xfrm>
            <a:off x="685800" y="3511296"/>
            <a:ext cx="384048" cy="384048"/>
          </a:xfrm>
          <a:prstGeom prst="roundRect">
            <a:avLst>
              <a:gd name="adj" fmla="val 38095"/>
            </a:avLst>
          </a:prstGeom>
          <a:solidFill>
            <a:srgbClr val="E31837"/>
          </a:solidFill>
          <a:ln w="12700">
            <a:solidFill>
              <a:srgbClr val="333333"/>
            </a:solidFill>
            <a:prstDash val="solid"/>
          </a:ln>
        </p:spPr>
      </p:sp>
      <p:sp>
        <p:nvSpPr>
          <p:cNvPr id="17" name="Text 15"/>
          <p:cNvSpPr txBox="1"/>
          <p:nvPr/>
        </p:nvSpPr>
        <p:spPr>
          <a:xfrm>
            <a:off x="685800" y="3511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8" name="Text 16"/>
          <p:cNvSpPr txBox="1"/>
          <p:nvPr/>
        </p:nvSpPr>
        <p:spPr>
          <a:xfrm>
            <a:off x="1188720" y="3511296"/>
            <a:ext cx="4572000" cy="384048"/>
          </a:xfrm>
          <a:prstGeom prst="rect">
            <a:avLst/>
          </a:prstGeom>
          <a:noFill/>
          <a:ln/>
        </p:spPr>
        <p:txBody>
          <a:bodyPr wrap="square" lIns="0" tIns="0" rIns="0" bIns="0" rtlCol="0" anchor="ctr"/>
          <a:lstStyle/>
          <a:p>
            <a:pPr indent="0" marL="0">
              <a:buNone/>
            </a:pPr>
            <a:r>
              <a:rPr lang="en-US" sz="1350" b="1" dirty="0">
                <a:solidFill>
                  <a:srgbClr val="24272A"/>
                </a:solidFill>
                <a:latin typeface="Arial" pitchFamily="34" charset="0"/>
                <a:ea typeface="Arial" pitchFamily="34" charset="-122"/>
                <a:cs typeface="Arial" pitchFamily="34" charset="-120"/>
              </a:rPr>
              <a:t>It mutates the framework result</a:t>
            </a:r>
            <a:endParaRPr lang="en-US" sz="1350" dirty="0"/>
          </a:p>
        </p:txBody>
      </p:sp>
      <p:sp>
        <p:nvSpPr>
          <p:cNvPr id="19" name="Text 17"/>
          <p:cNvSpPr txBox="1"/>
          <p:nvPr/>
        </p:nvSpPr>
        <p:spPr>
          <a:xfrm>
            <a:off x="685800" y="3986784"/>
            <a:ext cx="5074920" cy="65836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It writes into the caller’s own result object and caps the collection it fills at ten entries, so its behaviour depends on state the rule does not control.</a:t>
            </a:r>
            <a:endParaRPr lang="en-US" sz="1100" dirty="0"/>
          </a:p>
        </p:txBody>
      </p:sp>
      <p:sp>
        <p:nvSpPr>
          <p:cNvPr id="20" name="Shape 18"/>
          <p:cNvSpPr/>
          <p:nvPr/>
        </p:nvSpPr>
        <p:spPr>
          <a:xfrm>
            <a:off x="6199632" y="3328416"/>
            <a:ext cx="5532120" cy="1417320"/>
          </a:xfrm>
          <a:prstGeom prst="roundRect">
            <a:avLst>
              <a:gd name="adj" fmla="val 322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1" name="Shape 19"/>
          <p:cNvSpPr/>
          <p:nvPr/>
        </p:nvSpPr>
        <p:spPr>
          <a:xfrm>
            <a:off x="6428232" y="3511296"/>
            <a:ext cx="384048" cy="384048"/>
          </a:xfrm>
          <a:prstGeom prst="roundRect">
            <a:avLst>
              <a:gd name="adj" fmla="val 38095"/>
            </a:avLst>
          </a:prstGeom>
          <a:solidFill>
            <a:srgbClr val="E31837"/>
          </a:solidFill>
          <a:ln w="12700">
            <a:solidFill>
              <a:srgbClr val="333333"/>
            </a:solidFill>
            <a:prstDash val="solid"/>
          </a:ln>
        </p:spPr>
      </p:sp>
      <p:sp>
        <p:nvSpPr>
          <p:cNvPr id="22" name="Text 20"/>
          <p:cNvSpPr txBox="1"/>
          <p:nvPr/>
        </p:nvSpPr>
        <p:spPr>
          <a:xfrm>
            <a:off x="6428232" y="351129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3" name="Text 21"/>
          <p:cNvSpPr txBox="1"/>
          <p:nvPr/>
        </p:nvSpPr>
        <p:spPr>
          <a:xfrm>
            <a:off x="6931152" y="3511296"/>
            <a:ext cx="4572000" cy="384048"/>
          </a:xfrm>
          <a:prstGeom prst="rect">
            <a:avLst/>
          </a:prstGeom>
          <a:noFill/>
          <a:ln/>
        </p:spPr>
        <p:txBody>
          <a:bodyPr wrap="square" lIns="0" tIns="0" rIns="0" bIns="0" rtlCol="0" anchor="ctr"/>
          <a:lstStyle/>
          <a:p>
            <a:pPr indent="0" marL="0">
              <a:buNone/>
            </a:pPr>
            <a:r>
              <a:rPr lang="en-US" sz="1350" b="1" dirty="0">
                <a:solidFill>
                  <a:srgbClr val="24272A"/>
                </a:solidFill>
                <a:latin typeface="Arial" pitchFamily="34" charset="0"/>
                <a:ea typeface="Arial" pitchFamily="34" charset="-122"/>
                <a:cs typeface="Arial" pitchFamily="34" charset="-120"/>
              </a:rPr>
              <a:t>It saves two lines</a:t>
            </a:r>
            <a:endParaRPr lang="en-US" sz="1350" dirty="0"/>
          </a:p>
        </p:txBody>
      </p:sp>
      <p:sp>
        <p:nvSpPr>
          <p:cNvPr id="24" name="Text 22"/>
          <p:cNvSpPr txBox="1"/>
          <p:nvPr/>
        </p:nvSpPr>
        <p:spPr>
          <a:xfrm>
            <a:off x="6428232" y="3986784"/>
            <a:ext cx="5074920" cy="658368"/>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What it replaces is a query and a uniqueness check. Writing those out keeps each rule readable on its own and keeps the chain independent of internals.</a:t>
            </a:r>
            <a:endParaRPr lang="en-US" sz="1100" dirty="0"/>
          </a:p>
        </p:txBody>
      </p:sp>
      <p:sp>
        <p:nvSpPr>
          <p:cNvPr id="25" name="Shape 23"/>
          <p:cNvSpPr/>
          <p:nvPr/>
        </p:nvSpPr>
        <p:spPr>
          <a:xfrm>
            <a:off x="457200" y="4956048"/>
            <a:ext cx="11274552" cy="896112"/>
          </a:xfrm>
          <a:prstGeom prst="roundRect">
            <a:avLst>
              <a:gd name="adj" fmla="val 510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Text 24"/>
          <p:cNvSpPr txBox="1"/>
          <p:nvPr/>
        </p:nvSpPr>
        <p:spPr>
          <a:xfrm>
            <a:off x="731520" y="5120640"/>
            <a:ext cx="10698480" cy="640080"/>
          </a:xfrm>
          <a:prstGeom prst="rect">
            <a:avLst/>
          </a:prstGeom>
          <a:noFill/>
          <a:ln/>
        </p:spPr>
        <p:txBody>
          <a:bodyPr wrap="square" lIns="0" tIns="0" rIns="0" bIns="0" rtlCol="0" anchor="t"/>
          <a:lstStyle/>
          <a:p>
            <a:pPr indent="0" marL="0">
              <a:buNone/>
            </a:pPr>
            <a:r>
              <a:rPr lang="en-US" sz="1150" b="1" dirty="0">
                <a:solidFill>
                  <a:srgbClr val="24272A"/>
                </a:solidFill>
                <a:latin typeface="Arial" pitchFamily="34" charset="0"/>
                <a:ea typeface="Arial" pitchFamily="34" charset="-122"/>
                <a:cs typeface="Arial" pitchFamily="34" charset="-120"/>
              </a:rPr>
              <a:t>What the rules need instead.  </a:t>
            </a:r>
            <a:pPr indent="0" marL="0">
              <a:buNone/>
            </a:pPr>
            <a:r>
              <a:rPr lang="en-US" sz="1150" dirty="0">
                <a:solidFill>
                  <a:srgbClr val="6B7177"/>
                </a:solidFill>
                <a:latin typeface="Arial" pitchFamily="34" charset="0"/>
                <a:ea typeface="Arial" pitchFamily="34" charset="-122"/>
                <a:cs typeface="Arial" pitchFamily="34" charset="-120"/>
              </a:rPr>
              <a:t>"Exactly one match, or decline" is not on offer anywhere in the platform API, and it is the whole contract of this chain. Each rule states it in two lines of its own code, where a reviewer can see it.</a:t>
            </a:r>
            <a:endParaRPr lang="en-US" sz="1150" dirty="0"/>
          </a:p>
        </p:txBody>
      </p:sp>
      <p:sp>
        <p:nvSpPr>
          <p:cNvPr id="27" name="Text 25"/>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The platform rules that ship with the Qualys integration continue to use it; only the custom USEM rules avoid it.</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272A"/>
        </a:solidFill>
      </p:bgPr>
    </p:bg>
    <p:spTree>
      <p:nvGrpSpPr>
        <p:cNvPr id="1" name=""/>
        <p:cNvGrpSpPr/>
        <p:nvPr/>
      </p:nvGrpSpPr>
      <p:grpSpPr>
        <a:xfrm>
          <a:off x="0" y="0"/>
          <a:ext cx="0" cy="0"/>
          <a:chOff x="0" y="0"/>
          <a:chExt cx="0" cy="0"/>
        </a:xfrm>
      </p:grpSpPr>
      <p:sp>
        <p:nvSpPr>
          <p:cNvPr id="2" name="Shape 0"/>
          <p:cNvSpPr/>
          <p:nvPr/>
        </p:nvSpPr>
        <p:spPr>
          <a:xfrm>
            <a:off x="457200" y="2331720"/>
            <a:ext cx="566928" cy="566928"/>
          </a:xfrm>
          <a:prstGeom prst="roundRect">
            <a:avLst>
              <a:gd name="adj" fmla="val 25806"/>
            </a:avLst>
          </a:prstGeom>
          <a:solidFill>
            <a:srgbClr val="E31837"/>
          </a:solidFill>
          <a:ln w="12700">
            <a:solidFill>
              <a:srgbClr val="333333"/>
            </a:solidFill>
            <a:prstDash val="solid"/>
          </a:ln>
        </p:spPr>
      </p:sp>
      <p:sp>
        <p:nvSpPr>
          <p:cNvPr id="3" name="Text 1"/>
          <p:cNvSpPr txBox="1"/>
          <p:nvPr/>
        </p:nvSpPr>
        <p:spPr>
          <a:xfrm>
            <a:off x="457200" y="23317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3</a:t>
            </a:r>
            <a:endParaRPr lang="en-US" sz="2200" dirty="0"/>
          </a:p>
        </p:txBody>
      </p:sp>
      <p:sp>
        <p:nvSpPr>
          <p:cNvPr id="4" name="Text 2"/>
          <p:cNvSpPr txBox="1"/>
          <p:nvPr/>
        </p:nvSpPr>
        <p:spPr>
          <a:xfrm>
            <a:off x="1207008" y="2304288"/>
            <a:ext cx="10424160" cy="65836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rules, in order</a:t>
            </a:r>
            <a:endParaRPr lang="en-US" sz="3400" dirty="0"/>
          </a:p>
        </p:txBody>
      </p:sp>
      <p:sp>
        <p:nvSpPr>
          <p:cNvPr id="5" name="Text 3"/>
          <p:cNvSpPr txBox="1"/>
          <p:nvPr/>
        </p:nvSpPr>
        <p:spPr>
          <a:xfrm>
            <a:off x="1207008" y="3054096"/>
            <a:ext cx="6583680" cy="822960"/>
          </a:xfrm>
          <a:prstGeom prst="rect">
            <a:avLst/>
          </a:prstGeom>
          <a:noFill/>
          <a:ln/>
        </p:spPr>
        <p:txBody>
          <a:bodyPr wrap="square" lIns="0" tIns="0" rIns="0" bIns="0" rtlCol="0" anchor="t"/>
          <a:lstStyle/>
          <a:p>
            <a:pPr indent="0" marL="0">
              <a:buNone/>
            </a:pPr>
            <a:r>
              <a:rPr lang="en-US" sz="1350" dirty="0">
                <a:solidFill>
                  <a:srgbClr val="B9BEC3"/>
                </a:solidFill>
                <a:latin typeface="Arial" pitchFamily="34" charset="0"/>
                <a:ea typeface="Arial" pitchFamily="34" charset="-122"/>
                <a:cs typeface="Arial" pitchFamily="34" charset="-120"/>
              </a:rPr>
              <a:t>One page per rule: what it matches, the stages that do the work, and where it sits in the chain.</a:t>
            </a:r>
            <a:endParaRPr lang="en-US" sz="1350" dirty="0"/>
          </a:p>
        </p:txBody>
      </p:sp>
      <p:sp>
        <p:nvSpPr>
          <p:cNvPr id="6" name="Shape 4"/>
          <p:cNvSpPr/>
          <p:nvPr/>
        </p:nvSpPr>
        <p:spPr>
          <a:xfrm>
            <a:off x="8275320" y="2423160"/>
            <a:ext cx="146304" cy="146304"/>
          </a:xfrm>
          <a:prstGeom prst="roundRect">
            <a:avLst>
              <a:gd name="adj" fmla="val 31250"/>
            </a:avLst>
          </a:prstGeom>
          <a:solidFill>
            <a:srgbClr val="E31837"/>
          </a:solidFill>
          <a:ln w="12700">
            <a:solidFill>
              <a:srgbClr val="333333"/>
            </a:solidFill>
            <a:prstDash val="solid"/>
          </a:ln>
        </p:spPr>
      </p:sp>
      <p:sp>
        <p:nvSpPr>
          <p:cNvPr id="7" name="Text 5"/>
          <p:cNvSpPr txBox="1"/>
          <p:nvPr/>
        </p:nvSpPr>
        <p:spPr>
          <a:xfrm>
            <a:off x="8577072" y="2340864"/>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Serial number, 175 and 180</a:t>
            </a:r>
            <a:endParaRPr lang="en-US" sz="1150" dirty="0"/>
          </a:p>
        </p:txBody>
      </p:sp>
      <p:sp>
        <p:nvSpPr>
          <p:cNvPr id="8" name="Shape 6"/>
          <p:cNvSpPr/>
          <p:nvPr/>
        </p:nvSpPr>
        <p:spPr>
          <a:xfrm>
            <a:off x="8275320" y="2825496"/>
            <a:ext cx="146304" cy="146304"/>
          </a:xfrm>
          <a:prstGeom prst="roundRect">
            <a:avLst>
              <a:gd name="adj" fmla="val 31250"/>
            </a:avLst>
          </a:prstGeom>
          <a:solidFill>
            <a:srgbClr val="E31837"/>
          </a:solidFill>
          <a:ln w="12700">
            <a:solidFill>
              <a:srgbClr val="333333"/>
            </a:solidFill>
            <a:prstDash val="solid"/>
          </a:ln>
        </p:spPr>
      </p:sp>
      <p:sp>
        <p:nvSpPr>
          <p:cNvPr id="9" name="Text 7"/>
          <p:cNvSpPr txBox="1"/>
          <p:nvPr/>
        </p:nvSpPr>
        <p:spPr>
          <a:xfrm>
            <a:off x="8577072" y="2743200"/>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Device label, 200</a:t>
            </a:r>
            <a:endParaRPr lang="en-US" sz="1150" dirty="0"/>
          </a:p>
        </p:txBody>
      </p:sp>
      <p:sp>
        <p:nvSpPr>
          <p:cNvPr id="10" name="Shape 8"/>
          <p:cNvSpPr/>
          <p:nvPr/>
        </p:nvSpPr>
        <p:spPr>
          <a:xfrm>
            <a:off x="8275320" y="3227832"/>
            <a:ext cx="146304" cy="146304"/>
          </a:xfrm>
          <a:prstGeom prst="roundRect">
            <a:avLst>
              <a:gd name="adj" fmla="val 31250"/>
            </a:avLst>
          </a:prstGeom>
          <a:solidFill>
            <a:srgbClr val="E31837"/>
          </a:solidFill>
          <a:ln w="12700">
            <a:solidFill>
              <a:srgbClr val="333333"/>
            </a:solidFill>
            <a:prstDash val="solid"/>
          </a:ln>
        </p:spPr>
      </p:sp>
      <p:sp>
        <p:nvSpPr>
          <p:cNvPr id="11" name="Text 9"/>
          <p:cNvSpPr txBox="1"/>
          <p:nvPr/>
        </p:nvSpPr>
        <p:spPr>
          <a:xfrm>
            <a:off x="8577072" y="3145536"/>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Name, 250 to 450</a:t>
            </a:r>
            <a:endParaRPr lang="en-US" sz="1150" dirty="0"/>
          </a:p>
        </p:txBody>
      </p:sp>
      <p:sp>
        <p:nvSpPr>
          <p:cNvPr id="12" name="Shape 10"/>
          <p:cNvSpPr/>
          <p:nvPr/>
        </p:nvSpPr>
        <p:spPr>
          <a:xfrm>
            <a:off x="8275320" y="3630168"/>
            <a:ext cx="146304" cy="146304"/>
          </a:xfrm>
          <a:prstGeom prst="roundRect">
            <a:avLst>
              <a:gd name="adj" fmla="val 31250"/>
            </a:avLst>
          </a:prstGeom>
          <a:solidFill>
            <a:srgbClr val="E31837"/>
          </a:solidFill>
          <a:ln w="12700">
            <a:solidFill>
              <a:srgbClr val="333333"/>
            </a:solidFill>
            <a:prstDash val="solid"/>
          </a:ln>
        </p:spPr>
      </p:sp>
      <p:sp>
        <p:nvSpPr>
          <p:cNvPr id="13" name="Text 11"/>
          <p:cNvSpPr txBox="1"/>
          <p:nvPr/>
        </p:nvSpPr>
        <p:spPr>
          <a:xfrm>
            <a:off x="8577072" y="3547872"/>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Backlog additions, 420 to 460</a:t>
            </a:r>
            <a:endParaRPr lang="en-US" sz="1150" dirty="0"/>
          </a:p>
        </p:txBody>
      </p:sp>
      <p:sp>
        <p:nvSpPr>
          <p:cNvPr id="14" name="Shape 12"/>
          <p:cNvSpPr/>
          <p:nvPr/>
        </p:nvSpPr>
        <p:spPr>
          <a:xfrm>
            <a:off x="8275320" y="4032504"/>
            <a:ext cx="146304" cy="146304"/>
          </a:xfrm>
          <a:prstGeom prst="roundRect">
            <a:avLst>
              <a:gd name="adj" fmla="val 31250"/>
            </a:avLst>
          </a:prstGeom>
          <a:solidFill>
            <a:srgbClr val="E31837"/>
          </a:solidFill>
          <a:ln w="12700">
            <a:solidFill>
              <a:srgbClr val="333333"/>
            </a:solidFill>
            <a:prstDash val="solid"/>
          </a:ln>
        </p:spPr>
      </p:sp>
      <p:sp>
        <p:nvSpPr>
          <p:cNvPr id="15" name="Text 13"/>
          <p:cNvSpPr txBox="1"/>
          <p:nvPr/>
        </p:nvSpPr>
        <p:spPr>
          <a:xfrm>
            <a:off x="8577072" y="3950208"/>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Address, 700 to 740</a:t>
            </a:r>
            <a:endParaRPr lang="en-US" sz="1150" dirty="0"/>
          </a:p>
        </p:txBody>
      </p:sp>
      <p:sp>
        <p:nvSpPr>
          <p:cNvPr id="16" name="Shape 14"/>
          <p:cNvSpPr/>
          <p:nvPr/>
        </p:nvSpPr>
        <p:spPr>
          <a:xfrm>
            <a:off x="8275320" y="4434840"/>
            <a:ext cx="146304" cy="146304"/>
          </a:xfrm>
          <a:prstGeom prst="roundRect">
            <a:avLst>
              <a:gd name="adj" fmla="val 31250"/>
            </a:avLst>
          </a:prstGeom>
          <a:solidFill>
            <a:srgbClr val="E31837"/>
          </a:solidFill>
          <a:ln w="12700">
            <a:solidFill>
              <a:srgbClr val="333333"/>
            </a:solidFill>
            <a:prstDash val="solid"/>
          </a:ln>
        </p:spPr>
      </p:sp>
      <p:sp>
        <p:nvSpPr>
          <p:cNvPr id="17" name="Text 15"/>
          <p:cNvSpPr txBox="1"/>
          <p:nvPr/>
        </p:nvSpPr>
        <p:spPr>
          <a:xfrm>
            <a:off x="8577072" y="4352544"/>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Broad fallback, 850</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E31837"/>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175</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Serial Number Class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SERIAL NUMBER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A serial number stays with a machine for its whole life, while names and addresses get reused. It is the strongest identifier Qualys gives us, so it is tried first, inside the class the scanned OS points at.</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SERIAL_NUMBER,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CI of that class carrying the serial, else null</a:t>
            </a:r>
            <a:endParaRPr lang="en-US" sz="1050" dirty="0"/>
          </a:p>
        </p:txBody>
      </p:sp>
      <p:sp>
        <p:nvSpPr>
          <p:cNvPr id="13" name="Shape 11"/>
          <p:cNvSpPr/>
          <p:nvPr/>
        </p:nvSpPr>
        <p:spPr>
          <a:xfrm>
            <a:off x="457200" y="2121408"/>
            <a:ext cx="11274552" cy="1063142"/>
          </a:xfrm>
          <a:prstGeom prst="roundRect">
            <a:avLst>
              <a:gd name="adj" fmla="val 43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524963"/>
            <a:ext cx="256032" cy="256032"/>
          </a:xfrm>
          <a:prstGeom prst="roundRect">
            <a:avLst>
              <a:gd name="adj" fmla="val 32143"/>
            </a:avLst>
          </a:prstGeom>
          <a:solidFill>
            <a:srgbClr val="E31837"/>
          </a:solidFill>
          <a:ln w="12700">
            <a:solidFill>
              <a:srgbClr val="333333"/>
            </a:solidFill>
            <a:prstDash val="solid"/>
          </a:ln>
        </p:spPr>
      </p:sp>
      <p:sp>
        <p:nvSpPr>
          <p:cNvPr id="15" name="Text 13"/>
          <p:cNvSpPr txBox="1"/>
          <p:nvPr/>
        </p:nvSpPr>
        <p:spPr>
          <a:xfrm>
            <a:off x="658368" y="2524963"/>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88026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Refuse placeholder serials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Vendors ship "To be filled by O.E.M." and "0123456789" on thousands of machines; such a value would match dozens of CIs.</a:t>
            </a:r>
            <a:endParaRPr lang="en-US" sz="1200" dirty="0"/>
          </a:p>
        </p:txBody>
      </p:sp>
      <p:sp>
        <p:nvSpPr>
          <p:cNvPr id="17" name="Shape 15"/>
          <p:cNvSpPr/>
          <p:nvPr/>
        </p:nvSpPr>
        <p:spPr>
          <a:xfrm>
            <a:off x="4617720" y="2278075"/>
            <a:ext cx="6949440" cy="749808"/>
          </a:xfrm>
          <a:prstGeom prst="roundRect">
            <a:avLst>
              <a:gd name="adj" fmla="val 4878"/>
            </a:avLst>
          </a:prstGeom>
          <a:solidFill>
            <a:srgbClr val="1E2124"/>
          </a:solidFill>
          <a:ln w="12700">
            <a:solidFill>
              <a:srgbClr val="1E2124"/>
            </a:solidFill>
            <a:prstDash val="solid"/>
          </a:ln>
        </p:spPr>
      </p:sp>
      <p:sp>
        <p:nvSpPr>
          <p:cNvPr id="18" name="Text 16"/>
          <p:cNvSpPr txBox="1"/>
          <p:nvPr/>
        </p:nvSpPr>
        <p:spPr>
          <a:xfrm>
            <a:off x="4727448" y="2351227"/>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junk = ',0,none,n/a,unknown,default string,'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'to be filled by o.e.m.,0123456789,';</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(serial.length &lt; 4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junk.indexOf(',' + serial.toLowerCase() + ',')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p:txBody>
      </p:sp>
      <p:sp>
        <p:nvSpPr>
          <p:cNvPr id="19" name="Shape 17"/>
          <p:cNvSpPr/>
          <p:nvPr/>
        </p:nvSpPr>
        <p:spPr>
          <a:xfrm>
            <a:off x="457200" y="3275990"/>
            <a:ext cx="11274552" cy="1033882"/>
          </a:xfrm>
          <a:prstGeom prst="roundRect">
            <a:avLst>
              <a:gd name="adj" fmla="val 44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664915"/>
            <a:ext cx="256032" cy="256032"/>
          </a:xfrm>
          <a:prstGeom prst="roundRect">
            <a:avLst>
              <a:gd name="adj" fmla="val 32143"/>
            </a:avLst>
          </a:prstGeom>
          <a:solidFill>
            <a:srgbClr val="E31837"/>
          </a:solidFill>
          <a:ln w="12700">
            <a:solidFill>
              <a:srgbClr val="333333"/>
            </a:solidFill>
            <a:prstDash val="solid"/>
          </a:ln>
        </p:spPr>
      </p:sp>
      <p:sp>
        <p:nvSpPr>
          <p:cNvPr id="21" name="Text 19"/>
          <p:cNvSpPr txBox="1"/>
          <p:nvPr/>
        </p:nvSpPr>
        <p:spPr>
          <a:xfrm>
            <a:off x="658368" y="3664915"/>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367430"/>
            <a:ext cx="3246120" cy="85100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Class from the scanned OS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classFor() turns the OS text into a CMDB class. The search stays inside it, so a Red Hat host cannot land on a Windows Server.</a:t>
            </a:r>
            <a:endParaRPr lang="en-US" sz="1200" dirty="0"/>
          </a:p>
        </p:txBody>
      </p:sp>
      <p:sp>
        <p:nvSpPr>
          <p:cNvPr id="23" name="Shape 21"/>
          <p:cNvSpPr/>
          <p:nvPr/>
        </p:nvSpPr>
        <p:spPr>
          <a:xfrm>
            <a:off x="4617720" y="3535070"/>
            <a:ext cx="6949440" cy="515722"/>
          </a:xfrm>
          <a:prstGeom prst="roundRect">
            <a:avLst>
              <a:gd name="adj" fmla="val 7092"/>
            </a:avLst>
          </a:prstGeom>
          <a:solidFill>
            <a:srgbClr val="1E2124"/>
          </a:solidFill>
          <a:ln w="12700">
            <a:solidFill>
              <a:srgbClr val="1E2124"/>
            </a:solidFill>
            <a:prstDash val="solid"/>
          </a:ln>
        </p:spPr>
      </p:sp>
      <p:sp>
        <p:nvSpPr>
          <p:cNvPr id="24" name="Text 22"/>
          <p:cNvSpPr txBox="1"/>
          <p:nvPr/>
        </p:nvSpPr>
        <p:spPr>
          <a:xfrm>
            <a:off x="4727448" y="3608222"/>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pref = classFor(sourcePayload.OS);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unknown or multi-guess 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hand over to the hardware-wide rule</a:t>
            </a:r>
            <a:endParaRPr lang="en-US" sz="800" dirty="0"/>
          </a:p>
        </p:txBody>
      </p:sp>
      <p:sp>
        <p:nvSpPr>
          <p:cNvPr id="25" name="Shape 23"/>
          <p:cNvSpPr/>
          <p:nvPr/>
        </p:nvSpPr>
        <p:spPr>
          <a:xfrm>
            <a:off x="457200" y="4401312"/>
            <a:ext cx="11274552" cy="1414272"/>
          </a:xfrm>
          <a:prstGeom prst="roundRect">
            <a:avLst>
              <a:gd name="adj" fmla="val 32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4980432"/>
            <a:ext cx="256032" cy="256032"/>
          </a:xfrm>
          <a:prstGeom prst="roundRect">
            <a:avLst>
              <a:gd name="adj" fmla="val 32143"/>
            </a:avLst>
          </a:prstGeom>
          <a:solidFill>
            <a:srgbClr val="E31837"/>
          </a:solidFill>
          <a:ln w="12700">
            <a:solidFill>
              <a:srgbClr val="333333"/>
            </a:solidFill>
            <a:prstDash val="solid"/>
          </a:ln>
        </p:spPr>
      </p:sp>
      <p:sp>
        <p:nvSpPr>
          <p:cNvPr id="27" name="Text 25"/>
          <p:cNvSpPr txBox="1"/>
          <p:nvPr/>
        </p:nvSpPr>
        <p:spPr>
          <a:xfrm>
            <a:off x="658368" y="498043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492752"/>
            <a:ext cx="3246120" cy="123139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Serial search, exactly one CI</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Exact match on serial_number inside the class, ignored classes left out. Two CIs sharing a serial (a cloned virtual machine, a typo) cannot be told apart here.</a:t>
            </a:r>
            <a:endParaRPr lang="en-US" sz="1200" dirty="0"/>
          </a:p>
        </p:txBody>
      </p:sp>
      <p:sp>
        <p:nvSpPr>
          <p:cNvPr id="29" name="Shape 27"/>
          <p:cNvSpPr/>
          <p:nvPr/>
        </p:nvSpPr>
        <p:spPr>
          <a:xfrm>
            <a:off x="4617720" y="4557979"/>
            <a:ext cx="6949440" cy="1100938"/>
          </a:xfrm>
          <a:prstGeom prst="roundRect">
            <a:avLst>
              <a:gd name="adj" fmla="val 3322"/>
            </a:avLst>
          </a:prstGeom>
          <a:solidFill>
            <a:srgbClr val="1E2124"/>
          </a:solidFill>
          <a:ln w="12700">
            <a:solidFill>
              <a:srgbClr val="1E2124"/>
            </a:solidFill>
            <a:prstDash val="solid"/>
          </a:ln>
        </p:spPr>
      </p:sp>
      <p:sp>
        <p:nvSpPr>
          <p:cNvPr id="30" name="Text 28"/>
          <p:cNvSpPr txBox="1"/>
          <p:nvPr/>
        </p:nvSpPr>
        <p:spPr>
          <a:xfrm>
            <a:off x="4727448" y="4631131"/>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class + sub-classes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gr.addQuery('serial_number', serial);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gr.addQuery('sys_class_name', 'NOT IN', ignore);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gr.query();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nothing found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CIs,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nothing custom runs before this rule.</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every host that reports a serial: in this feed the Cloud Agent hosts.</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hardware-wide serial rule, for hosts whose OS gives no class.</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E31837"/>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180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Serial Number Hardware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SERIAL NUMBER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same serial search across the whole hardware tree. It exists for hosts whose OS gives no usable class, and for CIs that sit in a different class than the OS suggests.</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SERIAL_NUMBER</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carrying the serial, else null</a:t>
            </a:r>
            <a:endParaRPr lang="en-US" sz="1050" dirty="0"/>
          </a:p>
        </p:txBody>
      </p:sp>
      <p:sp>
        <p:nvSpPr>
          <p:cNvPr id="13" name="Shape 11"/>
          <p:cNvSpPr/>
          <p:nvPr/>
        </p:nvSpPr>
        <p:spPr>
          <a:xfrm>
            <a:off x="457200" y="2269541"/>
            <a:ext cx="11274552" cy="1419149"/>
          </a:xfrm>
          <a:prstGeom prst="roundRect">
            <a:avLst>
              <a:gd name="adj" fmla="val 32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851099"/>
            <a:ext cx="256032" cy="256032"/>
          </a:xfrm>
          <a:prstGeom prst="roundRect">
            <a:avLst>
              <a:gd name="adj" fmla="val 32143"/>
            </a:avLst>
          </a:prstGeom>
          <a:solidFill>
            <a:srgbClr val="E31837"/>
          </a:solidFill>
          <a:ln w="12700">
            <a:solidFill>
              <a:srgbClr val="333333"/>
            </a:solidFill>
            <a:prstDash val="solid"/>
          </a:ln>
        </p:spPr>
      </p:sp>
      <p:sp>
        <p:nvSpPr>
          <p:cNvPr id="15" name="Text 13"/>
          <p:cNvSpPr txBox="1"/>
          <p:nvPr/>
        </p:nvSpPr>
        <p:spPr>
          <a:xfrm>
            <a:off x="658368" y="2851099"/>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360981"/>
            <a:ext cx="3246120" cy="1236269"/>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Same guard on the value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placeholder list and the four-character minimum are applied again before anything is searched.</a:t>
            </a:r>
            <a:endParaRPr lang="en-US" sz="1200" dirty="0"/>
          </a:p>
        </p:txBody>
      </p:sp>
      <p:sp>
        <p:nvSpPr>
          <p:cNvPr id="17" name="Shape 15"/>
          <p:cNvSpPr/>
          <p:nvPr/>
        </p:nvSpPr>
        <p:spPr>
          <a:xfrm>
            <a:off x="4617720" y="2662733"/>
            <a:ext cx="6949440" cy="632765"/>
          </a:xfrm>
          <a:prstGeom prst="roundRect">
            <a:avLst>
              <a:gd name="adj" fmla="val 5780"/>
            </a:avLst>
          </a:prstGeom>
          <a:solidFill>
            <a:srgbClr val="1E2124"/>
          </a:solidFill>
          <a:ln w="12700">
            <a:solidFill>
              <a:srgbClr val="1E2124"/>
            </a:solidFill>
            <a:prstDash val="solid"/>
          </a:ln>
        </p:spPr>
      </p:sp>
      <p:sp>
        <p:nvSpPr>
          <p:cNvPr id="18" name="Text 16"/>
          <p:cNvSpPr txBox="1"/>
          <p:nvPr/>
        </p:nvSpPr>
        <p:spPr>
          <a:xfrm>
            <a:off x="4727448" y="2735885"/>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serial = ('' + sourceValue).trim();</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(serial.length &lt; 4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junk.indexOf(',' + serial.toLowerCase() + ',')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p:txBody>
      </p:sp>
      <p:sp>
        <p:nvSpPr>
          <p:cNvPr id="19" name="Shape 17"/>
          <p:cNvSpPr/>
          <p:nvPr/>
        </p:nvSpPr>
        <p:spPr>
          <a:xfrm>
            <a:off x="457200" y="3780130"/>
            <a:ext cx="11274552" cy="1887322"/>
          </a:xfrm>
          <a:prstGeom prst="roundRect">
            <a:avLst>
              <a:gd name="adj" fmla="val 24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595774"/>
            <a:ext cx="256032" cy="256032"/>
          </a:xfrm>
          <a:prstGeom prst="roundRect">
            <a:avLst>
              <a:gd name="adj" fmla="val 32143"/>
            </a:avLst>
          </a:prstGeom>
          <a:solidFill>
            <a:srgbClr val="E31837"/>
          </a:solidFill>
          <a:ln w="12700">
            <a:solidFill>
              <a:srgbClr val="333333"/>
            </a:solidFill>
            <a:prstDash val="solid"/>
          </a:ln>
        </p:spPr>
      </p:sp>
      <p:sp>
        <p:nvSpPr>
          <p:cNvPr id="21" name="Text 19"/>
          <p:cNvSpPr txBox="1"/>
          <p:nvPr/>
        </p:nvSpPr>
        <p:spPr>
          <a:xfrm>
            <a:off x="658368" y="459577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871570"/>
            <a:ext cx="3246120" cy="170444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Search the whole hardware tree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cmdb_ci_hardware is the parent of every device class, so nothing is filtered by class. The safety is that the serial must still belong to exactly one CI in the whole tree.</a:t>
            </a:r>
            <a:endParaRPr lang="en-US" sz="1200" dirty="0"/>
          </a:p>
        </p:txBody>
      </p:sp>
      <p:sp>
        <p:nvSpPr>
          <p:cNvPr id="23" name="Shape 21"/>
          <p:cNvSpPr/>
          <p:nvPr/>
        </p:nvSpPr>
        <p:spPr>
          <a:xfrm>
            <a:off x="4617720" y="4173322"/>
            <a:ext cx="6949440" cy="1100938"/>
          </a:xfrm>
          <a:prstGeom prst="roundRect">
            <a:avLst>
              <a:gd name="adj" fmla="val 3322"/>
            </a:avLst>
          </a:prstGeom>
          <a:solidFill>
            <a:srgbClr val="1E2124"/>
          </a:solidFill>
          <a:ln w="12700">
            <a:solidFill>
              <a:srgbClr val="1E2124"/>
            </a:solidFill>
            <a:prstDash val="solid"/>
          </a:ln>
        </p:spPr>
      </p:sp>
      <p:sp>
        <p:nvSpPr>
          <p:cNvPr id="24" name="Text 22"/>
          <p:cNvSpPr txBox="1"/>
          <p:nvPr/>
        </p:nvSpPr>
        <p:spPr>
          <a:xfrm>
            <a:off x="4727448" y="4246474"/>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GlideRecord('cmdb_ci_hardware');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every device class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gr.addQuery('serial_number', serial);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gr.addQuery('sys_class_name', 'NOT IN', ignore);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gr.query();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nothing found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CIs,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class-scoped serial rule already tried the serial inside the OS class.</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with a serial whose OS is unknown, or whose CI is classed differently.</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phone rule and then the name rules.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200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Cisco IP Phone MAC</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DEVICE LABEL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Unified Communications Manager names every phone "SEP" followed by its MAC address, and Qualys reports that name as the DNS label. The rule turns the label back into a MAC and finds the one IP Phone CI that carries it.</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IP Phone CI carrying that MAC, else null</a:t>
            </a:r>
            <a:endParaRPr lang="en-US" sz="1050" dirty="0"/>
          </a:p>
        </p:txBody>
      </p:sp>
      <p:sp>
        <p:nvSpPr>
          <p:cNvPr id="13" name="Shape 11"/>
          <p:cNvSpPr/>
          <p:nvPr/>
        </p:nvSpPr>
        <p:spPr>
          <a:xfrm>
            <a:off x="457200" y="2121408"/>
            <a:ext cx="11274552" cy="1216762"/>
          </a:xfrm>
          <a:prstGeom prst="roundRect">
            <a:avLst>
              <a:gd name="adj" fmla="val 375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601773"/>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601773"/>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103388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Strict label, four MAC spellings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server called "sepulveda01" must not be treated as a phone, hence the strict pattern. Discovery tools and the call manager write MACs differently, hence the four spellings.</a:t>
            </a:r>
            <a:endParaRPr lang="en-US" sz="1200" dirty="0"/>
          </a:p>
        </p:txBody>
      </p:sp>
      <p:sp>
        <p:nvSpPr>
          <p:cNvPr id="17" name="Shape 15"/>
          <p:cNvSpPr/>
          <p:nvPr/>
        </p:nvSpPr>
        <p:spPr>
          <a:xfrm>
            <a:off x="4617720" y="2354885"/>
            <a:ext cx="6949440" cy="749808"/>
          </a:xfrm>
          <a:prstGeom prst="roundRect">
            <a:avLst>
              <a:gd name="adj" fmla="val 4878"/>
            </a:avLst>
          </a:prstGeom>
          <a:solidFill>
            <a:srgbClr val="1E2124"/>
          </a:solidFill>
          <a:ln w="12700">
            <a:solidFill>
              <a:srgbClr val="1E2124"/>
            </a:solidFill>
            <a:prstDash val="solid"/>
          </a:ln>
        </p:spPr>
      </p:sp>
      <p:sp>
        <p:nvSpPr>
          <p:cNvPr id="18" name="Text 16"/>
          <p:cNvSpPr txBox="1"/>
          <p:nvPr/>
        </p:nvSpPr>
        <p:spPr>
          <a:xfrm>
            <a:off x="4727448" y="2428037"/>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 = label.match(/^sep([0-9a-f]{12})$/);</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(!m)</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candidates = [colon.toUpperCase(), colon,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hex.toUpperCase(), hex];</a:t>
            </a:r>
            <a:endParaRPr lang="en-US" sz="800" dirty="0"/>
          </a:p>
        </p:txBody>
      </p:sp>
      <p:sp>
        <p:nvSpPr>
          <p:cNvPr id="19" name="Shape 17"/>
          <p:cNvSpPr/>
          <p:nvPr/>
        </p:nvSpPr>
        <p:spPr>
          <a:xfrm>
            <a:off x="457200" y="3429610"/>
            <a:ext cx="11274552" cy="1220419"/>
          </a:xfrm>
          <a:prstGeom prst="roundRect">
            <a:avLst>
              <a:gd name="adj" fmla="val 374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911803"/>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911803"/>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521050"/>
            <a:ext cx="3246120" cy="1037539"/>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Adapter first, then the phone record</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Discovery usually stores the MAC on the adapter. Checking that the owner is an IP Phone keeps a switch or server adapter with a colliding MAC out.</a:t>
            </a:r>
            <a:endParaRPr lang="en-US" sz="1200" dirty="0"/>
          </a:p>
        </p:txBody>
      </p:sp>
      <p:sp>
        <p:nvSpPr>
          <p:cNvPr id="23" name="Shape 21"/>
          <p:cNvSpPr/>
          <p:nvPr/>
        </p:nvSpPr>
        <p:spPr>
          <a:xfrm>
            <a:off x="4617720" y="3606394"/>
            <a:ext cx="6949440" cy="866851"/>
          </a:xfrm>
          <a:prstGeom prst="roundRect">
            <a:avLst>
              <a:gd name="adj" fmla="val 4219"/>
            </a:avLst>
          </a:prstGeom>
          <a:solidFill>
            <a:srgbClr val="1E2124"/>
          </a:solidFill>
          <a:ln w="12700">
            <a:solidFill>
              <a:srgbClr val="1E2124"/>
            </a:solidFill>
            <a:prstDash val="solid"/>
          </a:ln>
        </p:spPr>
      </p:sp>
      <p:sp>
        <p:nvSpPr>
          <p:cNvPr id="24" name="Text 22"/>
          <p:cNvSpPr txBox="1"/>
          <p:nvPr/>
        </p:nvSpPr>
        <p:spPr>
          <a:xfrm>
            <a:off x="4727448" y="3679546"/>
            <a:ext cx="6729984" cy="720547"/>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nic.addQuery('mac_address', 'IN', candidates.join(','));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while (nic.next())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phone = new GlideRecord('cmdb_ci_ip_phone');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(phone.get(owner) &amp;&amp; !phones[owner]) { count++;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(count == 1) return first;</a:t>
            </a:r>
            <a:endParaRPr lang="en-US" sz="800" dirty="0"/>
          </a:p>
        </p:txBody>
      </p:sp>
      <p:sp>
        <p:nvSpPr>
          <p:cNvPr id="25" name="Shape 23"/>
          <p:cNvSpPr/>
          <p:nvPr/>
        </p:nvSpPr>
        <p:spPr>
          <a:xfrm>
            <a:off x="457200" y="4741469"/>
            <a:ext cx="11274552" cy="1074115"/>
          </a:xfrm>
          <a:prstGeom prst="roundRect">
            <a:avLst>
              <a:gd name="adj" fmla="val 425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150510"/>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515051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832909"/>
            <a:ext cx="3246120" cy="891235"/>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Last resort: the device name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phone loaded from the call manager export carries no MAC on either record but is named exactly like the label.</a:t>
            </a:r>
            <a:endParaRPr lang="en-US" sz="1200" dirty="0"/>
          </a:p>
        </p:txBody>
      </p:sp>
      <p:sp>
        <p:nvSpPr>
          <p:cNvPr id="29" name="Shape 27"/>
          <p:cNvSpPr/>
          <p:nvPr/>
        </p:nvSpPr>
        <p:spPr>
          <a:xfrm>
            <a:off x="4617720" y="4962144"/>
            <a:ext cx="6949440" cy="632765"/>
          </a:xfrm>
          <a:prstGeom prst="roundRect">
            <a:avLst>
              <a:gd name="adj" fmla="val 5780"/>
            </a:avLst>
          </a:prstGeom>
          <a:solidFill>
            <a:srgbClr val="1E2124"/>
          </a:solidFill>
          <a:ln w="12700">
            <a:solidFill>
              <a:srgbClr val="1E2124"/>
            </a:solidFill>
            <a:prstDash val="solid"/>
          </a:ln>
        </p:spPr>
      </p:sp>
      <p:sp>
        <p:nvSpPr>
          <p:cNvPr id="30" name="Text 28"/>
          <p:cNvSpPr txBox="1"/>
          <p:nvPr/>
        </p:nvSpPr>
        <p:spPr>
          <a:xfrm>
            <a:off x="4727448" y="5035296"/>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byName.addQuery('name', label.toUpperCase());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(!byName.next())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(byName.hasNext())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phones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named;</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serial rules; phones report no serial.</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only labels of "sep" plus twelve hex characters. Everything else passes untouched.</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FQDN and hostname rules, which never see a phone label.</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250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FQDN Class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first name rule. An exact FQDN on the CI record is the most precise name evidence there is, so it is matched before any hostname handling, inside the class the OS points at.</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OS and the 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CI of that class whose fqdn equals the scanned name</a:t>
            </a:r>
            <a:endParaRPr lang="en-US" sz="1050" dirty="0"/>
          </a:p>
        </p:txBody>
      </p:sp>
      <p:sp>
        <p:nvSpPr>
          <p:cNvPr id="13" name="Shape 11"/>
          <p:cNvSpPr/>
          <p:nvPr/>
        </p:nvSpPr>
        <p:spPr>
          <a:xfrm>
            <a:off x="457200" y="2121408"/>
            <a:ext cx="11274552" cy="1074115"/>
          </a:xfrm>
          <a:prstGeom prst="roundRect">
            <a:avLst>
              <a:gd name="adj" fmla="val 425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530450"/>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53045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891235"/>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Class from the scanned OS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classFor() turns the OS text into a CMDB class. The search stays inside it, so a Red Hat host cannot land on a Windows Server.</a:t>
            </a:r>
            <a:endParaRPr lang="en-US" sz="1200" dirty="0"/>
          </a:p>
        </p:txBody>
      </p:sp>
      <p:sp>
        <p:nvSpPr>
          <p:cNvPr id="17" name="Shape 15"/>
          <p:cNvSpPr/>
          <p:nvPr/>
        </p:nvSpPr>
        <p:spPr>
          <a:xfrm>
            <a:off x="4617720" y="2400605"/>
            <a:ext cx="6949440" cy="515722"/>
          </a:xfrm>
          <a:prstGeom prst="roundRect">
            <a:avLst>
              <a:gd name="adj" fmla="val 7092"/>
            </a:avLst>
          </a:prstGeom>
          <a:solidFill>
            <a:srgbClr val="1E2124"/>
          </a:solidFill>
          <a:ln w="12700">
            <a:solidFill>
              <a:srgbClr val="1E2124"/>
            </a:solidFill>
            <a:prstDash val="solid"/>
          </a:ln>
        </p:spPr>
      </p:sp>
      <p:sp>
        <p:nvSpPr>
          <p:cNvPr id="18" name="Text 16"/>
          <p:cNvSpPr txBox="1"/>
          <p:nvPr/>
        </p:nvSpPr>
        <p:spPr>
          <a:xfrm>
            <a:off x="4727448" y="2473757"/>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pref = classFor(sourcePayload.OS);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unknown or multi-guess 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hand over to the hardware-wide rule</a:t>
            </a:r>
            <a:endParaRPr lang="en-US" sz="800" dirty="0"/>
          </a:p>
        </p:txBody>
      </p:sp>
      <p:sp>
        <p:nvSpPr>
          <p:cNvPr id="19" name="Shape 17"/>
          <p:cNvSpPr/>
          <p:nvPr/>
        </p:nvSpPr>
        <p:spPr>
          <a:xfrm>
            <a:off x="457200" y="3286963"/>
            <a:ext cx="11274552" cy="1220419"/>
          </a:xfrm>
          <a:prstGeom prst="roundRect">
            <a:avLst>
              <a:gd name="adj" fmla="val 374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769157"/>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769157"/>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378403"/>
            <a:ext cx="3246120" cy="1037539"/>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Exact fqdn match</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Every CI of the class whose fqdn equals the scanned name is collected, together with those that also carry the scanned IP.</a:t>
            </a:r>
            <a:endParaRPr lang="en-US" sz="1200" dirty="0"/>
          </a:p>
        </p:txBody>
      </p:sp>
      <p:sp>
        <p:nvSpPr>
          <p:cNvPr id="23" name="Shape 21"/>
          <p:cNvSpPr/>
          <p:nvPr/>
        </p:nvSpPr>
        <p:spPr>
          <a:xfrm>
            <a:off x="4617720" y="3463747"/>
            <a:ext cx="6949440" cy="866851"/>
          </a:xfrm>
          <a:prstGeom prst="roundRect">
            <a:avLst>
              <a:gd name="adj" fmla="val 4219"/>
            </a:avLst>
          </a:prstGeom>
          <a:solidFill>
            <a:srgbClr val="1E2124"/>
          </a:solidFill>
          <a:ln w="12700">
            <a:solidFill>
              <a:srgbClr val="1E2124"/>
            </a:solidFill>
            <a:prstDash val="solid"/>
          </a:ln>
        </p:spPr>
      </p:sp>
      <p:sp>
        <p:nvSpPr>
          <p:cNvPr id="24" name="Text 22"/>
          <p:cNvSpPr txBox="1"/>
          <p:nvPr/>
        </p:nvSpPr>
        <p:spPr>
          <a:xfrm>
            <a:off x="4727448" y="3536899"/>
            <a:ext cx="6729984" cy="720547"/>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gr.addQuery('fqdn', fqdn);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while (gr.next())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ids.push(gr.getUniqueValue());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(ip &amp;&amp; gr.getValue('ip_address') ==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ipHits.push(gr.getUniqueValue());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p:txBody>
      </p:sp>
      <p:sp>
        <p:nvSpPr>
          <p:cNvPr id="25" name="Shape 23"/>
          <p:cNvSpPr/>
          <p:nvPr/>
        </p:nvSpPr>
        <p:spPr>
          <a:xfrm>
            <a:off x="457200" y="4598822"/>
            <a:ext cx="11274552" cy="1216762"/>
          </a:xfrm>
          <a:prstGeom prst="roundRect">
            <a:avLst>
              <a:gd name="adj" fmla="val 375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079187"/>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5079187"/>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690262"/>
            <a:ext cx="3246120" cy="103388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One hit, or the IP breaks the tie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Duplicates do exist: a retired server and its rebuilt replacement, a cluster alias on two nodes. The scanned IP resolves that safely; without it the rule declines.</a:t>
            </a:r>
            <a:endParaRPr lang="en-US" sz="1200" dirty="0"/>
          </a:p>
        </p:txBody>
      </p:sp>
      <p:sp>
        <p:nvSpPr>
          <p:cNvPr id="29" name="Shape 27"/>
          <p:cNvSpPr/>
          <p:nvPr/>
        </p:nvSpPr>
        <p:spPr>
          <a:xfrm>
            <a:off x="4617720" y="4832299"/>
            <a:ext cx="6949440" cy="749808"/>
          </a:xfrm>
          <a:prstGeom prst="roundRect">
            <a:avLst>
              <a:gd name="adj" fmla="val 4878"/>
            </a:avLst>
          </a:prstGeom>
          <a:solidFill>
            <a:srgbClr val="1E2124"/>
          </a:solidFill>
          <a:ln w="12700">
            <a:solidFill>
              <a:srgbClr val="1E2124"/>
            </a:solidFill>
            <a:prstDash val="solid"/>
          </a:ln>
        </p:spPr>
      </p:sp>
      <p:sp>
        <p:nvSpPr>
          <p:cNvPr id="30" name="Text 28"/>
          <p:cNvSpPr txBox="1"/>
          <p:nvPr/>
        </p:nvSpPr>
        <p:spPr>
          <a:xfrm>
            <a:off x="4727448" y="4905451"/>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(ids.length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ids[0];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(ids.length &gt; 1 &amp;&amp; ipHits.length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ipHits[0];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IP confirms one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serial rules and the phone rule found nothing.</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every host with a dotted DNS name, which is the bulk of the feed.</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hardware-wide FQDN rule, then hostname plus domain.</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260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FQDN Hardware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exact FQDN search again, across the whole hardware tree. It picks up the hosts whose OS gives no class and the CIs kept in a generic or different class than the OS suggests.</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whose fqdn equals the scanned name</a:t>
            </a:r>
            <a:endParaRPr lang="en-US" sz="1050" dirty="0"/>
          </a:p>
        </p:txBody>
      </p:sp>
      <p:sp>
        <p:nvSpPr>
          <p:cNvPr id="13" name="Shape 11"/>
          <p:cNvSpPr/>
          <p:nvPr/>
        </p:nvSpPr>
        <p:spPr>
          <a:xfrm>
            <a:off x="457200" y="2225650"/>
            <a:ext cx="11274552" cy="1506931"/>
          </a:xfrm>
          <a:prstGeom prst="roundRect">
            <a:avLst>
              <a:gd name="adj" fmla="val 303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851099"/>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851099"/>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317090"/>
            <a:ext cx="3246120" cy="1324051"/>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Same helper, wider scope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identical collect-and-decide helper runs, but on cmdb_ci_hardware instead of a single class. Nothing else changes.</a:t>
            </a:r>
            <a:endParaRPr lang="en-US" sz="1200" dirty="0"/>
          </a:p>
        </p:txBody>
      </p:sp>
      <p:sp>
        <p:nvSpPr>
          <p:cNvPr id="17" name="Shape 15"/>
          <p:cNvSpPr/>
          <p:nvPr/>
        </p:nvSpPr>
        <p:spPr>
          <a:xfrm>
            <a:off x="4617720" y="2838298"/>
            <a:ext cx="6949440" cy="281635"/>
          </a:xfrm>
          <a:prstGeom prst="roundRect">
            <a:avLst>
              <a:gd name="adj" fmla="val 12987"/>
            </a:avLst>
          </a:prstGeom>
          <a:solidFill>
            <a:srgbClr val="1E2124"/>
          </a:solidFill>
          <a:ln w="12700">
            <a:solidFill>
              <a:srgbClr val="1E2124"/>
            </a:solidFill>
            <a:prstDash val="solid"/>
          </a:ln>
        </p:spPr>
      </p:sp>
      <p:sp>
        <p:nvSpPr>
          <p:cNvPr id="18" name="Text 16"/>
          <p:cNvSpPr txBox="1"/>
          <p:nvPr/>
        </p:nvSpPr>
        <p:spPr>
          <a:xfrm>
            <a:off x="4727448" y="2911450"/>
            <a:ext cx="6729984" cy="13533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pickFqdn('cmdb_ci_hardware');</a:t>
            </a:r>
            <a:endParaRPr lang="en-US" sz="800" dirty="0"/>
          </a:p>
        </p:txBody>
      </p:sp>
      <p:sp>
        <p:nvSpPr>
          <p:cNvPr id="19" name="Shape 17"/>
          <p:cNvSpPr/>
          <p:nvPr/>
        </p:nvSpPr>
        <p:spPr>
          <a:xfrm>
            <a:off x="457200" y="3824021"/>
            <a:ext cx="11274552" cy="1887322"/>
          </a:xfrm>
          <a:prstGeom prst="roundRect">
            <a:avLst>
              <a:gd name="adj" fmla="val 24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639666"/>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463966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915461"/>
            <a:ext cx="3246120" cy="170444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Collect and decide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One hit is the match. Several hits with exactly one carrying the scanned IP gives that one. Anything else declines.</a:t>
            </a:r>
            <a:endParaRPr lang="en-US" sz="1200" dirty="0"/>
          </a:p>
        </p:txBody>
      </p:sp>
      <p:sp>
        <p:nvSpPr>
          <p:cNvPr id="23" name="Shape 21"/>
          <p:cNvSpPr/>
          <p:nvPr/>
        </p:nvSpPr>
        <p:spPr>
          <a:xfrm>
            <a:off x="4617720" y="4217213"/>
            <a:ext cx="6949440" cy="1100938"/>
          </a:xfrm>
          <a:prstGeom prst="roundRect">
            <a:avLst>
              <a:gd name="adj" fmla="val 3322"/>
            </a:avLst>
          </a:prstGeom>
          <a:solidFill>
            <a:srgbClr val="1E2124"/>
          </a:solidFill>
          <a:ln w="12700">
            <a:solidFill>
              <a:srgbClr val="1E2124"/>
            </a:solidFill>
            <a:prstDash val="solid"/>
          </a:ln>
        </p:spPr>
      </p:sp>
      <p:sp>
        <p:nvSpPr>
          <p:cNvPr id="24" name="Text 22"/>
          <p:cNvSpPr txBox="1"/>
          <p:nvPr/>
        </p:nvSpPr>
        <p:spPr>
          <a:xfrm>
            <a:off x="4727448" y="4290365"/>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gr.addQuery('fqdn', fqdn);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while (gr.next())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ids.push(gr.getUniqueValue());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(ip &amp;&amp; gr.getValue('ip_address') ==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ipHits.push(gr.getUniqueValue());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(ids.length == 1) return ids[0];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(ids.length &gt; 1 &amp;&amp; ipHits.length == 1) return ipHits[0];</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class-scoped FQDN rule tried the same value inside the OS class.</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with a multi-guess or empty OS, or a CI classed differently.</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hostname plus domain rules, for CIs with no fqdn value at all.</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300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Hostname Domain Class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For CIs named with the short hostname that carry the domain somewhere else, in dns_domain or in an fqdn that was never copied into the name. Short name and domain are matched together, inside the class the OS points at.</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OS and the 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CI of that class whose domain evidence agrees</a:t>
            </a:r>
            <a:endParaRPr lang="en-US" sz="1050" dirty="0"/>
          </a:p>
        </p:txBody>
      </p:sp>
      <p:sp>
        <p:nvSpPr>
          <p:cNvPr id="13" name="Shape 11"/>
          <p:cNvSpPr/>
          <p:nvPr/>
        </p:nvSpPr>
        <p:spPr>
          <a:xfrm>
            <a:off x="457200" y="2121408"/>
            <a:ext cx="11274552" cy="1111910"/>
          </a:xfrm>
          <a:prstGeom prst="roundRect">
            <a:avLst>
              <a:gd name="adj" fmla="val 411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549347"/>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549347"/>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929030"/>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Class from the scanned OS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classFor() turns the OS text into a CMDB class. The search stays inside it, so a Red Hat host cannot land on a Windows Server.</a:t>
            </a:r>
            <a:endParaRPr lang="en-US" sz="1200" dirty="0"/>
          </a:p>
        </p:txBody>
      </p:sp>
      <p:sp>
        <p:nvSpPr>
          <p:cNvPr id="17" name="Shape 15"/>
          <p:cNvSpPr/>
          <p:nvPr/>
        </p:nvSpPr>
        <p:spPr>
          <a:xfrm>
            <a:off x="4617720" y="2419502"/>
            <a:ext cx="6949440" cy="515722"/>
          </a:xfrm>
          <a:prstGeom prst="roundRect">
            <a:avLst>
              <a:gd name="adj" fmla="val 7092"/>
            </a:avLst>
          </a:prstGeom>
          <a:solidFill>
            <a:srgbClr val="1E2124"/>
          </a:solidFill>
          <a:ln w="12700">
            <a:solidFill>
              <a:srgbClr val="1E2124"/>
            </a:solidFill>
            <a:prstDash val="solid"/>
          </a:ln>
        </p:spPr>
      </p:sp>
      <p:sp>
        <p:nvSpPr>
          <p:cNvPr id="18" name="Text 16"/>
          <p:cNvSpPr txBox="1"/>
          <p:nvPr/>
        </p:nvSpPr>
        <p:spPr>
          <a:xfrm>
            <a:off x="4727448" y="2492654"/>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pref = classFor(sourcePayload.OS);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unknown or multi-guess 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hand over to the hardware-wide rule</a:t>
            </a:r>
            <a:endParaRPr lang="en-US" sz="800" dirty="0"/>
          </a:p>
        </p:txBody>
      </p:sp>
      <p:sp>
        <p:nvSpPr>
          <p:cNvPr id="19" name="Shape 17"/>
          <p:cNvSpPr/>
          <p:nvPr/>
        </p:nvSpPr>
        <p:spPr>
          <a:xfrm>
            <a:off x="457200" y="3324758"/>
            <a:ext cx="11274552" cy="1375258"/>
          </a:xfrm>
          <a:prstGeom prst="roundRect">
            <a:avLst>
              <a:gd name="adj" fmla="val 332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884371"/>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88437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416198"/>
            <a:ext cx="3246120" cy="119237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Name matched, domain confirmed</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CI is kept only when its own record agrees with the scanned domain. The same short name lives in several domains, and this check keeps findings off the namesake.</a:t>
            </a:r>
            <a:endParaRPr lang="en-US" sz="1200" dirty="0"/>
          </a:p>
        </p:txBody>
      </p:sp>
      <p:sp>
        <p:nvSpPr>
          <p:cNvPr id="23" name="Shape 21"/>
          <p:cNvSpPr/>
          <p:nvPr/>
        </p:nvSpPr>
        <p:spPr>
          <a:xfrm>
            <a:off x="4617720" y="3520440"/>
            <a:ext cx="6949440" cy="983894"/>
          </a:xfrm>
          <a:prstGeom prst="roundRect">
            <a:avLst>
              <a:gd name="adj" fmla="val 3717"/>
            </a:avLst>
          </a:prstGeom>
          <a:solidFill>
            <a:srgbClr val="1E2124"/>
          </a:solidFill>
          <a:ln w="12700">
            <a:solidFill>
              <a:srgbClr val="1E2124"/>
            </a:solidFill>
            <a:prstDash val="solid"/>
          </a:ln>
        </p:spPr>
      </p:sp>
      <p:sp>
        <p:nvSpPr>
          <p:cNvPr id="24" name="Text 22"/>
          <p:cNvSpPr txBox="1"/>
          <p:nvPr/>
        </p:nvSpPr>
        <p:spPr>
          <a:xfrm>
            <a:off x="4727448" y="3593592"/>
            <a:ext cx="6729984" cy="837590"/>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host);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"ah-1047132-001"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cifqdn = ('' + gr.getValue('fqdn')).toLowerCase();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cidom = ('' + gr.getValue('dns_domain')).toLowerCase();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(cifqdn == full || cidom == domain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(cifqdn.indexOf(host + '.') == 0 &amp;&amp;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cifqdn.indexOf(domain) &gt; 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good.push(gr.getUniqueValue());</a:t>
            </a:r>
            <a:endParaRPr lang="en-US" sz="800" dirty="0"/>
          </a:p>
        </p:txBody>
      </p:sp>
      <p:sp>
        <p:nvSpPr>
          <p:cNvPr id="25" name="Shape 23"/>
          <p:cNvSpPr/>
          <p:nvPr/>
        </p:nvSpPr>
        <p:spPr>
          <a:xfrm>
            <a:off x="457200" y="4791456"/>
            <a:ext cx="11274552" cy="1024128"/>
          </a:xfrm>
          <a:prstGeom prst="roundRect">
            <a:avLst>
              <a:gd name="adj" fmla="val 446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175504"/>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517550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882896"/>
            <a:ext cx="3246120" cy="84124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One confirmed CI, IP as tie-break</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Several confirmed CIs are resolved only when exactly one also carries the scanned address.</a:t>
            </a:r>
            <a:endParaRPr lang="en-US" sz="1200" dirty="0"/>
          </a:p>
        </p:txBody>
      </p:sp>
      <p:sp>
        <p:nvSpPr>
          <p:cNvPr id="29" name="Shape 27"/>
          <p:cNvSpPr/>
          <p:nvPr/>
        </p:nvSpPr>
        <p:spPr>
          <a:xfrm>
            <a:off x="4617720" y="4987138"/>
            <a:ext cx="6949440" cy="632765"/>
          </a:xfrm>
          <a:prstGeom prst="roundRect">
            <a:avLst>
              <a:gd name="adj" fmla="val 5780"/>
            </a:avLst>
          </a:prstGeom>
          <a:solidFill>
            <a:srgbClr val="1E2124"/>
          </a:solidFill>
          <a:ln w="12700">
            <a:solidFill>
              <a:srgbClr val="1E2124"/>
            </a:solidFill>
            <a:prstDash val="solid"/>
          </a:ln>
        </p:spPr>
      </p:sp>
      <p:sp>
        <p:nvSpPr>
          <p:cNvPr id="30" name="Text 28"/>
          <p:cNvSpPr txBox="1"/>
          <p:nvPr/>
        </p:nvSpPr>
        <p:spPr>
          <a:xfrm>
            <a:off x="4727448" y="5060290"/>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(good.length == 1) return good[0];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(good.length &gt; 1 &amp;&amp; ipHits.length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ipHits[0];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FQDN rules looked in the fqdn field and found nothing.</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CI is named with the short hostname only.</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hardware-wide variant, the layered DNS rule, then the plain hostname rules.</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310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Hostname Domain Hardware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Short hostname plus domain evidence again, across the whole hardware tree, for CIs classed generically (Server, Computer) or differently from the scanned OS.</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whose domain evidence agrees</a:t>
            </a:r>
            <a:endParaRPr lang="en-US" sz="1050" dirty="0"/>
          </a:p>
        </p:txBody>
      </p:sp>
      <p:sp>
        <p:nvSpPr>
          <p:cNvPr id="13" name="Shape 11"/>
          <p:cNvSpPr/>
          <p:nvPr/>
        </p:nvSpPr>
        <p:spPr>
          <a:xfrm>
            <a:off x="457200" y="2414016"/>
            <a:ext cx="11274552" cy="1364285"/>
          </a:xfrm>
          <a:prstGeom prst="roundRect">
            <a:avLst>
              <a:gd name="adj" fmla="val 335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968142"/>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96814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505456"/>
            <a:ext cx="3246120" cy="1181405"/>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Same helper, wider scope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identical name-plus-domain helper runs on cmdb_ci_hardware.</a:t>
            </a:r>
            <a:endParaRPr lang="en-US" sz="1200" dirty="0"/>
          </a:p>
        </p:txBody>
      </p:sp>
      <p:sp>
        <p:nvSpPr>
          <p:cNvPr id="17" name="Shape 15"/>
          <p:cNvSpPr/>
          <p:nvPr/>
        </p:nvSpPr>
        <p:spPr>
          <a:xfrm>
            <a:off x="4617720" y="2955341"/>
            <a:ext cx="6949440" cy="281635"/>
          </a:xfrm>
          <a:prstGeom prst="roundRect">
            <a:avLst>
              <a:gd name="adj" fmla="val 12987"/>
            </a:avLst>
          </a:prstGeom>
          <a:solidFill>
            <a:srgbClr val="1E2124"/>
          </a:solidFill>
          <a:ln w="12700">
            <a:solidFill>
              <a:srgbClr val="1E2124"/>
            </a:solidFill>
            <a:prstDash val="solid"/>
          </a:ln>
        </p:spPr>
      </p:sp>
      <p:sp>
        <p:nvSpPr>
          <p:cNvPr id="18" name="Text 16"/>
          <p:cNvSpPr txBox="1"/>
          <p:nvPr/>
        </p:nvSpPr>
        <p:spPr>
          <a:xfrm>
            <a:off x="4727448" y="3028493"/>
            <a:ext cx="6729984" cy="13533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pickCombo('cmdb_ci_hardware');</a:t>
            </a:r>
            <a:endParaRPr lang="en-US" sz="800" dirty="0"/>
          </a:p>
        </p:txBody>
      </p:sp>
      <p:sp>
        <p:nvSpPr>
          <p:cNvPr id="19" name="Shape 17"/>
          <p:cNvSpPr/>
          <p:nvPr/>
        </p:nvSpPr>
        <p:spPr>
          <a:xfrm>
            <a:off x="457200" y="3869741"/>
            <a:ext cx="11274552" cy="1653235"/>
          </a:xfrm>
          <a:prstGeom prst="roundRect">
            <a:avLst>
              <a:gd name="adj" fmla="val 276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568342"/>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456834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961181"/>
            <a:ext cx="3246120" cy="1470355"/>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Domain evidence still required</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Widening the search does not weaken the test: a CI named with the hostname is kept only when its fqdn or dns_domain agrees with the scanned domain.</a:t>
            </a:r>
            <a:endParaRPr lang="en-US" sz="1200" dirty="0"/>
          </a:p>
        </p:txBody>
      </p:sp>
      <p:sp>
        <p:nvSpPr>
          <p:cNvPr id="23" name="Shape 21"/>
          <p:cNvSpPr/>
          <p:nvPr/>
        </p:nvSpPr>
        <p:spPr>
          <a:xfrm>
            <a:off x="4617720" y="4262933"/>
            <a:ext cx="6949440" cy="866851"/>
          </a:xfrm>
          <a:prstGeom prst="roundRect">
            <a:avLst>
              <a:gd name="adj" fmla="val 4219"/>
            </a:avLst>
          </a:prstGeom>
          <a:solidFill>
            <a:srgbClr val="1E2124"/>
          </a:solidFill>
          <a:ln w="12700">
            <a:solidFill>
              <a:srgbClr val="1E2124"/>
            </a:solidFill>
            <a:prstDash val="solid"/>
          </a:ln>
        </p:spPr>
      </p:sp>
      <p:sp>
        <p:nvSpPr>
          <p:cNvPr id="24" name="Text 22"/>
          <p:cNvSpPr txBox="1"/>
          <p:nvPr/>
        </p:nvSpPr>
        <p:spPr>
          <a:xfrm>
            <a:off x="4727448" y="4336085"/>
            <a:ext cx="6729984" cy="720547"/>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host);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(cifqdn == full || cidom == domain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(cifqdn.indexOf(host + '.') == 0 &amp;&amp;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cifqdn.indexOf(domain) &gt; 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good.push(gr.getUniqueValue());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(good.length == 1) return good[0];</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class-scoped variant tried the same evidence inside the OS class.</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CI is classed generically or differently from the OS.</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layered DNS rule and then the plain hostname rules.</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350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Layered DNS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Discovery keeps names and addresses as their own records linked to the device. This rule follows that chain, the only way to find a host whose name is not written on the CI record at all, and it resolves aliases to the real machine.</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CI at the end of DNS Name to IP Address to adapter to CI</a:t>
            </a:r>
            <a:endParaRPr lang="en-US" sz="1050" dirty="0"/>
          </a:p>
        </p:txBody>
      </p:sp>
      <p:sp>
        <p:nvSpPr>
          <p:cNvPr id="13" name="Shape 11"/>
          <p:cNvSpPr/>
          <p:nvPr/>
        </p:nvSpPr>
        <p:spPr>
          <a:xfrm>
            <a:off x="457200" y="2121408"/>
            <a:ext cx="11274552" cy="1313078"/>
          </a:xfrm>
          <a:prstGeom prst="roundRect">
            <a:avLst>
              <a:gd name="adj" fmla="val 348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649931"/>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64993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113019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Follow the chain in one query</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link table ties a DNS Name record to an IP Address record; dot-walking reaches the adapter and the CI. Because the chain ends on whatever device holds the address, an alias resolves to the real machine.</a:t>
            </a:r>
            <a:endParaRPr lang="en-US" sz="1200" dirty="0"/>
          </a:p>
        </p:txBody>
      </p:sp>
      <p:sp>
        <p:nvSpPr>
          <p:cNvPr id="17" name="Shape 15"/>
          <p:cNvSpPr/>
          <p:nvPr/>
        </p:nvSpPr>
        <p:spPr>
          <a:xfrm>
            <a:off x="4617720" y="2403043"/>
            <a:ext cx="6949440" cy="749808"/>
          </a:xfrm>
          <a:prstGeom prst="roundRect">
            <a:avLst>
              <a:gd name="adj" fmla="val 4878"/>
            </a:avLst>
          </a:prstGeom>
          <a:solidFill>
            <a:srgbClr val="1E2124"/>
          </a:solidFill>
          <a:ln w="12700">
            <a:solidFill>
              <a:srgbClr val="1E2124"/>
            </a:solidFill>
            <a:prstDash val="solid"/>
          </a:ln>
        </p:spPr>
      </p:sp>
      <p:sp>
        <p:nvSpPr>
          <p:cNvPr id="18" name="Text 16"/>
          <p:cNvSpPr txBox="1"/>
          <p:nvPr/>
        </p:nvSpPr>
        <p:spPr>
          <a:xfrm>
            <a:off x="4727448" y="2476195"/>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GlideRecord('cmdb_ip_address_dns_name');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gr.addQuery('dns_name.name', fqdn);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gr.addNotNullQuery('ip_address.nic.cmdb_ci');</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gr.addQuery('ip_address.nic.cmdb_ci.sys_class_name',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'NOT IN', ignore);</a:t>
            </a:r>
            <a:endParaRPr lang="en-US" sz="800" dirty="0"/>
          </a:p>
        </p:txBody>
      </p:sp>
      <p:sp>
        <p:nvSpPr>
          <p:cNvPr id="19" name="Shape 17"/>
          <p:cNvSpPr/>
          <p:nvPr/>
        </p:nvSpPr>
        <p:spPr>
          <a:xfrm>
            <a:off x="457200" y="3525926"/>
            <a:ext cx="11274552" cy="1027786"/>
          </a:xfrm>
          <a:prstGeom prst="roundRect">
            <a:avLst>
              <a:gd name="adj" fmla="val 4448"/>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911803"/>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911803"/>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617366"/>
            <a:ext cx="3246120" cy="844906"/>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Count owners, note the IP path</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Each distinct CI is counted once; the CIs reached through the scanned address are remembered separately.</a:t>
            </a:r>
            <a:endParaRPr lang="en-US" sz="1200" dirty="0"/>
          </a:p>
        </p:txBody>
      </p:sp>
      <p:sp>
        <p:nvSpPr>
          <p:cNvPr id="23" name="Shape 21"/>
          <p:cNvSpPr/>
          <p:nvPr/>
        </p:nvSpPr>
        <p:spPr>
          <a:xfrm>
            <a:off x="4617720" y="3723437"/>
            <a:ext cx="6949440" cy="632765"/>
          </a:xfrm>
          <a:prstGeom prst="roundRect">
            <a:avLst>
              <a:gd name="adj" fmla="val 5780"/>
            </a:avLst>
          </a:prstGeom>
          <a:solidFill>
            <a:srgbClr val="1E2124"/>
          </a:solidFill>
          <a:ln w="12700">
            <a:solidFill>
              <a:srgbClr val="1E2124"/>
            </a:solidFill>
            <a:prstDash val="solid"/>
          </a:ln>
        </p:spPr>
      </p:sp>
      <p:sp>
        <p:nvSpPr>
          <p:cNvPr id="24" name="Text 22"/>
          <p:cNvSpPr txBox="1"/>
          <p:nvPr/>
        </p:nvSpPr>
        <p:spPr>
          <a:xfrm>
            <a:off x="4727448" y="3796589"/>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owner = '' + gr.ip_address.nic.cmdb_ci;</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(!owners[owner]) { owners[owner] = true; count++;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(ip &amp;&amp; ('' + gr.ip_address.ip_address) ==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ipOwners[owner] = true;</a:t>
            </a:r>
            <a:endParaRPr lang="en-US" sz="800" dirty="0"/>
          </a:p>
        </p:txBody>
      </p:sp>
      <p:sp>
        <p:nvSpPr>
          <p:cNvPr id="25" name="Shape 23"/>
          <p:cNvSpPr/>
          <p:nvPr/>
        </p:nvSpPr>
        <p:spPr>
          <a:xfrm>
            <a:off x="457200" y="4645152"/>
            <a:ext cx="11274552"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102352"/>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510235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736592"/>
            <a:ext cx="3246120" cy="98755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One CI, or the IP decides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name that resolves to two devices, an alias moved between hosts or an old and a new record, is taken only when exactly one is reached through the scanned IP.</a:t>
            </a:r>
            <a:endParaRPr lang="en-US" sz="1200" dirty="0"/>
          </a:p>
        </p:txBody>
      </p:sp>
      <p:sp>
        <p:nvSpPr>
          <p:cNvPr id="29" name="Shape 27"/>
          <p:cNvSpPr/>
          <p:nvPr/>
        </p:nvSpPr>
        <p:spPr>
          <a:xfrm>
            <a:off x="4617720" y="4913986"/>
            <a:ext cx="6949440" cy="632765"/>
          </a:xfrm>
          <a:prstGeom prst="roundRect">
            <a:avLst>
              <a:gd name="adj" fmla="val 5780"/>
            </a:avLst>
          </a:prstGeom>
          <a:solidFill>
            <a:srgbClr val="1E2124"/>
          </a:solidFill>
          <a:ln w="12700">
            <a:solidFill>
              <a:srgbClr val="1E2124"/>
            </a:solidFill>
            <a:prstDash val="solid"/>
          </a:ln>
        </p:spPr>
      </p:sp>
      <p:sp>
        <p:nvSpPr>
          <p:cNvPr id="30" name="Text 28"/>
          <p:cNvSpPr txBox="1"/>
          <p:nvPr/>
        </p:nvSpPr>
        <p:spPr>
          <a:xfrm>
            <a:off x="4727448" y="4987138"/>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(count == 1) return first;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(count &gt; 1 &amp;&amp; Object.keys(ipOwners).length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Object.keys(ipOwners)[0];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FQDN and hostname-plus-domain rules read fields on the CI record.</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name exists only in the discovery DNS records, and aliases.</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plain hostname rules and the full-FQDN name rule.</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400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Hostname Class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short hostname alone, inside the class the scanned OS points at. For CIs that carry only a short name and no domain information; the agreement between CI class and scanned OS stands in for the missing domain evidence.</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CI of that class named with the short hostname</a:t>
            </a:r>
            <a:endParaRPr lang="en-US" sz="1050" dirty="0"/>
          </a:p>
        </p:txBody>
      </p:sp>
      <p:sp>
        <p:nvSpPr>
          <p:cNvPr id="13" name="Shape 11"/>
          <p:cNvSpPr/>
          <p:nvPr/>
        </p:nvSpPr>
        <p:spPr>
          <a:xfrm>
            <a:off x="457200" y="2121408"/>
            <a:ext cx="11274552" cy="948538"/>
          </a:xfrm>
          <a:prstGeom prst="roundRect">
            <a:avLst>
              <a:gd name="adj" fmla="val 482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467661"/>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46766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76565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Short label only</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Everything from the first dot onwards is dropped; only the leading label is searched.</a:t>
            </a:r>
            <a:endParaRPr lang="en-US" sz="1200" dirty="0"/>
          </a:p>
        </p:txBody>
      </p:sp>
      <p:sp>
        <p:nvSpPr>
          <p:cNvPr id="17" name="Shape 15"/>
          <p:cNvSpPr/>
          <p:nvPr/>
        </p:nvSpPr>
        <p:spPr>
          <a:xfrm>
            <a:off x="4617720" y="2337816"/>
            <a:ext cx="6949440" cy="515722"/>
          </a:xfrm>
          <a:prstGeom prst="roundRect">
            <a:avLst>
              <a:gd name="adj" fmla="val 7092"/>
            </a:avLst>
          </a:prstGeom>
          <a:solidFill>
            <a:srgbClr val="1E2124"/>
          </a:solidFill>
          <a:ln w="12700">
            <a:solidFill>
              <a:srgbClr val="1E2124"/>
            </a:solidFill>
            <a:prstDash val="solid"/>
          </a:ln>
        </p:spPr>
      </p:sp>
      <p:sp>
        <p:nvSpPr>
          <p:cNvPr id="18" name="Text 16"/>
          <p:cNvSpPr txBox="1"/>
          <p:nvPr/>
        </p:nvSpPr>
        <p:spPr>
          <a:xfrm>
            <a:off x="4727448" y="2410968"/>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full = ('' + sourceValue).trim().toLowerCase();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host = full.split('.')[0];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"wsaoi01zeapd1"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(!host) return null;</a:t>
            </a:r>
            <a:endParaRPr lang="en-US" sz="800" dirty="0"/>
          </a:p>
        </p:txBody>
      </p:sp>
      <p:sp>
        <p:nvSpPr>
          <p:cNvPr id="19" name="Shape 17"/>
          <p:cNvSpPr/>
          <p:nvPr/>
        </p:nvSpPr>
        <p:spPr>
          <a:xfrm>
            <a:off x="457200" y="3161386"/>
            <a:ext cx="11274552" cy="1091184"/>
          </a:xfrm>
          <a:prstGeom prst="roundRect">
            <a:avLst>
              <a:gd name="adj" fmla="val 419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578962"/>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57896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252826"/>
            <a:ext cx="3246120" cy="908304"/>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Class from the scanned OS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classFor() turns the OS text into a CMDB class. The search stays inside it, so a Red Hat host cannot land on a Windows Server.</a:t>
            </a:r>
            <a:endParaRPr lang="en-US" sz="1200" dirty="0"/>
          </a:p>
        </p:txBody>
      </p:sp>
      <p:sp>
        <p:nvSpPr>
          <p:cNvPr id="23" name="Shape 21"/>
          <p:cNvSpPr/>
          <p:nvPr/>
        </p:nvSpPr>
        <p:spPr>
          <a:xfrm>
            <a:off x="4617720" y="3449117"/>
            <a:ext cx="6949440" cy="515722"/>
          </a:xfrm>
          <a:prstGeom prst="roundRect">
            <a:avLst>
              <a:gd name="adj" fmla="val 7092"/>
            </a:avLst>
          </a:prstGeom>
          <a:solidFill>
            <a:srgbClr val="1E2124"/>
          </a:solidFill>
          <a:ln w="12700">
            <a:solidFill>
              <a:srgbClr val="1E2124"/>
            </a:solidFill>
            <a:prstDash val="solid"/>
          </a:ln>
        </p:spPr>
      </p:sp>
      <p:sp>
        <p:nvSpPr>
          <p:cNvPr id="24" name="Text 22"/>
          <p:cNvSpPr txBox="1"/>
          <p:nvPr/>
        </p:nvSpPr>
        <p:spPr>
          <a:xfrm>
            <a:off x="4727448" y="3522269"/>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pref = classFor(sourcePayload.OS);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unknown or multi-guess 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hand over to the hardware-wide rule</a:t>
            </a:r>
            <a:endParaRPr lang="en-US" sz="800" dirty="0"/>
          </a:p>
        </p:txBody>
      </p:sp>
      <p:sp>
        <p:nvSpPr>
          <p:cNvPr id="25" name="Shape 23"/>
          <p:cNvSpPr/>
          <p:nvPr/>
        </p:nvSpPr>
        <p:spPr>
          <a:xfrm>
            <a:off x="457200" y="4344010"/>
            <a:ext cx="11274552" cy="1471574"/>
          </a:xfrm>
          <a:prstGeom prst="roundRect">
            <a:avLst>
              <a:gd name="adj" fmla="val 310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4951781"/>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495178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435450"/>
            <a:ext cx="3246120" cy="1288694"/>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Name search, exactly one CI</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With no domain to confirm, the class is the only safeguard against a namesake, and inside the class the name must still be unique.</a:t>
            </a:r>
            <a:endParaRPr lang="en-US" sz="1200" dirty="0"/>
          </a:p>
        </p:txBody>
      </p:sp>
      <p:sp>
        <p:nvSpPr>
          <p:cNvPr id="29" name="Shape 27"/>
          <p:cNvSpPr/>
          <p:nvPr/>
        </p:nvSpPr>
        <p:spPr>
          <a:xfrm>
            <a:off x="4617720" y="4529328"/>
            <a:ext cx="6949440" cy="1100938"/>
          </a:xfrm>
          <a:prstGeom prst="roundRect">
            <a:avLst>
              <a:gd name="adj" fmla="val 3322"/>
            </a:avLst>
          </a:prstGeom>
          <a:solidFill>
            <a:srgbClr val="1E2124"/>
          </a:solidFill>
          <a:ln w="12700">
            <a:solidFill>
              <a:srgbClr val="1E2124"/>
            </a:solidFill>
            <a:prstDash val="solid"/>
          </a:ln>
        </p:spPr>
      </p:sp>
      <p:sp>
        <p:nvSpPr>
          <p:cNvPr id="30" name="Text 28"/>
          <p:cNvSpPr txBox="1"/>
          <p:nvPr/>
        </p:nvSpPr>
        <p:spPr>
          <a:xfrm>
            <a:off x="4727448" y="4602480"/>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class + sub-classes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host);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gr.addQuery('sys_class_name', 'NOT IN', ignore);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gr.query();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nothing found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CIs,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every rule so far needed domain evidence on the CI.</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CI carries a short name and nothing else.</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hardware-wide short name rule with a class sanity check.</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410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Hostname Hardware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short hostname across the whole hardware tree, with a check that the CI found does not contradict the scanned OS. For CIs classed generically (Server, Computer, UNIX Server) or differently from the OS.</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named with the hostname, class permitting</a:t>
            </a:r>
            <a:endParaRPr lang="en-US" sz="1050" dirty="0"/>
          </a:p>
        </p:txBody>
      </p:sp>
      <p:sp>
        <p:nvSpPr>
          <p:cNvPr id="13" name="Shape 11"/>
          <p:cNvSpPr/>
          <p:nvPr/>
        </p:nvSpPr>
        <p:spPr>
          <a:xfrm>
            <a:off x="457200" y="2121408"/>
            <a:ext cx="11274552" cy="1111910"/>
          </a:xfrm>
          <a:prstGeom prst="roundRect">
            <a:avLst>
              <a:gd name="adj" fmla="val 411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549347"/>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549347"/>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929030"/>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Class becomes a preference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search is not filtered by class here. classFor() is still run, and its answer is used at the end as a veto rather than a filter.</a:t>
            </a:r>
            <a:endParaRPr lang="en-US" sz="1200" dirty="0"/>
          </a:p>
        </p:txBody>
      </p:sp>
      <p:sp>
        <p:nvSpPr>
          <p:cNvPr id="17" name="Shape 15"/>
          <p:cNvSpPr/>
          <p:nvPr/>
        </p:nvSpPr>
        <p:spPr>
          <a:xfrm>
            <a:off x="4617720" y="2419502"/>
            <a:ext cx="6949440" cy="515722"/>
          </a:xfrm>
          <a:prstGeom prst="roundRect">
            <a:avLst>
              <a:gd name="adj" fmla="val 7092"/>
            </a:avLst>
          </a:prstGeom>
          <a:solidFill>
            <a:srgbClr val="1E2124"/>
          </a:solidFill>
          <a:ln w="12700">
            <a:solidFill>
              <a:srgbClr val="1E2124"/>
            </a:solidFill>
            <a:prstDash val="solid"/>
          </a:ln>
        </p:spPr>
      </p:sp>
      <p:sp>
        <p:nvSpPr>
          <p:cNvPr id="18" name="Text 16"/>
          <p:cNvSpPr txBox="1"/>
          <p:nvPr/>
        </p:nvSpPr>
        <p:spPr>
          <a:xfrm>
            <a:off x="4727448" y="2492654"/>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pref = classFor(sourcePayload.OS);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may be empty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generic = {cmdb_ci_hardware: 1, cmdb_ci_computer: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cmdb_ci_server: 1, cmdb_ci_unix_server: 1};</a:t>
            </a:r>
            <a:endParaRPr lang="en-US" sz="800" dirty="0"/>
          </a:p>
        </p:txBody>
      </p:sp>
      <p:sp>
        <p:nvSpPr>
          <p:cNvPr id="19" name="Shape 17"/>
          <p:cNvSpPr/>
          <p:nvPr/>
        </p:nvSpPr>
        <p:spPr>
          <a:xfrm>
            <a:off x="457200" y="3324758"/>
            <a:ext cx="11274552" cy="1141171"/>
          </a:xfrm>
          <a:prstGeom prst="roundRect">
            <a:avLst>
              <a:gd name="adj" fmla="val 40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767328"/>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76732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416198"/>
            <a:ext cx="3246120" cy="958291"/>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One CI carries the name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Two hardware CIs with one short name, a test and a production box or a retired and a rebuilt one, cannot be told apart by the name alone.</a:t>
            </a:r>
            <a:endParaRPr lang="en-US" sz="1200" dirty="0"/>
          </a:p>
        </p:txBody>
      </p:sp>
      <p:sp>
        <p:nvSpPr>
          <p:cNvPr id="23" name="Shape 21"/>
          <p:cNvSpPr/>
          <p:nvPr/>
        </p:nvSpPr>
        <p:spPr>
          <a:xfrm>
            <a:off x="4617720" y="3520440"/>
            <a:ext cx="6949440" cy="749808"/>
          </a:xfrm>
          <a:prstGeom prst="roundRect">
            <a:avLst>
              <a:gd name="adj" fmla="val 4878"/>
            </a:avLst>
          </a:prstGeom>
          <a:solidFill>
            <a:srgbClr val="1E2124"/>
          </a:solidFill>
          <a:ln w="12700">
            <a:solidFill>
              <a:srgbClr val="1E2124"/>
            </a:solidFill>
            <a:prstDash val="solid"/>
          </a:ln>
        </p:spPr>
      </p:sp>
      <p:sp>
        <p:nvSpPr>
          <p:cNvPr id="24" name="Text 22"/>
          <p:cNvSpPr txBox="1"/>
          <p:nvPr/>
        </p:nvSpPr>
        <p:spPr>
          <a:xfrm>
            <a:off x="4727448" y="3593592"/>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host);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id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cls = '' + gr.getValue('sys_class_name');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shared name</a:t>
            </a:r>
            <a:endParaRPr lang="en-US" sz="800" dirty="0"/>
          </a:p>
        </p:txBody>
      </p:sp>
      <p:sp>
        <p:nvSpPr>
          <p:cNvPr id="25" name="Shape 23"/>
          <p:cNvSpPr/>
          <p:nvPr/>
        </p:nvSpPr>
        <p:spPr>
          <a:xfrm>
            <a:off x="457200" y="4557370"/>
            <a:ext cx="11274552" cy="1258214"/>
          </a:xfrm>
          <a:prstGeom prst="roundRect">
            <a:avLst>
              <a:gd name="adj" fmla="val 363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058461"/>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505846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648810"/>
            <a:ext cx="3246120" cy="1075334"/>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Veto a contradicting class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host that lands on a Windows Server by name when the scan says AIX is a namesake, not the same machine. Generic classes never contradict.</a:t>
            </a:r>
            <a:endParaRPr lang="en-US" sz="1200" dirty="0"/>
          </a:p>
        </p:txBody>
      </p:sp>
      <p:sp>
        <p:nvSpPr>
          <p:cNvPr id="29" name="Shape 27"/>
          <p:cNvSpPr/>
          <p:nvPr/>
        </p:nvSpPr>
        <p:spPr>
          <a:xfrm>
            <a:off x="4617720" y="4753051"/>
            <a:ext cx="6949440" cy="866851"/>
          </a:xfrm>
          <a:prstGeom prst="roundRect">
            <a:avLst>
              <a:gd name="adj" fmla="val 4219"/>
            </a:avLst>
          </a:prstGeom>
          <a:solidFill>
            <a:srgbClr val="1E2124"/>
          </a:solidFill>
          <a:ln w="12700">
            <a:solidFill>
              <a:srgbClr val="1E2124"/>
            </a:solidFill>
            <a:prstDash val="solid"/>
          </a:ln>
        </p:spPr>
      </p:sp>
      <p:sp>
        <p:nvSpPr>
          <p:cNvPr id="30" name="Text 28"/>
          <p:cNvSpPr txBox="1"/>
          <p:nvPr/>
        </p:nvSpPr>
        <p:spPr>
          <a:xfrm>
            <a:off x="4727448" y="4826203"/>
            <a:ext cx="6729984" cy="720547"/>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chk = new GlideRecord(pref);</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(!(chk.isValid() &amp;&amp; chk.get(id)) &amp;&amp; !generic[cls])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id;</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class-scoped rule required the name to be unique inside the OS class.</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CI is generically classed, or whose OS gave no class.</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full-FQDN name rule, then the address rules.</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E31837"/>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420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Management Interface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ADDED FOR THE UNMATCHED BACKLOG</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Server management controllers (HP iLO, Oracle ILOM, Dell iDRAC, IBM IMM, Cisco CIMC, BMC, IPMI) are scanned under their own label, the server name plus a suffix. The findings belong to the server, so the rule strips the suffix and matches the server.</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named like the label without its suffix</a:t>
            </a:r>
            <a:endParaRPr lang="en-US" sz="1050" dirty="0"/>
          </a:p>
        </p:txBody>
      </p:sp>
      <p:sp>
        <p:nvSpPr>
          <p:cNvPr id="13" name="Shape 11"/>
          <p:cNvSpPr/>
          <p:nvPr/>
        </p:nvSpPr>
        <p:spPr>
          <a:xfrm>
            <a:off x="457200" y="2121408"/>
            <a:ext cx="11274552" cy="1297229"/>
          </a:xfrm>
          <a:prstGeom prst="roundRect">
            <a:avLst>
              <a:gd name="adj" fmla="val 3524"/>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642006"/>
            <a:ext cx="256032" cy="256032"/>
          </a:xfrm>
          <a:prstGeom prst="roundRect">
            <a:avLst>
              <a:gd name="adj" fmla="val 32143"/>
            </a:avLst>
          </a:prstGeom>
          <a:solidFill>
            <a:srgbClr val="E31837"/>
          </a:solidFill>
          <a:ln w="12700">
            <a:solidFill>
              <a:srgbClr val="333333"/>
            </a:solidFill>
            <a:prstDash val="solid"/>
          </a:ln>
        </p:spPr>
      </p:sp>
      <p:sp>
        <p:nvSpPr>
          <p:cNvPr id="15" name="Text 13"/>
          <p:cNvSpPr txBox="1"/>
          <p:nvPr/>
        </p:nvSpPr>
        <p:spPr>
          <a:xfrm>
            <a:off x="658368" y="264200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1114349"/>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Two ways to recognise a controller</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listed suffix after the last hyphen is the clean case. Otherwise a controller word in the OS text allows the last segment to be stripped whatever it is, which covers site-specific tails such as "-r".</a:t>
            </a:r>
            <a:endParaRPr lang="en-US" sz="1200" dirty="0"/>
          </a:p>
        </p:txBody>
      </p:sp>
      <p:sp>
        <p:nvSpPr>
          <p:cNvPr id="17" name="Shape 15"/>
          <p:cNvSpPr/>
          <p:nvPr/>
        </p:nvSpPr>
        <p:spPr>
          <a:xfrm>
            <a:off x="4617720" y="2336597"/>
            <a:ext cx="6949440" cy="866851"/>
          </a:xfrm>
          <a:prstGeom prst="roundRect">
            <a:avLst>
              <a:gd name="adj" fmla="val 4219"/>
            </a:avLst>
          </a:prstGeom>
          <a:solidFill>
            <a:srgbClr val="1E2124"/>
          </a:solidFill>
          <a:ln w="12700">
            <a:solidFill>
              <a:srgbClr val="1E2124"/>
            </a:solidFill>
            <a:prstDash val="solid"/>
          </a:ln>
        </p:spPr>
      </p:sp>
      <p:sp>
        <p:nvSpPr>
          <p:cNvPr id="18" name="Text 16"/>
          <p:cNvSpPr txBox="1"/>
          <p:nvPr/>
        </p:nvSpPr>
        <p:spPr>
          <a:xfrm>
            <a:off x="4727448" y="2409749"/>
            <a:ext cx="6729984" cy="720547"/>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tail = label.substring(dash + 1);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"ilo"</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(suffixes.indexOf(tail) != -1)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base = label.substring(0, dash);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"tx6dd630001"</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else if (osNamesAController(os, markers))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base = label.substring(0, dash);</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(!base)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 a controller</a:t>
            </a:r>
            <a:endParaRPr lang="en-US" sz="800" dirty="0"/>
          </a:p>
        </p:txBody>
      </p:sp>
      <p:sp>
        <p:nvSpPr>
          <p:cNvPr id="19" name="Shape 17"/>
          <p:cNvSpPr/>
          <p:nvPr/>
        </p:nvSpPr>
        <p:spPr>
          <a:xfrm>
            <a:off x="457200" y="3510077"/>
            <a:ext cx="11274552" cy="1150925"/>
          </a:xfrm>
          <a:prstGeom prst="roundRect">
            <a:avLst>
              <a:gd name="adj" fmla="val 397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957523"/>
            <a:ext cx="256032" cy="256032"/>
          </a:xfrm>
          <a:prstGeom prst="roundRect">
            <a:avLst>
              <a:gd name="adj" fmla="val 32143"/>
            </a:avLst>
          </a:prstGeom>
          <a:solidFill>
            <a:srgbClr val="E31837"/>
          </a:solidFill>
          <a:ln w="12700">
            <a:solidFill>
              <a:srgbClr val="333333"/>
            </a:solidFill>
            <a:prstDash val="solid"/>
          </a:ln>
        </p:spPr>
      </p:sp>
      <p:sp>
        <p:nvSpPr>
          <p:cNvPr id="21" name="Text 19"/>
          <p:cNvSpPr txBox="1"/>
          <p:nvPr/>
        </p:nvSpPr>
        <p:spPr>
          <a:xfrm>
            <a:off x="658368" y="3957523"/>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601517"/>
            <a:ext cx="3246120" cy="968045"/>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The server, uniquely named</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controller can sit in front of a server, a storage node or a network device, so the whole hardware tree is searched.</a:t>
            </a:r>
            <a:endParaRPr lang="en-US" sz="1200" dirty="0"/>
          </a:p>
        </p:txBody>
      </p:sp>
      <p:sp>
        <p:nvSpPr>
          <p:cNvPr id="23" name="Shape 21"/>
          <p:cNvSpPr/>
          <p:nvPr/>
        </p:nvSpPr>
        <p:spPr>
          <a:xfrm>
            <a:off x="4617720" y="3769157"/>
            <a:ext cx="6949440" cy="632765"/>
          </a:xfrm>
          <a:prstGeom prst="roundRect">
            <a:avLst>
              <a:gd name="adj" fmla="val 5780"/>
            </a:avLst>
          </a:prstGeom>
          <a:solidFill>
            <a:srgbClr val="1E2124"/>
          </a:solidFill>
          <a:ln w="12700">
            <a:solidFill>
              <a:srgbClr val="1E2124"/>
            </a:solidFill>
            <a:prstDash val="solid"/>
          </a:ln>
        </p:spPr>
      </p:sp>
      <p:sp>
        <p:nvSpPr>
          <p:cNvPr id="24" name="Text 22"/>
          <p:cNvSpPr txBox="1"/>
          <p:nvPr/>
        </p:nvSpPr>
        <p:spPr>
          <a:xfrm>
            <a:off x="4727448" y="3842309"/>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base);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servers</a:t>
            </a:r>
            <a:endParaRPr lang="en-US" sz="800" dirty="0"/>
          </a:p>
        </p:txBody>
      </p:sp>
      <p:sp>
        <p:nvSpPr>
          <p:cNvPr id="25" name="Shape 23"/>
          <p:cNvSpPr/>
          <p:nvPr/>
        </p:nvSpPr>
        <p:spPr>
          <a:xfrm>
            <a:off x="457200" y="4752442"/>
            <a:ext cx="11274552" cy="1063142"/>
          </a:xfrm>
          <a:prstGeom prst="roundRect">
            <a:avLst>
              <a:gd name="adj" fmla="val 43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155997"/>
            <a:ext cx="256032" cy="256032"/>
          </a:xfrm>
          <a:prstGeom prst="roundRect">
            <a:avLst>
              <a:gd name="adj" fmla="val 32143"/>
            </a:avLst>
          </a:prstGeom>
          <a:solidFill>
            <a:srgbClr val="E31837"/>
          </a:solidFill>
          <a:ln w="12700">
            <a:solidFill>
              <a:srgbClr val="333333"/>
            </a:solidFill>
            <a:prstDash val="solid"/>
          </a:ln>
        </p:spPr>
      </p:sp>
      <p:sp>
        <p:nvSpPr>
          <p:cNvPr id="27" name="Text 25"/>
          <p:cNvSpPr txBox="1"/>
          <p:nvPr/>
        </p:nvSpPr>
        <p:spPr>
          <a:xfrm>
            <a:off x="658368" y="5155997"/>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843882"/>
            <a:ext cx="3246120" cy="88026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Never a load balancer</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balancer answering on a management address is still not the scanned host.</a:t>
            </a:r>
            <a:endParaRPr lang="en-US" sz="1200" dirty="0"/>
          </a:p>
        </p:txBody>
      </p:sp>
      <p:sp>
        <p:nvSpPr>
          <p:cNvPr id="29" name="Shape 27"/>
          <p:cNvSpPr/>
          <p:nvPr/>
        </p:nvSpPr>
        <p:spPr>
          <a:xfrm>
            <a:off x="4617720" y="4967630"/>
            <a:ext cx="6949440" cy="632765"/>
          </a:xfrm>
          <a:prstGeom prst="roundRect">
            <a:avLst>
              <a:gd name="adj" fmla="val 5780"/>
            </a:avLst>
          </a:prstGeom>
          <a:solidFill>
            <a:srgbClr val="1E2124"/>
          </a:solidFill>
          <a:ln w="12700">
            <a:solidFill>
              <a:srgbClr val="1E2124"/>
            </a:solidFill>
            <a:prstDash val="solid"/>
          </a:ln>
        </p:spPr>
      </p:sp>
      <p:sp>
        <p:nvSpPr>
          <p:cNvPr id="30" name="Text 28"/>
          <p:cNvSpPr txBox="1"/>
          <p:nvPr/>
        </p:nvSpPr>
        <p:spPr>
          <a:xfrm>
            <a:off x="4727448" y="5040782"/>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lb = new GlideRecord('cmdb_ci_lb');</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(lb.isValid() &amp;&amp; lb.get(match))</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hostname rules tried the whole label and found nothing.</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labels ending in one of the controller suffixes, or a controller named in the OS text; both lists are in the script.</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network interface rule and the full-FQDN name rule.</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E31837"/>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430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Network Interface Name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ADDED FOR THE UNMATCHED BACKLOG</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Network devices are scanned through their interface and VLAN addresses, each carrying a label of the device name plus an interface tail. The device CI is named with the leading part only, so the rule walks the label prefix by prefix.</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Network Gear or Load Balancer device named by a prefix</a:t>
            </a:r>
            <a:endParaRPr lang="en-US" sz="1050" dirty="0"/>
          </a:p>
        </p:txBody>
      </p:sp>
      <p:sp>
        <p:nvSpPr>
          <p:cNvPr id="13" name="Shape 11"/>
          <p:cNvSpPr/>
          <p:nvPr/>
        </p:nvSpPr>
        <p:spPr>
          <a:xfrm>
            <a:off x="457200" y="2121408"/>
            <a:ext cx="11274552"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578608"/>
            <a:ext cx="256032" cy="256032"/>
          </a:xfrm>
          <a:prstGeom prst="roundRect">
            <a:avLst>
              <a:gd name="adj" fmla="val 32143"/>
            </a:avLst>
          </a:prstGeom>
          <a:solidFill>
            <a:srgbClr val="E31837"/>
          </a:solidFill>
          <a:ln w="12700">
            <a:solidFill>
              <a:srgbClr val="333333"/>
            </a:solidFill>
            <a:prstDash val="solid"/>
          </a:ln>
        </p:spPr>
      </p:sp>
      <p:sp>
        <p:nvSpPr>
          <p:cNvPr id="15" name="Text 13"/>
          <p:cNvSpPr txBox="1"/>
          <p:nvPr/>
        </p:nvSpPr>
        <p:spPr>
          <a:xfrm>
            <a:off x="658368" y="257860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98755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Interface evidence first</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Plenty of ordinary server names contain hyphens. Without this check the prefix walk would strip real hostnames and could land on an unrelated device. The two lists sit right here in the script.</a:t>
            </a:r>
            <a:endParaRPr lang="en-US" sz="1200" dirty="0"/>
          </a:p>
        </p:txBody>
      </p:sp>
      <p:sp>
        <p:nvSpPr>
          <p:cNvPr id="17" name="Shape 15"/>
          <p:cNvSpPr/>
          <p:nvPr/>
        </p:nvSpPr>
        <p:spPr>
          <a:xfrm>
            <a:off x="4617720" y="2390242"/>
            <a:ext cx="6949440" cy="632765"/>
          </a:xfrm>
          <a:prstGeom prst="roundRect">
            <a:avLst>
              <a:gd name="adj" fmla="val 5780"/>
            </a:avLst>
          </a:prstGeom>
          <a:solidFill>
            <a:srgbClr val="1E2124"/>
          </a:solidFill>
          <a:ln w="12700">
            <a:solidFill>
              <a:srgbClr val="1E2124"/>
            </a:solidFill>
            <a:prstDash val="solid"/>
          </a:ln>
        </p:spPr>
      </p:sp>
      <p:sp>
        <p:nvSpPr>
          <p:cNvPr id="18" name="Text 16"/>
          <p:cNvSpPr txBox="1"/>
          <p:nvPr/>
        </p:nvSpPr>
        <p:spPr>
          <a:xfrm>
            <a:off x="4727448" y="2463394"/>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domains = ['.network.'];</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markers = ['vlan', 'v', 'hsrp', 'vrrp', 'po', 'eth',</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'gi', 'te', 'lo', 'mgmt', 'aom', 'vs', 'fab'];</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(!evidence) return null;</a:t>
            </a:r>
            <a:endParaRPr lang="en-US" sz="800" dirty="0"/>
          </a:p>
        </p:txBody>
      </p:sp>
      <p:sp>
        <p:nvSpPr>
          <p:cNvPr id="19" name="Shape 17"/>
          <p:cNvSpPr/>
          <p:nvPr/>
        </p:nvSpPr>
        <p:spPr>
          <a:xfrm>
            <a:off x="457200" y="3383280"/>
            <a:ext cx="11274552"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840480"/>
            <a:ext cx="256032" cy="256032"/>
          </a:xfrm>
          <a:prstGeom prst="roundRect">
            <a:avLst>
              <a:gd name="adj" fmla="val 32143"/>
            </a:avLst>
          </a:prstGeom>
          <a:solidFill>
            <a:srgbClr val="E31837"/>
          </a:solidFill>
          <a:ln w="12700">
            <a:solidFill>
              <a:srgbClr val="333333"/>
            </a:solidFill>
            <a:prstDash val="solid"/>
          </a:ln>
        </p:spPr>
      </p:sp>
      <p:sp>
        <p:nvSpPr>
          <p:cNvPr id="21" name="Text 19"/>
          <p:cNvSpPr txBox="1"/>
          <p:nvPr/>
        </p:nvSpPr>
        <p:spPr>
          <a:xfrm>
            <a:off x="658368" y="3840480"/>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474720"/>
            <a:ext cx="3246120" cy="98755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Longest prefix first</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device name is the leading part but its length varies by site. Trying the longest prefix first stops "site-device-01" being cut down to "site" when a CI with the longer name exists.</a:t>
            </a:r>
            <a:endParaRPr lang="en-US" sz="1200" dirty="0"/>
          </a:p>
        </p:txBody>
      </p:sp>
      <p:sp>
        <p:nvSpPr>
          <p:cNvPr id="23" name="Shape 21"/>
          <p:cNvSpPr/>
          <p:nvPr/>
        </p:nvSpPr>
        <p:spPr>
          <a:xfrm>
            <a:off x="4617720" y="3593592"/>
            <a:ext cx="6949440" cy="749808"/>
          </a:xfrm>
          <a:prstGeom prst="roundRect">
            <a:avLst>
              <a:gd name="adj" fmla="val 4878"/>
            </a:avLst>
          </a:prstGeom>
          <a:solidFill>
            <a:srgbClr val="1E2124"/>
          </a:solidFill>
          <a:ln w="12700">
            <a:solidFill>
              <a:srgbClr val="1E2124"/>
            </a:solidFill>
            <a:prstDash val="solid"/>
          </a:ln>
        </p:spPr>
      </p:sp>
      <p:sp>
        <p:nvSpPr>
          <p:cNvPr id="24" name="Text 22"/>
          <p:cNvSpPr txBox="1"/>
          <p:nvPr/>
        </p:nvSpPr>
        <p:spPr>
          <a:xfrm>
            <a:off x="4727448" y="3666744"/>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for (var k = segments.length - 1; k &gt;= 1; k--)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base = segments.slice(0, k).join('-');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"...-cz04-hsrp", then "...-cz04", then the device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hits = searchBoth(base);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netgear + lb branches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(hits.length == 0) continue;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shorter prefix</a:t>
            </a:r>
            <a:endParaRPr lang="en-US" sz="800" dirty="0"/>
          </a:p>
        </p:txBody>
      </p:sp>
      <p:sp>
        <p:nvSpPr>
          <p:cNvPr id="25" name="Shape 23"/>
          <p:cNvSpPr/>
          <p:nvPr/>
        </p:nvSpPr>
        <p:spPr>
          <a:xfrm>
            <a:off x="457200" y="4645152"/>
            <a:ext cx="11274552"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102352"/>
            <a:ext cx="256032" cy="256032"/>
          </a:xfrm>
          <a:prstGeom prst="roundRect">
            <a:avLst>
              <a:gd name="adj" fmla="val 32143"/>
            </a:avLst>
          </a:prstGeom>
          <a:solidFill>
            <a:srgbClr val="E31837"/>
          </a:solidFill>
          <a:ln w="12700">
            <a:solidFill>
              <a:srgbClr val="333333"/>
            </a:solidFill>
            <a:prstDash val="solid"/>
          </a:ln>
        </p:spPr>
      </p:sp>
      <p:sp>
        <p:nvSpPr>
          <p:cNvPr id="27" name="Text 25"/>
          <p:cNvSpPr txBox="1"/>
          <p:nvPr/>
        </p:nvSpPr>
        <p:spPr>
          <a:xfrm>
            <a:off x="658368" y="510235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736592"/>
            <a:ext cx="3246120" cy="98755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First prefix that hits decides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One CI is the match; two devices with that name end the rule. Load Balancer devices sit under Server, not Network Gear, so both branches are searched and counted together.</a:t>
            </a:r>
            <a:endParaRPr lang="en-US" sz="1200" dirty="0"/>
          </a:p>
        </p:txBody>
      </p:sp>
      <p:sp>
        <p:nvSpPr>
          <p:cNvPr id="29" name="Shape 27"/>
          <p:cNvSpPr/>
          <p:nvPr/>
        </p:nvSpPr>
        <p:spPr>
          <a:xfrm>
            <a:off x="4617720" y="4913986"/>
            <a:ext cx="6949440" cy="632765"/>
          </a:xfrm>
          <a:prstGeom prst="roundRect">
            <a:avLst>
              <a:gd name="adj" fmla="val 5780"/>
            </a:avLst>
          </a:prstGeom>
          <a:solidFill>
            <a:srgbClr val="1E2124"/>
          </a:solidFill>
          <a:ln w="12700">
            <a:solidFill>
              <a:srgbClr val="1E2124"/>
            </a:solidFill>
            <a:prstDash val="solid"/>
          </a:ln>
        </p:spPr>
      </p:sp>
      <p:sp>
        <p:nvSpPr>
          <p:cNvPr id="30" name="Text 28"/>
          <p:cNvSpPr txBox="1"/>
          <p:nvPr/>
        </p:nvSpPr>
        <p:spPr>
          <a:xfrm>
            <a:off x="4727448" y="4987138"/>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(hits.length &gt; 1)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hits[0];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hostname rules tried the whole label; the controller rule found no suffix.</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labels under an interface domain, or carrying a marker segment; both lists are in the script.</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full-FQDN name rule and the load balancer service rule.</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450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FQDN Name Hardware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NAME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Some loads name the CI with the whole FQDN string instead of the short hostname, typically the appliance domains ending in .rpg, so a short name search can never find them.</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whose name is exactly the scanned FQDN</a:t>
            </a:r>
            <a:endParaRPr lang="en-US" sz="1050" dirty="0"/>
          </a:p>
        </p:txBody>
      </p:sp>
      <p:sp>
        <p:nvSpPr>
          <p:cNvPr id="13" name="Shape 11"/>
          <p:cNvSpPr/>
          <p:nvPr/>
        </p:nvSpPr>
        <p:spPr>
          <a:xfrm>
            <a:off x="457200" y="2296973"/>
            <a:ext cx="11274552" cy="1364285"/>
          </a:xfrm>
          <a:prstGeom prst="roundRect">
            <a:avLst>
              <a:gd name="adj" fmla="val 335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851099"/>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851099"/>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388413"/>
            <a:ext cx="3246120" cy="1181405"/>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Compare the whole string</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complete lower-cased DNS name, domain included, is compared with the name field.</a:t>
            </a:r>
            <a:endParaRPr lang="en-US" sz="1200" dirty="0"/>
          </a:p>
        </p:txBody>
      </p:sp>
      <p:sp>
        <p:nvSpPr>
          <p:cNvPr id="17" name="Shape 15"/>
          <p:cNvSpPr/>
          <p:nvPr/>
        </p:nvSpPr>
        <p:spPr>
          <a:xfrm>
            <a:off x="4617720" y="2721254"/>
            <a:ext cx="6949440" cy="515722"/>
          </a:xfrm>
          <a:prstGeom prst="roundRect">
            <a:avLst>
              <a:gd name="adj" fmla="val 7092"/>
            </a:avLst>
          </a:prstGeom>
          <a:solidFill>
            <a:srgbClr val="1E2124"/>
          </a:solidFill>
          <a:ln w="12700">
            <a:solidFill>
              <a:srgbClr val="1E2124"/>
            </a:solidFill>
            <a:prstDash val="solid"/>
          </a:ln>
        </p:spPr>
      </p:sp>
      <p:sp>
        <p:nvSpPr>
          <p:cNvPr id="18" name="Text 16"/>
          <p:cNvSpPr txBox="1"/>
          <p:nvPr/>
        </p:nvSpPr>
        <p:spPr>
          <a:xfrm>
            <a:off x="4727448" y="2794406"/>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fqdn = ('' + sourceValue).trim().toLowerCase();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(fqdn.indexOf('.') == -1)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bare label, not for us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p:txBody>
      </p:sp>
      <p:sp>
        <p:nvSpPr>
          <p:cNvPr id="19" name="Shape 17"/>
          <p:cNvSpPr/>
          <p:nvPr/>
        </p:nvSpPr>
        <p:spPr>
          <a:xfrm>
            <a:off x="457200" y="3752698"/>
            <a:ext cx="11274552" cy="1887322"/>
          </a:xfrm>
          <a:prstGeom prst="roundRect">
            <a:avLst>
              <a:gd name="adj" fmla="val 24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568342"/>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4568342"/>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844138"/>
            <a:ext cx="3246120" cy="170444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Hardware tree, exactly one CI</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same uniqueness test as everywhere else; a shared full name is never guessed.</a:t>
            </a:r>
            <a:endParaRPr lang="en-US" sz="1200" dirty="0"/>
          </a:p>
        </p:txBody>
      </p:sp>
      <p:sp>
        <p:nvSpPr>
          <p:cNvPr id="23" name="Shape 21"/>
          <p:cNvSpPr/>
          <p:nvPr/>
        </p:nvSpPr>
        <p:spPr>
          <a:xfrm>
            <a:off x="4617720" y="4145890"/>
            <a:ext cx="6949440" cy="1100938"/>
          </a:xfrm>
          <a:prstGeom prst="roundRect">
            <a:avLst>
              <a:gd name="adj" fmla="val 3322"/>
            </a:avLst>
          </a:prstGeom>
          <a:solidFill>
            <a:srgbClr val="1E2124"/>
          </a:solidFill>
          <a:ln w="12700">
            <a:solidFill>
              <a:srgbClr val="1E2124"/>
            </a:solidFill>
            <a:prstDash val="solid"/>
          </a:ln>
        </p:spPr>
      </p:sp>
      <p:sp>
        <p:nvSpPr>
          <p:cNvPr id="24" name="Text 22"/>
          <p:cNvSpPr txBox="1"/>
          <p:nvPr/>
        </p:nvSpPr>
        <p:spPr>
          <a:xfrm>
            <a:off x="4727448" y="4219042"/>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GlideRecord('cmdb_ci_hardware');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every device class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fqdn);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gr.addQuery('sys_class_name', 'NOT IN', ignore);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gr.query();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nothing found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CIs,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every rule so far compared the short hostname or the fqdn field.</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CIs named with the full FQDN, invisible to the earlier rules.</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address rules, and finally the broad name rule.</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E31837"/>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460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Load Balancer Service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ADDED FOR THE UNMATCHED BACKLOG</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A virtual IP answered by a load balancer is not the balancer, and the hardware rules refuse the balancer device on purpose. Such hosts belong to the Load Balancer Service CI that models the VIP.</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IP, plus the OS and the DNS name</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Load Balancer Service CI for that VIP</a:t>
            </a:r>
            <a:endParaRPr lang="en-US" sz="1050" dirty="0"/>
          </a:p>
        </p:txBody>
      </p:sp>
      <p:sp>
        <p:nvSpPr>
          <p:cNvPr id="13" name="Shape 11"/>
          <p:cNvSpPr/>
          <p:nvPr/>
        </p:nvSpPr>
        <p:spPr>
          <a:xfrm>
            <a:off x="457200" y="2121408"/>
            <a:ext cx="11274552" cy="1265530"/>
          </a:xfrm>
          <a:prstGeom prst="roundRect">
            <a:avLst>
              <a:gd name="adj" fmla="val 361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626157"/>
            <a:ext cx="256032" cy="256032"/>
          </a:xfrm>
          <a:prstGeom prst="roundRect">
            <a:avLst>
              <a:gd name="adj" fmla="val 32143"/>
            </a:avLst>
          </a:prstGeom>
          <a:solidFill>
            <a:srgbClr val="E31837"/>
          </a:solidFill>
          <a:ln w="12700">
            <a:solidFill>
              <a:srgbClr val="333333"/>
            </a:solidFill>
            <a:prstDash val="solid"/>
          </a:ln>
        </p:spPr>
      </p:sp>
      <p:sp>
        <p:nvSpPr>
          <p:cNvPr id="15" name="Text 13"/>
          <p:cNvSpPr txBox="1"/>
          <p:nvPr/>
        </p:nvSpPr>
        <p:spPr>
          <a:xfrm>
            <a:off x="658368" y="2626157"/>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1082650"/>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VIP evidence first</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Load Balancer Service must never be returned for an ordinary server that happens to share an address with a VIP. The two lists sit right here in the script.</a:t>
            </a:r>
            <a:endParaRPr lang="en-US" sz="1200" dirty="0"/>
          </a:p>
        </p:txBody>
      </p:sp>
      <p:sp>
        <p:nvSpPr>
          <p:cNvPr id="17" name="Shape 15"/>
          <p:cNvSpPr/>
          <p:nvPr/>
        </p:nvSpPr>
        <p:spPr>
          <a:xfrm>
            <a:off x="4617720" y="2496312"/>
            <a:ext cx="6949440" cy="515722"/>
          </a:xfrm>
          <a:prstGeom prst="roundRect">
            <a:avLst>
              <a:gd name="adj" fmla="val 7092"/>
            </a:avLst>
          </a:prstGeom>
          <a:solidFill>
            <a:srgbClr val="1E2124"/>
          </a:solidFill>
          <a:ln w="12700">
            <a:solidFill>
              <a:srgbClr val="1E2124"/>
            </a:solidFill>
            <a:prstDash val="solid"/>
          </a:ln>
        </p:spPr>
      </p:sp>
      <p:sp>
        <p:nvSpPr>
          <p:cNvPr id="18" name="Text 16"/>
          <p:cNvSpPr txBox="1"/>
          <p:nvPr/>
        </p:nvSpPr>
        <p:spPr>
          <a:xfrm>
            <a:off x="4727448" y="2569464"/>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osMarkers = ['f5', 'big-ip', 'big ip', 'netscaler'];</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labelMarkers = ['vip', 'vs'];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(!evidence) return null;</a:t>
            </a:r>
            <a:endParaRPr lang="en-US" sz="800" dirty="0"/>
          </a:p>
        </p:txBody>
      </p:sp>
      <p:sp>
        <p:nvSpPr>
          <p:cNvPr id="19" name="Shape 17"/>
          <p:cNvSpPr/>
          <p:nvPr/>
        </p:nvSpPr>
        <p:spPr>
          <a:xfrm>
            <a:off x="457200" y="3478378"/>
            <a:ext cx="11274552" cy="1122883"/>
          </a:xfrm>
          <a:prstGeom prst="roundRect">
            <a:avLst>
              <a:gd name="adj" fmla="val 407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911803"/>
            <a:ext cx="256032" cy="256032"/>
          </a:xfrm>
          <a:prstGeom prst="roundRect">
            <a:avLst>
              <a:gd name="adj" fmla="val 32143"/>
            </a:avLst>
          </a:prstGeom>
          <a:solidFill>
            <a:srgbClr val="E31837"/>
          </a:solidFill>
          <a:ln w="12700">
            <a:solidFill>
              <a:srgbClr val="333333"/>
            </a:solidFill>
            <a:prstDash val="solid"/>
          </a:ln>
        </p:spPr>
      </p:sp>
      <p:sp>
        <p:nvSpPr>
          <p:cNvPr id="21" name="Text 19"/>
          <p:cNvSpPr txBox="1"/>
          <p:nvPr/>
        </p:nvSpPr>
        <p:spPr>
          <a:xfrm>
            <a:off x="658368" y="3911803"/>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569818"/>
            <a:ext cx="3246120" cy="940003"/>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Strongest evidence first</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DNS name as fqdn, then as name, then its label as name, then the scanned address. Running on the IP field means VIPs without a DNS name are covered too.</a:t>
            </a:r>
            <a:endParaRPr lang="en-US" sz="1200" dirty="0"/>
          </a:p>
        </p:txBody>
      </p:sp>
      <p:sp>
        <p:nvSpPr>
          <p:cNvPr id="23" name="Shape 21"/>
          <p:cNvSpPr/>
          <p:nvPr/>
        </p:nvSpPr>
        <p:spPr>
          <a:xfrm>
            <a:off x="4617720" y="3723437"/>
            <a:ext cx="6949440" cy="632765"/>
          </a:xfrm>
          <a:prstGeom prst="roundRect">
            <a:avLst>
              <a:gd name="adj" fmla="val 5780"/>
            </a:avLst>
          </a:prstGeom>
          <a:solidFill>
            <a:srgbClr val="1E2124"/>
          </a:solidFill>
          <a:ln w="12700">
            <a:solidFill>
              <a:srgbClr val="1E2124"/>
            </a:solidFill>
            <a:prstDash val="solid"/>
          </a:ln>
        </p:spPr>
      </p:sp>
      <p:sp>
        <p:nvSpPr>
          <p:cNvPr id="24" name="Text 22"/>
          <p:cNvSpPr txBox="1"/>
          <p:nvPr/>
        </p:nvSpPr>
        <p:spPr>
          <a:xfrm>
            <a:off x="4727448" y="3796589"/>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steps = [['fqdn', dns], ['name', dns],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['name', label], ['ip_address',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for (var t = 0; t &lt; steps.length; 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found = one(steps[t][0], steps[t][1]);</a:t>
            </a:r>
            <a:endParaRPr lang="en-US" sz="800" dirty="0"/>
          </a:p>
        </p:txBody>
      </p:sp>
      <p:sp>
        <p:nvSpPr>
          <p:cNvPr id="25" name="Shape 23"/>
          <p:cNvSpPr/>
          <p:nvPr/>
        </p:nvSpPr>
        <p:spPr>
          <a:xfrm>
            <a:off x="457200" y="4692701"/>
            <a:ext cx="11274552" cy="1122883"/>
          </a:xfrm>
          <a:prstGeom prst="roundRect">
            <a:avLst>
              <a:gd name="adj" fmla="val 407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126126"/>
            <a:ext cx="256032" cy="256032"/>
          </a:xfrm>
          <a:prstGeom prst="roundRect">
            <a:avLst>
              <a:gd name="adj" fmla="val 32143"/>
            </a:avLst>
          </a:prstGeom>
          <a:solidFill>
            <a:srgbClr val="E31837"/>
          </a:solidFill>
          <a:ln w="12700">
            <a:solidFill>
              <a:srgbClr val="333333"/>
            </a:solidFill>
            <a:prstDash val="solid"/>
          </a:ln>
        </p:spPr>
      </p:sp>
      <p:sp>
        <p:nvSpPr>
          <p:cNvPr id="27" name="Text 25"/>
          <p:cNvSpPr txBox="1"/>
          <p:nvPr/>
        </p:nvSpPr>
        <p:spPr>
          <a:xfrm>
            <a:off x="658368" y="5126126"/>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784141"/>
            <a:ext cx="3246120" cy="940003"/>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Ambiguity stops the rule</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step that finds two services ends the rule rather than falling through, because the weaker evidence could pick a different service.</a:t>
            </a:r>
            <a:endParaRPr lang="en-US" sz="1200" dirty="0"/>
          </a:p>
        </p:txBody>
      </p:sp>
      <p:sp>
        <p:nvSpPr>
          <p:cNvPr id="29" name="Shape 27"/>
          <p:cNvSpPr/>
          <p:nvPr/>
        </p:nvSpPr>
        <p:spPr>
          <a:xfrm>
            <a:off x="4617720" y="4937760"/>
            <a:ext cx="6949440" cy="632765"/>
          </a:xfrm>
          <a:prstGeom prst="roundRect">
            <a:avLst>
              <a:gd name="adj" fmla="val 5780"/>
            </a:avLst>
          </a:prstGeom>
          <a:solidFill>
            <a:srgbClr val="1E2124"/>
          </a:solidFill>
          <a:ln w="12700">
            <a:solidFill>
              <a:srgbClr val="1E2124"/>
            </a:solidFill>
            <a:prstDash val="solid"/>
          </a:ln>
        </p:spPr>
      </p:sp>
      <p:sp>
        <p:nvSpPr>
          <p:cNvPr id="30" name="Text 28"/>
          <p:cNvSpPr txBox="1"/>
          <p:nvPr/>
        </p:nvSpPr>
        <p:spPr>
          <a:xfrm>
            <a:off x="4727448" y="5010912"/>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(found === null)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services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(found) return found;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exactly one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hardware rules declined: no serial, no server name, address on a balancer.</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with a load balancer OS word, or a VIP marker in the label; both lists are in the script.</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ordinary address rules, for hosts that are not VIPs.</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700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IP Class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ADDRESS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first address rule. An address is the least trustworthy identifier: addresses move between machines and are shared by load balancers. It is used only for hosts with no serial and no usable name, inside the class the OS points at.</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IP,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CI of that class whose ip_address equals the scanned address</a:t>
            </a:r>
            <a:endParaRPr lang="en-US" sz="1050" dirty="0"/>
          </a:p>
        </p:txBody>
      </p:sp>
      <p:sp>
        <p:nvSpPr>
          <p:cNvPr id="13" name="Shape 11"/>
          <p:cNvSpPr/>
          <p:nvPr/>
        </p:nvSpPr>
        <p:spPr>
          <a:xfrm>
            <a:off x="457200" y="2121408"/>
            <a:ext cx="11274552" cy="985114"/>
          </a:xfrm>
          <a:prstGeom prst="roundRect">
            <a:avLst>
              <a:gd name="adj" fmla="val 464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485949"/>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485949"/>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802234"/>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Addresses that identify nothing</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Loopback and link-local addresses appear on every machine and are refused before anything is searched.</a:t>
            </a:r>
            <a:endParaRPr lang="en-US" sz="1200" dirty="0"/>
          </a:p>
        </p:txBody>
      </p:sp>
      <p:sp>
        <p:nvSpPr>
          <p:cNvPr id="17" name="Shape 15"/>
          <p:cNvSpPr/>
          <p:nvPr/>
        </p:nvSpPr>
        <p:spPr>
          <a:xfrm>
            <a:off x="4617720" y="2297582"/>
            <a:ext cx="6949440" cy="632765"/>
          </a:xfrm>
          <a:prstGeom prst="roundRect">
            <a:avLst>
              <a:gd name="adj" fmla="val 5780"/>
            </a:avLst>
          </a:prstGeom>
          <a:solidFill>
            <a:srgbClr val="1E2124"/>
          </a:solidFill>
          <a:ln w="12700">
            <a:solidFill>
              <a:srgbClr val="1E2124"/>
            </a:solidFill>
            <a:prstDash val="solid"/>
          </a:ln>
        </p:spPr>
      </p:sp>
      <p:sp>
        <p:nvSpPr>
          <p:cNvPr id="18" name="Text 16"/>
          <p:cNvSpPr txBox="1"/>
          <p:nvPr/>
        </p:nvSpPr>
        <p:spPr>
          <a:xfrm>
            <a:off x="4727448" y="2370734"/>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ip = ('' + sourceValue).trim();</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(!ip || ip.indexOf('127.') == 0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ip.indexOf('169.254.') == 0)</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p:txBody>
      </p:sp>
      <p:sp>
        <p:nvSpPr>
          <p:cNvPr id="19" name="Shape 17"/>
          <p:cNvSpPr/>
          <p:nvPr/>
        </p:nvSpPr>
        <p:spPr>
          <a:xfrm>
            <a:off x="457200" y="3197962"/>
            <a:ext cx="11274552" cy="1072896"/>
          </a:xfrm>
          <a:prstGeom prst="roundRect">
            <a:avLst>
              <a:gd name="adj" fmla="val 426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606394"/>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60639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289402"/>
            <a:ext cx="3246120" cy="890016"/>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Class from the scanned OS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classFor() turns the OS text into a CMDB class. The search stays inside it, so a Red Hat host cannot land on a Windows Server.</a:t>
            </a:r>
            <a:endParaRPr lang="en-US" sz="1200" dirty="0"/>
          </a:p>
        </p:txBody>
      </p:sp>
      <p:sp>
        <p:nvSpPr>
          <p:cNvPr id="23" name="Shape 21"/>
          <p:cNvSpPr/>
          <p:nvPr/>
        </p:nvSpPr>
        <p:spPr>
          <a:xfrm>
            <a:off x="4617720" y="3476549"/>
            <a:ext cx="6949440" cy="515722"/>
          </a:xfrm>
          <a:prstGeom prst="roundRect">
            <a:avLst>
              <a:gd name="adj" fmla="val 7092"/>
            </a:avLst>
          </a:prstGeom>
          <a:solidFill>
            <a:srgbClr val="1E2124"/>
          </a:solidFill>
          <a:ln w="12700">
            <a:solidFill>
              <a:srgbClr val="1E2124"/>
            </a:solidFill>
            <a:prstDash val="solid"/>
          </a:ln>
        </p:spPr>
      </p:sp>
      <p:sp>
        <p:nvSpPr>
          <p:cNvPr id="24" name="Text 22"/>
          <p:cNvSpPr txBox="1"/>
          <p:nvPr/>
        </p:nvSpPr>
        <p:spPr>
          <a:xfrm>
            <a:off x="4727448" y="3549701"/>
            <a:ext cx="6729984" cy="369418"/>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pref = classFor(sourcePayload.OS);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unknown or multi-guess OS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hand over to the hardware-wide rule</a:t>
            </a:r>
            <a:endParaRPr lang="en-US" sz="800" dirty="0"/>
          </a:p>
        </p:txBody>
      </p:sp>
      <p:sp>
        <p:nvSpPr>
          <p:cNvPr id="25" name="Shape 23"/>
          <p:cNvSpPr/>
          <p:nvPr/>
        </p:nvSpPr>
        <p:spPr>
          <a:xfrm>
            <a:off x="457200" y="4362298"/>
            <a:ext cx="11274552" cy="1453286"/>
          </a:xfrm>
          <a:prstGeom prst="roundRect">
            <a:avLst>
              <a:gd name="adj" fmla="val 314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4960925"/>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4960925"/>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453738"/>
            <a:ext cx="3246120" cy="1270406"/>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Address search, exactly one CI</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Inside the agreed class an address is reasonably safe: a virtual IP or a Windows machine that inherited it sits outside the class and never appears.</a:t>
            </a:r>
            <a:endParaRPr lang="en-US" sz="1200" dirty="0"/>
          </a:p>
        </p:txBody>
      </p:sp>
      <p:sp>
        <p:nvSpPr>
          <p:cNvPr id="29" name="Shape 27"/>
          <p:cNvSpPr/>
          <p:nvPr/>
        </p:nvSpPr>
        <p:spPr>
          <a:xfrm>
            <a:off x="4617720" y="4538472"/>
            <a:ext cx="6949440" cy="1100938"/>
          </a:xfrm>
          <a:prstGeom prst="roundRect">
            <a:avLst>
              <a:gd name="adj" fmla="val 3322"/>
            </a:avLst>
          </a:prstGeom>
          <a:solidFill>
            <a:srgbClr val="1E2124"/>
          </a:solidFill>
          <a:ln w="12700">
            <a:solidFill>
              <a:srgbClr val="1E2124"/>
            </a:solidFill>
            <a:prstDash val="solid"/>
          </a:ln>
        </p:spPr>
      </p:sp>
      <p:sp>
        <p:nvSpPr>
          <p:cNvPr id="30" name="Text 28"/>
          <p:cNvSpPr txBox="1"/>
          <p:nvPr/>
        </p:nvSpPr>
        <p:spPr>
          <a:xfrm>
            <a:off x="4727448" y="4611624"/>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GlideRecord(pref);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class + sub-classes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gr.addQuery('ip_address',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gr.addQuery('sys_class_name', 'NOT IN', ignore);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gr.query();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nothing found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CIs,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every serial and name rule; a host with no DNS name makes them all decline.</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scanned without a name: management interfaces and appliances.</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hardware-wide address rule, then the adapter and layered rules.</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705</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IP Hardware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ADDRESS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address across the whole hardware tree, with two extra safety checks: the CI must not be a load balancer, and its class must not contradict the scanned OS.</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IP, plus the OS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hardware CI on that address, balancer and class permitting</a:t>
            </a:r>
            <a:endParaRPr lang="en-US" sz="1050" dirty="0"/>
          </a:p>
        </p:txBody>
      </p:sp>
      <p:sp>
        <p:nvSpPr>
          <p:cNvPr id="13" name="Shape 11"/>
          <p:cNvSpPr/>
          <p:nvPr/>
        </p:nvSpPr>
        <p:spPr>
          <a:xfrm>
            <a:off x="457200" y="2121408"/>
            <a:ext cx="11274552" cy="1131418"/>
          </a:xfrm>
          <a:prstGeom prst="roundRect">
            <a:avLst>
              <a:gd name="adj" fmla="val 404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559101"/>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55910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12848"/>
            <a:ext cx="3246120" cy="94853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One CI on the address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An address answered by several CIs, a shared virtual IP or an address reused after a rebuild, is never a safe match.</a:t>
            </a:r>
            <a:endParaRPr lang="en-US" sz="1200" dirty="0"/>
          </a:p>
        </p:txBody>
      </p:sp>
      <p:sp>
        <p:nvSpPr>
          <p:cNvPr id="17" name="Shape 15"/>
          <p:cNvSpPr/>
          <p:nvPr/>
        </p:nvSpPr>
        <p:spPr>
          <a:xfrm>
            <a:off x="4617720" y="2312213"/>
            <a:ext cx="6949440" cy="749808"/>
          </a:xfrm>
          <a:prstGeom prst="roundRect">
            <a:avLst>
              <a:gd name="adj" fmla="val 4878"/>
            </a:avLst>
          </a:prstGeom>
          <a:solidFill>
            <a:srgbClr val="1E2124"/>
          </a:solidFill>
          <a:ln w="12700">
            <a:solidFill>
              <a:srgbClr val="1E2124"/>
            </a:solidFill>
            <a:prstDash val="solid"/>
          </a:ln>
        </p:spPr>
      </p:sp>
      <p:sp>
        <p:nvSpPr>
          <p:cNvPr id="18" name="Text 16"/>
          <p:cNvSpPr txBox="1"/>
          <p:nvPr/>
        </p:nvSpPr>
        <p:spPr>
          <a:xfrm>
            <a:off x="4727448" y="2385365"/>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gr.addQuery('ip_address',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id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cls = '' + gr.getValue('sys_class_name');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shared address</a:t>
            </a:r>
            <a:endParaRPr lang="en-US" sz="800" dirty="0"/>
          </a:p>
        </p:txBody>
      </p:sp>
      <p:sp>
        <p:nvSpPr>
          <p:cNvPr id="19" name="Shape 17"/>
          <p:cNvSpPr/>
          <p:nvPr/>
        </p:nvSpPr>
        <p:spPr>
          <a:xfrm>
            <a:off x="457200" y="3344266"/>
            <a:ext cx="11274552" cy="1131418"/>
          </a:xfrm>
          <a:prstGeom prst="roundRect">
            <a:avLst>
              <a:gd name="adj" fmla="val 4041"/>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3781958"/>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378195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435706"/>
            <a:ext cx="3246120" cy="94853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Reject a load balancer</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 scanned address that belongs to a balancer is a virtual IP; the findings describe a pool member behind it, not the balancer.</a:t>
            </a:r>
            <a:endParaRPr lang="en-US" sz="1200" dirty="0"/>
          </a:p>
        </p:txBody>
      </p:sp>
      <p:sp>
        <p:nvSpPr>
          <p:cNvPr id="23" name="Shape 21"/>
          <p:cNvSpPr/>
          <p:nvPr/>
        </p:nvSpPr>
        <p:spPr>
          <a:xfrm>
            <a:off x="4617720" y="3535070"/>
            <a:ext cx="6949440" cy="749808"/>
          </a:xfrm>
          <a:prstGeom prst="roundRect">
            <a:avLst>
              <a:gd name="adj" fmla="val 4878"/>
            </a:avLst>
          </a:prstGeom>
          <a:solidFill>
            <a:srgbClr val="1E2124"/>
          </a:solidFill>
          <a:ln w="12700">
            <a:solidFill>
              <a:srgbClr val="1E2124"/>
            </a:solidFill>
            <a:prstDash val="solid"/>
          </a:ln>
        </p:spPr>
      </p:sp>
      <p:sp>
        <p:nvSpPr>
          <p:cNvPr id="24" name="Text 22"/>
          <p:cNvSpPr txBox="1"/>
          <p:nvPr/>
        </p:nvSpPr>
        <p:spPr>
          <a:xfrm>
            <a:off x="4727448" y="3608222"/>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function isLoadBalancer(id)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lb = new GlideRecord('cmdb_ci_lb');</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lb.isValid() &amp;&amp; lb.get(id);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(isLoadBalancer(id)) return null;</a:t>
            </a:r>
            <a:endParaRPr lang="en-US" sz="800" dirty="0"/>
          </a:p>
        </p:txBody>
      </p:sp>
      <p:sp>
        <p:nvSpPr>
          <p:cNvPr id="25" name="Shape 23"/>
          <p:cNvSpPr/>
          <p:nvPr/>
        </p:nvSpPr>
        <p:spPr>
          <a:xfrm>
            <a:off x="457200" y="4567123"/>
            <a:ext cx="11274552" cy="1248461"/>
          </a:xfrm>
          <a:prstGeom prst="roundRect">
            <a:avLst>
              <a:gd name="adj" fmla="val 366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Shape 24"/>
          <p:cNvSpPr/>
          <p:nvPr/>
        </p:nvSpPr>
        <p:spPr>
          <a:xfrm>
            <a:off x="658368" y="5063338"/>
            <a:ext cx="256032" cy="256032"/>
          </a:xfrm>
          <a:prstGeom prst="roundRect">
            <a:avLst>
              <a:gd name="adj" fmla="val 32143"/>
            </a:avLst>
          </a:prstGeom>
          <a:solidFill>
            <a:srgbClr val="012169"/>
          </a:solidFill>
          <a:ln w="12700">
            <a:solidFill>
              <a:srgbClr val="333333"/>
            </a:solidFill>
            <a:prstDash val="solid"/>
          </a:ln>
        </p:spPr>
      </p:sp>
      <p:sp>
        <p:nvSpPr>
          <p:cNvPr id="27" name="Text 25"/>
          <p:cNvSpPr txBox="1"/>
          <p:nvPr/>
        </p:nvSpPr>
        <p:spPr>
          <a:xfrm>
            <a:off x="658368" y="5063338"/>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3</a:t>
            </a:r>
            <a:endParaRPr lang="en-US" sz="1000" dirty="0"/>
          </a:p>
        </p:txBody>
      </p:sp>
      <p:sp>
        <p:nvSpPr>
          <p:cNvPr id="28" name="Text 26"/>
          <p:cNvSpPr txBox="1"/>
          <p:nvPr/>
        </p:nvSpPr>
        <p:spPr>
          <a:xfrm>
            <a:off x="1005840" y="4658563"/>
            <a:ext cx="3246120" cy="1065581"/>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Veto a contradicting class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The same class veto as the hostname rule: the CI must sit in the class the OS implies, or be generically classed.</a:t>
            </a:r>
            <a:endParaRPr lang="en-US" sz="1200" dirty="0"/>
          </a:p>
        </p:txBody>
      </p:sp>
      <p:sp>
        <p:nvSpPr>
          <p:cNvPr id="29" name="Shape 27"/>
          <p:cNvSpPr/>
          <p:nvPr/>
        </p:nvSpPr>
        <p:spPr>
          <a:xfrm>
            <a:off x="4617720" y="4757928"/>
            <a:ext cx="6949440" cy="866851"/>
          </a:xfrm>
          <a:prstGeom prst="roundRect">
            <a:avLst>
              <a:gd name="adj" fmla="val 4219"/>
            </a:avLst>
          </a:prstGeom>
          <a:solidFill>
            <a:srgbClr val="1E2124"/>
          </a:solidFill>
          <a:ln w="12700">
            <a:solidFill>
              <a:srgbClr val="1E2124"/>
            </a:solidFill>
            <a:prstDash val="solid"/>
          </a:ln>
        </p:spPr>
      </p:sp>
      <p:sp>
        <p:nvSpPr>
          <p:cNvPr id="30" name="Text 28"/>
          <p:cNvSpPr txBox="1"/>
          <p:nvPr/>
        </p:nvSpPr>
        <p:spPr>
          <a:xfrm>
            <a:off x="4727448" y="4831080"/>
            <a:ext cx="6729984" cy="720547"/>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(pref)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chk = new GlideRecord(pref);</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(!(chk.isValid() &amp;&amp; chk.get(id)) &amp;&amp; !generic[cls])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null;</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id;</a:t>
            </a:r>
            <a:endParaRPr lang="en-US" sz="800" dirty="0"/>
          </a:p>
        </p:txBody>
      </p:sp>
      <p:sp>
        <p:nvSpPr>
          <p:cNvPr id="31" name="Text 29"/>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32" name="Text 30"/>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class-scoped address rule required a CI of the OS class.</a:t>
            </a:r>
            <a:endParaRPr lang="en-US" sz="950" dirty="0"/>
          </a:p>
        </p:txBody>
      </p:sp>
      <p:sp>
        <p:nvSpPr>
          <p:cNvPr id="33" name="Text 31"/>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34" name="Text 32"/>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nameless hosts whose CI is generically classed or whose OS gave no class.</a:t>
            </a:r>
            <a:endParaRPr lang="en-US" sz="950" dirty="0"/>
          </a:p>
        </p:txBody>
      </p:sp>
      <p:sp>
        <p:nvSpPr>
          <p:cNvPr id="35" name="Text 33"/>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6" name="Text 34"/>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adapter rule and the layered address rule.</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730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IP Adapter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ADDRESS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Discovery stores one Network Adapter record per network card, and a multi-homed server keeps its addresses there rather than on the CI record. This rule finds the adapter carrying the address and takes its owning CI.</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CI that owns the adapter carrying the scanned address</a:t>
            </a:r>
            <a:endParaRPr lang="en-US" sz="1050" dirty="0"/>
          </a:p>
        </p:txBody>
      </p:sp>
      <p:sp>
        <p:nvSpPr>
          <p:cNvPr id="13" name="Shape 11"/>
          <p:cNvSpPr/>
          <p:nvPr/>
        </p:nvSpPr>
        <p:spPr>
          <a:xfrm>
            <a:off x="457200" y="2328062"/>
            <a:ext cx="11274552" cy="1419149"/>
          </a:xfrm>
          <a:prstGeom prst="roundRect">
            <a:avLst>
              <a:gd name="adj" fmla="val 32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909621"/>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2909621"/>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419502"/>
            <a:ext cx="3246120" cy="1236269"/>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Adapters, not CIs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Adapters carrying the scanned address whose owning CI is outside the ignored classes.</a:t>
            </a:r>
            <a:endParaRPr lang="en-US" sz="1200" dirty="0"/>
          </a:p>
        </p:txBody>
      </p:sp>
      <p:sp>
        <p:nvSpPr>
          <p:cNvPr id="17" name="Shape 15"/>
          <p:cNvSpPr/>
          <p:nvPr/>
        </p:nvSpPr>
        <p:spPr>
          <a:xfrm>
            <a:off x="4617720" y="2721254"/>
            <a:ext cx="6949440" cy="632765"/>
          </a:xfrm>
          <a:prstGeom prst="roundRect">
            <a:avLst>
              <a:gd name="adj" fmla="val 5780"/>
            </a:avLst>
          </a:prstGeom>
          <a:solidFill>
            <a:srgbClr val="1E2124"/>
          </a:solidFill>
          <a:ln w="12700">
            <a:solidFill>
              <a:srgbClr val="1E2124"/>
            </a:solidFill>
            <a:prstDash val="solid"/>
          </a:ln>
        </p:spPr>
      </p:sp>
      <p:sp>
        <p:nvSpPr>
          <p:cNvPr id="18" name="Text 16"/>
          <p:cNvSpPr txBox="1"/>
          <p:nvPr/>
        </p:nvSpPr>
        <p:spPr>
          <a:xfrm>
            <a:off x="4727448" y="2794406"/>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nic = new GlideRecord('cmdb_ci_network_adapter');</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nic.addQuery('ip_address',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nic.addNotNullQuery('cmdb_ci');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must belong to a CI</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nic.addQuery('cmdb_ci.sys_class_name', 'NOT IN', ignore);</a:t>
            </a:r>
            <a:endParaRPr lang="en-US" sz="800" dirty="0"/>
          </a:p>
        </p:txBody>
      </p:sp>
      <p:sp>
        <p:nvSpPr>
          <p:cNvPr id="19" name="Shape 17"/>
          <p:cNvSpPr/>
          <p:nvPr/>
        </p:nvSpPr>
        <p:spPr>
          <a:xfrm>
            <a:off x="457200" y="3838651"/>
            <a:ext cx="11274552" cy="1770278"/>
          </a:xfrm>
          <a:prstGeom prst="roundRect">
            <a:avLst>
              <a:gd name="adj" fmla="val 258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595774"/>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459577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930091"/>
            <a:ext cx="3246120" cy="158739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Count owners, not rows</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One server with two adapters on the address counts once; two servers count twice and cannot be told apart by the address.</a:t>
            </a:r>
            <a:endParaRPr lang="en-US" sz="1200" dirty="0"/>
          </a:p>
        </p:txBody>
      </p:sp>
      <p:sp>
        <p:nvSpPr>
          <p:cNvPr id="23" name="Shape 21"/>
          <p:cNvSpPr/>
          <p:nvPr/>
        </p:nvSpPr>
        <p:spPr>
          <a:xfrm>
            <a:off x="4617720" y="4231843"/>
            <a:ext cx="6949440" cy="983894"/>
          </a:xfrm>
          <a:prstGeom prst="roundRect">
            <a:avLst>
              <a:gd name="adj" fmla="val 3717"/>
            </a:avLst>
          </a:prstGeom>
          <a:solidFill>
            <a:srgbClr val="1E2124"/>
          </a:solidFill>
          <a:ln w="12700">
            <a:solidFill>
              <a:srgbClr val="1E2124"/>
            </a:solidFill>
            <a:prstDash val="solid"/>
          </a:ln>
        </p:spPr>
      </p:sp>
      <p:sp>
        <p:nvSpPr>
          <p:cNvPr id="24" name="Text 22"/>
          <p:cNvSpPr txBox="1"/>
          <p:nvPr/>
        </p:nvSpPr>
        <p:spPr>
          <a:xfrm>
            <a:off x="4727448" y="4304995"/>
            <a:ext cx="6729984" cy="837590"/>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while (nic.next())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var owner = nic.getValue('cmdb_ci');</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if (!owners[owner]) { owners[owner] = true; count++;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(count == 1 &amp;&amp; !isLoadBalancer(first))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first;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address rules so far read the ip_address field of the CI record.</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address is recorded on an adapter only.</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layered address rule and then the broad name rule.</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012169"/>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740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IP Layered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ADDRESS EVIDENCE</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Newer discovery writes each address as its own IP Address record linked to the adapter, and the adapter record itself may carry no address. This rule reads those records, two links from the CI.</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IP</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CI at the end of IP Address to adapter to CI</a:t>
            </a:r>
            <a:endParaRPr lang="en-US" sz="1050" dirty="0"/>
          </a:p>
        </p:txBody>
      </p:sp>
      <p:sp>
        <p:nvSpPr>
          <p:cNvPr id="13" name="Shape 11"/>
          <p:cNvSpPr/>
          <p:nvPr/>
        </p:nvSpPr>
        <p:spPr>
          <a:xfrm>
            <a:off x="457200" y="2445106"/>
            <a:ext cx="11274552" cy="1419149"/>
          </a:xfrm>
          <a:prstGeom prst="roundRect">
            <a:avLst>
              <a:gd name="adj" fmla="val 32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3026664"/>
            <a:ext cx="256032" cy="256032"/>
          </a:xfrm>
          <a:prstGeom prst="roundRect">
            <a:avLst>
              <a:gd name="adj" fmla="val 32143"/>
            </a:avLst>
          </a:prstGeom>
          <a:solidFill>
            <a:srgbClr val="012169"/>
          </a:solidFill>
          <a:ln w="12700">
            <a:solidFill>
              <a:srgbClr val="333333"/>
            </a:solidFill>
            <a:prstDash val="solid"/>
          </a:ln>
        </p:spPr>
      </p:sp>
      <p:sp>
        <p:nvSpPr>
          <p:cNvPr id="15" name="Text 13"/>
          <p:cNvSpPr txBox="1"/>
          <p:nvPr/>
        </p:nvSpPr>
        <p:spPr>
          <a:xfrm>
            <a:off x="658368" y="302666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536546"/>
            <a:ext cx="3246120" cy="1236269"/>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Two links away</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nic.cmdb_ci reaches the CI through the adapter; the chain must end on a CI outside the ignored classes.</a:t>
            </a:r>
            <a:endParaRPr lang="en-US" sz="1200" dirty="0"/>
          </a:p>
        </p:txBody>
      </p:sp>
      <p:sp>
        <p:nvSpPr>
          <p:cNvPr id="17" name="Shape 15"/>
          <p:cNvSpPr/>
          <p:nvPr/>
        </p:nvSpPr>
        <p:spPr>
          <a:xfrm>
            <a:off x="4617720" y="2838298"/>
            <a:ext cx="6949440" cy="632765"/>
          </a:xfrm>
          <a:prstGeom prst="roundRect">
            <a:avLst>
              <a:gd name="adj" fmla="val 5780"/>
            </a:avLst>
          </a:prstGeom>
          <a:solidFill>
            <a:srgbClr val="1E2124"/>
          </a:solidFill>
          <a:ln w="12700">
            <a:solidFill>
              <a:srgbClr val="1E2124"/>
            </a:solidFill>
            <a:prstDash val="solid"/>
          </a:ln>
        </p:spPr>
      </p:sp>
      <p:sp>
        <p:nvSpPr>
          <p:cNvPr id="18" name="Text 16"/>
          <p:cNvSpPr txBox="1"/>
          <p:nvPr/>
        </p:nvSpPr>
        <p:spPr>
          <a:xfrm>
            <a:off x="4727448" y="2911450"/>
            <a:ext cx="6729984" cy="486461"/>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ipGr = new GlideRecord('cmdb_ci_ip_address');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ipGr.addQuery('ip_address', ip);</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ipGr.addNotNullQuery('nic.cmdb_ci');</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ipGr.addQuery('nic.cmdb_ci.sys_class_name', 'NOT IN', ignore);</a:t>
            </a:r>
            <a:endParaRPr lang="en-US" sz="800" dirty="0"/>
          </a:p>
        </p:txBody>
      </p:sp>
      <p:sp>
        <p:nvSpPr>
          <p:cNvPr id="19" name="Shape 17"/>
          <p:cNvSpPr/>
          <p:nvPr/>
        </p:nvSpPr>
        <p:spPr>
          <a:xfrm>
            <a:off x="457200" y="3955694"/>
            <a:ext cx="11274552" cy="1536192"/>
          </a:xfrm>
          <a:prstGeom prst="roundRect">
            <a:avLst>
              <a:gd name="adj" fmla="val 297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595774"/>
            <a:ext cx="256032" cy="256032"/>
          </a:xfrm>
          <a:prstGeom prst="roundRect">
            <a:avLst>
              <a:gd name="adj" fmla="val 32143"/>
            </a:avLst>
          </a:prstGeom>
          <a:solidFill>
            <a:srgbClr val="012169"/>
          </a:solidFill>
          <a:ln w="12700">
            <a:solidFill>
              <a:srgbClr val="333333"/>
            </a:solidFill>
            <a:prstDash val="solid"/>
          </a:ln>
        </p:spPr>
      </p:sp>
      <p:sp>
        <p:nvSpPr>
          <p:cNvPr id="21" name="Text 19"/>
          <p:cNvSpPr txBox="1"/>
          <p:nvPr/>
        </p:nvSpPr>
        <p:spPr>
          <a:xfrm>
            <a:off x="658368" y="4595774"/>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4047134"/>
            <a:ext cx="3246120" cy="135331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One owner, and not a balancer</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Identical decision to the adapter rule: one device with two address records counts once, two devices decline, and a balancer is refused.</a:t>
            </a:r>
            <a:endParaRPr lang="en-US" sz="1200" dirty="0"/>
          </a:p>
        </p:txBody>
      </p:sp>
      <p:sp>
        <p:nvSpPr>
          <p:cNvPr id="23" name="Shape 21"/>
          <p:cNvSpPr/>
          <p:nvPr/>
        </p:nvSpPr>
        <p:spPr>
          <a:xfrm>
            <a:off x="4617720" y="4348886"/>
            <a:ext cx="6949440" cy="749808"/>
          </a:xfrm>
          <a:prstGeom prst="roundRect">
            <a:avLst>
              <a:gd name="adj" fmla="val 4878"/>
            </a:avLst>
          </a:prstGeom>
          <a:solidFill>
            <a:srgbClr val="1E2124"/>
          </a:solidFill>
          <a:ln w="12700">
            <a:solidFill>
              <a:srgbClr val="1E2124"/>
            </a:solidFill>
            <a:prstDash val="solid"/>
          </a:ln>
        </p:spPr>
      </p:sp>
      <p:sp>
        <p:nvSpPr>
          <p:cNvPr id="24" name="Text 22"/>
          <p:cNvSpPr txBox="1"/>
          <p:nvPr/>
        </p:nvSpPr>
        <p:spPr>
          <a:xfrm>
            <a:off x="4727448" y="4422038"/>
            <a:ext cx="6729984" cy="60350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owner = '' + ipGr.nic.cmdb_ci;</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(!owners[owner]) { owners[owner] = true; count++; }</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(count == 1 &amp;&amp; !isLoadBalancer(first))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    return first;</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null;</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adapter rule looked for the address on the adapter records.</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hosts whose address exists only as an IP Address record.</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broad name rule, and after that the out-of-box Qualys rules.</a:t>
            </a:r>
            <a:endParaRPr lang="en-US" sz="9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5F6"/>
        </a:solidFill>
      </p:bgPr>
    </p:bg>
    <p:spTree>
      <p:nvGrpSpPr>
        <p:cNvPr id="1" name=""/>
        <p:cNvGrpSpPr/>
        <p:nvPr/>
      </p:nvGrpSpPr>
      <p:grpSpPr>
        <a:xfrm>
          <a:off x="0" y="0"/>
          <a:ext cx="0" cy="0"/>
          <a:chOff x="0" y="0"/>
          <a:chExt cx="0" cy="0"/>
        </a:xfrm>
      </p:grpSpPr>
      <p:sp>
        <p:nvSpPr>
          <p:cNvPr id="2" name="Shape 0"/>
          <p:cNvSpPr/>
          <p:nvPr/>
        </p:nvSpPr>
        <p:spPr>
          <a:xfrm>
            <a:off x="457200" y="329184"/>
            <a:ext cx="841248" cy="530352"/>
          </a:xfrm>
          <a:prstGeom prst="roundRect">
            <a:avLst>
              <a:gd name="adj" fmla="val 27586"/>
            </a:avLst>
          </a:prstGeom>
          <a:solidFill>
            <a:srgbClr val="24272A"/>
          </a:solidFill>
          <a:ln w="12700">
            <a:solidFill>
              <a:srgbClr val="333333"/>
            </a:solidFill>
            <a:prstDash val="solid"/>
          </a:ln>
        </p:spPr>
      </p:sp>
      <p:sp>
        <p:nvSpPr>
          <p:cNvPr id="3" name="Text 1"/>
          <p:cNvSpPr txBox="1"/>
          <p:nvPr/>
        </p:nvSpPr>
        <p:spPr>
          <a:xfrm>
            <a:off x="457200" y="329184"/>
            <a:ext cx="841248" cy="530352"/>
          </a:xfrm>
          <a:prstGeom prst="rect">
            <a:avLst/>
          </a:prstGeom>
          <a:noFill/>
          <a:ln/>
        </p:spPr>
        <p:txBody>
          <a:bodyPr wrap="square" lIns="0" tIns="0" rIns="0" bIns="0" rtlCol="0" anchor="ctr"/>
          <a:lstStyle/>
          <a:p>
            <a:pPr algn="ctr" indent="0" marL="0">
              <a:buNone/>
            </a:pPr>
            <a:r>
              <a:rPr lang="en-US" sz="1900" b="1" dirty="0">
                <a:solidFill>
                  <a:srgbClr val="FFFFFF"/>
                </a:solidFill>
                <a:latin typeface="Arial" pitchFamily="34" charset="0"/>
                <a:ea typeface="Arial" pitchFamily="34" charset="-122"/>
                <a:cs typeface="Arial" pitchFamily="34" charset="-120"/>
              </a:rPr>
              <a:t>850</a:t>
            </a:r>
            <a:endParaRPr lang="en-US" sz="1900" dirty="0"/>
          </a:p>
        </p:txBody>
      </p:sp>
      <p:sp>
        <p:nvSpPr>
          <p:cNvPr id="4" name="Text 2"/>
          <p:cNvSpPr txBox="1"/>
          <p:nvPr/>
        </p:nvSpPr>
        <p:spPr>
          <a:xfrm>
            <a:off x="1444752" y="310896"/>
            <a:ext cx="10241280" cy="329184"/>
          </a:xfrm>
          <a:prstGeom prst="rect">
            <a:avLst/>
          </a:prstGeom>
          <a:noFill/>
          <a:ln/>
        </p:spPr>
        <p:txBody>
          <a:bodyPr wrap="square" lIns="0" tIns="0" rIns="0" bIns="0" rtlCol="0" anchor="ctr"/>
          <a:lstStyle/>
          <a:p>
            <a:pPr indent="0" marL="0">
              <a:buNone/>
            </a:pPr>
            <a:r>
              <a:rPr lang="en-US" sz="2200" b="1" dirty="0">
                <a:solidFill>
                  <a:srgbClr val="24272A"/>
                </a:solidFill>
                <a:latin typeface="Arial" pitchFamily="34" charset="0"/>
                <a:ea typeface="Arial" pitchFamily="34" charset="-122"/>
                <a:cs typeface="Arial" pitchFamily="34" charset="-120"/>
              </a:rPr>
              <a:t>USEM FQDN Name Broad Match</a:t>
            </a:r>
            <a:endParaRPr lang="en-US" sz="2200" dirty="0"/>
          </a:p>
        </p:txBody>
      </p:sp>
      <p:sp>
        <p:nvSpPr>
          <p:cNvPr id="5" name="Text 3"/>
          <p:cNvSpPr txBox="1"/>
          <p:nvPr/>
        </p:nvSpPr>
        <p:spPr>
          <a:xfrm>
            <a:off x="1444752" y="640080"/>
            <a:ext cx="10241280" cy="201168"/>
          </a:xfrm>
          <a:prstGeom prst="rect">
            <a:avLst/>
          </a:prstGeom>
          <a:noFill/>
          <a:ln/>
        </p:spPr>
        <p:txBody>
          <a:bodyPr wrap="square" lIns="0" tIns="0" rIns="0" bIns="0" rtlCol="0" anchor="ctr"/>
          <a:lstStyle/>
          <a:p>
            <a:pPr indent="0" marL="0">
              <a:buNone/>
            </a:pPr>
            <a:r>
              <a:rPr lang="en-US" sz="900" b="1" spc="140" kern="0" dirty="0">
                <a:solidFill>
                  <a:srgbClr val="6B7177"/>
                </a:solidFill>
                <a:latin typeface="Arial" pitchFamily="34" charset="0"/>
                <a:ea typeface="Arial" pitchFamily="34" charset="-122"/>
                <a:cs typeface="Arial" pitchFamily="34" charset="-120"/>
              </a:rPr>
              <a:t>BROAD FALLBACK</a:t>
            </a:r>
            <a:endParaRPr lang="en-US" sz="900" dirty="0"/>
          </a:p>
        </p:txBody>
      </p:sp>
      <p:sp>
        <p:nvSpPr>
          <p:cNvPr id="6" name="Text 4"/>
          <p:cNvSpPr txBox="1"/>
          <p:nvPr/>
        </p:nvSpPr>
        <p:spPr>
          <a:xfrm>
            <a:off x="457200" y="950976"/>
            <a:ext cx="11274552" cy="512064"/>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The one deliberately late, broad fallback: a CI named with the full FQDN anywhere in the CI table, classes outside the hardware tree included, such as a virtual machine instance.</a:t>
            </a:r>
            <a:endParaRPr lang="en-US" sz="1150" dirty="0"/>
          </a:p>
        </p:txBody>
      </p:sp>
      <p:sp>
        <p:nvSpPr>
          <p:cNvPr id="7" name="Shape 5"/>
          <p:cNvSpPr/>
          <p:nvPr/>
        </p:nvSpPr>
        <p:spPr>
          <a:xfrm>
            <a:off x="457200"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Text 6"/>
          <p:cNvSpPr txBox="1"/>
          <p:nvPr/>
        </p:nvSpPr>
        <p:spPr>
          <a:xfrm>
            <a:off x="640080"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Reads</a:t>
            </a:r>
            <a:endParaRPr lang="en-US" sz="1000" dirty="0"/>
          </a:p>
        </p:txBody>
      </p:sp>
      <p:sp>
        <p:nvSpPr>
          <p:cNvPr id="9" name="Text 7"/>
          <p:cNvSpPr txBox="1"/>
          <p:nvPr/>
        </p:nvSpPr>
        <p:spPr>
          <a:xfrm>
            <a:off x="1444752"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DNS</a:t>
            </a:r>
            <a:endParaRPr lang="en-US" sz="1050" dirty="0"/>
          </a:p>
        </p:txBody>
      </p:sp>
      <p:sp>
        <p:nvSpPr>
          <p:cNvPr id="10" name="Shape 8"/>
          <p:cNvSpPr/>
          <p:nvPr/>
        </p:nvSpPr>
        <p:spPr>
          <a:xfrm>
            <a:off x="6199632" y="1536192"/>
            <a:ext cx="5532120" cy="457200"/>
          </a:xfrm>
          <a:prstGeom prst="roundRect">
            <a:avLst>
              <a:gd name="adj" fmla="val 1000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1" name="Text 9"/>
          <p:cNvSpPr txBox="1"/>
          <p:nvPr/>
        </p:nvSpPr>
        <p:spPr>
          <a:xfrm>
            <a:off x="6382512" y="1572768"/>
            <a:ext cx="786384" cy="384048"/>
          </a:xfrm>
          <a:prstGeom prst="rect">
            <a:avLst/>
          </a:prstGeom>
          <a:noFill/>
          <a:ln/>
        </p:spPr>
        <p:txBody>
          <a:bodyPr wrap="square" lIns="0" tIns="0" rIns="0" bIns="0" rtlCol="0" anchor="ctr"/>
          <a:lstStyle/>
          <a:p>
            <a:pPr indent="0" marL="0">
              <a:buNone/>
            </a:pPr>
            <a:r>
              <a:rPr lang="en-US" sz="1000" b="1" dirty="0">
                <a:solidFill>
                  <a:srgbClr val="E31837"/>
                </a:solidFill>
                <a:latin typeface="Arial" pitchFamily="34" charset="0"/>
                <a:ea typeface="Arial" pitchFamily="34" charset="-122"/>
                <a:cs typeface="Arial" pitchFamily="34" charset="-120"/>
              </a:rPr>
              <a:t>Returns</a:t>
            </a:r>
            <a:endParaRPr lang="en-US" sz="1000" dirty="0"/>
          </a:p>
        </p:txBody>
      </p:sp>
      <p:sp>
        <p:nvSpPr>
          <p:cNvPr id="12" name="Text 10"/>
          <p:cNvSpPr txBox="1"/>
          <p:nvPr/>
        </p:nvSpPr>
        <p:spPr>
          <a:xfrm>
            <a:off x="7187184" y="1572768"/>
            <a:ext cx="4389120" cy="384048"/>
          </a:xfrm>
          <a:prstGeom prst="rect">
            <a:avLst/>
          </a:prstGeom>
          <a:noFill/>
          <a:ln/>
        </p:spPr>
        <p:txBody>
          <a:bodyPr wrap="square" lIns="0" tIns="0" rIns="0" bIns="0" rtlCol="0" anchor="ctr"/>
          <a:lstStyle/>
          <a:p>
            <a:pPr indent="0" marL="0">
              <a:buNone/>
            </a:pPr>
            <a:r>
              <a:rPr lang="en-US" sz="1050" dirty="0">
                <a:solidFill>
                  <a:srgbClr val="24272A"/>
                </a:solidFill>
                <a:latin typeface="Arial" pitchFamily="34" charset="0"/>
                <a:ea typeface="Arial" pitchFamily="34" charset="-122"/>
                <a:cs typeface="Arial" pitchFamily="34" charset="-120"/>
              </a:rPr>
              <a:t>the one CI in any class named exactly with the scanned FQDN</a:t>
            </a:r>
            <a:endParaRPr lang="en-US" sz="1050" dirty="0"/>
          </a:p>
        </p:txBody>
      </p:sp>
      <p:sp>
        <p:nvSpPr>
          <p:cNvPr id="13" name="Shape 11"/>
          <p:cNvSpPr/>
          <p:nvPr/>
        </p:nvSpPr>
        <p:spPr>
          <a:xfrm>
            <a:off x="457200" y="2154326"/>
            <a:ext cx="11274552" cy="1649578"/>
          </a:xfrm>
          <a:prstGeom prst="roundRect">
            <a:avLst>
              <a:gd name="adj" fmla="val 277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2"/>
          <p:cNvSpPr/>
          <p:nvPr/>
        </p:nvSpPr>
        <p:spPr>
          <a:xfrm>
            <a:off x="658368" y="2851099"/>
            <a:ext cx="256032" cy="256032"/>
          </a:xfrm>
          <a:prstGeom prst="roundRect">
            <a:avLst>
              <a:gd name="adj" fmla="val 32143"/>
            </a:avLst>
          </a:prstGeom>
          <a:solidFill>
            <a:srgbClr val="24272A"/>
          </a:solidFill>
          <a:ln w="12700">
            <a:solidFill>
              <a:srgbClr val="333333"/>
            </a:solidFill>
            <a:prstDash val="solid"/>
          </a:ln>
        </p:spPr>
      </p:sp>
      <p:sp>
        <p:nvSpPr>
          <p:cNvPr id="15" name="Text 13"/>
          <p:cNvSpPr txBox="1"/>
          <p:nvPr/>
        </p:nvSpPr>
        <p:spPr>
          <a:xfrm>
            <a:off x="658368" y="2851099"/>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1</a:t>
            </a:r>
            <a:endParaRPr lang="en-US" sz="1000" dirty="0"/>
          </a:p>
        </p:txBody>
      </p:sp>
      <p:sp>
        <p:nvSpPr>
          <p:cNvPr id="16" name="Text 14"/>
          <p:cNvSpPr txBox="1"/>
          <p:nvPr/>
        </p:nvSpPr>
        <p:spPr>
          <a:xfrm>
            <a:off x="1005840" y="2245766"/>
            <a:ext cx="3246120" cy="1466698"/>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Why it runs last</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This is the only USEM rule that searches outside the hardware tree. Every more precise rule has had its chance, and the ignore list still keeps placeholder classes out.</a:t>
            </a:r>
            <a:endParaRPr lang="en-US" sz="1200" dirty="0"/>
          </a:p>
        </p:txBody>
      </p:sp>
      <p:sp>
        <p:nvSpPr>
          <p:cNvPr id="17" name="Shape 15"/>
          <p:cNvSpPr/>
          <p:nvPr/>
        </p:nvSpPr>
        <p:spPr>
          <a:xfrm>
            <a:off x="4617720" y="2779776"/>
            <a:ext cx="6949440" cy="398678"/>
          </a:xfrm>
          <a:prstGeom prst="roundRect">
            <a:avLst>
              <a:gd name="adj" fmla="val 9174"/>
            </a:avLst>
          </a:prstGeom>
          <a:solidFill>
            <a:srgbClr val="1E2124"/>
          </a:solidFill>
          <a:ln w="12700">
            <a:solidFill>
              <a:srgbClr val="1E2124"/>
            </a:solidFill>
            <a:prstDash val="solid"/>
          </a:ln>
        </p:spPr>
      </p:sp>
      <p:sp>
        <p:nvSpPr>
          <p:cNvPr id="18" name="Text 16"/>
          <p:cNvSpPr txBox="1"/>
          <p:nvPr/>
        </p:nvSpPr>
        <p:spPr>
          <a:xfrm>
            <a:off x="4727448" y="2852928"/>
            <a:ext cx="6729984" cy="25237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fqdn = ('' + sourceValue).trim().toLowerCase();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(fqdn.indexOf('.') == -1) return null;</a:t>
            </a:r>
            <a:endParaRPr lang="en-US" sz="800" dirty="0"/>
          </a:p>
        </p:txBody>
      </p:sp>
      <p:sp>
        <p:nvSpPr>
          <p:cNvPr id="19" name="Shape 17"/>
          <p:cNvSpPr/>
          <p:nvPr/>
        </p:nvSpPr>
        <p:spPr>
          <a:xfrm>
            <a:off x="457200" y="3895344"/>
            <a:ext cx="11274552" cy="1887322"/>
          </a:xfrm>
          <a:prstGeom prst="roundRect">
            <a:avLst>
              <a:gd name="adj" fmla="val 242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8"/>
          <p:cNvSpPr/>
          <p:nvPr/>
        </p:nvSpPr>
        <p:spPr>
          <a:xfrm>
            <a:off x="658368" y="4710989"/>
            <a:ext cx="256032" cy="256032"/>
          </a:xfrm>
          <a:prstGeom prst="roundRect">
            <a:avLst>
              <a:gd name="adj" fmla="val 32143"/>
            </a:avLst>
          </a:prstGeom>
          <a:solidFill>
            <a:srgbClr val="24272A"/>
          </a:solidFill>
          <a:ln w="12700">
            <a:solidFill>
              <a:srgbClr val="333333"/>
            </a:solidFill>
            <a:prstDash val="solid"/>
          </a:ln>
        </p:spPr>
      </p:sp>
      <p:sp>
        <p:nvSpPr>
          <p:cNvPr id="21" name="Text 19"/>
          <p:cNvSpPr txBox="1"/>
          <p:nvPr/>
        </p:nvSpPr>
        <p:spPr>
          <a:xfrm>
            <a:off x="658368" y="4710989"/>
            <a:ext cx="256032" cy="256032"/>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2</a:t>
            </a:r>
            <a:endParaRPr lang="en-US" sz="1000" dirty="0"/>
          </a:p>
        </p:txBody>
      </p:sp>
      <p:sp>
        <p:nvSpPr>
          <p:cNvPr id="22" name="Text 20"/>
          <p:cNvSpPr txBox="1"/>
          <p:nvPr/>
        </p:nvSpPr>
        <p:spPr>
          <a:xfrm>
            <a:off x="1005840" y="3986784"/>
            <a:ext cx="3246120" cy="1704442"/>
          </a:xfrm>
          <a:prstGeom prst="rect">
            <a:avLst/>
          </a:prstGeom>
          <a:noFill/>
          <a:ln/>
        </p:spPr>
        <p:txBody>
          <a:bodyPr wrap="square" lIns="0" tIns="0" rIns="0" bIns="0" rtlCol="0" anchor="ctr"/>
          <a:lstStyle/>
          <a:p>
            <a:pPr indent="0" marL="0">
              <a:spcAft>
                <a:spcPts val="400"/>
              </a:spcAft>
              <a:buNone/>
            </a:pPr>
            <a:r>
              <a:rPr lang="en-US" sz="1200" b="1" dirty="0">
                <a:solidFill>
                  <a:srgbClr val="24272A"/>
                </a:solidFill>
                <a:latin typeface="Arial" pitchFamily="34" charset="0"/>
                <a:ea typeface="Arial" pitchFamily="34" charset="-122"/>
                <a:cs typeface="Arial" pitchFamily="34" charset="-120"/>
              </a:rPr>
              <a:t>Root CI table, exactly one CI</a:t>
            </a:r>
            <a:endParaRPr lang="en-US" sz="1200" dirty="0"/>
          </a:p>
          <a:p>
            <a:pPr indent="0" marL="0">
              <a:buNone/>
            </a:pPr>
            <a:r>
              <a:rPr lang="en-US" sz="950" dirty="0">
                <a:solidFill>
                  <a:srgbClr val="6B7177"/>
                </a:solidFill>
                <a:latin typeface="Arial" pitchFamily="34" charset="0"/>
                <a:ea typeface="Arial" pitchFamily="34" charset="-122"/>
                <a:cs typeface="Arial" pitchFamily="34" charset="-120"/>
              </a:rPr>
              <a:t>cmdb_ci is the root of every class. The uniqueness test is unchanged.</a:t>
            </a:r>
            <a:endParaRPr lang="en-US" sz="1200" dirty="0"/>
          </a:p>
        </p:txBody>
      </p:sp>
      <p:sp>
        <p:nvSpPr>
          <p:cNvPr id="23" name="Shape 21"/>
          <p:cNvSpPr/>
          <p:nvPr/>
        </p:nvSpPr>
        <p:spPr>
          <a:xfrm>
            <a:off x="4617720" y="4288536"/>
            <a:ext cx="6949440" cy="1100938"/>
          </a:xfrm>
          <a:prstGeom prst="roundRect">
            <a:avLst>
              <a:gd name="adj" fmla="val 3322"/>
            </a:avLst>
          </a:prstGeom>
          <a:solidFill>
            <a:srgbClr val="1E2124"/>
          </a:solidFill>
          <a:ln w="12700">
            <a:solidFill>
              <a:srgbClr val="1E2124"/>
            </a:solidFill>
            <a:prstDash val="solid"/>
          </a:ln>
        </p:spPr>
      </p:sp>
      <p:sp>
        <p:nvSpPr>
          <p:cNvPr id="24" name="Text 22"/>
          <p:cNvSpPr txBox="1"/>
          <p:nvPr/>
        </p:nvSpPr>
        <p:spPr>
          <a:xfrm>
            <a:off x="4727448" y="4361688"/>
            <a:ext cx="6729984" cy="954634"/>
          </a:xfrm>
          <a:prstGeom prst="rect">
            <a:avLst/>
          </a:prstGeom>
          <a:noFill/>
          <a:ln/>
        </p:spPr>
        <p:txBody>
          <a:bodyPr wrap="square" lIns="0" tIns="0" rIns="0" bIns="0" rtlCol="0" anchor="t"/>
          <a:lstStyle/>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gr = new GlideRecord('cmdb_ci');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every class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gr.addQuery('name', fqdn);</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gr.addQuery('sys_class_name', 'NOT IN', ignore);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gr.query();</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nothing found</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var match = gr.getUniqueValue();</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if (gr.hasNext()) return null;         </a:t>
            </a:r>
            <a:pPr indent="0" marL="0">
              <a:lnSpc>
                <a:spcPct val="94000"/>
              </a:lnSpc>
              <a:buNone/>
            </a:pPr>
            <a:r>
              <a:rPr lang="en-US" sz="800" i="1" dirty="0">
                <a:solidFill>
                  <a:srgbClr val="9AA1A8"/>
                </a:solidFill>
                <a:latin typeface="Courier New" pitchFamily="34" charset="0"/>
                <a:ea typeface="Courier New" pitchFamily="34" charset="-122"/>
                <a:cs typeface="Courier New" pitchFamily="34" charset="-120"/>
              </a:rPr>
              <a:t>// two CIs, never guess</a:t>
            </a:r>
            <a:endParaRPr lang="en-US" sz="800" dirty="0"/>
          </a:p>
          <a:p>
            <a:pPr indent="0" marL="0">
              <a:lnSpc>
                <a:spcPct val="94000"/>
              </a:lnSpc>
              <a:buNone/>
            </a:pPr>
            <a:r>
              <a:rPr lang="en-US" sz="800" dirty="0">
                <a:solidFill>
                  <a:srgbClr val="E9EBED"/>
                </a:solidFill>
                <a:latin typeface="Courier New" pitchFamily="34" charset="0"/>
                <a:ea typeface="Courier New" pitchFamily="34" charset="-122"/>
                <a:cs typeface="Courier New" pitchFamily="34" charset="-120"/>
              </a:rPr>
              <a:t>return match;</a:t>
            </a:r>
            <a:endParaRPr lang="en-US" sz="800" dirty="0"/>
          </a:p>
        </p:txBody>
      </p:sp>
      <p:sp>
        <p:nvSpPr>
          <p:cNvPr id="25" name="Text 23"/>
          <p:cNvSpPr txBox="1"/>
          <p:nvPr/>
        </p:nvSpPr>
        <p:spPr>
          <a:xfrm>
            <a:off x="45720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BEFORE</a:t>
            </a:r>
            <a:endParaRPr lang="en-US" sz="850" dirty="0"/>
          </a:p>
        </p:txBody>
      </p:sp>
      <p:sp>
        <p:nvSpPr>
          <p:cNvPr id="26" name="Text 24"/>
          <p:cNvSpPr txBox="1"/>
          <p:nvPr/>
        </p:nvSpPr>
        <p:spPr>
          <a:xfrm>
            <a:off x="45720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every hardware-scoped rule has declined for this host.</a:t>
            </a:r>
            <a:endParaRPr lang="en-US" sz="950" dirty="0"/>
          </a:p>
        </p:txBody>
      </p:sp>
      <p:sp>
        <p:nvSpPr>
          <p:cNvPr id="27" name="Text 25"/>
          <p:cNvSpPr txBox="1"/>
          <p:nvPr/>
        </p:nvSpPr>
        <p:spPr>
          <a:xfrm>
            <a:off x="425196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REACHES</a:t>
            </a:r>
            <a:endParaRPr lang="en-US" sz="850" dirty="0"/>
          </a:p>
        </p:txBody>
      </p:sp>
      <p:sp>
        <p:nvSpPr>
          <p:cNvPr id="28" name="Text 26"/>
          <p:cNvSpPr txBox="1"/>
          <p:nvPr/>
        </p:nvSpPr>
        <p:spPr>
          <a:xfrm>
            <a:off x="425196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rare CI named with the full FQDN that lives outside the hardware tree.</a:t>
            </a:r>
            <a:endParaRPr lang="en-US" sz="950" dirty="0"/>
          </a:p>
        </p:txBody>
      </p:sp>
      <p:sp>
        <p:nvSpPr>
          <p:cNvPr id="29" name="Text 27"/>
          <p:cNvSpPr txBox="1"/>
          <p:nvPr/>
        </p:nvSpPr>
        <p:spPr>
          <a:xfrm>
            <a:off x="8046720" y="5943600"/>
            <a:ext cx="3566160" cy="182880"/>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AFTER</a:t>
            </a:r>
            <a:endParaRPr lang="en-US" sz="850" dirty="0"/>
          </a:p>
        </p:txBody>
      </p:sp>
      <p:sp>
        <p:nvSpPr>
          <p:cNvPr id="30" name="Text 28"/>
          <p:cNvSpPr txBox="1"/>
          <p:nvPr/>
        </p:nvSpPr>
        <p:spPr>
          <a:xfrm>
            <a:off x="8046720" y="6144768"/>
            <a:ext cx="3566160" cy="548640"/>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out-of-box Qualys rules: host id, cloud resource id, FQDN, NetBIOS, DNS.</a:t>
            </a:r>
            <a:endParaRPr lang="en-US" sz="9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24272A"/>
        </a:solidFill>
      </p:bgPr>
    </p:bg>
    <p:spTree>
      <p:nvGrpSpPr>
        <p:cNvPr id="1" name=""/>
        <p:cNvGrpSpPr/>
        <p:nvPr/>
      </p:nvGrpSpPr>
      <p:grpSpPr>
        <a:xfrm>
          <a:off x="0" y="0"/>
          <a:ext cx="0" cy="0"/>
          <a:chOff x="0" y="0"/>
          <a:chExt cx="0" cy="0"/>
        </a:xfrm>
      </p:grpSpPr>
      <p:sp>
        <p:nvSpPr>
          <p:cNvPr id="2" name="Shape 0"/>
          <p:cNvSpPr/>
          <p:nvPr/>
        </p:nvSpPr>
        <p:spPr>
          <a:xfrm>
            <a:off x="457200" y="2331720"/>
            <a:ext cx="566928" cy="566928"/>
          </a:xfrm>
          <a:prstGeom prst="roundRect">
            <a:avLst>
              <a:gd name="adj" fmla="val 25806"/>
            </a:avLst>
          </a:prstGeom>
          <a:solidFill>
            <a:srgbClr val="E31837"/>
          </a:solidFill>
          <a:ln w="12700">
            <a:solidFill>
              <a:srgbClr val="333333"/>
            </a:solidFill>
            <a:prstDash val="solid"/>
          </a:ln>
        </p:spPr>
      </p:sp>
      <p:sp>
        <p:nvSpPr>
          <p:cNvPr id="3" name="Text 1"/>
          <p:cNvSpPr txBox="1"/>
          <p:nvPr/>
        </p:nvSpPr>
        <p:spPr>
          <a:xfrm>
            <a:off x="457200" y="23317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4</a:t>
            </a:r>
            <a:endParaRPr lang="en-US" sz="2200" dirty="0"/>
          </a:p>
        </p:txBody>
      </p:sp>
      <p:sp>
        <p:nvSpPr>
          <p:cNvPr id="4" name="Text 2"/>
          <p:cNvSpPr txBox="1"/>
          <p:nvPr/>
        </p:nvSpPr>
        <p:spPr>
          <a:xfrm>
            <a:off x="1207008" y="2304288"/>
            <a:ext cx="10424160" cy="65836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The unmatched backlog</a:t>
            </a:r>
            <a:endParaRPr lang="en-US" sz="3400" dirty="0"/>
          </a:p>
        </p:txBody>
      </p:sp>
      <p:sp>
        <p:nvSpPr>
          <p:cNvPr id="5" name="Text 3"/>
          <p:cNvSpPr txBox="1"/>
          <p:nvPr/>
        </p:nvSpPr>
        <p:spPr>
          <a:xfrm>
            <a:off x="1207008" y="3054096"/>
            <a:ext cx="6583680" cy="822960"/>
          </a:xfrm>
          <a:prstGeom prst="rect">
            <a:avLst/>
          </a:prstGeom>
          <a:noFill/>
          <a:ln/>
        </p:spPr>
        <p:txBody>
          <a:bodyPr wrap="square" lIns="0" tIns="0" rIns="0" bIns="0" rtlCol="0" anchor="t"/>
          <a:lstStyle/>
          <a:p>
            <a:pPr indent="0" marL="0">
              <a:buNone/>
            </a:pPr>
            <a:r>
              <a:rPr lang="en-US" sz="1350" dirty="0">
                <a:solidFill>
                  <a:srgbClr val="B9BEC3"/>
                </a:solidFill>
                <a:latin typeface="Arial" pitchFamily="34" charset="0"/>
                <a:ea typeface="Arial" pitchFamily="34" charset="-122"/>
                <a:cs typeface="Arial" pitchFamily="34" charset="-120"/>
              </a:rPr>
              <a:t>What the unresolved population is actually made of, and the three rules built to reach it.</a:t>
            </a:r>
            <a:endParaRPr lang="en-US" sz="1350" dirty="0"/>
          </a:p>
        </p:txBody>
      </p:sp>
      <p:sp>
        <p:nvSpPr>
          <p:cNvPr id="6" name="Shape 4"/>
          <p:cNvSpPr/>
          <p:nvPr/>
        </p:nvSpPr>
        <p:spPr>
          <a:xfrm>
            <a:off x="8275320" y="2423160"/>
            <a:ext cx="146304" cy="146304"/>
          </a:xfrm>
          <a:prstGeom prst="roundRect">
            <a:avLst>
              <a:gd name="adj" fmla="val 31250"/>
            </a:avLst>
          </a:prstGeom>
          <a:solidFill>
            <a:srgbClr val="E31837"/>
          </a:solidFill>
          <a:ln w="12700">
            <a:solidFill>
              <a:srgbClr val="333333"/>
            </a:solidFill>
            <a:prstDash val="solid"/>
          </a:ln>
        </p:spPr>
      </p:sp>
      <p:sp>
        <p:nvSpPr>
          <p:cNvPr id="7" name="Text 5"/>
          <p:cNvSpPr txBox="1"/>
          <p:nvPr/>
        </p:nvSpPr>
        <p:spPr>
          <a:xfrm>
            <a:off x="8577072" y="2340864"/>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What 281,700 hosts are made of</a:t>
            </a:r>
            <a:endParaRPr lang="en-US" sz="1150" dirty="0"/>
          </a:p>
        </p:txBody>
      </p:sp>
      <p:sp>
        <p:nvSpPr>
          <p:cNvPr id="8" name="Shape 6"/>
          <p:cNvSpPr/>
          <p:nvPr/>
        </p:nvSpPr>
        <p:spPr>
          <a:xfrm>
            <a:off x="8275320" y="2825496"/>
            <a:ext cx="146304" cy="146304"/>
          </a:xfrm>
          <a:prstGeom prst="roundRect">
            <a:avLst>
              <a:gd name="adj" fmla="val 31250"/>
            </a:avLst>
          </a:prstGeom>
          <a:solidFill>
            <a:srgbClr val="E31837"/>
          </a:solidFill>
          <a:ln w="12700">
            <a:solidFill>
              <a:srgbClr val="333333"/>
            </a:solidFill>
            <a:prstDash val="solid"/>
          </a:ln>
        </p:spPr>
      </p:sp>
      <p:sp>
        <p:nvSpPr>
          <p:cNvPr id="9" name="Text 7"/>
          <p:cNvSpPr txBox="1"/>
          <p:nvPr/>
        </p:nvSpPr>
        <p:spPr>
          <a:xfrm>
            <a:off x="8577072" y="2743200"/>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What evidence they carry</a:t>
            </a:r>
            <a:endParaRPr lang="en-US" sz="1150" dirty="0"/>
          </a:p>
        </p:txBody>
      </p:sp>
      <p:sp>
        <p:nvSpPr>
          <p:cNvPr id="10" name="Shape 8"/>
          <p:cNvSpPr/>
          <p:nvPr/>
        </p:nvSpPr>
        <p:spPr>
          <a:xfrm>
            <a:off x="8275320" y="3227832"/>
            <a:ext cx="146304" cy="146304"/>
          </a:xfrm>
          <a:prstGeom prst="roundRect">
            <a:avLst>
              <a:gd name="adj" fmla="val 31250"/>
            </a:avLst>
          </a:prstGeom>
          <a:solidFill>
            <a:srgbClr val="E31837"/>
          </a:solidFill>
          <a:ln w="12700">
            <a:solidFill>
              <a:srgbClr val="333333"/>
            </a:solidFill>
            <a:prstDash val="solid"/>
          </a:ln>
        </p:spPr>
      </p:sp>
      <p:sp>
        <p:nvSpPr>
          <p:cNvPr id="11" name="Text 9"/>
          <p:cNvSpPr txBox="1"/>
          <p:nvPr/>
        </p:nvSpPr>
        <p:spPr>
          <a:xfrm>
            <a:off x="8577072" y="3145536"/>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The lists that drive the new rules</a:t>
            </a:r>
            <a:endParaRPr lang="en-US" sz="11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ANALYSIS</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What 281,700 unmatched hosts are made of</a:t>
            </a:r>
            <a:endParaRPr lang="en-US" sz="3000" dirty="0"/>
          </a:p>
        </p:txBody>
      </p:sp>
      <p:sp>
        <p:nvSpPr>
          <p:cNvPr id="4" name="Text 2"/>
          <p:cNvSpPr txBox="1"/>
          <p:nvPr/>
        </p:nvSpPr>
        <p:spPr>
          <a:xfrm>
            <a:off x="457200" y="1298448"/>
            <a:ext cx="11247120" cy="329184"/>
          </a:xfrm>
          <a:prstGeom prst="rect">
            <a:avLst/>
          </a:prstGeom>
          <a:noFill/>
          <a:ln/>
        </p:spPr>
        <p:txBody>
          <a:bodyPr wrap="square" lIns="0" tIns="0" rIns="0" bIns="0" rtlCol="0" anchor="ctr"/>
          <a:lstStyle/>
          <a:p>
            <a:pPr indent="0" marL="0">
              <a:buNone/>
            </a:pPr>
            <a:r>
              <a:rPr lang="en-US" sz="1200" dirty="0">
                <a:solidFill>
                  <a:srgbClr val="6B7177"/>
                </a:solidFill>
                <a:latin typeface="Arial" pitchFamily="34" charset="0"/>
                <a:ea typeface="Arial" pitchFamily="34" charset="-122"/>
                <a:cs typeface="Arial" pitchFamily="34" charset="-120"/>
              </a:rPr>
              <a:t>A spread sample of the unresolved Discovered Items was profiled by the evidence each host carries, then projected across the whole population. Three groups stood out as reachable by rules that did not yet exist.</a:t>
            </a:r>
            <a:endParaRPr lang="en-US" sz="1200" dirty="0"/>
          </a:p>
        </p:txBody>
      </p:sp>
      <p:graphicFrame>
        <p:nvGraphicFramePr>
          <p:cNvPr id="5" name="Chart 0" descr=""/>
          <p:cNvGraphicFramePr/>
          <p:nvPr/>
        </p:nvGraphicFramePr>
        <p:xfrm>
          <a:off x="457200" y="1755648"/>
          <a:ext cx="6858000" cy="416052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07808" y="1755648"/>
            <a:ext cx="4114800" cy="274320"/>
          </a:xfrm>
          <a:prstGeom prst="rect">
            <a:avLst/>
          </a:prstGeom>
          <a:noFill/>
          <a:ln/>
        </p:spPr>
        <p:txBody>
          <a:bodyPr wrap="square" lIns="0" tIns="0" rIns="0" bIns="0" rtlCol="0" anchor="ctr"/>
          <a:lstStyle/>
          <a:p>
            <a:pPr indent="0" marL="0">
              <a:buNone/>
            </a:pPr>
            <a:r>
              <a:rPr lang="en-US" sz="1350" b="1" dirty="0">
                <a:solidFill>
                  <a:srgbClr val="24272A"/>
                </a:solidFill>
                <a:latin typeface="Arial" pitchFamily="34" charset="0"/>
                <a:ea typeface="Arial" pitchFamily="34" charset="-122"/>
                <a:cs typeface="Arial" pitchFamily="34" charset="-120"/>
              </a:rPr>
              <a:t>The three gaps, and the rules that close them</a:t>
            </a:r>
            <a:endParaRPr lang="en-US" sz="1350" dirty="0"/>
          </a:p>
        </p:txBody>
      </p:sp>
      <p:sp>
        <p:nvSpPr>
          <p:cNvPr id="7" name="Shape 4"/>
          <p:cNvSpPr/>
          <p:nvPr/>
        </p:nvSpPr>
        <p:spPr>
          <a:xfrm>
            <a:off x="7607808" y="2139696"/>
            <a:ext cx="4123944"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8" name="Shape 5"/>
          <p:cNvSpPr/>
          <p:nvPr/>
        </p:nvSpPr>
        <p:spPr>
          <a:xfrm>
            <a:off x="7790688" y="2286000"/>
            <a:ext cx="566928" cy="310896"/>
          </a:xfrm>
          <a:prstGeom prst="roundRect">
            <a:avLst>
              <a:gd name="adj" fmla="val 47059"/>
            </a:avLst>
          </a:prstGeom>
          <a:solidFill>
            <a:srgbClr val="E31837"/>
          </a:solidFill>
          <a:ln w="12700">
            <a:solidFill>
              <a:srgbClr val="333333"/>
            </a:solidFill>
            <a:prstDash val="solid"/>
          </a:ln>
        </p:spPr>
      </p:sp>
      <p:sp>
        <p:nvSpPr>
          <p:cNvPr id="9" name="Text 6"/>
          <p:cNvSpPr txBox="1"/>
          <p:nvPr/>
        </p:nvSpPr>
        <p:spPr>
          <a:xfrm>
            <a:off x="7790688" y="2286000"/>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460</a:t>
            </a:r>
            <a:endParaRPr lang="en-US" sz="1300" dirty="0"/>
          </a:p>
        </p:txBody>
      </p:sp>
      <p:sp>
        <p:nvSpPr>
          <p:cNvPr id="10" name="Text 7"/>
          <p:cNvSpPr txBox="1"/>
          <p:nvPr/>
        </p:nvSpPr>
        <p:spPr>
          <a:xfrm>
            <a:off x="8449056" y="2286000"/>
            <a:ext cx="3108960" cy="310896"/>
          </a:xfrm>
          <a:prstGeom prst="rect">
            <a:avLst/>
          </a:prstGeom>
          <a:noFill/>
          <a:ln/>
        </p:spPr>
        <p:txBody>
          <a:bodyPr wrap="square" lIns="0" tIns="0" rIns="0" bIns="0" rtlCol="0" anchor="ctr"/>
          <a:lstStyle/>
          <a:p>
            <a:pPr indent="0" marL="0">
              <a:buNone/>
            </a:pPr>
            <a:r>
              <a:rPr lang="en-US" sz="1200" b="1" dirty="0">
                <a:solidFill>
                  <a:srgbClr val="24272A"/>
                </a:solidFill>
                <a:latin typeface="Arial" pitchFamily="34" charset="0"/>
                <a:ea typeface="Arial" pitchFamily="34" charset="-122"/>
                <a:cs typeface="Arial" pitchFamily="34" charset="-120"/>
              </a:rPr>
              <a:t>Virtual IPs</a:t>
            </a:r>
            <a:endParaRPr lang="en-US" sz="1200" dirty="0"/>
          </a:p>
        </p:txBody>
      </p:sp>
      <p:sp>
        <p:nvSpPr>
          <p:cNvPr id="11" name="Text 8"/>
          <p:cNvSpPr txBox="1"/>
          <p:nvPr/>
        </p:nvSpPr>
        <p:spPr>
          <a:xfrm>
            <a:off x="7790688" y="2633472"/>
            <a:ext cx="1828800" cy="219456"/>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71,892 hosts</a:t>
            </a:r>
            <a:endParaRPr lang="en-US" sz="1050" dirty="0"/>
          </a:p>
        </p:txBody>
      </p:sp>
      <p:sp>
        <p:nvSpPr>
          <p:cNvPr id="12" name="Text 9"/>
          <p:cNvSpPr txBox="1"/>
          <p:nvPr/>
        </p:nvSpPr>
        <p:spPr>
          <a:xfrm>
            <a:off x="7790688" y="2852928"/>
            <a:ext cx="3749040" cy="384048"/>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Refused by every hardware rule on purpose, because the address belongs to a balancer.</a:t>
            </a:r>
            <a:endParaRPr lang="en-US" sz="950" dirty="0"/>
          </a:p>
        </p:txBody>
      </p:sp>
      <p:sp>
        <p:nvSpPr>
          <p:cNvPr id="13" name="Shape 10"/>
          <p:cNvSpPr/>
          <p:nvPr/>
        </p:nvSpPr>
        <p:spPr>
          <a:xfrm>
            <a:off x="7607808" y="3438144"/>
            <a:ext cx="4123944"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Shape 11"/>
          <p:cNvSpPr/>
          <p:nvPr/>
        </p:nvSpPr>
        <p:spPr>
          <a:xfrm>
            <a:off x="7790688" y="3584448"/>
            <a:ext cx="566928" cy="310896"/>
          </a:xfrm>
          <a:prstGeom prst="roundRect">
            <a:avLst>
              <a:gd name="adj" fmla="val 47059"/>
            </a:avLst>
          </a:prstGeom>
          <a:solidFill>
            <a:srgbClr val="E31837"/>
          </a:solidFill>
          <a:ln w="12700">
            <a:solidFill>
              <a:srgbClr val="333333"/>
            </a:solidFill>
            <a:prstDash val="solid"/>
          </a:ln>
        </p:spPr>
      </p:sp>
      <p:sp>
        <p:nvSpPr>
          <p:cNvPr id="15" name="Text 12"/>
          <p:cNvSpPr txBox="1"/>
          <p:nvPr/>
        </p:nvSpPr>
        <p:spPr>
          <a:xfrm>
            <a:off x="7790688" y="3584448"/>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430</a:t>
            </a:r>
            <a:endParaRPr lang="en-US" sz="1300" dirty="0"/>
          </a:p>
        </p:txBody>
      </p:sp>
      <p:sp>
        <p:nvSpPr>
          <p:cNvPr id="16" name="Text 13"/>
          <p:cNvSpPr txBox="1"/>
          <p:nvPr/>
        </p:nvSpPr>
        <p:spPr>
          <a:xfrm>
            <a:off x="8449056" y="3584448"/>
            <a:ext cx="3108960" cy="310896"/>
          </a:xfrm>
          <a:prstGeom prst="rect">
            <a:avLst/>
          </a:prstGeom>
          <a:noFill/>
          <a:ln/>
        </p:spPr>
        <p:txBody>
          <a:bodyPr wrap="square" lIns="0" tIns="0" rIns="0" bIns="0" rtlCol="0" anchor="ctr"/>
          <a:lstStyle/>
          <a:p>
            <a:pPr indent="0" marL="0">
              <a:buNone/>
            </a:pPr>
            <a:r>
              <a:rPr lang="en-US" sz="1200" b="1" dirty="0">
                <a:solidFill>
                  <a:srgbClr val="24272A"/>
                </a:solidFill>
                <a:latin typeface="Arial" pitchFamily="34" charset="0"/>
                <a:ea typeface="Arial" pitchFamily="34" charset="-122"/>
                <a:cs typeface="Arial" pitchFamily="34" charset="-120"/>
              </a:rPr>
              <a:t>Interface and VLAN addresses</a:t>
            </a:r>
            <a:endParaRPr lang="en-US" sz="1200" dirty="0"/>
          </a:p>
        </p:txBody>
      </p:sp>
      <p:sp>
        <p:nvSpPr>
          <p:cNvPr id="17" name="Text 14"/>
          <p:cNvSpPr txBox="1"/>
          <p:nvPr/>
        </p:nvSpPr>
        <p:spPr>
          <a:xfrm>
            <a:off x="7790688" y="3931920"/>
            <a:ext cx="1828800" cy="219456"/>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47,420 hosts</a:t>
            </a:r>
            <a:endParaRPr lang="en-US" sz="1050" dirty="0"/>
          </a:p>
        </p:txBody>
      </p:sp>
      <p:sp>
        <p:nvSpPr>
          <p:cNvPr id="18" name="Text 15"/>
          <p:cNvSpPr txBox="1"/>
          <p:nvPr/>
        </p:nvSpPr>
        <p:spPr>
          <a:xfrm>
            <a:off x="7790688" y="4151376"/>
            <a:ext cx="3749040" cy="384048"/>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label names a port on a device, so the whole label never matches a CI name.</a:t>
            </a:r>
            <a:endParaRPr lang="en-US" sz="950" dirty="0"/>
          </a:p>
        </p:txBody>
      </p:sp>
      <p:sp>
        <p:nvSpPr>
          <p:cNvPr id="19" name="Shape 16"/>
          <p:cNvSpPr/>
          <p:nvPr/>
        </p:nvSpPr>
        <p:spPr>
          <a:xfrm>
            <a:off x="7607808" y="4736592"/>
            <a:ext cx="4123944" cy="1170432"/>
          </a:xfrm>
          <a:prstGeom prst="roundRect">
            <a:avLst>
              <a:gd name="adj" fmla="val 3906"/>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0" name="Shape 17"/>
          <p:cNvSpPr/>
          <p:nvPr/>
        </p:nvSpPr>
        <p:spPr>
          <a:xfrm>
            <a:off x="7790688" y="4882896"/>
            <a:ext cx="566928" cy="310896"/>
          </a:xfrm>
          <a:prstGeom prst="roundRect">
            <a:avLst>
              <a:gd name="adj" fmla="val 47059"/>
            </a:avLst>
          </a:prstGeom>
          <a:solidFill>
            <a:srgbClr val="E31837"/>
          </a:solidFill>
          <a:ln w="12700">
            <a:solidFill>
              <a:srgbClr val="333333"/>
            </a:solidFill>
            <a:prstDash val="solid"/>
          </a:ln>
        </p:spPr>
      </p:sp>
      <p:sp>
        <p:nvSpPr>
          <p:cNvPr id="21" name="Text 18"/>
          <p:cNvSpPr txBox="1"/>
          <p:nvPr/>
        </p:nvSpPr>
        <p:spPr>
          <a:xfrm>
            <a:off x="7790688" y="4882896"/>
            <a:ext cx="566928"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420</a:t>
            </a:r>
            <a:endParaRPr lang="en-US" sz="1300" dirty="0"/>
          </a:p>
        </p:txBody>
      </p:sp>
      <p:sp>
        <p:nvSpPr>
          <p:cNvPr id="22" name="Text 19"/>
          <p:cNvSpPr txBox="1"/>
          <p:nvPr/>
        </p:nvSpPr>
        <p:spPr>
          <a:xfrm>
            <a:off x="8449056" y="4882896"/>
            <a:ext cx="3108960" cy="310896"/>
          </a:xfrm>
          <a:prstGeom prst="rect">
            <a:avLst/>
          </a:prstGeom>
          <a:noFill/>
          <a:ln/>
        </p:spPr>
        <p:txBody>
          <a:bodyPr wrap="square" lIns="0" tIns="0" rIns="0" bIns="0" rtlCol="0" anchor="ctr"/>
          <a:lstStyle/>
          <a:p>
            <a:pPr indent="0" marL="0">
              <a:buNone/>
            </a:pPr>
            <a:r>
              <a:rPr lang="en-US" sz="1200" b="1" dirty="0">
                <a:solidFill>
                  <a:srgbClr val="24272A"/>
                </a:solidFill>
                <a:latin typeface="Arial" pitchFamily="34" charset="0"/>
                <a:ea typeface="Arial" pitchFamily="34" charset="-122"/>
                <a:cs typeface="Arial" pitchFamily="34" charset="-120"/>
              </a:rPr>
              <a:t>Management controllers</a:t>
            </a:r>
            <a:endParaRPr lang="en-US" sz="1200" dirty="0"/>
          </a:p>
        </p:txBody>
      </p:sp>
      <p:sp>
        <p:nvSpPr>
          <p:cNvPr id="23" name="Text 20"/>
          <p:cNvSpPr txBox="1"/>
          <p:nvPr/>
        </p:nvSpPr>
        <p:spPr>
          <a:xfrm>
            <a:off x="7790688" y="5230368"/>
            <a:ext cx="1828800" cy="219456"/>
          </a:xfrm>
          <a:prstGeom prst="rect">
            <a:avLst/>
          </a:prstGeom>
          <a:noFill/>
          <a:ln/>
        </p:spPr>
        <p:txBody>
          <a:bodyPr wrap="square" lIns="0" tIns="0" rIns="0" bIns="0" rtlCol="0" anchor="ctr"/>
          <a:lstStyle/>
          <a:p>
            <a:pPr indent="0" marL="0">
              <a:buNone/>
            </a:pPr>
            <a:r>
              <a:rPr lang="en-US" sz="1050" b="1" dirty="0">
                <a:solidFill>
                  <a:srgbClr val="E31837"/>
                </a:solidFill>
                <a:latin typeface="Arial" pitchFamily="34" charset="0"/>
                <a:ea typeface="Arial" pitchFamily="34" charset="-122"/>
                <a:cs typeface="Arial" pitchFamily="34" charset="-120"/>
              </a:rPr>
              <a:t>4,402 hosts</a:t>
            </a:r>
            <a:endParaRPr lang="en-US" sz="1050" dirty="0"/>
          </a:p>
        </p:txBody>
      </p:sp>
      <p:sp>
        <p:nvSpPr>
          <p:cNvPr id="24" name="Text 21"/>
          <p:cNvSpPr txBox="1"/>
          <p:nvPr/>
        </p:nvSpPr>
        <p:spPr>
          <a:xfrm>
            <a:off x="7790688" y="5449824"/>
            <a:ext cx="3749040" cy="384048"/>
          </a:xfrm>
          <a:prstGeom prst="rect">
            <a:avLst/>
          </a:prstGeom>
          <a:noFill/>
          <a:ln/>
        </p:spPr>
        <p:txBody>
          <a:bodyPr wrap="square" lIns="0" tIns="0" rIns="0" bIns="0" rtlCol="0" anchor="t"/>
          <a:lstStyle/>
          <a:p>
            <a:pPr indent="0" marL="0">
              <a:buNone/>
            </a:pPr>
            <a:r>
              <a:rPr lang="en-US" sz="950" dirty="0">
                <a:solidFill>
                  <a:srgbClr val="6B7177"/>
                </a:solidFill>
                <a:latin typeface="Arial" pitchFamily="34" charset="0"/>
                <a:ea typeface="Arial" pitchFamily="34" charset="-122"/>
                <a:cs typeface="Arial" pitchFamily="34" charset="-120"/>
              </a:rPr>
              <a:t>The label is the server name plus a suffix, so the server is never found under it.</a:t>
            </a:r>
            <a:endParaRPr lang="en-US" sz="950" dirty="0"/>
          </a:p>
        </p:txBody>
      </p:sp>
      <p:sp>
        <p:nvSpPr>
          <p:cNvPr id="25" name="Text 22"/>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Counts are projections from the profiled sample onto 281,700 unmatched Discovered Items, so treat them as proportions rather than exact totals.</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ANALYSIS</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What evidence those hosts actually carry</a:t>
            </a:r>
            <a:endParaRPr lang="en-US" sz="3000" dirty="0"/>
          </a:p>
        </p:txBody>
      </p:sp>
      <p:sp>
        <p:nvSpPr>
          <p:cNvPr id="4" name="Shape 2"/>
          <p:cNvSpPr/>
          <p:nvPr/>
        </p:nvSpPr>
        <p:spPr>
          <a:xfrm>
            <a:off x="457200" y="1389888"/>
            <a:ext cx="356616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Text 3"/>
          <p:cNvSpPr txBox="1"/>
          <p:nvPr/>
        </p:nvSpPr>
        <p:spPr>
          <a:xfrm>
            <a:off x="685800" y="1517904"/>
            <a:ext cx="3108960" cy="548640"/>
          </a:xfrm>
          <a:prstGeom prst="rect">
            <a:avLst/>
          </a:prstGeom>
          <a:noFill/>
          <a:ln/>
        </p:spPr>
        <p:txBody>
          <a:bodyPr wrap="square" lIns="0" tIns="0" rIns="0" bIns="0" rtlCol="0" anchor="ctr"/>
          <a:lstStyle/>
          <a:p>
            <a:pPr indent="0" marL="0">
              <a:buNone/>
            </a:pPr>
            <a:r>
              <a:rPr lang="en-US" sz="3600" b="1" dirty="0">
                <a:solidFill>
                  <a:srgbClr val="E31837"/>
                </a:solidFill>
                <a:latin typeface="Arial" pitchFamily="34" charset="0"/>
                <a:ea typeface="Arial" pitchFamily="34" charset="-122"/>
                <a:cs typeface="Arial" pitchFamily="34" charset="-120"/>
              </a:rPr>
              <a:t>85.9%</a:t>
            </a:r>
            <a:endParaRPr lang="en-US" sz="3600" dirty="0"/>
          </a:p>
        </p:txBody>
      </p:sp>
      <p:sp>
        <p:nvSpPr>
          <p:cNvPr id="6" name="Text 4"/>
          <p:cNvSpPr txBox="1"/>
          <p:nvPr/>
        </p:nvSpPr>
        <p:spPr>
          <a:xfrm>
            <a:off x="685800" y="2048256"/>
            <a:ext cx="3108960" cy="256032"/>
          </a:xfrm>
          <a:prstGeom prst="rect">
            <a:avLst/>
          </a:prstGeom>
          <a:noFill/>
          <a:ln/>
        </p:spPr>
        <p:txBody>
          <a:bodyPr wrap="square" lIns="0" tIns="0" rIns="0" bIns="0" rtlCol="0" anchor="ctr"/>
          <a:lstStyle/>
          <a:p>
            <a:pPr indent="0" marL="0">
              <a:buNone/>
            </a:pPr>
            <a:r>
              <a:rPr lang="en-US" sz="1250" b="1" dirty="0">
                <a:solidFill>
                  <a:srgbClr val="24272A"/>
                </a:solidFill>
                <a:latin typeface="Arial" pitchFamily="34" charset="0"/>
                <a:ea typeface="Arial" pitchFamily="34" charset="-122"/>
                <a:cs typeface="Arial" pitchFamily="34" charset="-120"/>
              </a:rPr>
              <a:t>carry a DNS name</a:t>
            </a:r>
            <a:endParaRPr lang="en-US" sz="1250" dirty="0"/>
          </a:p>
        </p:txBody>
      </p:sp>
      <p:sp>
        <p:nvSpPr>
          <p:cNvPr id="7" name="Text 5"/>
          <p:cNvSpPr txBox="1"/>
          <p:nvPr/>
        </p:nvSpPr>
        <p:spPr>
          <a:xfrm>
            <a:off x="685800" y="2304288"/>
            <a:ext cx="3108960" cy="36576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so name rules do most of the work</a:t>
            </a:r>
            <a:endParaRPr lang="en-US" sz="1050" dirty="0"/>
          </a:p>
        </p:txBody>
      </p:sp>
      <p:sp>
        <p:nvSpPr>
          <p:cNvPr id="8" name="Shape 6"/>
          <p:cNvSpPr/>
          <p:nvPr/>
        </p:nvSpPr>
        <p:spPr>
          <a:xfrm>
            <a:off x="4251960" y="1389888"/>
            <a:ext cx="356616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Text 7"/>
          <p:cNvSpPr txBox="1"/>
          <p:nvPr/>
        </p:nvSpPr>
        <p:spPr>
          <a:xfrm>
            <a:off x="4480560" y="1517904"/>
            <a:ext cx="3108960" cy="548640"/>
          </a:xfrm>
          <a:prstGeom prst="rect">
            <a:avLst/>
          </a:prstGeom>
          <a:noFill/>
          <a:ln/>
        </p:spPr>
        <p:txBody>
          <a:bodyPr wrap="square" lIns="0" tIns="0" rIns="0" bIns="0" rtlCol="0" anchor="ctr"/>
          <a:lstStyle/>
          <a:p>
            <a:pPr indent="0" marL="0">
              <a:buNone/>
            </a:pPr>
            <a:r>
              <a:rPr lang="en-US" sz="3600" b="1" dirty="0">
                <a:solidFill>
                  <a:srgbClr val="E31837"/>
                </a:solidFill>
                <a:latin typeface="Arial" pitchFamily="34" charset="0"/>
                <a:ea typeface="Arial" pitchFamily="34" charset="-122"/>
                <a:cs typeface="Arial" pitchFamily="34" charset="-120"/>
              </a:rPr>
              <a:t>0.3%</a:t>
            </a:r>
            <a:endParaRPr lang="en-US" sz="3600" dirty="0"/>
          </a:p>
        </p:txBody>
      </p:sp>
      <p:sp>
        <p:nvSpPr>
          <p:cNvPr id="10" name="Text 8"/>
          <p:cNvSpPr txBox="1"/>
          <p:nvPr/>
        </p:nvSpPr>
        <p:spPr>
          <a:xfrm>
            <a:off x="4480560" y="2048256"/>
            <a:ext cx="3108960" cy="256032"/>
          </a:xfrm>
          <a:prstGeom prst="rect">
            <a:avLst/>
          </a:prstGeom>
          <a:noFill/>
          <a:ln/>
        </p:spPr>
        <p:txBody>
          <a:bodyPr wrap="square" lIns="0" tIns="0" rIns="0" bIns="0" rtlCol="0" anchor="ctr"/>
          <a:lstStyle/>
          <a:p>
            <a:pPr indent="0" marL="0">
              <a:buNone/>
            </a:pPr>
            <a:r>
              <a:rPr lang="en-US" sz="1250" b="1" dirty="0">
                <a:solidFill>
                  <a:srgbClr val="24272A"/>
                </a:solidFill>
                <a:latin typeface="Arial" pitchFamily="34" charset="0"/>
                <a:ea typeface="Arial" pitchFamily="34" charset="-122"/>
                <a:cs typeface="Arial" pitchFamily="34" charset="-120"/>
              </a:rPr>
              <a:t>carry a serial number</a:t>
            </a:r>
            <a:endParaRPr lang="en-US" sz="1250" dirty="0"/>
          </a:p>
        </p:txBody>
      </p:sp>
      <p:sp>
        <p:nvSpPr>
          <p:cNvPr id="11" name="Text 9"/>
          <p:cNvSpPr txBox="1"/>
          <p:nvPr/>
        </p:nvSpPr>
        <p:spPr>
          <a:xfrm>
            <a:off x="4480560" y="2304288"/>
            <a:ext cx="3108960" cy="36576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so the strongest rule reaches almost nobody</a:t>
            </a:r>
            <a:endParaRPr lang="en-US" sz="1050" dirty="0"/>
          </a:p>
        </p:txBody>
      </p:sp>
      <p:sp>
        <p:nvSpPr>
          <p:cNvPr id="12" name="Shape 10"/>
          <p:cNvSpPr/>
          <p:nvPr/>
        </p:nvSpPr>
        <p:spPr>
          <a:xfrm>
            <a:off x="8046720" y="1389888"/>
            <a:ext cx="356616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3" name="Text 11"/>
          <p:cNvSpPr txBox="1"/>
          <p:nvPr/>
        </p:nvSpPr>
        <p:spPr>
          <a:xfrm>
            <a:off x="8275320" y="1517904"/>
            <a:ext cx="3108960" cy="548640"/>
          </a:xfrm>
          <a:prstGeom prst="rect">
            <a:avLst/>
          </a:prstGeom>
          <a:noFill/>
          <a:ln/>
        </p:spPr>
        <p:txBody>
          <a:bodyPr wrap="square" lIns="0" tIns="0" rIns="0" bIns="0" rtlCol="0" anchor="ctr"/>
          <a:lstStyle/>
          <a:p>
            <a:pPr indent="0" marL="0">
              <a:buNone/>
            </a:pPr>
            <a:r>
              <a:rPr lang="en-US" sz="3600" b="1" dirty="0">
                <a:solidFill>
                  <a:srgbClr val="E31837"/>
                </a:solidFill>
                <a:latin typeface="Arial" pitchFamily="34" charset="0"/>
                <a:ea typeface="Arial" pitchFamily="34" charset="-122"/>
                <a:cs typeface="Arial" pitchFamily="34" charset="-120"/>
              </a:rPr>
              <a:t>32.6%</a:t>
            </a:r>
            <a:endParaRPr lang="en-US" sz="3600" dirty="0"/>
          </a:p>
        </p:txBody>
      </p:sp>
      <p:sp>
        <p:nvSpPr>
          <p:cNvPr id="14" name="Text 12"/>
          <p:cNvSpPr txBox="1"/>
          <p:nvPr/>
        </p:nvSpPr>
        <p:spPr>
          <a:xfrm>
            <a:off x="8275320" y="2048256"/>
            <a:ext cx="3108960" cy="256032"/>
          </a:xfrm>
          <a:prstGeom prst="rect">
            <a:avLst/>
          </a:prstGeom>
          <a:noFill/>
          <a:ln/>
        </p:spPr>
        <p:txBody>
          <a:bodyPr wrap="square" lIns="0" tIns="0" rIns="0" bIns="0" rtlCol="0" anchor="ctr"/>
          <a:lstStyle/>
          <a:p>
            <a:pPr indent="0" marL="0">
              <a:buNone/>
            </a:pPr>
            <a:r>
              <a:rPr lang="en-US" sz="1250" b="1" dirty="0">
                <a:solidFill>
                  <a:srgbClr val="24272A"/>
                </a:solidFill>
                <a:latin typeface="Arial" pitchFamily="34" charset="0"/>
                <a:ea typeface="Arial" pitchFamily="34" charset="-122"/>
                <a:cs typeface="Arial" pitchFamily="34" charset="-120"/>
              </a:rPr>
              <a:t>report no OS text</a:t>
            </a:r>
            <a:endParaRPr lang="en-US" sz="1250" dirty="0"/>
          </a:p>
        </p:txBody>
      </p:sp>
      <p:sp>
        <p:nvSpPr>
          <p:cNvPr id="15" name="Text 13"/>
          <p:cNvSpPr txBox="1"/>
          <p:nvPr/>
        </p:nvSpPr>
        <p:spPr>
          <a:xfrm>
            <a:off x="8275320" y="2304288"/>
            <a:ext cx="3108960" cy="365760"/>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so a third of hosts get no class evidence</a:t>
            </a:r>
            <a:endParaRPr lang="en-US" sz="1050" dirty="0"/>
          </a:p>
        </p:txBody>
      </p:sp>
      <p:sp>
        <p:nvSpPr>
          <p:cNvPr id="16" name="Shape 14"/>
          <p:cNvSpPr/>
          <p:nvPr/>
        </p:nvSpPr>
        <p:spPr>
          <a:xfrm>
            <a:off x="457200" y="2962656"/>
            <a:ext cx="5532120" cy="2743200"/>
          </a:xfrm>
          <a:prstGeom prst="roundRect">
            <a:avLst>
              <a:gd name="adj" fmla="val 166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7" name="Text 15"/>
          <p:cNvSpPr txBox="1"/>
          <p:nvPr/>
        </p:nvSpPr>
        <p:spPr>
          <a:xfrm>
            <a:off x="685800" y="3090672"/>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The full picture</a:t>
            </a:r>
            <a:endParaRPr lang="en-US" sz="1400" dirty="0"/>
          </a:p>
        </p:txBody>
      </p:sp>
      <p:sp>
        <p:nvSpPr>
          <p:cNvPr id="18" name="Text 16"/>
          <p:cNvSpPr txBox="1"/>
          <p:nvPr/>
        </p:nvSpPr>
        <p:spPr>
          <a:xfrm>
            <a:off x="685800" y="343814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Hosts with a DNS name</a:t>
            </a:r>
            <a:endParaRPr lang="en-US" sz="1000" dirty="0"/>
          </a:p>
        </p:txBody>
      </p:sp>
      <p:sp>
        <p:nvSpPr>
          <p:cNvPr id="19" name="Text 17"/>
          <p:cNvSpPr txBox="1"/>
          <p:nvPr/>
        </p:nvSpPr>
        <p:spPr>
          <a:xfrm>
            <a:off x="3931920" y="343814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85.9%</a:t>
            </a:r>
            <a:endParaRPr lang="en-US" sz="1000" dirty="0"/>
          </a:p>
        </p:txBody>
      </p:sp>
      <p:sp>
        <p:nvSpPr>
          <p:cNvPr id="20" name="Text 18"/>
          <p:cNvSpPr txBox="1"/>
          <p:nvPr/>
        </p:nvSpPr>
        <p:spPr>
          <a:xfrm>
            <a:off x="4800600" y="343814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241,910</a:t>
            </a:r>
            <a:endParaRPr lang="en-US" sz="1000" dirty="0"/>
          </a:p>
        </p:txBody>
      </p:sp>
      <p:sp>
        <p:nvSpPr>
          <p:cNvPr id="21" name="Text 19"/>
          <p:cNvSpPr txBox="1"/>
          <p:nvPr/>
        </p:nvSpPr>
        <p:spPr>
          <a:xfrm>
            <a:off x="685800" y="371246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Hosts scanned by IP, unauthenticated</a:t>
            </a:r>
            <a:endParaRPr lang="en-US" sz="1000" dirty="0"/>
          </a:p>
        </p:txBody>
      </p:sp>
      <p:sp>
        <p:nvSpPr>
          <p:cNvPr id="22" name="Text 20"/>
          <p:cNvSpPr txBox="1"/>
          <p:nvPr/>
        </p:nvSpPr>
        <p:spPr>
          <a:xfrm>
            <a:off x="3931920" y="371246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99.8%</a:t>
            </a:r>
            <a:endParaRPr lang="en-US" sz="1000" dirty="0"/>
          </a:p>
        </p:txBody>
      </p:sp>
      <p:sp>
        <p:nvSpPr>
          <p:cNvPr id="23" name="Text 21"/>
          <p:cNvSpPr txBox="1"/>
          <p:nvPr/>
        </p:nvSpPr>
        <p:spPr>
          <a:xfrm>
            <a:off x="4800600" y="371246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280,996</a:t>
            </a:r>
            <a:endParaRPr lang="en-US" sz="1000" dirty="0"/>
          </a:p>
        </p:txBody>
      </p:sp>
      <p:sp>
        <p:nvSpPr>
          <p:cNvPr id="24" name="Text 22"/>
          <p:cNvSpPr txBox="1"/>
          <p:nvPr/>
        </p:nvSpPr>
        <p:spPr>
          <a:xfrm>
            <a:off x="685800" y="398678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OS text empty</a:t>
            </a:r>
            <a:endParaRPr lang="en-US" sz="1000" dirty="0"/>
          </a:p>
        </p:txBody>
      </p:sp>
      <p:sp>
        <p:nvSpPr>
          <p:cNvPr id="25" name="Text 23"/>
          <p:cNvSpPr txBox="1"/>
          <p:nvPr/>
        </p:nvSpPr>
        <p:spPr>
          <a:xfrm>
            <a:off x="3931920" y="398678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32.6%</a:t>
            </a:r>
            <a:endParaRPr lang="en-US" sz="1000" dirty="0"/>
          </a:p>
        </p:txBody>
      </p:sp>
      <p:sp>
        <p:nvSpPr>
          <p:cNvPr id="26" name="Text 24"/>
          <p:cNvSpPr txBox="1"/>
          <p:nvPr/>
        </p:nvSpPr>
        <p:spPr>
          <a:xfrm>
            <a:off x="4800600" y="398678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91,729</a:t>
            </a:r>
            <a:endParaRPr lang="en-US" sz="1000" dirty="0"/>
          </a:p>
        </p:txBody>
      </p:sp>
      <p:sp>
        <p:nvSpPr>
          <p:cNvPr id="27" name="Text 25"/>
          <p:cNvSpPr txBox="1"/>
          <p:nvPr/>
        </p:nvSpPr>
        <p:spPr>
          <a:xfrm>
            <a:off x="685800" y="426110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OS text a multi-guess fingerprint</a:t>
            </a:r>
            <a:endParaRPr lang="en-US" sz="1000" dirty="0"/>
          </a:p>
        </p:txBody>
      </p:sp>
      <p:sp>
        <p:nvSpPr>
          <p:cNvPr id="28" name="Text 26"/>
          <p:cNvSpPr txBox="1"/>
          <p:nvPr/>
        </p:nvSpPr>
        <p:spPr>
          <a:xfrm>
            <a:off x="3931920" y="426110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5.0%</a:t>
            </a:r>
            <a:endParaRPr lang="en-US" sz="1000" dirty="0"/>
          </a:p>
        </p:txBody>
      </p:sp>
      <p:sp>
        <p:nvSpPr>
          <p:cNvPr id="29" name="Text 27"/>
          <p:cNvSpPr txBox="1"/>
          <p:nvPr/>
        </p:nvSpPr>
        <p:spPr>
          <a:xfrm>
            <a:off x="4800600" y="426110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14,026</a:t>
            </a:r>
            <a:endParaRPr lang="en-US" sz="1000" dirty="0"/>
          </a:p>
        </p:txBody>
      </p:sp>
      <p:sp>
        <p:nvSpPr>
          <p:cNvPr id="30" name="Text 28"/>
          <p:cNvSpPr txBox="1"/>
          <p:nvPr/>
        </p:nvSpPr>
        <p:spPr>
          <a:xfrm>
            <a:off x="685800" y="453542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Hosts with a NetBIOS name</a:t>
            </a:r>
            <a:endParaRPr lang="en-US" sz="1000" dirty="0"/>
          </a:p>
        </p:txBody>
      </p:sp>
      <p:sp>
        <p:nvSpPr>
          <p:cNvPr id="31" name="Text 29"/>
          <p:cNvSpPr txBox="1"/>
          <p:nvPr/>
        </p:nvSpPr>
        <p:spPr>
          <a:xfrm>
            <a:off x="3931920" y="453542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4.9%</a:t>
            </a:r>
            <a:endParaRPr lang="en-US" sz="1000" dirty="0"/>
          </a:p>
        </p:txBody>
      </p:sp>
      <p:sp>
        <p:nvSpPr>
          <p:cNvPr id="32" name="Text 30"/>
          <p:cNvSpPr txBox="1"/>
          <p:nvPr/>
        </p:nvSpPr>
        <p:spPr>
          <a:xfrm>
            <a:off x="4800600" y="453542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13,674</a:t>
            </a:r>
            <a:endParaRPr lang="en-US" sz="1000" dirty="0"/>
          </a:p>
        </p:txBody>
      </p:sp>
      <p:sp>
        <p:nvSpPr>
          <p:cNvPr id="33" name="Text 31"/>
          <p:cNvSpPr txBox="1"/>
          <p:nvPr/>
        </p:nvSpPr>
        <p:spPr>
          <a:xfrm>
            <a:off x="685800" y="480974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Hosts with a Qualys host id</a:t>
            </a:r>
            <a:endParaRPr lang="en-US" sz="1000" dirty="0"/>
          </a:p>
        </p:txBody>
      </p:sp>
      <p:sp>
        <p:nvSpPr>
          <p:cNvPr id="34" name="Text 32"/>
          <p:cNvSpPr txBox="1"/>
          <p:nvPr/>
        </p:nvSpPr>
        <p:spPr>
          <a:xfrm>
            <a:off x="3931920" y="480974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1.7%</a:t>
            </a:r>
            <a:endParaRPr lang="en-US" sz="1000" dirty="0"/>
          </a:p>
        </p:txBody>
      </p:sp>
      <p:sp>
        <p:nvSpPr>
          <p:cNvPr id="35" name="Text 33"/>
          <p:cNvSpPr txBox="1"/>
          <p:nvPr/>
        </p:nvSpPr>
        <p:spPr>
          <a:xfrm>
            <a:off x="4800600" y="480974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4,812</a:t>
            </a:r>
            <a:endParaRPr lang="en-US" sz="1000" dirty="0"/>
          </a:p>
        </p:txBody>
      </p:sp>
      <p:sp>
        <p:nvSpPr>
          <p:cNvPr id="36" name="Text 34"/>
          <p:cNvSpPr txBox="1"/>
          <p:nvPr/>
        </p:nvSpPr>
        <p:spPr>
          <a:xfrm>
            <a:off x="685800" y="508406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Hosts with a serial number</a:t>
            </a:r>
            <a:endParaRPr lang="en-US" sz="1000" dirty="0"/>
          </a:p>
        </p:txBody>
      </p:sp>
      <p:sp>
        <p:nvSpPr>
          <p:cNvPr id="37" name="Text 35"/>
          <p:cNvSpPr txBox="1"/>
          <p:nvPr/>
        </p:nvSpPr>
        <p:spPr>
          <a:xfrm>
            <a:off x="3931920" y="508406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0.3%</a:t>
            </a:r>
            <a:endParaRPr lang="en-US" sz="1000" dirty="0"/>
          </a:p>
        </p:txBody>
      </p:sp>
      <p:sp>
        <p:nvSpPr>
          <p:cNvPr id="38" name="Text 36"/>
          <p:cNvSpPr txBox="1"/>
          <p:nvPr/>
        </p:nvSpPr>
        <p:spPr>
          <a:xfrm>
            <a:off x="4800600" y="508406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763</a:t>
            </a:r>
            <a:endParaRPr lang="en-US" sz="1000" dirty="0"/>
          </a:p>
        </p:txBody>
      </p:sp>
      <p:sp>
        <p:nvSpPr>
          <p:cNvPr id="39" name="Text 37"/>
          <p:cNvSpPr txBox="1"/>
          <p:nvPr/>
        </p:nvSpPr>
        <p:spPr>
          <a:xfrm>
            <a:off x="685800" y="5358384"/>
            <a:ext cx="3200400" cy="237744"/>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Hosts scanned by the Cloud Agent</a:t>
            </a:r>
            <a:endParaRPr lang="en-US" sz="1000" dirty="0"/>
          </a:p>
        </p:txBody>
      </p:sp>
      <p:sp>
        <p:nvSpPr>
          <p:cNvPr id="40" name="Text 38"/>
          <p:cNvSpPr txBox="1"/>
          <p:nvPr/>
        </p:nvSpPr>
        <p:spPr>
          <a:xfrm>
            <a:off x="3931920" y="5358384"/>
            <a:ext cx="777240" cy="237744"/>
          </a:xfrm>
          <a:prstGeom prst="rect">
            <a:avLst/>
          </a:prstGeom>
          <a:noFill/>
          <a:ln/>
        </p:spPr>
        <p:txBody>
          <a:bodyPr wrap="square" lIns="0" tIns="0" rIns="0" bIns="0" rtlCol="0" anchor="ctr"/>
          <a:lstStyle/>
          <a:p>
            <a:pPr algn="r" indent="0" marL="0">
              <a:buNone/>
            </a:pPr>
            <a:r>
              <a:rPr lang="en-US" sz="1000" b="1" dirty="0">
                <a:solidFill>
                  <a:srgbClr val="E31837"/>
                </a:solidFill>
                <a:latin typeface="Arial" pitchFamily="34" charset="0"/>
                <a:ea typeface="Arial" pitchFamily="34" charset="-122"/>
                <a:cs typeface="Arial" pitchFamily="34" charset="-120"/>
              </a:rPr>
              <a:t>0.3%</a:t>
            </a:r>
            <a:endParaRPr lang="en-US" sz="1000" dirty="0"/>
          </a:p>
        </p:txBody>
      </p:sp>
      <p:sp>
        <p:nvSpPr>
          <p:cNvPr id="41" name="Text 39"/>
          <p:cNvSpPr txBox="1"/>
          <p:nvPr/>
        </p:nvSpPr>
        <p:spPr>
          <a:xfrm>
            <a:off x="4800600" y="5358384"/>
            <a:ext cx="960120" cy="237744"/>
          </a:xfrm>
          <a:prstGeom prst="rect">
            <a:avLst/>
          </a:prstGeom>
          <a:noFill/>
          <a:ln/>
        </p:spPr>
        <p:txBody>
          <a:bodyPr wrap="square" lIns="0" tIns="0" rIns="0" bIns="0" rtlCol="0" anchor="ctr"/>
          <a:lstStyle/>
          <a:p>
            <a:pPr algn="r" indent="0" marL="0">
              <a:buNone/>
            </a:pPr>
            <a:r>
              <a:rPr lang="en-US" sz="1000" dirty="0">
                <a:solidFill>
                  <a:srgbClr val="6B7177"/>
                </a:solidFill>
                <a:latin typeface="Arial" pitchFamily="34" charset="0"/>
                <a:ea typeface="Arial" pitchFamily="34" charset="-122"/>
                <a:cs typeface="Arial" pitchFamily="34" charset="-120"/>
              </a:rPr>
              <a:t>704</a:t>
            </a:r>
            <a:endParaRPr lang="en-US" sz="1000" dirty="0"/>
          </a:p>
        </p:txBody>
      </p:sp>
      <p:sp>
        <p:nvSpPr>
          <p:cNvPr id="42" name="Shape 40"/>
          <p:cNvSpPr/>
          <p:nvPr/>
        </p:nvSpPr>
        <p:spPr>
          <a:xfrm>
            <a:off x="6199632" y="2962656"/>
            <a:ext cx="5532120" cy="2743200"/>
          </a:xfrm>
          <a:prstGeom prst="roundRect">
            <a:avLst>
              <a:gd name="adj" fmla="val 166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43" name="Text 41"/>
          <p:cNvSpPr txBox="1"/>
          <p:nvPr/>
        </p:nvSpPr>
        <p:spPr>
          <a:xfrm>
            <a:off x="6428232" y="3090672"/>
            <a:ext cx="50292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What the numbers decided</a:t>
            </a:r>
            <a:endParaRPr lang="en-US" sz="1400" dirty="0"/>
          </a:p>
        </p:txBody>
      </p:sp>
      <p:sp>
        <p:nvSpPr>
          <p:cNvPr id="44" name="Text 42"/>
          <p:cNvSpPr txBox="1"/>
          <p:nvPr/>
        </p:nvSpPr>
        <p:spPr>
          <a:xfrm>
            <a:off x="6428232" y="3456432"/>
            <a:ext cx="5074920" cy="237744"/>
          </a:xfrm>
          <a:prstGeom prst="rect">
            <a:avLst/>
          </a:prstGeom>
          <a:noFill/>
          <a:ln/>
        </p:spPr>
        <p:txBody>
          <a:bodyPr wrap="square" lIns="0" tIns="0" rIns="0" bIns="0" rtlCol="0" anchor="ctr"/>
          <a:lstStyle/>
          <a:p>
            <a:pPr indent="0" marL="0">
              <a:buNone/>
            </a:pPr>
            <a:r>
              <a:rPr lang="en-US" sz="1150" b="1" dirty="0">
                <a:solidFill>
                  <a:srgbClr val="24272A"/>
                </a:solidFill>
                <a:latin typeface="Arial" pitchFamily="34" charset="0"/>
                <a:ea typeface="Arial" pitchFamily="34" charset="-122"/>
                <a:cs typeface="Arial" pitchFamily="34" charset="-120"/>
              </a:rPr>
              <a:t>Names carry the load</a:t>
            </a:r>
            <a:endParaRPr lang="en-US" sz="1150" dirty="0"/>
          </a:p>
        </p:txBody>
      </p:sp>
      <p:sp>
        <p:nvSpPr>
          <p:cNvPr id="45" name="Text 43"/>
          <p:cNvSpPr txBox="1"/>
          <p:nvPr/>
        </p:nvSpPr>
        <p:spPr>
          <a:xfrm>
            <a:off x="6428232" y="3694176"/>
            <a:ext cx="5074920" cy="475488"/>
          </a:xfrm>
          <a:prstGeom prst="rect">
            <a:avLst/>
          </a:prstGeom>
          <a:noFill/>
          <a:ln/>
        </p:spPr>
        <p:txBody>
          <a:bodyPr wrap="square" lIns="0" tIns="0" rIns="0" bIns="0" rtlCol="0" anchor="t"/>
          <a:lstStyle/>
          <a:p>
            <a:pPr indent="0" marL="0">
              <a:buNone/>
            </a:pPr>
            <a:r>
              <a:rPr lang="en-US" sz="1000" dirty="0">
                <a:solidFill>
                  <a:srgbClr val="6B7177"/>
                </a:solidFill>
                <a:latin typeface="Arial" pitchFamily="34" charset="0"/>
                <a:ea typeface="Arial" pitchFamily="34" charset="-122"/>
                <a:cs typeface="Arial" pitchFamily="34" charset="-120"/>
              </a:rPr>
              <a:t>With serials on 0.3% of hosts and cloud ids on none, the name rules are where matching is won or lost. Eight of the nineteen rules work on the DNS field.</a:t>
            </a:r>
            <a:endParaRPr lang="en-US" sz="1000" dirty="0"/>
          </a:p>
        </p:txBody>
      </p:sp>
      <p:sp>
        <p:nvSpPr>
          <p:cNvPr id="46" name="Text 44"/>
          <p:cNvSpPr txBox="1"/>
          <p:nvPr/>
        </p:nvSpPr>
        <p:spPr>
          <a:xfrm>
            <a:off x="6428232" y="4206240"/>
            <a:ext cx="5074920" cy="237744"/>
          </a:xfrm>
          <a:prstGeom prst="rect">
            <a:avLst/>
          </a:prstGeom>
          <a:noFill/>
          <a:ln/>
        </p:spPr>
        <p:txBody>
          <a:bodyPr wrap="square" lIns="0" tIns="0" rIns="0" bIns="0" rtlCol="0" anchor="ctr"/>
          <a:lstStyle/>
          <a:p>
            <a:pPr indent="0" marL="0">
              <a:buNone/>
            </a:pPr>
            <a:r>
              <a:rPr lang="en-US" sz="1150" b="1" dirty="0">
                <a:solidFill>
                  <a:srgbClr val="24272A"/>
                </a:solidFill>
                <a:latin typeface="Arial" pitchFamily="34" charset="0"/>
                <a:ea typeface="Arial" pitchFamily="34" charset="-122"/>
                <a:cs typeface="Arial" pitchFamily="34" charset="-120"/>
              </a:rPr>
              <a:t>Class evidence is thin</a:t>
            </a:r>
            <a:endParaRPr lang="en-US" sz="1150" dirty="0"/>
          </a:p>
        </p:txBody>
      </p:sp>
      <p:sp>
        <p:nvSpPr>
          <p:cNvPr id="47" name="Text 45"/>
          <p:cNvSpPr txBox="1"/>
          <p:nvPr/>
        </p:nvSpPr>
        <p:spPr>
          <a:xfrm>
            <a:off x="6428232" y="4443984"/>
            <a:ext cx="5074920" cy="475488"/>
          </a:xfrm>
          <a:prstGeom prst="rect">
            <a:avLst/>
          </a:prstGeom>
          <a:noFill/>
          <a:ln/>
        </p:spPr>
        <p:txBody>
          <a:bodyPr wrap="square" lIns="0" tIns="0" rIns="0" bIns="0" rtlCol="0" anchor="t"/>
          <a:lstStyle/>
          <a:p>
            <a:pPr indent="0" marL="0">
              <a:buNone/>
            </a:pPr>
            <a:r>
              <a:rPr lang="en-US" sz="1000" dirty="0">
                <a:solidFill>
                  <a:srgbClr val="6B7177"/>
                </a:solidFill>
                <a:latin typeface="Arial" pitchFamily="34" charset="0"/>
                <a:ea typeface="Arial" pitchFamily="34" charset="-122"/>
                <a:cs typeface="Arial" pitchFamily="34" charset="-120"/>
              </a:rPr>
              <a:t>A third of hosts report no OS and a further twentieth report a list of guesses. Every class-scoped rule therefore has a hardware-wide twin behind it.</a:t>
            </a:r>
            <a:endParaRPr lang="en-US" sz="1000" dirty="0"/>
          </a:p>
        </p:txBody>
      </p:sp>
      <p:sp>
        <p:nvSpPr>
          <p:cNvPr id="48" name="Text 46"/>
          <p:cNvSpPr txBox="1"/>
          <p:nvPr/>
        </p:nvSpPr>
        <p:spPr>
          <a:xfrm>
            <a:off x="6428232" y="4956048"/>
            <a:ext cx="5074920" cy="237744"/>
          </a:xfrm>
          <a:prstGeom prst="rect">
            <a:avLst/>
          </a:prstGeom>
          <a:noFill/>
          <a:ln/>
        </p:spPr>
        <p:txBody>
          <a:bodyPr wrap="square" lIns="0" tIns="0" rIns="0" bIns="0" rtlCol="0" anchor="ctr"/>
          <a:lstStyle/>
          <a:p>
            <a:pPr indent="0" marL="0">
              <a:buNone/>
            </a:pPr>
            <a:r>
              <a:rPr lang="en-US" sz="1150" b="1" dirty="0">
                <a:solidFill>
                  <a:srgbClr val="24272A"/>
                </a:solidFill>
                <a:latin typeface="Arial" pitchFamily="34" charset="0"/>
                <a:ea typeface="Arial" pitchFamily="34" charset="-122"/>
                <a:cs typeface="Arial" pitchFamily="34" charset="-120"/>
              </a:rPr>
              <a:t>The label describes the part</a:t>
            </a:r>
            <a:endParaRPr lang="en-US" sz="1150" dirty="0"/>
          </a:p>
        </p:txBody>
      </p:sp>
      <p:sp>
        <p:nvSpPr>
          <p:cNvPr id="49" name="Text 47"/>
          <p:cNvSpPr txBox="1"/>
          <p:nvPr/>
        </p:nvSpPr>
        <p:spPr>
          <a:xfrm>
            <a:off x="6428232" y="5193792"/>
            <a:ext cx="5074920" cy="475488"/>
          </a:xfrm>
          <a:prstGeom prst="rect">
            <a:avLst/>
          </a:prstGeom>
          <a:noFill/>
          <a:ln/>
        </p:spPr>
        <p:txBody>
          <a:bodyPr wrap="square" lIns="0" tIns="0" rIns="0" bIns="0" rtlCol="0" anchor="t"/>
          <a:lstStyle/>
          <a:p>
            <a:pPr indent="0" marL="0">
              <a:buNone/>
            </a:pPr>
            <a:r>
              <a:rPr lang="en-US" sz="1000" dirty="0">
                <a:solidFill>
                  <a:srgbClr val="6B7177"/>
                </a:solidFill>
                <a:latin typeface="Arial" pitchFamily="34" charset="0"/>
                <a:ea typeface="Arial" pitchFamily="34" charset="-122"/>
                <a:cs typeface="Arial" pitchFamily="34" charset="-120"/>
              </a:rPr>
              <a:t>In the three new groups the DNS name is present and accurate; it just names a controller, a port or a VIP rather than the machine. That is a parsing problem, not a data gap.</a:t>
            </a:r>
            <a:endParaRPr lang="en-US" sz="1000" dirty="0"/>
          </a:p>
        </p:txBody>
      </p:sp>
      <p:sp>
        <p:nvSpPr>
          <p:cNvPr id="50" name="Text 48"/>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Percentages are of the profiled sample; host counts are projected onto the 281,700 unmatched Discovered Items.</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VOCABULARY</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The lists that drive the new rules</a:t>
            </a:r>
            <a:endParaRPr lang="en-US" sz="3000" dirty="0"/>
          </a:p>
        </p:txBody>
      </p:sp>
      <p:sp>
        <p:nvSpPr>
          <p:cNvPr id="4" name="Text 2"/>
          <p:cNvSpPr txBox="1"/>
          <p:nvPr/>
        </p:nvSpPr>
        <p:spPr>
          <a:xfrm>
            <a:off x="457200" y="1316736"/>
            <a:ext cx="11247120" cy="365760"/>
          </a:xfrm>
          <a:prstGeom prst="rect">
            <a:avLst/>
          </a:prstGeom>
          <a:noFill/>
          <a:ln/>
        </p:spPr>
        <p:txBody>
          <a:bodyPr wrap="square" lIns="0" tIns="0" rIns="0" bIns="0" rtlCol="0" anchor="ctr"/>
          <a:lstStyle/>
          <a:p>
            <a:pPr indent="0" marL="0">
              <a:buNone/>
            </a:pPr>
            <a:r>
              <a:rPr lang="en-US" sz="1200" dirty="0">
                <a:solidFill>
                  <a:srgbClr val="6B7177"/>
                </a:solidFill>
                <a:latin typeface="Arial" pitchFamily="34" charset="0"/>
                <a:ea typeface="Arial" pitchFamily="34" charset="-122"/>
                <a:cs typeface="Arial" pitchFamily="34" charset="-120"/>
              </a:rPr>
              <a:t>The three new rules each depend on a vocabulary: which suffixes mark a controller, which segments mark an interface, which words name a load balancer. Each list is declared in the script itself, at the top of the stage that reads it, so a reviewer sees the words beside the code that uses them and nothing outside the rule has to exist for it to run.</a:t>
            </a:r>
            <a:endParaRPr lang="en-US" sz="1200" dirty="0"/>
          </a:p>
        </p:txBody>
      </p:sp>
      <p:sp>
        <p:nvSpPr>
          <p:cNvPr id="5" name="Shape 3"/>
          <p:cNvSpPr/>
          <p:nvPr/>
        </p:nvSpPr>
        <p:spPr>
          <a:xfrm>
            <a:off x="457200" y="1792224"/>
            <a:ext cx="11274552" cy="640080"/>
          </a:xfrm>
          <a:prstGeom prst="roundRect">
            <a:avLst>
              <a:gd name="adj" fmla="val 714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6" name="Shape 4"/>
          <p:cNvSpPr/>
          <p:nvPr/>
        </p:nvSpPr>
        <p:spPr>
          <a:xfrm>
            <a:off x="658368" y="1874520"/>
            <a:ext cx="457200" cy="237744"/>
          </a:xfrm>
          <a:prstGeom prst="roundRect">
            <a:avLst>
              <a:gd name="adj" fmla="val 61538"/>
            </a:avLst>
          </a:prstGeom>
          <a:solidFill>
            <a:srgbClr val="E31837"/>
          </a:solidFill>
          <a:ln w="12700">
            <a:solidFill>
              <a:srgbClr val="333333"/>
            </a:solidFill>
            <a:prstDash val="solid"/>
          </a:ln>
        </p:spPr>
      </p:sp>
      <p:sp>
        <p:nvSpPr>
          <p:cNvPr id="7" name="Text 5"/>
          <p:cNvSpPr txBox="1"/>
          <p:nvPr/>
        </p:nvSpPr>
        <p:spPr>
          <a:xfrm>
            <a:off x="658368" y="1874520"/>
            <a:ext cx="4572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420</a:t>
            </a:r>
            <a:endParaRPr lang="en-US" sz="1300" dirty="0"/>
          </a:p>
        </p:txBody>
      </p:sp>
      <p:sp>
        <p:nvSpPr>
          <p:cNvPr id="8" name="Text 6"/>
          <p:cNvSpPr txBox="1"/>
          <p:nvPr/>
        </p:nvSpPr>
        <p:spPr>
          <a:xfrm>
            <a:off x="1243584" y="1865376"/>
            <a:ext cx="2377440" cy="256032"/>
          </a:xfrm>
          <a:prstGeom prst="rect">
            <a:avLst/>
          </a:prstGeom>
          <a:noFill/>
          <a:ln/>
        </p:spPr>
        <p:txBody>
          <a:bodyPr wrap="square" lIns="0" tIns="0" rIns="0" bIns="0" rtlCol="0" anchor="ctr"/>
          <a:lstStyle/>
          <a:p>
            <a:pPr indent="0" marL="0">
              <a:buNone/>
            </a:pPr>
            <a:r>
              <a:rPr lang="en-US" sz="1000" b="1" dirty="0">
                <a:solidFill>
                  <a:srgbClr val="E31837"/>
                </a:solidFill>
                <a:latin typeface="Courier New" pitchFamily="34" charset="0"/>
                <a:ea typeface="Courier New" pitchFamily="34" charset="-122"/>
                <a:cs typeface="Courier New" pitchFamily="34" charset="-120"/>
              </a:rPr>
              <a:t>var suffixes</a:t>
            </a:r>
            <a:endParaRPr lang="en-US" sz="1000" dirty="0"/>
          </a:p>
        </p:txBody>
      </p:sp>
      <p:sp>
        <p:nvSpPr>
          <p:cNvPr id="9" name="Text 7"/>
          <p:cNvSpPr txBox="1"/>
          <p:nvPr/>
        </p:nvSpPr>
        <p:spPr>
          <a:xfrm>
            <a:off x="3749040" y="1865376"/>
            <a:ext cx="7680960" cy="256032"/>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Label suffixes that mark a management controller.</a:t>
            </a:r>
            <a:endParaRPr lang="en-US" sz="1000" dirty="0"/>
          </a:p>
        </p:txBody>
      </p:sp>
      <p:sp>
        <p:nvSpPr>
          <p:cNvPr id="10" name="Text 8"/>
          <p:cNvSpPr txBox="1"/>
          <p:nvPr/>
        </p:nvSpPr>
        <p:spPr>
          <a:xfrm>
            <a:off x="1243584" y="2139696"/>
            <a:ext cx="10241280" cy="237744"/>
          </a:xfrm>
          <a:prstGeom prst="rect">
            <a:avLst/>
          </a:prstGeom>
          <a:noFill/>
          <a:ln/>
        </p:spPr>
        <p:txBody>
          <a:bodyPr wrap="square" lIns="0" tIns="0" rIns="0" bIns="0" rtlCol="0" anchor="ctr"/>
          <a:lstStyle/>
          <a:p>
            <a:pPr indent="0" marL="0">
              <a:buNone/>
            </a:pPr>
            <a:r>
              <a:rPr lang="en-US" sz="900" dirty="0">
                <a:solidFill>
                  <a:srgbClr val="6B7177"/>
                </a:solidFill>
                <a:latin typeface="Courier New" pitchFamily="34" charset="0"/>
                <a:ea typeface="Courier New" pitchFamily="34" charset="-122"/>
                <a:cs typeface="Courier New" pitchFamily="34" charset="-120"/>
              </a:rPr>
              <a:t>['ilo', 'ilom', 'idrac', 'drac', 'ipmi', 'bmc', 'oob', 'mgmt', 'imm', 'cimc', 'rmm', 'con']</a:t>
            </a:r>
            <a:endParaRPr lang="en-US" sz="900" dirty="0"/>
          </a:p>
        </p:txBody>
      </p:sp>
      <p:sp>
        <p:nvSpPr>
          <p:cNvPr id="11" name="Shape 9"/>
          <p:cNvSpPr/>
          <p:nvPr/>
        </p:nvSpPr>
        <p:spPr>
          <a:xfrm>
            <a:off x="457200" y="2505456"/>
            <a:ext cx="11274552" cy="640080"/>
          </a:xfrm>
          <a:prstGeom prst="roundRect">
            <a:avLst>
              <a:gd name="adj" fmla="val 714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2" name="Shape 10"/>
          <p:cNvSpPr/>
          <p:nvPr/>
        </p:nvSpPr>
        <p:spPr>
          <a:xfrm>
            <a:off x="658368" y="2587752"/>
            <a:ext cx="457200" cy="237744"/>
          </a:xfrm>
          <a:prstGeom prst="roundRect">
            <a:avLst>
              <a:gd name="adj" fmla="val 61538"/>
            </a:avLst>
          </a:prstGeom>
          <a:solidFill>
            <a:srgbClr val="E31837"/>
          </a:solidFill>
          <a:ln w="12700">
            <a:solidFill>
              <a:srgbClr val="333333"/>
            </a:solidFill>
            <a:prstDash val="solid"/>
          </a:ln>
        </p:spPr>
      </p:sp>
      <p:sp>
        <p:nvSpPr>
          <p:cNvPr id="13" name="Text 11"/>
          <p:cNvSpPr txBox="1"/>
          <p:nvPr/>
        </p:nvSpPr>
        <p:spPr>
          <a:xfrm>
            <a:off x="658368" y="2587752"/>
            <a:ext cx="4572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420</a:t>
            </a:r>
            <a:endParaRPr lang="en-US" sz="1300" dirty="0"/>
          </a:p>
        </p:txBody>
      </p:sp>
      <p:sp>
        <p:nvSpPr>
          <p:cNvPr id="14" name="Text 12"/>
          <p:cNvSpPr txBox="1"/>
          <p:nvPr/>
        </p:nvSpPr>
        <p:spPr>
          <a:xfrm>
            <a:off x="1243584" y="2578608"/>
            <a:ext cx="2377440" cy="256032"/>
          </a:xfrm>
          <a:prstGeom prst="rect">
            <a:avLst/>
          </a:prstGeom>
          <a:noFill/>
          <a:ln/>
        </p:spPr>
        <p:txBody>
          <a:bodyPr wrap="square" lIns="0" tIns="0" rIns="0" bIns="0" rtlCol="0" anchor="ctr"/>
          <a:lstStyle/>
          <a:p>
            <a:pPr indent="0" marL="0">
              <a:buNone/>
            </a:pPr>
            <a:r>
              <a:rPr lang="en-US" sz="1000" b="1" dirty="0">
                <a:solidFill>
                  <a:srgbClr val="E31837"/>
                </a:solidFill>
                <a:latin typeface="Courier New" pitchFamily="34" charset="0"/>
                <a:ea typeface="Courier New" pitchFamily="34" charset="-122"/>
                <a:cs typeface="Courier New" pitchFamily="34" charset="-120"/>
              </a:rPr>
              <a:t>var markers</a:t>
            </a:r>
            <a:endParaRPr lang="en-US" sz="1000" dirty="0"/>
          </a:p>
        </p:txBody>
      </p:sp>
      <p:sp>
        <p:nvSpPr>
          <p:cNvPr id="15" name="Text 13"/>
          <p:cNvSpPr txBox="1"/>
          <p:nvPr/>
        </p:nvSpPr>
        <p:spPr>
          <a:xfrm>
            <a:off x="3749040" y="2578608"/>
            <a:ext cx="7680960" cy="256032"/>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Controller words in the OS text; the last segment is then stripped whatever it is.</a:t>
            </a:r>
            <a:endParaRPr lang="en-US" sz="1000" dirty="0"/>
          </a:p>
        </p:txBody>
      </p:sp>
      <p:sp>
        <p:nvSpPr>
          <p:cNvPr id="16" name="Text 14"/>
          <p:cNvSpPr txBox="1"/>
          <p:nvPr/>
        </p:nvSpPr>
        <p:spPr>
          <a:xfrm>
            <a:off x="1243584" y="2852928"/>
            <a:ext cx="10241280" cy="237744"/>
          </a:xfrm>
          <a:prstGeom prst="rect">
            <a:avLst/>
          </a:prstGeom>
          <a:noFill/>
          <a:ln/>
        </p:spPr>
        <p:txBody>
          <a:bodyPr wrap="square" lIns="0" tIns="0" rIns="0" bIns="0" rtlCol="0" anchor="ctr"/>
          <a:lstStyle/>
          <a:p>
            <a:pPr indent="0" marL="0">
              <a:buNone/>
            </a:pPr>
            <a:r>
              <a:rPr lang="en-US" sz="900" dirty="0">
                <a:solidFill>
                  <a:srgbClr val="6B7177"/>
                </a:solidFill>
                <a:latin typeface="Courier New" pitchFamily="34" charset="0"/>
                <a:ea typeface="Courier New" pitchFamily="34" charset="-122"/>
                <a:cs typeface="Courier New" pitchFamily="34" charset="-120"/>
              </a:rPr>
              <a:t>['ilo', 'ilom', 'idrac', 'drac', 'remote access controller', 'imm', 'cimc', 'bmc', 'ipmi', 'lights out']</a:t>
            </a:r>
            <a:endParaRPr lang="en-US" sz="900" dirty="0"/>
          </a:p>
        </p:txBody>
      </p:sp>
      <p:sp>
        <p:nvSpPr>
          <p:cNvPr id="17" name="Shape 15"/>
          <p:cNvSpPr/>
          <p:nvPr/>
        </p:nvSpPr>
        <p:spPr>
          <a:xfrm>
            <a:off x="457200" y="3218688"/>
            <a:ext cx="11274552" cy="640080"/>
          </a:xfrm>
          <a:prstGeom prst="roundRect">
            <a:avLst>
              <a:gd name="adj" fmla="val 714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8" name="Shape 16"/>
          <p:cNvSpPr/>
          <p:nvPr/>
        </p:nvSpPr>
        <p:spPr>
          <a:xfrm>
            <a:off x="658368" y="3300984"/>
            <a:ext cx="457200" cy="237744"/>
          </a:xfrm>
          <a:prstGeom prst="roundRect">
            <a:avLst>
              <a:gd name="adj" fmla="val 61538"/>
            </a:avLst>
          </a:prstGeom>
          <a:solidFill>
            <a:srgbClr val="E31837"/>
          </a:solidFill>
          <a:ln w="12700">
            <a:solidFill>
              <a:srgbClr val="333333"/>
            </a:solidFill>
            <a:prstDash val="solid"/>
          </a:ln>
        </p:spPr>
      </p:sp>
      <p:sp>
        <p:nvSpPr>
          <p:cNvPr id="19" name="Text 17"/>
          <p:cNvSpPr txBox="1"/>
          <p:nvPr/>
        </p:nvSpPr>
        <p:spPr>
          <a:xfrm>
            <a:off x="658368" y="3300984"/>
            <a:ext cx="4572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430</a:t>
            </a:r>
            <a:endParaRPr lang="en-US" sz="1300" dirty="0"/>
          </a:p>
        </p:txBody>
      </p:sp>
      <p:sp>
        <p:nvSpPr>
          <p:cNvPr id="20" name="Text 18"/>
          <p:cNvSpPr txBox="1"/>
          <p:nvPr/>
        </p:nvSpPr>
        <p:spPr>
          <a:xfrm>
            <a:off x="1243584" y="3291840"/>
            <a:ext cx="2377440" cy="256032"/>
          </a:xfrm>
          <a:prstGeom prst="rect">
            <a:avLst/>
          </a:prstGeom>
          <a:noFill/>
          <a:ln/>
        </p:spPr>
        <p:txBody>
          <a:bodyPr wrap="square" lIns="0" tIns="0" rIns="0" bIns="0" rtlCol="0" anchor="ctr"/>
          <a:lstStyle/>
          <a:p>
            <a:pPr indent="0" marL="0">
              <a:buNone/>
            </a:pPr>
            <a:r>
              <a:rPr lang="en-US" sz="1000" b="1" dirty="0">
                <a:solidFill>
                  <a:srgbClr val="E31837"/>
                </a:solidFill>
                <a:latin typeface="Courier New" pitchFamily="34" charset="0"/>
                <a:ea typeface="Courier New" pitchFamily="34" charset="-122"/>
                <a:cs typeface="Courier New" pitchFamily="34" charset="-120"/>
              </a:rPr>
              <a:t>var domains</a:t>
            </a:r>
            <a:endParaRPr lang="en-US" sz="1000" dirty="0"/>
          </a:p>
        </p:txBody>
      </p:sp>
      <p:sp>
        <p:nvSpPr>
          <p:cNvPr id="21" name="Text 19"/>
          <p:cNvSpPr txBox="1"/>
          <p:nvPr/>
        </p:nvSpPr>
        <p:spPr>
          <a:xfrm>
            <a:off x="3749040" y="3291840"/>
            <a:ext cx="7680960" cy="256032"/>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DNS domains under which network devices are scanned per interface.</a:t>
            </a:r>
            <a:endParaRPr lang="en-US" sz="1000" dirty="0"/>
          </a:p>
        </p:txBody>
      </p:sp>
      <p:sp>
        <p:nvSpPr>
          <p:cNvPr id="22" name="Text 20"/>
          <p:cNvSpPr txBox="1"/>
          <p:nvPr/>
        </p:nvSpPr>
        <p:spPr>
          <a:xfrm>
            <a:off x="1243584" y="3566160"/>
            <a:ext cx="10241280" cy="237744"/>
          </a:xfrm>
          <a:prstGeom prst="rect">
            <a:avLst/>
          </a:prstGeom>
          <a:noFill/>
          <a:ln/>
        </p:spPr>
        <p:txBody>
          <a:bodyPr wrap="square" lIns="0" tIns="0" rIns="0" bIns="0" rtlCol="0" anchor="ctr"/>
          <a:lstStyle/>
          <a:p>
            <a:pPr indent="0" marL="0">
              <a:buNone/>
            </a:pPr>
            <a:r>
              <a:rPr lang="en-US" sz="900" dirty="0">
                <a:solidFill>
                  <a:srgbClr val="6B7177"/>
                </a:solidFill>
                <a:latin typeface="Courier New" pitchFamily="34" charset="0"/>
                <a:ea typeface="Courier New" pitchFamily="34" charset="-122"/>
                <a:cs typeface="Courier New" pitchFamily="34" charset="-120"/>
              </a:rPr>
              <a:t>['.network.']</a:t>
            </a:r>
            <a:endParaRPr lang="en-US" sz="900" dirty="0"/>
          </a:p>
        </p:txBody>
      </p:sp>
      <p:sp>
        <p:nvSpPr>
          <p:cNvPr id="23" name="Shape 21"/>
          <p:cNvSpPr/>
          <p:nvPr/>
        </p:nvSpPr>
        <p:spPr>
          <a:xfrm>
            <a:off x="457200" y="3931920"/>
            <a:ext cx="11274552" cy="640080"/>
          </a:xfrm>
          <a:prstGeom prst="roundRect">
            <a:avLst>
              <a:gd name="adj" fmla="val 714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4" name="Shape 22"/>
          <p:cNvSpPr/>
          <p:nvPr/>
        </p:nvSpPr>
        <p:spPr>
          <a:xfrm>
            <a:off x="658368" y="4014216"/>
            <a:ext cx="457200" cy="237744"/>
          </a:xfrm>
          <a:prstGeom prst="roundRect">
            <a:avLst>
              <a:gd name="adj" fmla="val 61538"/>
            </a:avLst>
          </a:prstGeom>
          <a:solidFill>
            <a:srgbClr val="E31837"/>
          </a:solidFill>
          <a:ln w="12700">
            <a:solidFill>
              <a:srgbClr val="333333"/>
            </a:solidFill>
            <a:prstDash val="solid"/>
          </a:ln>
        </p:spPr>
      </p:sp>
      <p:sp>
        <p:nvSpPr>
          <p:cNvPr id="25" name="Text 23"/>
          <p:cNvSpPr txBox="1"/>
          <p:nvPr/>
        </p:nvSpPr>
        <p:spPr>
          <a:xfrm>
            <a:off x="658368" y="4014216"/>
            <a:ext cx="4572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430</a:t>
            </a:r>
            <a:endParaRPr lang="en-US" sz="1300" dirty="0"/>
          </a:p>
        </p:txBody>
      </p:sp>
      <p:sp>
        <p:nvSpPr>
          <p:cNvPr id="26" name="Text 24"/>
          <p:cNvSpPr txBox="1"/>
          <p:nvPr/>
        </p:nvSpPr>
        <p:spPr>
          <a:xfrm>
            <a:off x="1243584" y="4005072"/>
            <a:ext cx="2377440" cy="256032"/>
          </a:xfrm>
          <a:prstGeom prst="rect">
            <a:avLst/>
          </a:prstGeom>
          <a:noFill/>
          <a:ln/>
        </p:spPr>
        <p:txBody>
          <a:bodyPr wrap="square" lIns="0" tIns="0" rIns="0" bIns="0" rtlCol="0" anchor="ctr"/>
          <a:lstStyle/>
          <a:p>
            <a:pPr indent="0" marL="0">
              <a:buNone/>
            </a:pPr>
            <a:r>
              <a:rPr lang="en-US" sz="1000" b="1" dirty="0">
                <a:solidFill>
                  <a:srgbClr val="E31837"/>
                </a:solidFill>
                <a:latin typeface="Courier New" pitchFamily="34" charset="0"/>
                <a:ea typeface="Courier New" pitchFamily="34" charset="-122"/>
                <a:cs typeface="Courier New" pitchFamily="34" charset="-120"/>
              </a:rPr>
              <a:t>var markers</a:t>
            </a:r>
            <a:endParaRPr lang="en-US" sz="1000" dirty="0"/>
          </a:p>
        </p:txBody>
      </p:sp>
      <p:sp>
        <p:nvSpPr>
          <p:cNvPr id="27" name="Text 25"/>
          <p:cNvSpPr txBox="1"/>
          <p:nvPr/>
        </p:nvSpPr>
        <p:spPr>
          <a:xfrm>
            <a:off x="3749040" y="4005072"/>
            <a:ext cx="7680960" cy="256032"/>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Label segments that mark an interface or VLAN address.</a:t>
            </a:r>
            <a:endParaRPr lang="en-US" sz="1000" dirty="0"/>
          </a:p>
        </p:txBody>
      </p:sp>
      <p:sp>
        <p:nvSpPr>
          <p:cNvPr id="28" name="Text 26"/>
          <p:cNvSpPr txBox="1"/>
          <p:nvPr/>
        </p:nvSpPr>
        <p:spPr>
          <a:xfrm>
            <a:off x="1243584" y="4279392"/>
            <a:ext cx="10241280" cy="237744"/>
          </a:xfrm>
          <a:prstGeom prst="rect">
            <a:avLst/>
          </a:prstGeom>
          <a:noFill/>
          <a:ln/>
        </p:spPr>
        <p:txBody>
          <a:bodyPr wrap="square" lIns="0" tIns="0" rIns="0" bIns="0" rtlCol="0" anchor="ctr"/>
          <a:lstStyle/>
          <a:p>
            <a:pPr indent="0" marL="0">
              <a:buNone/>
            </a:pPr>
            <a:r>
              <a:rPr lang="en-US" sz="900" dirty="0">
                <a:solidFill>
                  <a:srgbClr val="6B7177"/>
                </a:solidFill>
                <a:latin typeface="Courier New" pitchFamily="34" charset="0"/>
                <a:ea typeface="Courier New" pitchFamily="34" charset="-122"/>
                <a:cs typeface="Courier New" pitchFamily="34" charset="-120"/>
              </a:rPr>
              <a:t>['vlan', 'v', 'hsrp', 'vrrp', 'po', 'eth', 'gi', 'te', 'lo', 'mgmt', 'aom', 'vs', 'fab']</a:t>
            </a:r>
            <a:endParaRPr lang="en-US" sz="900" dirty="0"/>
          </a:p>
        </p:txBody>
      </p:sp>
      <p:sp>
        <p:nvSpPr>
          <p:cNvPr id="29" name="Shape 27"/>
          <p:cNvSpPr/>
          <p:nvPr/>
        </p:nvSpPr>
        <p:spPr>
          <a:xfrm>
            <a:off x="457200" y="4645152"/>
            <a:ext cx="11274552" cy="640080"/>
          </a:xfrm>
          <a:prstGeom prst="roundRect">
            <a:avLst>
              <a:gd name="adj" fmla="val 714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0" name="Shape 28"/>
          <p:cNvSpPr/>
          <p:nvPr/>
        </p:nvSpPr>
        <p:spPr>
          <a:xfrm>
            <a:off x="658368" y="4727448"/>
            <a:ext cx="457200" cy="237744"/>
          </a:xfrm>
          <a:prstGeom prst="roundRect">
            <a:avLst>
              <a:gd name="adj" fmla="val 61538"/>
            </a:avLst>
          </a:prstGeom>
          <a:solidFill>
            <a:srgbClr val="E31837"/>
          </a:solidFill>
          <a:ln w="12700">
            <a:solidFill>
              <a:srgbClr val="333333"/>
            </a:solidFill>
            <a:prstDash val="solid"/>
          </a:ln>
        </p:spPr>
      </p:sp>
      <p:sp>
        <p:nvSpPr>
          <p:cNvPr id="31" name="Text 29"/>
          <p:cNvSpPr txBox="1"/>
          <p:nvPr/>
        </p:nvSpPr>
        <p:spPr>
          <a:xfrm>
            <a:off x="658368" y="4727448"/>
            <a:ext cx="4572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460</a:t>
            </a:r>
            <a:endParaRPr lang="en-US" sz="1300" dirty="0"/>
          </a:p>
        </p:txBody>
      </p:sp>
      <p:sp>
        <p:nvSpPr>
          <p:cNvPr id="32" name="Text 30"/>
          <p:cNvSpPr txBox="1"/>
          <p:nvPr/>
        </p:nvSpPr>
        <p:spPr>
          <a:xfrm>
            <a:off x="1243584" y="4718304"/>
            <a:ext cx="2377440" cy="256032"/>
          </a:xfrm>
          <a:prstGeom prst="rect">
            <a:avLst/>
          </a:prstGeom>
          <a:noFill/>
          <a:ln/>
        </p:spPr>
        <p:txBody>
          <a:bodyPr wrap="square" lIns="0" tIns="0" rIns="0" bIns="0" rtlCol="0" anchor="ctr"/>
          <a:lstStyle/>
          <a:p>
            <a:pPr indent="0" marL="0">
              <a:buNone/>
            </a:pPr>
            <a:r>
              <a:rPr lang="en-US" sz="1000" b="1" dirty="0">
                <a:solidFill>
                  <a:srgbClr val="E31837"/>
                </a:solidFill>
                <a:latin typeface="Courier New" pitchFamily="34" charset="0"/>
                <a:ea typeface="Courier New" pitchFamily="34" charset="-122"/>
                <a:cs typeface="Courier New" pitchFamily="34" charset="-120"/>
              </a:rPr>
              <a:t>var osMarkers</a:t>
            </a:r>
            <a:endParaRPr lang="en-US" sz="1000" dirty="0"/>
          </a:p>
        </p:txBody>
      </p:sp>
      <p:sp>
        <p:nvSpPr>
          <p:cNvPr id="33" name="Text 31"/>
          <p:cNvSpPr txBox="1"/>
          <p:nvPr/>
        </p:nvSpPr>
        <p:spPr>
          <a:xfrm>
            <a:off x="3749040" y="4718304"/>
            <a:ext cx="7680960" cy="256032"/>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Load balancer products in the OS text.</a:t>
            </a:r>
            <a:endParaRPr lang="en-US" sz="1000" dirty="0"/>
          </a:p>
        </p:txBody>
      </p:sp>
      <p:sp>
        <p:nvSpPr>
          <p:cNvPr id="34" name="Text 32"/>
          <p:cNvSpPr txBox="1"/>
          <p:nvPr/>
        </p:nvSpPr>
        <p:spPr>
          <a:xfrm>
            <a:off x="1243584" y="4992624"/>
            <a:ext cx="10241280" cy="237744"/>
          </a:xfrm>
          <a:prstGeom prst="rect">
            <a:avLst/>
          </a:prstGeom>
          <a:noFill/>
          <a:ln/>
        </p:spPr>
        <p:txBody>
          <a:bodyPr wrap="square" lIns="0" tIns="0" rIns="0" bIns="0" rtlCol="0" anchor="ctr"/>
          <a:lstStyle/>
          <a:p>
            <a:pPr indent="0" marL="0">
              <a:buNone/>
            </a:pPr>
            <a:r>
              <a:rPr lang="en-US" sz="900" dirty="0">
                <a:solidFill>
                  <a:srgbClr val="6B7177"/>
                </a:solidFill>
                <a:latin typeface="Courier New" pitchFamily="34" charset="0"/>
                <a:ea typeface="Courier New" pitchFamily="34" charset="-122"/>
                <a:cs typeface="Courier New" pitchFamily="34" charset="-120"/>
              </a:rPr>
              <a:t>['f5', 'big-ip', 'big ip', 'netscaler']</a:t>
            </a:r>
            <a:endParaRPr lang="en-US" sz="900" dirty="0"/>
          </a:p>
        </p:txBody>
      </p:sp>
      <p:sp>
        <p:nvSpPr>
          <p:cNvPr id="35" name="Shape 33"/>
          <p:cNvSpPr/>
          <p:nvPr/>
        </p:nvSpPr>
        <p:spPr>
          <a:xfrm>
            <a:off x="457200" y="5358384"/>
            <a:ext cx="11274552" cy="640080"/>
          </a:xfrm>
          <a:prstGeom prst="roundRect">
            <a:avLst>
              <a:gd name="adj" fmla="val 714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6" name="Shape 34"/>
          <p:cNvSpPr/>
          <p:nvPr/>
        </p:nvSpPr>
        <p:spPr>
          <a:xfrm>
            <a:off x="658368" y="5440680"/>
            <a:ext cx="457200" cy="237744"/>
          </a:xfrm>
          <a:prstGeom prst="roundRect">
            <a:avLst>
              <a:gd name="adj" fmla="val 61538"/>
            </a:avLst>
          </a:prstGeom>
          <a:solidFill>
            <a:srgbClr val="E31837"/>
          </a:solidFill>
          <a:ln w="12700">
            <a:solidFill>
              <a:srgbClr val="333333"/>
            </a:solidFill>
            <a:prstDash val="solid"/>
          </a:ln>
        </p:spPr>
      </p:sp>
      <p:sp>
        <p:nvSpPr>
          <p:cNvPr id="37" name="Text 35"/>
          <p:cNvSpPr txBox="1"/>
          <p:nvPr/>
        </p:nvSpPr>
        <p:spPr>
          <a:xfrm>
            <a:off x="658368" y="5440680"/>
            <a:ext cx="457200" cy="237744"/>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460</a:t>
            </a:r>
            <a:endParaRPr lang="en-US" sz="1300" dirty="0"/>
          </a:p>
        </p:txBody>
      </p:sp>
      <p:sp>
        <p:nvSpPr>
          <p:cNvPr id="38" name="Text 36"/>
          <p:cNvSpPr txBox="1"/>
          <p:nvPr/>
        </p:nvSpPr>
        <p:spPr>
          <a:xfrm>
            <a:off x="1243584" y="5431536"/>
            <a:ext cx="2377440" cy="256032"/>
          </a:xfrm>
          <a:prstGeom prst="rect">
            <a:avLst/>
          </a:prstGeom>
          <a:noFill/>
          <a:ln/>
        </p:spPr>
        <p:txBody>
          <a:bodyPr wrap="square" lIns="0" tIns="0" rIns="0" bIns="0" rtlCol="0" anchor="ctr"/>
          <a:lstStyle/>
          <a:p>
            <a:pPr indent="0" marL="0">
              <a:buNone/>
            </a:pPr>
            <a:r>
              <a:rPr lang="en-US" sz="1000" b="1" dirty="0">
                <a:solidFill>
                  <a:srgbClr val="E31837"/>
                </a:solidFill>
                <a:latin typeface="Courier New" pitchFamily="34" charset="0"/>
                <a:ea typeface="Courier New" pitchFamily="34" charset="-122"/>
                <a:cs typeface="Courier New" pitchFamily="34" charset="-120"/>
              </a:rPr>
              <a:t>var labelMarkers</a:t>
            </a:r>
            <a:endParaRPr lang="en-US" sz="1000" dirty="0"/>
          </a:p>
        </p:txBody>
      </p:sp>
      <p:sp>
        <p:nvSpPr>
          <p:cNvPr id="39" name="Text 37"/>
          <p:cNvSpPr txBox="1"/>
          <p:nvPr/>
        </p:nvSpPr>
        <p:spPr>
          <a:xfrm>
            <a:off x="3749040" y="5431536"/>
            <a:ext cx="7680960" cy="256032"/>
          </a:xfrm>
          <a:prstGeom prst="rect">
            <a:avLst/>
          </a:prstGeom>
          <a:noFill/>
          <a:ln/>
        </p:spPr>
        <p:txBody>
          <a:bodyPr wrap="square" lIns="0" tIns="0" rIns="0" bIns="0" rtlCol="0" anchor="ctr"/>
          <a:lstStyle/>
          <a:p>
            <a:pPr indent="0" marL="0">
              <a:buNone/>
            </a:pPr>
            <a:r>
              <a:rPr lang="en-US" sz="1000" dirty="0">
                <a:solidFill>
                  <a:srgbClr val="24272A"/>
                </a:solidFill>
                <a:latin typeface="Arial" pitchFamily="34" charset="0"/>
                <a:ea typeface="Arial" pitchFamily="34" charset="-122"/>
                <a:cs typeface="Arial" pitchFamily="34" charset="-120"/>
              </a:rPr>
              <a:t>Label segments that mark a virtual IP.</a:t>
            </a:r>
            <a:endParaRPr lang="en-US" sz="1000" dirty="0"/>
          </a:p>
        </p:txBody>
      </p:sp>
      <p:sp>
        <p:nvSpPr>
          <p:cNvPr id="40" name="Text 38"/>
          <p:cNvSpPr txBox="1"/>
          <p:nvPr/>
        </p:nvSpPr>
        <p:spPr>
          <a:xfrm>
            <a:off x="1243584" y="5705856"/>
            <a:ext cx="10241280" cy="237744"/>
          </a:xfrm>
          <a:prstGeom prst="rect">
            <a:avLst/>
          </a:prstGeom>
          <a:noFill/>
          <a:ln/>
        </p:spPr>
        <p:txBody>
          <a:bodyPr wrap="square" lIns="0" tIns="0" rIns="0" bIns="0" rtlCol="0" anchor="ctr"/>
          <a:lstStyle/>
          <a:p>
            <a:pPr indent="0" marL="0">
              <a:buNone/>
            </a:pPr>
            <a:r>
              <a:rPr lang="en-US" sz="900" dirty="0">
                <a:solidFill>
                  <a:srgbClr val="6B7177"/>
                </a:solidFill>
                <a:latin typeface="Courier New" pitchFamily="34" charset="0"/>
                <a:ea typeface="Courier New" pitchFamily="34" charset="-122"/>
                <a:cs typeface="Courier New" pitchFamily="34" charset="-120"/>
              </a:rPr>
              <a:t>['vip', 'vs']</a:t>
            </a:r>
            <a:endParaRPr lang="en-US" sz="900" dirty="0"/>
          </a:p>
        </p:txBody>
      </p:sp>
      <p:sp>
        <p:nvSpPr>
          <p:cNvPr id="41" name="Shape 39"/>
          <p:cNvSpPr/>
          <p:nvPr/>
        </p:nvSpPr>
        <p:spPr>
          <a:xfrm>
            <a:off x="457200" y="6053328"/>
            <a:ext cx="11274552" cy="566928"/>
          </a:xfrm>
          <a:prstGeom prst="roundRect">
            <a:avLst>
              <a:gd name="adj" fmla="val 806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42" name="Text 40"/>
          <p:cNvSpPr txBox="1"/>
          <p:nvPr/>
        </p:nvSpPr>
        <p:spPr>
          <a:xfrm>
            <a:off x="731520" y="6163056"/>
            <a:ext cx="10698480" cy="365760"/>
          </a:xfrm>
          <a:prstGeom prst="rect">
            <a:avLst/>
          </a:prstGeom>
          <a:noFill/>
          <a:ln/>
        </p:spPr>
        <p:txBody>
          <a:bodyPr wrap="square" lIns="0" tIns="0" rIns="0" bIns="0" rtlCol="0" anchor="ctr"/>
          <a:lstStyle/>
          <a:p>
            <a:pPr indent="0" marL="0">
              <a:buNone/>
            </a:pPr>
            <a:r>
              <a:rPr lang="en-US" sz="1100" b="1" dirty="0">
                <a:solidFill>
                  <a:srgbClr val="24272A"/>
                </a:solidFill>
                <a:latin typeface="Arial" pitchFamily="34" charset="0"/>
                <a:ea typeface="Arial" pitchFamily="34" charset="-122"/>
                <a:cs typeface="Arial" pitchFamily="34" charset="-120"/>
              </a:rPr>
              <a:t>Changing a list is a change to the rule.  </a:t>
            </a:r>
            <a:pPr indent="0" marL="0">
              <a:buNone/>
            </a:pPr>
            <a:r>
              <a:rPr lang="en-US" sz="1100" dirty="0">
                <a:solidFill>
                  <a:srgbClr val="6B7177"/>
                </a:solidFill>
                <a:latin typeface="Arial" pitchFamily="34" charset="0"/>
                <a:ea typeface="Arial" pitchFamily="34" charset="-122"/>
                <a:cs typeface="Arial" pitchFamily="34" charset="-120"/>
              </a:rPr>
              <a:t>A new controller suffix or VLAN marker is added to the array and the rule ships in the next update set, the same path as any other change to the chain. No system property is created, read or shipped.</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24272A"/>
        </a:solidFill>
      </p:bgPr>
    </p:bg>
    <p:spTree>
      <p:nvGrpSpPr>
        <p:cNvPr id="1" name=""/>
        <p:cNvGrpSpPr/>
        <p:nvPr/>
      </p:nvGrpSpPr>
      <p:grpSpPr>
        <a:xfrm>
          <a:off x="0" y="0"/>
          <a:ext cx="0" cy="0"/>
          <a:chOff x="0" y="0"/>
          <a:chExt cx="0" cy="0"/>
        </a:xfrm>
      </p:grpSpPr>
      <p:sp>
        <p:nvSpPr>
          <p:cNvPr id="2" name="Shape 0"/>
          <p:cNvSpPr/>
          <p:nvPr/>
        </p:nvSpPr>
        <p:spPr>
          <a:xfrm>
            <a:off x="457200" y="2331720"/>
            <a:ext cx="566928" cy="566928"/>
          </a:xfrm>
          <a:prstGeom prst="roundRect">
            <a:avLst>
              <a:gd name="adj" fmla="val 25806"/>
            </a:avLst>
          </a:prstGeom>
          <a:solidFill>
            <a:srgbClr val="E31837"/>
          </a:solidFill>
          <a:ln w="12700">
            <a:solidFill>
              <a:srgbClr val="333333"/>
            </a:solidFill>
            <a:prstDash val="solid"/>
          </a:ln>
        </p:spPr>
      </p:sp>
      <p:sp>
        <p:nvSpPr>
          <p:cNvPr id="3" name="Text 1"/>
          <p:cNvSpPr txBox="1"/>
          <p:nvPr/>
        </p:nvSpPr>
        <p:spPr>
          <a:xfrm>
            <a:off x="457200" y="2331720"/>
            <a:ext cx="566928" cy="566928"/>
          </a:xfrm>
          <a:prstGeom prst="rect">
            <a:avLst/>
          </a:prstGeom>
          <a:noFill/>
          <a:ln/>
        </p:spPr>
        <p:txBody>
          <a:bodyPr wrap="square" lIns="0" tIns="0" rIns="0" bIns="0" rtlCol="0" anchor="ctr"/>
          <a:lstStyle/>
          <a:p>
            <a:pPr algn="ctr" indent="0" marL="0">
              <a:buNone/>
            </a:pPr>
            <a:r>
              <a:rPr lang="en-US" sz="2200" b="1" dirty="0">
                <a:solidFill>
                  <a:srgbClr val="FFFFFF"/>
                </a:solidFill>
                <a:latin typeface="Arial" pitchFamily="34" charset="0"/>
                <a:ea typeface="Arial" pitchFamily="34" charset="-122"/>
                <a:cs typeface="Arial" pitchFamily="34" charset="-120"/>
              </a:rPr>
              <a:t>5</a:t>
            </a:r>
            <a:endParaRPr lang="en-US" sz="2200" dirty="0"/>
          </a:p>
        </p:txBody>
      </p:sp>
      <p:sp>
        <p:nvSpPr>
          <p:cNvPr id="4" name="Text 2"/>
          <p:cNvSpPr txBox="1"/>
          <p:nvPr/>
        </p:nvSpPr>
        <p:spPr>
          <a:xfrm>
            <a:off x="1207008" y="2304288"/>
            <a:ext cx="10424160" cy="658368"/>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Testing and delivery</a:t>
            </a:r>
            <a:endParaRPr lang="en-US" sz="3400" dirty="0"/>
          </a:p>
        </p:txBody>
      </p:sp>
      <p:sp>
        <p:nvSpPr>
          <p:cNvPr id="5" name="Text 3"/>
          <p:cNvSpPr txBox="1"/>
          <p:nvPr/>
        </p:nvSpPr>
        <p:spPr>
          <a:xfrm>
            <a:off x="1207008" y="3054096"/>
            <a:ext cx="6583680" cy="822960"/>
          </a:xfrm>
          <a:prstGeom prst="rect">
            <a:avLst/>
          </a:prstGeom>
          <a:noFill/>
          <a:ln/>
        </p:spPr>
        <p:txBody>
          <a:bodyPr wrap="square" lIns="0" tIns="0" rIns="0" bIns="0" rtlCol="0" anchor="t"/>
          <a:lstStyle/>
          <a:p>
            <a:pPr indent="0" marL="0">
              <a:buNone/>
            </a:pPr>
            <a:r>
              <a:rPr lang="en-US" sz="1350" dirty="0">
                <a:solidFill>
                  <a:srgbClr val="B9BEC3"/>
                </a:solidFill>
                <a:latin typeface="Arial" pitchFamily="34" charset="0"/>
                <a:ea typeface="Arial" pitchFamily="34" charset="-122"/>
                <a:cs typeface="Arial" pitchFamily="34" charset="-120"/>
              </a:rPr>
              <a:t>How the chain was exercised end to end, what shipped, and what to watch once it runs.</a:t>
            </a:r>
            <a:endParaRPr lang="en-US" sz="1350" dirty="0"/>
          </a:p>
        </p:txBody>
      </p:sp>
      <p:sp>
        <p:nvSpPr>
          <p:cNvPr id="6" name="Shape 4"/>
          <p:cNvSpPr/>
          <p:nvPr/>
        </p:nvSpPr>
        <p:spPr>
          <a:xfrm>
            <a:off x="8275320" y="2423160"/>
            <a:ext cx="146304" cy="146304"/>
          </a:xfrm>
          <a:prstGeom prst="roundRect">
            <a:avLst>
              <a:gd name="adj" fmla="val 31250"/>
            </a:avLst>
          </a:prstGeom>
          <a:solidFill>
            <a:srgbClr val="E31837"/>
          </a:solidFill>
          <a:ln w="12700">
            <a:solidFill>
              <a:srgbClr val="333333"/>
            </a:solidFill>
            <a:prstDash val="solid"/>
          </a:ln>
        </p:spPr>
      </p:sp>
      <p:sp>
        <p:nvSpPr>
          <p:cNvPr id="7" name="Text 5"/>
          <p:cNvSpPr txBox="1"/>
          <p:nvPr/>
        </p:nvSpPr>
        <p:spPr>
          <a:xfrm>
            <a:off x="8577072" y="2340864"/>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Three layers of testing</a:t>
            </a:r>
            <a:endParaRPr lang="en-US" sz="1150" dirty="0"/>
          </a:p>
        </p:txBody>
      </p:sp>
      <p:sp>
        <p:nvSpPr>
          <p:cNvPr id="8" name="Shape 6"/>
          <p:cNvSpPr/>
          <p:nvPr/>
        </p:nvSpPr>
        <p:spPr>
          <a:xfrm>
            <a:off x="8275320" y="2825496"/>
            <a:ext cx="146304" cy="146304"/>
          </a:xfrm>
          <a:prstGeom prst="roundRect">
            <a:avLst>
              <a:gd name="adj" fmla="val 31250"/>
            </a:avLst>
          </a:prstGeom>
          <a:solidFill>
            <a:srgbClr val="E31837"/>
          </a:solidFill>
          <a:ln w="12700">
            <a:solidFill>
              <a:srgbClr val="333333"/>
            </a:solidFill>
            <a:prstDash val="solid"/>
          </a:ln>
        </p:spPr>
      </p:sp>
      <p:sp>
        <p:nvSpPr>
          <p:cNvPr id="9" name="Text 7"/>
          <p:cNvSpPr txBox="1"/>
          <p:nvPr/>
        </p:nvSpPr>
        <p:spPr>
          <a:xfrm>
            <a:off x="8577072" y="2743200"/>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What ships and how it is operated</a:t>
            </a:r>
            <a:endParaRPr lang="en-US" sz="1150" dirty="0"/>
          </a:p>
        </p:txBody>
      </p:sp>
      <p:sp>
        <p:nvSpPr>
          <p:cNvPr id="10" name="Shape 8"/>
          <p:cNvSpPr/>
          <p:nvPr/>
        </p:nvSpPr>
        <p:spPr>
          <a:xfrm>
            <a:off x="8275320" y="3227832"/>
            <a:ext cx="146304" cy="146304"/>
          </a:xfrm>
          <a:prstGeom prst="roundRect">
            <a:avLst>
              <a:gd name="adj" fmla="val 31250"/>
            </a:avLst>
          </a:prstGeom>
          <a:solidFill>
            <a:srgbClr val="E31837"/>
          </a:solidFill>
          <a:ln w="12700">
            <a:solidFill>
              <a:srgbClr val="333333"/>
            </a:solidFill>
            <a:prstDash val="solid"/>
          </a:ln>
        </p:spPr>
      </p:sp>
      <p:sp>
        <p:nvSpPr>
          <p:cNvPr id="11" name="Text 9"/>
          <p:cNvSpPr txBox="1"/>
          <p:nvPr/>
        </p:nvSpPr>
        <p:spPr>
          <a:xfrm>
            <a:off x="8577072" y="3145536"/>
            <a:ext cx="3154680" cy="347472"/>
          </a:xfrm>
          <a:prstGeom prst="rect">
            <a:avLst/>
          </a:prstGeom>
          <a:noFill/>
          <a:ln/>
        </p:spPr>
        <p:txBody>
          <a:bodyPr wrap="square" lIns="0" tIns="0" rIns="0" bIns="0" rtlCol="0" anchor="ctr"/>
          <a:lstStyle/>
          <a:p>
            <a:pPr indent="0" marL="0">
              <a:buNone/>
            </a:pPr>
            <a:r>
              <a:rPr lang="en-US" sz="1150" dirty="0">
                <a:solidFill>
                  <a:srgbClr val="D3D7DA"/>
                </a:solidFill>
                <a:latin typeface="Arial" pitchFamily="34" charset="0"/>
                <a:ea typeface="Arial" pitchFamily="34" charset="-122"/>
                <a:cs typeface="Arial" pitchFamily="34" charset="-120"/>
              </a:rPr>
              <a:t>Rule reference</a:t>
            </a:r>
            <a:endParaRPr lang="en-US" sz="11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ASSURANCE</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Three layers of testing</a:t>
            </a:r>
            <a:endParaRPr lang="en-US" sz="3000" dirty="0"/>
          </a:p>
        </p:txBody>
      </p:sp>
      <p:sp>
        <p:nvSpPr>
          <p:cNvPr id="4" name="Shape 2"/>
          <p:cNvSpPr/>
          <p:nvPr/>
        </p:nvSpPr>
        <p:spPr>
          <a:xfrm>
            <a:off x="457200" y="1417320"/>
            <a:ext cx="3566160" cy="2670048"/>
          </a:xfrm>
          <a:prstGeom prst="roundRect">
            <a:avLst>
              <a:gd name="adj" fmla="val 171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Shape 3"/>
          <p:cNvSpPr/>
          <p:nvPr/>
        </p:nvSpPr>
        <p:spPr>
          <a:xfrm>
            <a:off x="685800" y="1591056"/>
            <a:ext cx="384048" cy="384048"/>
          </a:xfrm>
          <a:prstGeom prst="roundRect">
            <a:avLst>
              <a:gd name="adj" fmla="val 38095"/>
            </a:avLst>
          </a:prstGeom>
          <a:solidFill>
            <a:srgbClr val="E31837"/>
          </a:solidFill>
          <a:ln w="12700">
            <a:solidFill>
              <a:srgbClr val="333333"/>
            </a:solidFill>
            <a:prstDash val="solid"/>
          </a:ln>
        </p:spPr>
      </p:sp>
      <p:sp>
        <p:nvSpPr>
          <p:cNvPr id="6" name="Text 4"/>
          <p:cNvSpPr txBox="1"/>
          <p:nvPr/>
        </p:nvSpPr>
        <p:spPr>
          <a:xfrm>
            <a:off x="68580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188720" y="1591056"/>
            <a:ext cx="2560320" cy="38404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Direct</a:t>
            </a:r>
            <a:endParaRPr lang="en-US" sz="1500" dirty="0"/>
          </a:p>
        </p:txBody>
      </p:sp>
      <p:sp>
        <p:nvSpPr>
          <p:cNvPr id="8" name="Text 6"/>
          <p:cNvSpPr txBox="1"/>
          <p:nvPr/>
        </p:nvSpPr>
        <p:spPr>
          <a:xfrm>
            <a:off x="685800" y="2048256"/>
            <a:ext cx="3108960" cy="201168"/>
          </a:xfrm>
          <a:prstGeom prst="rect">
            <a:avLst/>
          </a:prstGeom>
          <a:noFill/>
          <a:ln/>
        </p:spPr>
        <p:txBody>
          <a:bodyPr wrap="square" lIns="0" tIns="0" rIns="0" bIns="0" rtlCol="0" anchor="ctr"/>
          <a:lstStyle/>
          <a:p>
            <a:pPr indent="0" marL="0">
              <a:buNone/>
            </a:pPr>
            <a:r>
              <a:rPr lang="en-US" sz="850" b="1" spc="120" kern="0" dirty="0">
                <a:solidFill>
                  <a:srgbClr val="6B7177"/>
                </a:solidFill>
                <a:latin typeface="Arial" pitchFamily="34" charset="0"/>
                <a:ea typeface="Arial" pitchFamily="34" charset="-122"/>
                <a:cs typeface="Arial" pitchFamily="34" charset="-120"/>
              </a:rPr>
              <a:t>RULE BEHAVIOUR</a:t>
            </a:r>
            <a:endParaRPr lang="en-US" sz="850" dirty="0"/>
          </a:p>
        </p:txBody>
      </p:sp>
      <p:sp>
        <p:nvSpPr>
          <p:cNvPr id="9" name="Text 7"/>
          <p:cNvSpPr txBox="1"/>
          <p:nvPr/>
        </p:nvSpPr>
        <p:spPr>
          <a:xfrm>
            <a:off x="685800" y="2286000"/>
            <a:ext cx="3108960" cy="1243584"/>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Purpose-built CMDB fixtures, then the platform’s own identify() call for the Qualys source with one payload per case: the positive match, the negative, the ambiguity, and a regression on a neighbouring rule. Eighteen cases, run twice.</a:t>
            </a:r>
            <a:endParaRPr lang="en-US" sz="1050" dirty="0"/>
          </a:p>
        </p:txBody>
      </p:sp>
      <p:sp>
        <p:nvSpPr>
          <p:cNvPr id="10" name="Text 8"/>
          <p:cNvSpPr txBox="1"/>
          <p:nvPr/>
        </p:nvSpPr>
        <p:spPr>
          <a:xfrm>
            <a:off x="685800" y="3566160"/>
            <a:ext cx="3108960" cy="365760"/>
          </a:xfrm>
          <a:prstGeom prst="rect">
            <a:avLst/>
          </a:prstGeom>
          <a:noFill/>
          <a:ln/>
        </p:spPr>
        <p:txBody>
          <a:bodyPr wrap="square" lIns="0" tIns="0" rIns="0" bIns="0" rtlCol="0" anchor="ctr"/>
          <a:lstStyle/>
          <a:p>
            <a:pPr indent="0" marL="0">
              <a:buNone/>
            </a:pPr>
            <a:r>
              <a:rPr lang="en-US" sz="1200" b="1" dirty="0">
                <a:solidFill>
                  <a:srgbClr val="E31837"/>
                </a:solidFill>
                <a:latin typeface="Arial" pitchFamily="34" charset="0"/>
                <a:ea typeface="Arial" pitchFamily="34" charset="-122"/>
                <a:cs typeface="Arial" pitchFamily="34" charset="-120"/>
              </a:rPr>
              <a:t>36 of 36 as expected</a:t>
            </a:r>
            <a:endParaRPr lang="en-US" sz="1200" dirty="0"/>
          </a:p>
        </p:txBody>
      </p:sp>
      <p:sp>
        <p:nvSpPr>
          <p:cNvPr id="11" name="Shape 9"/>
          <p:cNvSpPr/>
          <p:nvPr/>
        </p:nvSpPr>
        <p:spPr>
          <a:xfrm>
            <a:off x="4251960" y="1417320"/>
            <a:ext cx="3566160" cy="2670048"/>
          </a:xfrm>
          <a:prstGeom prst="roundRect">
            <a:avLst>
              <a:gd name="adj" fmla="val 171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2" name="Shape 10"/>
          <p:cNvSpPr/>
          <p:nvPr/>
        </p:nvSpPr>
        <p:spPr>
          <a:xfrm>
            <a:off x="4480560" y="1591056"/>
            <a:ext cx="384048" cy="384048"/>
          </a:xfrm>
          <a:prstGeom prst="roundRect">
            <a:avLst>
              <a:gd name="adj" fmla="val 38095"/>
            </a:avLst>
          </a:prstGeom>
          <a:solidFill>
            <a:srgbClr val="E31837"/>
          </a:solidFill>
          <a:ln w="12700">
            <a:solidFill>
              <a:srgbClr val="333333"/>
            </a:solidFill>
            <a:prstDash val="solid"/>
          </a:ln>
        </p:spPr>
      </p:sp>
      <p:sp>
        <p:nvSpPr>
          <p:cNvPr id="13" name="Text 11"/>
          <p:cNvSpPr txBox="1"/>
          <p:nvPr/>
        </p:nvSpPr>
        <p:spPr>
          <a:xfrm>
            <a:off x="448056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4" name="Text 12"/>
          <p:cNvSpPr txBox="1"/>
          <p:nvPr/>
        </p:nvSpPr>
        <p:spPr>
          <a:xfrm>
            <a:off x="4983480" y="1591056"/>
            <a:ext cx="2560320" cy="38404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Pipeline</a:t>
            </a:r>
            <a:endParaRPr lang="en-US" sz="1500" dirty="0"/>
          </a:p>
        </p:txBody>
      </p:sp>
      <p:sp>
        <p:nvSpPr>
          <p:cNvPr id="15" name="Text 13"/>
          <p:cNvSpPr txBox="1"/>
          <p:nvPr/>
        </p:nvSpPr>
        <p:spPr>
          <a:xfrm>
            <a:off x="4480560" y="2048256"/>
            <a:ext cx="3108960" cy="201168"/>
          </a:xfrm>
          <a:prstGeom prst="rect">
            <a:avLst/>
          </a:prstGeom>
          <a:noFill/>
          <a:ln/>
        </p:spPr>
        <p:txBody>
          <a:bodyPr wrap="square" lIns="0" tIns="0" rIns="0" bIns="0" rtlCol="0" anchor="ctr"/>
          <a:lstStyle/>
          <a:p>
            <a:pPr indent="0" marL="0">
              <a:buNone/>
            </a:pPr>
            <a:r>
              <a:rPr lang="en-US" sz="850" b="1" spc="120" kern="0" dirty="0">
                <a:solidFill>
                  <a:srgbClr val="6B7177"/>
                </a:solidFill>
                <a:latin typeface="Arial" pitchFamily="34" charset="0"/>
                <a:ea typeface="Arial" pitchFamily="34" charset="-122"/>
                <a:cs typeface="Arial" pitchFamily="34" charset="-120"/>
              </a:rPr>
              <a:t>END TO END</a:t>
            </a:r>
            <a:endParaRPr lang="en-US" sz="850" dirty="0"/>
          </a:p>
        </p:txBody>
      </p:sp>
      <p:sp>
        <p:nvSpPr>
          <p:cNvPr id="16" name="Text 14"/>
          <p:cNvSpPr txBox="1"/>
          <p:nvPr/>
        </p:nvSpPr>
        <p:spPr>
          <a:xfrm>
            <a:off x="4480560" y="2286000"/>
            <a:ext cx="3108960" cy="1243584"/>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Real unresolved Discovered Items re-run through the platform’s own reconcile utility, the same call the scheduled job makes, so the whole framework path is exercised and not just the script.</a:t>
            </a:r>
            <a:endParaRPr lang="en-US" sz="1050" dirty="0"/>
          </a:p>
        </p:txBody>
      </p:sp>
      <p:sp>
        <p:nvSpPr>
          <p:cNvPr id="17" name="Text 15"/>
          <p:cNvSpPr txBox="1"/>
          <p:nvPr/>
        </p:nvSpPr>
        <p:spPr>
          <a:xfrm>
            <a:off x="4480560" y="3566160"/>
            <a:ext cx="3108960" cy="365760"/>
          </a:xfrm>
          <a:prstGeom prst="rect">
            <a:avLst/>
          </a:prstGeom>
          <a:noFill/>
          <a:ln/>
        </p:spPr>
        <p:txBody>
          <a:bodyPr wrap="square" lIns="0" tIns="0" rIns="0" bIns="0" rtlCol="0" anchor="ctr"/>
          <a:lstStyle/>
          <a:p>
            <a:pPr indent="0" marL="0">
              <a:buNone/>
            </a:pPr>
            <a:r>
              <a:rPr lang="en-US" sz="1200" b="1" dirty="0">
                <a:solidFill>
                  <a:srgbClr val="E31837"/>
                </a:solidFill>
                <a:latin typeface="Arial" pitchFamily="34" charset="0"/>
                <a:ea typeface="Arial" pitchFamily="34" charset="-122"/>
                <a:cs typeface="Arial" pitchFamily="34" charset="-120"/>
              </a:rPr>
              <a:t>9 of 9 turned matched</a:t>
            </a:r>
            <a:endParaRPr lang="en-US" sz="1200" dirty="0"/>
          </a:p>
        </p:txBody>
      </p:sp>
      <p:sp>
        <p:nvSpPr>
          <p:cNvPr id="18" name="Shape 16"/>
          <p:cNvSpPr/>
          <p:nvPr/>
        </p:nvSpPr>
        <p:spPr>
          <a:xfrm>
            <a:off x="8046720" y="1417320"/>
            <a:ext cx="3566160" cy="2670048"/>
          </a:xfrm>
          <a:prstGeom prst="roundRect">
            <a:avLst>
              <a:gd name="adj" fmla="val 1712"/>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9" name="Shape 17"/>
          <p:cNvSpPr/>
          <p:nvPr/>
        </p:nvSpPr>
        <p:spPr>
          <a:xfrm>
            <a:off x="8275320" y="1591056"/>
            <a:ext cx="384048" cy="384048"/>
          </a:xfrm>
          <a:prstGeom prst="roundRect">
            <a:avLst>
              <a:gd name="adj" fmla="val 38095"/>
            </a:avLst>
          </a:prstGeom>
          <a:solidFill>
            <a:srgbClr val="E31837"/>
          </a:solidFill>
          <a:ln w="12700">
            <a:solidFill>
              <a:srgbClr val="333333"/>
            </a:solidFill>
            <a:prstDash val="solid"/>
          </a:ln>
        </p:spPr>
      </p:sp>
      <p:sp>
        <p:nvSpPr>
          <p:cNvPr id="20" name="Text 18"/>
          <p:cNvSpPr txBox="1"/>
          <p:nvPr/>
        </p:nvSpPr>
        <p:spPr>
          <a:xfrm>
            <a:off x="8275320" y="159105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1" name="Text 19"/>
          <p:cNvSpPr txBox="1"/>
          <p:nvPr/>
        </p:nvSpPr>
        <p:spPr>
          <a:xfrm>
            <a:off x="8778240" y="1591056"/>
            <a:ext cx="2560320" cy="38404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Sweep</a:t>
            </a:r>
            <a:endParaRPr lang="en-US" sz="1500" dirty="0"/>
          </a:p>
        </p:txBody>
      </p:sp>
      <p:sp>
        <p:nvSpPr>
          <p:cNvPr id="22" name="Text 20"/>
          <p:cNvSpPr txBox="1"/>
          <p:nvPr/>
        </p:nvSpPr>
        <p:spPr>
          <a:xfrm>
            <a:off x="8275320" y="2048256"/>
            <a:ext cx="3108960" cy="201168"/>
          </a:xfrm>
          <a:prstGeom prst="rect">
            <a:avLst/>
          </a:prstGeom>
          <a:noFill/>
          <a:ln/>
        </p:spPr>
        <p:txBody>
          <a:bodyPr wrap="square" lIns="0" tIns="0" rIns="0" bIns="0" rtlCol="0" anchor="ctr"/>
          <a:lstStyle/>
          <a:p>
            <a:pPr indent="0" marL="0">
              <a:buNone/>
            </a:pPr>
            <a:r>
              <a:rPr lang="en-US" sz="850" b="1" spc="120" kern="0" dirty="0">
                <a:solidFill>
                  <a:srgbClr val="6B7177"/>
                </a:solidFill>
                <a:latin typeface="Arial" pitchFamily="34" charset="0"/>
                <a:ea typeface="Arial" pitchFamily="34" charset="-122"/>
                <a:cs typeface="Arial" pitchFamily="34" charset="-120"/>
              </a:rPr>
              <a:t>NO REGRESSION</a:t>
            </a:r>
            <a:endParaRPr lang="en-US" sz="850" dirty="0"/>
          </a:p>
        </p:txBody>
      </p:sp>
      <p:sp>
        <p:nvSpPr>
          <p:cNvPr id="23" name="Text 21"/>
          <p:cNvSpPr txBox="1"/>
          <p:nvPr/>
        </p:nvSpPr>
        <p:spPr>
          <a:xfrm>
            <a:off x="8275320" y="2286000"/>
            <a:ext cx="3108960" cy="1243584"/>
          </a:xfrm>
          <a:prstGeom prst="rect">
            <a:avLst/>
          </a:prstGeom>
          <a:noFill/>
          <a:ln/>
        </p:spPr>
        <p:txBody>
          <a:bodyPr wrap="square" lIns="0" tIns="0" rIns="0" bIns="0" rtlCol="0" anchor="t"/>
          <a:lstStyle/>
          <a:p>
            <a:pPr indent="0" marL="0">
              <a:buNone/>
            </a:pPr>
            <a:r>
              <a:rPr lang="en-US" sz="1050" dirty="0">
                <a:solidFill>
                  <a:srgbClr val="6B7177"/>
                </a:solidFill>
                <a:latin typeface="Arial" pitchFamily="34" charset="0"/>
                <a:ea typeface="Arial" pitchFamily="34" charset="-122"/>
                <a:cs typeface="Arial" pitchFamily="34" charset="-120"/>
              </a:rPr>
              <a:t>One representative host per rule pushed through the chain before and after every redeploy, comparing which rule answered and which CI came back.</a:t>
            </a:r>
            <a:endParaRPr lang="en-US" sz="1050" dirty="0"/>
          </a:p>
        </p:txBody>
      </p:sp>
      <p:sp>
        <p:nvSpPr>
          <p:cNvPr id="24" name="Text 22"/>
          <p:cNvSpPr txBox="1"/>
          <p:nvPr/>
        </p:nvSpPr>
        <p:spPr>
          <a:xfrm>
            <a:off x="8275320" y="3566160"/>
            <a:ext cx="3108960" cy="365760"/>
          </a:xfrm>
          <a:prstGeom prst="rect">
            <a:avLst/>
          </a:prstGeom>
          <a:noFill/>
          <a:ln/>
        </p:spPr>
        <p:txBody>
          <a:bodyPr wrap="square" lIns="0" tIns="0" rIns="0" bIns="0" rtlCol="0" anchor="ctr"/>
          <a:lstStyle/>
          <a:p>
            <a:pPr indent="0" marL="0">
              <a:buNone/>
            </a:pPr>
            <a:r>
              <a:rPr lang="en-US" sz="1200" b="1" dirty="0">
                <a:solidFill>
                  <a:srgbClr val="E31837"/>
                </a:solidFill>
                <a:latin typeface="Arial" pitchFamily="34" charset="0"/>
                <a:ea typeface="Arial" pitchFamily="34" charset="-122"/>
                <a:cs typeface="Arial" pitchFamily="34" charset="-120"/>
              </a:rPr>
              <a:t>identical, 19 of 19 rules answering</a:t>
            </a:r>
            <a:endParaRPr lang="en-US" sz="1200" dirty="0"/>
          </a:p>
        </p:txBody>
      </p:sp>
      <p:sp>
        <p:nvSpPr>
          <p:cNvPr id="25" name="Shape 23"/>
          <p:cNvSpPr/>
          <p:nvPr/>
        </p:nvSpPr>
        <p:spPr>
          <a:xfrm>
            <a:off x="457200" y="4315968"/>
            <a:ext cx="11274552" cy="1463040"/>
          </a:xfrm>
          <a:prstGeom prst="roundRect">
            <a:avLst>
              <a:gd name="adj" fmla="val 3125"/>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6" name="Text 24"/>
          <p:cNvSpPr txBox="1"/>
          <p:nvPr/>
        </p:nvSpPr>
        <p:spPr>
          <a:xfrm>
            <a:off x="731520" y="4462272"/>
            <a:ext cx="5486400" cy="274320"/>
          </a:xfrm>
          <a:prstGeom prst="rect">
            <a:avLst/>
          </a:prstGeom>
          <a:noFill/>
          <a:ln/>
        </p:spPr>
        <p:txBody>
          <a:bodyPr wrap="square" lIns="0" tIns="0" rIns="0" bIns="0" rtlCol="0" anchor="ctr"/>
          <a:lstStyle/>
          <a:p>
            <a:pPr indent="0" marL="0">
              <a:buNone/>
            </a:pPr>
            <a:r>
              <a:rPr lang="en-US" sz="1400" b="1" dirty="0">
                <a:solidFill>
                  <a:srgbClr val="24272A"/>
                </a:solidFill>
                <a:latin typeface="Arial" pitchFamily="34" charset="0"/>
                <a:ea typeface="Arial" pitchFamily="34" charset="-122"/>
                <a:cs typeface="Arial" pitchFamily="34" charset="-120"/>
              </a:rPr>
              <a:t>What the negative cases prove</a:t>
            </a:r>
            <a:endParaRPr lang="en-US" sz="1400" dirty="0"/>
          </a:p>
        </p:txBody>
      </p:sp>
      <p:sp>
        <p:nvSpPr>
          <p:cNvPr id="27" name="Text 25"/>
          <p:cNvSpPr txBox="1"/>
          <p:nvPr/>
        </p:nvSpPr>
        <p:spPr>
          <a:xfrm>
            <a:off x="731520" y="4791456"/>
            <a:ext cx="10698480" cy="822960"/>
          </a:xfrm>
          <a:prstGeom prst="rect">
            <a:avLst/>
          </a:prstGeom>
          <a:noFill/>
          <a:ln/>
        </p:spPr>
        <p:txBody>
          <a:bodyPr wrap="square" lIns="0" tIns="0" rIns="0" bIns="0" rtlCol="0" anchor="t"/>
          <a:lstStyle/>
          <a:p>
            <a:pPr indent="0" marL="0">
              <a:buNone/>
            </a:pPr>
            <a:r>
              <a:rPr lang="en-US" sz="1150" dirty="0">
                <a:solidFill>
                  <a:srgbClr val="6B7177"/>
                </a:solidFill>
                <a:latin typeface="Arial" pitchFamily="34" charset="0"/>
                <a:ea typeface="Arial" pitchFamily="34" charset="-122"/>
                <a:cs typeface="Arial" pitchFamily="34" charset="-120"/>
              </a:rPr>
              <a:t>Half the suite asserts that a rule stays out of the way: a hyphenated server name is not treated as an interface, a server sharing an address with a VIP is not turned into a load balancer service, a controller label with two candidate servers declines rather than picks, and an ordinary Windows workstation passes every new rule untouched. A rule that matches too much is the failure mode that matters here, so it is the one tested hardest.</a:t>
            </a:r>
            <a:endParaRPr lang="en-US" sz="11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DELIVERY</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What ships, and how it is operated</a:t>
            </a:r>
            <a:endParaRPr lang="en-US" sz="3000" dirty="0"/>
          </a:p>
        </p:txBody>
      </p:sp>
      <p:sp>
        <p:nvSpPr>
          <p:cNvPr id="4" name="Shape 2"/>
          <p:cNvSpPr/>
          <p:nvPr/>
        </p:nvSpPr>
        <p:spPr>
          <a:xfrm>
            <a:off x="457200" y="1417320"/>
            <a:ext cx="5532120" cy="1097280"/>
          </a:xfrm>
          <a:prstGeom prst="roundRect">
            <a:avLst>
              <a:gd name="adj" fmla="val 416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 name="Text 3"/>
          <p:cNvSpPr txBox="1"/>
          <p:nvPr/>
        </p:nvSpPr>
        <p:spPr>
          <a:xfrm>
            <a:off x="685800" y="1536192"/>
            <a:ext cx="384048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Rule scripts</a:t>
            </a:r>
            <a:endParaRPr lang="en-US" sz="1500" dirty="0"/>
          </a:p>
        </p:txBody>
      </p:sp>
      <p:sp>
        <p:nvSpPr>
          <p:cNvPr id="6" name="Text 4"/>
          <p:cNvSpPr txBox="1"/>
          <p:nvPr/>
        </p:nvSpPr>
        <p:spPr>
          <a:xfrm>
            <a:off x="4480560" y="1536192"/>
            <a:ext cx="1280160" cy="292608"/>
          </a:xfrm>
          <a:prstGeom prst="rect">
            <a:avLst/>
          </a:prstGeom>
          <a:noFill/>
          <a:ln/>
        </p:spPr>
        <p:txBody>
          <a:bodyPr wrap="square" lIns="0" tIns="0" rIns="0" bIns="0" rtlCol="0" anchor="ctr"/>
          <a:lstStyle/>
          <a:p>
            <a:pPr algn="r" indent="0" marL="0">
              <a:buNone/>
            </a:pPr>
            <a:r>
              <a:rPr lang="en-US" sz="1300" b="1" dirty="0">
                <a:solidFill>
                  <a:srgbClr val="E31837"/>
                </a:solidFill>
                <a:latin typeface="Arial" pitchFamily="34" charset="0"/>
                <a:ea typeface="Arial" pitchFamily="34" charset="-122"/>
                <a:cs typeface="Arial" pitchFamily="34" charset="-120"/>
              </a:rPr>
              <a:t>16 updates</a:t>
            </a:r>
            <a:endParaRPr lang="en-US" sz="1300" dirty="0"/>
          </a:p>
        </p:txBody>
      </p:sp>
      <p:sp>
        <p:nvSpPr>
          <p:cNvPr id="7" name="Text 5"/>
          <p:cNvSpPr txBox="1"/>
          <p:nvPr/>
        </p:nvSpPr>
        <p:spPr>
          <a:xfrm>
            <a:off x="685800" y="1865376"/>
            <a:ext cx="5074920" cy="54864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The rewritten scripts for the existing custom chain. Names, orders, source fields and descriptions are untouched; only the script field changes.</a:t>
            </a:r>
            <a:endParaRPr lang="en-US" sz="1100" dirty="0"/>
          </a:p>
        </p:txBody>
      </p:sp>
      <p:sp>
        <p:nvSpPr>
          <p:cNvPr id="8" name="Shape 6"/>
          <p:cNvSpPr/>
          <p:nvPr/>
        </p:nvSpPr>
        <p:spPr>
          <a:xfrm>
            <a:off x="6199632" y="1417320"/>
            <a:ext cx="5532120" cy="1097280"/>
          </a:xfrm>
          <a:prstGeom prst="roundRect">
            <a:avLst>
              <a:gd name="adj" fmla="val 4167"/>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Text 7"/>
          <p:cNvSpPr txBox="1"/>
          <p:nvPr/>
        </p:nvSpPr>
        <p:spPr>
          <a:xfrm>
            <a:off x="6428232" y="1536192"/>
            <a:ext cx="3840480" cy="292608"/>
          </a:xfrm>
          <a:prstGeom prst="rect">
            <a:avLst/>
          </a:prstGeom>
          <a:noFill/>
          <a:ln/>
        </p:spPr>
        <p:txBody>
          <a:bodyPr wrap="square" lIns="0" tIns="0" rIns="0" bIns="0" rtlCol="0" anchor="ctr"/>
          <a:lstStyle/>
          <a:p>
            <a:pPr indent="0" marL="0">
              <a:buNone/>
            </a:pPr>
            <a:r>
              <a:rPr lang="en-US" sz="1500" b="1" dirty="0">
                <a:solidFill>
                  <a:srgbClr val="24272A"/>
                </a:solidFill>
                <a:latin typeface="Arial" pitchFamily="34" charset="0"/>
                <a:ea typeface="Arial" pitchFamily="34" charset="-122"/>
                <a:cs typeface="Arial" pitchFamily="34" charset="-120"/>
              </a:rPr>
              <a:t>Backlog rules</a:t>
            </a:r>
            <a:endParaRPr lang="en-US" sz="1500" dirty="0"/>
          </a:p>
        </p:txBody>
      </p:sp>
      <p:sp>
        <p:nvSpPr>
          <p:cNvPr id="10" name="Text 8"/>
          <p:cNvSpPr txBox="1"/>
          <p:nvPr/>
        </p:nvSpPr>
        <p:spPr>
          <a:xfrm>
            <a:off x="10222992" y="1536192"/>
            <a:ext cx="1280160" cy="292608"/>
          </a:xfrm>
          <a:prstGeom prst="rect">
            <a:avLst/>
          </a:prstGeom>
          <a:noFill/>
          <a:ln/>
        </p:spPr>
        <p:txBody>
          <a:bodyPr wrap="square" lIns="0" tIns="0" rIns="0" bIns="0" rtlCol="0" anchor="ctr"/>
          <a:lstStyle/>
          <a:p>
            <a:pPr algn="r" indent="0" marL="0">
              <a:buNone/>
            </a:pPr>
            <a:r>
              <a:rPr lang="en-US" sz="1300" b="1" dirty="0">
                <a:solidFill>
                  <a:srgbClr val="E31837"/>
                </a:solidFill>
                <a:latin typeface="Arial" pitchFamily="34" charset="0"/>
                <a:ea typeface="Arial" pitchFamily="34" charset="-122"/>
                <a:cs typeface="Arial" pitchFamily="34" charset="-120"/>
              </a:rPr>
              <a:t>3 updates</a:t>
            </a:r>
            <a:endParaRPr lang="en-US" sz="1300" dirty="0"/>
          </a:p>
        </p:txBody>
      </p:sp>
      <p:sp>
        <p:nvSpPr>
          <p:cNvPr id="11" name="Text 9"/>
          <p:cNvSpPr txBox="1"/>
          <p:nvPr/>
        </p:nvSpPr>
        <p:spPr>
          <a:xfrm>
            <a:off x="6428232" y="1865376"/>
            <a:ext cx="5074920" cy="548640"/>
          </a:xfrm>
          <a:prstGeom prst="rect">
            <a:avLst/>
          </a:prstGeom>
          <a:noFill/>
          <a:ln/>
        </p:spPr>
        <p:txBody>
          <a:bodyPr wrap="square" lIns="0" tIns="0" rIns="0" bIns="0" rtlCol="0" anchor="t"/>
          <a:lstStyle/>
          <a:p>
            <a:pPr indent="0" marL="0">
              <a:buNone/>
            </a:pPr>
            <a:r>
              <a:rPr lang="en-US" sz="1100" dirty="0">
                <a:solidFill>
                  <a:srgbClr val="6B7177"/>
                </a:solidFill>
                <a:latin typeface="Arial" pitchFamily="34" charset="0"/>
                <a:ea typeface="Arial" pitchFamily="34" charset="-122"/>
                <a:cs typeface="Arial" pitchFamily="34" charset="-120"/>
              </a:rPr>
              <a:t>Three new rules, each carrying its own lists. Applies on top of the first set.</a:t>
            </a:r>
            <a:endParaRPr lang="en-US" sz="1100" dirty="0"/>
          </a:p>
        </p:txBody>
      </p:sp>
      <p:sp>
        <p:nvSpPr>
          <p:cNvPr id="12" name="Shape 10"/>
          <p:cNvSpPr/>
          <p:nvPr/>
        </p:nvSpPr>
        <p:spPr>
          <a:xfrm>
            <a:off x="457200" y="2798064"/>
            <a:ext cx="553212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3" name="Text 11"/>
          <p:cNvSpPr txBox="1"/>
          <p:nvPr/>
        </p:nvSpPr>
        <p:spPr>
          <a:xfrm>
            <a:off x="685800" y="2889504"/>
            <a:ext cx="5074920" cy="1188720"/>
          </a:xfrm>
          <a:prstGeom prst="rect">
            <a:avLst/>
          </a:prstGeom>
          <a:noFill/>
          <a:ln/>
        </p:spPr>
        <p:txBody>
          <a:bodyPr wrap="square" lIns="0" tIns="0" rIns="0" bIns="0" rtlCol="0" anchor="ctr"/>
          <a:lstStyle/>
          <a:p>
            <a:pPr indent="0" marL="0">
              <a:spcAft>
                <a:spcPts val="600"/>
              </a:spcAft>
              <a:buNone/>
            </a:pPr>
            <a:r>
              <a:rPr lang="en-US" sz="1350" b="1" dirty="0">
                <a:solidFill>
                  <a:srgbClr val="24272A"/>
                </a:solidFill>
                <a:latin typeface="Arial" pitchFamily="34" charset="0"/>
                <a:ea typeface="Arial" pitchFamily="34" charset="-122"/>
                <a:cs typeface="Arial" pitchFamily="34" charset="-120"/>
              </a:rPr>
              <a:t>Turning a rule off</a:t>
            </a:r>
            <a:endParaRPr lang="en-US" sz="1350" dirty="0"/>
          </a:p>
          <a:p>
            <a:pPr indent="0" marL="0">
              <a:buNone/>
            </a:pPr>
            <a:r>
              <a:rPr lang="en-US" sz="1100" dirty="0">
                <a:solidFill>
                  <a:srgbClr val="6B7177"/>
                </a:solidFill>
                <a:latin typeface="Arial" pitchFamily="34" charset="0"/>
                <a:ea typeface="Arial" pitchFamily="34" charset="-122"/>
                <a:cs typeface="Arial" pitchFamily="34" charset="-120"/>
              </a:rPr>
              <a:t>Every rule is independent. Clearing Active on one takes it out of the chain; the hosts it served fall through to the next rule that can read their evidence.</a:t>
            </a:r>
            <a:endParaRPr lang="en-US" sz="1350" dirty="0"/>
          </a:p>
        </p:txBody>
      </p:sp>
      <p:sp>
        <p:nvSpPr>
          <p:cNvPr id="14" name="Shape 12"/>
          <p:cNvSpPr/>
          <p:nvPr/>
        </p:nvSpPr>
        <p:spPr>
          <a:xfrm>
            <a:off x="6199632" y="2798064"/>
            <a:ext cx="553212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5" name="Text 13"/>
          <p:cNvSpPr txBox="1"/>
          <p:nvPr/>
        </p:nvSpPr>
        <p:spPr>
          <a:xfrm>
            <a:off x="6428232" y="2889504"/>
            <a:ext cx="5074920" cy="1188720"/>
          </a:xfrm>
          <a:prstGeom prst="rect">
            <a:avLst/>
          </a:prstGeom>
          <a:noFill/>
          <a:ln/>
        </p:spPr>
        <p:txBody>
          <a:bodyPr wrap="square" lIns="0" tIns="0" rIns="0" bIns="0" rtlCol="0" anchor="ctr"/>
          <a:lstStyle/>
          <a:p>
            <a:pPr indent="0" marL="0">
              <a:spcAft>
                <a:spcPts val="600"/>
              </a:spcAft>
              <a:buNone/>
            </a:pPr>
            <a:r>
              <a:rPr lang="en-US" sz="1350" b="1" dirty="0">
                <a:solidFill>
                  <a:srgbClr val="24272A"/>
                </a:solidFill>
                <a:latin typeface="Arial" pitchFamily="34" charset="0"/>
                <a:ea typeface="Arial" pitchFamily="34" charset="-122"/>
                <a:cs typeface="Arial" pitchFamily="34" charset="-120"/>
              </a:rPr>
              <a:t>Adding a naming habit</a:t>
            </a:r>
            <a:endParaRPr lang="en-US" sz="1350" dirty="0"/>
          </a:p>
          <a:p>
            <a:pPr indent="0" marL="0">
              <a:buNone/>
            </a:pPr>
            <a:r>
              <a:rPr lang="en-US" sz="1100" dirty="0">
                <a:solidFill>
                  <a:srgbClr val="6B7177"/>
                </a:solidFill>
                <a:latin typeface="Arial" pitchFamily="34" charset="0"/>
                <a:ea typeface="Arial" pitchFamily="34" charset="-122"/>
                <a:cs typeface="Arial" pitchFamily="34" charset="-120"/>
              </a:rPr>
              <a:t>A new controller suffix, VLAN marker or balancer product is added to the list at the top of the matching stage, and the rule ships in the next update set.</a:t>
            </a:r>
            <a:endParaRPr lang="en-US" sz="1350" dirty="0"/>
          </a:p>
        </p:txBody>
      </p:sp>
      <p:sp>
        <p:nvSpPr>
          <p:cNvPr id="16" name="Shape 14"/>
          <p:cNvSpPr/>
          <p:nvPr/>
        </p:nvSpPr>
        <p:spPr>
          <a:xfrm>
            <a:off x="457200" y="4370832"/>
            <a:ext cx="553212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7" name="Text 15"/>
          <p:cNvSpPr txBox="1"/>
          <p:nvPr/>
        </p:nvSpPr>
        <p:spPr>
          <a:xfrm>
            <a:off x="685800" y="4462272"/>
            <a:ext cx="5074920" cy="1188720"/>
          </a:xfrm>
          <a:prstGeom prst="rect">
            <a:avLst/>
          </a:prstGeom>
          <a:noFill/>
          <a:ln/>
        </p:spPr>
        <p:txBody>
          <a:bodyPr wrap="square" lIns="0" tIns="0" rIns="0" bIns="0" rtlCol="0" anchor="ctr"/>
          <a:lstStyle/>
          <a:p>
            <a:pPr indent="0" marL="0">
              <a:spcAft>
                <a:spcPts val="600"/>
              </a:spcAft>
              <a:buNone/>
            </a:pPr>
            <a:r>
              <a:rPr lang="en-US" sz="1350" b="1" dirty="0">
                <a:solidFill>
                  <a:srgbClr val="24272A"/>
                </a:solidFill>
                <a:latin typeface="Arial" pitchFamily="34" charset="0"/>
                <a:ea typeface="Arial" pitchFamily="34" charset="-122"/>
                <a:cs typeface="Arial" pitchFamily="34" charset="-120"/>
              </a:rPr>
              <a:t>Applying it to existing data</a:t>
            </a:r>
            <a:endParaRPr lang="en-US" sz="1350" dirty="0"/>
          </a:p>
          <a:p>
            <a:pPr indent="0" marL="0">
              <a:buNone/>
            </a:pPr>
            <a:r>
              <a:rPr lang="en-US" sz="1100" dirty="0">
                <a:solidFill>
                  <a:srgbClr val="6B7177"/>
                </a:solidFill>
                <a:latin typeface="Arial" pitchFamily="34" charset="0"/>
                <a:ea typeface="Arial" pitchFamily="34" charset="-122"/>
                <a:cs typeface="Arial" pitchFamily="34" charset="-120"/>
              </a:rPr>
              <a:t>The rules run on new scans automatically. To reach the existing backlog, re-run the reconcile job for the changed Discovered Items.</a:t>
            </a:r>
            <a:endParaRPr lang="en-US" sz="1350" dirty="0"/>
          </a:p>
        </p:txBody>
      </p:sp>
      <p:sp>
        <p:nvSpPr>
          <p:cNvPr id="18" name="Shape 16"/>
          <p:cNvSpPr/>
          <p:nvPr/>
        </p:nvSpPr>
        <p:spPr>
          <a:xfrm>
            <a:off x="6199632" y="4370832"/>
            <a:ext cx="5532120" cy="1371600"/>
          </a:xfrm>
          <a:prstGeom prst="roundRect">
            <a:avLst>
              <a:gd name="adj" fmla="val 3333"/>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9" name="Text 17"/>
          <p:cNvSpPr txBox="1"/>
          <p:nvPr/>
        </p:nvSpPr>
        <p:spPr>
          <a:xfrm>
            <a:off x="6428232" y="4462272"/>
            <a:ext cx="5074920" cy="1188720"/>
          </a:xfrm>
          <a:prstGeom prst="rect">
            <a:avLst/>
          </a:prstGeom>
          <a:noFill/>
          <a:ln/>
        </p:spPr>
        <p:txBody>
          <a:bodyPr wrap="square" lIns="0" tIns="0" rIns="0" bIns="0" rtlCol="0" anchor="ctr"/>
          <a:lstStyle/>
          <a:p>
            <a:pPr indent="0" marL="0">
              <a:spcAft>
                <a:spcPts val="600"/>
              </a:spcAft>
              <a:buNone/>
            </a:pPr>
            <a:r>
              <a:rPr lang="en-US" sz="1350" b="1" dirty="0">
                <a:solidFill>
                  <a:srgbClr val="24272A"/>
                </a:solidFill>
                <a:latin typeface="Arial" pitchFamily="34" charset="0"/>
                <a:ea typeface="Arial" pitchFamily="34" charset="-122"/>
                <a:cs typeface="Arial" pitchFamily="34" charset="-120"/>
              </a:rPr>
              <a:t>What to watch first</a:t>
            </a:r>
            <a:endParaRPr lang="en-US" sz="1350" dirty="0"/>
          </a:p>
          <a:p>
            <a:pPr indent="0" marL="0">
              <a:buNone/>
            </a:pPr>
            <a:r>
              <a:rPr lang="en-US" sz="1100" dirty="0">
                <a:solidFill>
                  <a:srgbClr val="6B7177"/>
                </a:solidFill>
                <a:latin typeface="Arial" pitchFamily="34" charset="0"/>
                <a:ea typeface="Arial" pitchFamily="34" charset="-122"/>
                <a:cs typeface="Arial" pitchFamily="34" charset="-120"/>
              </a:rPr>
              <a:t>The matched share of Discovered Items by rule. A rule that suddenly matches far more than its group size is the early sign that a list has been widened too far.</a:t>
            </a:r>
            <a:endParaRPr lang="en-US" sz="1350" dirty="0"/>
          </a:p>
        </p:txBody>
      </p:sp>
      <p:sp>
        <p:nvSpPr>
          <p:cNvPr id="20" name="Text 18"/>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Both sets are Global scope. The rule table is not update-set tracked by default, so each rule is captured explicitly on save.</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Rule reference</a:t>
            </a:r>
            <a:endParaRPr lang="en-US" sz="3000" dirty="0"/>
          </a:p>
        </p:txBody>
      </p:sp>
      <p:sp>
        <p:nvSpPr>
          <p:cNvPr id="4" name="Text 2"/>
          <p:cNvSpPr txBox="1"/>
          <p:nvPr/>
        </p:nvSpPr>
        <p:spPr>
          <a:xfrm>
            <a:off x="457200" y="1371600"/>
            <a:ext cx="77724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ORDER</a:t>
            </a:r>
            <a:endParaRPr lang="en-US" sz="850" dirty="0"/>
          </a:p>
        </p:txBody>
      </p:sp>
      <p:sp>
        <p:nvSpPr>
          <p:cNvPr id="5" name="Text 3"/>
          <p:cNvSpPr txBox="1"/>
          <p:nvPr/>
        </p:nvSpPr>
        <p:spPr>
          <a:xfrm>
            <a:off x="1325880" y="1371600"/>
            <a:ext cx="320040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RULE</a:t>
            </a:r>
            <a:endParaRPr lang="en-US" sz="850" dirty="0"/>
          </a:p>
        </p:txBody>
      </p:sp>
      <p:sp>
        <p:nvSpPr>
          <p:cNvPr id="6" name="Text 4"/>
          <p:cNvSpPr txBox="1"/>
          <p:nvPr/>
        </p:nvSpPr>
        <p:spPr>
          <a:xfrm>
            <a:off x="4617720" y="1371600"/>
            <a:ext cx="219456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READS</a:t>
            </a:r>
            <a:endParaRPr lang="en-US" sz="850" dirty="0"/>
          </a:p>
        </p:txBody>
      </p:sp>
      <p:sp>
        <p:nvSpPr>
          <p:cNvPr id="7" name="Text 5"/>
          <p:cNvSpPr txBox="1"/>
          <p:nvPr/>
        </p:nvSpPr>
        <p:spPr>
          <a:xfrm>
            <a:off x="6903720" y="1371600"/>
            <a:ext cx="521208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RETURNS</a:t>
            </a:r>
            <a:endParaRPr lang="en-US" sz="850" dirty="0"/>
          </a:p>
        </p:txBody>
      </p:sp>
      <p:sp>
        <p:nvSpPr>
          <p:cNvPr id="8" name="Shape 6"/>
          <p:cNvSpPr/>
          <p:nvPr/>
        </p:nvSpPr>
        <p:spPr>
          <a:xfrm>
            <a:off x="457200" y="1664208"/>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Text 7"/>
          <p:cNvSpPr txBox="1"/>
          <p:nvPr/>
        </p:nvSpPr>
        <p:spPr>
          <a:xfrm>
            <a:off x="585216" y="1664208"/>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175</a:t>
            </a:r>
            <a:endParaRPr lang="en-US" sz="1000" dirty="0"/>
          </a:p>
        </p:txBody>
      </p:sp>
      <p:sp>
        <p:nvSpPr>
          <p:cNvPr id="10" name="Text 8"/>
          <p:cNvSpPr txBox="1"/>
          <p:nvPr/>
        </p:nvSpPr>
        <p:spPr>
          <a:xfrm>
            <a:off x="1325880" y="1664208"/>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Serial Number Class Match</a:t>
            </a:r>
            <a:endParaRPr lang="en-US" sz="1000" dirty="0"/>
          </a:p>
        </p:txBody>
      </p:sp>
      <p:sp>
        <p:nvSpPr>
          <p:cNvPr id="11" name="Text 9"/>
          <p:cNvSpPr txBox="1"/>
          <p:nvPr/>
        </p:nvSpPr>
        <p:spPr>
          <a:xfrm>
            <a:off x="4617720" y="1664208"/>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SERIAL_NUMBER, plus the OS</a:t>
            </a:r>
            <a:endParaRPr lang="en-US" sz="950" dirty="0"/>
          </a:p>
        </p:txBody>
      </p:sp>
      <p:sp>
        <p:nvSpPr>
          <p:cNvPr id="12" name="Text 10"/>
          <p:cNvSpPr txBox="1"/>
          <p:nvPr/>
        </p:nvSpPr>
        <p:spPr>
          <a:xfrm>
            <a:off x="6903720" y="1664208"/>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CI of that class carrying the serial, else null</a:t>
            </a:r>
            <a:endParaRPr lang="en-US" sz="950" dirty="0"/>
          </a:p>
        </p:txBody>
      </p:sp>
      <p:sp>
        <p:nvSpPr>
          <p:cNvPr id="13" name="Shape 11"/>
          <p:cNvSpPr/>
          <p:nvPr/>
        </p:nvSpPr>
        <p:spPr>
          <a:xfrm>
            <a:off x="457200" y="2139696"/>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Text 12"/>
          <p:cNvSpPr txBox="1"/>
          <p:nvPr/>
        </p:nvSpPr>
        <p:spPr>
          <a:xfrm>
            <a:off x="585216" y="2139696"/>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180</a:t>
            </a:r>
            <a:endParaRPr lang="en-US" sz="1000" dirty="0"/>
          </a:p>
        </p:txBody>
      </p:sp>
      <p:sp>
        <p:nvSpPr>
          <p:cNvPr id="15" name="Text 13"/>
          <p:cNvSpPr txBox="1"/>
          <p:nvPr/>
        </p:nvSpPr>
        <p:spPr>
          <a:xfrm>
            <a:off x="1325880" y="2139696"/>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Serial Number Hardware Match</a:t>
            </a:r>
            <a:endParaRPr lang="en-US" sz="1000" dirty="0"/>
          </a:p>
        </p:txBody>
      </p:sp>
      <p:sp>
        <p:nvSpPr>
          <p:cNvPr id="16" name="Text 14"/>
          <p:cNvSpPr txBox="1"/>
          <p:nvPr/>
        </p:nvSpPr>
        <p:spPr>
          <a:xfrm>
            <a:off x="4617720" y="2139696"/>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SERIAL_NUMBER</a:t>
            </a:r>
            <a:endParaRPr lang="en-US" sz="950" dirty="0"/>
          </a:p>
        </p:txBody>
      </p:sp>
      <p:sp>
        <p:nvSpPr>
          <p:cNvPr id="17" name="Text 15"/>
          <p:cNvSpPr txBox="1"/>
          <p:nvPr/>
        </p:nvSpPr>
        <p:spPr>
          <a:xfrm>
            <a:off x="6903720" y="2139696"/>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carrying the serial, else null</a:t>
            </a:r>
            <a:endParaRPr lang="en-US" sz="950" dirty="0"/>
          </a:p>
        </p:txBody>
      </p:sp>
      <p:sp>
        <p:nvSpPr>
          <p:cNvPr id="18" name="Shape 16"/>
          <p:cNvSpPr/>
          <p:nvPr/>
        </p:nvSpPr>
        <p:spPr>
          <a:xfrm>
            <a:off x="457200" y="2615184"/>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9" name="Text 17"/>
          <p:cNvSpPr txBox="1"/>
          <p:nvPr/>
        </p:nvSpPr>
        <p:spPr>
          <a:xfrm>
            <a:off x="585216" y="2615184"/>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200</a:t>
            </a:r>
            <a:endParaRPr lang="en-US" sz="1000" dirty="0"/>
          </a:p>
        </p:txBody>
      </p:sp>
      <p:sp>
        <p:nvSpPr>
          <p:cNvPr id="20" name="Text 18"/>
          <p:cNvSpPr txBox="1"/>
          <p:nvPr/>
        </p:nvSpPr>
        <p:spPr>
          <a:xfrm>
            <a:off x="1325880" y="2615184"/>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Cisco IP Phone MAC</a:t>
            </a:r>
            <a:endParaRPr lang="en-US" sz="1000" dirty="0"/>
          </a:p>
        </p:txBody>
      </p:sp>
      <p:sp>
        <p:nvSpPr>
          <p:cNvPr id="21" name="Text 19"/>
          <p:cNvSpPr txBox="1"/>
          <p:nvPr/>
        </p:nvSpPr>
        <p:spPr>
          <a:xfrm>
            <a:off x="4617720" y="2615184"/>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a:t>
            </a:r>
            <a:endParaRPr lang="en-US" sz="950" dirty="0"/>
          </a:p>
        </p:txBody>
      </p:sp>
      <p:sp>
        <p:nvSpPr>
          <p:cNvPr id="22" name="Text 20"/>
          <p:cNvSpPr txBox="1"/>
          <p:nvPr/>
        </p:nvSpPr>
        <p:spPr>
          <a:xfrm>
            <a:off x="6903720" y="2615184"/>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IP Phone CI carrying that MAC, else null</a:t>
            </a:r>
            <a:endParaRPr lang="en-US" sz="950" dirty="0"/>
          </a:p>
        </p:txBody>
      </p:sp>
      <p:sp>
        <p:nvSpPr>
          <p:cNvPr id="23" name="Shape 21"/>
          <p:cNvSpPr/>
          <p:nvPr/>
        </p:nvSpPr>
        <p:spPr>
          <a:xfrm>
            <a:off x="457200" y="3090672"/>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4" name="Text 22"/>
          <p:cNvSpPr txBox="1"/>
          <p:nvPr/>
        </p:nvSpPr>
        <p:spPr>
          <a:xfrm>
            <a:off x="585216" y="3090672"/>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250</a:t>
            </a:r>
            <a:endParaRPr lang="en-US" sz="1000" dirty="0"/>
          </a:p>
        </p:txBody>
      </p:sp>
      <p:sp>
        <p:nvSpPr>
          <p:cNvPr id="25" name="Text 23"/>
          <p:cNvSpPr txBox="1"/>
          <p:nvPr/>
        </p:nvSpPr>
        <p:spPr>
          <a:xfrm>
            <a:off x="1325880" y="3090672"/>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FQDN Class Match</a:t>
            </a:r>
            <a:endParaRPr lang="en-US" sz="1000" dirty="0"/>
          </a:p>
        </p:txBody>
      </p:sp>
      <p:sp>
        <p:nvSpPr>
          <p:cNvPr id="26" name="Text 24"/>
          <p:cNvSpPr txBox="1"/>
          <p:nvPr/>
        </p:nvSpPr>
        <p:spPr>
          <a:xfrm>
            <a:off x="4617720" y="3090672"/>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OS and the IP</a:t>
            </a:r>
            <a:endParaRPr lang="en-US" sz="950" dirty="0"/>
          </a:p>
        </p:txBody>
      </p:sp>
      <p:sp>
        <p:nvSpPr>
          <p:cNvPr id="27" name="Text 25"/>
          <p:cNvSpPr txBox="1"/>
          <p:nvPr/>
        </p:nvSpPr>
        <p:spPr>
          <a:xfrm>
            <a:off x="6903720" y="3090672"/>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CI of that class whose fqdn equals the scanned name</a:t>
            </a:r>
            <a:endParaRPr lang="en-US" sz="950" dirty="0"/>
          </a:p>
        </p:txBody>
      </p:sp>
      <p:sp>
        <p:nvSpPr>
          <p:cNvPr id="28" name="Shape 26"/>
          <p:cNvSpPr/>
          <p:nvPr/>
        </p:nvSpPr>
        <p:spPr>
          <a:xfrm>
            <a:off x="457200" y="3566160"/>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9" name="Text 27"/>
          <p:cNvSpPr txBox="1"/>
          <p:nvPr/>
        </p:nvSpPr>
        <p:spPr>
          <a:xfrm>
            <a:off x="585216" y="3566160"/>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260</a:t>
            </a:r>
            <a:endParaRPr lang="en-US" sz="1000" dirty="0"/>
          </a:p>
        </p:txBody>
      </p:sp>
      <p:sp>
        <p:nvSpPr>
          <p:cNvPr id="30" name="Text 28"/>
          <p:cNvSpPr txBox="1"/>
          <p:nvPr/>
        </p:nvSpPr>
        <p:spPr>
          <a:xfrm>
            <a:off x="1325880" y="3566160"/>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FQDN Hardware Match</a:t>
            </a:r>
            <a:endParaRPr lang="en-US" sz="1000" dirty="0"/>
          </a:p>
        </p:txBody>
      </p:sp>
      <p:sp>
        <p:nvSpPr>
          <p:cNvPr id="31" name="Text 29"/>
          <p:cNvSpPr txBox="1"/>
          <p:nvPr/>
        </p:nvSpPr>
        <p:spPr>
          <a:xfrm>
            <a:off x="4617720" y="3566160"/>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IP</a:t>
            </a:r>
            <a:endParaRPr lang="en-US" sz="950" dirty="0"/>
          </a:p>
        </p:txBody>
      </p:sp>
      <p:sp>
        <p:nvSpPr>
          <p:cNvPr id="32" name="Text 30"/>
          <p:cNvSpPr txBox="1"/>
          <p:nvPr/>
        </p:nvSpPr>
        <p:spPr>
          <a:xfrm>
            <a:off x="6903720" y="3566160"/>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whose fqdn equals the scanned name</a:t>
            </a:r>
            <a:endParaRPr lang="en-US" sz="950" dirty="0"/>
          </a:p>
        </p:txBody>
      </p:sp>
      <p:sp>
        <p:nvSpPr>
          <p:cNvPr id="33" name="Shape 31"/>
          <p:cNvSpPr/>
          <p:nvPr/>
        </p:nvSpPr>
        <p:spPr>
          <a:xfrm>
            <a:off x="457200" y="4041648"/>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4" name="Text 32"/>
          <p:cNvSpPr txBox="1"/>
          <p:nvPr/>
        </p:nvSpPr>
        <p:spPr>
          <a:xfrm>
            <a:off x="585216" y="4041648"/>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300</a:t>
            </a:r>
            <a:endParaRPr lang="en-US" sz="1000" dirty="0"/>
          </a:p>
        </p:txBody>
      </p:sp>
      <p:sp>
        <p:nvSpPr>
          <p:cNvPr id="35" name="Text 33"/>
          <p:cNvSpPr txBox="1"/>
          <p:nvPr/>
        </p:nvSpPr>
        <p:spPr>
          <a:xfrm>
            <a:off x="1325880" y="4041648"/>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Hostname Domain Class Match</a:t>
            </a:r>
            <a:endParaRPr lang="en-US" sz="1000" dirty="0"/>
          </a:p>
        </p:txBody>
      </p:sp>
      <p:sp>
        <p:nvSpPr>
          <p:cNvPr id="36" name="Text 34"/>
          <p:cNvSpPr txBox="1"/>
          <p:nvPr/>
        </p:nvSpPr>
        <p:spPr>
          <a:xfrm>
            <a:off x="4617720" y="4041648"/>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OS and the IP</a:t>
            </a:r>
            <a:endParaRPr lang="en-US" sz="950" dirty="0"/>
          </a:p>
        </p:txBody>
      </p:sp>
      <p:sp>
        <p:nvSpPr>
          <p:cNvPr id="37" name="Text 35"/>
          <p:cNvSpPr txBox="1"/>
          <p:nvPr/>
        </p:nvSpPr>
        <p:spPr>
          <a:xfrm>
            <a:off x="6903720" y="4041648"/>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CI of that class whose domain evidence agrees</a:t>
            </a:r>
            <a:endParaRPr lang="en-US" sz="950" dirty="0"/>
          </a:p>
        </p:txBody>
      </p:sp>
      <p:sp>
        <p:nvSpPr>
          <p:cNvPr id="38" name="Shape 36"/>
          <p:cNvSpPr/>
          <p:nvPr/>
        </p:nvSpPr>
        <p:spPr>
          <a:xfrm>
            <a:off x="457200" y="4517136"/>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9" name="Text 37"/>
          <p:cNvSpPr txBox="1"/>
          <p:nvPr/>
        </p:nvSpPr>
        <p:spPr>
          <a:xfrm>
            <a:off x="585216" y="4517136"/>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310</a:t>
            </a:r>
            <a:endParaRPr lang="en-US" sz="1000" dirty="0"/>
          </a:p>
        </p:txBody>
      </p:sp>
      <p:sp>
        <p:nvSpPr>
          <p:cNvPr id="40" name="Text 38"/>
          <p:cNvSpPr txBox="1"/>
          <p:nvPr/>
        </p:nvSpPr>
        <p:spPr>
          <a:xfrm>
            <a:off x="1325880" y="4517136"/>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Hostname Domain Hardware Match</a:t>
            </a:r>
            <a:endParaRPr lang="en-US" sz="1000" dirty="0"/>
          </a:p>
        </p:txBody>
      </p:sp>
      <p:sp>
        <p:nvSpPr>
          <p:cNvPr id="41" name="Text 39"/>
          <p:cNvSpPr txBox="1"/>
          <p:nvPr/>
        </p:nvSpPr>
        <p:spPr>
          <a:xfrm>
            <a:off x="4617720" y="4517136"/>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IP</a:t>
            </a:r>
            <a:endParaRPr lang="en-US" sz="950" dirty="0"/>
          </a:p>
        </p:txBody>
      </p:sp>
      <p:sp>
        <p:nvSpPr>
          <p:cNvPr id="42" name="Text 40"/>
          <p:cNvSpPr txBox="1"/>
          <p:nvPr/>
        </p:nvSpPr>
        <p:spPr>
          <a:xfrm>
            <a:off x="6903720" y="4517136"/>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whose domain evidence agrees</a:t>
            </a:r>
            <a:endParaRPr lang="en-US" sz="950" dirty="0"/>
          </a:p>
        </p:txBody>
      </p:sp>
      <p:sp>
        <p:nvSpPr>
          <p:cNvPr id="43" name="Shape 41"/>
          <p:cNvSpPr/>
          <p:nvPr/>
        </p:nvSpPr>
        <p:spPr>
          <a:xfrm>
            <a:off x="457200" y="4992624"/>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44" name="Text 42"/>
          <p:cNvSpPr txBox="1"/>
          <p:nvPr/>
        </p:nvSpPr>
        <p:spPr>
          <a:xfrm>
            <a:off x="585216" y="4992624"/>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350</a:t>
            </a:r>
            <a:endParaRPr lang="en-US" sz="1000" dirty="0"/>
          </a:p>
        </p:txBody>
      </p:sp>
      <p:sp>
        <p:nvSpPr>
          <p:cNvPr id="45" name="Text 43"/>
          <p:cNvSpPr txBox="1"/>
          <p:nvPr/>
        </p:nvSpPr>
        <p:spPr>
          <a:xfrm>
            <a:off x="1325880" y="4992624"/>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Layered DNS Match</a:t>
            </a:r>
            <a:endParaRPr lang="en-US" sz="1000" dirty="0"/>
          </a:p>
        </p:txBody>
      </p:sp>
      <p:sp>
        <p:nvSpPr>
          <p:cNvPr id="46" name="Text 44"/>
          <p:cNvSpPr txBox="1"/>
          <p:nvPr/>
        </p:nvSpPr>
        <p:spPr>
          <a:xfrm>
            <a:off x="4617720" y="4992624"/>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IP</a:t>
            </a:r>
            <a:endParaRPr lang="en-US" sz="950" dirty="0"/>
          </a:p>
        </p:txBody>
      </p:sp>
      <p:sp>
        <p:nvSpPr>
          <p:cNvPr id="47" name="Text 45"/>
          <p:cNvSpPr txBox="1"/>
          <p:nvPr/>
        </p:nvSpPr>
        <p:spPr>
          <a:xfrm>
            <a:off x="6903720" y="4992624"/>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CI at the end of DNS Name to IP Address to adapter to CI</a:t>
            </a:r>
            <a:endParaRPr lang="en-US" sz="950" dirty="0"/>
          </a:p>
        </p:txBody>
      </p:sp>
      <p:sp>
        <p:nvSpPr>
          <p:cNvPr id="48" name="Shape 46"/>
          <p:cNvSpPr/>
          <p:nvPr/>
        </p:nvSpPr>
        <p:spPr>
          <a:xfrm>
            <a:off x="457200" y="5468112"/>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49" name="Text 47"/>
          <p:cNvSpPr txBox="1"/>
          <p:nvPr/>
        </p:nvSpPr>
        <p:spPr>
          <a:xfrm>
            <a:off x="585216" y="5468112"/>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400</a:t>
            </a:r>
            <a:endParaRPr lang="en-US" sz="1000" dirty="0"/>
          </a:p>
        </p:txBody>
      </p:sp>
      <p:sp>
        <p:nvSpPr>
          <p:cNvPr id="50" name="Text 48"/>
          <p:cNvSpPr txBox="1"/>
          <p:nvPr/>
        </p:nvSpPr>
        <p:spPr>
          <a:xfrm>
            <a:off x="1325880" y="5468112"/>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Hostname Class Match</a:t>
            </a:r>
            <a:endParaRPr lang="en-US" sz="1000" dirty="0"/>
          </a:p>
        </p:txBody>
      </p:sp>
      <p:sp>
        <p:nvSpPr>
          <p:cNvPr id="51" name="Text 49"/>
          <p:cNvSpPr txBox="1"/>
          <p:nvPr/>
        </p:nvSpPr>
        <p:spPr>
          <a:xfrm>
            <a:off x="4617720" y="5468112"/>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OS</a:t>
            </a:r>
            <a:endParaRPr lang="en-US" sz="950" dirty="0"/>
          </a:p>
        </p:txBody>
      </p:sp>
      <p:sp>
        <p:nvSpPr>
          <p:cNvPr id="52" name="Text 50"/>
          <p:cNvSpPr txBox="1"/>
          <p:nvPr/>
        </p:nvSpPr>
        <p:spPr>
          <a:xfrm>
            <a:off x="6903720" y="5468112"/>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CI of that class named with the short hostname</a:t>
            </a:r>
            <a:endParaRPr lang="en-US" sz="950" dirty="0"/>
          </a:p>
        </p:txBody>
      </p:sp>
      <p:sp>
        <p:nvSpPr>
          <p:cNvPr id="53" name="Shape 51"/>
          <p:cNvSpPr/>
          <p:nvPr/>
        </p:nvSpPr>
        <p:spPr>
          <a:xfrm>
            <a:off x="457200" y="5943600"/>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54" name="Text 52"/>
          <p:cNvSpPr txBox="1"/>
          <p:nvPr/>
        </p:nvSpPr>
        <p:spPr>
          <a:xfrm>
            <a:off x="585216" y="5943600"/>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410</a:t>
            </a:r>
            <a:endParaRPr lang="en-US" sz="1000" dirty="0"/>
          </a:p>
        </p:txBody>
      </p:sp>
      <p:sp>
        <p:nvSpPr>
          <p:cNvPr id="55" name="Text 53"/>
          <p:cNvSpPr txBox="1"/>
          <p:nvPr/>
        </p:nvSpPr>
        <p:spPr>
          <a:xfrm>
            <a:off x="1325880" y="5943600"/>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Hostname Hardware Match</a:t>
            </a:r>
            <a:endParaRPr lang="en-US" sz="1000" dirty="0"/>
          </a:p>
        </p:txBody>
      </p:sp>
      <p:sp>
        <p:nvSpPr>
          <p:cNvPr id="56" name="Text 54"/>
          <p:cNvSpPr txBox="1"/>
          <p:nvPr/>
        </p:nvSpPr>
        <p:spPr>
          <a:xfrm>
            <a:off x="4617720" y="5943600"/>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OS</a:t>
            </a:r>
            <a:endParaRPr lang="en-US" sz="950" dirty="0"/>
          </a:p>
        </p:txBody>
      </p:sp>
      <p:sp>
        <p:nvSpPr>
          <p:cNvPr id="57" name="Text 55"/>
          <p:cNvSpPr txBox="1"/>
          <p:nvPr/>
        </p:nvSpPr>
        <p:spPr>
          <a:xfrm>
            <a:off x="6903720" y="5943600"/>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named with the hostname, class permitting</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4F5F6"/>
        </a:solidFill>
      </p:bgPr>
    </p:bg>
    <p:spTree>
      <p:nvGrpSpPr>
        <p:cNvPr id="1" name=""/>
        <p:cNvGrpSpPr/>
        <p:nvPr/>
      </p:nvGrpSpPr>
      <p:grpSpPr>
        <a:xfrm>
          <a:off x="0" y="0"/>
          <a:ext cx="0" cy="0"/>
          <a:chOff x="0" y="0"/>
          <a:chExt cx="0" cy="0"/>
        </a:xfrm>
      </p:grpSpPr>
      <p:sp>
        <p:nvSpPr>
          <p:cNvPr id="2" name="Text 0"/>
          <p:cNvSpPr txBox="1"/>
          <p:nvPr/>
        </p:nvSpPr>
        <p:spPr>
          <a:xfrm>
            <a:off x="457200" y="310896"/>
            <a:ext cx="11247120" cy="219456"/>
          </a:xfrm>
          <a:prstGeom prst="rect">
            <a:avLst/>
          </a:prstGeom>
          <a:noFill/>
          <a:ln/>
        </p:spPr>
        <p:txBody>
          <a:bodyPr wrap="square" lIns="0" tIns="0" rIns="0" bIns="0" rtlCol="0" anchor="ctr"/>
          <a:lstStyle/>
          <a:p>
            <a:pPr indent="0" marL="0">
              <a:buNone/>
            </a:pPr>
            <a:r>
              <a:rPr lang="en-US" sz="1050" b="1" spc="160" kern="0" dirty="0">
                <a:solidFill>
                  <a:srgbClr val="E31837"/>
                </a:solidFill>
                <a:latin typeface="Arial" pitchFamily="34" charset="0"/>
                <a:ea typeface="Arial" pitchFamily="34" charset="-122"/>
                <a:cs typeface="Arial" pitchFamily="34" charset="-120"/>
              </a:rPr>
              <a:t>APPENDIX</a:t>
            </a:r>
            <a:endParaRPr lang="en-US" sz="1050" dirty="0"/>
          </a:p>
        </p:txBody>
      </p:sp>
      <p:sp>
        <p:nvSpPr>
          <p:cNvPr id="3" name="Text 1"/>
          <p:cNvSpPr txBox="1"/>
          <p:nvPr/>
        </p:nvSpPr>
        <p:spPr>
          <a:xfrm>
            <a:off x="457200" y="548640"/>
            <a:ext cx="11247120" cy="566928"/>
          </a:xfrm>
          <a:prstGeom prst="rect">
            <a:avLst/>
          </a:prstGeom>
          <a:noFill/>
          <a:ln/>
        </p:spPr>
        <p:txBody>
          <a:bodyPr wrap="square" lIns="0" tIns="0" rIns="0" bIns="0" rtlCol="0" anchor="t"/>
          <a:lstStyle/>
          <a:p>
            <a:pPr indent="0" marL="0">
              <a:buNone/>
            </a:pPr>
            <a:r>
              <a:rPr lang="en-US" sz="3000" b="1" dirty="0">
                <a:solidFill>
                  <a:srgbClr val="24272A"/>
                </a:solidFill>
                <a:latin typeface="Arial" pitchFamily="34" charset="0"/>
                <a:ea typeface="Arial" pitchFamily="34" charset="-122"/>
                <a:cs typeface="Arial" pitchFamily="34" charset="-120"/>
              </a:rPr>
              <a:t>Rule reference, continued</a:t>
            </a:r>
            <a:endParaRPr lang="en-US" sz="3000" dirty="0"/>
          </a:p>
        </p:txBody>
      </p:sp>
      <p:sp>
        <p:nvSpPr>
          <p:cNvPr id="4" name="Text 2"/>
          <p:cNvSpPr txBox="1"/>
          <p:nvPr/>
        </p:nvSpPr>
        <p:spPr>
          <a:xfrm>
            <a:off x="457200" y="1371600"/>
            <a:ext cx="77724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ORDER</a:t>
            </a:r>
            <a:endParaRPr lang="en-US" sz="850" dirty="0"/>
          </a:p>
        </p:txBody>
      </p:sp>
      <p:sp>
        <p:nvSpPr>
          <p:cNvPr id="5" name="Text 3"/>
          <p:cNvSpPr txBox="1"/>
          <p:nvPr/>
        </p:nvSpPr>
        <p:spPr>
          <a:xfrm>
            <a:off x="1325880" y="1371600"/>
            <a:ext cx="320040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RULE</a:t>
            </a:r>
            <a:endParaRPr lang="en-US" sz="850" dirty="0"/>
          </a:p>
        </p:txBody>
      </p:sp>
      <p:sp>
        <p:nvSpPr>
          <p:cNvPr id="6" name="Text 4"/>
          <p:cNvSpPr txBox="1"/>
          <p:nvPr/>
        </p:nvSpPr>
        <p:spPr>
          <a:xfrm>
            <a:off x="4617720" y="1371600"/>
            <a:ext cx="219456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READS</a:t>
            </a:r>
            <a:endParaRPr lang="en-US" sz="850" dirty="0"/>
          </a:p>
        </p:txBody>
      </p:sp>
      <p:sp>
        <p:nvSpPr>
          <p:cNvPr id="7" name="Text 5"/>
          <p:cNvSpPr txBox="1"/>
          <p:nvPr/>
        </p:nvSpPr>
        <p:spPr>
          <a:xfrm>
            <a:off x="6903720" y="1371600"/>
            <a:ext cx="5212080" cy="219456"/>
          </a:xfrm>
          <a:prstGeom prst="rect">
            <a:avLst/>
          </a:prstGeom>
          <a:noFill/>
          <a:ln/>
        </p:spPr>
        <p:txBody>
          <a:bodyPr wrap="square" lIns="0" tIns="0" rIns="0" bIns="0" rtlCol="0" anchor="ctr"/>
          <a:lstStyle/>
          <a:p>
            <a:pPr indent="0" marL="0">
              <a:buNone/>
            </a:pPr>
            <a:r>
              <a:rPr lang="en-US" sz="850" b="1" spc="120" kern="0" dirty="0">
                <a:solidFill>
                  <a:srgbClr val="E31837"/>
                </a:solidFill>
                <a:latin typeface="Arial" pitchFamily="34" charset="0"/>
                <a:ea typeface="Arial" pitchFamily="34" charset="-122"/>
                <a:cs typeface="Arial" pitchFamily="34" charset="-120"/>
              </a:rPr>
              <a:t>RETURNS</a:t>
            </a:r>
            <a:endParaRPr lang="en-US" sz="850" dirty="0"/>
          </a:p>
        </p:txBody>
      </p:sp>
      <p:sp>
        <p:nvSpPr>
          <p:cNvPr id="8" name="Shape 6"/>
          <p:cNvSpPr/>
          <p:nvPr/>
        </p:nvSpPr>
        <p:spPr>
          <a:xfrm>
            <a:off x="457200" y="1664208"/>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9" name="Text 7"/>
          <p:cNvSpPr txBox="1"/>
          <p:nvPr/>
        </p:nvSpPr>
        <p:spPr>
          <a:xfrm>
            <a:off x="585216" y="1664208"/>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420</a:t>
            </a:r>
            <a:endParaRPr lang="en-US" sz="1000" dirty="0"/>
          </a:p>
        </p:txBody>
      </p:sp>
      <p:sp>
        <p:nvSpPr>
          <p:cNvPr id="10" name="Text 8"/>
          <p:cNvSpPr txBox="1"/>
          <p:nvPr/>
        </p:nvSpPr>
        <p:spPr>
          <a:xfrm>
            <a:off x="1325880" y="1664208"/>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Management Interface Match</a:t>
            </a:r>
            <a:endParaRPr lang="en-US" sz="1000" dirty="0"/>
          </a:p>
        </p:txBody>
      </p:sp>
      <p:sp>
        <p:nvSpPr>
          <p:cNvPr id="11" name="Text 9"/>
          <p:cNvSpPr txBox="1"/>
          <p:nvPr/>
        </p:nvSpPr>
        <p:spPr>
          <a:xfrm>
            <a:off x="4617720" y="1664208"/>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OS</a:t>
            </a:r>
            <a:endParaRPr lang="en-US" sz="950" dirty="0"/>
          </a:p>
        </p:txBody>
      </p:sp>
      <p:sp>
        <p:nvSpPr>
          <p:cNvPr id="12" name="Text 10"/>
          <p:cNvSpPr txBox="1"/>
          <p:nvPr/>
        </p:nvSpPr>
        <p:spPr>
          <a:xfrm>
            <a:off x="6903720" y="1664208"/>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named like the label without its suffix</a:t>
            </a:r>
            <a:endParaRPr lang="en-US" sz="950" dirty="0"/>
          </a:p>
        </p:txBody>
      </p:sp>
      <p:sp>
        <p:nvSpPr>
          <p:cNvPr id="13" name="Shape 11"/>
          <p:cNvSpPr/>
          <p:nvPr/>
        </p:nvSpPr>
        <p:spPr>
          <a:xfrm>
            <a:off x="457200" y="2139696"/>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4" name="Text 12"/>
          <p:cNvSpPr txBox="1"/>
          <p:nvPr/>
        </p:nvSpPr>
        <p:spPr>
          <a:xfrm>
            <a:off x="585216" y="2139696"/>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430</a:t>
            </a:r>
            <a:endParaRPr lang="en-US" sz="1000" dirty="0"/>
          </a:p>
        </p:txBody>
      </p:sp>
      <p:sp>
        <p:nvSpPr>
          <p:cNvPr id="15" name="Text 13"/>
          <p:cNvSpPr txBox="1"/>
          <p:nvPr/>
        </p:nvSpPr>
        <p:spPr>
          <a:xfrm>
            <a:off x="1325880" y="2139696"/>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Network Interface Name Match</a:t>
            </a:r>
            <a:endParaRPr lang="en-US" sz="1000" dirty="0"/>
          </a:p>
        </p:txBody>
      </p:sp>
      <p:sp>
        <p:nvSpPr>
          <p:cNvPr id="16" name="Text 14"/>
          <p:cNvSpPr txBox="1"/>
          <p:nvPr/>
        </p:nvSpPr>
        <p:spPr>
          <a:xfrm>
            <a:off x="4617720" y="2139696"/>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 plus the OS</a:t>
            </a:r>
            <a:endParaRPr lang="en-US" sz="950" dirty="0"/>
          </a:p>
        </p:txBody>
      </p:sp>
      <p:sp>
        <p:nvSpPr>
          <p:cNvPr id="17" name="Text 15"/>
          <p:cNvSpPr txBox="1"/>
          <p:nvPr/>
        </p:nvSpPr>
        <p:spPr>
          <a:xfrm>
            <a:off x="6903720" y="2139696"/>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Network Gear or Load Balancer device named by a prefix</a:t>
            </a:r>
            <a:endParaRPr lang="en-US" sz="950" dirty="0"/>
          </a:p>
        </p:txBody>
      </p:sp>
      <p:sp>
        <p:nvSpPr>
          <p:cNvPr id="18" name="Shape 16"/>
          <p:cNvSpPr/>
          <p:nvPr/>
        </p:nvSpPr>
        <p:spPr>
          <a:xfrm>
            <a:off x="457200" y="2615184"/>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19" name="Text 17"/>
          <p:cNvSpPr txBox="1"/>
          <p:nvPr/>
        </p:nvSpPr>
        <p:spPr>
          <a:xfrm>
            <a:off x="585216" y="2615184"/>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450</a:t>
            </a:r>
            <a:endParaRPr lang="en-US" sz="1000" dirty="0"/>
          </a:p>
        </p:txBody>
      </p:sp>
      <p:sp>
        <p:nvSpPr>
          <p:cNvPr id="20" name="Text 18"/>
          <p:cNvSpPr txBox="1"/>
          <p:nvPr/>
        </p:nvSpPr>
        <p:spPr>
          <a:xfrm>
            <a:off x="1325880" y="2615184"/>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FQDN Name Hardware Match</a:t>
            </a:r>
            <a:endParaRPr lang="en-US" sz="1000" dirty="0"/>
          </a:p>
        </p:txBody>
      </p:sp>
      <p:sp>
        <p:nvSpPr>
          <p:cNvPr id="21" name="Text 19"/>
          <p:cNvSpPr txBox="1"/>
          <p:nvPr/>
        </p:nvSpPr>
        <p:spPr>
          <a:xfrm>
            <a:off x="4617720" y="2615184"/>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a:t>
            </a:r>
            <a:endParaRPr lang="en-US" sz="950" dirty="0"/>
          </a:p>
        </p:txBody>
      </p:sp>
      <p:sp>
        <p:nvSpPr>
          <p:cNvPr id="22" name="Text 20"/>
          <p:cNvSpPr txBox="1"/>
          <p:nvPr/>
        </p:nvSpPr>
        <p:spPr>
          <a:xfrm>
            <a:off x="6903720" y="2615184"/>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whose name is exactly the scanned FQDN</a:t>
            </a:r>
            <a:endParaRPr lang="en-US" sz="950" dirty="0"/>
          </a:p>
        </p:txBody>
      </p:sp>
      <p:sp>
        <p:nvSpPr>
          <p:cNvPr id="23" name="Shape 21"/>
          <p:cNvSpPr/>
          <p:nvPr/>
        </p:nvSpPr>
        <p:spPr>
          <a:xfrm>
            <a:off x="457200" y="3090672"/>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4" name="Text 22"/>
          <p:cNvSpPr txBox="1"/>
          <p:nvPr/>
        </p:nvSpPr>
        <p:spPr>
          <a:xfrm>
            <a:off x="585216" y="3090672"/>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460</a:t>
            </a:r>
            <a:endParaRPr lang="en-US" sz="1000" dirty="0"/>
          </a:p>
        </p:txBody>
      </p:sp>
      <p:sp>
        <p:nvSpPr>
          <p:cNvPr id="25" name="Text 23"/>
          <p:cNvSpPr txBox="1"/>
          <p:nvPr/>
        </p:nvSpPr>
        <p:spPr>
          <a:xfrm>
            <a:off x="1325880" y="3090672"/>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Load Balancer Service Match</a:t>
            </a:r>
            <a:endParaRPr lang="en-US" sz="1000" dirty="0"/>
          </a:p>
        </p:txBody>
      </p:sp>
      <p:sp>
        <p:nvSpPr>
          <p:cNvPr id="26" name="Text 24"/>
          <p:cNvSpPr txBox="1"/>
          <p:nvPr/>
        </p:nvSpPr>
        <p:spPr>
          <a:xfrm>
            <a:off x="4617720" y="3090672"/>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IP, plus the OS and the DNS name</a:t>
            </a:r>
            <a:endParaRPr lang="en-US" sz="950" dirty="0"/>
          </a:p>
        </p:txBody>
      </p:sp>
      <p:sp>
        <p:nvSpPr>
          <p:cNvPr id="27" name="Text 25"/>
          <p:cNvSpPr txBox="1"/>
          <p:nvPr/>
        </p:nvSpPr>
        <p:spPr>
          <a:xfrm>
            <a:off x="6903720" y="3090672"/>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Load Balancer Service CI for that VIP</a:t>
            </a:r>
            <a:endParaRPr lang="en-US" sz="950" dirty="0"/>
          </a:p>
        </p:txBody>
      </p:sp>
      <p:sp>
        <p:nvSpPr>
          <p:cNvPr id="28" name="Shape 26"/>
          <p:cNvSpPr/>
          <p:nvPr/>
        </p:nvSpPr>
        <p:spPr>
          <a:xfrm>
            <a:off x="457200" y="3566160"/>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29" name="Text 27"/>
          <p:cNvSpPr txBox="1"/>
          <p:nvPr/>
        </p:nvSpPr>
        <p:spPr>
          <a:xfrm>
            <a:off x="585216" y="3566160"/>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700</a:t>
            </a:r>
            <a:endParaRPr lang="en-US" sz="1000" dirty="0"/>
          </a:p>
        </p:txBody>
      </p:sp>
      <p:sp>
        <p:nvSpPr>
          <p:cNvPr id="30" name="Text 28"/>
          <p:cNvSpPr txBox="1"/>
          <p:nvPr/>
        </p:nvSpPr>
        <p:spPr>
          <a:xfrm>
            <a:off x="1325880" y="3566160"/>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IP Class Match</a:t>
            </a:r>
            <a:endParaRPr lang="en-US" sz="1000" dirty="0"/>
          </a:p>
        </p:txBody>
      </p:sp>
      <p:sp>
        <p:nvSpPr>
          <p:cNvPr id="31" name="Text 29"/>
          <p:cNvSpPr txBox="1"/>
          <p:nvPr/>
        </p:nvSpPr>
        <p:spPr>
          <a:xfrm>
            <a:off x="4617720" y="3566160"/>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IP, plus the OS</a:t>
            </a:r>
            <a:endParaRPr lang="en-US" sz="950" dirty="0"/>
          </a:p>
        </p:txBody>
      </p:sp>
      <p:sp>
        <p:nvSpPr>
          <p:cNvPr id="32" name="Text 30"/>
          <p:cNvSpPr txBox="1"/>
          <p:nvPr/>
        </p:nvSpPr>
        <p:spPr>
          <a:xfrm>
            <a:off x="6903720" y="3566160"/>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CI of that class whose ip_address equals the scanned address</a:t>
            </a:r>
            <a:endParaRPr lang="en-US" sz="950" dirty="0"/>
          </a:p>
        </p:txBody>
      </p:sp>
      <p:sp>
        <p:nvSpPr>
          <p:cNvPr id="33" name="Shape 31"/>
          <p:cNvSpPr/>
          <p:nvPr/>
        </p:nvSpPr>
        <p:spPr>
          <a:xfrm>
            <a:off x="457200" y="4041648"/>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4" name="Text 32"/>
          <p:cNvSpPr txBox="1"/>
          <p:nvPr/>
        </p:nvSpPr>
        <p:spPr>
          <a:xfrm>
            <a:off x="585216" y="4041648"/>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705</a:t>
            </a:r>
            <a:endParaRPr lang="en-US" sz="1000" dirty="0"/>
          </a:p>
        </p:txBody>
      </p:sp>
      <p:sp>
        <p:nvSpPr>
          <p:cNvPr id="35" name="Text 33"/>
          <p:cNvSpPr txBox="1"/>
          <p:nvPr/>
        </p:nvSpPr>
        <p:spPr>
          <a:xfrm>
            <a:off x="1325880" y="4041648"/>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IP Hardware Match</a:t>
            </a:r>
            <a:endParaRPr lang="en-US" sz="1000" dirty="0"/>
          </a:p>
        </p:txBody>
      </p:sp>
      <p:sp>
        <p:nvSpPr>
          <p:cNvPr id="36" name="Text 34"/>
          <p:cNvSpPr txBox="1"/>
          <p:nvPr/>
        </p:nvSpPr>
        <p:spPr>
          <a:xfrm>
            <a:off x="4617720" y="4041648"/>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IP, plus the OS</a:t>
            </a:r>
            <a:endParaRPr lang="en-US" sz="950" dirty="0"/>
          </a:p>
        </p:txBody>
      </p:sp>
      <p:sp>
        <p:nvSpPr>
          <p:cNvPr id="37" name="Text 35"/>
          <p:cNvSpPr txBox="1"/>
          <p:nvPr/>
        </p:nvSpPr>
        <p:spPr>
          <a:xfrm>
            <a:off x="6903720" y="4041648"/>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hardware CI on that address, balancer and class permitting</a:t>
            </a:r>
            <a:endParaRPr lang="en-US" sz="950" dirty="0"/>
          </a:p>
        </p:txBody>
      </p:sp>
      <p:sp>
        <p:nvSpPr>
          <p:cNvPr id="38" name="Shape 36"/>
          <p:cNvSpPr/>
          <p:nvPr/>
        </p:nvSpPr>
        <p:spPr>
          <a:xfrm>
            <a:off x="457200" y="4517136"/>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39" name="Text 37"/>
          <p:cNvSpPr txBox="1"/>
          <p:nvPr/>
        </p:nvSpPr>
        <p:spPr>
          <a:xfrm>
            <a:off x="585216" y="4517136"/>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730</a:t>
            </a:r>
            <a:endParaRPr lang="en-US" sz="1000" dirty="0"/>
          </a:p>
        </p:txBody>
      </p:sp>
      <p:sp>
        <p:nvSpPr>
          <p:cNvPr id="40" name="Text 38"/>
          <p:cNvSpPr txBox="1"/>
          <p:nvPr/>
        </p:nvSpPr>
        <p:spPr>
          <a:xfrm>
            <a:off x="1325880" y="4517136"/>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IP Adapter Match</a:t>
            </a:r>
            <a:endParaRPr lang="en-US" sz="1000" dirty="0"/>
          </a:p>
        </p:txBody>
      </p:sp>
      <p:sp>
        <p:nvSpPr>
          <p:cNvPr id="41" name="Text 39"/>
          <p:cNvSpPr txBox="1"/>
          <p:nvPr/>
        </p:nvSpPr>
        <p:spPr>
          <a:xfrm>
            <a:off x="4617720" y="4517136"/>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IP</a:t>
            </a:r>
            <a:endParaRPr lang="en-US" sz="950" dirty="0"/>
          </a:p>
        </p:txBody>
      </p:sp>
      <p:sp>
        <p:nvSpPr>
          <p:cNvPr id="42" name="Text 40"/>
          <p:cNvSpPr txBox="1"/>
          <p:nvPr/>
        </p:nvSpPr>
        <p:spPr>
          <a:xfrm>
            <a:off x="6903720" y="4517136"/>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CI that owns the adapter carrying the scanned address</a:t>
            </a:r>
            <a:endParaRPr lang="en-US" sz="950" dirty="0"/>
          </a:p>
        </p:txBody>
      </p:sp>
      <p:sp>
        <p:nvSpPr>
          <p:cNvPr id="43" name="Shape 41"/>
          <p:cNvSpPr/>
          <p:nvPr/>
        </p:nvSpPr>
        <p:spPr>
          <a:xfrm>
            <a:off x="457200" y="4992624"/>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44" name="Text 42"/>
          <p:cNvSpPr txBox="1"/>
          <p:nvPr/>
        </p:nvSpPr>
        <p:spPr>
          <a:xfrm>
            <a:off x="585216" y="4992624"/>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740</a:t>
            </a:r>
            <a:endParaRPr lang="en-US" sz="1000" dirty="0"/>
          </a:p>
        </p:txBody>
      </p:sp>
      <p:sp>
        <p:nvSpPr>
          <p:cNvPr id="45" name="Text 43"/>
          <p:cNvSpPr txBox="1"/>
          <p:nvPr/>
        </p:nvSpPr>
        <p:spPr>
          <a:xfrm>
            <a:off x="1325880" y="4992624"/>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IP Layered Match</a:t>
            </a:r>
            <a:endParaRPr lang="en-US" sz="1000" dirty="0"/>
          </a:p>
        </p:txBody>
      </p:sp>
      <p:sp>
        <p:nvSpPr>
          <p:cNvPr id="46" name="Text 44"/>
          <p:cNvSpPr txBox="1"/>
          <p:nvPr/>
        </p:nvSpPr>
        <p:spPr>
          <a:xfrm>
            <a:off x="4617720" y="4992624"/>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IP</a:t>
            </a:r>
            <a:endParaRPr lang="en-US" sz="950" dirty="0"/>
          </a:p>
        </p:txBody>
      </p:sp>
      <p:sp>
        <p:nvSpPr>
          <p:cNvPr id="47" name="Text 45"/>
          <p:cNvSpPr txBox="1"/>
          <p:nvPr/>
        </p:nvSpPr>
        <p:spPr>
          <a:xfrm>
            <a:off x="6903720" y="4992624"/>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CI at the end of IP Address to adapter to CI</a:t>
            </a:r>
            <a:endParaRPr lang="en-US" sz="950" dirty="0"/>
          </a:p>
        </p:txBody>
      </p:sp>
      <p:sp>
        <p:nvSpPr>
          <p:cNvPr id="48" name="Shape 46"/>
          <p:cNvSpPr/>
          <p:nvPr/>
        </p:nvSpPr>
        <p:spPr>
          <a:xfrm>
            <a:off x="457200" y="5468112"/>
            <a:ext cx="11274552" cy="420624"/>
          </a:xfrm>
          <a:prstGeom prst="roundRect">
            <a:avLst>
              <a:gd name="adj" fmla="val 10870"/>
            </a:avLst>
          </a:prstGeom>
          <a:solidFill>
            <a:srgbClr val="FFFFFF"/>
          </a:solidFill>
          <a:ln w="9525">
            <a:solidFill>
              <a:srgbClr val="DDE0E3"/>
            </a:solidFill>
            <a:prstDash val="solid"/>
          </a:ln>
          <a:effectLst>
            <a:outerShdw sx="100000" sy="100000" kx="0" ky="0" algn="bl" rotWithShape="0" blurRad="76200" dist="12700" dir="5400000">
              <a:srgbClr val="9AA1A8">
                <a:alpha val="28000"/>
              </a:srgbClr>
            </a:outerShdw>
          </a:effectLst>
        </p:spPr>
      </p:sp>
      <p:sp>
        <p:nvSpPr>
          <p:cNvPr id="49" name="Text 47"/>
          <p:cNvSpPr txBox="1"/>
          <p:nvPr/>
        </p:nvSpPr>
        <p:spPr>
          <a:xfrm>
            <a:off x="585216" y="5468112"/>
            <a:ext cx="640080" cy="420624"/>
          </a:xfrm>
          <a:prstGeom prst="rect">
            <a:avLst/>
          </a:prstGeom>
          <a:noFill/>
          <a:ln/>
        </p:spPr>
        <p:txBody>
          <a:bodyPr wrap="square" lIns="0" tIns="0" rIns="0" bIns="0" rtlCol="0" anchor="ctr"/>
          <a:lstStyle/>
          <a:p>
            <a:pPr indent="0" marL="0">
              <a:buNone/>
            </a:pPr>
            <a:r>
              <a:rPr lang="en-US" sz="1000" b="1" dirty="0">
                <a:solidFill>
                  <a:srgbClr val="24272A"/>
                </a:solidFill>
                <a:latin typeface="Courier New" pitchFamily="34" charset="0"/>
                <a:ea typeface="Courier New" pitchFamily="34" charset="-122"/>
                <a:cs typeface="Courier New" pitchFamily="34" charset="-120"/>
              </a:rPr>
              <a:t>850</a:t>
            </a:r>
            <a:endParaRPr lang="en-US" sz="1000" dirty="0"/>
          </a:p>
        </p:txBody>
      </p:sp>
      <p:sp>
        <p:nvSpPr>
          <p:cNvPr id="50" name="Text 48"/>
          <p:cNvSpPr txBox="1"/>
          <p:nvPr/>
        </p:nvSpPr>
        <p:spPr>
          <a:xfrm>
            <a:off x="1325880" y="5468112"/>
            <a:ext cx="3200400" cy="420624"/>
          </a:xfrm>
          <a:prstGeom prst="rect">
            <a:avLst/>
          </a:prstGeom>
          <a:noFill/>
          <a:ln/>
        </p:spPr>
        <p:txBody>
          <a:bodyPr wrap="square" lIns="0" tIns="0" rIns="0" bIns="0" rtlCol="0" anchor="ctr"/>
          <a:lstStyle/>
          <a:p>
            <a:pPr indent="0" marL="0">
              <a:buNone/>
            </a:pPr>
            <a:r>
              <a:rPr lang="en-US" sz="1000" b="1" dirty="0">
                <a:solidFill>
                  <a:srgbClr val="24272A"/>
                </a:solidFill>
                <a:latin typeface="Arial" pitchFamily="34" charset="0"/>
                <a:ea typeface="Arial" pitchFamily="34" charset="-122"/>
                <a:cs typeface="Arial" pitchFamily="34" charset="-120"/>
              </a:rPr>
              <a:t>FQDN Name Broad Match</a:t>
            </a:r>
            <a:endParaRPr lang="en-US" sz="1000" dirty="0"/>
          </a:p>
        </p:txBody>
      </p:sp>
      <p:sp>
        <p:nvSpPr>
          <p:cNvPr id="51" name="Text 49"/>
          <p:cNvSpPr txBox="1"/>
          <p:nvPr/>
        </p:nvSpPr>
        <p:spPr>
          <a:xfrm>
            <a:off x="4617720" y="5468112"/>
            <a:ext cx="2194560"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DNS</a:t>
            </a:r>
            <a:endParaRPr lang="en-US" sz="950" dirty="0"/>
          </a:p>
        </p:txBody>
      </p:sp>
      <p:sp>
        <p:nvSpPr>
          <p:cNvPr id="52" name="Text 50"/>
          <p:cNvSpPr txBox="1"/>
          <p:nvPr/>
        </p:nvSpPr>
        <p:spPr>
          <a:xfrm>
            <a:off x="6903720" y="5468112"/>
            <a:ext cx="5084064" cy="420624"/>
          </a:xfrm>
          <a:prstGeom prst="rect">
            <a:avLst/>
          </a:prstGeom>
          <a:noFill/>
          <a:ln/>
        </p:spPr>
        <p:txBody>
          <a:bodyPr wrap="square" lIns="0" tIns="0" rIns="0" bIns="0" rtlCol="0" anchor="ctr"/>
          <a:lstStyle/>
          <a:p>
            <a:pPr indent="0" marL="0">
              <a:buNone/>
            </a:pPr>
            <a:r>
              <a:rPr lang="en-US" sz="950" dirty="0">
                <a:solidFill>
                  <a:srgbClr val="6B7177"/>
                </a:solidFill>
                <a:latin typeface="Arial" pitchFamily="34" charset="0"/>
                <a:ea typeface="Arial" pitchFamily="34" charset="-122"/>
                <a:cs typeface="Arial" pitchFamily="34" charset="-120"/>
              </a:rPr>
              <a:t>the one CI in any class named exactly with the scanned FQDN</a:t>
            </a:r>
            <a:endParaRPr lang="en-US" sz="950" dirty="0"/>
          </a:p>
        </p:txBody>
      </p:sp>
      <p:sp>
        <p:nvSpPr>
          <p:cNvPr id="53" name="Text 51"/>
          <p:cNvSpPr txBox="1"/>
          <p:nvPr/>
        </p:nvSpPr>
        <p:spPr>
          <a:xfrm>
            <a:off x="457200" y="6455664"/>
            <a:ext cx="11247120" cy="219456"/>
          </a:xfrm>
          <a:prstGeom prst="rect">
            <a:avLst/>
          </a:prstGeom>
          <a:noFill/>
          <a:ln/>
        </p:spPr>
        <p:txBody>
          <a:bodyPr wrap="square" lIns="0" tIns="0" rIns="0" bIns="0" rtlCol="0" anchor="ctr"/>
          <a:lstStyle/>
          <a:p>
            <a:pPr indent="0" marL="0">
              <a:buNone/>
            </a:pPr>
            <a:r>
              <a:rPr lang="en-US" sz="850" dirty="0">
                <a:solidFill>
                  <a:srgbClr val="6B7177"/>
                </a:solidFill>
                <a:latin typeface="Arial" pitchFamily="34" charset="0"/>
                <a:ea typeface="Arial" pitchFamily="34" charset="-122"/>
                <a:cs typeface="Arial" pitchFamily="34" charset="-120"/>
              </a:rPr>
              <a:t>Every rule returns null when its evidence is missing, when nothing matches, or when more than one candidate survives.</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24272A"/>
        </a:solidFill>
      </p:bgPr>
    </p:bg>
    <p:spTree>
      <p:nvGrpSpPr>
        <p:cNvPr id="1" name=""/>
        <p:cNvGrpSpPr/>
        <p:nvPr/>
      </p:nvGrpSpPr>
      <p:grpSpPr>
        <a:xfrm>
          <a:off x="0" y="0"/>
          <a:ext cx="0" cy="0"/>
          <a:chOff x="0" y="0"/>
          <a:chExt cx="0" cy="0"/>
        </a:xfrm>
      </p:grpSpPr>
      <p:sp>
        <p:nvSpPr>
          <p:cNvPr id="2" name="Text 0"/>
          <p:cNvSpPr txBox="1"/>
          <p:nvPr/>
        </p:nvSpPr>
        <p:spPr>
          <a:xfrm>
            <a:off x="457200" y="2194560"/>
            <a:ext cx="1060704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What to take away</a:t>
            </a:r>
            <a:endParaRPr lang="en-US" sz="3400" dirty="0"/>
          </a:p>
        </p:txBody>
      </p:sp>
      <p:sp>
        <p:nvSpPr>
          <p:cNvPr id="3" name="Shape 1"/>
          <p:cNvSpPr/>
          <p:nvPr/>
        </p:nvSpPr>
        <p:spPr>
          <a:xfrm>
            <a:off x="457200" y="3127248"/>
            <a:ext cx="201168" cy="201168"/>
          </a:xfrm>
          <a:prstGeom prst="roundRect">
            <a:avLst>
              <a:gd name="adj" fmla="val 31818"/>
            </a:avLst>
          </a:prstGeom>
          <a:solidFill>
            <a:srgbClr val="E31837"/>
          </a:solidFill>
          <a:ln w="12700">
            <a:solidFill>
              <a:srgbClr val="333333"/>
            </a:solidFill>
            <a:prstDash val="solid"/>
          </a:ln>
        </p:spPr>
      </p:sp>
      <p:sp>
        <p:nvSpPr>
          <p:cNvPr id="4" name="Text 2"/>
          <p:cNvSpPr txBox="1"/>
          <p:nvPr/>
        </p:nvSpPr>
        <p:spPr>
          <a:xfrm>
            <a:off x="877824" y="3072384"/>
            <a:ext cx="10607040" cy="548640"/>
          </a:xfrm>
          <a:prstGeom prst="rect">
            <a:avLst/>
          </a:prstGeom>
          <a:noFill/>
          <a:ln/>
        </p:spPr>
        <p:txBody>
          <a:bodyPr wrap="square" lIns="0" tIns="0" rIns="0" bIns="0" rtlCol="0" anchor="t"/>
          <a:lstStyle/>
          <a:p>
            <a:pPr indent="0" marL="0">
              <a:buNone/>
            </a:pPr>
            <a:r>
              <a:rPr lang="en-US" sz="1300" dirty="0">
                <a:solidFill>
                  <a:srgbClr val="D3D7DA"/>
                </a:solidFill>
                <a:latin typeface="Arial" pitchFamily="34" charset="0"/>
                <a:ea typeface="Arial" pitchFamily="34" charset="-122"/>
                <a:cs typeface="Arial" pitchFamily="34" charset="-120"/>
              </a:rPr>
              <a:t>The chain reads evidence in order of how much a machine can be trusted to keep it: serial, then name, then address.</a:t>
            </a:r>
            <a:endParaRPr lang="en-US" sz="1300" dirty="0"/>
          </a:p>
        </p:txBody>
      </p:sp>
      <p:sp>
        <p:nvSpPr>
          <p:cNvPr id="5" name="Shape 3"/>
          <p:cNvSpPr/>
          <p:nvPr/>
        </p:nvSpPr>
        <p:spPr>
          <a:xfrm>
            <a:off x="457200" y="3785616"/>
            <a:ext cx="201168" cy="201168"/>
          </a:xfrm>
          <a:prstGeom prst="roundRect">
            <a:avLst>
              <a:gd name="adj" fmla="val 31818"/>
            </a:avLst>
          </a:prstGeom>
          <a:solidFill>
            <a:srgbClr val="E31837"/>
          </a:solidFill>
          <a:ln w="12700">
            <a:solidFill>
              <a:srgbClr val="333333"/>
            </a:solidFill>
            <a:prstDash val="solid"/>
          </a:ln>
        </p:spPr>
      </p:sp>
      <p:sp>
        <p:nvSpPr>
          <p:cNvPr id="6" name="Text 4"/>
          <p:cNvSpPr txBox="1"/>
          <p:nvPr/>
        </p:nvSpPr>
        <p:spPr>
          <a:xfrm>
            <a:off x="877824" y="3730752"/>
            <a:ext cx="10607040" cy="548640"/>
          </a:xfrm>
          <a:prstGeom prst="rect">
            <a:avLst/>
          </a:prstGeom>
          <a:noFill/>
          <a:ln/>
        </p:spPr>
        <p:txBody>
          <a:bodyPr wrap="square" lIns="0" tIns="0" rIns="0" bIns="0" rtlCol="0" anchor="t"/>
          <a:lstStyle/>
          <a:p>
            <a:pPr indent="0" marL="0">
              <a:buNone/>
            </a:pPr>
            <a:r>
              <a:rPr lang="en-US" sz="1300" dirty="0">
                <a:solidFill>
                  <a:srgbClr val="D3D7DA"/>
                </a:solidFill>
                <a:latin typeface="Arial" pitchFamily="34" charset="0"/>
                <a:ea typeface="Arial" pitchFamily="34" charset="-122"/>
                <a:cs typeface="Arial" pitchFamily="34" charset="-120"/>
              </a:rPr>
              <a:t>Every rule ends the same way, on exactly one candidate or a decline, so a wrong owner is never the cheap outcome.</a:t>
            </a:r>
            <a:endParaRPr lang="en-US" sz="1300" dirty="0"/>
          </a:p>
        </p:txBody>
      </p:sp>
      <p:sp>
        <p:nvSpPr>
          <p:cNvPr id="7" name="Shape 5"/>
          <p:cNvSpPr/>
          <p:nvPr/>
        </p:nvSpPr>
        <p:spPr>
          <a:xfrm>
            <a:off x="457200" y="4443984"/>
            <a:ext cx="201168" cy="201168"/>
          </a:xfrm>
          <a:prstGeom prst="roundRect">
            <a:avLst>
              <a:gd name="adj" fmla="val 31818"/>
            </a:avLst>
          </a:prstGeom>
          <a:solidFill>
            <a:srgbClr val="E31837"/>
          </a:solidFill>
          <a:ln w="12700">
            <a:solidFill>
              <a:srgbClr val="333333"/>
            </a:solidFill>
            <a:prstDash val="solid"/>
          </a:ln>
        </p:spPr>
      </p:sp>
      <p:sp>
        <p:nvSpPr>
          <p:cNvPr id="8" name="Text 6"/>
          <p:cNvSpPr txBox="1"/>
          <p:nvPr/>
        </p:nvSpPr>
        <p:spPr>
          <a:xfrm>
            <a:off x="877824" y="4389120"/>
            <a:ext cx="10607040" cy="548640"/>
          </a:xfrm>
          <a:prstGeom prst="rect">
            <a:avLst/>
          </a:prstGeom>
          <a:noFill/>
          <a:ln/>
        </p:spPr>
        <p:txBody>
          <a:bodyPr wrap="square" lIns="0" tIns="0" rIns="0" bIns="0" rtlCol="0" anchor="t"/>
          <a:lstStyle/>
          <a:p>
            <a:pPr indent="0" marL="0">
              <a:buNone/>
            </a:pPr>
            <a:r>
              <a:rPr lang="en-US" sz="1300" dirty="0">
                <a:solidFill>
                  <a:srgbClr val="D3D7DA"/>
                </a:solidFill>
                <a:latin typeface="Arial" pitchFamily="34" charset="0"/>
                <a:ea typeface="Arial" pitchFamily="34" charset="-122"/>
                <a:cs typeface="Arial" pitchFamily="34" charset="-120"/>
              </a:rPr>
              <a:t>The three new rules read evidence that was already in the feed but described a part of a device rather than the device.</a:t>
            </a:r>
            <a:endParaRPr lang="en-US" sz="1300" dirty="0"/>
          </a:p>
        </p:txBody>
      </p:sp>
      <p:sp>
        <p:nvSpPr>
          <p:cNvPr id="9" name="Shape 7"/>
          <p:cNvSpPr/>
          <p:nvPr/>
        </p:nvSpPr>
        <p:spPr>
          <a:xfrm>
            <a:off x="457200" y="5102352"/>
            <a:ext cx="201168" cy="201168"/>
          </a:xfrm>
          <a:prstGeom prst="roundRect">
            <a:avLst>
              <a:gd name="adj" fmla="val 31818"/>
            </a:avLst>
          </a:prstGeom>
          <a:solidFill>
            <a:srgbClr val="E31837"/>
          </a:solidFill>
          <a:ln w="12700">
            <a:solidFill>
              <a:srgbClr val="333333"/>
            </a:solidFill>
            <a:prstDash val="solid"/>
          </a:ln>
        </p:spPr>
      </p:sp>
      <p:sp>
        <p:nvSpPr>
          <p:cNvPr id="10" name="Text 8"/>
          <p:cNvSpPr txBox="1"/>
          <p:nvPr/>
        </p:nvSpPr>
        <p:spPr>
          <a:xfrm>
            <a:off x="877824" y="5047488"/>
            <a:ext cx="10607040" cy="548640"/>
          </a:xfrm>
          <a:prstGeom prst="rect">
            <a:avLst/>
          </a:prstGeom>
          <a:noFill/>
          <a:ln/>
        </p:spPr>
        <p:txBody>
          <a:bodyPr wrap="square" lIns="0" tIns="0" rIns="0" bIns="0" rtlCol="0" anchor="t"/>
          <a:lstStyle/>
          <a:p>
            <a:pPr indent="0" marL="0">
              <a:buNone/>
            </a:pPr>
            <a:r>
              <a:rPr lang="en-US" sz="1300" dirty="0">
                <a:solidFill>
                  <a:srgbClr val="D3D7DA"/>
                </a:solidFill>
                <a:latin typeface="Arial" pitchFamily="34" charset="0"/>
                <a:ea typeface="Arial" pitchFamily="34" charset="-122"/>
                <a:cs typeface="Arial" pitchFamily="34" charset="-120"/>
              </a:rPr>
              <a:t>The vocabularies those rules depend on are declared beside the code that reads them, so nothing outside the rule has to exist for it to run.</a:t>
            </a:r>
            <a:endParaRPr lang="en-US" sz="1300" dirty="0"/>
          </a:p>
        </p:txBody>
      </p:sp>
      <p:sp>
        <p:nvSpPr>
          <p:cNvPr id="11" name="Text 9"/>
          <p:cNvSpPr txBox="1"/>
          <p:nvPr/>
        </p:nvSpPr>
        <p:spPr>
          <a:xfrm>
            <a:off x="457200" y="6126480"/>
            <a:ext cx="11247120" cy="274320"/>
          </a:xfrm>
          <a:prstGeom prst="rect">
            <a:avLst/>
          </a:prstGeom>
          <a:noFill/>
          <a:ln/>
        </p:spPr>
        <p:txBody>
          <a:bodyPr wrap="square" lIns="0" tIns="0" rIns="0" bIns="0" rtlCol="0" anchor="ctr"/>
          <a:lstStyle/>
          <a:p>
            <a:pPr indent="0" marL="0">
              <a:buNone/>
            </a:pPr>
            <a:r>
              <a:rPr lang="en-US" sz="1100" dirty="0">
                <a:solidFill>
                  <a:srgbClr val="8A9198"/>
                </a:solidFill>
                <a:latin typeface="Arial" pitchFamily="34" charset="0"/>
                <a:ea typeface="Arial" pitchFamily="34" charset="-122"/>
                <a:cs typeface="Arial" pitchFamily="34" charset="-120"/>
              </a:rPr>
              <a:t>SNOWUSEMTP-895   |   Qualys CI Lookup Rules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Qualys CI Lookup Rules - Technical Walkthrough</dc:title>
  <dc:subject>PptxGenJS Presentation</dc:subject>
  <dc:creator>Mihir Kumar Singh</dc:creator>
  <cp:lastModifiedBy>Mihir Kumar Singh</cp:lastModifiedBy>
  <cp:revision>1</cp:revision>
  <dcterms:created xsi:type="dcterms:W3CDTF">2026-09-09T12:42:32Z</dcterms:created>
  <dcterms:modified xsi:type="dcterms:W3CDTF">2026-09-09T12:42:32Z</dcterms:modified>
</cp:coreProperties>
</file>