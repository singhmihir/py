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Estimated hosts</c:v>
                </c:pt>
              </c:strCache>
            </c:strRef>
          </c:tx>
          <c:spPr>
            <a:solidFill>
              <a:srgbClr val="E31837"/>
            </a:solidFill>
            <a:effectLst/>
          </c:spPr>
          <c:invertIfNegative val="0"/>
          <c:dLbls>
            <c:numFmt formatCode="#,##0" sourceLinked="0"/>
            <c:txPr>
              <a:bodyPr/>
              <a:lstStyle/>
              <a:p>
                <a:pPr>
                  <a:defRPr b="0" i="0" strike="noStrike" sz="900" u="none">
                    <a:solidFill>
                      <a:srgbClr val="24272A"/>
                    </a:solidFill>
                    <a:latin typeface="Arial"/>
                  </a:defRPr>
                </a:pPr>
              </a:p>
            </c:txPr>
            <c:showLegendKey val="0"/>
            <c:showVal val="1"/>
            <c:showCatName val="0"/>
            <c:showSerName val="0"/>
            <c:showPercent val="0"/>
            <c:showBubbleSize val="0"/>
            <c:showLeaderLines val="0"/>
          </c:dLbls>
          <c:cat>
            <c:multiLvlStrRef>
              <c:f>Sheet1!$A$2:$A$13</c:f>
              <c:multiLvlStrCache>
                <c:ptCount val="12"/>
                <c:lvl>
                  <c:pt idx="0">
                    <c:v>Virtual IP of a load balancer</c:v>
                  </c:pt>
                  <c:pt idx="1">
                    <c:v>Host with a plain DNS name</c:v>
                  </c:pt>
                  <c:pt idx="2">
                    <c:v>Network device interface or VLAN</c:v>
                  </c:pt>
                  <c:pt idx="3">
                    <c:v>IP only, no DNS name</c:v>
                  </c:pt>
                  <c:pt idx="4">
                    <c:v>Cisco IP phone, SEP label</c:v>
                  </c:pt>
                  <c:pt idx="5">
                    <c:v>Windows workstation</c:v>
                  </c:pt>
                  <c:pt idx="6">
                    <c:v>Printer</c:v>
                  </c:pt>
                  <c:pt idx="7">
                    <c:v>Appliance or embedded device</c:v>
                  </c:pt>
                  <c:pt idx="8">
                    <c:v>Management controller</c:v>
                  </c:pt>
                  <c:pt idx="9">
                    <c:v>Storage system</c:v>
                  </c:pt>
                  <c:pt idx="10">
                    <c:v>Cisco phone, other label</c:v>
                  </c:pt>
                  <c:pt idx="11">
                    <c:v>Network device by its own name</c:v>
                  </c:pt>
                </c:lvl>
              </c:multiLvlStrCache>
            </c:multiLvlStrRef>
          </c:cat>
          <c:val>
            <c:numRef>
              <c:f>Sheet1!$B$2:$B$13</c:f>
              <c:numCache>
                <c:formatCode>General</c:formatCode>
                <c:ptCount val="12"/>
                <c:pt idx="0">
                  <c:v>71892</c:v>
                </c:pt>
                <c:pt idx="1">
                  <c:v>63089</c:v>
                </c:pt>
                <c:pt idx="2">
                  <c:v>47420</c:v>
                </c:pt>
                <c:pt idx="3">
                  <c:v>39790</c:v>
                </c:pt>
                <c:pt idx="4">
                  <c:v>30459</c:v>
                </c:pt>
                <c:pt idx="5">
                  <c:v>11679</c:v>
                </c:pt>
                <c:pt idx="6">
                  <c:v>5341</c:v>
                </c:pt>
                <c:pt idx="7">
                  <c:v>5164</c:v>
                </c:pt>
                <c:pt idx="8">
                  <c:v>4402</c:v>
                </c:pt>
                <c:pt idx="9">
                  <c:v>1350</c:v>
                </c:pt>
                <c:pt idx="10">
                  <c:v>1056</c:v>
                </c:pt>
                <c:pt idx="11">
                  <c:v>59</c:v>
                </c:pt>
              </c:numCache>
            </c:numRef>
          </c:val>
        </c:ser>
        <c:dLbls>
          <c:numFmt formatCode="#,##0" sourceLinked="0"/>
          <c:txPr>
            <a:bodyPr/>
            <a:lstStyle/>
            <a:p>
              <a:pPr>
                <a:defRPr b="0" i="0" strike="noStrike" sz="900" u="none">
                  <a:solidFill>
                    <a:srgbClr val="24272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50" b="0" i="0" u="none" strike="noStrike">
                <a:solidFill>
                  <a:srgbClr val="24272A"/>
                </a:solidFill>
                <a:latin typeface="Arial"/>
              </a:defRPr>
            </a:pPr>
            <a:endParaRPr lang="en-US"/>
          </a:p>
        </c:txPr>
        <c:crossAx val="2094734552"/>
        <c:crosses val="autoZero"/>
        <c:auto val="1"/>
        <c:lblAlgn val="ctr"/>
        <c:noMultiLvlLbl val="1"/>
      </c:catAx>
      <c:valAx>
        <c:axId val="2094734552"/>
        <c:scaling>
          <c:orientation val="minMax"/>
          <c:max val="90000"/>
          <c:min val="0"/>
        </c:scaling>
        <c:delete val="0"/>
        <c:axPos val="b"/>
        <c:majorGridlines>
          <c:spPr>
            <a:ln w="9525" cap="flat">
              <a:solidFill>
                <a:srgbClr val="E4E6E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50" b="0" i="0" u="none" strike="noStrike">
                <a:solidFill>
                  <a:srgbClr val="6B7177"/>
                </a:solidFill>
                <a:latin typeface="Arial"/>
              </a:defRPr>
            </a:pPr>
            <a:endParaRPr lang="en-US"/>
          </a:p>
        </c:txPr>
        <c:crossAx val="2094734554"/>
        <c:crosses val="autoZero"/>
        <c:crossBetween val="between"/>
        <c:majorUnit val="15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of the custom CI lookup rules built for the Qualys source: what each rule matches, why it sits where it does, and how the chain behaves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The middle one is the bulk of the deck: nineteen rule pages in chain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a wrong match is the whole argument for the exactly-one design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NetBIOS and the Qualys host id are used by the out-of-box rules at the end of the chain, not by the USEM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Reapply true is what lets the on-demand job re-evaluate items after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name rules are the heart of the chain because 85.9% of scanned hosts carry a DNS name and nothing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correctness change in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Multi-guess fingerprints come from unauthenticated scans and are deliberately treated as no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why the rules never write a placeholder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four and five are the two places where the chain deliberately does something more than an exact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explicitly in review, since a reader who knows the script include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Serial Number Class Match. A serial number stays with a machine for its whole life, while names and addresses get reused. It is the strongest identifier Qualys gives us, so it is tried first, inside the class the scanned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Serial Number Hardware Match. The same serial search across the whole hardware tree. It exists for hosts whose OS gives no usable class, and for CIs that sit in a different class than the OS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Cisco IP Phone MAC. Unified Communications Manager names every phone "SEP" followed by its MAC address, and Qualys reports that name as the DNS label. The rule turns the label back into a MAC and finds the one IP Phone CI that carries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Class Match. The first name rule. An exact FQDN on the CI record is the most precise name evidence there is, so it is matched before any hostname handling,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Hardware Match. The exact FQDN search again, across the whole hardware tree. It picks up the hosts whose OS gives no class and the CIs kept in a generic or different class than the OS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Domain Class Match. For CIs named with the short hostname that carry the domain somewhere else, in dns_domain or in an fqdn that was never copied into the name. Short name and domain are matched together,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Domain Hardware Match. Short hostname plus domain evidence again, across the whole hardware tree, for CIs classed generically (Server, Computer) or differently from the scanned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Layered DNS Match. Discovery keeps names and addresses as their own records linked to the device. This rule follows that chain, the only way to find a host whose name is not written on the CI record at all, and it resolves aliases to the real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Class Match. The short hostname alone, inside the class the scanned OS points at. For CIs that carry only a short name and no domain information; the agreement between CI class and scanned OS stands in for the missing domain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Hardware Match. The short hostname across the whole hardware tree, with a check that the CI found does not contradict the scanned OS. For CIs classed generically (Server, Computer, UNIX Server) or differently from the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Management Interface Match. Server management controllers (HP iLO, Oracle ILOM, Dell iDRAC, IBM IMM, Cisco CIMC, BMC, IPMI) are scanned under their own label, the server name plus a suffix. The findings belong to the server, so the rule strips the suffix and matches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Network Interface Name Match. Network devices are scanned through their interface and VLAN addresses, each carrying a label of the device name plus an interface tail. The device CI is named with the leading part only, so the rule walks the label prefix by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Name Hardware Match. Some loads name the CI with the whole FQDN string instead of the short hostname, typically the appliance domains ending in .rpg, so a short name search can never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Load Balancer Service Match. A virtual IP answered by a load balancer is not the balancer, and the hardware rules refuse the balancer device on purpose. Such hosts belong to the Load Balancer Service CI that models the VIP.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Class Match. The first address rule. An address is the least trustworthy identifier: addresses move between machines and are shared by load balancers. It is used only for hosts with no serial and no usable name,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Hardware Match. The address across the whole hardware tree, with two extra safety checks: the CI must not be a load balancer, and its class must not contradict the scanned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Adapter Match. Discovery stores one Network Adapter record per network card, and a multi-homed server keeps its addresses there rather than on the CI record. This rule finds the adapter carrying the address and takes its owning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Layered Match. Newer discovery writes each address as its own IP Address record linked to the adapter, and the adapter record itself may carry no address. This rule reads those records, two links from the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Name Broad Match. The one deliberately late, broad fallback: a CI named with the full FQDN anywhere in the CI table, classes outside the hardware tree included, such as a virtual machine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largest group, plain-named hosts, is already served by the existing name rules; it stays unmatched because those CIs are absent, not because a rule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the argument for the three new rules: the evidence was already there, unread.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values shown are the defaults shipped with the rules; each rule falls back to them if its property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what makes a comments-only redeploy safe to sign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the operational guardrail: watch the matched share per rule after any property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for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for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72A"/>
        </a:solidFill>
      </p:bgPr>
    </p:bg>
    <p:spTree>
      <p:nvGrpSpPr>
        <p:cNvPr id="1" name=""/>
        <p:cNvGrpSpPr/>
        <p:nvPr/>
      </p:nvGrpSpPr>
      <p:grpSpPr>
        <a:xfrm>
          <a:off x="0" y="0"/>
          <a:ext cx="0" cy="0"/>
          <a:chOff x="0" y="0"/>
          <a:chExt cx="0" cy="0"/>
        </a:xfrm>
      </p:grpSpPr>
      <p:sp>
        <p:nvSpPr>
          <p:cNvPr id="2" name="Text 0"/>
          <p:cNvSpPr txBox="1"/>
          <p:nvPr/>
        </p:nvSpPr>
        <p:spPr>
          <a:xfrm>
            <a:off x="457200" y="1627632"/>
            <a:ext cx="5486400" cy="237744"/>
          </a:xfrm>
          <a:prstGeom prst="rect">
            <a:avLst/>
          </a:prstGeom>
          <a:noFill/>
          <a:ln/>
        </p:spPr>
        <p:txBody>
          <a:bodyPr wrap="square" lIns="0" tIns="0" rIns="0" bIns="0" rtlCol="0" anchor="ctr"/>
          <a:lstStyle/>
          <a:p>
            <a:pPr indent="0" marL="0">
              <a:buNone/>
            </a:pPr>
            <a:r>
              <a:rPr lang="en-US" sz="1100" b="1" spc="180" kern="0" dirty="0">
                <a:solidFill>
                  <a:srgbClr val="E31837"/>
                </a:solidFill>
                <a:latin typeface="Arial" pitchFamily="34" charset="0"/>
                <a:ea typeface="Arial" pitchFamily="34" charset="-122"/>
                <a:cs typeface="Arial" pitchFamily="34" charset="-120"/>
              </a:rPr>
              <a:t>SNOWUSEMTP-895</a:t>
            </a:r>
            <a:endParaRPr lang="en-US" sz="1100" dirty="0"/>
          </a:p>
        </p:txBody>
      </p:sp>
      <p:sp>
        <p:nvSpPr>
          <p:cNvPr id="3" name="Text 1"/>
          <p:cNvSpPr txBox="1"/>
          <p:nvPr/>
        </p:nvSpPr>
        <p:spPr>
          <a:xfrm>
            <a:off x="457200" y="2304288"/>
            <a:ext cx="10607040" cy="841248"/>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Qualys CI Lookup Rules</a:t>
            </a:r>
            <a:endParaRPr lang="en-US" sz="4400" dirty="0"/>
          </a:p>
        </p:txBody>
      </p:sp>
      <p:sp>
        <p:nvSpPr>
          <p:cNvPr id="4" name="Text 2"/>
          <p:cNvSpPr txBox="1"/>
          <p:nvPr/>
        </p:nvSpPr>
        <p:spPr>
          <a:xfrm>
            <a:off x="457200" y="3182112"/>
            <a:ext cx="10241280" cy="402336"/>
          </a:xfrm>
          <a:prstGeom prst="rect">
            <a:avLst/>
          </a:prstGeom>
          <a:noFill/>
          <a:ln/>
        </p:spPr>
        <p:txBody>
          <a:bodyPr wrap="square" lIns="0" tIns="0" rIns="0" bIns="0" rtlCol="0" anchor="ctr"/>
          <a:lstStyle/>
          <a:p>
            <a:pPr indent="0" marL="0">
              <a:buNone/>
            </a:pPr>
            <a:r>
              <a:rPr lang="en-US" sz="1700" dirty="0">
                <a:solidFill>
                  <a:srgbClr val="B9BEC3"/>
                </a:solidFill>
                <a:latin typeface="Arial" pitchFamily="34" charset="0"/>
                <a:ea typeface="Arial" pitchFamily="34" charset="-122"/>
                <a:cs typeface="Arial" pitchFamily="34" charset="-120"/>
              </a:rPr>
              <a:t>How a scanned host becomes a configuration item, rule by rule</a:t>
            </a:r>
            <a:endParaRPr lang="en-US" sz="1700" dirty="0"/>
          </a:p>
        </p:txBody>
      </p:sp>
      <p:sp>
        <p:nvSpPr>
          <p:cNvPr id="5" name="Text 3"/>
          <p:cNvSpPr txBox="1"/>
          <p:nvPr/>
        </p:nvSpPr>
        <p:spPr>
          <a:xfrm>
            <a:off x="45720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19</a:t>
            </a:r>
            <a:endParaRPr lang="en-US" sz="4200" dirty="0"/>
          </a:p>
        </p:txBody>
      </p:sp>
      <p:sp>
        <p:nvSpPr>
          <p:cNvPr id="6" name="Text 4"/>
          <p:cNvSpPr txBox="1"/>
          <p:nvPr/>
        </p:nvSpPr>
        <p:spPr>
          <a:xfrm>
            <a:off x="146304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rules in the USEM chain</a:t>
            </a:r>
            <a:endParaRPr lang="en-US" sz="1200" dirty="0"/>
          </a:p>
        </p:txBody>
      </p:sp>
      <p:sp>
        <p:nvSpPr>
          <p:cNvPr id="7" name="Text 5"/>
          <p:cNvSpPr txBox="1"/>
          <p:nvPr/>
        </p:nvSpPr>
        <p:spPr>
          <a:xfrm>
            <a:off x="425196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3</a:t>
            </a:r>
            <a:endParaRPr lang="en-US" sz="4200" dirty="0"/>
          </a:p>
        </p:txBody>
      </p:sp>
      <p:sp>
        <p:nvSpPr>
          <p:cNvPr id="8" name="Text 6"/>
          <p:cNvSpPr txBox="1"/>
          <p:nvPr/>
        </p:nvSpPr>
        <p:spPr>
          <a:xfrm>
            <a:off x="525780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added for the unmatched backlog</a:t>
            </a:r>
            <a:endParaRPr lang="en-US" sz="1200" dirty="0"/>
          </a:p>
        </p:txBody>
      </p:sp>
      <p:sp>
        <p:nvSpPr>
          <p:cNvPr id="9" name="Text 7"/>
          <p:cNvSpPr txBox="1"/>
          <p:nvPr/>
        </p:nvSpPr>
        <p:spPr>
          <a:xfrm>
            <a:off x="804672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6</a:t>
            </a:r>
            <a:endParaRPr lang="en-US" sz="4200" dirty="0"/>
          </a:p>
        </p:txBody>
      </p:sp>
      <p:sp>
        <p:nvSpPr>
          <p:cNvPr id="10" name="Text 8"/>
          <p:cNvSpPr txBox="1"/>
          <p:nvPr/>
        </p:nvSpPr>
        <p:spPr>
          <a:xfrm>
            <a:off x="905256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property lists, no code to change</a:t>
            </a:r>
            <a:endParaRPr lang="en-US" sz="1200" dirty="0"/>
          </a:p>
        </p:txBody>
      </p:sp>
      <p:sp>
        <p:nvSpPr>
          <p:cNvPr id="11" name="Text 9"/>
          <p:cNvSpPr txBox="1"/>
          <p:nvPr/>
        </p:nvSpPr>
        <p:spPr>
          <a:xfrm>
            <a:off x="457200" y="6053328"/>
            <a:ext cx="11247120" cy="274320"/>
          </a:xfrm>
          <a:prstGeom prst="rect">
            <a:avLst/>
          </a:prstGeom>
          <a:noFill/>
          <a:ln/>
        </p:spPr>
        <p:txBody>
          <a:bodyPr wrap="square" lIns="0" tIns="0" rIns="0" bIns="0" rtlCol="0" anchor="ctr"/>
          <a:lstStyle/>
          <a:p>
            <a:pPr indent="0" marL="0">
              <a:buNone/>
            </a:pPr>
            <a:r>
              <a:rPr lang="en-US" sz="1100" dirty="0">
                <a:solidFill>
                  <a:srgbClr val="8A9198"/>
                </a:solidFill>
                <a:latin typeface="Arial" pitchFamily="34" charset="0"/>
                <a:ea typeface="Arial" pitchFamily="34" charset="-122"/>
                <a:cs typeface="Arial" pitchFamily="34" charset="-120"/>
              </a:rPr>
              <a:t>SNOWUSEMTP-895   |   Unified Security Exposure Management   |   Vulnerability Response, Qualys Cloud Platform source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AGENDA</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this deck covers</a:t>
            </a:r>
            <a:endParaRPr lang="en-US" sz="3000" dirty="0"/>
          </a:p>
        </p:txBody>
      </p:sp>
      <p:sp>
        <p:nvSpPr>
          <p:cNvPr id="4" name="Shape 2"/>
          <p:cNvSpPr/>
          <p:nvPr/>
        </p:nvSpPr>
        <p:spPr>
          <a:xfrm>
            <a:off x="457200" y="1389888"/>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58368" y="1563624"/>
            <a:ext cx="493776" cy="493776"/>
          </a:xfrm>
          <a:prstGeom prst="roundRect">
            <a:avLst>
              <a:gd name="adj" fmla="val 29630"/>
            </a:avLst>
          </a:prstGeom>
          <a:solidFill>
            <a:srgbClr val="E31837"/>
          </a:solidFill>
          <a:ln w="12700">
            <a:solidFill>
              <a:srgbClr val="333333"/>
            </a:solidFill>
            <a:prstDash val="solid"/>
          </a:ln>
        </p:spPr>
      </p:sp>
      <p:sp>
        <p:nvSpPr>
          <p:cNvPr id="6" name="Text 4"/>
          <p:cNvSpPr txBox="1"/>
          <p:nvPr/>
        </p:nvSpPr>
        <p:spPr>
          <a:xfrm>
            <a:off x="658368" y="1563624"/>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7" name="Text 5"/>
          <p:cNvSpPr txBox="1"/>
          <p:nvPr/>
        </p:nvSpPr>
        <p:spPr>
          <a:xfrm>
            <a:off x="1325880" y="1517904"/>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framework</a:t>
            </a:r>
            <a:endParaRPr lang="en-US" sz="1500" dirty="0"/>
          </a:p>
        </p:txBody>
      </p:sp>
      <p:sp>
        <p:nvSpPr>
          <p:cNvPr id="8" name="Text 6"/>
          <p:cNvSpPr txBox="1"/>
          <p:nvPr/>
        </p:nvSpPr>
        <p:spPr>
          <a:xfrm>
            <a:off x="1325880" y="1819656"/>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Where CI lookup sits in Vulnerability Response, what a rule is handed and what it must return.</a:t>
            </a:r>
            <a:endParaRPr lang="en-US" sz="1150" dirty="0"/>
          </a:p>
        </p:txBody>
      </p:sp>
      <p:sp>
        <p:nvSpPr>
          <p:cNvPr id="9" name="Shape 7"/>
          <p:cNvSpPr/>
          <p:nvPr/>
        </p:nvSpPr>
        <p:spPr>
          <a:xfrm>
            <a:off x="457200" y="2359152"/>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Shape 8"/>
          <p:cNvSpPr/>
          <p:nvPr/>
        </p:nvSpPr>
        <p:spPr>
          <a:xfrm>
            <a:off x="658368" y="2532888"/>
            <a:ext cx="493776" cy="493776"/>
          </a:xfrm>
          <a:prstGeom prst="roundRect">
            <a:avLst>
              <a:gd name="adj" fmla="val 29630"/>
            </a:avLst>
          </a:prstGeom>
          <a:solidFill>
            <a:srgbClr val="E31837"/>
          </a:solidFill>
          <a:ln w="12700">
            <a:solidFill>
              <a:srgbClr val="333333"/>
            </a:solidFill>
            <a:prstDash val="solid"/>
          </a:ln>
        </p:spPr>
      </p:sp>
      <p:sp>
        <p:nvSpPr>
          <p:cNvPr id="11" name="Text 9"/>
          <p:cNvSpPr txBox="1"/>
          <p:nvPr/>
        </p:nvSpPr>
        <p:spPr>
          <a:xfrm>
            <a:off x="658368" y="2532888"/>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2" name="Text 10"/>
          <p:cNvSpPr txBox="1"/>
          <p:nvPr/>
        </p:nvSpPr>
        <p:spPr>
          <a:xfrm>
            <a:off x="1325880" y="2487168"/>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Five principles</a:t>
            </a:r>
            <a:endParaRPr lang="en-US" sz="1500" dirty="0"/>
          </a:p>
        </p:txBody>
      </p:sp>
      <p:sp>
        <p:nvSpPr>
          <p:cNvPr id="13" name="Text 11"/>
          <p:cNvSpPr txBox="1"/>
          <p:nvPr/>
        </p:nvSpPr>
        <p:spPr>
          <a:xfrm>
            <a:off x="1325880" y="2788920"/>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The design decisions every rule in the chain shares, and why they are the same in all nineteen.</a:t>
            </a:r>
            <a:endParaRPr lang="en-US" sz="1150" dirty="0"/>
          </a:p>
        </p:txBody>
      </p:sp>
      <p:sp>
        <p:nvSpPr>
          <p:cNvPr id="14" name="Shape 12"/>
          <p:cNvSpPr/>
          <p:nvPr/>
        </p:nvSpPr>
        <p:spPr>
          <a:xfrm>
            <a:off x="457200" y="3328416"/>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Shape 13"/>
          <p:cNvSpPr/>
          <p:nvPr/>
        </p:nvSpPr>
        <p:spPr>
          <a:xfrm>
            <a:off x="658368" y="3502152"/>
            <a:ext cx="493776" cy="493776"/>
          </a:xfrm>
          <a:prstGeom prst="roundRect">
            <a:avLst>
              <a:gd name="adj" fmla="val 29630"/>
            </a:avLst>
          </a:prstGeom>
          <a:solidFill>
            <a:srgbClr val="E31837"/>
          </a:solidFill>
          <a:ln w="12700">
            <a:solidFill>
              <a:srgbClr val="333333"/>
            </a:solidFill>
            <a:prstDash val="solid"/>
          </a:ln>
        </p:spPr>
      </p:sp>
      <p:sp>
        <p:nvSpPr>
          <p:cNvPr id="16" name="Text 14"/>
          <p:cNvSpPr txBox="1"/>
          <p:nvPr/>
        </p:nvSpPr>
        <p:spPr>
          <a:xfrm>
            <a:off x="658368" y="3502152"/>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7" name="Text 15"/>
          <p:cNvSpPr txBox="1"/>
          <p:nvPr/>
        </p:nvSpPr>
        <p:spPr>
          <a:xfrm>
            <a:off x="1325880" y="3456432"/>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rules, in order</a:t>
            </a:r>
            <a:endParaRPr lang="en-US" sz="1500" dirty="0"/>
          </a:p>
        </p:txBody>
      </p:sp>
      <p:sp>
        <p:nvSpPr>
          <p:cNvPr id="18" name="Text 16"/>
          <p:cNvSpPr txBox="1"/>
          <p:nvPr/>
        </p:nvSpPr>
        <p:spPr>
          <a:xfrm>
            <a:off x="1325880" y="3758184"/>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One page per rule: purpose, evidence, matching stages and place in the chain.</a:t>
            </a:r>
            <a:endParaRPr lang="en-US" sz="1150" dirty="0"/>
          </a:p>
        </p:txBody>
      </p:sp>
      <p:sp>
        <p:nvSpPr>
          <p:cNvPr id="19" name="Shape 17"/>
          <p:cNvSpPr/>
          <p:nvPr/>
        </p:nvSpPr>
        <p:spPr>
          <a:xfrm>
            <a:off x="457200" y="4297680"/>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471416"/>
            <a:ext cx="493776" cy="493776"/>
          </a:xfrm>
          <a:prstGeom prst="roundRect">
            <a:avLst>
              <a:gd name="adj" fmla="val 29630"/>
            </a:avLst>
          </a:prstGeom>
          <a:solidFill>
            <a:srgbClr val="E31837"/>
          </a:solidFill>
          <a:ln w="12700">
            <a:solidFill>
              <a:srgbClr val="333333"/>
            </a:solidFill>
            <a:prstDash val="solid"/>
          </a:ln>
        </p:spPr>
      </p:sp>
      <p:sp>
        <p:nvSpPr>
          <p:cNvPr id="21" name="Text 19"/>
          <p:cNvSpPr txBox="1"/>
          <p:nvPr/>
        </p:nvSpPr>
        <p:spPr>
          <a:xfrm>
            <a:off x="658368" y="4471416"/>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2" name="Text 20"/>
          <p:cNvSpPr txBox="1"/>
          <p:nvPr/>
        </p:nvSpPr>
        <p:spPr>
          <a:xfrm>
            <a:off x="1325880" y="4425696"/>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unmatched backlog</a:t>
            </a:r>
            <a:endParaRPr lang="en-US" sz="1500" dirty="0"/>
          </a:p>
        </p:txBody>
      </p:sp>
      <p:sp>
        <p:nvSpPr>
          <p:cNvPr id="23" name="Text 21"/>
          <p:cNvSpPr txBox="1"/>
          <p:nvPr/>
        </p:nvSpPr>
        <p:spPr>
          <a:xfrm>
            <a:off x="1325880" y="4727448"/>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What the unresolved population is made of, and the three rules added to reach it.</a:t>
            </a:r>
            <a:endParaRPr lang="en-US" sz="1150" dirty="0"/>
          </a:p>
        </p:txBody>
      </p:sp>
      <p:sp>
        <p:nvSpPr>
          <p:cNvPr id="24" name="Shape 22"/>
          <p:cNvSpPr/>
          <p:nvPr/>
        </p:nvSpPr>
        <p:spPr>
          <a:xfrm>
            <a:off x="457200" y="5266944"/>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5" name="Shape 23"/>
          <p:cNvSpPr/>
          <p:nvPr/>
        </p:nvSpPr>
        <p:spPr>
          <a:xfrm>
            <a:off x="658368" y="5440680"/>
            <a:ext cx="493776" cy="493776"/>
          </a:xfrm>
          <a:prstGeom prst="roundRect">
            <a:avLst>
              <a:gd name="adj" fmla="val 29630"/>
            </a:avLst>
          </a:prstGeom>
          <a:solidFill>
            <a:srgbClr val="E31837"/>
          </a:solidFill>
          <a:ln w="12700">
            <a:solidFill>
              <a:srgbClr val="333333"/>
            </a:solidFill>
            <a:prstDash val="solid"/>
          </a:ln>
        </p:spPr>
      </p:sp>
      <p:sp>
        <p:nvSpPr>
          <p:cNvPr id="26" name="Text 24"/>
          <p:cNvSpPr txBox="1"/>
          <p:nvPr/>
        </p:nvSpPr>
        <p:spPr>
          <a:xfrm>
            <a:off x="658368" y="5440680"/>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5</a:t>
            </a:r>
            <a:endParaRPr lang="en-US" sz="1900" dirty="0"/>
          </a:p>
        </p:txBody>
      </p:sp>
      <p:sp>
        <p:nvSpPr>
          <p:cNvPr id="27" name="Text 25"/>
          <p:cNvSpPr txBox="1"/>
          <p:nvPr/>
        </p:nvSpPr>
        <p:spPr>
          <a:xfrm>
            <a:off x="1325880" y="5394960"/>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Testing and delivery</a:t>
            </a:r>
            <a:endParaRPr lang="en-US" sz="1500" dirty="0"/>
          </a:p>
        </p:txBody>
      </p:sp>
      <p:sp>
        <p:nvSpPr>
          <p:cNvPr id="28" name="Text 26"/>
          <p:cNvSpPr txBox="1"/>
          <p:nvPr/>
        </p:nvSpPr>
        <p:spPr>
          <a:xfrm>
            <a:off x="1325880" y="5696712"/>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How the chain was exercised, what shipped, and how it is tuned in production.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framework</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What the platform hands a lookup rule, what the rule owes back, and where the answer ends up.</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From a scan to an accountable owner</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the platform hands a rule</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a rule owes back</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chain at a glance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WHY CI LOOKUP MATTERS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From a scan to an accountable owner</a:t>
            </a:r>
            <a:endParaRPr lang="en-US" sz="3000" dirty="0"/>
          </a:p>
        </p:txBody>
      </p:sp>
      <p:sp>
        <p:nvSpPr>
          <p:cNvPr id="4" name="Shape 2"/>
          <p:cNvSpPr/>
          <p:nvPr/>
        </p:nvSpPr>
        <p:spPr>
          <a:xfrm>
            <a:off x="457200"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21792" y="1645920"/>
            <a:ext cx="402336" cy="402336"/>
          </a:xfrm>
          <a:prstGeom prst="roundRect">
            <a:avLst>
              <a:gd name="adj" fmla="val 36364"/>
            </a:avLst>
          </a:prstGeom>
          <a:solidFill>
            <a:srgbClr val="E31837"/>
          </a:solidFill>
          <a:ln w="12700">
            <a:solidFill>
              <a:srgbClr val="333333"/>
            </a:solidFill>
            <a:prstDash val="solid"/>
          </a:ln>
        </p:spPr>
      </p:sp>
      <p:sp>
        <p:nvSpPr>
          <p:cNvPr id="6" name="Text 4"/>
          <p:cNvSpPr txBox="1"/>
          <p:nvPr/>
        </p:nvSpPr>
        <p:spPr>
          <a:xfrm>
            <a:off x="621792"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621792"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Qualys scan</a:t>
            </a:r>
            <a:endParaRPr lang="en-US" sz="1350" dirty="0"/>
          </a:p>
        </p:txBody>
      </p:sp>
      <p:sp>
        <p:nvSpPr>
          <p:cNvPr id="8" name="Text 6"/>
          <p:cNvSpPr txBox="1"/>
          <p:nvPr/>
        </p:nvSpPr>
        <p:spPr>
          <a:xfrm>
            <a:off x="621792"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A host is scanned. Qualys reports its name, address, operating system and, sometimes, a serial.</a:t>
            </a:r>
            <a:endParaRPr lang="en-US" sz="1050" dirty="0"/>
          </a:p>
        </p:txBody>
      </p:sp>
      <p:sp>
        <p:nvSpPr>
          <p:cNvPr id="9" name="Text 7"/>
          <p:cNvSpPr txBox="1"/>
          <p:nvPr/>
        </p:nvSpPr>
        <p:spPr>
          <a:xfrm>
            <a:off x="2606040"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10" name="Shape 8"/>
          <p:cNvSpPr/>
          <p:nvPr/>
        </p:nvSpPr>
        <p:spPr>
          <a:xfrm>
            <a:off x="2734056"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Shape 9"/>
          <p:cNvSpPr/>
          <p:nvPr/>
        </p:nvSpPr>
        <p:spPr>
          <a:xfrm>
            <a:off x="2898648" y="1645920"/>
            <a:ext cx="402336" cy="402336"/>
          </a:xfrm>
          <a:prstGeom prst="roundRect">
            <a:avLst>
              <a:gd name="adj" fmla="val 36364"/>
            </a:avLst>
          </a:prstGeom>
          <a:solidFill>
            <a:srgbClr val="E31837"/>
          </a:solidFill>
          <a:ln w="12700">
            <a:solidFill>
              <a:srgbClr val="333333"/>
            </a:solidFill>
            <a:prstDash val="solid"/>
          </a:ln>
        </p:spPr>
      </p:sp>
      <p:sp>
        <p:nvSpPr>
          <p:cNvPr id="12" name="Text 10"/>
          <p:cNvSpPr txBox="1"/>
          <p:nvPr/>
        </p:nvSpPr>
        <p:spPr>
          <a:xfrm>
            <a:off x="2898648"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2898648"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Discovered Item</a:t>
            </a:r>
            <a:endParaRPr lang="en-US" sz="1350" dirty="0"/>
          </a:p>
        </p:txBody>
      </p:sp>
      <p:sp>
        <p:nvSpPr>
          <p:cNvPr id="14" name="Text 12"/>
          <p:cNvSpPr txBox="1"/>
          <p:nvPr/>
        </p:nvSpPr>
        <p:spPr>
          <a:xfrm>
            <a:off x="2898648"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The integration writes one row per scanned host, carrying the raw payload as source data.</a:t>
            </a:r>
            <a:endParaRPr lang="en-US" sz="1050" dirty="0"/>
          </a:p>
        </p:txBody>
      </p:sp>
      <p:sp>
        <p:nvSpPr>
          <p:cNvPr id="15" name="Text 13"/>
          <p:cNvSpPr txBox="1"/>
          <p:nvPr/>
        </p:nvSpPr>
        <p:spPr>
          <a:xfrm>
            <a:off x="4882896"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16" name="Shape 14"/>
          <p:cNvSpPr/>
          <p:nvPr/>
        </p:nvSpPr>
        <p:spPr>
          <a:xfrm>
            <a:off x="5010912"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Shape 15"/>
          <p:cNvSpPr/>
          <p:nvPr/>
        </p:nvSpPr>
        <p:spPr>
          <a:xfrm>
            <a:off x="5175504" y="1645920"/>
            <a:ext cx="402336" cy="402336"/>
          </a:xfrm>
          <a:prstGeom prst="roundRect">
            <a:avLst>
              <a:gd name="adj" fmla="val 36364"/>
            </a:avLst>
          </a:prstGeom>
          <a:solidFill>
            <a:srgbClr val="E31837"/>
          </a:solidFill>
          <a:ln w="12700">
            <a:solidFill>
              <a:srgbClr val="333333"/>
            </a:solidFill>
            <a:prstDash val="solid"/>
          </a:ln>
        </p:spPr>
      </p:sp>
      <p:sp>
        <p:nvSpPr>
          <p:cNvPr id="18" name="Text 16"/>
          <p:cNvSpPr txBox="1"/>
          <p:nvPr/>
        </p:nvSpPr>
        <p:spPr>
          <a:xfrm>
            <a:off x="5175504"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5175504"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CI lookup chain</a:t>
            </a:r>
            <a:endParaRPr lang="en-US" sz="1350" dirty="0"/>
          </a:p>
        </p:txBody>
      </p:sp>
      <p:sp>
        <p:nvSpPr>
          <p:cNvPr id="20" name="Text 18"/>
          <p:cNvSpPr txBox="1"/>
          <p:nvPr/>
        </p:nvSpPr>
        <p:spPr>
          <a:xfrm>
            <a:off x="5175504"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Rules run in order against that payload. The first rule to return a CI wins.</a:t>
            </a:r>
            <a:endParaRPr lang="en-US" sz="1050" dirty="0"/>
          </a:p>
        </p:txBody>
      </p:sp>
      <p:sp>
        <p:nvSpPr>
          <p:cNvPr id="21" name="Text 19"/>
          <p:cNvSpPr txBox="1"/>
          <p:nvPr/>
        </p:nvSpPr>
        <p:spPr>
          <a:xfrm>
            <a:off x="7159752"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22" name="Shape 20"/>
          <p:cNvSpPr/>
          <p:nvPr/>
        </p:nvSpPr>
        <p:spPr>
          <a:xfrm>
            <a:off x="7287768"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3" name="Shape 21"/>
          <p:cNvSpPr/>
          <p:nvPr/>
        </p:nvSpPr>
        <p:spPr>
          <a:xfrm>
            <a:off x="7452360" y="1645920"/>
            <a:ext cx="402336" cy="402336"/>
          </a:xfrm>
          <a:prstGeom prst="roundRect">
            <a:avLst>
              <a:gd name="adj" fmla="val 36364"/>
            </a:avLst>
          </a:prstGeom>
          <a:solidFill>
            <a:srgbClr val="E31837"/>
          </a:solidFill>
          <a:ln w="12700">
            <a:solidFill>
              <a:srgbClr val="333333"/>
            </a:solidFill>
            <a:prstDash val="solid"/>
          </a:ln>
        </p:spPr>
      </p:sp>
      <p:sp>
        <p:nvSpPr>
          <p:cNvPr id="24" name="Text 22"/>
          <p:cNvSpPr txBox="1"/>
          <p:nvPr/>
        </p:nvSpPr>
        <p:spPr>
          <a:xfrm>
            <a:off x="7452360"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7452360"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Configuration item</a:t>
            </a:r>
            <a:endParaRPr lang="en-US" sz="1350" dirty="0"/>
          </a:p>
        </p:txBody>
      </p:sp>
      <p:sp>
        <p:nvSpPr>
          <p:cNvPr id="26" name="Text 24"/>
          <p:cNvSpPr txBox="1"/>
          <p:nvPr/>
        </p:nvSpPr>
        <p:spPr>
          <a:xfrm>
            <a:off x="7452360"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The Discovered Item turns from unmatched to matched and points at a real CMDB record.</a:t>
            </a:r>
            <a:endParaRPr lang="en-US" sz="1050" dirty="0"/>
          </a:p>
        </p:txBody>
      </p:sp>
      <p:sp>
        <p:nvSpPr>
          <p:cNvPr id="27" name="Text 25"/>
          <p:cNvSpPr txBox="1"/>
          <p:nvPr/>
        </p:nvSpPr>
        <p:spPr>
          <a:xfrm>
            <a:off x="9436608"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28" name="Shape 26"/>
          <p:cNvSpPr/>
          <p:nvPr/>
        </p:nvSpPr>
        <p:spPr>
          <a:xfrm>
            <a:off x="9564624"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Shape 27"/>
          <p:cNvSpPr/>
          <p:nvPr/>
        </p:nvSpPr>
        <p:spPr>
          <a:xfrm>
            <a:off x="9729216" y="1645920"/>
            <a:ext cx="402336" cy="402336"/>
          </a:xfrm>
          <a:prstGeom prst="roundRect">
            <a:avLst>
              <a:gd name="adj" fmla="val 36364"/>
            </a:avLst>
          </a:prstGeom>
          <a:solidFill>
            <a:srgbClr val="E31837"/>
          </a:solidFill>
          <a:ln w="12700">
            <a:solidFill>
              <a:srgbClr val="333333"/>
            </a:solidFill>
            <a:prstDash val="solid"/>
          </a:ln>
        </p:spPr>
      </p:sp>
      <p:sp>
        <p:nvSpPr>
          <p:cNvPr id="30" name="Text 28"/>
          <p:cNvSpPr txBox="1"/>
          <p:nvPr/>
        </p:nvSpPr>
        <p:spPr>
          <a:xfrm>
            <a:off x="9729216"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1" name="Text 29"/>
          <p:cNvSpPr txBox="1"/>
          <p:nvPr/>
        </p:nvSpPr>
        <p:spPr>
          <a:xfrm>
            <a:off x="9729216"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Owner and remediation</a:t>
            </a:r>
            <a:endParaRPr lang="en-US" sz="1350" dirty="0"/>
          </a:p>
        </p:txBody>
      </p:sp>
      <p:sp>
        <p:nvSpPr>
          <p:cNvPr id="32" name="Text 30"/>
          <p:cNvSpPr txBox="1"/>
          <p:nvPr/>
        </p:nvSpPr>
        <p:spPr>
          <a:xfrm>
            <a:off x="9729216"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Findings inherit the CI, its primary application, and with it the accountable owner.</a:t>
            </a:r>
            <a:endParaRPr lang="en-US" sz="1050" dirty="0"/>
          </a:p>
        </p:txBody>
      </p:sp>
      <p:sp>
        <p:nvSpPr>
          <p:cNvPr id="33" name="Shape 31"/>
          <p:cNvSpPr/>
          <p:nvPr/>
        </p:nvSpPr>
        <p:spPr>
          <a:xfrm>
            <a:off x="457200" y="3785616"/>
            <a:ext cx="11274552"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731520" y="3950208"/>
            <a:ext cx="10698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Everything downstream depends on this one decision</a:t>
            </a:r>
            <a:endParaRPr lang="en-US" sz="1500" dirty="0"/>
          </a:p>
        </p:txBody>
      </p:sp>
      <p:sp>
        <p:nvSpPr>
          <p:cNvPr id="35" name="Text 33"/>
          <p:cNvSpPr txBox="1"/>
          <p:nvPr/>
        </p:nvSpPr>
        <p:spPr>
          <a:xfrm>
            <a:off x="731520" y="4297680"/>
            <a:ext cx="10698480" cy="786384"/>
          </a:xfrm>
          <a:prstGeom prst="rect">
            <a:avLst/>
          </a:prstGeom>
          <a:noFill/>
          <a:ln/>
        </p:spPr>
        <p:txBody>
          <a:bodyPr wrap="square" lIns="0" tIns="0" rIns="0" bIns="0" rtlCol="0" anchor="t"/>
          <a:lstStyle/>
          <a:p>
            <a:pPr indent="0" marL="0">
              <a:buNone/>
            </a:pPr>
            <a:r>
              <a:rPr lang="en-US" sz="1150" b="1" dirty="0">
                <a:solidFill>
                  <a:srgbClr val="24272A"/>
                </a:solidFill>
                <a:latin typeface="Arial" pitchFamily="34" charset="0"/>
                <a:ea typeface="Arial" pitchFamily="34" charset="-122"/>
                <a:cs typeface="Arial" pitchFamily="34" charset="-120"/>
              </a:rPr>
              <a:t>A wrong CI is worse than no CI. </a:t>
            </a:r>
            <a:pPr indent="0" marL="0">
              <a:buNone/>
            </a:pPr>
            <a:r>
              <a:rPr lang="en-US" sz="1150" dirty="0">
                <a:solidFill>
                  <a:srgbClr val="6B7177"/>
                </a:solidFill>
                <a:latin typeface="Arial" pitchFamily="34" charset="0"/>
                <a:ea typeface="Arial" pitchFamily="34" charset="-122"/>
                <a:cs typeface="Arial" pitchFamily="34" charset="-120"/>
              </a:rPr>
              <a:t>An unmatched host stays visible on the exception report and gets chased. A host matched to the wrong CI silently sends its findings to the wrong application owner, who has no way to tell the difference. Every rule in the chain is therefore written to decline rather than guess: it returns a CI only when exactly one candidate survives its evidence, and hands the host on otherwise.</a:t>
            </a:r>
            <a:endParaRPr lang="en-US" sz="1150" dirty="0"/>
          </a:p>
        </p:txBody>
      </p:sp>
      <p:sp>
        <p:nvSpPr>
          <p:cNvPr id="36" name="Text 34"/>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Discovered Items live on sn_sec_cmn_src_ci; vulnerable items reach them through the src_ci reference.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THE INPUT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the platform hands a rule</a:t>
            </a:r>
            <a:endParaRPr lang="en-US" sz="3000" dirty="0"/>
          </a:p>
        </p:txBody>
      </p:sp>
      <p:sp>
        <p:nvSpPr>
          <p:cNvPr id="4" name="Shape 2"/>
          <p:cNvSpPr/>
          <p:nvPr/>
        </p:nvSpPr>
        <p:spPr>
          <a:xfrm>
            <a:off x="457200" y="1444752"/>
            <a:ext cx="5532120" cy="2148840"/>
          </a:xfrm>
          <a:prstGeom prst="roundRect">
            <a:avLst>
              <a:gd name="adj" fmla="val 212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entry point</a:t>
            </a:r>
            <a:endParaRPr lang="en-US" sz="1400" dirty="0"/>
          </a:p>
        </p:txBody>
      </p:sp>
      <p:sp>
        <p:nvSpPr>
          <p:cNvPr id="6" name="Shape 4"/>
          <p:cNvSpPr/>
          <p:nvPr/>
        </p:nvSpPr>
        <p:spPr>
          <a:xfrm>
            <a:off x="685800" y="1920240"/>
            <a:ext cx="5074920" cy="1481328"/>
          </a:xfrm>
          <a:prstGeom prst="roundRect">
            <a:avLst>
              <a:gd name="adj" fmla="val 2469"/>
            </a:avLst>
          </a:prstGeom>
          <a:solidFill>
            <a:srgbClr val="1E2124"/>
          </a:solidFill>
          <a:ln w="12700">
            <a:solidFill>
              <a:srgbClr val="1E2124"/>
            </a:solidFill>
            <a:prstDash val="solid"/>
          </a:ln>
        </p:spPr>
      </p:sp>
      <p:sp>
        <p:nvSpPr>
          <p:cNvPr id="7" name="Text 5"/>
          <p:cNvSpPr txBox="1"/>
          <p:nvPr/>
        </p:nvSpPr>
        <p:spPr>
          <a:xfrm>
            <a:off x="795528" y="1993392"/>
            <a:ext cx="4855464" cy="133502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(function process(rule, sourceValue, sourcePayload)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rule          the lookup rule record itself</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sourceValue   the field named in Source field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sourcePayload the whole scanned host record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})(rule, sourceValue, sourcePayload);</a:t>
            </a:r>
            <a:endParaRPr lang="en-US" sz="900" dirty="0"/>
          </a:p>
        </p:txBody>
      </p:sp>
      <p:sp>
        <p:nvSpPr>
          <p:cNvPr id="8" name="Shape 6"/>
          <p:cNvSpPr/>
          <p:nvPr/>
        </p:nvSpPr>
        <p:spPr>
          <a:xfrm>
            <a:off x="6199632" y="1444752"/>
            <a:ext cx="5532120" cy="2148840"/>
          </a:xfrm>
          <a:prstGeom prst="roundRect">
            <a:avLst>
              <a:gd name="adj" fmla="val 212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28232"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payload of one scanned host</a:t>
            </a:r>
            <a:endParaRPr lang="en-US" sz="1400" dirty="0"/>
          </a:p>
        </p:txBody>
      </p:sp>
      <p:sp>
        <p:nvSpPr>
          <p:cNvPr id="10" name="Shape 8"/>
          <p:cNvSpPr/>
          <p:nvPr/>
        </p:nvSpPr>
        <p:spPr>
          <a:xfrm>
            <a:off x="6428232" y="1920240"/>
            <a:ext cx="5074920" cy="1481328"/>
          </a:xfrm>
          <a:prstGeom prst="roundRect">
            <a:avLst>
              <a:gd name="adj" fmla="val 2469"/>
            </a:avLst>
          </a:prstGeom>
          <a:solidFill>
            <a:srgbClr val="1E2124"/>
          </a:solidFill>
          <a:ln w="12700">
            <a:solidFill>
              <a:srgbClr val="1E2124"/>
            </a:solidFill>
            <a:prstDash val="solid"/>
          </a:ln>
        </p:spPr>
      </p:sp>
      <p:sp>
        <p:nvSpPr>
          <p:cNvPr id="11" name="Text 9"/>
          <p:cNvSpPr txBox="1"/>
          <p:nvPr/>
        </p:nvSpPr>
        <p:spPr>
          <a:xfrm>
            <a:off x="6537960" y="1993392"/>
            <a:ext cx="4855464" cy="133502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"ID": "35832680",</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"IP": "171.128.225.96",</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"DNS": "ah-1047132-001.corp.example.com",</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"NETBIOS": "AH-1047132-001",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"OS": "Red Hat Enterprise Linux 9.8",</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"TRACKING_METHOD": "AGENT",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"SERIAL_NUMBER": "VMware-42 1a 9c ..." }</a:t>
            </a:r>
            <a:endParaRPr lang="en-US" sz="900" dirty="0"/>
          </a:p>
        </p:txBody>
      </p:sp>
      <p:sp>
        <p:nvSpPr>
          <p:cNvPr id="12" name="Text 10"/>
          <p:cNvSpPr txBox="1"/>
          <p:nvPr/>
        </p:nvSpPr>
        <p:spPr>
          <a:xfrm>
            <a:off x="457200" y="3785616"/>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each field is used for</a:t>
            </a:r>
            <a:endParaRPr lang="en-US" sz="1400" dirty="0"/>
          </a:p>
        </p:txBody>
      </p:sp>
      <p:sp>
        <p:nvSpPr>
          <p:cNvPr id="13" name="Shape 11"/>
          <p:cNvSpPr/>
          <p:nvPr/>
        </p:nvSpPr>
        <p:spPr>
          <a:xfrm>
            <a:off x="457200" y="4133088"/>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640080" y="4187952"/>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SERIAL_NUMBER</a:t>
            </a:r>
            <a:endParaRPr lang="en-US" sz="1050" dirty="0"/>
          </a:p>
        </p:txBody>
      </p:sp>
      <p:sp>
        <p:nvSpPr>
          <p:cNvPr id="15" name="Text 13"/>
          <p:cNvSpPr txBox="1"/>
          <p:nvPr/>
        </p:nvSpPr>
        <p:spPr>
          <a:xfrm>
            <a:off x="2606040" y="4187952"/>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Serial rules</a:t>
            </a:r>
            <a:endParaRPr lang="en-US" sz="1050" dirty="0"/>
          </a:p>
        </p:txBody>
      </p:sp>
      <p:sp>
        <p:nvSpPr>
          <p:cNvPr id="16" name="Text 14"/>
          <p:cNvSpPr txBox="1"/>
          <p:nvPr/>
        </p:nvSpPr>
        <p:spPr>
          <a:xfrm>
            <a:off x="5532120" y="4187952"/>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Strongest identifier, but only 0.3% of the backlog carries one.</a:t>
            </a:r>
            <a:endParaRPr lang="en-US" sz="1050" dirty="0"/>
          </a:p>
        </p:txBody>
      </p:sp>
      <p:sp>
        <p:nvSpPr>
          <p:cNvPr id="17" name="Shape 15"/>
          <p:cNvSpPr/>
          <p:nvPr/>
        </p:nvSpPr>
        <p:spPr>
          <a:xfrm>
            <a:off x="457200" y="4700016"/>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Text 16"/>
          <p:cNvSpPr txBox="1"/>
          <p:nvPr/>
        </p:nvSpPr>
        <p:spPr>
          <a:xfrm>
            <a:off x="640080" y="4754880"/>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DNS</a:t>
            </a:r>
            <a:endParaRPr lang="en-US" sz="1050" dirty="0"/>
          </a:p>
        </p:txBody>
      </p:sp>
      <p:sp>
        <p:nvSpPr>
          <p:cNvPr id="19" name="Text 17"/>
          <p:cNvSpPr txBox="1"/>
          <p:nvPr/>
        </p:nvSpPr>
        <p:spPr>
          <a:xfrm>
            <a:off x="2606040" y="4754880"/>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Name rules and the three new rules</a:t>
            </a:r>
            <a:endParaRPr lang="en-US" sz="1050" dirty="0"/>
          </a:p>
        </p:txBody>
      </p:sp>
      <p:sp>
        <p:nvSpPr>
          <p:cNvPr id="20" name="Text 18"/>
          <p:cNvSpPr txBox="1"/>
          <p:nvPr/>
        </p:nvSpPr>
        <p:spPr>
          <a:xfrm>
            <a:off x="5532120" y="4754880"/>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Present on 85.9% of hosts. Carries the hostname, the domain, and often the device role.</a:t>
            </a:r>
            <a:endParaRPr lang="en-US" sz="1050" dirty="0"/>
          </a:p>
        </p:txBody>
      </p:sp>
      <p:sp>
        <p:nvSpPr>
          <p:cNvPr id="21" name="Shape 19"/>
          <p:cNvSpPr/>
          <p:nvPr/>
        </p:nvSpPr>
        <p:spPr>
          <a:xfrm>
            <a:off x="457200" y="5266944"/>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2" name="Text 20"/>
          <p:cNvSpPr txBox="1"/>
          <p:nvPr/>
        </p:nvSpPr>
        <p:spPr>
          <a:xfrm>
            <a:off x="640080" y="5321808"/>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IP</a:t>
            </a:r>
            <a:endParaRPr lang="en-US" sz="1050" dirty="0"/>
          </a:p>
        </p:txBody>
      </p:sp>
      <p:sp>
        <p:nvSpPr>
          <p:cNvPr id="23" name="Text 21"/>
          <p:cNvSpPr txBox="1"/>
          <p:nvPr/>
        </p:nvSpPr>
        <p:spPr>
          <a:xfrm>
            <a:off x="2606040" y="5321808"/>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Address rules and the VIP rule</a:t>
            </a:r>
            <a:endParaRPr lang="en-US" sz="1050" dirty="0"/>
          </a:p>
        </p:txBody>
      </p:sp>
      <p:sp>
        <p:nvSpPr>
          <p:cNvPr id="24" name="Text 22"/>
          <p:cNvSpPr txBox="1"/>
          <p:nvPr/>
        </p:nvSpPr>
        <p:spPr>
          <a:xfrm>
            <a:off x="5532120" y="5321808"/>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Always present. Weakest evidence: addresses move and are shared.</a:t>
            </a:r>
            <a:endParaRPr lang="en-US" sz="1050" dirty="0"/>
          </a:p>
        </p:txBody>
      </p:sp>
      <p:sp>
        <p:nvSpPr>
          <p:cNvPr id="25" name="Shape 23"/>
          <p:cNvSpPr/>
          <p:nvPr/>
        </p:nvSpPr>
        <p:spPr>
          <a:xfrm>
            <a:off x="457200" y="5833872"/>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640080" y="5888736"/>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OS</a:t>
            </a:r>
            <a:endParaRPr lang="en-US" sz="1050" dirty="0"/>
          </a:p>
        </p:txBody>
      </p:sp>
      <p:sp>
        <p:nvSpPr>
          <p:cNvPr id="27" name="Text 25"/>
          <p:cNvSpPr txBox="1"/>
          <p:nvPr/>
        </p:nvSpPr>
        <p:spPr>
          <a:xfrm>
            <a:off x="2606040" y="5888736"/>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Every rule, as class evidence</a:t>
            </a:r>
            <a:endParaRPr lang="en-US" sz="1050" dirty="0"/>
          </a:p>
        </p:txBody>
      </p:sp>
      <p:sp>
        <p:nvSpPr>
          <p:cNvPr id="28" name="Text 26"/>
          <p:cNvSpPr txBox="1"/>
          <p:nvPr/>
        </p:nvSpPr>
        <p:spPr>
          <a:xfrm>
            <a:off x="5532120" y="5888736"/>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Turned into a CMDB class. Empty on 32.6% and a multi-guess string on a further 5.0%.</a:t>
            </a:r>
            <a:endParaRPr lang="en-US" sz="1050" dirty="0"/>
          </a:p>
        </p:txBody>
      </p:sp>
      <p:sp>
        <p:nvSpPr>
          <p:cNvPr id="29" name="Text 27"/>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Source field on the rule record decides which payload field arrives as sourceValue; the rule reads the rest from sourcePayload.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THE CONTRACT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a rule owes back</a:t>
            </a:r>
            <a:endParaRPr lang="en-US" sz="3000" dirty="0"/>
          </a:p>
        </p:txBody>
      </p:sp>
      <p:sp>
        <p:nvSpPr>
          <p:cNvPr id="4" name="Shape 2"/>
          <p:cNvSpPr/>
          <p:nvPr/>
        </p:nvSpPr>
        <p:spPr>
          <a:xfrm>
            <a:off x="45720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664208"/>
            <a:ext cx="365760" cy="365760"/>
          </a:xfrm>
          <a:prstGeom prst="roundRect">
            <a:avLst>
              <a:gd name="adj" fmla="val 30000"/>
            </a:avLst>
          </a:prstGeom>
          <a:solidFill>
            <a:srgbClr val="E31837"/>
          </a:solidFill>
          <a:ln w="12700">
            <a:solidFill>
              <a:srgbClr val="333333"/>
            </a:solidFill>
            <a:prstDash val="solid"/>
          </a:ln>
        </p:spPr>
      </p:sp>
      <p:sp>
        <p:nvSpPr>
          <p:cNvPr id="6" name="Text 4"/>
          <p:cNvSpPr txBox="1"/>
          <p:nvPr/>
        </p:nvSpPr>
        <p:spPr>
          <a:xfrm>
            <a:off x="117043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Return a sys_id</a:t>
            </a:r>
            <a:endParaRPr lang="en-US" sz="1450" dirty="0"/>
          </a:p>
        </p:txBody>
      </p:sp>
      <p:sp>
        <p:nvSpPr>
          <p:cNvPr id="7" name="Text 5"/>
          <p:cNvSpPr txBox="1"/>
          <p:nvPr/>
        </p:nvSpPr>
        <p:spPr>
          <a:xfrm>
            <a:off x="68580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host is matched. The framework links the Discovered Item and every finding on it to that CI and stops: no later rule is consulted.</a:t>
            </a:r>
            <a:endParaRPr lang="en-US" sz="1100" dirty="0"/>
          </a:p>
        </p:txBody>
      </p:sp>
      <p:sp>
        <p:nvSpPr>
          <p:cNvPr id="8" name="Shape 6"/>
          <p:cNvSpPr/>
          <p:nvPr/>
        </p:nvSpPr>
        <p:spPr>
          <a:xfrm>
            <a:off x="425196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Shape 7"/>
          <p:cNvSpPr/>
          <p:nvPr/>
        </p:nvSpPr>
        <p:spPr>
          <a:xfrm>
            <a:off x="4480560" y="1664208"/>
            <a:ext cx="365760" cy="365760"/>
          </a:xfrm>
          <a:prstGeom prst="roundRect">
            <a:avLst>
              <a:gd name="adj" fmla="val 30000"/>
            </a:avLst>
          </a:prstGeom>
          <a:solidFill>
            <a:srgbClr val="012169"/>
          </a:solidFill>
          <a:ln w="12700">
            <a:solidFill>
              <a:srgbClr val="333333"/>
            </a:solidFill>
            <a:prstDash val="solid"/>
          </a:ln>
        </p:spPr>
      </p:sp>
      <p:sp>
        <p:nvSpPr>
          <p:cNvPr id="10" name="Text 8"/>
          <p:cNvSpPr txBox="1"/>
          <p:nvPr/>
        </p:nvSpPr>
        <p:spPr>
          <a:xfrm>
            <a:off x="496519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Return null</a:t>
            </a:r>
            <a:endParaRPr lang="en-US" sz="1450" dirty="0"/>
          </a:p>
        </p:txBody>
      </p:sp>
      <p:sp>
        <p:nvSpPr>
          <p:cNvPr id="11" name="Text 9"/>
          <p:cNvSpPr txBox="1"/>
          <p:nvPr/>
        </p:nvSpPr>
        <p:spPr>
          <a:xfrm>
            <a:off x="448056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rule declines. The host moves to the next rule with its payload untouched. Declining is normal and cheap.</a:t>
            </a:r>
            <a:endParaRPr lang="en-US" sz="1100" dirty="0"/>
          </a:p>
        </p:txBody>
      </p:sp>
      <p:sp>
        <p:nvSpPr>
          <p:cNvPr id="12" name="Shape 10"/>
          <p:cNvSpPr/>
          <p:nvPr/>
        </p:nvSpPr>
        <p:spPr>
          <a:xfrm>
            <a:off x="804672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Shape 11"/>
          <p:cNvSpPr/>
          <p:nvPr/>
        </p:nvSpPr>
        <p:spPr>
          <a:xfrm>
            <a:off x="8275320" y="1664208"/>
            <a:ext cx="365760" cy="365760"/>
          </a:xfrm>
          <a:prstGeom prst="roundRect">
            <a:avLst>
              <a:gd name="adj" fmla="val 30000"/>
            </a:avLst>
          </a:prstGeom>
          <a:solidFill>
            <a:srgbClr val="24272A"/>
          </a:solidFill>
          <a:ln w="12700">
            <a:solidFill>
              <a:srgbClr val="333333"/>
            </a:solidFill>
            <a:prstDash val="solid"/>
          </a:ln>
        </p:spPr>
      </p:sp>
      <p:sp>
        <p:nvSpPr>
          <p:cNvPr id="14" name="Text 12"/>
          <p:cNvSpPr txBox="1"/>
          <p:nvPr/>
        </p:nvSpPr>
        <p:spPr>
          <a:xfrm>
            <a:off x="875995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Never guess</a:t>
            </a:r>
            <a:endParaRPr lang="en-US" sz="1450" dirty="0"/>
          </a:p>
        </p:txBody>
      </p:sp>
      <p:sp>
        <p:nvSpPr>
          <p:cNvPr id="15" name="Text 13"/>
          <p:cNvSpPr txBox="1"/>
          <p:nvPr/>
        </p:nvSpPr>
        <p:spPr>
          <a:xfrm>
            <a:off x="827532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rule that cannot narrow its evidence to one CI must decline. Returning the first of several is the one outcome the chain forbids.</a:t>
            </a:r>
            <a:endParaRPr lang="en-US" sz="1100" dirty="0"/>
          </a:p>
        </p:txBody>
      </p:sp>
      <p:sp>
        <p:nvSpPr>
          <p:cNvPr id="16" name="Shape 14"/>
          <p:cNvSpPr/>
          <p:nvPr/>
        </p:nvSpPr>
        <p:spPr>
          <a:xfrm>
            <a:off x="457200" y="3246120"/>
            <a:ext cx="5532120" cy="2606040"/>
          </a:xfrm>
          <a:prstGeom prst="roundRect">
            <a:avLst>
              <a:gd name="adj" fmla="val 175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3392424"/>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How the chain is ordered</a:t>
            </a:r>
            <a:endParaRPr lang="en-US" sz="1400" dirty="0"/>
          </a:p>
        </p:txBody>
      </p:sp>
      <p:sp>
        <p:nvSpPr>
          <p:cNvPr id="18" name="Text 16"/>
          <p:cNvSpPr txBox="1"/>
          <p:nvPr/>
        </p:nvSpPr>
        <p:spPr>
          <a:xfrm>
            <a:off x="685800" y="3739896"/>
            <a:ext cx="5074920" cy="1920240"/>
          </a:xfrm>
          <a:prstGeom prst="rect">
            <a:avLst/>
          </a:prstGeom>
          <a:noFill/>
          <a:ln/>
        </p:spPr>
        <p:txBody>
          <a:bodyPr wrap="square" lIns="0" tIns="0" rIns="0" bIns="0" rtlCol="0" anchor="t"/>
          <a:lstStyle/>
          <a:p>
            <a:pPr indent="0" marL="0">
              <a:spcAft>
                <a:spcPts val="800"/>
              </a:spcAft>
              <a:buNone/>
            </a:pPr>
            <a:r>
              <a:rPr lang="en-US" sz="1150" dirty="0">
                <a:solidFill>
                  <a:srgbClr val="6B7177"/>
                </a:solidFill>
                <a:latin typeface="Arial" pitchFamily="34" charset="0"/>
                <a:ea typeface="Arial" pitchFamily="34" charset="-122"/>
                <a:cs typeface="Arial" pitchFamily="34" charset="-120"/>
              </a:rPr>
              <a:t>Rules run from the lowest order to the highest, and the first non-null answer wins. The order is therefore a statement about evidence: whatever runs earlier is trusted more.</a:t>
            </a:r>
            <a:endParaRPr lang="en-US" sz="1150" dirty="0"/>
          </a:p>
          <a:p>
            <a:pPr indent="0" marL="0">
              <a:buNone/>
            </a:pPr>
            <a:r>
              <a:rPr lang="en-US" sz="1150" dirty="0">
                <a:solidFill>
                  <a:srgbClr val="6B7177"/>
                </a:solidFill>
                <a:latin typeface="Arial" pitchFamily="34" charset="0"/>
                <a:ea typeface="Arial" pitchFamily="34" charset="-122"/>
                <a:cs typeface="Arial" pitchFamily="34" charset="-120"/>
              </a:rPr>
              <a:t>The custom USEM rules occupy 175 to 850. The out-of-box Qualys rules run after them, from 860, so nothing shipped by the platform is replaced or bypassed.</a:t>
            </a:r>
            <a:endParaRPr lang="en-US" sz="1150" dirty="0"/>
          </a:p>
        </p:txBody>
      </p:sp>
      <p:sp>
        <p:nvSpPr>
          <p:cNvPr id="19" name="Shape 17"/>
          <p:cNvSpPr/>
          <p:nvPr/>
        </p:nvSpPr>
        <p:spPr>
          <a:xfrm>
            <a:off x="6199632" y="3246120"/>
            <a:ext cx="5532120" cy="2606040"/>
          </a:xfrm>
          <a:prstGeom prst="roundRect">
            <a:avLst>
              <a:gd name="adj" fmla="val 175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Text 18"/>
          <p:cNvSpPr txBox="1"/>
          <p:nvPr/>
        </p:nvSpPr>
        <p:spPr>
          <a:xfrm>
            <a:off x="6428232" y="3392424"/>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Fields on the rule record</a:t>
            </a:r>
            <a:endParaRPr lang="en-US" sz="1400" dirty="0"/>
          </a:p>
        </p:txBody>
      </p:sp>
      <p:sp>
        <p:nvSpPr>
          <p:cNvPr id="21" name="Text 19"/>
          <p:cNvSpPr txBox="1"/>
          <p:nvPr/>
        </p:nvSpPr>
        <p:spPr>
          <a:xfrm>
            <a:off x="6428232" y="3776472"/>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Source</a:t>
            </a:r>
            <a:endParaRPr lang="en-US" sz="1050" dirty="0"/>
          </a:p>
        </p:txBody>
      </p:sp>
      <p:sp>
        <p:nvSpPr>
          <p:cNvPr id="22" name="Text 20"/>
          <p:cNvSpPr txBox="1"/>
          <p:nvPr/>
        </p:nvSpPr>
        <p:spPr>
          <a:xfrm>
            <a:off x="8183880" y="3776472"/>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Qualys Cloud Platform</a:t>
            </a:r>
            <a:endParaRPr lang="en-US" sz="950" dirty="0"/>
          </a:p>
        </p:txBody>
      </p:sp>
      <p:sp>
        <p:nvSpPr>
          <p:cNvPr id="23" name="Text 21"/>
          <p:cNvSpPr txBox="1"/>
          <p:nvPr/>
        </p:nvSpPr>
        <p:spPr>
          <a:xfrm>
            <a:off x="6428232" y="4123944"/>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Table</a:t>
            </a:r>
            <a:endParaRPr lang="en-US" sz="1050" dirty="0"/>
          </a:p>
        </p:txBody>
      </p:sp>
      <p:sp>
        <p:nvSpPr>
          <p:cNvPr id="24" name="Text 22"/>
          <p:cNvSpPr txBox="1"/>
          <p:nvPr/>
        </p:nvSpPr>
        <p:spPr>
          <a:xfrm>
            <a:off x="8183880" y="4123944"/>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sn_vul_qualys_host_attrb</a:t>
            </a:r>
            <a:endParaRPr lang="en-US" sz="950" dirty="0"/>
          </a:p>
        </p:txBody>
      </p:sp>
      <p:sp>
        <p:nvSpPr>
          <p:cNvPr id="25" name="Text 23"/>
          <p:cNvSpPr txBox="1"/>
          <p:nvPr/>
        </p:nvSpPr>
        <p:spPr>
          <a:xfrm>
            <a:off x="6428232" y="4471416"/>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Source field</a:t>
            </a:r>
            <a:endParaRPr lang="en-US" sz="1050" dirty="0"/>
          </a:p>
        </p:txBody>
      </p:sp>
      <p:sp>
        <p:nvSpPr>
          <p:cNvPr id="26" name="Text 24"/>
          <p:cNvSpPr txBox="1"/>
          <p:nvPr/>
        </p:nvSpPr>
        <p:spPr>
          <a:xfrm>
            <a:off x="8183880" y="4471416"/>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DNS, IP or SERIAL_NUMBER</a:t>
            </a:r>
            <a:endParaRPr lang="en-US" sz="950" dirty="0"/>
          </a:p>
        </p:txBody>
      </p:sp>
      <p:sp>
        <p:nvSpPr>
          <p:cNvPr id="27" name="Text 25"/>
          <p:cNvSpPr txBox="1"/>
          <p:nvPr/>
        </p:nvSpPr>
        <p:spPr>
          <a:xfrm>
            <a:off x="6428232" y="4818888"/>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Method / Type</a:t>
            </a:r>
            <a:endParaRPr lang="en-US" sz="1050" dirty="0"/>
          </a:p>
        </p:txBody>
      </p:sp>
      <p:sp>
        <p:nvSpPr>
          <p:cNvPr id="28" name="Text 26"/>
          <p:cNvSpPr txBox="1"/>
          <p:nvPr/>
        </p:nvSpPr>
        <p:spPr>
          <a:xfrm>
            <a:off x="8183880" y="4818888"/>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Script / Custom</a:t>
            </a:r>
            <a:endParaRPr lang="en-US" sz="950" dirty="0"/>
          </a:p>
        </p:txBody>
      </p:sp>
      <p:sp>
        <p:nvSpPr>
          <p:cNvPr id="29" name="Text 27"/>
          <p:cNvSpPr txBox="1"/>
          <p:nvPr/>
        </p:nvSpPr>
        <p:spPr>
          <a:xfrm>
            <a:off x="6428232" y="5166360"/>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Order</a:t>
            </a:r>
            <a:endParaRPr lang="en-US" sz="1050" dirty="0"/>
          </a:p>
        </p:txBody>
      </p:sp>
      <p:sp>
        <p:nvSpPr>
          <p:cNvPr id="30" name="Text 28"/>
          <p:cNvSpPr txBox="1"/>
          <p:nvPr/>
        </p:nvSpPr>
        <p:spPr>
          <a:xfrm>
            <a:off x="8183880" y="5166360"/>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175 to 850</a:t>
            </a:r>
            <a:endParaRPr lang="en-US" sz="950" dirty="0"/>
          </a:p>
        </p:txBody>
      </p:sp>
      <p:sp>
        <p:nvSpPr>
          <p:cNvPr id="31" name="Text 29"/>
          <p:cNvSpPr txBox="1"/>
          <p:nvPr/>
        </p:nvSpPr>
        <p:spPr>
          <a:xfrm>
            <a:off x="6428232" y="5513832"/>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Reapply</a:t>
            </a:r>
            <a:endParaRPr lang="en-US" sz="1050" dirty="0"/>
          </a:p>
        </p:txBody>
      </p:sp>
      <p:sp>
        <p:nvSpPr>
          <p:cNvPr id="32" name="Text 30"/>
          <p:cNvSpPr txBox="1"/>
          <p:nvPr/>
        </p:nvSpPr>
        <p:spPr>
          <a:xfrm>
            <a:off x="8183880" y="5513832"/>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true, so changed items are re-evaluated</a:t>
            </a:r>
            <a:endParaRPr lang="en-US" sz="950" dirty="0"/>
          </a:p>
        </p:txBody>
      </p:sp>
      <p:sp>
        <p:nvSpPr>
          <p:cNvPr id="33" name="Text 3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The framework entry point is sn_sec_cmn.CIIdentify.identify(source, payload); the reconcile job re-runs it for changed Discovered Items.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NINETEEN RULES, STRONGEST EVIDENCE FIRST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The chain at a glance</a:t>
            </a:r>
            <a:endParaRPr lang="en-US" sz="3000" dirty="0"/>
          </a:p>
        </p:txBody>
      </p:sp>
      <p:sp>
        <p:nvSpPr>
          <p:cNvPr id="4" name="Shape 2"/>
          <p:cNvSpPr/>
          <p:nvPr/>
        </p:nvSpPr>
        <p:spPr>
          <a:xfrm>
            <a:off x="457200" y="1389888"/>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40080"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Serial number</a:t>
            </a:r>
            <a:endParaRPr lang="en-US" sz="1300" dirty="0"/>
          </a:p>
        </p:txBody>
      </p:sp>
      <p:sp>
        <p:nvSpPr>
          <p:cNvPr id="6" name="Text 4"/>
          <p:cNvSpPr txBox="1"/>
          <p:nvPr/>
        </p:nvSpPr>
        <p:spPr>
          <a:xfrm>
            <a:off x="640080" y="1792224"/>
            <a:ext cx="3200400" cy="448056"/>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175  Serial Number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180  Serial Number Hardware Match</a:t>
            </a:r>
            <a:endParaRPr lang="en-US" sz="950" dirty="0"/>
          </a:p>
        </p:txBody>
      </p:sp>
      <p:sp>
        <p:nvSpPr>
          <p:cNvPr id="7" name="Text 5"/>
          <p:cNvSpPr txBox="1"/>
          <p:nvPr/>
        </p:nvSpPr>
        <p:spPr>
          <a:xfrm>
            <a:off x="640080" y="2240280"/>
            <a:ext cx="3200400" cy="7772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One machine for life, so it is tried first. Only 0.3% of scanned hosts report one.</a:t>
            </a:r>
            <a:endParaRPr lang="en-US" sz="950" dirty="0"/>
          </a:p>
        </p:txBody>
      </p:sp>
      <p:sp>
        <p:nvSpPr>
          <p:cNvPr id="8" name="Shape 6"/>
          <p:cNvSpPr/>
          <p:nvPr/>
        </p:nvSpPr>
        <p:spPr>
          <a:xfrm>
            <a:off x="457200" y="3200400"/>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0080" y="3310128"/>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Device label</a:t>
            </a:r>
            <a:endParaRPr lang="en-US" sz="1300" dirty="0"/>
          </a:p>
        </p:txBody>
      </p:sp>
      <p:sp>
        <p:nvSpPr>
          <p:cNvPr id="10" name="Text 8"/>
          <p:cNvSpPr txBox="1"/>
          <p:nvPr/>
        </p:nvSpPr>
        <p:spPr>
          <a:xfrm>
            <a:off x="640080" y="3602736"/>
            <a:ext cx="3200400" cy="251460"/>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200  Cisco IP Phone MAC</a:t>
            </a:r>
            <a:endParaRPr lang="en-US" sz="950" dirty="0"/>
          </a:p>
        </p:txBody>
      </p:sp>
      <p:sp>
        <p:nvSpPr>
          <p:cNvPr id="11" name="Text 9"/>
          <p:cNvSpPr txBox="1"/>
          <p:nvPr/>
        </p:nvSpPr>
        <p:spPr>
          <a:xfrm>
            <a:off x="640080" y="3854196"/>
            <a:ext cx="3200400" cy="973836"/>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A phone label is a MAC address in disguise, resolved before it can look like a server name.</a:t>
            </a:r>
            <a:endParaRPr lang="en-US" sz="950" dirty="0"/>
          </a:p>
        </p:txBody>
      </p:sp>
      <p:sp>
        <p:nvSpPr>
          <p:cNvPr id="12" name="Shape 10"/>
          <p:cNvSpPr/>
          <p:nvPr/>
        </p:nvSpPr>
        <p:spPr>
          <a:xfrm>
            <a:off x="4315968" y="1389888"/>
            <a:ext cx="3566160" cy="3511296"/>
          </a:xfrm>
          <a:prstGeom prst="roundRect">
            <a:avLst>
              <a:gd name="adj" fmla="val 130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4498848"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Name</a:t>
            </a:r>
            <a:endParaRPr lang="en-US" sz="1300" dirty="0"/>
          </a:p>
        </p:txBody>
      </p:sp>
      <p:sp>
        <p:nvSpPr>
          <p:cNvPr id="14" name="Text 12"/>
          <p:cNvSpPr txBox="1"/>
          <p:nvPr/>
        </p:nvSpPr>
        <p:spPr>
          <a:xfrm>
            <a:off x="4498848" y="1792224"/>
            <a:ext cx="3200400" cy="1627632"/>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250  FQDN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260  FQDN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300  Hostname Domain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310  Hostname Domain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350  Layered DNS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400  Hostname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410  Hostname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450  FQDN Name Hardware Match</a:t>
            </a:r>
            <a:endParaRPr lang="en-US" sz="950" dirty="0"/>
          </a:p>
        </p:txBody>
      </p:sp>
      <p:sp>
        <p:nvSpPr>
          <p:cNvPr id="15" name="Text 13"/>
          <p:cNvSpPr txBox="1"/>
          <p:nvPr/>
        </p:nvSpPr>
        <p:spPr>
          <a:xfrm>
            <a:off x="4498848" y="3419856"/>
            <a:ext cx="3200400" cy="1408176"/>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Eight rules, from the most precise name evidence, an exact FQDN written on the CI, down to a bare short name with only the CI class to vouch for it.</a:t>
            </a:r>
            <a:endParaRPr lang="en-US" sz="950" dirty="0"/>
          </a:p>
        </p:txBody>
      </p:sp>
      <p:sp>
        <p:nvSpPr>
          <p:cNvPr id="16" name="Shape 14"/>
          <p:cNvSpPr/>
          <p:nvPr/>
        </p:nvSpPr>
        <p:spPr>
          <a:xfrm>
            <a:off x="8174736" y="1389888"/>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8357616"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Added for the backlog</a:t>
            </a:r>
            <a:endParaRPr lang="en-US" sz="1300" dirty="0"/>
          </a:p>
        </p:txBody>
      </p:sp>
      <p:sp>
        <p:nvSpPr>
          <p:cNvPr id="18" name="Text 16"/>
          <p:cNvSpPr txBox="1"/>
          <p:nvPr/>
        </p:nvSpPr>
        <p:spPr>
          <a:xfrm>
            <a:off x="8357616" y="1792224"/>
            <a:ext cx="3200400" cy="644652"/>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420  Management Interface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430  Network Interface Name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460  Load Balancer Service Match</a:t>
            </a:r>
            <a:endParaRPr lang="en-US" sz="950" dirty="0"/>
          </a:p>
        </p:txBody>
      </p:sp>
      <p:sp>
        <p:nvSpPr>
          <p:cNvPr id="19" name="Text 17"/>
          <p:cNvSpPr txBox="1"/>
          <p:nvPr/>
        </p:nvSpPr>
        <p:spPr>
          <a:xfrm>
            <a:off x="8357616" y="2436876"/>
            <a:ext cx="3200400" cy="580644"/>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that describe a part of a device, a controller, a port or a virtual address, rather than the device itself.</a:t>
            </a:r>
            <a:endParaRPr lang="en-US" sz="950" dirty="0"/>
          </a:p>
        </p:txBody>
      </p:sp>
      <p:sp>
        <p:nvSpPr>
          <p:cNvPr id="20" name="Shape 18"/>
          <p:cNvSpPr/>
          <p:nvPr/>
        </p:nvSpPr>
        <p:spPr>
          <a:xfrm>
            <a:off x="8174736" y="3200400"/>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Text 19"/>
          <p:cNvSpPr txBox="1"/>
          <p:nvPr/>
        </p:nvSpPr>
        <p:spPr>
          <a:xfrm>
            <a:off x="8357616" y="3310128"/>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Address</a:t>
            </a:r>
            <a:endParaRPr lang="en-US" sz="1300" dirty="0"/>
          </a:p>
        </p:txBody>
      </p:sp>
      <p:sp>
        <p:nvSpPr>
          <p:cNvPr id="22" name="Text 20"/>
          <p:cNvSpPr txBox="1"/>
          <p:nvPr/>
        </p:nvSpPr>
        <p:spPr>
          <a:xfrm>
            <a:off x="8357616" y="3602736"/>
            <a:ext cx="3200400" cy="841248"/>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700  IP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705  IP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730  IP Adapter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740  IP Layered Match</a:t>
            </a:r>
            <a:endParaRPr lang="en-US" sz="950" dirty="0"/>
          </a:p>
        </p:txBody>
      </p:sp>
      <p:sp>
        <p:nvSpPr>
          <p:cNvPr id="23" name="Text 21"/>
          <p:cNvSpPr txBox="1"/>
          <p:nvPr/>
        </p:nvSpPr>
        <p:spPr>
          <a:xfrm>
            <a:off x="8357616" y="4443984"/>
            <a:ext cx="320040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Last, and hedged with class and balancer checks, because addresses move between machines.</a:t>
            </a:r>
            <a:endParaRPr lang="en-US" sz="950" dirty="0"/>
          </a:p>
        </p:txBody>
      </p:sp>
      <p:sp>
        <p:nvSpPr>
          <p:cNvPr id="24" name="Shape 22"/>
          <p:cNvSpPr/>
          <p:nvPr/>
        </p:nvSpPr>
        <p:spPr>
          <a:xfrm>
            <a:off x="457200" y="5047488"/>
            <a:ext cx="11274552" cy="1060704"/>
          </a:xfrm>
          <a:prstGeom prst="roundRect">
            <a:avLst>
              <a:gd name="adj" fmla="val 431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5" name="Text 23"/>
          <p:cNvSpPr txBox="1"/>
          <p:nvPr/>
        </p:nvSpPr>
        <p:spPr>
          <a:xfrm>
            <a:off x="731520" y="5157216"/>
            <a:ext cx="36576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Last in the chain</a:t>
            </a:r>
            <a:endParaRPr lang="en-US" sz="1300" dirty="0"/>
          </a:p>
        </p:txBody>
      </p:sp>
      <p:sp>
        <p:nvSpPr>
          <p:cNvPr id="26" name="Text 24"/>
          <p:cNvSpPr txBox="1"/>
          <p:nvPr/>
        </p:nvSpPr>
        <p:spPr>
          <a:xfrm>
            <a:off x="731520" y="5431536"/>
            <a:ext cx="10698480" cy="566928"/>
          </a:xfrm>
          <a:prstGeom prst="rect">
            <a:avLst/>
          </a:prstGeom>
          <a:noFill/>
          <a:ln/>
        </p:spPr>
        <p:txBody>
          <a:bodyPr wrap="square" lIns="0" tIns="0" rIns="0" bIns="0" rtlCol="0" anchor="t"/>
          <a:lstStyle/>
          <a:p>
            <a:pPr indent="0" marL="0">
              <a:buNone/>
            </a:pPr>
            <a:r>
              <a:rPr lang="en-US" sz="1000" b="1" dirty="0">
                <a:solidFill>
                  <a:srgbClr val="24272A"/>
                </a:solidFill>
                <a:latin typeface="Courier New" pitchFamily="34" charset="0"/>
                <a:ea typeface="Courier New" pitchFamily="34" charset="-122"/>
                <a:cs typeface="Courier New" pitchFamily="34" charset="-120"/>
              </a:rPr>
              <a:t>850  FQDN Name Broad Match</a:t>
            </a:r>
            <a:pPr indent="0" marL="0">
              <a:buNone/>
            </a:pPr>
            <a:r>
              <a:rPr lang="en-US" sz="1050" dirty="0">
                <a:solidFill>
                  <a:srgbClr val="6B7177"/>
                </a:solidFill>
                <a:latin typeface="Arial" pitchFamily="34" charset="0"/>
                <a:ea typeface="Arial" pitchFamily="34" charset="-122"/>
                <a:cs typeface="Arial" pitchFamily="34" charset="-120"/>
              </a:rPr>
              <a:t>   the only rule allowed outside the hardware tree, which is why it runs after everything else. Then the out-of-box Qualys rules: 860 Host ID, 880 Cloud Resource Id, 900 FQDN, 920 NetBIOS, 940 DNS, and the two IP rules that ship inactive. A host the custom chain declines still gets every platform rule; nothing shipped by ServiceNow is replaced, disabled or reordered.</a:t>
            </a:r>
            <a:endParaRPr lang="en-US" sz="1000" dirty="0"/>
          </a:p>
        </p:txBody>
      </p:sp>
      <p:sp>
        <p:nvSpPr>
          <p:cNvPr id="27" name="Text 25"/>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Orders are spaced so a future rule can be inserted between two existing ones without renumbering the chain.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Five principles</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The same five decisions run through all nineteen rules. Once they are clear, every rule page reads quickly.</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Exactly one candidate, or decline</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class must agree with the scan</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Placeholders are never a match</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IP breaks a name tie</a:t>
            </a:r>
            <a:endParaRPr lang="en-US" sz="1150" dirty="0"/>
          </a:p>
        </p:txBody>
      </p:sp>
      <p:sp>
        <p:nvSpPr>
          <p:cNvPr id="14" name="Shape 12"/>
          <p:cNvSpPr/>
          <p:nvPr/>
        </p:nvSpPr>
        <p:spPr>
          <a:xfrm>
            <a:off x="8275320" y="4032504"/>
            <a:ext cx="146304" cy="146304"/>
          </a:xfrm>
          <a:prstGeom prst="roundRect">
            <a:avLst>
              <a:gd name="adj" fmla="val 31250"/>
            </a:avLst>
          </a:prstGeom>
          <a:solidFill>
            <a:srgbClr val="E31837"/>
          </a:solidFill>
          <a:ln w="12700">
            <a:solidFill>
              <a:srgbClr val="333333"/>
            </a:solidFill>
            <a:prstDash val="solid"/>
          </a:ln>
        </p:spPr>
      </p:sp>
      <p:sp>
        <p:nvSpPr>
          <p:cNvPr id="15" name="Text 13"/>
          <p:cNvSpPr txBox="1"/>
          <p:nvPr/>
        </p:nvSpPr>
        <p:spPr>
          <a:xfrm>
            <a:off x="8577072" y="3950208"/>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A balancer is never the host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One: exactly one candidate, or decline</a:t>
            </a:r>
            <a:endParaRPr lang="en-US" sz="3000" dirty="0"/>
          </a:p>
        </p:txBody>
      </p:sp>
      <p:sp>
        <p:nvSpPr>
          <p:cNvPr id="4" name="Shape 2"/>
          <p:cNvSpPr/>
          <p:nvPr/>
        </p:nvSpPr>
        <p:spPr>
          <a:xfrm>
            <a:off x="457200" y="1389888"/>
            <a:ext cx="5532120" cy="2121408"/>
          </a:xfrm>
          <a:prstGeom prst="roundRect">
            <a:avLst>
              <a:gd name="adj" fmla="val 215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17904"/>
            <a:ext cx="5029200" cy="274320"/>
          </a:xfrm>
          <a:prstGeom prst="rect">
            <a:avLst/>
          </a:prstGeom>
          <a:noFill/>
          <a:ln/>
        </p:spPr>
        <p:txBody>
          <a:bodyPr wrap="square" lIns="0" tIns="0" rIns="0" bIns="0" rtlCol="0" anchor="ctr"/>
          <a:lstStyle/>
          <a:p>
            <a:pPr indent="0" marL="0">
              <a:buNone/>
            </a:pPr>
            <a:r>
              <a:rPr lang="en-US" sz="1400" b="1" dirty="0">
                <a:solidFill>
                  <a:srgbClr val="6B7177"/>
                </a:solidFill>
                <a:latin typeface="Arial" pitchFamily="34" charset="0"/>
                <a:ea typeface="Arial" pitchFamily="34" charset="-122"/>
                <a:cs typeface="Arial" pitchFamily="34" charset="-120"/>
              </a:rPr>
              <a:t>Before: a capped result set</a:t>
            </a:r>
            <a:endParaRPr lang="en-US" sz="1400" dirty="0"/>
          </a:p>
        </p:txBody>
      </p:sp>
      <p:sp>
        <p:nvSpPr>
          <p:cNvPr id="6" name="Shape 4"/>
          <p:cNvSpPr/>
          <p:nvPr/>
        </p:nvSpPr>
        <p:spPr>
          <a:xfrm>
            <a:off x="685800" y="1847088"/>
            <a:ext cx="5074920" cy="676656"/>
          </a:xfrm>
          <a:prstGeom prst="roundRect">
            <a:avLst>
              <a:gd name="adj" fmla="val 5405"/>
            </a:avLst>
          </a:prstGeom>
          <a:solidFill>
            <a:srgbClr val="1E2124"/>
          </a:solidFill>
          <a:ln w="12700">
            <a:solidFill>
              <a:srgbClr val="1E2124"/>
            </a:solidFill>
            <a:prstDash val="solid"/>
          </a:ln>
        </p:spPr>
      </p:sp>
      <p:sp>
        <p:nvSpPr>
          <p:cNvPr id="7" name="Text 5"/>
          <p:cNvSpPr txBox="1"/>
          <p:nvPr/>
        </p:nvSpPr>
        <p:spPr>
          <a:xfrm>
            <a:off x="795528" y="1920240"/>
            <a:ext cx="4855464" cy="530352"/>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gr.addQuery('name', host);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gr.setLimit(2);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ask the database for two</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gr.query();</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(gr.getRowCount() == 1) { ... }</a:t>
            </a:r>
            <a:endParaRPr lang="en-US" sz="900" dirty="0"/>
          </a:p>
        </p:txBody>
      </p:sp>
      <p:sp>
        <p:nvSpPr>
          <p:cNvPr id="8" name="Text 6"/>
          <p:cNvSpPr txBox="1"/>
          <p:nvPr/>
        </p:nvSpPr>
        <p:spPr>
          <a:xfrm>
            <a:off x="685800" y="2633472"/>
            <a:ext cx="5074920" cy="786384"/>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setLimit caps what comes back, so "one row" means one row inside the cap. It reads like a uniqueness test and is not one: a name shared by five CIs looks exactly like a name shared by two.</a:t>
            </a:r>
            <a:endParaRPr lang="en-US" sz="1100" dirty="0"/>
          </a:p>
        </p:txBody>
      </p:sp>
      <p:sp>
        <p:nvSpPr>
          <p:cNvPr id="9" name="Shape 7"/>
          <p:cNvSpPr/>
          <p:nvPr/>
        </p:nvSpPr>
        <p:spPr>
          <a:xfrm>
            <a:off x="6199632" y="1389888"/>
            <a:ext cx="5532120" cy="2121408"/>
          </a:xfrm>
          <a:prstGeom prst="roundRect">
            <a:avLst>
              <a:gd name="adj" fmla="val 215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Text 8"/>
          <p:cNvSpPr txBox="1"/>
          <p:nvPr/>
        </p:nvSpPr>
        <p:spPr>
          <a:xfrm>
            <a:off x="6428232" y="1517904"/>
            <a:ext cx="5029200" cy="274320"/>
          </a:xfrm>
          <a:prstGeom prst="rect">
            <a:avLst/>
          </a:prstGeom>
          <a:noFill/>
          <a:ln/>
        </p:spPr>
        <p:txBody>
          <a:bodyPr wrap="square" lIns="0" tIns="0" rIns="0" bIns="0" rtlCol="0" anchor="ctr"/>
          <a:lstStyle/>
          <a:p>
            <a:pPr indent="0" marL="0">
              <a:buNone/>
            </a:pPr>
            <a:r>
              <a:rPr lang="en-US" sz="1400" b="1" dirty="0">
                <a:solidFill>
                  <a:srgbClr val="E31837"/>
                </a:solidFill>
                <a:latin typeface="Arial" pitchFamily="34" charset="0"/>
                <a:ea typeface="Arial" pitchFamily="34" charset="-122"/>
                <a:cs typeface="Arial" pitchFamily="34" charset="-120"/>
              </a:rPr>
              <a:t>Now: first row, then look for a second</a:t>
            </a:r>
            <a:endParaRPr lang="en-US" sz="1400" dirty="0"/>
          </a:p>
        </p:txBody>
      </p:sp>
      <p:sp>
        <p:nvSpPr>
          <p:cNvPr id="11" name="Shape 9"/>
          <p:cNvSpPr/>
          <p:nvPr/>
        </p:nvSpPr>
        <p:spPr>
          <a:xfrm>
            <a:off x="6428232" y="1847088"/>
            <a:ext cx="5074920" cy="896112"/>
          </a:xfrm>
          <a:prstGeom prst="roundRect">
            <a:avLst>
              <a:gd name="adj" fmla="val 4082"/>
            </a:avLst>
          </a:prstGeom>
          <a:solidFill>
            <a:srgbClr val="1E2124"/>
          </a:solidFill>
          <a:ln w="12700">
            <a:solidFill>
              <a:srgbClr val="1E2124"/>
            </a:solidFill>
            <a:prstDash val="solid"/>
          </a:ln>
        </p:spPr>
      </p:sp>
      <p:sp>
        <p:nvSpPr>
          <p:cNvPr id="12" name="Text 10"/>
          <p:cNvSpPr txBox="1"/>
          <p:nvPr/>
        </p:nvSpPr>
        <p:spPr>
          <a:xfrm>
            <a:off x="6537960" y="1920240"/>
            <a:ext cx="4855464" cy="749808"/>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gr.addQuery('name', host);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gr.query();</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(!gr.next())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match = gr.getUniqueValue();</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 second CI exists</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return match;</a:t>
            </a:r>
            <a:endParaRPr lang="en-US" sz="900" dirty="0"/>
          </a:p>
        </p:txBody>
      </p:sp>
      <p:sp>
        <p:nvSpPr>
          <p:cNvPr id="13" name="Text 11"/>
          <p:cNvSpPr txBox="1"/>
          <p:nvPr/>
        </p:nvSpPr>
        <p:spPr>
          <a:xfrm>
            <a:off x="6428232" y="2852928"/>
            <a:ext cx="5074920" cy="56692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hasNext() asks the whole result set, so two CIs anywhere in the CMDB carrying that value end the rule. The uniqueness test now means what it says.</a:t>
            </a:r>
            <a:endParaRPr lang="en-US" sz="1100" dirty="0"/>
          </a:p>
        </p:txBody>
      </p:sp>
      <p:sp>
        <p:nvSpPr>
          <p:cNvPr id="14" name="Shape 12"/>
          <p:cNvSpPr/>
          <p:nvPr/>
        </p:nvSpPr>
        <p:spPr>
          <a:xfrm>
            <a:off x="45720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Text 13"/>
          <p:cNvSpPr txBox="1"/>
          <p:nvPr/>
        </p:nvSpPr>
        <p:spPr>
          <a:xfrm>
            <a:off x="68580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Where a tie can still be broken</a:t>
            </a:r>
            <a:endParaRPr lang="en-US" sz="1300" dirty="0"/>
          </a:p>
        </p:txBody>
      </p:sp>
      <p:sp>
        <p:nvSpPr>
          <p:cNvPr id="16" name="Text 14"/>
          <p:cNvSpPr txBox="1"/>
          <p:nvPr/>
        </p:nvSpPr>
        <p:spPr>
          <a:xfrm>
            <a:off x="68580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FQDN and hostname rules collect every candidate and take one when the scanned IP confirms exactly one of them. That is a second, independent piece of evidence, not a cap on the result.</a:t>
            </a:r>
            <a:endParaRPr lang="en-US" sz="1100" dirty="0"/>
          </a:p>
        </p:txBody>
      </p:sp>
      <p:sp>
        <p:nvSpPr>
          <p:cNvPr id="17" name="Shape 15"/>
          <p:cNvSpPr/>
          <p:nvPr/>
        </p:nvSpPr>
        <p:spPr>
          <a:xfrm>
            <a:off x="425196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Text 16"/>
          <p:cNvSpPr txBox="1"/>
          <p:nvPr/>
        </p:nvSpPr>
        <p:spPr>
          <a:xfrm>
            <a:off x="448056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Where it cannot</a:t>
            </a:r>
            <a:endParaRPr lang="en-US" sz="1300" dirty="0"/>
          </a:p>
        </p:txBody>
      </p:sp>
      <p:sp>
        <p:nvSpPr>
          <p:cNvPr id="19" name="Text 17"/>
          <p:cNvSpPr txBox="1"/>
          <p:nvPr/>
        </p:nvSpPr>
        <p:spPr>
          <a:xfrm>
            <a:off x="448056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Serial, address and the three new rules have nothing further to weigh. Two candidates always end the rule, and the host moves to whichever rule can read different evidence.</a:t>
            </a:r>
            <a:endParaRPr lang="en-US" sz="1100" dirty="0"/>
          </a:p>
        </p:txBody>
      </p:sp>
      <p:sp>
        <p:nvSpPr>
          <p:cNvPr id="20" name="Shape 18"/>
          <p:cNvSpPr/>
          <p:nvPr/>
        </p:nvSpPr>
        <p:spPr>
          <a:xfrm>
            <a:off x="804672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Text 19"/>
          <p:cNvSpPr txBox="1"/>
          <p:nvPr/>
        </p:nvSpPr>
        <p:spPr>
          <a:xfrm>
            <a:off x="827532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What it costs</a:t>
            </a:r>
            <a:endParaRPr lang="en-US" sz="1300" dirty="0"/>
          </a:p>
        </p:txBody>
      </p:sp>
      <p:sp>
        <p:nvSpPr>
          <p:cNvPr id="22" name="Text 20"/>
          <p:cNvSpPr txBox="1"/>
          <p:nvPr/>
        </p:nvSpPr>
        <p:spPr>
          <a:xfrm>
            <a:off x="827532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rule that used to answer on a shared value now declines, so a few hosts fall further down the chain. That is the intended trade: a later, weaker match, or an honest unmatched, instead of a confident wrong one.</a:t>
            </a:r>
            <a:endParaRPr lang="en-US" sz="1100" dirty="0"/>
          </a:p>
        </p:txBody>
      </p:sp>
      <p:sp>
        <p:nvSpPr>
          <p:cNvPr id="23" name="Text 2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No rule in the chain calls setLimit; every one of them ends on next() followed by hasNext(), or on a counted set of owners.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Two: the CI class must agree with the scan</a:t>
            </a:r>
            <a:endParaRPr lang="en-US" sz="3000" dirty="0"/>
          </a:p>
        </p:txBody>
      </p:sp>
      <p:sp>
        <p:nvSpPr>
          <p:cNvPr id="4" name="Text 2"/>
          <p:cNvSpPr txBox="1"/>
          <p:nvPr/>
        </p:nvSpPr>
        <p:spPr>
          <a:xfrm>
            <a:off x="457200" y="1298448"/>
            <a:ext cx="11247120" cy="310896"/>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Qualys reports an operating system as free text. classFor() turns that text into the CMDB class the CI should be in, and the chain uses the answer in two different ways.</a:t>
            </a:r>
            <a:endParaRPr lang="en-US" sz="1200" dirty="0"/>
          </a:p>
        </p:txBody>
      </p:sp>
      <p:sp>
        <p:nvSpPr>
          <p:cNvPr id="5" name="Shape 3"/>
          <p:cNvSpPr/>
          <p:nvPr/>
        </p:nvSpPr>
        <p:spPr>
          <a:xfrm>
            <a:off x="457200" y="1737360"/>
            <a:ext cx="5532120" cy="2286000"/>
          </a:xfrm>
          <a:prstGeom prst="roundRect">
            <a:avLst>
              <a:gd name="adj" fmla="val 2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Text 4"/>
          <p:cNvSpPr txBox="1"/>
          <p:nvPr/>
        </p:nvSpPr>
        <p:spPr>
          <a:xfrm>
            <a:off x="685800" y="1865376"/>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As a filter, in the class rules</a:t>
            </a:r>
            <a:endParaRPr lang="en-US" sz="1400" dirty="0"/>
          </a:p>
        </p:txBody>
      </p:sp>
      <p:sp>
        <p:nvSpPr>
          <p:cNvPr id="7" name="Shape 5"/>
          <p:cNvSpPr/>
          <p:nvPr/>
        </p:nvSpPr>
        <p:spPr>
          <a:xfrm>
            <a:off x="685800" y="2212848"/>
            <a:ext cx="5074920" cy="786384"/>
          </a:xfrm>
          <a:prstGeom prst="roundRect">
            <a:avLst>
              <a:gd name="adj" fmla="val 4651"/>
            </a:avLst>
          </a:prstGeom>
          <a:solidFill>
            <a:srgbClr val="1E2124"/>
          </a:solidFill>
          <a:ln w="12700">
            <a:solidFill>
              <a:srgbClr val="1E2124"/>
            </a:solidFill>
            <a:prstDash val="solid"/>
          </a:ln>
        </p:spPr>
      </p:sp>
      <p:sp>
        <p:nvSpPr>
          <p:cNvPr id="8" name="Text 6"/>
          <p:cNvSpPr txBox="1"/>
          <p:nvPr/>
        </p:nvSpPr>
        <p:spPr>
          <a:xfrm>
            <a:off x="795528" y="2286000"/>
            <a:ext cx="4855464" cy="640080"/>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pref = classFor(sourcePayload.OS);</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(!pref)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and its sub-classes</a:t>
            </a:r>
            <a:endParaRPr lang="en-US" sz="900" dirty="0"/>
          </a:p>
        </p:txBody>
      </p:sp>
      <p:sp>
        <p:nvSpPr>
          <p:cNvPr id="9" name="Text 7"/>
          <p:cNvSpPr txBox="1"/>
          <p:nvPr/>
        </p:nvSpPr>
        <p:spPr>
          <a:xfrm>
            <a:off x="685800" y="3072384"/>
            <a:ext cx="5074920" cy="82296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search never leaves the class, so a Red Hat host cannot be matched to a Windows Server that happens to carry the same name. No class means the rule declines and its hardware-wide twin takes over.</a:t>
            </a:r>
            <a:endParaRPr lang="en-US" sz="1100" dirty="0"/>
          </a:p>
        </p:txBody>
      </p:sp>
      <p:sp>
        <p:nvSpPr>
          <p:cNvPr id="10" name="Shape 8"/>
          <p:cNvSpPr/>
          <p:nvPr/>
        </p:nvSpPr>
        <p:spPr>
          <a:xfrm>
            <a:off x="6199632" y="1737360"/>
            <a:ext cx="5532120" cy="2286000"/>
          </a:xfrm>
          <a:prstGeom prst="roundRect">
            <a:avLst>
              <a:gd name="adj" fmla="val 2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428232" y="1865376"/>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As a veto, in the hardware rules</a:t>
            </a:r>
            <a:endParaRPr lang="en-US" sz="1400" dirty="0"/>
          </a:p>
        </p:txBody>
      </p:sp>
      <p:sp>
        <p:nvSpPr>
          <p:cNvPr id="12" name="Shape 10"/>
          <p:cNvSpPr/>
          <p:nvPr/>
        </p:nvSpPr>
        <p:spPr>
          <a:xfrm>
            <a:off x="6428232" y="2212848"/>
            <a:ext cx="5074920" cy="786384"/>
          </a:xfrm>
          <a:prstGeom prst="roundRect">
            <a:avLst>
              <a:gd name="adj" fmla="val 4651"/>
            </a:avLst>
          </a:prstGeom>
          <a:solidFill>
            <a:srgbClr val="1E2124"/>
          </a:solidFill>
          <a:ln w="12700">
            <a:solidFill>
              <a:srgbClr val="1E2124"/>
            </a:solidFill>
            <a:prstDash val="solid"/>
          </a:ln>
        </p:spPr>
      </p:sp>
      <p:sp>
        <p:nvSpPr>
          <p:cNvPr id="13" name="Text 11"/>
          <p:cNvSpPr txBox="1"/>
          <p:nvPr/>
        </p:nvSpPr>
        <p:spPr>
          <a:xfrm>
            <a:off x="6537960" y="2286000"/>
            <a:ext cx="4855464" cy="640080"/>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(pref)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var chk = new GlideRecord(pref);</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if (!chk.get(id) &amp;&amp; !generic[cls])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a:t>
            </a:r>
            <a:endParaRPr lang="en-US" sz="900" dirty="0"/>
          </a:p>
        </p:txBody>
      </p:sp>
      <p:sp>
        <p:nvSpPr>
          <p:cNvPr id="14" name="Text 12"/>
          <p:cNvSpPr txBox="1"/>
          <p:nvPr/>
        </p:nvSpPr>
        <p:spPr>
          <a:xfrm>
            <a:off x="6428232" y="3072384"/>
            <a:ext cx="5074920" cy="82296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search covers the whole hardware tree, and the class is checked afterwards. Generic classes, Hardware, Computer, Server and UNIX Server, say nothing about the OS and never veto.</a:t>
            </a:r>
            <a:endParaRPr lang="en-US" sz="1100" dirty="0"/>
          </a:p>
        </p:txBody>
      </p:sp>
      <p:sp>
        <p:nvSpPr>
          <p:cNvPr id="15" name="Shape 13"/>
          <p:cNvSpPr/>
          <p:nvPr/>
        </p:nvSpPr>
        <p:spPr>
          <a:xfrm>
            <a:off x="457200" y="4224528"/>
            <a:ext cx="11274552" cy="1737360"/>
          </a:xfrm>
          <a:prstGeom prst="roundRect">
            <a:avLst>
              <a:gd name="adj" fmla="val 26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6" name="Text 14"/>
          <p:cNvSpPr txBox="1"/>
          <p:nvPr/>
        </p:nvSpPr>
        <p:spPr>
          <a:xfrm>
            <a:off x="685800" y="4352544"/>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OS text maps to</a:t>
            </a:r>
            <a:endParaRPr lang="en-US" sz="1400" dirty="0"/>
          </a:p>
        </p:txBody>
      </p:sp>
      <p:sp>
        <p:nvSpPr>
          <p:cNvPr id="17" name="Text 15"/>
          <p:cNvSpPr txBox="1"/>
          <p:nvPr/>
        </p:nvSpPr>
        <p:spPr>
          <a:xfrm>
            <a:off x="685800" y="4718304"/>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Red Hat, Ubuntu, SUSE, CentOS, EulerOS, Amazon</a:t>
            </a:r>
            <a:endParaRPr lang="en-US" sz="1000" dirty="0"/>
          </a:p>
        </p:txBody>
      </p:sp>
      <p:sp>
        <p:nvSpPr>
          <p:cNvPr id="18" name="Text 16"/>
          <p:cNvSpPr txBox="1"/>
          <p:nvPr/>
        </p:nvSpPr>
        <p:spPr>
          <a:xfrm>
            <a:off x="3822192" y="4718304"/>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19" name="Text 17"/>
          <p:cNvSpPr txBox="1"/>
          <p:nvPr/>
        </p:nvSpPr>
        <p:spPr>
          <a:xfrm>
            <a:off x="4041648" y="4718304"/>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Linux Server</a:t>
            </a:r>
            <a:endParaRPr lang="en-US" sz="1000" dirty="0"/>
          </a:p>
        </p:txBody>
      </p:sp>
      <p:sp>
        <p:nvSpPr>
          <p:cNvPr id="20" name="Text 18"/>
          <p:cNvSpPr txBox="1"/>
          <p:nvPr/>
        </p:nvSpPr>
        <p:spPr>
          <a:xfrm>
            <a:off x="6309360" y="4718304"/>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Windows Server 2016 Standard</a:t>
            </a:r>
            <a:endParaRPr lang="en-US" sz="1000" dirty="0"/>
          </a:p>
        </p:txBody>
      </p:sp>
      <p:sp>
        <p:nvSpPr>
          <p:cNvPr id="21" name="Text 19"/>
          <p:cNvSpPr txBox="1"/>
          <p:nvPr/>
        </p:nvSpPr>
        <p:spPr>
          <a:xfrm>
            <a:off x="9445752" y="4718304"/>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2" name="Text 20"/>
          <p:cNvSpPr txBox="1"/>
          <p:nvPr/>
        </p:nvSpPr>
        <p:spPr>
          <a:xfrm>
            <a:off x="9665208" y="4718304"/>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Windows Server</a:t>
            </a:r>
            <a:endParaRPr lang="en-US" sz="1000" dirty="0"/>
          </a:p>
        </p:txBody>
      </p:sp>
      <p:sp>
        <p:nvSpPr>
          <p:cNvPr id="23" name="Text 21"/>
          <p:cNvSpPr txBox="1"/>
          <p:nvPr/>
        </p:nvSpPr>
        <p:spPr>
          <a:xfrm>
            <a:off x="685800" y="5020056"/>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Windows 10 Enterprise</a:t>
            </a:r>
            <a:endParaRPr lang="en-US" sz="1000" dirty="0"/>
          </a:p>
        </p:txBody>
      </p:sp>
      <p:sp>
        <p:nvSpPr>
          <p:cNvPr id="24" name="Text 22"/>
          <p:cNvSpPr txBox="1"/>
          <p:nvPr/>
        </p:nvSpPr>
        <p:spPr>
          <a:xfrm>
            <a:off x="3822192" y="5020056"/>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5" name="Text 23"/>
          <p:cNvSpPr txBox="1"/>
          <p:nvPr/>
        </p:nvSpPr>
        <p:spPr>
          <a:xfrm>
            <a:off x="4041648" y="5020056"/>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Computer, a workstation</a:t>
            </a:r>
            <a:endParaRPr lang="en-US" sz="1000" dirty="0"/>
          </a:p>
        </p:txBody>
      </p:sp>
      <p:sp>
        <p:nvSpPr>
          <p:cNvPr id="26" name="Text 24"/>
          <p:cNvSpPr txBox="1"/>
          <p:nvPr/>
        </p:nvSpPr>
        <p:spPr>
          <a:xfrm>
            <a:off x="6309360" y="5020056"/>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VMware ESXi 7.0.3</a:t>
            </a:r>
            <a:endParaRPr lang="en-US" sz="1000" dirty="0"/>
          </a:p>
        </p:txBody>
      </p:sp>
      <p:sp>
        <p:nvSpPr>
          <p:cNvPr id="27" name="Text 25"/>
          <p:cNvSpPr txBox="1"/>
          <p:nvPr/>
        </p:nvSpPr>
        <p:spPr>
          <a:xfrm>
            <a:off x="9445752" y="5020056"/>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8" name="Text 26"/>
          <p:cNvSpPr txBox="1"/>
          <p:nvPr/>
        </p:nvSpPr>
        <p:spPr>
          <a:xfrm>
            <a:off x="9665208" y="5020056"/>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ESX Server</a:t>
            </a:r>
            <a:endParaRPr lang="en-US" sz="1000" dirty="0"/>
          </a:p>
        </p:txBody>
      </p:sp>
      <p:sp>
        <p:nvSpPr>
          <p:cNvPr id="29" name="Text 27"/>
          <p:cNvSpPr txBox="1"/>
          <p:nvPr/>
        </p:nvSpPr>
        <p:spPr>
          <a:xfrm>
            <a:off x="685800" y="5321808"/>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AIX, Solaris, SunOS, HP-UX</a:t>
            </a:r>
            <a:endParaRPr lang="en-US" sz="1000" dirty="0"/>
          </a:p>
        </p:txBody>
      </p:sp>
      <p:sp>
        <p:nvSpPr>
          <p:cNvPr id="30" name="Text 28"/>
          <p:cNvSpPr txBox="1"/>
          <p:nvPr/>
        </p:nvSpPr>
        <p:spPr>
          <a:xfrm>
            <a:off x="3822192" y="5321808"/>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1" name="Text 29"/>
          <p:cNvSpPr txBox="1"/>
          <p:nvPr/>
        </p:nvSpPr>
        <p:spPr>
          <a:xfrm>
            <a:off x="4041648" y="5321808"/>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the matching UNIX class</a:t>
            </a:r>
            <a:endParaRPr lang="en-US" sz="1000" dirty="0"/>
          </a:p>
        </p:txBody>
      </p:sp>
      <p:sp>
        <p:nvSpPr>
          <p:cNvPr id="32" name="Text 30"/>
          <p:cNvSpPr txBox="1"/>
          <p:nvPr/>
        </p:nvSpPr>
        <p:spPr>
          <a:xfrm>
            <a:off x="6309360" y="5321808"/>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Cisco NX-OS, CatOS, Cisco</a:t>
            </a:r>
            <a:endParaRPr lang="en-US" sz="1000" dirty="0"/>
          </a:p>
        </p:txBody>
      </p:sp>
      <p:sp>
        <p:nvSpPr>
          <p:cNvPr id="33" name="Text 31"/>
          <p:cNvSpPr txBox="1"/>
          <p:nvPr/>
        </p:nvSpPr>
        <p:spPr>
          <a:xfrm>
            <a:off x="9445752" y="5321808"/>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4" name="Text 32"/>
          <p:cNvSpPr txBox="1"/>
          <p:nvPr/>
        </p:nvSpPr>
        <p:spPr>
          <a:xfrm>
            <a:off x="9665208" y="5321808"/>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Network Gear</a:t>
            </a:r>
            <a:endParaRPr lang="en-US" sz="1000" dirty="0"/>
          </a:p>
        </p:txBody>
      </p:sp>
      <p:sp>
        <p:nvSpPr>
          <p:cNvPr id="35" name="Text 33"/>
          <p:cNvSpPr txBox="1"/>
          <p:nvPr/>
        </p:nvSpPr>
        <p:spPr>
          <a:xfrm>
            <a:off x="685800" y="5623560"/>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NetApp, ONTAP</a:t>
            </a:r>
            <a:endParaRPr lang="en-US" sz="1000" dirty="0"/>
          </a:p>
        </p:txBody>
      </p:sp>
      <p:sp>
        <p:nvSpPr>
          <p:cNvPr id="36" name="Text 34"/>
          <p:cNvSpPr txBox="1"/>
          <p:nvPr/>
        </p:nvSpPr>
        <p:spPr>
          <a:xfrm>
            <a:off x="3822192" y="5623560"/>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7" name="Text 35"/>
          <p:cNvSpPr txBox="1"/>
          <p:nvPr/>
        </p:nvSpPr>
        <p:spPr>
          <a:xfrm>
            <a:off x="4041648" y="5623560"/>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Storage Server</a:t>
            </a:r>
            <a:endParaRPr lang="en-US" sz="1000" dirty="0"/>
          </a:p>
        </p:txBody>
      </p:sp>
      <p:sp>
        <p:nvSpPr>
          <p:cNvPr id="38" name="Text 36"/>
          <p:cNvSpPr txBox="1"/>
          <p:nvPr/>
        </p:nvSpPr>
        <p:spPr>
          <a:xfrm>
            <a:off x="6309360" y="5623560"/>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Seven products separated by slashes</a:t>
            </a:r>
            <a:endParaRPr lang="en-US" sz="1000" dirty="0"/>
          </a:p>
        </p:txBody>
      </p:sp>
      <p:sp>
        <p:nvSpPr>
          <p:cNvPr id="39" name="Text 37"/>
          <p:cNvSpPr txBox="1"/>
          <p:nvPr/>
        </p:nvSpPr>
        <p:spPr>
          <a:xfrm>
            <a:off x="9445752" y="5623560"/>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40" name="Text 38"/>
          <p:cNvSpPr txBox="1"/>
          <p:nvPr/>
        </p:nvSpPr>
        <p:spPr>
          <a:xfrm>
            <a:off x="9665208" y="5623560"/>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no class: the scan could not identify it</a:t>
            </a:r>
            <a:endParaRPr lang="en-US" sz="1000" dirty="0"/>
          </a:p>
        </p:txBody>
      </p:sp>
      <p:sp>
        <p:nvSpPr>
          <p:cNvPr id="41" name="Text 39"/>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A third or more of the backlog carries no OS text at all, which is why every class rule has a hardware-wide twin behind it.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Three: placeholder classes are never a match</a:t>
            </a:r>
            <a:endParaRPr lang="en-US" sz="3000" dirty="0"/>
          </a:p>
        </p:txBody>
      </p:sp>
      <p:sp>
        <p:nvSpPr>
          <p:cNvPr id="4" name="Shape 2"/>
          <p:cNvSpPr/>
          <p:nvPr/>
        </p:nvSpPr>
        <p:spPr>
          <a:xfrm>
            <a:off x="457200" y="1444752"/>
            <a:ext cx="5532120" cy="2103120"/>
          </a:xfrm>
          <a:prstGeom prst="roundRect">
            <a:avLst>
              <a:gd name="adj" fmla="val 217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Read once, applied in every search</a:t>
            </a:r>
            <a:endParaRPr lang="en-US" sz="1400" dirty="0"/>
          </a:p>
        </p:txBody>
      </p:sp>
      <p:sp>
        <p:nvSpPr>
          <p:cNvPr id="6" name="Shape 4"/>
          <p:cNvSpPr/>
          <p:nvPr/>
        </p:nvSpPr>
        <p:spPr>
          <a:xfrm>
            <a:off x="685800" y="1920240"/>
            <a:ext cx="5074920" cy="1005840"/>
          </a:xfrm>
          <a:prstGeom prst="roundRect">
            <a:avLst>
              <a:gd name="adj" fmla="val 3636"/>
            </a:avLst>
          </a:prstGeom>
          <a:solidFill>
            <a:srgbClr val="1E2124"/>
          </a:solidFill>
          <a:ln w="12700">
            <a:solidFill>
              <a:srgbClr val="1E2124"/>
            </a:solidFill>
            <a:prstDash val="solid"/>
          </a:ln>
        </p:spPr>
      </p:sp>
      <p:sp>
        <p:nvSpPr>
          <p:cNvPr id="7" name="Text 5"/>
          <p:cNvSpPr txBox="1"/>
          <p:nvPr/>
        </p:nvSpPr>
        <p:spPr>
          <a:xfrm>
            <a:off x="795528" y="1993392"/>
            <a:ext cx="4855464" cy="859536"/>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ignore = (typeof _ignoreClass != 'undefined' &amp;&amp;</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_ignoreClass) ? ('' + _ignoreClass)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gs.getProperty('sn_sec_cmn.ignoreCIClass',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gr.addQuery('sys_class_name', 'NOT IN', ignore);</a:t>
            </a:r>
            <a:endParaRPr lang="en-US" sz="900" dirty="0"/>
          </a:p>
        </p:txBody>
      </p:sp>
      <p:sp>
        <p:nvSpPr>
          <p:cNvPr id="8" name="Text 6"/>
          <p:cNvSpPr txBox="1"/>
          <p:nvPr/>
        </p:nvSpPr>
        <p:spPr>
          <a:xfrm>
            <a:off x="685800" y="2980944"/>
            <a:ext cx="5074920" cy="4572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framework passes the list in when it has one; otherwise the rule reads the platform property itself. Either way the same exclusion is on every query.</a:t>
            </a:r>
            <a:endParaRPr lang="en-US" sz="1100" dirty="0"/>
          </a:p>
        </p:txBody>
      </p:sp>
      <p:sp>
        <p:nvSpPr>
          <p:cNvPr id="9" name="Shape 7"/>
          <p:cNvSpPr/>
          <p:nvPr/>
        </p:nvSpPr>
        <p:spPr>
          <a:xfrm>
            <a:off x="6199632" y="1444752"/>
            <a:ext cx="5532120" cy="2103120"/>
          </a:xfrm>
          <a:prstGeom prst="roundRect">
            <a:avLst>
              <a:gd name="adj" fmla="val 217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Text 8"/>
          <p:cNvSpPr txBox="1"/>
          <p:nvPr/>
        </p:nvSpPr>
        <p:spPr>
          <a:xfrm>
            <a:off x="6428232"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is on the list</a:t>
            </a:r>
            <a:endParaRPr lang="en-US" sz="1400" dirty="0"/>
          </a:p>
        </p:txBody>
      </p:sp>
      <p:sp>
        <p:nvSpPr>
          <p:cNvPr id="11" name="Text 9"/>
          <p:cNvSpPr txBox="1"/>
          <p:nvPr/>
        </p:nvSpPr>
        <p:spPr>
          <a:xfrm>
            <a:off x="6428232" y="1938528"/>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sn_sec_cmn_unmatched_ci</a:t>
            </a:r>
            <a:endParaRPr lang="en-US" sz="900" dirty="0"/>
          </a:p>
        </p:txBody>
      </p:sp>
      <p:sp>
        <p:nvSpPr>
          <p:cNvPr id="12" name="Text 10"/>
          <p:cNvSpPr txBox="1"/>
          <p:nvPr/>
        </p:nvSpPr>
        <p:spPr>
          <a:xfrm>
            <a:off x="9070848" y="1938528"/>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placeholder written when nothing matched</a:t>
            </a:r>
            <a:endParaRPr lang="en-US" sz="950" dirty="0"/>
          </a:p>
        </p:txBody>
      </p:sp>
      <p:sp>
        <p:nvSpPr>
          <p:cNvPr id="13" name="Text 11"/>
          <p:cNvSpPr txBox="1"/>
          <p:nvPr/>
        </p:nvSpPr>
        <p:spPr>
          <a:xfrm>
            <a:off x="6428232" y="2249424"/>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sn_vul_qualys_ci</a:t>
            </a:r>
            <a:endParaRPr lang="en-US" sz="900" dirty="0"/>
          </a:p>
        </p:txBody>
      </p:sp>
      <p:sp>
        <p:nvSpPr>
          <p:cNvPr id="14" name="Text 12"/>
          <p:cNvSpPr txBox="1"/>
          <p:nvPr/>
        </p:nvSpPr>
        <p:spPr>
          <a:xfrm>
            <a:off x="9070848" y="2249424"/>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scanner’s own shadow record</a:t>
            </a:r>
            <a:endParaRPr lang="en-US" sz="950" dirty="0"/>
          </a:p>
        </p:txBody>
      </p:sp>
      <p:sp>
        <p:nvSpPr>
          <p:cNvPr id="15" name="Text 13"/>
          <p:cNvSpPr txBox="1"/>
          <p:nvPr/>
        </p:nvSpPr>
        <p:spPr>
          <a:xfrm>
            <a:off x="6428232" y="2560320"/>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cmdb_ci_unclassed_hardware</a:t>
            </a:r>
            <a:endParaRPr lang="en-US" sz="900" dirty="0"/>
          </a:p>
        </p:txBody>
      </p:sp>
      <p:sp>
        <p:nvSpPr>
          <p:cNvPr id="16" name="Text 14"/>
          <p:cNvSpPr txBox="1"/>
          <p:nvPr/>
        </p:nvSpPr>
        <p:spPr>
          <a:xfrm>
            <a:off x="9070848" y="2560320"/>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 device discovery could not classify</a:t>
            </a:r>
            <a:endParaRPr lang="en-US" sz="950" dirty="0"/>
          </a:p>
        </p:txBody>
      </p:sp>
      <p:sp>
        <p:nvSpPr>
          <p:cNvPr id="17" name="Text 15"/>
          <p:cNvSpPr txBox="1"/>
          <p:nvPr/>
        </p:nvSpPr>
        <p:spPr>
          <a:xfrm>
            <a:off x="6428232" y="2871216"/>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cmdb_ci_incomplete_ip</a:t>
            </a:r>
            <a:endParaRPr lang="en-US" sz="900" dirty="0"/>
          </a:p>
        </p:txBody>
      </p:sp>
      <p:sp>
        <p:nvSpPr>
          <p:cNvPr id="18" name="Text 16"/>
          <p:cNvSpPr txBox="1"/>
          <p:nvPr/>
        </p:nvSpPr>
        <p:spPr>
          <a:xfrm>
            <a:off x="9070848" y="2871216"/>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an address with no device behind it</a:t>
            </a:r>
            <a:endParaRPr lang="en-US" sz="950" dirty="0"/>
          </a:p>
        </p:txBody>
      </p:sp>
      <p:sp>
        <p:nvSpPr>
          <p:cNvPr id="19" name="Text 17"/>
          <p:cNvSpPr txBox="1"/>
          <p:nvPr/>
        </p:nvSpPr>
        <p:spPr>
          <a:xfrm>
            <a:off x="6428232" y="3182112"/>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cmdb_ci_dns_name</a:t>
            </a:r>
            <a:endParaRPr lang="en-US" sz="900" dirty="0"/>
          </a:p>
        </p:txBody>
      </p:sp>
      <p:sp>
        <p:nvSpPr>
          <p:cNvPr id="20" name="Text 18"/>
          <p:cNvSpPr txBox="1"/>
          <p:nvPr/>
        </p:nvSpPr>
        <p:spPr>
          <a:xfrm>
            <a:off x="9070848" y="3182112"/>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 name record, not a machine</a:t>
            </a:r>
            <a:endParaRPr lang="en-US" sz="950" dirty="0"/>
          </a:p>
        </p:txBody>
      </p:sp>
      <p:sp>
        <p:nvSpPr>
          <p:cNvPr id="21" name="Shape 19"/>
          <p:cNvSpPr/>
          <p:nvPr/>
        </p:nvSpPr>
        <p:spPr>
          <a:xfrm>
            <a:off x="457200" y="3749040"/>
            <a:ext cx="11274552" cy="1481328"/>
          </a:xfrm>
          <a:prstGeom prst="roundRect">
            <a:avLst>
              <a:gd name="adj" fmla="val 308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2" name="Text 20"/>
          <p:cNvSpPr txBox="1"/>
          <p:nvPr/>
        </p:nvSpPr>
        <p:spPr>
          <a:xfrm>
            <a:off x="731520" y="3913632"/>
            <a:ext cx="548640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Why a placeholder must never win</a:t>
            </a:r>
            <a:endParaRPr lang="en-US" sz="1500" dirty="0"/>
          </a:p>
        </p:txBody>
      </p:sp>
      <p:sp>
        <p:nvSpPr>
          <p:cNvPr id="23" name="Text 21"/>
          <p:cNvSpPr txBox="1"/>
          <p:nvPr/>
        </p:nvSpPr>
        <p:spPr>
          <a:xfrm>
            <a:off x="731520" y="4261104"/>
            <a:ext cx="10698480" cy="109728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These classes exist to record that something was seen, not what it is. Matching a host to one of them would turn an honest "unmatched" into a false "matched": the Discovered Item would look resolved, the exception report would stop showing it, and the findings would hang off a record no application team owns. Excluding them keeps an unresolved host visible and chaseable, which is the outcome the design prefers over a comfortable but empty answer.</a:t>
            </a:r>
            <a:endParaRPr lang="en-US" sz="1150" dirty="0"/>
          </a:p>
        </p:txBody>
      </p:sp>
      <p:sp>
        <p:nvSpPr>
          <p:cNvPr id="24" name="Text 22"/>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Administrators change the list in sn_sec_cmn.ignoreCIClass; no rule holds a copy of it.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Four and five: the tie-break, and the balancer</a:t>
            </a:r>
            <a:endParaRPr lang="en-US" sz="3000" dirty="0"/>
          </a:p>
        </p:txBody>
      </p:sp>
      <p:sp>
        <p:nvSpPr>
          <p:cNvPr id="4" name="Shape 2"/>
          <p:cNvSpPr/>
          <p:nvPr/>
        </p:nvSpPr>
        <p:spPr>
          <a:xfrm>
            <a:off x="457200" y="1417320"/>
            <a:ext cx="5532120" cy="2331720"/>
          </a:xfrm>
          <a:prstGeom prst="roundRect">
            <a:avLst>
              <a:gd name="adj" fmla="val 19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572768"/>
            <a:ext cx="402336" cy="402336"/>
          </a:xfrm>
          <a:prstGeom prst="roundRect">
            <a:avLst>
              <a:gd name="adj" fmla="val 36364"/>
            </a:avLst>
          </a:prstGeom>
          <a:solidFill>
            <a:srgbClr val="E31837"/>
          </a:solidFill>
          <a:ln w="12700">
            <a:solidFill>
              <a:srgbClr val="333333"/>
            </a:solidFill>
            <a:prstDash val="solid"/>
          </a:ln>
        </p:spPr>
      </p:sp>
      <p:sp>
        <p:nvSpPr>
          <p:cNvPr id="6" name="Text 4"/>
          <p:cNvSpPr txBox="1"/>
          <p:nvPr/>
        </p:nvSpPr>
        <p:spPr>
          <a:xfrm>
            <a:off x="685800" y="1572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207008" y="1572768"/>
            <a:ext cx="4572000" cy="402336"/>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scanned IP breaks a name tie</a:t>
            </a:r>
            <a:endParaRPr lang="en-US" sz="1500" dirty="0"/>
          </a:p>
        </p:txBody>
      </p:sp>
      <p:sp>
        <p:nvSpPr>
          <p:cNvPr id="8" name="Text 6"/>
          <p:cNvSpPr txBox="1"/>
          <p:nvPr/>
        </p:nvSpPr>
        <p:spPr>
          <a:xfrm>
            <a:off x="685800" y="206654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CMDBs carry duplicate names honestly: a retired server and its rebuilt replacement, a cluster alias on two nodes. Where a second, independent piece of evidence exists, the rule uses it rather than declining.</a:t>
            </a:r>
            <a:endParaRPr lang="en-US" sz="1100" dirty="0"/>
          </a:p>
        </p:txBody>
      </p:sp>
      <p:sp>
        <p:nvSpPr>
          <p:cNvPr id="9" name="Shape 7"/>
          <p:cNvSpPr/>
          <p:nvPr/>
        </p:nvSpPr>
        <p:spPr>
          <a:xfrm>
            <a:off x="685800" y="2761488"/>
            <a:ext cx="5074920" cy="841248"/>
          </a:xfrm>
          <a:prstGeom prst="roundRect">
            <a:avLst>
              <a:gd name="adj" fmla="val 4348"/>
            </a:avLst>
          </a:prstGeom>
          <a:solidFill>
            <a:srgbClr val="1E2124"/>
          </a:solidFill>
          <a:ln w="12700">
            <a:solidFill>
              <a:srgbClr val="1E2124"/>
            </a:solidFill>
            <a:prstDash val="solid"/>
          </a:ln>
        </p:spPr>
      </p:sp>
      <p:sp>
        <p:nvSpPr>
          <p:cNvPr id="10" name="Text 8"/>
          <p:cNvSpPr txBox="1"/>
          <p:nvPr/>
        </p:nvSpPr>
        <p:spPr>
          <a:xfrm>
            <a:off x="795528" y="2834640"/>
            <a:ext cx="4855464" cy="69494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(ids.length == 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ids[0];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no tie at all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(ids.length &gt; 1 &amp;&amp; ipHits.length == 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ipHits[0];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the IP decides</a:t>
            </a:r>
            <a:endParaRPr lang="en-US" sz="900" dirty="0"/>
          </a:p>
        </p:txBody>
      </p:sp>
      <p:sp>
        <p:nvSpPr>
          <p:cNvPr id="11" name="Shape 9"/>
          <p:cNvSpPr/>
          <p:nvPr/>
        </p:nvSpPr>
        <p:spPr>
          <a:xfrm>
            <a:off x="6199632" y="1417320"/>
            <a:ext cx="5532120" cy="2331720"/>
          </a:xfrm>
          <a:prstGeom prst="roundRect">
            <a:avLst>
              <a:gd name="adj" fmla="val 19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Shape 10"/>
          <p:cNvSpPr/>
          <p:nvPr/>
        </p:nvSpPr>
        <p:spPr>
          <a:xfrm>
            <a:off x="6428232" y="1572768"/>
            <a:ext cx="402336" cy="402336"/>
          </a:xfrm>
          <a:prstGeom prst="roundRect">
            <a:avLst>
              <a:gd name="adj" fmla="val 36364"/>
            </a:avLst>
          </a:prstGeom>
          <a:solidFill>
            <a:srgbClr val="E31837"/>
          </a:solidFill>
          <a:ln w="12700">
            <a:solidFill>
              <a:srgbClr val="333333"/>
            </a:solidFill>
            <a:prstDash val="solid"/>
          </a:ln>
        </p:spPr>
      </p:sp>
      <p:sp>
        <p:nvSpPr>
          <p:cNvPr id="13" name="Text 11"/>
          <p:cNvSpPr txBox="1"/>
          <p:nvPr/>
        </p:nvSpPr>
        <p:spPr>
          <a:xfrm>
            <a:off x="6428232" y="1572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4" name="Text 12"/>
          <p:cNvSpPr txBox="1"/>
          <p:nvPr/>
        </p:nvSpPr>
        <p:spPr>
          <a:xfrm>
            <a:off x="6949440" y="1572768"/>
            <a:ext cx="4572000" cy="402336"/>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A load balancer is never the host</a:t>
            </a:r>
            <a:endParaRPr lang="en-US" sz="1500" dirty="0"/>
          </a:p>
        </p:txBody>
      </p:sp>
      <p:sp>
        <p:nvSpPr>
          <p:cNvPr id="15" name="Text 13"/>
          <p:cNvSpPr txBox="1"/>
          <p:nvPr/>
        </p:nvSpPr>
        <p:spPr>
          <a:xfrm>
            <a:off x="6428232" y="206654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balancer answers on virtual addresses for the servers behind it. Matching a scanned VIP to the balancer device would put every pool member’s findings on the network team.</a:t>
            </a:r>
            <a:endParaRPr lang="en-US" sz="1100" dirty="0"/>
          </a:p>
        </p:txBody>
      </p:sp>
      <p:sp>
        <p:nvSpPr>
          <p:cNvPr id="16" name="Shape 14"/>
          <p:cNvSpPr/>
          <p:nvPr/>
        </p:nvSpPr>
        <p:spPr>
          <a:xfrm>
            <a:off x="6428232" y="2761488"/>
            <a:ext cx="5074920" cy="841248"/>
          </a:xfrm>
          <a:prstGeom prst="roundRect">
            <a:avLst>
              <a:gd name="adj" fmla="val 4348"/>
            </a:avLst>
          </a:prstGeom>
          <a:solidFill>
            <a:srgbClr val="1E2124"/>
          </a:solidFill>
          <a:ln w="12700">
            <a:solidFill>
              <a:srgbClr val="1E2124"/>
            </a:solidFill>
            <a:prstDash val="solid"/>
          </a:ln>
        </p:spPr>
      </p:sp>
      <p:sp>
        <p:nvSpPr>
          <p:cNvPr id="17" name="Text 15"/>
          <p:cNvSpPr txBox="1"/>
          <p:nvPr/>
        </p:nvSpPr>
        <p:spPr>
          <a:xfrm>
            <a:off x="6537960" y="2834640"/>
            <a:ext cx="4855464" cy="69494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function isLoadBalancer(id)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var lb = new GlideRecord('cmdb_ci_lb');</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lb.isValid() &amp;&amp; lb.get(id);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a:t>
            </a:r>
            <a:endParaRPr lang="en-US" sz="900" dirty="0"/>
          </a:p>
        </p:txBody>
      </p:sp>
      <p:sp>
        <p:nvSpPr>
          <p:cNvPr id="18" name="Shape 16"/>
          <p:cNvSpPr/>
          <p:nvPr/>
        </p:nvSpPr>
        <p:spPr>
          <a:xfrm>
            <a:off x="457200" y="3950208"/>
            <a:ext cx="11274552" cy="1600200"/>
          </a:xfrm>
          <a:prstGeom prst="roundRect">
            <a:avLst>
              <a:gd name="adj" fmla="val 28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731520" y="4114800"/>
            <a:ext cx="731520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consequence, and the rule that answers it</a:t>
            </a:r>
            <a:endParaRPr lang="en-US" sz="1500" dirty="0"/>
          </a:p>
        </p:txBody>
      </p:sp>
      <p:sp>
        <p:nvSpPr>
          <p:cNvPr id="20" name="Text 18"/>
          <p:cNvSpPr txBox="1"/>
          <p:nvPr/>
        </p:nvSpPr>
        <p:spPr>
          <a:xfrm>
            <a:off x="731520" y="4462272"/>
            <a:ext cx="10698480" cy="91440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Refusing the balancer left those hosts unmatched, and virtual IPs are the single largest group in the backlog. The answer is not to relax the refusal but to give the host its proper record: the Load Balancer Service CI that models the VIP itself. </a:t>
            </a:r>
            <a:pPr indent="0" marL="0">
              <a:buNone/>
            </a:pPr>
            <a:r>
              <a:rPr lang="en-US" sz="1150" b="1" dirty="0">
                <a:solidFill>
                  <a:srgbClr val="24272A"/>
                </a:solidFill>
                <a:latin typeface="Arial" pitchFamily="34" charset="0"/>
                <a:ea typeface="Arial" pitchFamily="34" charset="-122"/>
                <a:cs typeface="Arial" pitchFamily="34" charset="-120"/>
              </a:rPr>
              <a:t>Rule 460 does exactly that, and the hardware rules go on refusing the device.</a:t>
            </a:r>
            <a:endParaRPr lang="en-US" sz="1150" dirty="0"/>
          </a:p>
        </p:txBody>
      </p:sp>
      <p:sp>
        <p:nvSpPr>
          <p:cNvPr id="21" name="Text 19"/>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Load Balancer devices sit under Server in the CMDB hierarchy, not under Network Gear; the interface rule searches both branches for that reason.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DESIGN DECISION</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A platform helper we chose not to call</a:t>
            </a:r>
            <a:endParaRPr lang="en-US" sz="3000" dirty="0"/>
          </a:p>
        </p:txBody>
      </p:sp>
      <p:sp>
        <p:nvSpPr>
          <p:cNvPr id="4" name="Text 2"/>
          <p:cNvSpPr txBox="1"/>
          <p:nvPr/>
        </p:nvSpPr>
        <p:spPr>
          <a:xfrm>
            <a:off x="457200" y="1316736"/>
            <a:ext cx="11247120" cy="329184"/>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The out-of-box CIIdentify script include carries a _queryMatch helper that looks, at first glance, like exactly what these rules do. It was reviewed and left alone. Four reasons:</a:t>
            </a:r>
            <a:endParaRPr lang="en-US" sz="1200" dirty="0"/>
          </a:p>
        </p:txBody>
      </p:sp>
      <p:sp>
        <p:nvSpPr>
          <p:cNvPr id="5" name="Shape 3"/>
          <p:cNvSpPr/>
          <p:nvPr/>
        </p:nvSpPr>
        <p:spPr>
          <a:xfrm>
            <a:off x="457200" y="1755648"/>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Shape 4"/>
          <p:cNvSpPr/>
          <p:nvPr/>
        </p:nvSpPr>
        <p:spPr>
          <a:xfrm>
            <a:off x="685800" y="1938528"/>
            <a:ext cx="384048" cy="384048"/>
          </a:xfrm>
          <a:prstGeom prst="roundRect">
            <a:avLst>
              <a:gd name="adj" fmla="val 38095"/>
            </a:avLst>
          </a:prstGeom>
          <a:solidFill>
            <a:srgbClr val="E31837"/>
          </a:solidFill>
          <a:ln w="12700">
            <a:solidFill>
              <a:srgbClr val="333333"/>
            </a:solidFill>
            <a:prstDash val="solid"/>
          </a:ln>
        </p:spPr>
      </p:sp>
      <p:sp>
        <p:nvSpPr>
          <p:cNvPr id="7" name="Text 5"/>
          <p:cNvSpPr txBox="1"/>
          <p:nvPr/>
        </p:nvSpPr>
        <p:spPr>
          <a:xfrm>
            <a:off x="685800"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1188720" y="1938528"/>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is private</a:t>
            </a:r>
            <a:endParaRPr lang="en-US" sz="1350" dirty="0"/>
          </a:p>
        </p:txBody>
      </p:sp>
      <p:sp>
        <p:nvSpPr>
          <p:cNvPr id="9" name="Text 7"/>
          <p:cNvSpPr txBox="1"/>
          <p:nvPr/>
        </p:nvSpPr>
        <p:spPr>
          <a:xfrm>
            <a:off x="685800" y="2414016"/>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leading underscore marks it as internal. It is undocumented and free to change or vanish in any upgrade, which makes it an unsafe dependency for rules the bank runs in production.</a:t>
            </a:r>
            <a:endParaRPr lang="en-US" sz="1100" dirty="0"/>
          </a:p>
        </p:txBody>
      </p:sp>
      <p:sp>
        <p:nvSpPr>
          <p:cNvPr id="10" name="Shape 8"/>
          <p:cNvSpPr/>
          <p:nvPr/>
        </p:nvSpPr>
        <p:spPr>
          <a:xfrm>
            <a:off x="6199632" y="1755648"/>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Shape 9"/>
          <p:cNvSpPr/>
          <p:nvPr/>
        </p:nvSpPr>
        <p:spPr>
          <a:xfrm>
            <a:off x="6428232" y="1938528"/>
            <a:ext cx="384048" cy="384048"/>
          </a:xfrm>
          <a:prstGeom prst="roundRect">
            <a:avLst>
              <a:gd name="adj" fmla="val 38095"/>
            </a:avLst>
          </a:prstGeom>
          <a:solidFill>
            <a:srgbClr val="E31837"/>
          </a:solidFill>
          <a:ln w="12700">
            <a:solidFill>
              <a:srgbClr val="333333"/>
            </a:solidFill>
            <a:prstDash val="solid"/>
          </a:ln>
        </p:spPr>
      </p:sp>
      <p:sp>
        <p:nvSpPr>
          <p:cNvPr id="12" name="Text 10"/>
          <p:cNvSpPr txBox="1"/>
          <p:nvPr/>
        </p:nvSpPr>
        <p:spPr>
          <a:xfrm>
            <a:off x="6428232"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6931152" y="1938528"/>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resolves ties by picking one</a:t>
            </a:r>
            <a:endParaRPr lang="en-US" sz="1350" dirty="0"/>
          </a:p>
        </p:txBody>
      </p:sp>
      <p:sp>
        <p:nvSpPr>
          <p:cNvPr id="14" name="Text 12"/>
          <p:cNvSpPr txBox="1"/>
          <p:nvPr/>
        </p:nvSpPr>
        <p:spPr>
          <a:xfrm>
            <a:off x="6428232" y="2414016"/>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On several matches it logs the duplication and returns the first. That is the precise behaviour the chain is built to avoid: a silent wrong answer instead of an honest decline.</a:t>
            </a:r>
            <a:endParaRPr lang="en-US" sz="1100" dirty="0"/>
          </a:p>
        </p:txBody>
      </p:sp>
      <p:sp>
        <p:nvSpPr>
          <p:cNvPr id="15" name="Shape 13"/>
          <p:cNvSpPr/>
          <p:nvPr/>
        </p:nvSpPr>
        <p:spPr>
          <a:xfrm>
            <a:off x="457200" y="3328416"/>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6" name="Shape 14"/>
          <p:cNvSpPr/>
          <p:nvPr/>
        </p:nvSpPr>
        <p:spPr>
          <a:xfrm>
            <a:off x="685800" y="3511296"/>
            <a:ext cx="384048" cy="384048"/>
          </a:xfrm>
          <a:prstGeom prst="roundRect">
            <a:avLst>
              <a:gd name="adj" fmla="val 38095"/>
            </a:avLst>
          </a:prstGeom>
          <a:solidFill>
            <a:srgbClr val="E31837"/>
          </a:solidFill>
          <a:ln w="12700">
            <a:solidFill>
              <a:srgbClr val="333333"/>
            </a:solidFill>
            <a:prstDash val="solid"/>
          </a:ln>
        </p:spPr>
      </p:sp>
      <p:sp>
        <p:nvSpPr>
          <p:cNvPr id="17" name="Text 15"/>
          <p:cNvSpPr txBox="1"/>
          <p:nvPr/>
        </p:nvSpPr>
        <p:spPr>
          <a:xfrm>
            <a:off x="685800"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8" name="Text 16"/>
          <p:cNvSpPr txBox="1"/>
          <p:nvPr/>
        </p:nvSpPr>
        <p:spPr>
          <a:xfrm>
            <a:off x="1188720" y="3511296"/>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mutates the framework result</a:t>
            </a:r>
            <a:endParaRPr lang="en-US" sz="1350" dirty="0"/>
          </a:p>
        </p:txBody>
      </p:sp>
      <p:sp>
        <p:nvSpPr>
          <p:cNvPr id="19" name="Text 17"/>
          <p:cNvSpPr txBox="1"/>
          <p:nvPr/>
        </p:nvSpPr>
        <p:spPr>
          <a:xfrm>
            <a:off x="685800" y="398678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It writes into the caller’s own result object and caps the collection it fills at ten entries, so its behaviour depends on state the rule does not control.</a:t>
            </a:r>
            <a:endParaRPr lang="en-US" sz="1100" dirty="0"/>
          </a:p>
        </p:txBody>
      </p:sp>
      <p:sp>
        <p:nvSpPr>
          <p:cNvPr id="20" name="Shape 18"/>
          <p:cNvSpPr/>
          <p:nvPr/>
        </p:nvSpPr>
        <p:spPr>
          <a:xfrm>
            <a:off x="6199632" y="3328416"/>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Shape 19"/>
          <p:cNvSpPr/>
          <p:nvPr/>
        </p:nvSpPr>
        <p:spPr>
          <a:xfrm>
            <a:off x="6428232" y="3511296"/>
            <a:ext cx="384048" cy="384048"/>
          </a:xfrm>
          <a:prstGeom prst="roundRect">
            <a:avLst>
              <a:gd name="adj" fmla="val 38095"/>
            </a:avLst>
          </a:prstGeom>
          <a:solidFill>
            <a:srgbClr val="E31837"/>
          </a:solidFill>
          <a:ln w="12700">
            <a:solidFill>
              <a:srgbClr val="333333"/>
            </a:solidFill>
            <a:prstDash val="solid"/>
          </a:ln>
        </p:spPr>
      </p:sp>
      <p:sp>
        <p:nvSpPr>
          <p:cNvPr id="22" name="Text 20"/>
          <p:cNvSpPr txBox="1"/>
          <p:nvPr/>
        </p:nvSpPr>
        <p:spPr>
          <a:xfrm>
            <a:off x="6428232"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6931152" y="3511296"/>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saves two lines</a:t>
            </a:r>
            <a:endParaRPr lang="en-US" sz="1350" dirty="0"/>
          </a:p>
        </p:txBody>
      </p:sp>
      <p:sp>
        <p:nvSpPr>
          <p:cNvPr id="24" name="Text 22"/>
          <p:cNvSpPr txBox="1"/>
          <p:nvPr/>
        </p:nvSpPr>
        <p:spPr>
          <a:xfrm>
            <a:off x="6428232" y="398678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What it replaces is a query and a uniqueness check. Writing those out keeps each rule readable on its own and keeps the chain independent of internals.</a:t>
            </a:r>
            <a:endParaRPr lang="en-US" sz="1100" dirty="0"/>
          </a:p>
        </p:txBody>
      </p:sp>
      <p:sp>
        <p:nvSpPr>
          <p:cNvPr id="25" name="Shape 23"/>
          <p:cNvSpPr/>
          <p:nvPr/>
        </p:nvSpPr>
        <p:spPr>
          <a:xfrm>
            <a:off x="457200" y="4956048"/>
            <a:ext cx="11274552" cy="896112"/>
          </a:xfrm>
          <a:prstGeom prst="roundRect">
            <a:avLst>
              <a:gd name="adj" fmla="val 510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731520" y="5120640"/>
            <a:ext cx="10698480" cy="640080"/>
          </a:xfrm>
          <a:prstGeom prst="rect">
            <a:avLst/>
          </a:prstGeom>
          <a:noFill/>
          <a:ln/>
        </p:spPr>
        <p:txBody>
          <a:bodyPr wrap="square" lIns="0" tIns="0" rIns="0" bIns="0" rtlCol="0" anchor="t"/>
          <a:lstStyle/>
          <a:p>
            <a:pPr indent="0" marL="0">
              <a:buNone/>
            </a:pPr>
            <a:r>
              <a:rPr lang="en-US" sz="1150" b="1" dirty="0">
                <a:solidFill>
                  <a:srgbClr val="24272A"/>
                </a:solidFill>
                <a:latin typeface="Arial" pitchFamily="34" charset="0"/>
                <a:ea typeface="Arial" pitchFamily="34" charset="-122"/>
                <a:cs typeface="Arial" pitchFamily="34" charset="-120"/>
              </a:rPr>
              <a:t>What the rules need instead.  </a:t>
            </a:r>
            <a:pPr indent="0" marL="0">
              <a:buNone/>
            </a:pPr>
            <a:r>
              <a:rPr lang="en-US" sz="1150" dirty="0">
                <a:solidFill>
                  <a:srgbClr val="6B7177"/>
                </a:solidFill>
                <a:latin typeface="Arial" pitchFamily="34" charset="0"/>
                <a:ea typeface="Arial" pitchFamily="34" charset="-122"/>
                <a:cs typeface="Arial" pitchFamily="34" charset="-120"/>
              </a:rPr>
              <a:t>"Exactly one match, or decline" is not on offer anywhere in the platform API, and it is the whole contract of this chain. Each rule states it in two lines of its own code, where a reviewer can see it.</a:t>
            </a:r>
            <a:endParaRPr lang="en-US" sz="1150" dirty="0"/>
          </a:p>
        </p:txBody>
      </p:sp>
      <p:sp>
        <p:nvSpPr>
          <p:cNvPr id="27" name="Text 25"/>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The platform rules that ship with the Qualys integration continue to use it; only the custom USEM rules avoid it.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rules, in order</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One page per rule: what it matches, the stages that do the work, and where it sits in the chain.</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Serial number, 175 and 180</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Device label, 200</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Name, 250 to 450</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Backlog additions, 420 to 460</a:t>
            </a:r>
            <a:endParaRPr lang="en-US" sz="1150" dirty="0"/>
          </a:p>
        </p:txBody>
      </p:sp>
      <p:sp>
        <p:nvSpPr>
          <p:cNvPr id="14" name="Shape 12"/>
          <p:cNvSpPr/>
          <p:nvPr/>
        </p:nvSpPr>
        <p:spPr>
          <a:xfrm>
            <a:off x="8275320" y="4032504"/>
            <a:ext cx="146304" cy="146304"/>
          </a:xfrm>
          <a:prstGeom prst="roundRect">
            <a:avLst>
              <a:gd name="adj" fmla="val 31250"/>
            </a:avLst>
          </a:prstGeom>
          <a:solidFill>
            <a:srgbClr val="E31837"/>
          </a:solidFill>
          <a:ln w="12700">
            <a:solidFill>
              <a:srgbClr val="333333"/>
            </a:solidFill>
            <a:prstDash val="solid"/>
          </a:ln>
        </p:spPr>
      </p:sp>
      <p:sp>
        <p:nvSpPr>
          <p:cNvPr id="15" name="Text 13"/>
          <p:cNvSpPr txBox="1"/>
          <p:nvPr/>
        </p:nvSpPr>
        <p:spPr>
          <a:xfrm>
            <a:off x="8577072" y="3950208"/>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Address, 700 to 740</a:t>
            </a:r>
            <a:endParaRPr lang="en-US" sz="1150" dirty="0"/>
          </a:p>
        </p:txBody>
      </p:sp>
      <p:sp>
        <p:nvSpPr>
          <p:cNvPr id="16" name="Shape 14"/>
          <p:cNvSpPr/>
          <p:nvPr/>
        </p:nvSpPr>
        <p:spPr>
          <a:xfrm>
            <a:off x="8275320" y="4434840"/>
            <a:ext cx="146304" cy="146304"/>
          </a:xfrm>
          <a:prstGeom prst="roundRect">
            <a:avLst>
              <a:gd name="adj" fmla="val 31250"/>
            </a:avLst>
          </a:prstGeom>
          <a:solidFill>
            <a:srgbClr val="E31837"/>
          </a:solidFill>
          <a:ln w="12700">
            <a:solidFill>
              <a:srgbClr val="333333"/>
            </a:solidFill>
            <a:prstDash val="solid"/>
          </a:ln>
        </p:spPr>
      </p:sp>
      <p:sp>
        <p:nvSpPr>
          <p:cNvPr id="17" name="Text 15"/>
          <p:cNvSpPr txBox="1"/>
          <p:nvPr/>
        </p:nvSpPr>
        <p:spPr>
          <a:xfrm>
            <a:off x="8577072" y="435254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Broad fallback, 850</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175</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Serial Number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SERIAL NUMBER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A serial number stays with a machine for its whole life, while names and addresses get reused. It is the strongest identifier Qualys gives us, so it is tried first, inside the class the scanned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SERIAL_NUMBER,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carrying the serial, else null</a:t>
            </a:r>
            <a:endParaRPr lang="en-US" sz="1050" dirty="0"/>
          </a:p>
        </p:txBody>
      </p:sp>
      <p:sp>
        <p:nvSpPr>
          <p:cNvPr id="13" name="Shape 11"/>
          <p:cNvSpPr/>
          <p:nvPr/>
        </p:nvSpPr>
        <p:spPr>
          <a:xfrm>
            <a:off x="457200" y="2121408"/>
            <a:ext cx="11274552" cy="1063142"/>
          </a:xfrm>
          <a:prstGeom prst="roundRect">
            <a:avLst>
              <a:gd name="adj" fmla="val 43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24963"/>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52496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8026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Refuse placeholder serials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Vendors ship "To be filled by O.E.M." and "0123456789" on thousands of machines; such a value would match dozens of CIs.</a:t>
            </a:r>
            <a:endParaRPr lang="en-US" sz="1200" dirty="0"/>
          </a:p>
        </p:txBody>
      </p:sp>
      <p:sp>
        <p:nvSpPr>
          <p:cNvPr id="17" name="Shape 15"/>
          <p:cNvSpPr/>
          <p:nvPr/>
        </p:nvSpPr>
        <p:spPr>
          <a:xfrm>
            <a:off x="4617720" y="2278075"/>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351227"/>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junk = ',0,none,n/a,unknown,default string,'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'to be filled by o.e.m.,0123456789,';</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(serial.length &lt; 4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junk.indexOf(',' + serial.toLowerCase() + ',')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275990"/>
            <a:ext cx="11274552" cy="1033882"/>
          </a:xfrm>
          <a:prstGeom prst="roundRect">
            <a:avLst>
              <a:gd name="adj" fmla="val 4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664915"/>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664915"/>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367430"/>
            <a:ext cx="3246120" cy="85100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535070"/>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608222"/>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401312"/>
            <a:ext cx="11274552" cy="1414272"/>
          </a:xfrm>
          <a:prstGeom prst="roundRect">
            <a:avLst>
              <a:gd name="adj" fmla="val 32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80432"/>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498043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92752"/>
            <a:ext cx="3246120" cy="123139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Serial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Exact match on serial_number inside the class, ignored classes left out. Two CIs sharing a serial (a cloned virtual machine, a typo) cannot be told apart here.</a:t>
            </a:r>
            <a:endParaRPr lang="en-US" sz="1200" dirty="0"/>
          </a:p>
        </p:txBody>
      </p:sp>
      <p:sp>
        <p:nvSpPr>
          <p:cNvPr id="29" name="Shape 27"/>
          <p:cNvSpPr/>
          <p:nvPr/>
        </p:nvSpPr>
        <p:spPr>
          <a:xfrm>
            <a:off x="4617720" y="4557979"/>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31131"/>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gr.addQuery('serial_number', serial);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nothing custom runs before this rule.</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host that reports a serial: in this feed the Cloud Agent hosts.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serial rule, for hosts whose OS gives no class.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180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Serial Number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SERIAL NUMBER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same serial search across the whole hardware tree. It exists for hosts whose OS gives no usable class, and for CIs that sit in a different class than the OS suggests.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SERIAL_NUMBER</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carrying the serial, else null</a:t>
            </a:r>
            <a:endParaRPr lang="en-US" sz="1050" dirty="0"/>
          </a:p>
        </p:txBody>
      </p:sp>
      <p:sp>
        <p:nvSpPr>
          <p:cNvPr id="13" name="Shape 11"/>
          <p:cNvSpPr/>
          <p:nvPr/>
        </p:nvSpPr>
        <p:spPr>
          <a:xfrm>
            <a:off x="457200" y="2269541"/>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60981"/>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guard on the value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placeholder list and the four-character minimum are applied again before anything is searched.</a:t>
            </a:r>
            <a:endParaRPr lang="en-US" sz="1200" dirty="0"/>
          </a:p>
        </p:txBody>
      </p:sp>
      <p:sp>
        <p:nvSpPr>
          <p:cNvPr id="17" name="Shape 15"/>
          <p:cNvSpPr/>
          <p:nvPr/>
        </p:nvSpPr>
        <p:spPr>
          <a:xfrm>
            <a:off x="4617720" y="2662733"/>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735885"/>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serial = ('' + sourceValue).trim();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(serial.length &lt; 4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junk.indexOf(',' + serial.toLowerCase() + ',')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780130"/>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871570"/>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Search the whole hardware tree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cmdb_ci_hardware is the parent of every device class, so nothing is filtered by class. The safety is that the serial must still belong to exactly one CI in the whole tree.</a:t>
            </a:r>
            <a:endParaRPr lang="en-US" sz="1200" dirty="0"/>
          </a:p>
        </p:txBody>
      </p:sp>
      <p:sp>
        <p:nvSpPr>
          <p:cNvPr id="23" name="Shape 21"/>
          <p:cNvSpPr/>
          <p:nvPr/>
        </p:nvSpPr>
        <p:spPr>
          <a:xfrm>
            <a:off x="4617720" y="4173322"/>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46474"/>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GlideRecord('cmdb_ci_hardware');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device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gr.addQuery('serial_number', serial);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serial rule already tried the serial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serial whose OS is unknown, or whose CI is classed differently.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phone rule and then the name rules.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Cisco IP Phone MAC</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DEVICE LABEL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Unified Communications Manager names every phone "SEP" followed by its MAC address, and Qualys reports that name as the DNS label. The rule turns the label back into a MAC and finds the one IP Phone CI that carries it.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IP Phone CI carrying that MAC, else null</a:t>
            </a:r>
            <a:endParaRPr lang="en-US" sz="1050" dirty="0"/>
          </a:p>
        </p:txBody>
      </p:sp>
      <p:sp>
        <p:nvSpPr>
          <p:cNvPr id="13" name="Shape 11"/>
          <p:cNvSpPr/>
          <p:nvPr/>
        </p:nvSpPr>
        <p:spPr>
          <a:xfrm>
            <a:off x="457200" y="2121408"/>
            <a:ext cx="11274552" cy="1216762"/>
          </a:xfrm>
          <a:prstGeom prst="roundRect">
            <a:avLst>
              <a:gd name="adj" fmla="val 375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01773"/>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60177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03388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Strict label, four MAC spellings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server called "sepulveda01" must not be treated as a phone, hence the strict pattern. Discovery tools and the call manager write MACs differently, hence the four spellings.</a:t>
            </a:r>
            <a:endParaRPr lang="en-US" sz="1200" dirty="0"/>
          </a:p>
        </p:txBody>
      </p:sp>
      <p:sp>
        <p:nvSpPr>
          <p:cNvPr id="17" name="Shape 15"/>
          <p:cNvSpPr/>
          <p:nvPr/>
        </p:nvSpPr>
        <p:spPr>
          <a:xfrm>
            <a:off x="4617720" y="2354885"/>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428037"/>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 = label.match(/^sep([0-9a-f]{12})$/);</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candidates = [colon.toUpperCase(), colon,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hex.toUpperCase(), hex];</a:t>
            </a:r>
            <a:endParaRPr lang="en-US" sz="800" dirty="0"/>
          </a:p>
        </p:txBody>
      </p:sp>
      <p:sp>
        <p:nvSpPr>
          <p:cNvPr id="19" name="Shape 17"/>
          <p:cNvSpPr/>
          <p:nvPr/>
        </p:nvSpPr>
        <p:spPr>
          <a:xfrm>
            <a:off x="457200" y="3429610"/>
            <a:ext cx="11274552" cy="1220419"/>
          </a:xfrm>
          <a:prstGeom prst="roundRect">
            <a:avLst>
              <a:gd name="adj" fmla="val 37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11803"/>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91180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521050"/>
            <a:ext cx="3246120" cy="103753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Adapter first, then the phone record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Discovery usually stores the MAC on the adapter. Checking that the owner is an IP Phone keeps a switch or server adapter with a colliding MAC out.</a:t>
            </a:r>
            <a:endParaRPr lang="en-US" sz="1200" dirty="0"/>
          </a:p>
        </p:txBody>
      </p:sp>
      <p:sp>
        <p:nvSpPr>
          <p:cNvPr id="23" name="Shape 21"/>
          <p:cNvSpPr/>
          <p:nvPr/>
        </p:nvSpPr>
        <p:spPr>
          <a:xfrm>
            <a:off x="4617720" y="3606394"/>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3679546"/>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nic.addQuery('mac_address', 'IN', candidates.join(','));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(nic.next())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phone = new GlideRecord('cmdb_ci_ip_phone');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(phone.get(owner) &amp;&amp; !phones[owner]) {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return first;</a:t>
            </a:r>
            <a:endParaRPr lang="en-US" sz="800" dirty="0"/>
          </a:p>
        </p:txBody>
      </p:sp>
      <p:sp>
        <p:nvSpPr>
          <p:cNvPr id="25" name="Shape 23"/>
          <p:cNvSpPr/>
          <p:nvPr/>
        </p:nvSpPr>
        <p:spPr>
          <a:xfrm>
            <a:off x="457200" y="4741469"/>
            <a:ext cx="11274552" cy="1074115"/>
          </a:xfrm>
          <a:prstGeom prst="roundRect">
            <a:avLst>
              <a:gd name="adj" fmla="val 42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50510"/>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5051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32909"/>
            <a:ext cx="3246120" cy="89123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Last resort: the device name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phone loaded from the call manager export carries no MAC on either record but is named exactly like the label.</a:t>
            </a:r>
            <a:endParaRPr lang="en-US" sz="1200" dirty="0"/>
          </a:p>
        </p:txBody>
      </p:sp>
      <p:sp>
        <p:nvSpPr>
          <p:cNvPr id="29" name="Shape 27"/>
          <p:cNvSpPr/>
          <p:nvPr/>
        </p:nvSpPr>
        <p:spPr>
          <a:xfrm>
            <a:off x="4617720" y="4962144"/>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35296"/>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byName.addQuery('name', label.toUpperCase());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(!byName.next())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(byName.hasNext())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phones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named;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serial rules; phones report no serial.</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only labels of "sep" plus twelve hex characters. Everything else passes untouched.</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and hostname rules, which never see a phone label.</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first name rule. An exact FQDN on the CI record is the most precise name evidence there is, so it is matched before any hostname handling,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 and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fqdn equals the scanned name</a:t>
            </a:r>
            <a:endParaRPr lang="en-US" sz="1050" dirty="0"/>
          </a:p>
        </p:txBody>
      </p:sp>
      <p:sp>
        <p:nvSpPr>
          <p:cNvPr id="13" name="Shape 11"/>
          <p:cNvSpPr/>
          <p:nvPr/>
        </p:nvSpPr>
        <p:spPr>
          <a:xfrm>
            <a:off x="457200" y="2121408"/>
            <a:ext cx="11274552" cy="1074115"/>
          </a:xfrm>
          <a:prstGeom prst="roundRect">
            <a:avLst>
              <a:gd name="adj" fmla="val 42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30450"/>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3045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9123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17" name="Shape 15"/>
          <p:cNvSpPr/>
          <p:nvPr/>
        </p:nvSpPr>
        <p:spPr>
          <a:xfrm>
            <a:off x="4617720" y="2400605"/>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73757"/>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19" name="Shape 17"/>
          <p:cNvSpPr/>
          <p:nvPr/>
        </p:nvSpPr>
        <p:spPr>
          <a:xfrm>
            <a:off x="457200" y="3286963"/>
            <a:ext cx="11274552" cy="1220419"/>
          </a:xfrm>
          <a:prstGeom prst="roundRect">
            <a:avLst>
              <a:gd name="adj" fmla="val 37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69157"/>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6915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378403"/>
            <a:ext cx="3246120" cy="103753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Exact fqdn match</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Every CI of the class whose fqdn equals the scanned name is collected, together with those that also carry the scanned IP.</a:t>
            </a:r>
            <a:endParaRPr lang="en-US" sz="1200" dirty="0"/>
          </a:p>
        </p:txBody>
      </p:sp>
      <p:sp>
        <p:nvSpPr>
          <p:cNvPr id="23" name="Shape 21"/>
          <p:cNvSpPr/>
          <p:nvPr/>
        </p:nvSpPr>
        <p:spPr>
          <a:xfrm>
            <a:off x="4617720" y="3463747"/>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3536899"/>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gr.addQuery('fqdn',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(gr.next())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ids.push(gr.getUniqueValue());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(ip &amp;&amp; gr.getValue('ip_address')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ipHits.push(gr.getUniqueValue());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p:txBody>
      </p:sp>
      <p:sp>
        <p:nvSpPr>
          <p:cNvPr id="25" name="Shape 23"/>
          <p:cNvSpPr/>
          <p:nvPr/>
        </p:nvSpPr>
        <p:spPr>
          <a:xfrm>
            <a:off x="457200" y="4598822"/>
            <a:ext cx="11274552" cy="1216762"/>
          </a:xfrm>
          <a:prstGeom prst="roundRect">
            <a:avLst>
              <a:gd name="adj" fmla="val 375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79187"/>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7918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90262"/>
            <a:ext cx="3246120" cy="103388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hit, or the IP breaks the tie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Duplicates do exist: a retired server and its rebuilt replacement, a cluster alias on two nodes. The scanned IP resolves that safely; without it the rule declines.</a:t>
            </a:r>
            <a:endParaRPr lang="en-US" sz="1200" dirty="0"/>
          </a:p>
        </p:txBody>
      </p:sp>
      <p:sp>
        <p:nvSpPr>
          <p:cNvPr id="29" name="Shape 27"/>
          <p:cNvSpPr/>
          <p:nvPr/>
        </p:nvSpPr>
        <p:spPr>
          <a:xfrm>
            <a:off x="4617720" y="4832299"/>
            <a:ext cx="6949440" cy="749808"/>
          </a:xfrm>
          <a:prstGeom prst="roundRect">
            <a:avLst>
              <a:gd name="adj" fmla="val 4878"/>
            </a:avLst>
          </a:prstGeom>
          <a:solidFill>
            <a:srgbClr val="1E2124"/>
          </a:solidFill>
          <a:ln w="12700">
            <a:solidFill>
              <a:srgbClr val="1E2124"/>
            </a:solidFill>
            <a:prstDash val="solid"/>
          </a:ln>
        </p:spPr>
      </p:sp>
      <p:sp>
        <p:nvSpPr>
          <p:cNvPr id="30" name="Text 28"/>
          <p:cNvSpPr txBox="1"/>
          <p:nvPr/>
        </p:nvSpPr>
        <p:spPr>
          <a:xfrm>
            <a:off x="4727448" y="4905451"/>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ids[0];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&gt; 1 &amp;&amp; ipHits.length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ipHits[0];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IP confirms 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serial rules and the phone rule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host with a dotted DNS name, which is the bulk of the feed.</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FQDN rule, then hostname plus domain.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260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exact FQDN search again, across the whole hardware tree. It picks up the hosts whose OS gives no class and the CIs kept in a generic or different class than the OS suggests.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fqdn equals the scanned name</a:t>
            </a:r>
            <a:endParaRPr lang="en-US" sz="1050" dirty="0"/>
          </a:p>
        </p:txBody>
      </p:sp>
      <p:sp>
        <p:nvSpPr>
          <p:cNvPr id="13" name="Shape 11"/>
          <p:cNvSpPr/>
          <p:nvPr/>
        </p:nvSpPr>
        <p:spPr>
          <a:xfrm>
            <a:off x="457200" y="2225650"/>
            <a:ext cx="11274552" cy="1506931"/>
          </a:xfrm>
          <a:prstGeom prst="roundRect">
            <a:avLst>
              <a:gd name="adj" fmla="val 303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17090"/>
            <a:ext cx="3246120" cy="132405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helper, wider scope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identical collect-and-decide helper runs, but on cmdb_ci_hardware instead of a single class. Nothing else changes.</a:t>
            </a:r>
            <a:endParaRPr lang="en-US" sz="1200" dirty="0"/>
          </a:p>
        </p:txBody>
      </p:sp>
      <p:sp>
        <p:nvSpPr>
          <p:cNvPr id="17" name="Shape 15"/>
          <p:cNvSpPr/>
          <p:nvPr/>
        </p:nvSpPr>
        <p:spPr>
          <a:xfrm>
            <a:off x="4617720" y="2838298"/>
            <a:ext cx="6949440" cy="281635"/>
          </a:xfrm>
          <a:prstGeom prst="roundRect">
            <a:avLst>
              <a:gd name="adj" fmla="val 12987"/>
            </a:avLst>
          </a:prstGeom>
          <a:solidFill>
            <a:srgbClr val="1E2124"/>
          </a:solidFill>
          <a:ln w="12700">
            <a:solidFill>
              <a:srgbClr val="1E2124"/>
            </a:solidFill>
            <a:prstDash val="solid"/>
          </a:ln>
        </p:spPr>
      </p:sp>
      <p:sp>
        <p:nvSpPr>
          <p:cNvPr id="18" name="Text 16"/>
          <p:cNvSpPr txBox="1"/>
          <p:nvPr/>
        </p:nvSpPr>
        <p:spPr>
          <a:xfrm>
            <a:off x="4727448" y="2911450"/>
            <a:ext cx="6729984" cy="13533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pickFqdn('cmdb_ci_hardware');</a:t>
            </a:r>
            <a:endParaRPr lang="en-US" sz="800" dirty="0"/>
          </a:p>
        </p:txBody>
      </p:sp>
      <p:sp>
        <p:nvSpPr>
          <p:cNvPr id="19" name="Shape 17"/>
          <p:cNvSpPr/>
          <p:nvPr/>
        </p:nvSpPr>
        <p:spPr>
          <a:xfrm>
            <a:off x="457200" y="3824021"/>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639666"/>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63966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15461"/>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Collect and decide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hit is the match. Several hits with exactly one carrying the scanned IP gives that one. Anything else declines.</a:t>
            </a:r>
            <a:endParaRPr lang="en-US" sz="1200" dirty="0"/>
          </a:p>
        </p:txBody>
      </p:sp>
      <p:sp>
        <p:nvSpPr>
          <p:cNvPr id="23" name="Shape 21"/>
          <p:cNvSpPr/>
          <p:nvPr/>
        </p:nvSpPr>
        <p:spPr>
          <a:xfrm>
            <a:off x="4617720" y="4217213"/>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90365"/>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gr.addQuery('fqdn',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(gr.next())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ids.push(gr.getUniqueValue());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(ip &amp;&amp; gr.getValue('ip_address')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ipHits.push(gr.getUniqueValue());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 1) return ids[0];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&gt; 1 &amp;&amp; ipHits.length == 1) return ipHits[0];</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FQDN rule tried the same value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multi-guess or empty OS, or a CI classed differently.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plus domain rules, for CIs with no fqdn value at all.</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Domain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For CIs named with the short hostname that carry the domain somewhere else, in dns_domain or in an fqdn that was never copied into the name. Short name and domain are matched together,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 and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domain evidence agrees</a:t>
            </a:r>
            <a:endParaRPr lang="en-US" sz="1050" dirty="0"/>
          </a:p>
        </p:txBody>
      </p:sp>
      <p:sp>
        <p:nvSpPr>
          <p:cNvPr id="13" name="Shape 11"/>
          <p:cNvSpPr/>
          <p:nvPr/>
        </p:nvSpPr>
        <p:spPr>
          <a:xfrm>
            <a:off x="457200" y="2121408"/>
            <a:ext cx="11274552" cy="1111910"/>
          </a:xfrm>
          <a:prstGeom prst="roundRect">
            <a:avLst>
              <a:gd name="adj" fmla="val 41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49347"/>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4934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29030"/>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17" name="Shape 15"/>
          <p:cNvSpPr/>
          <p:nvPr/>
        </p:nvSpPr>
        <p:spPr>
          <a:xfrm>
            <a:off x="4617720" y="2419502"/>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92654"/>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19" name="Shape 17"/>
          <p:cNvSpPr/>
          <p:nvPr/>
        </p:nvSpPr>
        <p:spPr>
          <a:xfrm>
            <a:off x="457200" y="3324758"/>
            <a:ext cx="11274552" cy="1375258"/>
          </a:xfrm>
          <a:prstGeom prst="roundRect">
            <a:avLst>
              <a:gd name="adj" fmla="val 332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884371"/>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88437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16198"/>
            <a:ext cx="3246120" cy="119237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Name matched, domain confirmed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CI is kept only when its own record agrees with the scanned domain. The same short name lives in several domains, and this check keeps findings off the namesake.</a:t>
            </a:r>
            <a:endParaRPr lang="en-US" sz="1200" dirty="0"/>
          </a:p>
        </p:txBody>
      </p:sp>
      <p:sp>
        <p:nvSpPr>
          <p:cNvPr id="23" name="Shape 21"/>
          <p:cNvSpPr/>
          <p:nvPr/>
        </p:nvSpPr>
        <p:spPr>
          <a:xfrm>
            <a:off x="4617720" y="3520440"/>
            <a:ext cx="6949440" cy="983894"/>
          </a:xfrm>
          <a:prstGeom prst="roundRect">
            <a:avLst>
              <a:gd name="adj" fmla="val 3717"/>
            </a:avLst>
          </a:prstGeom>
          <a:solidFill>
            <a:srgbClr val="1E2124"/>
          </a:solidFill>
          <a:ln w="12700">
            <a:solidFill>
              <a:srgbClr val="1E2124"/>
            </a:solidFill>
            <a:prstDash val="solid"/>
          </a:ln>
        </p:spPr>
      </p:sp>
      <p:sp>
        <p:nvSpPr>
          <p:cNvPr id="24" name="Text 22"/>
          <p:cNvSpPr txBox="1"/>
          <p:nvPr/>
        </p:nvSpPr>
        <p:spPr>
          <a:xfrm>
            <a:off x="4727448" y="3593592"/>
            <a:ext cx="6729984" cy="837590"/>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"ah-1047132-001"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cifqdn = ('' + gr.getValue('fqdn')).toLowerCase();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cidom = ('' + gr.getValue('dns_domain')).toLowerCase();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(cifqdn == full || cidom == domain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(cifqdn.indexOf(host + '.') == 0 &amp;&amp;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cifqdn.indexOf(domain) &gt;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good.push(gr.getUniqueValue());</a:t>
            </a:r>
            <a:endParaRPr lang="en-US" sz="800" dirty="0"/>
          </a:p>
        </p:txBody>
      </p:sp>
      <p:sp>
        <p:nvSpPr>
          <p:cNvPr id="25" name="Shape 23"/>
          <p:cNvSpPr/>
          <p:nvPr/>
        </p:nvSpPr>
        <p:spPr>
          <a:xfrm>
            <a:off x="457200" y="4791456"/>
            <a:ext cx="11274552" cy="1024128"/>
          </a:xfrm>
          <a:prstGeom prst="roundRect">
            <a:avLst>
              <a:gd name="adj" fmla="val 446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75504"/>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755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82896"/>
            <a:ext cx="3246120" cy="84124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confirmed CI, IP as tie-break</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Several confirmed CIs are resolved only when exactly one also carries the scanned address.</a:t>
            </a:r>
            <a:endParaRPr lang="en-US" sz="1200" dirty="0"/>
          </a:p>
        </p:txBody>
      </p:sp>
      <p:sp>
        <p:nvSpPr>
          <p:cNvPr id="29" name="Shape 27"/>
          <p:cNvSpPr/>
          <p:nvPr/>
        </p:nvSpPr>
        <p:spPr>
          <a:xfrm>
            <a:off x="4617720" y="4987138"/>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60290"/>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 1) return good[0];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&gt; 1 &amp;&amp; ipHits.length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ipHits[0];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rules looked in the fqdn field and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named with the short hostname only.</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variant, the layered DNS rule, then the plain hostname rules.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310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Domain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Short hostname plus domain evidence again, across the whole hardware tree, for CIs classed generically (Server, Computer) or differently from the scanned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domain evidence agrees</a:t>
            </a:r>
            <a:endParaRPr lang="en-US" sz="1050" dirty="0"/>
          </a:p>
        </p:txBody>
      </p:sp>
      <p:sp>
        <p:nvSpPr>
          <p:cNvPr id="13" name="Shape 11"/>
          <p:cNvSpPr/>
          <p:nvPr/>
        </p:nvSpPr>
        <p:spPr>
          <a:xfrm>
            <a:off x="457200" y="2414016"/>
            <a:ext cx="11274552" cy="1364285"/>
          </a:xfrm>
          <a:prstGeom prst="roundRect">
            <a:avLst>
              <a:gd name="adj" fmla="val 335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968142"/>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9681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505456"/>
            <a:ext cx="3246120" cy="118140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helper, wider scope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identical name-plus-domain helper runs on cmdb_ci_hardware.</a:t>
            </a:r>
            <a:endParaRPr lang="en-US" sz="1200" dirty="0"/>
          </a:p>
        </p:txBody>
      </p:sp>
      <p:sp>
        <p:nvSpPr>
          <p:cNvPr id="17" name="Shape 15"/>
          <p:cNvSpPr/>
          <p:nvPr/>
        </p:nvSpPr>
        <p:spPr>
          <a:xfrm>
            <a:off x="4617720" y="2955341"/>
            <a:ext cx="6949440" cy="281635"/>
          </a:xfrm>
          <a:prstGeom prst="roundRect">
            <a:avLst>
              <a:gd name="adj" fmla="val 12987"/>
            </a:avLst>
          </a:prstGeom>
          <a:solidFill>
            <a:srgbClr val="1E2124"/>
          </a:solidFill>
          <a:ln w="12700">
            <a:solidFill>
              <a:srgbClr val="1E2124"/>
            </a:solidFill>
            <a:prstDash val="solid"/>
          </a:ln>
        </p:spPr>
      </p:sp>
      <p:sp>
        <p:nvSpPr>
          <p:cNvPr id="18" name="Text 16"/>
          <p:cNvSpPr txBox="1"/>
          <p:nvPr/>
        </p:nvSpPr>
        <p:spPr>
          <a:xfrm>
            <a:off x="4727448" y="3028493"/>
            <a:ext cx="6729984" cy="13533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pickCombo('cmdb_ci_hardware');</a:t>
            </a:r>
            <a:endParaRPr lang="en-US" sz="800" dirty="0"/>
          </a:p>
        </p:txBody>
      </p:sp>
      <p:sp>
        <p:nvSpPr>
          <p:cNvPr id="19" name="Shape 17"/>
          <p:cNvSpPr/>
          <p:nvPr/>
        </p:nvSpPr>
        <p:spPr>
          <a:xfrm>
            <a:off x="457200" y="3869741"/>
            <a:ext cx="11274552" cy="1653235"/>
          </a:xfrm>
          <a:prstGeom prst="roundRect">
            <a:avLst>
              <a:gd name="adj" fmla="val 276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6834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683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61181"/>
            <a:ext cx="3246120" cy="147035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Domain evidence still required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Widening the search does not weaken the test: a CI named with the hostname is kept only when its fqdn or dns_domain agrees with the scanned domain.</a:t>
            </a:r>
            <a:endParaRPr lang="en-US" sz="1200" dirty="0"/>
          </a:p>
        </p:txBody>
      </p:sp>
      <p:sp>
        <p:nvSpPr>
          <p:cNvPr id="23" name="Shape 21"/>
          <p:cNvSpPr/>
          <p:nvPr/>
        </p:nvSpPr>
        <p:spPr>
          <a:xfrm>
            <a:off x="4617720" y="4262933"/>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4336085"/>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(cifqdn == full || cidom == domain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(cifqdn.indexOf(host + '.') == 0 &amp;&amp;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cifqdn.indexOf(domain) &gt;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good.push(gr.getUniqueValue());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 1) return good[0];</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variant tried the same evidence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classed generically or differently from the OS.</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layered DNS rule and then the plain hostname rules.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Layered DNS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Discovery keeps names and addresses as their own records linked to the device. This rule follows that chain, the only way to find a host whose name is not written on the CI record at all, and it resolves aliases to the real machine.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at the end of DNS Name to IP Address to adapter to CI</a:t>
            </a:r>
            <a:endParaRPr lang="en-US" sz="1050" dirty="0"/>
          </a:p>
        </p:txBody>
      </p:sp>
      <p:sp>
        <p:nvSpPr>
          <p:cNvPr id="13" name="Shape 11"/>
          <p:cNvSpPr/>
          <p:nvPr/>
        </p:nvSpPr>
        <p:spPr>
          <a:xfrm>
            <a:off x="457200" y="2121408"/>
            <a:ext cx="11274552" cy="1313078"/>
          </a:xfrm>
          <a:prstGeom prst="roundRect">
            <a:avLst>
              <a:gd name="adj" fmla="val 348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4993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64993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1301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Follow the chain in one query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link table ties a DNS Name record to an IP Address record; dot-walking reaches the adapter and the CI. Because the chain ends on whatever device holds the address, an alias resolves to the real machine.</a:t>
            </a:r>
            <a:endParaRPr lang="en-US" sz="1200" dirty="0"/>
          </a:p>
        </p:txBody>
      </p:sp>
      <p:sp>
        <p:nvSpPr>
          <p:cNvPr id="17" name="Shape 15"/>
          <p:cNvSpPr/>
          <p:nvPr/>
        </p:nvSpPr>
        <p:spPr>
          <a:xfrm>
            <a:off x="4617720" y="2403043"/>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476195"/>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GlideRecord('cmdb_ip_address_dns_name');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gr.addQuery('dns_name.name',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gr.addNotNullQuery('ip_address.nic.cmdb_ci');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gr.addQuery('ip_address.nic.cmdb_ci.sys_class_name',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'NOT IN', ignore);</a:t>
            </a:r>
            <a:endParaRPr lang="en-US" sz="800" dirty="0"/>
          </a:p>
        </p:txBody>
      </p:sp>
      <p:sp>
        <p:nvSpPr>
          <p:cNvPr id="19" name="Shape 17"/>
          <p:cNvSpPr/>
          <p:nvPr/>
        </p:nvSpPr>
        <p:spPr>
          <a:xfrm>
            <a:off x="457200" y="3525926"/>
            <a:ext cx="11274552" cy="1027786"/>
          </a:xfrm>
          <a:prstGeom prst="roundRect">
            <a:avLst>
              <a:gd name="adj" fmla="val 444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11803"/>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91180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617366"/>
            <a:ext cx="3246120" cy="84490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Count owners, note the IP path</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Each distinct CI is counted once; the CIs reached through the scanned address are remembered separately.</a:t>
            </a:r>
            <a:endParaRPr lang="en-US" sz="1200" dirty="0"/>
          </a:p>
        </p:txBody>
      </p:sp>
      <p:sp>
        <p:nvSpPr>
          <p:cNvPr id="23" name="Shape 21"/>
          <p:cNvSpPr/>
          <p:nvPr/>
        </p:nvSpPr>
        <p:spPr>
          <a:xfrm>
            <a:off x="4617720" y="3723437"/>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796589"/>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owner = '' + gr.ip_address.nic.cmdb_ci;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(ip &amp;&amp; ('' + gr.ip_address.ip_address)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ipOwners[owner] = true;</a:t>
            </a:r>
            <a:endParaRPr lang="en-US" sz="800" dirty="0"/>
          </a:p>
        </p:txBody>
      </p:sp>
      <p:sp>
        <p:nvSpPr>
          <p:cNvPr id="25" name="Shape 23"/>
          <p:cNvSpPr/>
          <p:nvPr/>
        </p:nvSpPr>
        <p:spPr>
          <a:xfrm>
            <a:off x="457200" y="4645152"/>
            <a:ext cx="11274552"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02352"/>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0235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736592"/>
            <a:ext cx="3246120" cy="98755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or the IP decides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name that resolves to two devices, an alias moved between hosts or an old and a new record, is taken only when exactly one is reached through the scanned IP.</a:t>
            </a:r>
            <a:endParaRPr lang="en-US" sz="1200" dirty="0"/>
          </a:p>
        </p:txBody>
      </p:sp>
      <p:sp>
        <p:nvSpPr>
          <p:cNvPr id="29" name="Shape 27"/>
          <p:cNvSpPr/>
          <p:nvPr/>
        </p:nvSpPr>
        <p:spPr>
          <a:xfrm>
            <a:off x="4617720" y="4913986"/>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4987138"/>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&gt; 1 &amp;&amp; Object.keys(ipOwners).length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Object.keys(ipOwners)[0];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and hostname-plus-domain rules read fields on the CI record.</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name exists only in the discovery DNS records, and aliases.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plain hostname rules and the full-FQDN name rule.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short hostname alone, inside the class the scanned OS points at. For CIs that carry only a short name and no domain information; the agreement between CI class and scanned OS stands in for the missing domain evidence.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named with the short hostname</a:t>
            </a:r>
            <a:endParaRPr lang="en-US" sz="1050" dirty="0"/>
          </a:p>
        </p:txBody>
      </p:sp>
      <p:sp>
        <p:nvSpPr>
          <p:cNvPr id="13" name="Shape 11"/>
          <p:cNvSpPr/>
          <p:nvPr/>
        </p:nvSpPr>
        <p:spPr>
          <a:xfrm>
            <a:off x="457200" y="2121408"/>
            <a:ext cx="11274552" cy="948538"/>
          </a:xfrm>
          <a:prstGeom prst="roundRect">
            <a:avLst>
              <a:gd name="adj" fmla="val 482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46766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46766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76565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Short label only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Everything from the first dot onwards is dropped; only the leading label is searched.</a:t>
            </a:r>
            <a:endParaRPr lang="en-US" sz="1200" dirty="0"/>
          </a:p>
        </p:txBody>
      </p:sp>
      <p:sp>
        <p:nvSpPr>
          <p:cNvPr id="17" name="Shape 15"/>
          <p:cNvSpPr/>
          <p:nvPr/>
        </p:nvSpPr>
        <p:spPr>
          <a:xfrm>
            <a:off x="4617720" y="2337816"/>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10968"/>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full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host = full.split('.')[0];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"wsaoi01zeapd1"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(!host) return null;</a:t>
            </a:r>
            <a:endParaRPr lang="en-US" sz="800" dirty="0"/>
          </a:p>
        </p:txBody>
      </p:sp>
      <p:sp>
        <p:nvSpPr>
          <p:cNvPr id="19" name="Shape 17"/>
          <p:cNvSpPr/>
          <p:nvPr/>
        </p:nvSpPr>
        <p:spPr>
          <a:xfrm>
            <a:off x="457200" y="3161386"/>
            <a:ext cx="11274552" cy="1091184"/>
          </a:xfrm>
          <a:prstGeom prst="roundRect">
            <a:avLst>
              <a:gd name="adj" fmla="val 419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57896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57896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252826"/>
            <a:ext cx="3246120" cy="90830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449117"/>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522269"/>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344010"/>
            <a:ext cx="11274552" cy="1471574"/>
          </a:xfrm>
          <a:prstGeom prst="roundRect">
            <a:avLst>
              <a:gd name="adj" fmla="val 31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51781"/>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495178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35450"/>
            <a:ext cx="3246120" cy="128869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Name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With no domain to confirm, the class is the only safeguard against a namesake, and inside the class the name must still be unique.</a:t>
            </a:r>
            <a:endParaRPr lang="en-US" sz="1200" dirty="0"/>
          </a:p>
        </p:txBody>
      </p:sp>
      <p:sp>
        <p:nvSpPr>
          <p:cNvPr id="29" name="Shape 27"/>
          <p:cNvSpPr/>
          <p:nvPr/>
        </p:nvSpPr>
        <p:spPr>
          <a:xfrm>
            <a:off x="4617720" y="4529328"/>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02480"/>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rule so far needed domain evidence on the CI.</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carries a short name and nothing else.</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short name rule with a class sanity check.</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410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short hostname across the whole hardware tree, with a check that the CI found does not contradict the scanned OS. For CIs classed generically (Server, Computer, UNIX Server) or differently from the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named with the hostname, class permitting</a:t>
            </a:r>
            <a:endParaRPr lang="en-US" sz="1050" dirty="0"/>
          </a:p>
        </p:txBody>
      </p:sp>
      <p:sp>
        <p:nvSpPr>
          <p:cNvPr id="13" name="Shape 11"/>
          <p:cNvSpPr/>
          <p:nvPr/>
        </p:nvSpPr>
        <p:spPr>
          <a:xfrm>
            <a:off x="457200" y="2121408"/>
            <a:ext cx="11274552" cy="1111910"/>
          </a:xfrm>
          <a:prstGeom prst="roundRect">
            <a:avLst>
              <a:gd name="adj" fmla="val 41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49347"/>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4934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29030"/>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becomes a preference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search is not filtered by class here. classFor() is still run, and its answer is used at the end as a veto rather than a filter.</a:t>
            </a:r>
            <a:endParaRPr lang="en-US" sz="1200" dirty="0"/>
          </a:p>
        </p:txBody>
      </p:sp>
      <p:sp>
        <p:nvSpPr>
          <p:cNvPr id="17" name="Shape 15"/>
          <p:cNvSpPr/>
          <p:nvPr/>
        </p:nvSpPr>
        <p:spPr>
          <a:xfrm>
            <a:off x="4617720" y="2419502"/>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92654"/>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may be empty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generic = {cmdb_ci_hardware: 1, cmdb_ci_computer: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cmdb_ci_server: 1, cmdb_ci_unix_server: 1};</a:t>
            </a:r>
            <a:endParaRPr lang="en-US" sz="800" dirty="0"/>
          </a:p>
        </p:txBody>
      </p:sp>
      <p:sp>
        <p:nvSpPr>
          <p:cNvPr id="19" name="Shape 17"/>
          <p:cNvSpPr/>
          <p:nvPr/>
        </p:nvSpPr>
        <p:spPr>
          <a:xfrm>
            <a:off x="457200" y="3324758"/>
            <a:ext cx="11274552" cy="1141171"/>
          </a:xfrm>
          <a:prstGeom prst="roundRect">
            <a:avLst>
              <a:gd name="adj" fmla="val 40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67328"/>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673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16198"/>
            <a:ext cx="3246120" cy="95829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carries the name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Two hardware CIs with one short name, a test and a production box or a retired and a rebuilt one, cannot be told apart by the name alone.</a:t>
            </a:r>
            <a:endParaRPr lang="en-US" sz="1200" dirty="0"/>
          </a:p>
        </p:txBody>
      </p:sp>
      <p:sp>
        <p:nvSpPr>
          <p:cNvPr id="23" name="Shape 21"/>
          <p:cNvSpPr/>
          <p:nvPr/>
        </p:nvSpPr>
        <p:spPr>
          <a:xfrm>
            <a:off x="4617720" y="3520440"/>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593592"/>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id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cls = '' + gr.getValue('sys_class_name');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shared name</a:t>
            </a:r>
            <a:endParaRPr lang="en-US" sz="800" dirty="0"/>
          </a:p>
        </p:txBody>
      </p:sp>
      <p:sp>
        <p:nvSpPr>
          <p:cNvPr id="25" name="Shape 23"/>
          <p:cNvSpPr/>
          <p:nvPr/>
        </p:nvSpPr>
        <p:spPr>
          <a:xfrm>
            <a:off x="457200" y="4557370"/>
            <a:ext cx="11274552" cy="1258214"/>
          </a:xfrm>
          <a:prstGeom prst="roundRect">
            <a:avLst>
              <a:gd name="adj" fmla="val 363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58461"/>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5846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48810"/>
            <a:ext cx="3246120" cy="107533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Veto a contradicting class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host that lands on a Windows Server by name when the scan says AIX is a namesake, not the same machine. Generic classes never contradict.</a:t>
            </a:r>
            <a:endParaRPr lang="en-US" sz="1200" dirty="0"/>
          </a:p>
        </p:txBody>
      </p:sp>
      <p:sp>
        <p:nvSpPr>
          <p:cNvPr id="29" name="Shape 27"/>
          <p:cNvSpPr/>
          <p:nvPr/>
        </p:nvSpPr>
        <p:spPr>
          <a:xfrm>
            <a:off x="4617720" y="4753051"/>
            <a:ext cx="6949440" cy="866851"/>
          </a:xfrm>
          <a:prstGeom prst="roundRect">
            <a:avLst>
              <a:gd name="adj" fmla="val 4219"/>
            </a:avLst>
          </a:prstGeom>
          <a:solidFill>
            <a:srgbClr val="1E2124"/>
          </a:solidFill>
          <a:ln w="12700">
            <a:solidFill>
              <a:srgbClr val="1E2124"/>
            </a:solidFill>
            <a:prstDash val="solid"/>
          </a:ln>
        </p:spPr>
      </p:sp>
      <p:sp>
        <p:nvSpPr>
          <p:cNvPr id="30" name="Text 28"/>
          <p:cNvSpPr txBox="1"/>
          <p:nvPr/>
        </p:nvSpPr>
        <p:spPr>
          <a:xfrm>
            <a:off x="4727448" y="4826203"/>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chk = new GlideRecord(pref);</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(!(chk.isValid() &amp;&amp; chk.get(id)) &amp;&amp; !generic[cls])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id;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rule required the name to be unique inside the OS class.</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generically classed, or whose OS gave no class.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full-FQDN name rule, then the address rules.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420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Management Interface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Server management controllers (HP iLO, Oracle ILOM, Dell iDRAC, IBM IMM, Cisco CIMC, BMC, IPMI) are scanned under their own label, the server name plus a suffix. The findings belong to the server, so the rule strips the suffix and matches the server.</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named like the label without its suffix</a:t>
            </a:r>
            <a:endParaRPr lang="en-US" sz="1050" dirty="0"/>
          </a:p>
        </p:txBody>
      </p:sp>
      <p:sp>
        <p:nvSpPr>
          <p:cNvPr id="13" name="Shape 11"/>
          <p:cNvSpPr/>
          <p:nvPr/>
        </p:nvSpPr>
        <p:spPr>
          <a:xfrm>
            <a:off x="457200" y="2121408"/>
            <a:ext cx="11274552" cy="1297229"/>
          </a:xfrm>
          <a:prstGeom prst="roundRect">
            <a:avLst>
              <a:gd name="adj" fmla="val 352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42006"/>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64200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11434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Two ways to recognise a controller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listed suffix after the last hyphen is the clean case. Otherwise a controller word in the OS text allows the last segment to be stripped whatever it is, which covers site-specific tails such as "-r".</a:t>
            </a:r>
            <a:endParaRPr lang="en-US" sz="1200" dirty="0"/>
          </a:p>
        </p:txBody>
      </p:sp>
      <p:sp>
        <p:nvSpPr>
          <p:cNvPr id="17" name="Shape 15"/>
          <p:cNvSpPr/>
          <p:nvPr/>
        </p:nvSpPr>
        <p:spPr>
          <a:xfrm>
            <a:off x="4617720" y="2336597"/>
            <a:ext cx="6949440" cy="866851"/>
          </a:xfrm>
          <a:prstGeom prst="roundRect">
            <a:avLst>
              <a:gd name="adj" fmla="val 4219"/>
            </a:avLst>
          </a:prstGeom>
          <a:solidFill>
            <a:srgbClr val="1E2124"/>
          </a:solidFill>
          <a:ln w="12700">
            <a:solidFill>
              <a:srgbClr val="1E2124"/>
            </a:solidFill>
            <a:prstDash val="solid"/>
          </a:ln>
        </p:spPr>
      </p:sp>
      <p:sp>
        <p:nvSpPr>
          <p:cNvPr id="18" name="Text 16"/>
          <p:cNvSpPr txBox="1"/>
          <p:nvPr/>
        </p:nvSpPr>
        <p:spPr>
          <a:xfrm>
            <a:off x="4727448" y="2409749"/>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tail = label.substring(dash + 1);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"ilo"</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(suffixes.indexOf(tail)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base = label.substring(0, dash);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"tx6dd630001"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else if (osNamesAController(os, markers))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base = label.substring(0, dash);</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(!base)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 a controller</a:t>
            </a:r>
            <a:endParaRPr lang="en-US" sz="800" dirty="0"/>
          </a:p>
        </p:txBody>
      </p:sp>
      <p:sp>
        <p:nvSpPr>
          <p:cNvPr id="19" name="Shape 17"/>
          <p:cNvSpPr/>
          <p:nvPr/>
        </p:nvSpPr>
        <p:spPr>
          <a:xfrm>
            <a:off x="457200" y="3510077"/>
            <a:ext cx="11274552" cy="1150925"/>
          </a:xfrm>
          <a:prstGeom prst="roundRect">
            <a:avLst>
              <a:gd name="adj" fmla="val 39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57523"/>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95752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601517"/>
            <a:ext cx="3246120" cy="96804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The server, uniquely named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controller can sit in front of a server, a storage node or a network device, so the whole hardware tree is searched.</a:t>
            </a:r>
            <a:endParaRPr lang="en-US" sz="1200" dirty="0"/>
          </a:p>
        </p:txBody>
      </p:sp>
      <p:sp>
        <p:nvSpPr>
          <p:cNvPr id="23" name="Shape 21"/>
          <p:cNvSpPr/>
          <p:nvPr/>
        </p:nvSpPr>
        <p:spPr>
          <a:xfrm>
            <a:off x="4617720" y="3769157"/>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842309"/>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base);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servers</a:t>
            </a:r>
            <a:endParaRPr lang="en-US" sz="800" dirty="0"/>
          </a:p>
        </p:txBody>
      </p:sp>
      <p:sp>
        <p:nvSpPr>
          <p:cNvPr id="25" name="Shape 23"/>
          <p:cNvSpPr/>
          <p:nvPr/>
        </p:nvSpPr>
        <p:spPr>
          <a:xfrm>
            <a:off x="457200" y="4752442"/>
            <a:ext cx="11274552" cy="1063142"/>
          </a:xfrm>
          <a:prstGeom prst="roundRect">
            <a:avLst>
              <a:gd name="adj" fmla="val 43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55997"/>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15599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43882"/>
            <a:ext cx="3246120" cy="88026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Never a load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balancer answering on a management address is still not the scanned host.</a:t>
            </a:r>
            <a:endParaRPr lang="en-US" sz="1200" dirty="0"/>
          </a:p>
        </p:txBody>
      </p:sp>
      <p:sp>
        <p:nvSpPr>
          <p:cNvPr id="29" name="Shape 27"/>
          <p:cNvSpPr/>
          <p:nvPr/>
        </p:nvSpPr>
        <p:spPr>
          <a:xfrm>
            <a:off x="4617720" y="4967630"/>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40782"/>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lb = new GlideRecord('cmdb_ci_lb');</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(lb.isValid() &amp;&amp; lb.get(match))</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rules tried the whole label and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ending in a listed suffix, or a controller named in the OS text.</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network interface rule and the full-FQDN name rule.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430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Network Interface Name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Network devices are scanned through their interface and VLAN addresses, each carrying a label of the device name plus an interface tail. The device CI is named with the leading part only, so the rule walks the label prefix by prefix.</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Network Gear or Load Balancer device named by a prefix</a:t>
            </a:r>
            <a:endParaRPr lang="en-US" sz="1050" dirty="0"/>
          </a:p>
        </p:txBody>
      </p:sp>
      <p:sp>
        <p:nvSpPr>
          <p:cNvPr id="13" name="Shape 11"/>
          <p:cNvSpPr/>
          <p:nvPr/>
        </p:nvSpPr>
        <p:spPr>
          <a:xfrm>
            <a:off x="457200" y="2121408"/>
            <a:ext cx="11274552" cy="1094842"/>
          </a:xfrm>
          <a:prstGeom prst="roundRect">
            <a:avLst>
              <a:gd name="adj" fmla="val 417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40813"/>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54081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1196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Interface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Plenty of ordinary server names contain hyphens. Without this check the prefix walk would strip real hostnames and could land on an unrelated device.</a:t>
            </a:r>
            <a:endParaRPr lang="en-US" sz="1200" dirty="0"/>
          </a:p>
        </p:txBody>
      </p:sp>
      <p:sp>
        <p:nvSpPr>
          <p:cNvPr id="17" name="Shape 15"/>
          <p:cNvSpPr/>
          <p:nvPr/>
        </p:nvSpPr>
        <p:spPr>
          <a:xfrm>
            <a:off x="4617720" y="2293925"/>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367077"/>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domains = list('usem.ci_lookup.interface_domains',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'.network.');</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markers = list('usem.ci_lookup.interface_markers',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'vlan,v,hsrp,vrrp,po,eth,gi,te,lo,aom,vs');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(!evidence) return null;</a:t>
            </a:r>
            <a:endParaRPr lang="en-US" sz="800" dirty="0"/>
          </a:p>
        </p:txBody>
      </p:sp>
      <p:sp>
        <p:nvSpPr>
          <p:cNvPr id="19" name="Shape 17"/>
          <p:cNvSpPr/>
          <p:nvPr/>
        </p:nvSpPr>
        <p:spPr>
          <a:xfrm>
            <a:off x="457200" y="3307690"/>
            <a:ext cx="11274552" cy="1208227"/>
          </a:xfrm>
          <a:prstGeom prst="roundRect">
            <a:avLst>
              <a:gd name="adj" fmla="val 378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83787"/>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78378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399130"/>
            <a:ext cx="3246120" cy="1025347"/>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Longest prefix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device name is the leading part but its length varies by site. Trying the longest prefix first stops "site-device-01" being cut down to "site" when a CI with the longer name exists.</a:t>
            </a:r>
            <a:endParaRPr lang="en-US" sz="1200" dirty="0"/>
          </a:p>
        </p:txBody>
      </p:sp>
      <p:sp>
        <p:nvSpPr>
          <p:cNvPr id="23" name="Shape 21"/>
          <p:cNvSpPr/>
          <p:nvPr/>
        </p:nvSpPr>
        <p:spPr>
          <a:xfrm>
            <a:off x="4617720" y="3536899"/>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610051"/>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for (var k = segments.length - 1; k &gt;= 1; k--)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base = segments.slice(0, k).join('-');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"...-cz04-hsrp", then "...-cz04", then the device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hits = searchBoth(base);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netgear + lb branches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(hits.length == 0) continue;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shorter prefix</a:t>
            </a:r>
            <a:endParaRPr lang="en-US" sz="800" dirty="0"/>
          </a:p>
        </p:txBody>
      </p:sp>
      <p:sp>
        <p:nvSpPr>
          <p:cNvPr id="25" name="Shape 23"/>
          <p:cNvSpPr/>
          <p:nvPr/>
        </p:nvSpPr>
        <p:spPr>
          <a:xfrm>
            <a:off x="457200" y="4607357"/>
            <a:ext cx="11274552" cy="1208227"/>
          </a:xfrm>
          <a:prstGeom prst="roundRect">
            <a:avLst>
              <a:gd name="adj" fmla="val 378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83454"/>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08345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98797"/>
            <a:ext cx="3246120" cy="1025347"/>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First prefix that hits decides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CI is the match; two devices with that name end the rule. Load Balancer devices sit under Server, not Network Gear, so both branches are searched and counted together.</a:t>
            </a:r>
            <a:endParaRPr lang="en-US" sz="1200" dirty="0"/>
          </a:p>
        </p:txBody>
      </p:sp>
      <p:sp>
        <p:nvSpPr>
          <p:cNvPr id="29" name="Shape 27"/>
          <p:cNvSpPr/>
          <p:nvPr/>
        </p:nvSpPr>
        <p:spPr>
          <a:xfrm>
            <a:off x="4617720" y="4895088"/>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4968240"/>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(hits.length &gt; 1)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hits[0];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rules tried the whole label; the controller rule found no suffix.</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under an interface domain, or carrying a marker segment.</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full-FQDN name rule and the load balancer service rule.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Name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Some loads name the CI with the whole FQDN string instead of the short hostname, typically the appliance domains ending in .rpg, so a short name search can never find them.</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name is exactly the scanned FQDN</a:t>
            </a:r>
            <a:endParaRPr lang="en-US" sz="1050" dirty="0"/>
          </a:p>
        </p:txBody>
      </p:sp>
      <p:sp>
        <p:nvSpPr>
          <p:cNvPr id="13" name="Shape 11"/>
          <p:cNvSpPr/>
          <p:nvPr/>
        </p:nvSpPr>
        <p:spPr>
          <a:xfrm>
            <a:off x="457200" y="2296973"/>
            <a:ext cx="11274552" cy="1364285"/>
          </a:xfrm>
          <a:prstGeom prst="roundRect">
            <a:avLst>
              <a:gd name="adj" fmla="val 335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88413"/>
            <a:ext cx="3246120" cy="118140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Compare the whole string</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complete lower-cased DNS name, domain included, is compared with the name field.</a:t>
            </a:r>
            <a:endParaRPr lang="en-US" sz="1200" dirty="0"/>
          </a:p>
        </p:txBody>
      </p:sp>
      <p:sp>
        <p:nvSpPr>
          <p:cNvPr id="17" name="Shape 15"/>
          <p:cNvSpPr/>
          <p:nvPr/>
        </p:nvSpPr>
        <p:spPr>
          <a:xfrm>
            <a:off x="4617720" y="2721254"/>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794406"/>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fqdn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(fqdn.indexOf('.') == -1)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bare label, not for us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752698"/>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6834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683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844138"/>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Hardware tree,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same uniqueness test as everywhere else; a shared full name is never guessed.</a:t>
            </a:r>
            <a:endParaRPr lang="en-US" sz="1200" dirty="0"/>
          </a:p>
        </p:txBody>
      </p:sp>
      <p:sp>
        <p:nvSpPr>
          <p:cNvPr id="23" name="Shape 21"/>
          <p:cNvSpPr/>
          <p:nvPr/>
        </p:nvSpPr>
        <p:spPr>
          <a:xfrm>
            <a:off x="4617720" y="4145890"/>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19042"/>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GlideRecord('cmdb_ci_hardware');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device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rule so far compared the short hostname or the fqdn field.</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CIs named with the full FQDN, invisible to the earlier rules.</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address rules, and finally the broad name rule.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460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Load Balancer Service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A virtual IP answered by a load balancer is not the balancer, and the hardware rules refuse the balancer device on purpose. Such hosts belong to the Load Balancer Service CI that models the VIP.</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 and the DNS name</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Load Balancer Service CI for that VIP</a:t>
            </a:r>
            <a:endParaRPr lang="en-US" sz="1050" dirty="0"/>
          </a:p>
        </p:txBody>
      </p:sp>
      <p:sp>
        <p:nvSpPr>
          <p:cNvPr id="13" name="Shape 11"/>
          <p:cNvSpPr/>
          <p:nvPr/>
        </p:nvSpPr>
        <p:spPr>
          <a:xfrm>
            <a:off x="457200" y="2121408"/>
            <a:ext cx="11274552" cy="1189939"/>
          </a:xfrm>
          <a:prstGeom prst="roundRect">
            <a:avLst>
              <a:gd name="adj" fmla="val 384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88362"/>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58836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00705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VIP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Load Balancer Service must never be returned for an ordinary server that happens to share an address with a VIP.</a:t>
            </a:r>
            <a:endParaRPr lang="en-US" sz="1200" dirty="0"/>
          </a:p>
        </p:txBody>
      </p:sp>
      <p:sp>
        <p:nvSpPr>
          <p:cNvPr id="17" name="Shape 15"/>
          <p:cNvSpPr/>
          <p:nvPr/>
        </p:nvSpPr>
        <p:spPr>
          <a:xfrm>
            <a:off x="4617720" y="2341474"/>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414626"/>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osMarkers = list('usem.ci_lookup.vip_os_markers',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'f5,big-ip,big ip,netscaler');</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labelMarkers = list('usem.ci_lookup.vip_markers',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'vip,vs');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(!evidence) return null;</a:t>
            </a:r>
            <a:endParaRPr lang="en-US" sz="800" dirty="0"/>
          </a:p>
        </p:txBody>
      </p:sp>
      <p:sp>
        <p:nvSpPr>
          <p:cNvPr id="19" name="Shape 17"/>
          <p:cNvSpPr/>
          <p:nvPr/>
        </p:nvSpPr>
        <p:spPr>
          <a:xfrm>
            <a:off x="457200" y="3402787"/>
            <a:ext cx="11274552" cy="1160678"/>
          </a:xfrm>
          <a:prstGeom prst="roundRect">
            <a:avLst>
              <a:gd name="adj" fmla="val 393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855110"/>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85511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94227"/>
            <a:ext cx="3246120" cy="9777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Strongest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DNS name as fqdn, then as name, then its label as name, then the scanned address. Running on the IP field means VIPs without a DNS name are covered too.</a:t>
            </a:r>
            <a:endParaRPr lang="en-US" sz="1200" dirty="0"/>
          </a:p>
        </p:txBody>
      </p:sp>
      <p:sp>
        <p:nvSpPr>
          <p:cNvPr id="23" name="Shape 21"/>
          <p:cNvSpPr/>
          <p:nvPr/>
        </p:nvSpPr>
        <p:spPr>
          <a:xfrm>
            <a:off x="4617720" y="3666744"/>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739896"/>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steps = [['fqdn', dns], ['name', dns],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['name', label], ['ip_address',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for (var t = 0; t &lt; steps.length; 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found = one(steps[t][0], steps[t][1]);</a:t>
            </a:r>
            <a:endParaRPr lang="en-US" sz="800" dirty="0"/>
          </a:p>
        </p:txBody>
      </p:sp>
      <p:sp>
        <p:nvSpPr>
          <p:cNvPr id="25" name="Shape 23"/>
          <p:cNvSpPr/>
          <p:nvPr/>
        </p:nvSpPr>
        <p:spPr>
          <a:xfrm>
            <a:off x="457200" y="4654906"/>
            <a:ext cx="11274552" cy="1160678"/>
          </a:xfrm>
          <a:prstGeom prst="roundRect">
            <a:avLst>
              <a:gd name="adj" fmla="val 393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07229"/>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10722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746346"/>
            <a:ext cx="3246120" cy="9777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Ambiguity stops the rule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step that finds two services ends the rule rather than falling through, because the weaker evidence could pick a different service.</a:t>
            </a:r>
            <a:endParaRPr lang="en-US" sz="1200" dirty="0"/>
          </a:p>
        </p:txBody>
      </p:sp>
      <p:sp>
        <p:nvSpPr>
          <p:cNvPr id="29" name="Shape 27"/>
          <p:cNvSpPr/>
          <p:nvPr/>
        </p:nvSpPr>
        <p:spPr>
          <a:xfrm>
            <a:off x="4617720" y="4918862"/>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4992014"/>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(found === null)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services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(found) return found;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exactly 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 rules declined: no serial, no server name, address on a balancer.</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load balancer OS word, or a VIP marker in the label.</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ordinary address rules, for hosts that are not VIPs.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first address rule. An address is the least trustworthy identifier: addresses move between machines and are shared by load balancers. It is used only for hosts with no serial and no usable name,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ip_address equals the scanned address</a:t>
            </a:r>
            <a:endParaRPr lang="en-US" sz="1050" dirty="0"/>
          </a:p>
        </p:txBody>
      </p:sp>
      <p:sp>
        <p:nvSpPr>
          <p:cNvPr id="13" name="Shape 11"/>
          <p:cNvSpPr/>
          <p:nvPr/>
        </p:nvSpPr>
        <p:spPr>
          <a:xfrm>
            <a:off x="457200" y="2121408"/>
            <a:ext cx="11274552" cy="985114"/>
          </a:xfrm>
          <a:prstGeom prst="roundRect">
            <a:avLst>
              <a:gd name="adj" fmla="val 46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48594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48594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0223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Addresses that identify nothing</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Loopback and link-local addresses appear on every machine and are refused before anything is searched.</a:t>
            </a:r>
            <a:endParaRPr lang="en-US" sz="1200" dirty="0"/>
          </a:p>
        </p:txBody>
      </p:sp>
      <p:sp>
        <p:nvSpPr>
          <p:cNvPr id="17" name="Shape 15"/>
          <p:cNvSpPr/>
          <p:nvPr/>
        </p:nvSpPr>
        <p:spPr>
          <a:xfrm>
            <a:off x="4617720" y="2297582"/>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370734"/>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ip = ('' + sourceValue).trim();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(!ip || ip.indexOf('127.') == 0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ip.indexOf('169.254.') ==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197962"/>
            <a:ext cx="11274552" cy="1072896"/>
          </a:xfrm>
          <a:prstGeom prst="roundRect">
            <a:avLst>
              <a:gd name="adj" fmla="val 42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60639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60639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289402"/>
            <a:ext cx="3246120" cy="89001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476549"/>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549701"/>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362298"/>
            <a:ext cx="11274552" cy="1453286"/>
          </a:xfrm>
          <a:prstGeom prst="roundRect">
            <a:avLst>
              <a:gd name="adj" fmla="val 31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60925"/>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4960925"/>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53738"/>
            <a:ext cx="3246120" cy="127040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Address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Inside the agreed class an address is reasonably safe: a virtual IP or a Windows machine that inherited it sits outside the class and never appears.</a:t>
            </a:r>
            <a:endParaRPr lang="en-US" sz="1200" dirty="0"/>
          </a:p>
        </p:txBody>
      </p:sp>
      <p:sp>
        <p:nvSpPr>
          <p:cNvPr id="29" name="Shape 27"/>
          <p:cNvSpPr/>
          <p:nvPr/>
        </p:nvSpPr>
        <p:spPr>
          <a:xfrm>
            <a:off x="4617720" y="4538472"/>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11624"/>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serial and name rule; a host with no DNS name makes them all decline.</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scanned without a name: management interfaces and appliances.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address rule, then the adapter and layered rules.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705</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address across the whole hardware tree, with two extra safety checks: the CI must not be a load balancer, and its class must not contradict the scanned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on that address, balancer and class permitting</a:t>
            </a:r>
            <a:endParaRPr lang="en-US" sz="1050" dirty="0"/>
          </a:p>
        </p:txBody>
      </p:sp>
      <p:sp>
        <p:nvSpPr>
          <p:cNvPr id="13" name="Shape 11"/>
          <p:cNvSpPr/>
          <p:nvPr/>
        </p:nvSpPr>
        <p:spPr>
          <a:xfrm>
            <a:off x="457200" y="2121408"/>
            <a:ext cx="11274552" cy="1131418"/>
          </a:xfrm>
          <a:prstGeom prst="roundRect">
            <a:avLst>
              <a:gd name="adj" fmla="val 40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5910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5910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4853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on the address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An address answered by several CIs, a shared virtual IP or an address reused after a rebuild, is never a safe match.</a:t>
            </a:r>
            <a:endParaRPr lang="en-US" sz="1200" dirty="0"/>
          </a:p>
        </p:txBody>
      </p:sp>
      <p:sp>
        <p:nvSpPr>
          <p:cNvPr id="17" name="Shape 15"/>
          <p:cNvSpPr/>
          <p:nvPr/>
        </p:nvSpPr>
        <p:spPr>
          <a:xfrm>
            <a:off x="4617720" y="2312213"/>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385365"/>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id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cls = '' + gr.getValue('sys_class_name');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shared address</a:t>
            </a:r>
            <a:endParaRPr lang="en-US" sz="800" dirty="0"/>
          </a:p>
        </p:txBody>
      </p:sp>
      <p:sp>
        <p:nvSpPr>
          <p:cNvPr id="19" name="Shape 17"/>
          <p:cNvSpPr/>
          <p:nvPr/>
        </p:nvSpPr>
        <p:spPr>
          <a:xfrm>
            <a:off x="457200" y="3344266"/>
            <a:ext cx="11274552" cy="1131418"/>
          </a:xfrm>
          <a:prstGeom prst="roundRect">
            <a:avLst>
              <a:gd name="adj" fmla="val 40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81958"/>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8195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35706"/>
            <a:ext cx="3246120" cy="94853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Reject a load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scanned address that belongs to a balancer is a virtual IP; the findings describe a pool member behind it, not the balancer.</a:t>
            </a:r>
            <a:endParaRPr lang="en-US" sz="1200" dirty="0"/>
          </a:p>
        </p:txBody>
      </p:sp>
      <p:sp>
        <p:nvSpPr>
          <p:cNvPr id="23" name="Shape 21"/>
          <p:cNvSpPr/>
          <p:nvPr/>
        </p:nvSpPr>
        <p:spPr>
          <a:xfrm>
            <a:off x="4617720" y="3535070"/>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608222"/>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function isLoadBalancer(id)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lb = new GlideRecord('cmdb_ci_lb');</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lb.isValid() &amp;&amp; lb.get(id);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(isLoadBalancer(id)) return null;</a:t>
            </a:r>
            <a:endParaRPr lang="en-US" sz="800" dirty="0"/>
          </a:p>
        </p:txBody>
      </p:sp>
      <p:sp>
        <p:nvSpPr>
          <p:cNvPr id="25" name="Shape 23"/>
          <p:cNvSpPr/>
          <p:nvPr/>
        </p:nvSpPr>
        <p:spPr>
          <a:xfrm>
            <a:off x="457200" y="4567123"/>
            <a:ext cx="11274552" cy="1248461"/>
          </a:xfrm>
          <a:prstGeom prst="roundRect">
            <a:avLst>
              <a:gd name="adj" fmla="val 366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63338"/>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6333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58563"/>
            <a:ext cx="3246120" cy="106558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Veto a contradicting class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same class veto as the hostname rule: the CI must sit in the class the OS implies, or be generically classed.</a:t>
            </a:r>
            <a:endParaRPr lang="en-US" sz="1200" dirty="0"/>
          </a:p>
        </p:txBody>
      </p:sp>
      <p:sp>
        <p:nvSpPr>
          <p:cNvPr id="29" name="Shape 27"/>
          <p:cNvSpPr/>
          <p:nvPr/>
        </p:nvSpPr>
        <p:spPr>
          <a:xfrm>
            <a:off x="4617720" y="4757928"/>
            <a:ext cx="6949440" cy="866851"/>
          </a:xfrm>
          <a:prstGeom prst="roundRect">
            <a:avLst>
              <a:gd name="adj" fmla="val 4219"/>
            </a:avLst>
          </a:prstGeom>
          <a:solidFill>
            <a:srgbClr val="1E2124"/>
          </a:solidFill>
          <a:ln w="12700">
            <a:solidFill>
              <a:srgbClr val="1E2124"/>
            </a:solidFill>
            <a:prstDash val="solid"/>
          </a:ln>
        </p:spPr>
      </p:sp>
      <p:sp>
        <p:nvSpPr>
          <p:cNvPr id="30" name="Text 28"/>
          <p:cNvSpPr txBox="1"/>
          <p:nvPr/>
        </p:nvSpPr>
        <p:spPr>
          <a:xfrm>
            <a:off x="4727448" y="4831080"/>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chk = new GlideRecord(pref);</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(!(chk.isValid() &amp;&amp; chk.get(id)) &amp;&amp; !generic[cls])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id;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address rule required a CI of the OS class.</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nameless hosts whose CI is generically classed or whose OS gave no class.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adapter rule and the layered address rule.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730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Adapter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Discovery stores one Network Adapter record per network card, and a multi-homed server keeps its addresses there rather than on the CI record. This rule finds the adapter carrying the address and takes its owning CI.</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that owns the adapter carrying the scanned address</a:t>
            </a:r>
            <a:endParaRPr lang="en-US" sz="1050" dirty="0"/>
          </a:p>
        </p:txBody>
      </p:sp>
      <p:sp>
        <p:nvSpPr>
          <p:cNvPr id="13" name="Shape 11"/>
          <p:cNvSpPr/>
          <p:nvPr/>
        </p:nvSpPr>
        <p:spPr>
          <a:xfrm>
            <a:off x="457200" y="2328062"/>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90962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90962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419502"/>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Adapters, not CIs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Adapters carrying the scanned address whose owning CI is outside the ignored classes.</a:t>
            </a:r>
            <a:endParaRPr lang="en-US" sz="1200" dirty="0"/>
          </a:p>
        </p:txBody>
      </p:sp>
      <p:sp>
        <p:nvSpPr>
          <p:cNvPr id="17" name="Shape 15"/>
          <p:cNvSpPr/>
          <p:nvPr/>
        </p:nvSpPr>
        <p:spPr>
          <a:xfrm>
            <a:off x="4617720" y="2721254"/>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794406"/>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nic = new GlideRecord('cmdb_ci_network_adapter');</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nic.addNotNullQuery('cmdb_ci');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must belong to a 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nic.addQuery('cmdb_ci.sys_class_name', 'NOT IN', ignore);</a:t>
            </a:r>
            <a:endParaRPr lang="en-US" sz="800" dirty="0"/>
          </a:p>
        </p:txBody>
      </p:sp>
      <p:sp>
        <p:nvSpPr>
          <p:cNvPr id="19" name="Shape 17"/>
          <p:cNvSpPr/>
          <p:nvPr/>
        </p:nvSpPr>
        <p:spPr>
          <a:xfrm>
            <a:off x="457200" y="3838651"/>
            <a:ext cx="11274552" cy="1770278"/>
          </a:xfrm>
          <a:prstGeom prst="roundRect">
            <a:avLst>
              <a:gd name="adj" fmla="val 25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30091"/>
            <a:ext cx="3246120" cy="15873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Count owners, not rows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server with two adapters on the address counts once; two servers count twice and cannot be told apart by the address.</a:t>
            </a:r>
            <a:endParaRPr lang="en-US" sz="1200" dirty="0"/>
          </a:p>
        </p:txBody>
      </p:sp>
      <p:sp>
        <p:nvSpPr>
          <p:cNvPr id="23" name="Shape 21"/>
          <p:cNvSpPr/>
          <p:nvPr/>
        </p:nvSpPr>
        <p:spPr>
          <a:xfrm>
            <a:off x="4617720" y="4231843"/>
            <a:ext cx="6949440" cy="983894"/>
          </a:xfrm>
          <a:prstGeom prst="roundRect">
            <a:avLst>
              <a:gd name="adj" fmla="val 3717"/>
            </a:avLst>
          </a:prstGeom>
          <a:solidFill>
            <a:srgbClr val="1E2124"/>
          </a:solidFill>
          <a:ln w="12700">
            <a:solidFill>
              <a:srgbClr val="1E2124"/>
            </a:solidFill>
            <a:prstDash val="solid"/>
          </a:ln>
        </p:spPr>
      </p:sp>
      <p:sp>
        <p:nvSpPr>
          <p:cNvPr id="24" name="Text 22"/>
          <p:cNvSpPr txBox="1"/>
          <p:nvPr/>
        </p:nvSpPr>
        <p:spPr>
          <a:xfrm>
            <a:off x="4727448" y="4304995"/>
            <a:ext cx="6729984" cy="837590"/>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(nic.next())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owner = nic.getValue('cmdb_ci');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&amp;&amp; !isLoadBalancer(first))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address rules so far read the ip_address field of the CI record.</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address is recorded on an adapter only.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layered address rule and then the broad name rule.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740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Layered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Newer discovery writes each address as its own IP Address record linked to the adapter, and the adapter record itself may carry no address. This rule reads those records, two links from the CI.</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at the end of IP Address to adapter to CI</a:t>
            </a:r>
            <a:endParaRPr lang="en-US" sz="1050" dirty="0"/>
          </a:p>
        </p:txBody>
      </p:sp>
      <p:sp>
        <p:nvSpPr>
          <p:cNvPr id="13" name="Shape 11"/>
          <p:cNvSpPr/>
          <p:nvPr/>
        </p:nvSpPr>
        <p:spPr>
          <a:xfrm>
            <a:off x="457200" y="2445106"/>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3026664"/>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30266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536546"/>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Two links away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nic.cmdb_ci reaches the CI through the adapter; the chain must end on a CI outside the ignored classes.</a:t>
            </a:r>
            <a:endParaRPr lang="en-US" sz="1200" dirty="0"/>
          </a:p>
        </p:txBody>
      </p:sp>
      <p:sp>
        <p:nvSpPr>
          <p:cNvPr id="17" name="Shape 15"/>
          <p:cNvSpPr/>
          <p:nvPr/>
        </p:nvSpPr>
        <p:spPr>
          <a:xfrm>
            <a:off x="4617720" y="2838298"/>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911450"/>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ipGr = new GlideRecord('cmdb_ci_ip_address');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ipGr.addNotNullQuery('nic.cmdb_ci');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ipGr.addQuery('nic.cmdb_ci.sys_class_name', 'NOT IN', ignore);</a:t>
            </a:r>
            <a:endParaRPr lang="en-US" sz="800" dirty="0"/>
          </a:p>
        </p:txBody>
      </p:sp>
      <p:sp>
        <p:nvSpPr>
          <p:cNvPr id="19" name="Shape 17"/>
          <p:cNvSpPr/>
          <p:nvPr/>
        </p:nvSpPr>
        <p:spPr>
          <a:xfrm>
            <a:off x="457200" y="3955694"/>
            <a:ext cx="11274552" cy="1536192"/>
          </a:xfrm>
          <a:prstGeom prst="roundRect">
            <a:avLst>
              <a:gd name="adj" fmla="val 297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4047134"/>
            <a:ext cx="3246120" cy="135331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owner, and not a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Identical decision to the adapter rule: one device with two address records counts once, two devices decline, and a balancer is refused.</a:t>
            </a:r>
            <a:endParaRPr lang="en-US" sz="1200" dirty="0"/>
          </a:p>
        </p:txBody>
      </p:sp>
      <p:sp>
        <p:nvSpPr>
          <p:cNvPr id="23" name="Shape 21"/>
          <p:cNvSpPr/>
          <p:nvPr/>
        </p:nvSpPr>
        <p:spPr>
          <a:xfrm>
            <a:off x="4617720" y="4348886"/>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4422038"/>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owner = '' + ipGr.nic.cmdb_ci;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&amp;&amp; !isLoadBalancer(first))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adapter rule looked for the address on the adapter records.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address exists only as an IP Address record.</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broad name rule, and after that the out-of-box Qualys rules.</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24272A"/>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850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Name Broad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BROAD FALLBACK</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one deliberately late, broad fallback: a CI named with the full FQDN anywhere in the CI table, classes outside the hardware tree included, such as a virtual machine instance.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in any class named exactly with the scanned FQDN</a:t>
            </a:r>
            <a:endParaRPr lang="en-US" sz="1050" dirty="0"/>
          </a:p>
        </p:txBody>
      </p:sp>
      <p:sp>
        <p:nvSpPr>
          <p:cNvPr id="13" name="Shape 11"/>
          <p:cNvSpPr/>
          <p:nvPr/>
        </p:nvSpPr>
        <p:spPr>
          <a:xfrm>
            <a:off x="457200" y="2154326"/>
            <a:ext cx="11274552" cy="1649578"/>
          </a:xfrm>
          <a:prstGeom prst="roundRect">
            <a:avLst>
              <a:gd name="adj" fmla="val 27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24272A"/>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45766"/>
            <a:ext cx="3246120" cy="14666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Why it runs last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This is the only USEM rule that searches outside the hardware tree. Every more precise rule has had its chance, and the ignore list still keeps placeholder classes out.</a:t>
            </a:r>
            <a:endParaRPr lang="en-US" sz="1200" dirty="0"/>
          </a:p>
        </p:txBody>
      </p:sp>
      <p:sp>
        <p:nvSpPr>
          <p:cNvPr id="17" name="Shape 15"/>
          <p:cNvSpPr/>
          <p:nvPr/>
        </p:nvSpPr>
        <p:spPr>
          <a:xfrm>
            <a:off x="4617720" y="2779776"/>
            <a:ext cx="6949440" cy="398678"/>
          </a:xfrm>
          <a:prstGeom prst="roundRect">
            <a:avLst>
              <a:gd name="adj" fmla="val 9174"/>
            </a:avLst>
          </a:prstGeom>
          <a:solidFill>
            <a:srgbClr val="1E2124"/>
          </a:solidFill>
          <a:ln w="12700">
            <a:solidFill>
              <a:srgbClr val="1E2124"/>
            </a:solidFill>
            <a:prstDash val="solid"/>
          </a:ln>
        </p:spPr>
      </p:sp>
      <p:sp>
        <p:nvSpPr>
          <p:cNvPr id="18" name="Text 16"/>
          <p:cNvSpPr txBox="1"/>
          <p:nvPr/>
        </p:nvSpPr>
        <p:spPr>
          <a:xfrm>
            <a:off x="4727448" y="2852928"/>
            <a:ext cx="6729984" cy="25237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fqdn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(fqdn.indexOf('.') == -1) return null;</a:t>
            </a:r>
            <a:endParaRPr lang="en-US" sz="800" dirty="0"/>
          </a:p>
        </p:txBody>
      </p:sp>
      <p:sp>
        <p:nvSpPr>
          <p:cNvPr id="19" name="Shape 17"/>
          <p:cNvSpPr/>
          <p:nvPr/>
        </p:nvSpPr>
        <p:spPr>
          <a:xfrm>
            <a:off x="457200" y="3895344"/>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710989"/>
            <a:ext cx="256032" cy="256032"/>
          </a:xfrm>
          <a:prstGeom prst="roundRect">
            <a:avLst>
              <a:gd name="adj" fmla="val 32143"/>
            </a:avLst>
          </a:prstGeom>
          <a:solidFill>
            <a:srgbClr val="24272A"/>
          </a:solidFill>
          <a:ln w="12700">
            <a:solidFill>
              <a:srgbClr val="333333"/>
            </a:solidFill>
            <a:prstDash val="solid"/>
          </a:ln>
        </p:spPr>
      </p:sp>
      <p:sp>
        <p:nvSpPr>
          <p:cNvPr id="21" name="Text 19"/>
          <p:cNvSpPr txBox="1"/>
          <p:nvPr/>
        </p:nvSpPr>
        <p:spPr>
          <a:xfrm>
            <a:off x="658368" y="471098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86784"/>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Root CI table,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cmdb_ci is the root of every class. The uniqueness test is unchanged.</a:t>
            </a:r>
            <a:endParaRPr lang="en-US" sz="1200" dirty="0"/>
          </a:p>
        </p:txBody>
      </p:sp>
      <p:sp>
        <p:nvSpPr>
          <p:cNvPr id="23" name="Shape 21"/>
          <p:cNvSpPr/>
          <p:nvPr/>
        </p:nvSpPr>
        <p:spPr>
          <a:xfrm>
            <a:off x="4617720" y="4288536"/>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361688"/>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hardware-scoped rule has declined for this host.</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rare CI named with the full FQDN that lives outside the hardware tree.</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out-of-box Qualys rules: host id, cloud resource id, FQDN, NetBIOS, DNS.</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unmatched backlog</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What the unresolved population is actually made of, and the three rules built to reach it.</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281,700 hosts are made of</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evidence they carry</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Six properties that tune the rules</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ANALYSIS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281,700 unmatched hosts are made of</a:t>
            </a:r>
            <a:endParaRPr lang="en-US" sz="3000" dirty="0"/>
          </a:p>
        </p:txBody>
      </p:sp>
      <p:sp>
        <p:nvSpPr>
          <p:cNvPr id="4" name="Text 2"/>
          <p:cNvSpPr txBox="1"/>
          <p:nvPr/>
        </p:nvSpPr>
        <p:spPr>
          <a:xfrm>
            <a:off x="457200" y="1298448"/>
            <a:ext cx="11247120" cy="329184"/>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A spread sample of the unresolved Discovered Items was profiled by the evidence each host carries, then projected across the whole population. Three groups stood out as reachable by rules that did not yet exist.</a:t>
            </a:r>
            <a:endParaRPr lang="en-US" sz="1200" dirty="0"/>
          </a:p>
        </p:txBody>
      </p:sp>
      <p:graphicFrame>
        <p:nvGraphicFramePr>
          <p:cNvPr id="5" name="Chart 0" descr=""/>
          <p:cNvGraphicFramePr/>
          <p:nvPr/>
        </p:nvGraphicFramePr>
        <p:xfrm>
          <a:off x="457200" y="175564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607808" y="1755648"/>
            <a:ext cx="4114800" cy="274320"/>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The three gaps, and the rules that close them</a:t>
            </a:r>
            <a:endParaRPr lang="en-US" sz="1350" dirty="0"/>
          </a:p>
        </p:txBody>
      </p:sp>
      <p:sp>
        <p:nvSpPr>
          <p:cNvPr id="7" name="Shape 4"/>
          <p:cNvSpPr/>
          <p:nvPr/>
        </p:nvSpPr>
        <p:spPr>
          <a:xfrm>
            <a:off x="7607808" y="2139696"/>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Shape 5"/>
          <p:cNvSpPr/>
          <p:nvPr/>
        </p:nvSpPr>
        <p:spPr>
          <a:xfrm>
            <a:off x="7790688" y="2286000"/>
            <a:ext cx="566928" cy="310896"/>
          </a:xfrm>
          <a:prstGeom prst="roundRect">
            <a:avLst>
              <a:gd name="adj" fmla="val 47059"/>
            </a:avLst>
          </a:prstGeom>
          <a:solidFill>
            <a:srgbClr val="E31837"/>
          </a:solidFill>
          <a:ln w="12700">
            <a:solidFill>
              <a:srgbClr val="333333"/>
            </a:solidFill>
            <a:prstDash val="solid"/>
          </a:ln>
        </p:spPr>
      </p:sp>
      <p:sp>
        <p:nvSpPr>
          <p:cNvPr id="9" name="Text 6"/>
          <p:cNvSpPr txBox="1"/>
          <p:nvPr/>
        </p:nvSpPr>
        <p:spPr>
          <a:xfrm>
            <a:off x="7790688" y="2286000"/>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10" name="Text 7"/>
          <p:cNvSpPr txBox="1"/>
          <p:nvPr/>
        </p:nvSpPr>
        <p:spPr>
          <a:xfrm>
            <a:off x="8449056" y="2286000"/>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Virtual IPs</a:t>
            </a:r>
            <a:endParaRPr lang="en-US" sz="1200" dirty="0"/>
          </a:p>
        </p:txBody>
      </p:sp>
      <p:sp>
        <p:nvSpPr>
          <p:cNvPr id="11" name="Text 8"/>
          <p:cNvSpPr txBox="1"/>
          <p:nvPr/>
        </p:nvSpPr>
        <p:spPr>
          <a:xfrm>
            <a:off x="7790688" y="2633472"/>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71,892 hosts</a:t>
            </a:r>
            <a:endParaRPr lang="en-US" sz="1050" dirty="0"/>
          </a:p>
        </p:txBody>
      </p:sp>
      <p:sp>
        <p:nvSpPr>
          <p:cNvPr id="12" name="Text 9"/>
          <p:cNvSpPr txBox="1"/>
          <p:nvPr/>
        </p:nvSpPr>
        <p:spPr>
          <a:xfrm>
            <a:off x="7790688" y="2852928"/>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Refused by every hardware rule on purpose, because the address belongs to a balancer.</a:t>
            </a:r>
            <a:endParaRPr lang="en-US" sz="950" dirty="0"/>
          </a:p>
        </p:txBody>
      </p:sp>
      <p:sp>
        <p:nvSpPr>
          <p:cNvPr id="13" name="Shape 10"/>
          <p:cNvSpPr/>
          <p:nvPr/>
        </p:nvSpPr>
        <p:spPr>
          <a:xfrm>
            <a:off x="7607808" y="3438144"/>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1"/>
          <p:cNvSpPr/>
          <p:nvPr/>
        </p:nvSpPr>
        <p:spPr>
          <a:xfrm>
            <a:off x="7790688" y="3584448"/>
            <a:ext cx="566928" cy="310896"/>
          </a:xfrm>
          <a:prstGeom prst="roundRect">
            <a:avLst>
              <a:gd name="adj" fmla="val 47059"/>
            </a:avLst>
          </a:prstGeom>
          <a:solidFill>
            <a:srgbClr val="E31837"/>
          </a:solidFill>
          <a:ln w="12700">
            <a:solidFill>
              <a:srgbClr val="333333"/>
            </a:solidFill>
            <a:prstDash val="solid"/>
          </a:ln>
        </p:spPr>
      </p:sp>
      <p:sp>
        <p:nvSpPr>
          <p:cNvPr id="15" name="Text 12"/>
          <p:cNvSpPr txBox="1"/>
          <p:nvPr/>
        </p:nvSpPr>
        <p:spPr>
          <a:xfrm>
            <a:off x="7790688" y="358444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16" name="Text 13"/>
          <p:cNvSpPr txBox="1"/>
          <p:nvPr/>
        </p:nvSpPr>
        <p:spPr>
          <a:xfrm>
            <a:off x="8449056" y="3584448"/>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Interface and VLAN addresses</a:t>
            </a:r>
            <a:endParaRPr lang="en-US" sz="1200" dirty="0"/>
          </a:p>
        </p:txBody>
      </p:sp>
      <p:sp>
        <p:nvSpPr>
          <p:cNvPr id="17" name="Text 14"/>
          <p:cNvSpPr txBox="1"/>
          <p:nvPr/>
        </p:nvSpPr>
        <p:spPr>
          <a:xfrm>
            <a:off x="7790688" y="3931920"/>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47,420 hosts</a:t>
            </a:r>
            <a:endParaRPr lang="en-US" sz="1050" dirty="0"/>
          </a:p>
        </p:txBody>
      </p:sp>
      <p:sp>
        <p:nvSpPr>
          <p:cNvPr id="18" name="Text 15"/>
          <p:cNvSpPr txBox="1"/>
          <p:nvPr/>
        </p:nvSpPr>
        <p:spPr>
          <a:xfrm>
            <a:off x="7790688" y="4151376"/>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label names a port on a device, so the whole label never matches a CI name.</a:t>
            </a:r>
            <a:endParaRPr lang="en-US" sz="950" dirty="0"/>
          </a:p>
        </p:txBody>
      </p:sp>
      <p:sp>
        <p:nvSpPr>
          <p:cNvPr id="19" name="Shape 16"/>
          <p:cNvSpPr/>
          <p:nvPr/>
        </p:nvSpPr>
        <p:spPr>
          <a:xfrm>
            <a:off x="7607808" y="4736592"/>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7"/>
          <p:cNvSpPr/>
          <p:nvPr/>
        </p:nvSpPr>
        <p:spPr>
          <a:xfrm>
            <a:off x="7790688" y="4882896"/>
            <a:ext cx="566928" cy="310896"/>
          </a:xfrm>
          <a:prstGeom prst="roundRect">
            <a:avLst>
              <a:gd name="adj" fmla="val 47059"/>
            </a:avLst>
          </a:prstGeom>
          <a:solidFill>
            <a:srgbClr val="E31837"/>
          </a:solidFill>
          <a:ln w="12700">
            <a:solidFill>
              <a:srgbClr val="333333"/>
            </a:solidFill>
            <a:prstDash val="solid"/>
          </a:ln>
        </p:spPr>
      </p:sp>
      <p:sp>
        <p:nvSpPr>
          <p:cNvPr id="21" name="Text 18"/>
          <p:cNvSpPr txBox="1"/>
          <p:nvPr/>
        </p:nvSpPr>
        <p:spPr>
          <a:xfrm>
            <a:off x="7790688" y="4882896"/>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22" name="Text 19"/>
          <p:cNvSpPr txBox="1"/>
          <p:nvPr/>
        </p:nvSpPr>
        <p:spPr>
          <a:xfrm>
            <a:off x="8449056" y="4882896"/>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Management controllers</a:t>
            </a:r>
            <a:endParaRPr lang="en-US" sz="1200" dirty="0"/>
          </a:p>
        </p:txBody>
      </p:sp>
      <p:sp>
        <p:nvSpPr>
          <p:cNvPr id="23" name="Text 20"/>
          <p:cNvSpPr txBox="1"/>
          <p:nvPr/>
        </p:nvSpPr>
        <p:spPr>
          <a:xfrm>
            <a:off x="7790688" y="5230368"/>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4,402 hosts</a:t>
            </a:r>
            <a:endParaRPr lang="en-US" sz="1050" dirty="0"/>
          </a:p>
        </p:txBody>
      </p:sp>
      <p:sp>
        <p:nvSpPr>
          <p:cNvPr id="24" name="Text 21"/>
          <p:cNvSpPr txBox="1"/>
          <p:nvPr/>
        </p:nvSpPr>
        <p:spPr>
          <a:xfrm>
            <a:off x="7790688" y="5449824"/>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label is the server name plus a suffix, so the server is never found under it.</a:t>
            </a:r>
            <a:endParaRPr lang="en-US" sz="950" dirty="0"/>
          </a:p>
        </p:txBody>
      </p:sp>
      <p:sp>
        <p:nvSpPr>
          <p:cNvPr id="25" name="Text 22"/>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Counts are projections from the profiled sample onto 281,700 unmatched Discovered Items, so treat them as proportions rather than exact totals.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ANALYSIS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evidence those hosts actually carry</a:t>
            </a:r>
            <a:endParaRPr lang="en-US" sz="3000" dirty="0"/>
          </a:p>
        </p:txBody>
      </p:sp>
      <p:sp>
        <p:nvSpPr>
          <p:cNvPr id="4" name="Shape 2"/>
          <p:cNvSpPr/>
          <p:nvPr/>
        </p:nvSpPr>
        <p:spPr>
          <a:xfrm>
            <a:off x="45720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85.9%</a:t>
            </a:r>
            <a:endParaRPr lang="en-US" sz="3600" dirty="0"/>
          </a:p>
        </p:txBody>
      </p:sp>
      <p:sp>
        <p:nvSpPr>
          <p:cNvPr id="6" name="Text 4"/>
          <p:cNvSpPr txBox="1"/>
          <p:nvPr/>
        </p:nvSpPr>
        <p:spPr>
          <a:xfrm>
            <a:off x="68580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carry a DNS name</a:t>
            </a:r>
            <a:endParaRPr lang="en-US" sz="1250" dirty="0"/>
          </a:p>
        </p:txBody>
      </p:sp>
      <p:sp>
        <p:nvSpPr>
          <p:cNvPr id="7" name="Text 5"/>
          <p:cNvSpPr txBox="1"/>
          <p:nvPr/>
        </p:nvSpPr>
        <p:spPr>
          <a:xfrm>
            <a:off x="68580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name rules do most of the work</a:t>
            </a:r>
            <a:endParaRPr lang="en-US" sz="1050" dirty="0"/>
          </a:p>
        </p:txBody>
      </p:sp>
      <p:sp>
        <p:nvSpPr>
          <p:cNvPr id="8" name="Shape 6"/>
          <p:cNvSpPr/>
          <p:nvPr/>
        </p:nvSpPr>
        <p:spPr>
          <a:xfrm>
            <a:off x="425196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448056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0.3%</a:t>
            </a:r>
            <a:endParaRPr lang="en-US" sz="3600" dirty="0"/>
          </a:p>
        </p:txBody>
      </p:sp>
      <p:sp>
        <p:nvSpPr>
          <p:cNvPr id="10" name="Text 8"/>
          <p:cNvSpPr txBox="1"/>
          <p:nvPr/>
        </p:nvSpPr>
        <p:spPr>
          <a:xfrm>
            <a:off x="448056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carry a serial number</a:t>
            </a:r>
            <a:endParaRPr lang="en-US" sz="1250" dirty="0"/>
          </a:p>
        </p:txBody>
      </p:sp>
      <p:sp>
        <p:nvSpPr>
          <p:cNvPr id="11" name="Text 9"/>
          <p:cNvSpPr txBox="1"/>
          <p:nvPr/>
        </p:nvSpPr>
        <p:spPr>
          <a:xfrm>
            <a:off x="448056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the strongest rule reaches almost nobody</a:t>
            </a:r>
            <a:endParaRPr lang="en-US" sz="1050" dirty="0"/>
          </a:p>
        </p:txBody>
      </p:sp>
      <p:sp>
        <p:nvSpPr>
          <p:cNvPr id="12" name="Shape 10"/>
          <p:cNvSpPr/>
          <p:nvPr/>
        </p:nvSpPr>
        <p:spPr>
          <a:xfrm>
            <a:off x="804672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827532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32.6%</a:t>
            </a:r>
            <a:endParaRPr lang="en-US" sz="3600" dirty="0"/>
          </a:p>
        </p:txBody>
      </p:sp>
      <p:sp>
        <p:nvSpPr>
          <p:cNvPr id="14" name="Text 12"/>
          <p:cNvSpPr txBox="1"/>
          <p:nvPr/>
        </p:nvSpPr>
        <p:spPr>
          <a:xfrm>
            <a:off x="827532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report no OS text</a:t>
            </a:r>
            <a:endParaRPr lang="en-US" sz="1250" dirty="0"/>
          </a:p>
        </p:txBody>
      </p:sp>
      <p:sp>
        <p:nvSpPr>
          <p:cNvPr id="15" name="Text 13"/>
          <p:cNvSpPr txBox="1"/>
          <p:nvPr/>
        </p:nvSpPr>
        <p:spPr>
          <a:xfrm>
            <a:off x="827532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a third of hosts get no class evidence</a:t>
            </a:r>
            <a:endParaRPr lang="en-US" sz="1050" dirty="0"/>
          </a:p>
        </p:txBody>
      </p:sp>
      <p:sp>
        <p:nvSpPr>
          <p:cNvPr id="16" name="Shape 14"/>
          <p:cNvSpPr/>
          <p:nvPr/>
        </p:nvSpPr>
        <p:spPr>
          <a:xfrm>
            <a:off x="457200" y="2962656"/>
            <a:ext cx="5532120" cy="274320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3090672"/>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full picture</a:t>
            </a:r>
            <a:endParaRPr lang="en-US" sz="1400" dirty="0"/>
          </a:p>
        </p:txBody>
      </p:sp>
      <p:sp>
        <p:nvSpPr>
          <p:cNvPr id="18" name="Text 16"/>
          <p:cNvSpPr txBox="1"/>
          <p:nvPr/>
        </p:nvSpPr>
        <p:spPr>
          <a:xfrm>
            <a:off x="685800" y="343814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DNS name</a:t>
            </a:r>
            <a:endParaRPr lang="en-US" sz="1000" dirty="0"/>
          </a:p>
        </p:txBody>
      </p:sp>
      <p:sp>
        <p:nvSpPr>
          <p:cNvPr id="19" name="Text 17"/>
          <p:cNvSpPr txBox="1"/>
          <p:nvPr/>
        </p:nvSpPr>
        <p:spPr>
          <a:xfrm>
            <a:off x="3931920" y="343814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85.9%</a:t>
            </a:r>
            <a:endParaRPr lang="en-US" sz="1000" dirty="0"/>
          </a:p>
        </p:txBody>
      </p:sp>
      <p:sp>
        <p:nvSpPr>
          <p:cNvPr id="20" name="Text 18"/>
          <p:cNvSpPr txBox="1"/>
          <p:nvPr/>
        </p:nvSpPr>
        <p:spPr>
          <a:xfrm>
            <a:off x="4800600" y="343814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241,910</a:t>
            </a:r>
            <a:endParaRPr lang="en-US" sz="1000" dirty="0"/>
          </a:p>
        </p:txBody>
      </p:sp>
      <p:sp>
        <p:nvSpPr>
          <p:cNvPr id="21" name="Text 19"/>
          <p:cNvSpPr txBox="1"/>
          <p:nvPr/>
        </p:nvSpPr>
        <p:spPr>
          <a:xfrm>
            <a:off x="685800" y="371246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scanned by IP, unauthenticated</a:t>
            </a:r>
            <a:endParaRPr lang="en-US" sz="1000" dirty="0"/>
          </a:p>
        </p:txBody>
      </p:sp>
      <p:sp>
        <p:nvSpPr>
          <p:cNvPr id="22" name="Text 20"/>
          <p:cNvSpPr txBox="1"/>
          <p:nvPr/>
        </p:nvSpPr>
        <p:spPr>
          <a:xfrm>
            <a:off x="3931920" y="371246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99.8%</a:t>
            </a:r>
            <a:endParaRPr lang="en-US" sz="1000" dirty="0"/>
          </a:p>
        </p:txBody>
      </p:sp>
      <p:sp>
        <p:nvSpPr>
          <p:cNvPr id="23" name="Text 21"/>
          <p:cNvSpPr txBox="1"/>
          <p:nvPr/>
        </p:nvSpPr>
        <p:spPr>
          <a:xfrm>
            <a:off x="4800600" y="371246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280,996</a:t>
            </a:r>
            <a:endParaRPr lang="en-US" sz="1000" dirty="0"/>
          </a:p>
        </p:txBody>
      </p:sp>
      <p:sp>
        <p:nvSpPr>
          <p:cNvPr id="24" name="Text 22"/>
          <p:cNvSpPr txBox="1"/>
          <p:nvPr/>
        </p:nvSpPr>
        <p:spPr>
          <a:xfrm>
            <a:off x="685800" y="398678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OS text empty</a:t>
            </a:r>
            <a:endParaRPr lang="en-US" sz="1000" dirty="0"/>
          </a:p>
        </p:txBody>
      </p:sp>
      <p:sp>
        <p:nvSpPr>
          <p:cNvPr id="25" name="Text 23"/>
          <p:cNvSpPr txBox="1"/>
          <p:nvPr/>
        </p:nvSpPr>
        <p:spPr>
          <a:xfrm>
            <a:off x="3931920" y="398678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32.6%</a:t>
            </a:r>
            <a:endParaRPr lang="en-US" sz="1000" dirty="0"/>
          </a:p>
        </p:txBody>
      </p:sp>
      <p:sp>
        <p:nvSpPr>
          <p:cNvPr id="26" name="Text 24"/>
          <p:cNvSpPr txBox="1"/>
          <p:nvPr/>
        </p:nvSpPr>
        <p:spPr>
          <a:xfrm>
            <a:off x="4800600" y="398678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91,729</a:t>
            </a:r>
            <a:endParaRPr lang="en-US" sz="1000" dirty="0"/>
          </a:p>
        </p:txBody>
      </p:sp>
      <p:sp>
        <p:nvSpPr>
          <p:cNvPr id="27" name="Text 25"/>
          <p:cNvSpPr txBox="1"/>
          <p:nvPr/>
        </p:nvSpPr>
        <p:spPr>
          <a:xfrm>
            <a:off x="685800" y="426110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OS text a multi-guess fingerprint</a:t>
            </a:r>
            <a:endParaRPr lang="en-US" sz="1000" dirty="0"/>
          </a:p>
        </p:txBody>
      </p:sp>
      <p:sp>
        <p:nvSpPr>
          <p:cNvPr id="28" name="Text 26"/>
          <p:cNvSpPr txBox="1"/>
          <p:nvPr/>
        </p:nvSpPr>
        <p:spPr>
          <a:xfrm>
            <a:off x="3931920" y="426110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5.0%</a:t>
            </a:r>
            <a:endParaRPr lang="en-US" sz="1000" dirty="0"/>
          </a:p>
        </p:txBody>
      </p:sp>
      <p:sp>
        <p:nvSpPr>
          <p:cNvPr id="29" name="Text 27"/>
          <p:cNvSpPr txBox="1"/>
          <p:nvPr/>
        </p:nvSpPr>
        <p:spPr>
          <a:xfrm>
            <a:off x="4800600" y="426110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14,026</a:t>
            </a:r>
            <a:endParaRPr lang="en-US" sz="1000" dirty="0"/>
          </a:p>
        </p:txBody>
      </p:sp>
      <p:sp>
        <p:nvSpPr>
          <p:cNvPr id="30" name="Text 28"/>
          <p:cNvSpPr txBox="1"/>
          <p:nvPr/>
        </p:nvSpPr>
        <p:spPr>
          <a:xfrm>
            <a:off x="685800" y="453542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NetBIOS name</a:t>
            </a:r>
            <a:endParaRPr lang="en-US" sz="1000" dirty="0"/>
          </a:p>
        </p:txBody>
      </p:sp>
      <p:sp>
        <p:nvSpPr>
          <p:cNvPr id="31" name="Text 29"/>
          <p:cNvSpPr txBox="1"/>
          <p:nvPr/>
        </p:nvSpPr>
        <p:spPr>
          <a:xfrm>
            <a:off x="3931920" y="453542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4.9%</a:t>
            </a:r>
            <a:endParaRPr lang="en-US" sz="1000" dirty="0"/>
          </a:p>
        </p:txBody>
      </p:sp>
      <p:sp>
        <p:nvSpPr>
          <p:cNvPr id="32" name="Text 30"/>
          <p:cNvSpPr txBox="1"/>
          <p:nvPr/>
        </p:nvSpPr>
        <p:spPr>
          <a:xfrm>
            <a:off x="4800600" y="453542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13,674</a:t>
            </a:r>
            <a:endParaRPr lang="en-US" sz="1000" dirty="0"/>
          </a:p>
        </p:txBody>
      </p:sp>
      <p:sp>
        <p:nvSpPr>
          <p:cNvPr id="33" name="Text 31"/>
          <p:cNvSpPr txBox="1"/>
          <p:nvPr/>
        </p:nvSpPr>
        <p:spPr>
          <a:xfrm>
            <a:off x="685800" y="480974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Qualys host id</a:t>
            </a:r>
            <a:endParaRPr lang="en-US" sz="1000" dirty="0"/>
          </a:p>
        </p:txBody>
      </p:sp>
      <p:sp>
        <p:nvSpPr>
          <p:cNvPr id="34" name="Text 32"/>
          <p:cNvSpPr txBox="1"/>
          <p:nvPr/>
        </p:nvSpPr>
        <p:spPr>
          <a:xfrm>
            <a:off x="3931920" y="480974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1.7%</a:t>
            </a:r>
            <a:endParaRPr lang="en-US" sz="1000" dirty="0"/>
          </a:p>
        </p:txBody>
      </p:sp>
      <p:sp>
        <p:nvSpPr>
          <p:cNvPr id="35" name="Text 33"/>
          <p:cNvSpPr txBox="1"/>
          <p:nvPr/>
        </p:nvSpPr>
        <p:spPr>
          <a:xfrm>
            <a:off x="4800600" y="480974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4,812</a:t>
            </a:r>
            <a:endParaRPr lang="en-US" sz="1000" dirty="0"/>
          </a:p>
        </p:txBody>
      </p:sp>
      <p:sp>
        <p:nvSpPr>
          <p:cNvPr id="36" name="Text 34"/>
          <p:cNvSpPr txBox="1"/>
          <p:nvPr/>
        </p:nvSpPr>
        <p:spPr>
          <a:xfrm>
            <a:off x="685800" y="508406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serial number</a:t>
            </a:r>
            <a:endParaRPr lang="en-US" sz="1000" dirty="0"/>
          </a:p>
        </p:txBody>
      </p:sp>
      <p:sp>
        <p:nvSpPr>
          <p:cNvPr id="37" name="Text 35"/>
          <p:cNvSpPr txBox="1"/>
          <p:nvPr/>
        </p:nvSpPr>
        <p:spPr>
          <a:xfrm>
            <a:off x="3931920" y="508406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0.3%</a:t>
            </a:r>
            <a:endParaRPr lang="en-US" sz="1000" dirty="0"/>
          </a:p>
        </p:txBody>
      </p:sp>
      <p:sp>
        <p:nvSpPr>
          <p:cNvPr id="38" name="Text 36"/>
          <p:cNvSpPr txBox="1"/>
          <p:nvPr/>
        </p:nvSpPr>
        <p:spPr>
          <a:xfrm>
            <a:off x="4800600" y="508406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763</a:t>
            </a:r>
            <a:endParaRPr lang="en-US" sz="1000" dirty="0"/>
          </a:p>
        </p:txBody>
      </p:sp>
      <p:sp>
        <p:nvSpPr>
          <p:cNvPr id="39" name="Text 37"/>
          <p:cNvSpPr txBox="1"/>
          <p:nvPr/>
        </p:nvSpPr>
        <p:spPr>
          <a:xfrm>
            <a:off x="685800" y="535838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scanned by the Cloud Agent</a:t>
            </a:r>
            <a:endParaRPr lang="en-US" sz="1000" dirty="0"/>
          </a:p>
        </p:txBody>
      </p:sp>
      <p:sp>
        <p:nvSpPr>
          <p:cNvPr id="40" name="Text 38"/>
          <p:cNvSpPr txBox="1"/>
          <p:nvPr/>
        </p:nvSpPr>
        <p:spPr>
          <a:xfrm>
            <a:off x="3931920" y="535838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0.3%</a:t>
            </a:r>
            <a:endParaRPr lang="en-US" sz="1000" dirty="0"/>
          </a:p>
        </p:txBody>
      </p:sp>
      <p:sp>
        <p:nvSpPr>
          <p:cNvPr id="41" name="Text 39"/>
          <p:cNvSpPr txBox="1"/>
          <p:nvPr/>
        </p:nvSpPr>
        <p:spPr>
          <a:xfrm>
            <a:off x="4800600" y="535838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704</a:t>
            </a:r>
            <a:endParaRPr lang="en-US" sz="1000" dirty="0"/>
          </a:p>
        </p:txBody>
      </p:sp>
      <p:sp>
        <p:nvSpPr>
          <p:cNvPr id="42" name="Shape 40"/>
          <p:cNvSpPr/>
          <p:nvPr/>
        </p:nvSpPr>
        <p:spPr>
          <a:xfrm>
            <a:off x="6199632" y="2962656"/>
            <a:ext cx="5532120" cy="274320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3" name="Text 41"/>
          <p:cNvSpPr txBox="1"/>
          <p:nvPr/>
        </p:nvSpPr>
        <p:spPr>
          <a:xfrm>
            <a:off x="6428232" y="3090672"/>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numbers decided</a:t>
            </a:r>
            <a:endParaRPr lang="en-US" sz="1400" dirty="0"/>
          </a:p>
        </p:txBody>
      </p:sp>
      <p:sp>
        <p:nvSpPr>
          <p:cNvPr id="44" name="Text 42"/>
          <p:cNvSpPr txBox="1"/>
          <p:nvPr/>
        </p:nvSpPr>
        <p:spPr>
          <a:xfrm>
            <a:off x="6428232" y="3456432"/>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Names carry the load</a:t>
            </a:r>
            <a:endParaRPr lang="en-US" sz="1150" dirty="0"/>
          </a:p>
        </p:txBody>
      </p:sp>
      <p:sp>
        <p:nvSpPr>
          <p:cNvPr id="45" name="Text 43"/>
          <p:cNvSpPr txBox="1"/>
          <p:nvPr/>
        </p:nvSpPr>
        <p:spPr>
          <a:xfrm>
            <a:off x="6428232" y="3694176"/>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With serials on 0.3% of hosts and cloud ids on none, the name rules are where matching is won or lost. Eight of the nineteen rules work on the DNS field.</a:t>
            </a:r>
            <a:endParaRPr lang="en-US" sz="1000" dirty="0"/>
          </a:p>
        </p:txBody>
      </p:sp>
      <p:sp>
        <p:nvSpPr>
          <p:cNvPr id="46" name="Text 44"/>
          <p:cNvSpPr txBox="1"/>
          <p:nvPr/>
        </p:nvSpPr>
        <p:spPr>
          <a:xfrm>
            <a:off x="6428232" y="4206240"/>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Class evidence is thin</a:t>
            </a:r>
            <a:endParaRPr lang="en-US" sz="1150" dirty="0"/>
          </a:p>
        </p:txBody>
      </p:sp>
      <p:sp>
        <p:nvSpPr>
          <p:cNvPr id="47" name="Text 45"/>
          <p:cNvSpPr txBox="1"/>
          <p:nvPr/>
        </p:nvSpPr>
        <p:spPr>
          <a:xfrm>
            <a:off x="6428232" y="4443984"/>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A third of hosts report no OS and a further twentieth report a list of guesses. Every class-scoped rule therefore has a hardware-wide twin behind it.</a:t>
            </a:r>
            <a:endParaRPr lang="en-US" sz="1000" dirty="0"/>
          </a:p>
        </p:txBody>
      </p:sp>
      <p:sp>
        <p:nvSpPr>
          <p:cNvPr id="48" name="Text 46"/>
          <p:cNvSpPr txBox="1"/>
          <p:nvPr/>
        </p:nvSpPr>
        <p:spPr>
          <a:xfrm>
            <a:off x="6428232" y="4956048"/>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The label describes the part</a:t>
            </a:r>
            <a:endParaRPr lang="en-US" sz="1150" dirty="0"/>
          </a:p>
        </p:txBody>
      </p:sp>
      <p:sp>
        <p:nvSpPr>
          <p:cNvPr id="49" name="Text 47"/>
          <p:cNvSpPr txBox="1"/>
          <p:nvPr/>
        </p:nvSpPr>
        <p:spPr>
          <a:xfrm>
            <a:off x="6428232" y="5193792"/>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In the three new groups the DNS name is present and accurate; it just names a controller, a port or a VIP rather than the machine. That is a parsing problem, not a data gap.</a:t>
            </a:r>
            <a:endParaRPr lang="en-US" sz="1000" dirty="0"/>
          </a:p>
        </p:txBody>
      </p:sp>
      <p:sp>
        <p:nvSpPr>
          <p:cNvPr id="50" name="Text 48"/>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Percentages are of the profiled sample; host counts are projected onto the 281,700 unmatched Discovered Items.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TUNING</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Six properties, so the lists are not in the code</a:t>
            </a:r>
            <a:endParaRPr lang="en-US" sz="3000" dirty="0"/>
          </a:p>
        </p:txBody>
      </p:sp>
      <p:sp>
        <p:nvSpPr>
          <p:cNvPr id="4" name="Text 2"/>
          <p:cNvSpPr txBox="1"/>
          <p:nvPr/>
        </p:nvSpPr>
        <p:spPr>
          <a:xfrm>
            <a:off x="457200" y="1316736"/>
            <a:ext cx="11247120" cy="365760"/>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The three new rules each depend on a vocabulary: which suffixes mark a controller, which segments mark an interface, which words name a load balancer. Naming habits differ by site and change over time, so every list is a system property the rule reads at run time.</a:t>
            </a:r>
            <a:endParaRPr lang="en-US" sz="1200" dirty="0"/>
          </a:p>
        </p:txBody>
      </p:sp>
      <p:sp>
        <p:nvSpPr>
          <p:cNvPr id="5" name="Shape 3"/>
          <p:cNvSpPr/>
          <p:nvPr/>
        </p:nvSpPr>
        <p:spPr>
          <a:xfrm>
            <a:off x="457200" y="1792224"/>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Text 4"/>
          <p:cNvSpPr txBox="1"/>
          <p:nvPr/>
        </p:nvSpPr>
        <p:spPr>
          <a:xfrm>
            <a:off x="658368" y="1865376"/>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usem.ci_lookup.mgmt_suffixes</a:t>
            </a:r>
            <a:endParaRPr lang="en-US" sz="1000" dirty="0"/>
          </a:p>
        </p:txBody>
      </p:sp>
      <p:sp>
        <p:nvSpPr>
          <p:cNvPr id="7" name="Shape 5"/>
          <p:cNvSpPr/>
          <p:nvPr/>
        </p:nvSpPr>
        <p:spPr>
          <a:xfrm>
            <a:off x="3913632" y="1874520"/>
            <a:ext cx="457200" cy="237744"/>
          </a:xfrm>
          <a:prstGeom prst="roundRect">
            <a:avLst>
              <a:gd name="adj" fmla="val 61538"/>
            </a:avLst>
          </a:prstGeom>
          <a:solidFill>
            <a:srgbClr val="E31837"/>
          </a:solidFill>
          <a:ln w="12700">
            <a:solidFill>
              <a:srgbClr val="333333"/>
            </a:solidFill>
            <a:prstDash val="solid"/>
          </a:ln>
        </p:spPr>
      </p:sp>
      <p:sp>
        <p:nvSpPr>
          <p:cNvPr id="8" name="Text 6"/>
          <p:cNvSpPr txBox="1"/>
          <p:nvPr/>
        </p:nvSpPr>
        <p:spPr>
          <a:xfrm>
            <a:off x="3913632" y="1874520"/>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9" name="Text 7"/>
          <p:cNvSpPr txBox="1"/>
          <p:nvPr/>
        </p:nvSpPr>
        <p:spPr>
          <a:xfrm>
            <a:off x="4498848" y="1865376"/>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suffixes that mark a management controller.</a:t>
            </a:r>
            <a:endParaRPr lang="en-US" sz="1000" dirty="0"/>
          </a:p>
        </p:txBody>
      </p:sp>
      <p:sp>
        <p:nvSpPr>
          <p:cNvPr id="10" name="Text 8"/>
          <p:cNvSpPr txBox="1"/>
          <p:nvPr/>
        </p:nvSpPr>
        <p:spPr>
          <a:xfrm>
            <a:off x="658368" y="2139696"/>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ilo, ilom, idrac, drac, ipmi, bmc, oob, mgmt, imm, cimc, rmm, con</a:t>
            </a:r>
            <a:endParaRPr lang="en-US" sz="900" dirty="0"/>
          </a:p>
        </p:txBody>
      </p:sp>
      <p:sp>
        <p:nvSpPr>
          <p:cNvPr id="11" name="Shape 9"/>
          <p:cNvSpPr/>
          <p:nvPr/>
        </p:nvSpPr>
        <p:spPr>
          <a:xfrm>
            <a:off x="457200" y="2505456"/>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Text 10"/>
          <p:cNvSpPr txBox="1"/>
          <p:nvPr/>
        </p:nvSpPr>
        <p:spPr>
          <a:xfrm>
            <a:off x="658368" y="2578608"/>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usem.ci_lookup.mgmt_os_markers</a:t>
            </a:r>
            <a:endParaRPr lang="en-US" sz="1000" dirty="0"/>
          </a:p>
        </p:txBody>
      </p:sp>
      <p:sp>
        <p:nvSpPr>
          <p:cNvPr id="13" name="Shape 11"/>
          <p:cNvSpPr/>
          <p:nvPr/>
        </p:nvSpPr>
        <p:spPr>
          <a:xfrm>
            <a:off x="3913632" y="2587752"/>
            <a:ext cx="457200" cy="237744"/>
          </a:xfrm>
          <a:prstGeom prst="roundRect">
            <a:avLst>
              <a:gd name="adj" fmla="val 61538"/>
            </a:avLst>
          </a:prstGeom>
          <a:solidFill>
            <a:srgbClr val="E31837"/>
          </a:solidFill>
          <a:ln w="12700">
            <a:solidFill>
              <a:srgbClr val="333333"/>
            </a:solidFill>
            <a:prstDash val="solid"/>
          </a:ln>
        </p:spPr>
      </p:sp>
      <p:sp>
        <p:nvSpPr>
          <p:cNvPr id="14" name="Text 12"/>
          <p:cNvSpPr txBox="1"/>
          <p:nvPr/>
        </p:nvSpPr>
        <p:spPr>
          <a:xfrm>
            <a:off x="3913632" y="2587752"/>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15" name="Text 13"/>
          <p:cNvSpPr txBox="1"/>
          <p:nvPr/>
        </p:nvSpPr>
        <p:spPr>
          <a:xfrm>
            <a:off x="4498848" y="2578608"/>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Controller words in the OS text; the last segment is then stripped whatever it is.</a:t>
            </a:r>
            <a:endParaRPr lang="en-US" sz="1000" dirty="0"/>
          </a:p>
        </p:txBody>
      </p:sp>
      <p:sp>
        <p:nvSpPr>
          <p:cNvPr id="16" name="Text 14"/>
          <p:cNvSpPr txBox="1"/>
          <p:nvPr/>
        </p:nvSpPr>
        <p:spPr>
          <a:xfrm>
            <a:off x="658368" y="2852928"/>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ilo, ilom, idrac, drac, remote access controller, imm, cimc, bmc, ipmi, lights out</a:t>
            </a:r>
            <a:endParaRPr lang="en-US" sz="900" dirty="0"/>
          </a:p>
        </p:txBody>
      </p:sp>
      <p:sp>
        <p:nvSpPr>
          <p:cNvPr id="17" name="Shape 15"/>
          <p:cNvSpPr/>
          <p:nvPr/>
        </p:nvSpPr>
        <p:spPr>
          <a:xfrm>
            <a:off x="457200" y="3218688"/>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Text 16"/>
          <p:cNvSpPr txBox="1"/>
          <p:nvPr/>
        </p:nvSpPr>
        <p:spPr>
          <a:xfrm>
            <a:off x="658368" y="3291840"/>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usem.ci_lookup.interface_domains</a:t>
            </a:r>
            <a:endParaRPr lang="en-US" sz="1000" dirty="0"/>
          </a:p>
        </p:txBody>
      </p:sp>
      <p:sp>
        <p:nvSpPr>
          <p:cNvPr id="19" name="Shape 17"/>
          <p:cNvSpPr/>
          <p:nvPr/>
        </p:nvSpPr>
        <p:spPr>
          <a:xfrm>
            <a:off x="3913632" y="3300984"/>
            <a:ext cx="457200" cy="237744"/>
          </a:xfrm>
          <a:prstGeom prst="roundRect">
            <a:avLst>
              <a:gd name="adj" fmla="val 61538"/>
            </a:avLst>
          </a:prstGeom>
          <a:solidFill>
            <a:srgbClr val="E31837"/>
          </a:solidFill>
          <a:ln w="12700">
            <a:solidFill>
              <a:srgbClr val="333333"/>
            </a:solidFill>
            <a:prstDash val="solid"/>
          </a:ln>
        </p:spPr>
      </p:sp>
      <p:sp>
        <p:nvSpPr>
          <p:cNvPr id="20" name="Text 18"/>
          <p:cNvSpPr txBox="1"/>
          <p:nvPr/>
        </p:nvSpPr>
        <p:spPr>
          <a:xfrm>
            <a:off x="3913632" y="3300984"/>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21" name="Text 19"/>
          <p:cNvSpPr txBox="1"/>
          <p:nvPr/>
        </p:nvSpPr>
        <p:spPr>
          <a:xfrm>
            <a:off x="4498848" y="3291840"/>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DNS domains under which network devices are scanned per interface.</a:t>
            </a:r>
            <a:endParaRPr lang="en-US" sz="1000" dirty="0"/>
          </a:p>
        </p:txBody>
      </p:sp>
      <p:sp>
        <p:nvSpPr>
          <p:cNvPr id="22" name="Text 20"/>
          <p:cNvSpPr txBox="1"/>
          <p:nvPr/>
        </p:nvSpPr>
        <p:spPr>
          <a:xfrm>
            <a:off x="658368" y="3566160"/>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.network.</a:t>
            </a:r>
            <a:endParaRPr lang="en-US" sz="900" dirty="0"/>
          </a:p>
        </p:txBody>
      </p:sp>
      <p:sp>
        <p:nvSpPr>
          <p:cNvPr id="23" name="Shape 21"/>
          <p:cNvSpPr/>
          <p:nvPr/>
        </p:nvSpPr>
        <p:spPr>
          <a:xfrm>
            <a:off x="457200" y="3931920"/>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Text 22"/>
          <p:cNvSpPr txBox="1"/>
          <p:nvPr/>
        </p:nvSpPr>
        <p:spPr>
          <a:xfrm>
            <a:off x="658368" y="4005072"/>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usem.ci_lookup.interface_markers</a:t>
            </a:r>
            <a:endParaRPr lang="en-US" sz="1000" dirty="0"/>
          </a:p>
        </p:txBody>
      </p:sp>
      <p:sp>
        <p:nvSpPr>
          <p:cNvPr id="25" name="Shape 23"/>
          <p:cNvSpPr/>
          <p:nvPr/>
        </p:nvSpPr>
        <p:spPr>
          <a:xfrm>
            <a:off x="3913632" y="4014216"/>
            <a:ext cx="457200" cy="237744"/>
          </a:xfrm>
          <a:prstGeom prst="roundRect">
            <a:avLst>
              <a:gd name="adj" fmla="val 61538"/>
            </a:avLst>
          </a:prstGeom>
          <a:solidFill>
            <a:srgbClr val="E31837"/>
          </a:solidFill>
          <a:ln w="12700">
            <a:solidFill>
              <a:srgbClr val="333333"/>
            </a:solidFill>
            <a:prstDash val="solid"/>
          </a:ln>
        </p:spPr>
      </p:sp>
      <p:sp>
        <p:nvSpPr>
          <p:cNvPr id="26" name="Text 24"/>
          <p:cNvSpPr txBox="1"/>
          <p:nvPr/>
        </p:nvSpPr>
        <p:spPr>
          <a:xfrm>
            <a:off x="3913632" y="4014216"/>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27" name="Text 25"/>
          <p:cNvSpPr txBox="1"/>
          <p:nvPr/>
        </p:nvSpPr>
        <p:spPr>
          <a:xfrm>
            <a:off x="4498848" y="4005072"/>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segments that mark an interface or VLAN address.</a:t>
            </a:r>
            <a:endParaRPr lang="en-US" sz="1000" dirty="0"/>
          </a:p>
        </p:txBody>
      </p:sp>
      <p:sp>
        <p:nvSpPr>
          <p:cNvPr id="28" name="Text 26"/>
          <p:cNvSpPr txBox="1"/>
          <p:nvPr/>
        </p:nvSpPr>
        <p:spPr>
          <a:xfrm>
            <a:off x="658368" y="4279392"/>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vlan, v, hsrp, vrrp, po, eth, gi, te, lo, mgmt, aom, vs, fab</a:t>
            </a:r>
            <a:endParaRPr lang="en-US" sz="900" dirty="0"/>
          </a:p>
        </p:txBody>
      </p:sp>
      <p:sp>
        <p:nvSpPr>
          <p:cNvPr id="29" name="Shape 27"/>
          <p:cNvSpPr/>
          <p:nvPr/>
        </p:nvSpPr>
        <p:spPr>
          <a:xfrm>
            <a:off x="457200" y="4645152"/>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0" name="Text 28"/>
          <p:cNvSpPr txBox="1"/>
          <p:nvPr/>
        </p:nvSpPr>
        <p:spPr>
          <a:xfrm>
            <a:off x="658368" y="4718304"/>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usem.ci_lookup.vip_os_markers</a:t>
            </a:r>
            <a:endParaRPr lang="en-US" sz="1000" dirty="0"/>
          </a:p>
        </p:txBody>
      </p:sp>
      <p:sp>
        <p:nvSpPr>
          <p:cNvPr id="31" name="Shape 29"/>
          <p:cNvSpPr/>
          <p:nvPr/>
        </p:nvSpPr>
        <p:spPr>
          <a:xfrm>
            <a:off x="3913632" y="4727448"/>
            <a:ext cx="457200" cy="237744"/>
          </a:xfrm>
          <a:prstGeom prst="roundRect">
            <a:avLst>
              <a:gd name="adj" fmla="val 61538"/>
            </a:avLst>
          </a:prstGeom>
          <a:solidFill>
            <a:srgbClr val="E31837"/>
          </a:solidFill>
          <a:ln w="12700">
            <a:solidFill>
              <a:srgbClr val="333333"/>
            </a:solidFill>
            <a:prstDash val="solid"/>
          </a:ln>
        </p:spPr>
      </p:sp>
      <p:sp>
        <p:nvSpPr>
          <p:cNvPr id="32" name="Text 30"/>
          <p:cNvSpPr txBox="1"/>
          <p:nvPr/>
        </p:nvSpPr>
        <p:spPr>
          <a:xfrm>
            <a:off x="3913632" y="4727448"/>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33" name="Text 31"/>
          <p:cNvSpPr txBox="1"/>
          <p:nvPr/>
        </p:nvSpPr>
        <p:spPr>
          <a:xfrm>
            <a:off x="4498848" y="4718304"/>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Load balancer products in the OS text.</a:t>
            </a:r>
            <a:endParaRPr lang="en-US" sz="1000" dirty="0"/>
          </a:p>
        </p:txBody>
      </p:sp>
      <p:sp>
        <p:nvSpPr>
          <p:cNvPr id="34" name="Text 32"/>
          <p:cNvSpPr txBox="1"/>
          <p:nvPr/>
        </p:nvSpPr>
        <p:spPr>
          <a:xfrm>
            <a:off x="658368" y="4992624"/>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f5, big-ip, big ip, netscaler</a:t>
            </a:r>
            <a:endParaRPr lang="en-US" sz="900" dirty="0"/>
          </a:p>
        </p:txBody>
      </p:sp>
      <p:sp>
        <p:nvSpPr>
          <p:cNvPr id="35" name="Shape 33"/>
          <p:cNvSpPr/>
          <p:nvPr/>
        </p:nvSpPr>
        <p:spPr>
          <a:xfrm>
            <a:off x="457200" y="5358384"/>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6" name="Text 34"/>
          <p:cNvSpPr txBox="1"/>
          <p:nvPr/>
        </p:nvSpPr>
        <p:spPr>
          <a:xfrm>
            <a:off x="658368" y="5431536"/>
            <a:ext cx="320040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usem.ci_lookup.vip_markers</a:t>
            </a:r>
            <a:endParaRPr lang="en-US" sz="1000" dirty="0"/>
          </a:p>
        </p:txBody>
      </p:sp>
      <p:sp>
        <p:nvSpPr>
          <p:cNvPr id="37" name="Shape 35"/>
          <p:cNvSpPr/>
          <p:nvPr/>
        </p:nvSpPr>
        <p:spPr>
          <a:xfrm>
            <a:off x="3913632" y="5440680"/>
            <a:ext cx="457200" cy="237744"/>
          </a:xfrm>
          <a:prstGeom prst="roundRect">
            <a:avLst>
              <a:gd name="adj" fmla="val 61538"/>
            </a:avLst>
          </a:prstGeom>
          <a:solidFill>
            <a:srgbClr val="E31837"/>
          </a:solidFill>
          <a:ln w="12700">
            <a:solidFill>
              <a:srgbClr val="333333"/>
            </a:solidFill>
            <a:prstDash val="solid"/>
          </a:ln>
        </p:spPr>
      </p:sp>
      <p:sp>
        <p:nvSpPr>
          <p:cNvPr id="38" name="Text 36"/>
          <p:cNvSpPr txBox="1"/>
          <p:nvPr/>
        </p:nvSpPr>
        <p:spPr>
          <a:xfrm>
            <a:off x="3913632" y="5440680"/>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39" name="Text 37"/>
          <p:cNvSpPr txBox="1"/>
          <p:nvPr/>
        </p:nvSpPr>
        <p:spPr>
          <a:xfrm>
            <a:off x="4498848" y="5431536"/>
            <a:ext cx="694944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segments that mark a virtual IP.</a:t>
            </a:r>
            <a:endParaRPr lang="en-US" sz="1000" dirty="0"/>
          </a:p>
        </p:txBody>
      </p:sp>
      <p:sp>
        <p:nvSpPr>
          <p:cNvPr id="40" name="Text 38"/>
          <p:cNvSpPr txBox="1"/>
          <p:nvPr/>
        </p:nvSpPr>
        <p:spPr>
          <a:xfrm>
            <a:off x="658368" y="5705856"/>
            <a:ext cx="1078992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vip, vs</a:t>
            </a:r>
            <a:endParaRPr lang="en-US" sz="900" dirty="0"/>
          </a:p>
        </p:txBody>
      </p:sp>
      <p:sp>
        <p:nvSpPr>
          <p:cNvPr id="41" name="Shape 39"/>
          <p:cNvSpPr/>
          <p:nvPr/>
        </p:nvSpPr>
        <p:spPr>
          <a:xfrm>
            <a:off x="457200" y="6053328"/>
            <a:ext cx="11274552" cy="566928"/>
          </a:xfrm>
          <a:prstGeom prst="roundRect">
            <a:avLst>
              <a:gd name="adj" fmla="val 806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2" name="Text 40"/>
          <p:cNvSpPr txBox="1"/>
          <p:nvPr/>
        </p:nvSpPr>
        <p:spPr>
          <a:xfrm>
            <a:off x="731520" y="6163056"/>
            <a:ext cx="10698480" cy="365760"/>
          </a:xfrm>
          <a:prstGeom prst="rect">
            <a:avLst/>
          </a:prstGeom>
          <a:noFill/>
          <a:ln/>
        </p:spPr>
        <p:txBody>
          <a:bodyPr wrap="square" lIns="0" tIns="0" rIns="0" bIns="0" rtlCol="0" anchor="ctr"/>
          <a:lstStyle/>
          <a:p>
            <a:pPr indent="0" marL="0">
              <a:buNone/>
            </a:pPr>
            <a:r>
              <a:rPr lang="en-US" sz="1100" b="1" dirty="0">
                <a:solidFill>
                  <a:srgbClr val="24272A"/>
                </a:solidFill>
                <a:latin typeface="Arial" pitchFamily="34" charset="0"/>
                <a:ea typeface="Arial" pitchFamily="34" charset="-122"/>
                <a:cs typeface="Arial" pitchFamily="34" charset="-120"/>
              </a:rPr>
              <a:t>Adding a site’s naming habit is a property edit, not a code change.  </a:t>
            </a:r>
            <a:pPr indent="0" marL="0">
              <a:buNone/>
            </a:pPr>
            <a:r>
              <a:rPr lang="en-US" sz="1100" dirty="0">
                <a:solidFill>
                  <a:srgbClr val="6B7177"/>
                </a:solidFill>
                <a:latin typeface="Arial" pitchFamily="34" charset="0"/>
                <a:ea typeface="Arial" pitchFamily="34" charset="-122"/>
                <a:cs typeface="Arial" pitchFamily="34" charset="-120"/>
              </a:rPr>
              <a:t>A new controller suffix or VLAN marker is typed into the list; the rule picks it up on the next evaluation, with no update set and no release.</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Testing and delivery</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How the chain was exercised end to end, what shipped, and what to watch once it runs.</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Three layers of testing</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ships and how it is operated</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Rule reference</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ASSURANCE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Three layers of testing</a:t>
            </a:r>
            <a:endParaRPr lang="en-US" sz="3000" dirty="0"/>
          </a:p>
        </p:txBody>
      </p:sp>
      <p:sp>
        <p:nvSpPr>
          <p:cNvPr id="4" name="Shape 2"/>
          <p:cNvSpPr/>
          <p:nvPr/>
        </p:nvSpPr>
        <p:spPr>
          <a:xfrm>
            <a:off x="45720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591056"/>
            <a:ext cx="384048" cy="384048"/>
          </a:xfrm>
          <a:prstGeom prst="roundRect">
            <a:avLst>
              <a:gd name="adj" fmla="val 38095"/>
            </a:avLst>
          </a:prstGeom>
          <a:solidFill>
            <a:srgbClr val="E31837"/>
          </a:solidFill>
          <a:ln w="12700">
            <a:solidFill>
              <a:srgbClr val="333333"/>
            </a:solidFill>
            <a:prstDash val="solid"/>
          </a:ln>
        </p:spPr>
      </p:sp>
      <p:sp>
        <p:nvSpPr>
          <p:cNvPr id="6" name="Text 4"/>
          <p:cNvSpPr txBox="1"/>
          <p:nvPr/>
        </p:nvSpPr>
        <p:spPr>
          <a:xfrm>
            <a:off x="68580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18872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Direct</a:t>
            </a:r>
            <a:endParaRPr lang="en-US" sz="1500" dirty="0"/>
          </a:p>
        </p:txBody>
      </p:sp>
      <p:sp>
        <p:nvSpPr>
          <p:cNvPr id="8" name="Text 6"/>
          <p:cNvSpPr txBox="1"/>
          <p:nvPr/>
        </p:nvSpPr>
        <p:spPr>
          <a:xfrm>
            <a:off x="68580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RULE BEHAVIOUR</a:t>
            </a:r>
            <a:endParaRPr lang="en-US" sz="850" dirty="0"/>
          </a:p>
        </p:txBody>
      </p:sp>
      <p:sp>
        <p:nvSpPr>
          <p:cNvPr id="9" name="Text 7"/>
          <p:cNvSpPr txBox="1"/>
          <p:nvPr/>
        </p:nvSpPr>
        <p:spPr>
          <a:xfrm>
            <a:off x="68580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Purpose-built CMDB fixtures, then the platform’s own identify() call for the Qualys source with one payload per case: the positive match, the negative, the ambiguity, and a regression on a neighbouring rule. Eighteen cases, run twice.</a:t>
            </a:r>
            <a:endParaRPr lang="en-US" sz="1050" dirty="0"/>
          </a:p>
        </p:txBody>
      </p:sp>
      <p:sp>
        <p:nvSpPr>
          <p:cNvPr id="10" name="Text 8"/>
          <p:cNvSpPr txBox="1"/>
          <p:nvPr/>
        </p:nvSpPr>
        <p:spPr>
          <a:xfrm>
            <a:off x="68580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36 of 36 as expected</a:t>
            </a:r>
            <a:endParaRPr lang="en-US" sz="1200" dirty="0"/>
          </a:p>
        </p:txBody>
      </p:sp>
      <p:sp>
        <p:nvSpPr>
          <p:cNvPr id="11" name="Shape 9"/>
          <p:cNvSpPr/>
          <p:nvPr/>
        </p:nvSpPr>
        <p:spPr>
          <a:xfrm>
            <a:off x="425196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Shape 10"/>
          <p:cNvSpPr/>
          <p:nvPr/>
        </p:nvSpPr>
        <p:spPr>
          <a:xfrm>
            <a:off x="4480560" y="1591056"/>
            <a:ext cx="384048" cy="384048"/>
          </a:xfrm>
          <a:prstGeom prst="roundRect">
            <a:avLst>
              <a:gd name="adj" fmla="val 38095"/>
            </a:avLst>
          </a:prstGeom>
          <a:solidFill>
            <a:srgbClr val="E31837"/>
          </a:solidFill>
          <a:ln w="12700">
            <a:solidFill>
              <a:srgbClr val="333333"/>
            </a:solidFill>
            <a:prstDash val="solid"/>
          </a:ln>
        </p:spPr>
      </p:sp>
      <p:sp>
        <p:nvSpPr>
          <p:cNvPr id="13" name="Text 11"/>
          <p:cNvSpPr txBox="1"/>
          <p:nvPr/>
        </p:nvSpPr>
        <p:spPr>
          <a:xfrm>
            <a:off x="448056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498348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Pipeline</a:t>
            </a:r>
            <a:endParaRPr lang="en-US" sz="1500" dirty="0"/>
          </a:p>
        </p:txBody>
      </p:sp>
      <p:sp>
        <p:nvSpPr>
          <p:cNvPr id="15" name="Text 13"/>
          <p:cNvSpPr txBox="1"/>
          <p:nvPr/>
        </p:nvSpPr>
        <p:spPr>
          <a:xfrm>
            <a:off x="448056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END TO END</a:t>
            </a:r>
            <a:endParaRPr lang="en-US" sz="850" dirty="0"/>
          </a:p>
        </p:txBody>
      </p:sp>
      <p:sp>
        <p:nvSpPr>
          <p:cNvPr id="16" name="Text 14"/>
          <p:cNvSpPr txBox="1"/>
          <p:nvPr/>
        </p:nvSpPr>
        <p:spPr>
          <a:xfrm>
            <a:off x="448056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Real unresolved Discovered Items re-run through the platform’s own reconcile utility, the same call the scheduled job makes, so the whole framework path is exercised and not just the script.</a:t>
            </a:r>
            <a:endParaRPr lang="en-US" sz="1050" dirty="0"/>
          </a:p>
        </p:txBody>
      </p:sp>
      <p:sp>
        <p:nvSpPr>
          <p:cNvPr id="17" name="Text 15"/>
          <p:cNvSpPr txBox="1"/>
          <p:nvPr/>
        </p:nvSpPr>
        <p:spPr>
          <a:xfrm>
            <a:off x="448056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9 of 9 turned matched</a:t>
            </a:r>
            <a:endParaRPr lang="en-US" sz="1200" dirty="0"/>
          </a:p>
        </p:txBody>
      </p:sp>
      <p:sp>
        <p:nvSpPr>
          <p:cNvPr id="18" name="Shape 16"/>
          <p:cNvSpPr/>
          <p:nvPr/>
        </p:nvSpPr>
        <p:spPr>
          <a:xfrm>
            <a:off x="804672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Shape 17"/>
          <p:cNvSpPr/>
          <p:nvPr/>
        </p:nvSpPr>
        <p:spPr>
          <a:xfrm>
            <a:off x="8275320" y="1591056"/>
            <a:ext cx="384048" cy="384048"/>
          </a:xfrm>
          <a:prstGeom prst="roundRect">
            <a:avLst>
              <a:gd name="adj" fmla="val 38095"/>
            </a:avLst>
          </a:prstGeom>
          <a:solidFill>
            <a:srgbClr val="E31837"/>
          </a:solidFill>
          <a:ln w="12700">
            <a:solidFill>
              <a:srgbClr val="333333"/>
            </a:solidFill>
            <a:prstDash val="solid"/>
          </a:ln>
        </p:spPr>
      </p:sp>
      <p:sp>
        <p:nvSpPr>
          <p:cNvPr id="20" name="Text 18"/>
          <p:cNvSpPr txBox="1"/>
          <p:nvPr/>
        </p:nvSpPr>
        <p:spPr>
          <a:xfrm>
            <a:off x="827532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877824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Sweep</a:t>
            </a:r>
            <a:endParaRPr lang="en-US" sz="1500" dirty="0"/>
          </a:p>
        </p:txBody>
      </p:sp>
      <p:sp>
        <p:nvSpPr>
          <p:cNvPr id="22" name="Text 20"/>
          <p:cNvSpPr txBox="1"/>
          <p:nvPr/>
        </p:nvSpPr>
        <p:spPr>
          <a:xfrm>
            <a:off x="827532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NO REGRESSION</a:t>
            </a:r>
            <a:endParaRPr lang="en-US" sz="850" dirty="0"/>
          </a:p>
        </p:txBody>
      </p:sp>
      <p:sp>
        <p:nvSpPr>
          <p:cNvPr id="23" name="Text 21"/>
          <p:cNvSpPr txBox="1"/>
          <p:nvPr/>
        </p:nvSpPr>
        <p:spPr>
          <a:xfrm>
            <a:off x="827532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One representative host per rule pushed through the chain before and after every redeploy, comparing which rule answered and which CI came back.</a:t>
            </a:r>
            <a:endParaRPr lang="en-US" sz="1050" dirty="0"/>
          </a:p>
        </p:txBody>
      </p:sp>
      <p:sp>
        <p:nvSpPr>
          <p:cNvPr id="24" name="Text 22"/>
          <p:cNvSpPr txBox="1"/>
          <p:nvPr/>
        </p:nvSpPr>
        <p:spPr>
          <a:xfrm>
            <a:off x="827532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identical, 19 of 19 rules answering</a:t>
            </a:r>
            <a:endParaRPr lang="en-US" sz="1200" dirty="0"/>
          </a:p>
        </p:txBody>
      </p:sp>
      <p:sp>
        <p:nvSpPr>
          <p:cNvPr id="25" name="Shape 23"/>
          <p:cNvSpPr/>
          <p:nvPr/>
        </p:nvSpPr>
        <p:spPr>
          <a:xfrm>
            <a:off x="457200" y="4315968"/>
            <a:ext cx="11274552" cy="1463040"/>
          </a:xfrm>
          <a:prstGeom prst="roundRect">
            <a:avLst>
              <a:gd name="adj" fmla="val 312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731520" y="4462272"/>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negative cases prove</a:t>
            </a:r>
            <a:endParaRPr lang="en-US" sz="1400" dirty="0"/>
          </a:p>
        </p:txBody>
      </p:sp>
      <p:sp>
        <p:nvSpPr>
          <p:cNvPr id="27" name="Text 25"/>
          <p:cNvSpPr txBox="1"/>
          <p:nvPr/>
        </p:nvSpPr>
        <p:spPr>
          <a:xfrm>
            <a:off x="731520" y="4791456"/>
            <a:ext cx="10698480" cy="82296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Half the suite asserts that a rule stays out of the way: a hyphenated server name is not treated as an interface, a server sharing an address with a VIP is not turned into a load balancer service, a controller label with two candidate servers declines rather than picks, and an ordinary Windows workstation passes every new rule untouched. A rule that matches too much is the failure mode that matters here, so it is the one tested hardest.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DELIVERY</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ships, and how it is operated</a:t>
            </a:r>
            <a:endParaRPr lang="en-US" sz="3000" dirty="0"/>
          </a:p>
        </p:txBody>
      </p:sp>
      <p:sp>
        <p:nvSpPr>
          <p:cNvPr id="4" name="Shape 2"/>
          <p:cNvSpPr/>
          <p:nvPr/>
        </p:nvSpPr>
        <p:spPr>
          <a:xfrm>
            <a:off x="457200" y="1417320"/>
            <a:ext cx="5532120" cy="1097280"/>
          </a:xfrm>
          <a:prstGeom prst="roundRect">
            <a:avLst>
              <a:gd name="adj" fmla="val 41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36192"/>
            <a:ext cx="3840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Rule scripts</a:t>
            </a:r>
            <a:endParaRPr lang="en-US" sz="1500" dirty="0"/>
          </a:p>
        </p:txBody>
      </p:sp>
      <p:sp>
        <p:nvSpPr>
          <p:cNvPr id="6" name="Text 4"/>
          <p:cNvSpPr txBox="1"/>
          <p:nvPr/>
        </p:nvSpPr>
        <p:spPr>
          <a:xfrm>
            <a:off x="4480560" y="1536192"/>
            <a:ext cx="1280160" cy="292608"/>
          </a:xfrm>
          <a:prstGeom prst="rect">
            <a:avLst/>
          </a:prstGeom>
          <a:noFill/>
          <a:ln/>
        </p:spPr>
        <p:txBody>
          <a:bodyPr wrap="square" lIns="0" tIns="0" rIns="0" bIns="0" rtlCol="0" anchor="ctr"/>
          <a:lstStyle/>
          <a:p>
            <a:pPr algn="r" indent="0" marL="0">
              <a:buNone/>
            </a:pPr>
            <a:r>
              <a:rPr lang="en-US" sz="1300" b="1" dirty="0">
                <a:solidFill>
                  <a:srgbClr val="E31837"/>
                </a:solidFill>
                <a:latin typeface="Arial" pitchFamily="34" charset="0"/>
                <a:ea typeface="Arial" pitchFamily="34" charset="-122"/>
                <a:cs typeface="Arial" pitchFamily="34" charset="-120"/>
              </a:rPr>
              <a:t>16 updates</a:t>
            </a:r>
            <a:endParaRPr lang="en-US" sz="1300" dirty="0"/>
          </a:p>
        </p:txBody>
      </p:sp>
      <p:sp>
        <p:nvSpPr>
          <p:cNvPr id="7" name="Text 5"/>
          <p:cNvSpPr txBox="1"/>
          <p:nvPr/>
        </p:nvSpPr>
        <p:spPr>
          <a:xfrm>
            <a:off x="685800" y="1865376"/>
            <a:ext cx="5074920" cy="54864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rewritten scripts for the existing custom chain. Names, orders, source fields and descriptions are untouched; only the script field changes.</a:t>
            </a:r>
            <a:endParaRPr lang="en-US" sz="1100" dirty="0"/>
          </a:p>
        </p:txBody>
      </p:sp>
      <p:sp>
        <p:nvSpPr>
          <p:cNvPr id="8" name="Shape 6"/>
          <p:cNvSpPr/>
          <p:nvPr/>
        </p:nvSpPr>
        <p:spPr>
          <a:xfrm>
            <a:off x="6199632" y="1417320"/>
            <a:ext cx="5532120" cy="1097280"/>
          </a:xfrm>
          <a:prstGeom prst="roundRect">
            <a:avLst>
              <a:gd name="adj" fmla="val 41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28232" y="1536192"/>
            <a:ext cx="3840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Backlog rules</a:t>
            </a:r>
            <a:endParaRPr lang="en-US" sz="1500" dirty="0"/>
          </a:p>
        </p:txBody>
      </p:sp>
      <p:sp>
        <p:nvSpPr>
          <p:cNvPr id="10" name="Text 8"/>
          <p:cNvSpPr txBox="1"/>
          <p:nvPr/>
        </p:nvSpPr>
        <p:spPr>
          <a:xfrm>
            <a:off x="10222992" y="1536192"/>
            <a:ext cx="1280160" cy="292608"/>
          </a:xfrm>
          <a:prstGeom prst="rect">
            <a:avLst/>
          </a:prstGeom>
          <a:noFill/>
          <a:ln/>
        </p:spPr>
        <p:txBody>
          <a:bodyPr wrap="square" lIns="0" tIns="0" rIns="0" bIns="0" rtlCol="0" anchor="ctr"/>
          <a:lstStyle/>
          <a:p>
            <a:pPr algn="r" indent="0" marL="0">
              <a:buNone/>
            </a:pPr>
            <a:r>
              <a:rPr lang="en-US" sz="1300" b="1" dirty="0">
                <a:solidFill>
                  <a:srgbClr val="E31837"/>
                </a:solidFill>
                <a:latin typeface="Arial" pitchFamily="34" charset="0"/>
                <a:ea typeface="Arial" pitchFamily="34" charset="-122"/>
                <a:cs typeface="Arial" pitchFamily="34" charset="-120"/>
              </a:rPr>
              <a:t>9 updates</a:t>
            </a:r>
            <a:endParaRPr lang="en-US" sz="1300" dirty="0"/>
          </a:p>
        </p:txBody>
      </p:sp>
      <p:sp>
        <p:nvSpPr>
          <p:cNvPr id="11" name="Text 9"/>
          <p:cNvSpPr txBox="1"/>
          <p:nvPr/>
        </p:nvSpPr>
        <p:spPr>
          <a:xfrm>
            <a:off x="6428232" y="1865376"/>
            <a:ext cx="5074920" cy="54864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Three new rules and their six properties. Applies on top of the first set.</a:t>
            </a:r>
            <a:endParaRPr lang="en-US" sz="1100" dirty="0"/>
          </a:p>
        </p:txBody>
      </p:sp>
      <p:sp>
        <p:nvSpPr>
          <p:cNvPr id="12" name="Shape 10"/>
          <p:cNvSpPr/>
          <p:nvPr/>
        </p:nvSpPr>
        <p:spPr>
          <a:xfrm>
            <a:off x="457200" y="2798064"/>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685800" y="2889504"/>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Turning a rule off</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Every rule is independent. Clearing Active on one takes it out of the chain; the hosts it served fall through to the next rule that can read their evidence.</a:t>
            </a:r>
            <a:endParaRPr lang="en-US" sz="1350" dirty="0"/>
          </a:p>
        </p:txBody>
      </p:sp>
      <p:sp>
        <p:nvSpPr>
          <p:cNvPr id="14" name="Shape 12"/>
          <p:cNvSpPr/>
          <p:nvPr/>
        </p:nvSpPr>
        <p:spPr>
          <a:xfrm>
            <a:off x="6199632" y="2798064"/>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Text 13"/>
          <p:cNvSpPr txBox="1"/>
          <p:nvPr/>
        </p:nvSpPr>
        <p:spPr>
          <a:xfrm>
            <a:off x="6428232" y="2889504"/>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Adding a naming habit</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A new controller suffix, VLAN marker or balancer product goes into the matching property. No script edit, no update set.</a:t>
            </a:r>
            <a:endParaRPr lang="en-US" sz="1350" dirty="0"/>
          </a:p>
        </p:txBody>
      </p:sp>
      <p:sp>
        <p:nvSpPr>
          <p:cNvPr id="16" name="Shape 14"/>
          <p:cNvSpPr/>
          <p:nvPr/>
        </p:nvSpPr>
        <p:spPr>
          <a:xfrm>
            <a:off x="457200" y="4370832"/>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4462272"/>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Applying it to existing data</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The rules run on new scans automatically. To reach the existing backlog, re-run the reconcile job for the changed Discovered Items.</a:t>
            </a:r>
            <a:endParaRPr lang="en-US" sz="1350" dirty="0"/>
          </a:p>
        </p:txBody>
      </p:sp>
      <p:sp>
        <p:nvSpPr>
          <p:cNvPr id="18" name="Shape 16"/>
          <p:cNvSpPr/>
          <p:nvPr/>
        </p:nvSpPr>
        <p:spPr>
          <a:xfrm>
            <a:off x="6199632" y="4370832"/>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6428232" y="4462272"/>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What to watch first</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The matched share of Discovered Items by rule. A rule that suddenly matches far more than its group size is the early sign that a property list has been widened too far.</a:t>
            </a:r>
            <a:endParaRPr lang="en-US" sz="1350" dirty="0"/>
          </a:p>
        </p:txBody>
      </p:sp>
      <p:sp>
        <p:nvSpPr>
          <p:cNvPr id="20" name="Text 18"/>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Both sets are Global scope. The rule table is not update-set tracked by default, so each rule is captured explicitly on save.</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APPENDIX</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Rule reference</a:t>
            </a:r>
            <a:endParaRPr lang="en-US" sz="3000" dirty="0"/>
          </a:p>
        </p:txBody>
      </p:sp>
      <p:sp>
        <p:nvSpPr>
          <p:cNvPr id="4" name="Text 2"/>
          <p:cNvSpPr txBox="1"/>
          <p:nvPr/>
        </p:nvSpPr>
        <p:spPr>
          <a:xfrm>
            <a:off x="457200" y="1371600"/>
            <a:ext cx="77724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ORDER</a:t>
            </a:r>
            <a:endParaRPr lang="en-US" sz="850" dirty="0"/>
          </a:p>
        </p:txBody>
      </p:sp>
      <p:sp>
        <p:nvSpPr>
          <p:cNvPr id="5" name="Text 3"/>
          <p:cNvSpPr txBox="1"/>
          <p:nvPr/>
        </p:nvSpPr>
        <p:spPr>
          <a:xfrm>
            <a:off x="1325880" y="1371600"/>
            <a:ext cx="320040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RULE</a:t>
            </a:r>
            <a:endParaRPr lang="en-US" sz="850" dirty="0"/>
          </a:p>
        </p:txBody>
      </p:sp>
      <p:sp>
        <p:nvSpPr>
          <p:cNvPr id="6" name="Text 4"/>
          <p:cNvSpPr txBox="1"/>
          <p:nvPr/>
        </p:nvSpPr>
        <p:spPr>
          <a:xfrm>
            <a:off x="4617720" y="1371600"/>
            <a:ext cx="219456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READS</a:t>
            </a:r>
            <a:endParaRPr lang="en-US" sz="850" dirty="0"/>
          </a:p>
        </p:txBody>
      </p:sp>
      <p:sp>
        <p:nvSpPr>
          <p:cNvPr id="7" name="Text 5"/>
          <p:cNvSpPr txBox="1"/>
          <p:nvPr/>
        </p:nvSpPr>
        <p:spPr>
          <a:xfrm>
            <a:off x="6903720" y="1371600"/>
            <a:ext cx="521208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RETURNS</a:t>
            </a:r>
            <a:endParaRPr lang="en-US" sz="850" dirty="0"/>
          </a:p>
        </p:txBody>
      </p:sp>
      <p:sp>
        <p:nvSpPr>
          <p:cNvPr id="8" name="Shape 6"/>
          <p:cNvSpPr/>
          <p:nvPr/>
        </p:nvSpPr>
        <p:spPr>
          <a:xfrm>
            <a:off x="457200" y="166420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585216" y="166420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175</a:t>
            </a:r>
            <a:endParaRPr lang="en-US" sz="1000" dirty="0"/>
          </a:p>
        </p:txBody>
      </p:sp>
      <p:sp>
        <p:nvSpPr>
          <p:cNvPr id="10" name="Text 8"/>
          <p:cNvSpPr txBox="1"/>
          <p:nvPr/>
        </p:nvSpPr>
        <p:spPr>
          <a:xfrm>
            <a:off x="1325880" y="166420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Serial Number Class Match</a:t>
            </a:r>
            <a:endParaRPr lang="en-US" sz="1000" dirty="0"/>
          </a:p>
        </p:txBody>
      </p:sp>
      <p:sp>
        <p:nvSpPr>
          <p:cNvPr id="11" name="Text 9"/>
          <p:cNvSpPr txBox="1"/>
          <p:nvPr/>
        </p:nvSpPr>
        <p:spPr>
          <a:xfrm>
            <a:off x="4617720" y="166420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SERIAL_NUMBER, plus the OS</a:t>
            </a:r>
            <a:endParaRPr lang="en-US" sz="950" dirty="0"/>
          </a:p>
        </p:txBody>
      </p:sp>
      <p:sp>
        <p:nvSpPr>
          <p:cNvPr id="12" name="Text 10"/>
          <p:cNvSpPr txBox="1"/>
          <p:nvPr/>
        </p:nvSpPr>
        <p:spPr>
          <a:xfrm>
            <a:off x="6903720" y="166420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carrying the serial, else null</a:t>
            </a:r>
            <a:endParaRPr lang="en-US" sz="950" dirty="0"/>
          </a:p>
        </p:txBody>
      </p:sp>
      <p:sp>
        <p:nvSpPr>
          <p:cNvPr id="13" name="Shape 11"/>
          <p:cNvSpPr/>
          <p:nvPr/>
        </p:nvSpPr>
        <p:spPr>
          <a:xfrm>
            <a:off x="457200" y="213969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585216" y="213969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180</a:t>
            </a:r>
            <a:endParaRPr lang="en-US" sz="1000" dirty="0"/>
          </a:p>
        </p:txBody>
      </p:sp>
      <p:sp>
        <p:nvSpPr>
          <p:cNvPr id="15" name="Text 13"/>
          <p:cNvSpPr txBox="1"/>
          <p:nvPr/>
        </p:nvSpPr>
        <p:spPr>
          <a:xfrm>
            <a:off x="1325880" y="213969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Serial Number Hardware Match</a:t>
            </a:r>
            <a:endParaRPr lang="en-US" sz="1000" dirty="0"/>
          </a:p>
        </p:txBody>
      </p:sp>
      <p:sp>
        <p:nvSpPr>
          <p:cNvPr id="16" name="Text 14"/>
          <p:cNvSpPr txBox="1"/>
          <p:nvPr/>
        </p:nvSpPr>
        <p:spPr>
          <a:xfrm>
            <a:off x="4617720" y="213969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SERIAL_NUMBER</a:t>
            </a:r>
            <a:endParaRPr lang="en-US" sz="950" dirty="0"/>
          </a:p>
        </p:txBody>
      </p:sp>
      <p:sp>
        <p:nvSpPr>
          <p:cNvPr id="17" name="Text 15"/>
          <p:cNvSpPr txBox="1"/>
          <p:nvPr/>
        </p:nvSpPr>
        <p:spPr>
          <a:xfrm>
            <a:off x="6903720" y="213969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carrying the serial, else null</a:t>
            </a:r>
            <a:endParaRPr lang="en-US" sz="950" dirty="0"/>
          </a:p>
        </p:txBody>
      </p:sp>
      <p:sp>
        <p:nvSpPr>
          <p:cNvPr id="18" name="Shape 16"/>
          <p:cNvSpPr/>
          <p:nvPr/>
        </p:nvSpPr>
        <p:spPr>
          <a:xfrm>
            <a:off x="457200" y="261518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585216" y="261518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200</a:t>
            </a:r>
            <a:endParaRPr lang="en-US" sz="1000" dirty="0"/>
          </a:p>
        </p:txBody>
      </p:sp>
      <p:sp>
        <p:nvSpPr>
          <p:cNvPr id="20" name="Text 18"/>
          <p:cNvSpPr txBox="1"/>
          <p:nvPr/>
        </p:nvSpPr>
        <p:spPr>
          <a:xfrm>
            <a:off x="1325880" y="261518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Cisco IP Phone MAC</a:t>
            </a:r>
            <a:endParaRPr lang="en-US" sz="1000" dirty="0"/>
          </a:p>
        </p:txBody>
      </p:sp>
      <p:sp>
        <p:nvSpPr>
          <p:cNvPr id="21" name="Text 19"/>
          <p:cNvSpPr txBox="1"/>
          <p:nvPr/>
        </p:nvSpPr>
        <p:spPr>
          <a:xfrm>
            <a:off x="4617720" y="261518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22" name="Text 20"/>
          <p:cNvSpPr txBox="1"/>
          <p:nvPr/>
        </p:nvSpPr>
        <p:spPr>
          <a:xfrm>
            <a:off x="6903720" y="261518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IP Phone CI carrying that MAC, else null</a:t>
            </a:r>
            <a:endParaRPr lang="en-US" sz="950" dirty="0"/>
          </a:p>
        </p:txBody>
      </p:sp>
      <p:sp>
        <p:nvSpPr>
          <p:cNvPr id="23" name="Shape 21"/>
          <p:cNvSpPr/>
          <p:nvPr/>
        </p:nvSpPr>
        <p:spPr>
          <a:xfrm>
            <a:off x="457200" y="309067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Text 22"/>
          <p:cNvSpPr txBox="1"/>
          <p:nvPr/>
        </p:nvSpPr>
        <p:spPr>
          <a:xfrm>
            <a:off x="585216" y="309067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250</a:t>
            </a:r>
            <a:endParaRPr lang="en-US" sz="1000" dirty="0"/>
          </a:p>
        </p:txBody>
      </p:sp>
      <p:sp>
        <p:nvSpPr>
          <p:cNvPr id="25" name="Text 23"/>
          <p:cNvSpPr txBox="1"/>
          <p:nvPr/>
        </p:nvSpPr>
        <p:spPr>
          <a:xfrm>
            <a:off x="1325880" y="309067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Class Match</a:t>
            </a:r>
            <a:endParaRPr lang="en-US" sz="1000" dirty="0"/>
          </a:p>
        </p:txBody>
      </p:sp>
      <p:sp>
        <p:nvSpPr>
          <p:cNvPr id="26" name="Text 24"/>
          <p:cNvSpPr txBox="1"/>
          <p:nvPr/>
        </p:nvSpPr>
        <p:spPr>
          <a:xfrm>
            <a:off x="4617720" y="309067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 and the IP</a:t>
            </a:r>
            <a:endParaRPr lang="en-US" sz="950" dirty="0"/>
          </a:p>
        </p:txBody>
      </p:sp>
      <p:sp>
        <p:nvSpPr>
          <p:cNvPr id="27" name="Text 25"/>
          <p:cNvSpPr txBox="1"/>
          <p:nvPr/>
        </p:nvSpPr>
        <p:spPr>
          <a:xfrm>
            <a:off x="6903720" y="309067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fqdn equals the scanned name</a:t>
            </a:r>
            <a:endParaRPr lang="en-US" sz="950" dirty="0"/>
          </a:p>
        </p:txBody>
      </p:sp>
      <p:sp>
        <p:nvSpPr>
          <p:cNvPr id="28" name="Shape 26"/>
          <p:cNvSpPr/>
          <p:nvPr/>
        </p:nvSpPr>
        <p:spPr>
          <a:xfrm>
            <a:off x="457200" y="356616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Text 27"/>
          <p:cNvSpPr txBox="1"/>
          <p:nvPr/>
        </p:nvSpPr>
        <p:spPr>
          <a:xfrm>
            <a:off x="585216" y="356616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260</a:t>
            </a:r>
            <a:endParaRPr lang="en-US" sz="1000" dirty="0"/>
          </a:p>
        </p:txBody>
      </p:sp>
      <p:sp>
        <p:nvSpPr>
          <p:cNvPr id="30" name="Text 28"/>
          <p:cNvSpPr txBox="1"/>
          <p:nvPr/>
        </p:nvSpPr>
        <p:spPr>
          <a:xfrm>
            <a:off x="1325880" y="356616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Hardware Match</a:t>
            </a:r>
            <a:endParaRPr lang="en-US" sz="1000" dirty="0"/>
          </a:p>
        </p:txBody>
      </p:sp>
      <p:sp>
        <p:nvSpPr>
          <p:cNvPr id="31" name="Text 29"/>
          <p:cNvSpPr txBox="1"/>
          <p:nvPr/>
        </p:nvSpPr>
        <p:spPr>
          <a:xfrm>
            <a:off x="4617720" y="356616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32" name="Text 30"/>
          <p:cNvSpPr txBox="1"/>
          <p:nvPr/>
        </p:nvSpPr>
        <p:spPr>
          <a:xfrm>
            <a:off x="6903720" y="356616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fqdn equals the scanned name</a:t>
            </a:r>
            <a:endParaRPr lang="en-US" sz="950" dirty="0"/>
          </a:p>
        </p:txBody>
      </p:sp>
      <p:sp>
        <p:nvSpPr>
          <p:cNvPr id="33" name="Shape 31"/>
          <p:cNvSpPr/>
          <p:nvPr/>
        </p:nvSpPr>
        <p:spPr>
          <a:xfrm>
            <a:off x="457200" y="404164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585216" y="404164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300</a:t>
            </a:r>
            <a:endParaRPr lang="en-US" sz="1000" dirty="0"/>
          </a:p>
        </p:txBody>
      </p:sp>
      <p:sp>
        <p:nvSpPr>
          <p:cNvPr id="35" name="Text 33"/>
          <p:cNvSpPr txBox="1"/>
          <p:nvPr/>
        </p:nvSpPr>
        <p:spPr>
          <a:xfrm>
            <a:off x="1325880" y="404164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Domain Class Match</a:t>
            </a:r>
            <a:endParaRPr lang="en-US" sz="1000" dirty="0"/>
          </a:p>
        </p:txBody>
      </p:sp>
      <p:sp>
        <p:nvSpPr>
          <p:cNvPr id="36" name="Text 34"/>
          <p:cNvSpPr txBox="1"/>
          <p:nvPr/>
        </p:nvSpPr>
        <p:spPr>
          <a:xfrm>
            <a:off x="4617720" y="404164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 and the IP</a:t>
            </a:r>
            <a:endParaRPr lang="en-US" sz="950" dirty="0"/>
          </a:p>
        </p:txBody>
      </p:sp>
      <p:sp>
        <p:nvSpPr>
          <p:cNvPr id="37" name="Text 35"/>
          <p:cNvSpPr txBox="1"/>
          <p:nvPr/>
        </p:nvSpPr>
        <p:spPr>
          <a:xfrm>
            <a:off x="6903720" y="404164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domain evidence agrees</a:t>
            </a:r>
            <a:endParaRPr lang="en-US" sz="950" dirty="0"/>
          </a:p>
        </p:txBody>
      </p:sp>
      <p:sp>
        <p:nvSpPr>
          <p:cNvPr id="38" name="Shape 36"/>
          <p:cNvSpPr/>
          <p:nvPr/>
        </p:nvSpPr>
        <p:spPr>
          <a:xfrm>
            <a:off x="457200" y="451713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9" name="Text 37"/>
          <p:cNvSpPr txBox="1"/>
          <p:nvPr/>
        </p:nvSpPr>
        <p:spPr>
          <a:xfrm>
            <a:off x="585216" y="451713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310</a:t>
            </a:r>
            <a:endParaRPr lang="en-US" sz="1000" dirty="0"/>
          </a:p>
        </p:txBody>
      </p:sp>
      <p:sp>
        <p:nvSpPr>
          <p:cNvPr id="40" name="Text 38"/>
          <p:cNvSpPr txBox="1"/>
          <p:nvPr/>
        </p:nvSpPr>
        <p:spPr>
          <a:xfrm>
            <a:off x="1325880" y="451713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Domain Hardware Match</a:t>
            </a:r>
            <a:endParaRPr lang="en-US" sz="1000" dirty="0"/>
          </a:p>
        </p:txBody>
      </p:sp>
      <p:sp>
        <p:nvSpPr>
          <p:cNvPr id="41" name="Text 39"/>
          <p:cNvSpPr txBox="1"/>
          <p:nvPr/>
        </p:nvSpPr>
        <p:spPr>
          <a:xfrm>
            <a:off x="4617720" y="451713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42" name="Text 40"/>
          <p:cNvSpPr txBox="1"/>
          <p:nvPr/>
        </p:nvSpPr>
        <p:spPr>
          <a:xfrm>
            <a:off x="6903720" y="451713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domain evidence agrees</a:t>
            </a:r>
            <a:endParaRPr lang="en-US" sz="950" dirty="0"/>
          </a:p>
        </p:txBody>
      </p:sp>
      <p:sp>
        <p:nvSpPr>
          <p:cNvPr id="43" name="Shape 41"/>
          <p:cNvSpPr/>
          <p:nvPr/>
        </p:nvSpPr>
        <p:spPr>
          <a:xfrm>
            <a:off x="457200" y="499262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4" name="Text 42"/>
          <p:cNvSpPr txBox="1"/>
          <p:nvPr/>
        </p:nvSpPr>
        <p:spPr>
          <a:xfrm>
            <a:off x="585216" y="499262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350</a:t>
            </a:r>
            <a:endParaRPr lang="en-US" sz="1000" dirty="0"/>
          </a:p>
        </p:txBody>
      </p:sp>
      <p:sp>
        <p:nvSpPr>
          <p:cNvPr id="45" name="Text 43"/>
          <p:cNvSpPr txBox="1"/>
          <p:nvPr/>
        </p:nvSpPr>
        <p:spPr>
          <a:xfrm>
            <a:off x="1325880" y="499262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Layered DNS Match</a:t>
            </a:r>
            <a:endParaRPr lang="en-US" sz="1000" dirty="0"/>
          </a:p>
        </p:txBody>
      </p:sp>
      <p:sp>
        <p:nvSpPr>
          <p:cNvPr id="46" name="Text 44"/>
          <p:cNvSpPr txBox="1"/>
          <p:nvPr/>
        </p:nvSpPr>
        <p:spPr>
          <a:xfrm>
            <a:off x="4617720" y="499262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47" name="Text 45"/>
          <p:cNvSpPr txBox="1"/>
          <p:nvPr/>
        </p:nvSpPr>
        <p:spPr>
          <a:xfrm>
            <a:off x="6903720" y="499262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at the end of DNS Name to IP Address to adapter to CI</a:t>
            </a:r>
            <a:endParaRPr lang="en-US" sz="950" dirty="0"/>
          </a:p>
        </p:txBody>
      </p:sp>
      <p:sp>
        <p:nvSpPr>
          <p:cNvPr id="48" name="Shape 46"/>
          <p:cNvSpPr/>
          <p:nvPr/>
        </p:nvSpPr>
        <p:spPr>
          <a:xfrm>
            <a:off x="457200" y="546811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9" name="Text 47"/>
          <p:cNvSpPr txBox="1"/>
          <p:nvPr/>
        </p:nvSpPr>
        <p:spPr>
          <a:xfrm>
            <a:off x="585216" y="546811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400</a:t>
            </a:r>
            <a:endParaRPr lang="en-US" sz="1000" dirty="0"/>
          </a:p>
        </p:txBody>
      </p:sp>
      <p:sp>
        <p:nvSpPr>
          <p:cNvPr id="50" name="Text 48"/>
          <p:cNvSpPr txBox="1"/>
          <p:nvPr/>
        </p:nvSpPr>
        <p:spPr>
          <a:xfrm>
            <a:off x="1325880" y="546811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Class Match</a:t>
            </a:r>
            <a:endParaRPr lang="en-US" sz="1000" dirty="0"/>
          </a:p>
        </p:txBody>
      </p:sp>
      <p:sp>
        <p:nvSpPr>
          <p:cNvPr id="51" name="Text 49"/>
          <p:cNvSpPr txBox="1"/>
          <p:nvPr/>
        </p:nvSpPr>
        <p:spPr>
          <a:xfrm>
            <a:off x="4617720" y="546811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52" name="Text 50"/>
          <p:cNvSpPr txBox="1"/>
          <p:nvPr/>
        </p:nvSpPr>
        <p:spPr>
          <a:xfrm>
            <a:off x="6903720" y="546811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named with the short hostname</a:t>
            </a:r>
            <a:endParaRPr lang="en-US" sz="950" dirty="0"/>
          </a:p>
        </p:txBody>
      </p:sp>
      <p:sp>
        <p:nvSpPr>
          <p:cNvPr id="53" name="Shape 51"/>
          <p:cNvSpPr/>
          <p:nvPr/>
        </p:nvSpPr>
        <p:spPr>
          <a:xfrm>
            <a:off x="457200" y="594360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4" name="Text 52"/>
          <p:cNvSpPr txBox="1"/>
          <p:nvPr/>
        </p:nvSpPr>
        <p:spPr>
          <a:xfrm>
            <a:off x="585216" y="594360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410</a:t>
            </a:r>
            <a:endParaRPr lang="en-US" sz="1000" dirty="0"/>
          </a:p>
        </p:txBody>
      </p:sp>
      <p:sp>
        <p:nvSpPr>
          <p:cNvPr id="55" name="Text 53"/>
          <p:cNvSpPr txBox="1"/>
          <p:nvPr/>
        </p:nvSpPr>
        <p:spPr>
          <a:xfrm>
            <a:off x="1325880" y="594360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Hardware Match</a:t>
            </a:r>
            <a:endParaRPr lang="en-US" sz="1000" dirty="0"/>
          </a:p>
        </p:txBody>
      </p:sp>
      <p:sp>
        <p:nvSpPr>
          <p:cNvPr id="56" name="Text 54"/>
          <p:cNvSpPr txBox="1"/>
          <p:nvPr/>
        </p:nvSpPr>
        <p:spPr>
          <a:xfrm>
            <a:off x="4617720" y="594360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57" name="Text 55"/>
          <p:cNvSpPr txBox="1"/>
          <p:nvPr/>
        </p:nvSpPr>
        <p:spPr>
          <a:xfrm>
            <a:off x="6903720" y="594360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named with the hostname, class permitting</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APPENDIX</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Rule reference, continued</a:t>
            </a:r>
            <a:endParaRPr lang="en-US" sz="3000" dirty="0"/>
          </a:p>
        </p:txBody>
      </p:sp>
      <p:sp>
        <p:nvSpPr>
          <p:cNvPr id="4" name="Text 2"/>
          <p:cNvSpPr txBox="1"/>
          <p:nvPr/>
        </p:nvSpPr>
        <p:spPr>
          <a:xfrm>
            <a:off x="457200" y="1371600"/>
            <a:ext cx="77724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ORDER</a:t>
            </a:r>
            <a:endParaRPr lang="en-US" sz="850" dirty="0"/>
          </a:p>
        </p:txBody>
      </p:sp>
      <p:sp>
        <p:nvSpPr>
          <p:cNvPr id="5" name="Text 3"/>
          <p:cNvSpPr txBox="1"/>
          <p:nvPr/>
        </p:nvSpPr>
        <p:spPr>
          <a:xfrm>
            <a:off x="1325880" y="1371600"/>
            <a:ext cx="320040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RULE</a:t>
            </a:r>
            <a:endParaRPr lang="en-US" sz="850" dirty="0"/>
          </a:p>
        </p:txBody>
      </p:sp>
      <p:sp>
        <p:nvSpPr>
          <p:cNvPr id="6" name="Text 4"/>
          <p:cNvSpPr txBox="1"/>
          <p:nvPr/>
        </p:nvSpPr>
        <p:spPr>
          <a:xfrm>
            <a:off x="4617720" y="1371600"/>
            <a:ext cx="219456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READS</a:t>
            </a:r>
            <a:endParaRPr lang="en-US" sz="850" dirty="0"/>
          </a:p>
        </p:txBody>
      </p:sp>
      <p:sp>
        <p:nvSpPr>
          <p:cNvPr id="7" name="Text 5"/>
          <p:cNvSpPr txBox="1"/>
          <p:nvPr/>
        </p:nvSpPr>
        <p:spPr>
          <a:xfrm>
            <a:off x="6903720" y="1371600"/>
            <a:ext cx="521208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RETURNS</a:t>
            </a:r>
            <a:endParaRPr lang="en-US" sz="850" dirty="0"/>
          </a:p>
        </p:txBody>
      </p:sp>
      <p:sp>
        <p:nvSpPr>
          <p:cNvPr id="8" name="Shape 6"/>
          <p:cNvSpPr/>
          <p:nvPr/>
        </p:nvSpPr>
        <p:spPr>
          <a:xfrm>
            <a:off x="457200" y="166420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585216" y="166420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420</a:t>
            </a:r>
            <a:endParaRPr lang="en-US" sz="1000" dirty="0"/>
          </a:p>
        </p:txBody>
      </p:sp>
      <p:sp>
        <p:nvSpPr>
          <p:cNvPr id="10" name="Text 8"/>
          <p:cNvSpPr txBox="1"/>
          <p:nvPr/>
        </p:nvSpPr>
        <p:spPr>
          <a:xfrm>
            <a:off x="1325880" y="166420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Management Interface Match</a:t>
            </a:r>
            <a:endParaRPr lang="en-US" sz="1000" dirty="0"/>
          </a:p>
        </p:txBody>
      </p:sp>
      <p:sp>
        <p:nvSpPr>
          <p:cNvPr id="11" name="Text 9"/>
          <p:cNvSpPr txBox="1"/>
          <p:nvPr/>
        </p:nvSpPr>
        <p:spPr>
          <a:xfrm>
            <a:off x="4617720" y="166420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12" name="Text 10"/>
          <p:cNvSpPr txBox="1"/>
          <p:nvPr/>
        </p:nvSpPr>
        <p:spPr>
          <a:xfrm>
            <a:off x="6903720" y="166420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named like the label without its suffix</a:t>
            </a:r>
            <a:endParaRPr lang="en-US" sz="950" dirty="0"/>
          </a:p>
        </p:txBody>
      </p:sp>
      <p:sp>
        <p:nvSpPr>
          <p:cNvPr id="13" name="Shape 11"/>
          <p:cNvSpPr/>
          <p:nvPr/>
        </p:nvSpPr>
        <p:spPr>
          <a:xfrm>
            <a:off x="457200" y="213969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585216" y="213969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430</a:t>
            </a:r>
            <a:endParaRPr lang="en-US" sz="1000" dirty="0"/>
          </a:p>
        </p:txBody>
      </p:sp>
      <p:sp>
        <p:nvSpPr>
          <p:cNvPr id="15" name="Text 13"/>
          <p:cNvSpPr txBox="1"/>
          <p:nvPr/>
        </p:nvSpPr>
        <p:spPr>
          <a:xfrm>
            <a:off x="1325880" y="213969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Network Interface Name Match</a:t>
            </a:r>
            <a:endParaRPr lang="en-US" sz="1000" dirty="0"/>
          </a:p>
        </p:txBody>
      </p:sp>
      <p:sp>
        <p:nvSpPr>
          <p:cNvPr id="16" name="Text 14"/>
          <p:cNvSpPr txBox="1"/>
          <p:nvPr/>
        </p:nvSpPr>
        <p:spPr>
          <a:xfrm>
            <a:off x="4617720" y="213969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17" name="Text 15"/>
          <p:cNvSpPr txBox="1"/>
          <p:nvPr/>
        </p:nvSpPr>
        <p:spPr>
          <a:xfrm>
            <a:off x="6903720" y="213969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Network Gear or Load Balancer device named by a prefix</a:t>
            </a:r>
            <a:endParaRPr lang="en-US" sz="950" dirty="0"/>
          </a:p>
        </p:txBody>
      </p:sp>
      <p:sp>
        <p:nvSpPr>
          <p:cNvPr id="18" name="Shape 16"/>
          <p:cNvSpPr/>
          <p:nvPr/>
        </p:nvSpPr>
        <p:spPr>
          <a:xfrm>
            <a:off x="457200" y="261518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585216" y="261518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450</a:t>
            </a:r>
            <a:endParaRPr lang="en-US" sz="1000" dirty="0"/>
          </a:p>
        </p:txBody>
      </p:sp>
      <p:sp>
        <p:nvSpPr>
          <p:cNvPr id="20" name="Text 18"/>
          <p:cNvSpPr txBox="1"/>
          <p:nvPr/>
        </p:nvSpPr>
        <p:spPr>
          <a:xfrm>
            <a:off x="1325880" y="261518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Name Hardware Match</a:t>
            </a:r>
            <a:endParaRPr lang="en-US" sz="1000" dirty="0"/>
          </a:p>
        </p:txBody>
      </p:sp>
      <p:sp>
        <p:nvSpPr>
          <p:cNvPr id="21" name="Text 19"/>
          <p:cNvSpPr txBox="1"/>
          <p:nvPr/>
        </p:nvSpPr>
        <p:spPr>
          <a:xfrm>
            <a:off x="4617720" y="261518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22" name="Text 20"/>
          <p:cNvSpPr txBox="1"/>
          <p:nvPr/>
        </p:nvSpPr>
        <p:spPr>
          <a:xfrm>
            <a:off x="6903720" y="261518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name is exactly the scanned FQDN</a:t>
            </a:r>
            <a:endParaRPr lang="en-US" sz="950" dirty="0"/>
          </a:p>
        </p:txBody>
      </p:sp>
      <p:sp>
        <p:nvSpPr>
          <p:cNvPr id="23" name="Shape 21"/>
          <p:cNvSpPr/>
          <p:nvPr/>
        </p:nvSpPr>
        <p:spPr>
          <a:xfrm>
            <a:off x="457200" y="309067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Text 22"/>
          <p:cNvSpPr txBox="1"/>
          <p:nvPr/>
        </p:nvSpPr>
        <p:spPr>
          <a:xfrm>
            <a:off x="585216" y="309067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460</a:t>
            </a:r>
            <a:endParaRPr lang="en-US" sz="1000" dirty="0"/>
          </a:p>
        </p:txBody>
      </p:sp>
      <p:sp>
        <p:nvSpPr>
          <p:cNvPr id="25" name="Text 23"/>
          <p:cNvSpPr txBox="1"/>
          <p:nvPr/>
        </p:nvSpPr>
        <p:spPr>
          <a:xfrm>
            <a:off x="1325880" y="309067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Load Balancer Service Match</a:t>
            </a:r>
            <a:endParaRPr lang="en-US" sz="1000" dirty="0"/>
          </a:p>
        </p:txBody>
      </p:sp>
      <p:sp>
        <p:nvSpPr>
          <p:cNvPr id="26" name="Text 24"/>
          <p:cNvSpPr txBox="1"/>
          <p:nvPr/>
        </p:nvSpPr>
        <p:spPr>
          <a:xfrm>
            <a:off x="4617720" y="309067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 and the DNS name</a:t>
            </a:r>
            <a:endParaRPr lang="en-US" sz="950" dirty="0"/>
          </a:p>
        </p:txBody>
      </p:sp>
      <p:sp>
        <p:nvSpPr>
          <p:cNvPr id="27" name="Text 25"/>
          <p:cNvSpPr txBox="1"/>
          <p:nvPr/>
        </p:nvSpPr>
        <p:spPr>
          <a:xfrm>
            <a:off x="6903720" y="309067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Load Balancer Service CI for that VIP</a:t>
            </a:r>
            <a:endParaRPr lang="en-US" sz="950" dirty="0"/>
          </a:p>
        </p:txBody>
      </p:sp>
      <p:sp>
        <p:nvSpPr>
          <p:cNvPr id="28" name="Shape 26"/>
          <p:cNvSpPr/>
          <p:nvPr/>
        </p:nvSpPr>
        <p:spPr>
          <a:xfrm>
            <a:off x="457200" y="356616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Text 27"/>
          <p:cNvSpPr txBox="1"/>
          <p:nvPr/>
        </p:nvSpPr>
        <p:spPr>
          <a:xfrm>
            <a:off x="585216" y="356616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700</a:t>
            </a:r>
            <a:endParaRPr lang="en-US" sz="1000" dirty="0"/>
          </a:p>
        </p:txBody>
      </p:sp>
      <p:sp>
        <p:nvSpPr>
          <p:cNvPr id="30" name="Text 28"/>
          <p:cNvSpPr txBox="1"/>
          <p:nvPr/>
        </p:nvSpPr>
        <p:spPr>
          <a:xfrm>
            <a:off x="1325880" y="356616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Class Match</a:t>
            </a:r>
            <a:endParaRPr lang="en-US" sz="1000" dirty="0"/>
          </a:p>
        </p:txBody>
      </p:sp>
      <p:sp>
        <p:nvSpPr>
          <p:cNvPr id="31" name="Text 29"/>
          <p:cNvSpPr txBox="1"/>
          <p:nvPr/>
        </p:nvSpPr>
        <p:spPr>
          <a:xfrm>
            <a:off x="4617720" y="356616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a:t>
            </a:r>
            <a:endParaRPr lang="en-US" sz="950" dirty="0"/>
          </a:p>
        </p:txBody>
      </p:sp>
      <p:sp>
        <p:nvSpPr>
          <p:cNvPr id="32" name="Text 30"/>
          <p:cNvSpPr txBox="1"/>
          <p:nvPr/>
        </p:nvSpPr>
        <p:spPr>
          <a:xfrm>
            <a:off x="6903720" y="356616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ip_address equals the scanned address</a:t>
            </a:r>
            <a:endParaRPr lang="en-US" sz="950" dirty="0"/>
          </a:p>
        </p:txBody>
      </p:sp>
      <p:sp>
        <p:nvSpPr>
          <p:cNvPr id="33" name="Shape 31"/>
          <p:cNvSpPr/>
          <p:nvPr/>
        </p:nvSpPr>
        <p:spPr>
          <a:xfrm>
            <a:off x="457200" y="404164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585216" y="404164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705</a:t>
            </a:r>
            <a:endParaRPr lang="en-US" sz="1000" dirty="0"/>
          </a:p>
        </p:txBody>
      </p:sp>
      <p:sp>
        <p:nvSpPr>
          <p:cNvPr id="35" name="Text 33"/>
          <p:cNvSpPr txBox="1"/>
          <p:nvPr/>
        </p:nvSpPr>
        <p:spPr>
          <a:xfrm>
            <a:off x="1325880" y="404164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Hardware Match</a:t>
            </a:r>
            <a:endParaRPr lang="en-US" sz="1000" dirty="0"/>
          </a:p>
        </p:txBody>
      </p:sp>
      <p:sp>
        <p:nvSpPr>
          <p:cNvPr id="36" name="Text 34"/>
          <p:cNvSpPr txBox="1"/>
          <p:nvPr/>
        </p:nvSpPr>
        <p:spPr>
          <a:xfrm>
            <a:off x="4617720" y="404164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a:t>
            </a:r>
            <a:endParaRPr lang="en-US" sz="950" dirty="0"/>
          </a:p>
        </p:txBody>
      </p:sp>
      <p:sp>
        <p:nvSpPr>
          <p:cNvPr id="37" name="Text 35"/>
          <p:cNvSpPr txBox="1"/>
          <p:nvPr/>
        </p:nvSpPr>
        <p:spPr>
          <a:xfrm>
            <a:off x="6903720" y="404164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on that address, balancer and class permitting</a:t>
            </a:r>
            <a:endParaRPr lang="en-US" sz="950" dirty="0"/>
          </a:p>
        </p:txBody>
      </p:sp>
      <p:sp>
        <p:nvSpPr>
          <p:cNvPr id="38" name="Shape 36"/>
          <p:cNvSpPr/>
          <p:nvPr/>
        </p:nvSpPr>
        <p:spPr>
          <a:xfrm>
            <a:off x="457200" y="451713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9" name="Text 37"/>
          <p:cNvSpPr txBox="1"/>
          <p:nvPr/>
        </p:nvSpPr>
        <p:spPr>
          <a:xfrm>
            <a:off x="585216" y="451713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730</a:t>
            </a:r>
            <a:endParaRPr lang="en-US" sz="1000" dirty="0"/>
          </a:p>
        </p:txBody>
      </p:sp>
      <p:sp>
        <p:nvSpPr>
          <p:cNvPr id="40" name="Text 38"/>
          <p:cNvSpPr txBox="1"/>
          <p:nvPr/>
        </p:nvSpPr>
        <p:spPr>
          <a:xfrm>
            <a:off x="1325880" y="451713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Adapter Match</a:t>
            </a:r>
            <a:endParaRPr lang="en-US" sz="1000" dirty="0"/>
          </a:p>
        </p:txBody>
      </p:sp>
      <p:sp>
        <p:nvSpPr>
          <p:cNvPr id="41" name="Text 39"/>
          <p:cNvSpPr txBox="1"/>
          <p:nvPr/>
        </p:nvSpPr>
        <p:spPr>
          <a:xfrm>
            <a:off x="4617720" y="451713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a:t>
            </a:r>
            <a:endParaRPr lang="en-US" sz="950" dirty="0"/>
          </a:p>
        </p:txBody>
      </p:sp>
      <p:sp>
        <p:nvSpPr>
          <p:cNvPr id="42" name="Text 40"/>
          <p:cNvSpPr txBox="1"/>
          <p:nvPr/>
        </p:nvSpPr>
        <p:spPr>
          <a:xfrm>
            <a:off x="6903720" y="451713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that owns the adapter carrying the scanned address</a:t>
            </a:r>
            <a:endParaRPr lang="en-US" sz="950" dirty="0"/>
          </a:p>
        </p:txBody>
      </p:sp>
      <p:sp>
        <p:nvSpPr>
          <p:cNvPr id="43" name="Shape 41"/>
          <p:cNvSpPr/>
          <p:nvPr/>
        </p:nvSpPr>
        <p:spPr>
          <a:xfrm>
            <a:off x="457200" y="499262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4" name="Text 42"/>
          <p:cNvSpPr txBox="1"/>
          <p:nvPr/>
        </p:nvSpPr>
        <p:spPr>
          <a:xfrm>
            <a:off x="585216" y="499262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740</a:t>
            </a:r>
            <a:endParaRPr lang="en-US" sz="1000" dirty="0"/>
          </a:p>
        </p:txBody>
      </p:sp>
      <p:sp>
        <p:nvSpPr>
          <p:cNvPr id="45" name="Text 43"/>
          <p:cNvSpPr txBox="1"/>
          <p:nvPr/>
        </p:nvSpPr>
        <p:spPr>
          <a:xfrm>
            <a:off x="1325880" y="499262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Layered Match</a:t>
            </a:r>
            <a:endParaRPr lang="en-US" sz="1000" dirty="0"/>
          </a:p>
        </p:txBody>
      </p:sp>
      <p:sp>
        <p:nvSpPr>
          <p:cNvPr id="46" name="Text 44"/>
          <p:cNvSpPr txBox="1"/>
          <p:nvPr/>
        </p:nvSpPr>
        <p:spPr>
          <a:xfrm>
            <a:off x="4617720" y="499262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a:t>
            </a:r>
            <a:endParaRPr lang="en-US" sz="950" dirty="0"/>
          </a:p>
        </p:txBody>
      </p:sp>
      <p:sp>
        <p:nvSpPr>
          <p:cNvPr id="47" name="Text 45"/>
          <p:cNvSpPr txBox="1"/>
          <p:nvPr/>
        </p:nvSpPr>
        <p:spPr>
          <a:xfrm>
            <a:off x="6903720" y="499262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at the end of IP Address to adapter to CI</a:t>
            </a:r>
            <a:endParaRPr lang="en-US" sz="950" dirty="0"/>
          </a:p>
        </p:txBody>
      </p:sp>
      <p:sp>
        <p:nvSpPr>
          <p:cNvPr id="48" name="Shape 46"/>
          <p:cNvSpPr/>
          <p:nvPr/>
        </p:nvSpPr>
        <p:spPr>
          <a:xfrm>
            <a:off x="457200" y="546811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9" name="Text 47"/>
          <p:cNvSpPr txBox="1"/>
          <p:nvPr/>
        </p:nvSpPr>
        <p:spPr>
          <a:xfrm>
            <a:off x="585216" y="546811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850</a:t>
            </a:r>
            <a:endParaRPr lang="en-US" sz="1000" dirty="0"/>
          </a:p>
        </p:txBody>
      </p:sp>
      <p:sp>
        <p:nvSpPr>
          <p:cNvPr id="50" name="Text 48"/>
          <p:cNvSpPr txBox="1"/>
          <p:nvPr/>
        </p:nvSpPr>
        <p:spPr>
          <a:xfrm>
            <a:off x="1325880" y="546811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Name Broad Match</a:t>
            </a:r>
            <a:endParaRPr lang="en-US" sz="1000" dirty="0"/>
          </a:p>
        </p:txBody>
      </p:sp>
      <p:sp>
        <p:nvSpPr>
          <p:cNvPr id="51" name="Text 49"/>
          <p:cNvSpPr txBox="1"/>
          <p:nvPr/>
        </p:nvSpPr>
        <p:spPr>
          <a:xfrm>
            <a:off x="4617720" y="546811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52" name="Text 50"/>
          <p:cNvSpPr txBox="1"/>
          <p:nvPr/>
        </p:nvSpPr>
        <p:spPr>
          <a:xfrm>
            <a:off x="6903720" y="546811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in any class named exactly with the scanned FQDN</a:t>
            </a:r>
            <a:endParaRPr lang="en-US" sz="950" dirty="0"/>
          </a:p>
        </p:txBody>
      </p:sp>
      <p:sp>
        <p:nvSpPr>
          <p:cNvPr id="53" name="Text 5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Every rule returns null when its evidence is missing, when nothing matches, or when more than one candidate survives.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24272A"/>
        </a:solidFill>
      </p:bgPr>
    </p:bg>
    <p:spTree>
      <p:nvGrpSpPr>
        <p:cNvPr id="1" name=""/>
        <p:cNvGrpSpPr/>
        <p:nvPr/>
      </p:nvGrpSpPr>
      <p:grpSpPr>
        <a:xfrm>
          <a:off x="0" y="0"/>
          <a:ext cx="0" cy="0"/>
          <a:chOff x="0" y="0"/>
          <a:chExt cx="0" cy="0"/>
        </a:xfrm>
      </p:grpSpPr>
      <p:sp>
        <p:nvSpPr>
          <p:cNvPr id="2" name="Text 0"/>
          <p:cNvSpPr txBox="1"/>
          <p:nvPr/>
        </p:nvSpPr>
        <p:spPr>
          <a:xfrm>
            <a:off x="457200" y="2194560"/>
            <a:ext cx="1060704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What to take away</a:t>
            </a:r>
            <a:endParaRPr lang="en-US" sz="3400" dirty="0"/>
          </a:p>
        </p:txBody>
      </p:sp>
      <p:sp>
        <p:nvSpPr>
          <p:cNvPr id="3" name="Shape 1"/>
          <p:cNvSpPr/>
          <p:nvPr/>
        </p:nvSpPr>
        <p:spPr>
          <a:xfrm>
            <a:off x="457200" y="3127248"/>
            <a:ext cx="201168" cy="201168"/>
          </a:xfrm>
          <a:prstGeom prst="roundRect">
            <a:avLst>
              <a:gd name="adj" fmla="val 31818"/>
            </a:avLst>
          </a:prstGeom>
          <a:solidFill>
            <a:srgbClr val="E31837"/>
          </a:solidFill>
          <a:ln w="12700">
            <a:solidFill>
              <a:srgbClr val="333333"/>
            </a:solidFill>
            <a:prstDash val="solid"/>
          </a:ln>
        </p:spPr>
      </p:sp>
      <p:sp>
        <p:nvSpPr>
          <p:cNvPr id="4" name="Text 2"/>
          <p:cNvSpPr txBox="1"/>
          <p:nvPr/>
        </p:nvSpPr>
        <p:spPr>
          <a:xfrm>
            <a:off x="877824" y="3072384"/>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chain reads evidence in order of how much a machine can be trusted to keep it: serial, then name, then address.</a:t>
            </a:r>
            <a:endParaRPr lang="en-US" sz="1300" dirty="0"/>
          </a:p>
        </p:txBody>
      </p:sp>
      <p:sp>
        <p:nvSpPr>
          <p:cNvPr id="5" name="Shape 3"/>
          <p:cNvSpPr/>
          <p:nvPr/>
        </p:nvSpPr>
        <p:spPr>
          <a:xfrm>
            <a:off x="457200" y="3785616"/>
            <a:ext cx="201168" cy="201168"/>
          </a:xfrm>
          <a:prstGeom prst="roundRect">
            <a:avLst>
              <a:gd name="adj" fmla="val 31818"/>
            </a:avLst>
          </a:prstGeom>
          <a:solidFill>
            <a:srgbClr val="E31837"/>
          </a:solidFill>
          <a:ln w="12700">
            <a:solidFill>
              <a:srgbClr val="333333"/>
            </a:solidFill>
            <a:prstDash val="solid"/>
          </a:ln>
        </p:spPr>
      </p:sp>
      <p:sp>
        <p:nvSpPr>
          <p:cNvPr id="6" name="Text 4"/>
          <p:cNvSpPr txBox="1"/>
          <p:nvPr/>
        </p:nvSpPr>
        <p:spPr>
          <a:xfrm>
            <a:off x="877824" y="3730752"/>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Every rule ends the same way, on exactly one candidate or a decline, so a wrong owner is never the cheap outcome.</a:t>
            </a:r>
            <a:endParaRPr lang="en-US" sz="1300" dirty="0"/>
          </a:p>
        </p:txBody>
      </p:sp>
      <p:sp>
        <p:nvSpPr>
          <p:cNvPr id="7" name="Shape 5"/>
          <p:cNvSpPr/>
          <p:nvPr/>
        </p:nvSpPr>
        <p:spPr>
          <a:xfrm>
            <a:off x="457200" y="4443984"/>
            <a:ext cx="201168" cy="201168"/>
          </a:xfrm>
          <a:prstGeom prst="roundRect">
            <a:avLst>
              <a:gd name="adj" fmla="val 31818"/>
            </a:avLst>
          </a:prstGeom>
          <a:solidFill>
            <a:srgbClr val="E31837"/>
          </a:solidFill>
          <a:ln w="12700">
            <a:solidFill>
              <a:srgbClr val="333333"/>
            </a:solidFill>
            <a:prstDash val="solid"/>
          </a:ln>
        </p:spPr>
      </p:sp>
      <p:sp>
        <p:nvSpPr>
          <p:cNvPr id="8" name="Text 6"/>
          <p:cNvSpPr txBox="1"/>
          <p:nvPr/>
        </p:nvSpPr>
        <p:spPr>
          <a:xfrm>
            <a:off x="877824" y="4389120"/>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three new rules read evidence that was already in the feed but described a part of a device rather than the device.</a:t>
            </a:r>
            <a:endParaRPr lang="en-US" sz="1300" dirty="0"/>
          </a:p>
        </p:txBody>
      </p:sp>
      <p:sp>
        <p:nvSpPr>
          <p:cNvPr id="9" name="Shape 7"/>
          <p:cNvSpPr/>
          <p:nvPr/>
        </p:nvSpPr>
        <p:spPr>
          <a:xfrm>
            <a:off x="457200" y="5102352"/>
            <a:ext cx="201168" cy="201168"/>
          </a:xfrm>
          <a:prstGeom prst="roundRect">
            <a:avLst>
              <a:gd name="adj" fmla="val 31818"/>
            </a:avLst>
          </a:prstGeom>
          <a:solidFill>
            <a:srgbClr val="E31837"/>
          </a:solidFill>
          <a:ln w="12700">
            <a:solidFill>
              <a:srgbClr val="333333"/>
            </a:solidFill>
            <a:prstDash val="solid"/>
          </a:ln>
        </p:spPr>
      </p:sp>
      <p:sp>
        <p:nvSpPr>
          <p:cNvPr id="10" name="Text 8"/>
          <p:cNvSpPr txBox="1"/>
          <p:nvPr/>
        </p:nvSpPr>
        <p:spPr>
          <a:xfrm>
            <a:off x="877824" y="5047488"/>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vocabularies those rules depend on live in properties, so a naming habit can be added without touching a script.</a:t>
            </a:r>
            <a:endParaRPr lang="en-US" sz="1300" dirty="0"/>
          </a:p>
        </p:txBody>
      </p:sp>
      <p:sp>
        <p:nvSpPr>
          <p:cNvPr id="11" name="Text 9"/>
          <p:cNvSpPr txBox="1"/>
          <p:nvPr/>
        </p:nvSpPr>
        <p:spPr>
          <a:xfrm>
            <a:off x="457200" y="6126480"/>
            <a:ext cx="11247120" cy="274320"/>
          </a:xfrm>
          <a:prstGeom prst="rect">
            <a:avLst/>
          </a:prstGeom>
          <a:noFill/>
          <a:ln/>
        </p:spPr>
        <p:txBody>
          <a:bodyPr wrap="square" lIns="0" tIns="0" rIns="0" bIns="0" rtlCol="0" anchor="ctr"/>
          <a:lstStyle/>
          <a:p>
            <a:pPr indent="0" marL="0">
              <a:buNone/>
            </a:pPr>
            <a:r>
              <a:rPr lang="en-US" sz="1100" dirty="0">
                <a:solidFill>
                  <a:srgbClr val="8A9198"/>
                </a:solidFill>
                <a:latin typeface="Arial" pitchFamily="34" charset="0"/>
                <a:ea typeface="Arial" pitchFamily="34" charset="-122"/>
                <a:cs typeface="Arial" pitchFamily="34" charset="-120"/>
              </a:rPr>
              <a:t>SNOWUSEMTP-895   |   Qualys CI Lookup Rules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Technical Walkthrough</dc:title>
  <dc:subject>PptxGenJS Presentation</dc:subject>
  <dc:creator>Mihir Kumar Singh</dc:creator>
  <cp:lastModifiedBy>Mihir Kumar Singh</cp:lastModifiedBy>
  <cp:revision>1</cp:revision>
  <dcterms:created xsi:type="dcterms:W3CDTF">2026-09-09T11:48:54Z</dcterms:created>
  <dcterms:modified xsi:type="dcterms:W3CDTF">2026-09-09T11:48:54Z</dcterms:modified>
</cp:coreProperties>
</file>